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21" r:id="rId2"/>
    <p:sldId id="256" r:id="rId3"/>
    <p:sldId id="259" r:id="rId4"/>
    <p:sldId id="261" r:id="rId5"/>
    <p:sldId id="262" r:id="rId6"/>
    <p:sldId id="312" r:id="rId7"/>
    <p:sldId id="313" r:id="rId8"/>
    <p:sldId id="287" r:id="rId9"/>
    <p:sldId id="288" r:id="rId10"/>
    <p:sldId id="285" r:id="rId11"/>
    <p:sldId id="286" r:id="rId12"/>
    <p:sldId id="265" r:id="rId13"/>
    <p:sldId id="264" r:id="rId14"/>
    <p:sldId id="289" r:id="rId15"/>
    <p:sldId id="292" r:id="rId16"/>
    <p:sldId id="308" r:id="rId17"/>
    <p:sldId id="291" r:id="rId18"/>
    <p:sldId id="267" r:id="rId19"/>
    <p:sldId id="294" r:id="rId20"/>
    <p:sldId id="296" r:id="rId21"/>
    <p:sldId id="297" r:id="rId22"/>
    <p:sldId id="298" r:id="rId23"/>
    <p:sldId id="309" r:id="rId24"/>
    <p:sldId id="311" r:id="rId25"/>
    <p:sldId id="315" r:id="rId26"/>
    <p:sldId id="316" r:id="rId27"/>
    <p:sldId id="299" r:id="rId28"/>
    <p:sldId id="317" r:id="rId29"/>
    <p:sldId id="319" r:id="rId30"/>
    <p:sldId id="318" r:id="rId31"/>
    <p:sldId id="320" r:id="rId32"/>
    <p:sldId id="300" r:id="rId33"/>
    <p:sldId id="276" r:id="rId34"/>
    <p:sldId id="277" r:id="rId35"/>
    <p:sldId id="307" r:id="rId3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85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D6F2994-ACE5-4A1A-B35E-4EB264D0F2D5}" type="datetimeFigureOut">
              <a:rPr lang="en-US" smtClean="0"/>
              <a:pPr/>
              <a:t>11/8/2020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C6DDC4A-28AC-4BB0-A17C-4732441B2B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6DDC4A-28AC-4BB0-A17C-4732441B2B8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894425-E9B7-4BE9-BD1A-7F9534871F0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CEA5E-7F4F-4071-A575-0AECCE14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31D89F-3064-4B17-A253-16017F0C07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BAA62-0BC2-4621-85C0-000B8A25F4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CC3B4-1715-4A85-A4DA-46A9E94DC9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E603D-A7E5-4EE4-9B62-DC032404B9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29A5E9-C32C-4443-A7A6-1771221032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88ACC-0C6A-43F8-B586-F85587354C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79D852-2F60-4BC8-9DA9-89D322D8C2B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16B87F-93BC-49DB-8DCE-4416FE4BF7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37E52-E9C1-4455-BE6E-E66FDA0496A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F240B6D-69B8-4617-BADB-234C48A5969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Birthday_problem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3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C3FB-FE55-4271-9E31-268238ED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997F-4985-4293-A50B-69804772D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9D174-6108-4797-8BBC-9ED237AFF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0"/>
            <a:ext cx="8991601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4702175"/>
            <a:ext cx="7772400" cy="1470025"/>
          </a:xfrm>
        </p:spPr>
        <p:txBody>
          <a:bodyPr/>
          <a:lstStyle/>
          <a:p>
            <a:r>
              <a:rPr lang="en-US" dirty="0"/>
              <a:t>Probability</a:t>
            </a:r>
          </a:p>
        </p:txBody>
      </p:sp>
      <p:pic>
        <p:nvPicPr>
          <p:cNvPr id="665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3120" y="914400"/>
            <a:ext cx="490728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Uncertainty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6075" indent="-346075"/>
            <a:r>
              <a:rPr lang="en-US" sz="2400" dirty="0"/>
              <a:t>Let action </a:t>
            </a:r>
            <a:r>
              <a:rPr lang="en-US" sz="2400" i="1" dirty="0">
                <a:solidFill>
                  <a:srgbClr val="0066FF"/>
                </a:solidFill>
              </a:rPr>
              <a:t>A</a:t>
            </a:r>
            <a:r>
              <a:rPr lang="en-US" sz="2400" i="1" baseline="-25000" dirty="0">
                <a:solidFill>
                  <a:srgbClr val="0066FF"/>
                </a:solidFill>
              </a:rPr>
              <a:t>t</a:t>
            </a:r>
            <a:r>
              <a:rPr lang="en-US" sz="2400" dirty="0">
                <a:solidFill>
                  <a:srgbClr val="0066FF"/>
                </a:solidFill>
              </a:rPr>
              <a:t> = leave for airport </a:t>
            </a:r>
            <a:r>
              <a:rPr lang="en-US" sz="2400" i="1" dirty="0">
                <a:solidFill>
                  <a:srgbClr val="0066FF"/>
                </a:solidFill>
              </a:rPr>
              <a:t>t</a:t>
            </a:r>
            <a:r>
              <a:rPr lang="en-US" sz="2400" dirty="0">
                <a:solidFill>
                  <a:srgbClr val="0066FF"/>
                </a:solidFill>
              </a:rPr>
              <a:t> minutes before flight</a:t>
            </a:r>
          </a:p>
          <a:p>
            <a:pPr marL="746125" lvl="1" indent="-346075"/>
            <a:r>
              <a:rPr lang="en-US" sz="2000" dirty="0"/>
              <a:t>Will </a:t>
            </a:r>
            <a:r>
              <a:rPr lang="en-US" sz="2000" i="1" dirty="0"/>
              <a:t>A</a:t>
            </a:r>
            <a:r>
              <a:rPr lang="en-US" sz="2000" i="1" baseline="-25000" dirty="0"/>
              <a:t>t</a:t>
            </a:r>
            <a:r>
              <a:rPr lang="en-US" sz="2000" dirty="0"/>
              <a:t> get me there on time?</a:t>
            </a:r>
            <a:endParaRPr lang="en-US" sz="2400" dirty="0"/>
          </a:p>
          <a:p>
            <a:pPr marL="346075" indent="-346075"/>
            <a:r>
              <a:rPr lang="en-US" sz="2400" dirty="0"/>
              <a:t>Problems:</a:t>
            </a:r>
          </a:p>
          <a:p>
            <a:pPr marL="746125" lvl="2" indent="-346075"/>
            <a:r>
              <a:rPr lang="en-US" sz="2000" dirty="0"/>
              <a:t>Partial </a:t>
            </a:r>
            <a:r>
              <a:rPr lang="en-US" sz="2000" dirty="0" err="1"/>
              <a:t>observability</a:t>
            </a:r>
            <a:r>
              <a:rPr lang="en-US" sz="2000" dirty="0"/>
              <a:t> (road state, other drivers' plans, etc.)</a:t>
            </a:r>
          </a:p>
          <a:p>
            <a:pPr marL="746125" lvl="2" indent="-346075"/>
            <a:r>
              <a:rPr lang="en-US" sz="2000" dirty="0"/>
              <a:t>Noisy sensors (traffic reports)</a:t>
            </a:r>
          </a:p>
          <a:p>
            <a:pPr marL="746125" lvl="2" indent="-346075"/>
            <a:r>
              <a:rPr lang="en-US" sz="2000" dirty="0"/>
              <a:t>Uncertainty in action outcomes (flat tire, etc.)</a:t>
            </a:r>
          </a:p>
          <a:p>
            <a:pPr marL="746125" lvl="2" indent="-346075"/>
            <a:r>
              <a:rPr lang="en-US" sz="2000" dirty="0"/>
              <a:t>Complexity of modeling and predicting traffic</a:t>
            </a:r>
            <a:endParaRPr lang="en-US" sz="2400" dirty="0"/>
          </a:p>
          <a:p>
            <a:pPr marL="346075" indent="-346075"/>
            <a:r>
              <a:rPr lang="en-US" sz="2400" dirty="0"/>
              <a:t>Hence a purely logical approach either</a:t>
            </a:r>
          </a:p>
          <a:p>
            <a:pPr marL="746125" lvl="2" indent="-346075"/>
            <a:r>
              <a:rPr lang="en-US" sz="2000" dirty="0"/>
              <a:t>Risks falsehood: “</a:t>
            </a:r>
            <a:r>
              <a:rPr lang="en-US" sz="2000" i="1" dirty="0"/>
              <a:t>A</a:t>
            </a:r>
            <a:r>
              <a:rPr lang="en-US" sz="2000" i="1" baseline="-25000" dirty="0"/>
              <a:t>25</a:t>
            </a:r>
            <a:r>
              <a:rPr lang="en-US" sz="2000" dirty="0"/>
              <a:t> will get me there on time,” or</a:t>
            </a:r>
          </a:p>
          <a:p>
            <a:pPr marL="746125" lvl="2" indent="-346075"/>
            <a:r>
              <a:rPr lang="en-US" sz="2000" dirty="0"/>
              <a:t>Leads to conclusions that are too weak for decision making:</a:t>
            </a:r>
            <a:endParaRPr lang="en-US" sz="2400" dirty="0"/>
          </a:p>
          <a:p>
            <a:pPr marL="1146175" lvl="2" indent="-346075"/>
            <a:r>
              <a:rPr lang="en-US" sz="1600" i="1" dirty="0"/>
              <a:t>A</a:t>
            </a:r>
            <a:r>
              <a:rPr lang="en-US" sz="1600" i="1" baseline="-25000" dirty="0"/>
              <a:t>25</a:t>
            </a:r>
            <a:r>
              <a:rPr lang="en-US" sz="1600" dirty="0"/>
              <a:t> will get me there on time if there's no accident on the bridge and it doesn't rain and my tires remain intact, etc., etc.</a:t>
            </a:r>
          </a:p>
          <a:p>
            <a:pPr marL="1146175" lvl="2" indent="-346075"/>
            <a:r>
              <a:rPr lang="en-US" sz="1600" i="1" dirty="0"/>
              <a:t>A</a:t>
            </a:r>
            <a:r>
              <a:rPr lang="en-US" sz="1600" i="1" baseline="-25000" dirty="0"/>
              <a:t>1440</a:t>
            </a:r>
            <a:r>
              <a:rPr lang="en-US" sz="1600" dirty="0"/>
              <a:t> might reasonably be said to get me there on time but I'd have to stay overnight in the airport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 dirty="0"/>
              <a:t>Probabilistic assertions summarize effects of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Laziness</a:t>
            </a:r>
            <a:r>
              <a:rPr lang="en-US" sz="2400" dirty="0"/>
              <a:t>: failure to enumerate exceptions, qualifications, etc.</a:t>
            </a:r>
          </a:p>
          <a:p>
            <a:pPr lvl="1"/>
            <a:r>
              <a:rPr lang="en-US" sz="2400" dirty="0">
                <a:solidFill>
                  <a:srgbClr val="7030A0"/>
                </a:solidFill>
              </a:rPr>
              <a:t>Ignorance</a:t>
            </a:r>
            <a:r>
              <a:rPr lang="en-US" sz="2400" dirty="0"/>
              <a:t>: lack of explicit theories, relevant facts, initial conditions, etc.</a:t>
            </a:r>
          </a:p>
          <a:p>
            <a:pPr lvl="1"/>
            <a:r>
              <a:rPr lang="en-US" sz="2400" dirty="0"/>
              <a:t>Intrinsically random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1143000"/>
          </a:xfrm>
        </p:spPr>
        <p:txBody>
          <a:bodyPr/>
          <a:lstStyle/>
          <a:p>
            <a:r>
              <a:rPr lang="en-US" dirty="0"/>
              <a:t>Making decisions under uncertainty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10600" cy="4525963"/>
          </a:xfrm>
        </p:spPr>
        <p:txBody>
          <a:bodyPr/>
          <a:lstStyle/>
          <a:p>
            <a:r>
              <a:rPr lang="en-US" sz="2400" dirty="0"/>
              <a:t>Suppose the agent believes the following:</a:t>
            </a:r>
          </a:p>
          <a:p>
            <a:pPr lvl="1"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0066FF"/>
                </a:solidFill>
              </a:rPr>
              <a:t>P(A</a:t>
            </a:r>
            <a:r>
              <a:rPr lang="en-US" sz="2000" baseline="-25000" dirty="0">
                <a:solidFill>
                  <a:srgbClr val="0066FF"/>
                </a:solidFill>
              </a:rPr>
              <a:t>25</a:t>
            </a:r>
            <a:r>
              <a:rPr lang="en-US" sz="2000" dirty="0">
                <a:solidFill>
                  <a:srgbClr val="0066FF"/>
                </a:solidFill>
              </a:rPr>
              <a:t> gets me there on time) = 0.04 </a:t>
            </a:r>
          </a:p>
          <a:p>
            <a:pPr lvl="1">
              <a:buNone/>
            </a:pPr>
            <a:r>
              <a:rPr lang="en-US" sz="2000" dirty="0">
                <a:solidFill>
                  <a:srgbClr val="0066FF"/>
                </a:solidFill>
              </a:rPr>
              <a:t>	P(A</a:t>
            </a:r>
            <a:r>
              <a:rPr lang="en-US" sz="2000" baseline="-25000" dirty="0">
                <a:solidFill>
                  <a:srgbClr val="0066FF"/>
                </a:solidFill>
              </a:rPr>
              <a:t>90</a:t>
            </a:r>
            <a:r>
              <a:rPr lang="en-US" sz="2000" dirty="0">
                <a:solidFill>
                  <a:srgbClr val="0066FF"/>
                </a:solidFill>
              </a:rPr>
              <a:t> gets me there on time) = 0.70 </a:t>
            </a:r>
          </a:p>
          <a:p>
            <a:pPr lvl="1">
              <a:buNone/>
            </a:pPr>
            <a:r>
              <a:rPr lang="en-US" sz="2000" dirty="0">
                <a:solidFill>
                  <a:srgbClr val="0066FF"/>
                </a:solidFill>
              </a:rPr>
              <a:t>	P(A</a:t>
            </a:r>
            <a:r>
              <a:rPr lang="en-US" sz="2000" baseline="-25000" dirty="0">
                <a:solidFill>
                  <a:srgbClr val="0066FF"/>
                </a:solidFill>
              </a:rPr>
              <a:t>120 </a:t>
            </a:r>
            <a:r>
              <a:rPr lang="en-US" sz="2000" dirty="0">
                <a:solidFill>
                  <a:srgbClr val="0066FF"/>
                </a:solidFill>
              </a:rPr>
              <a:t>gets me there on time) = 0.95 </a:t>
            </a:r>
          </a:p>
          <a:p>
            <a:pPr lvl="1">
              <a:buNone/>
            </a:pPr>
            <a:r>
              <a:rPr lang="en-US" sz="2000" dirty="0">
                <a:solidFill>
                  <a:srgbClr val="0066FF"/>
                </a:solidFill>
              </a:rPr>
              <a:t>	P(A</a:t>
            </a:r>
            <a:r>
              <a:rPr lang="en-US" sz="2000" baseline="-25000" dirty="0">
                <a:solidFill>
                  <a:srgbClr val="0066FF"/>
                </a:solidFill>
              </a:rPr>
              <a:t>1440</a:t>
            </a:r>
            <a:r>
              <a:rPr lang="en-US" sz="2000" dirty="0">
                <a:solidFill>
                  <a:srgbClr val="0066FF"/>
                </a:solidFill>
              </a:rPr>
              <a:t> gets me there on time) = 0.9999 </a:t>
            </a:r>
            <a:endParaRPr lang="en-US" sz="2400" dirty="0">
              <a:solidFill>
                <a:srgbClr val="0066FF"/>
              </a:solidFill>
            </a:endParaRPr>
          </a:p>
          <a:p>
            <a:r>
              <a:rPr lang="en-US" sz="2400" dirty="0"/>
              <a:t>Which action should the agent choose?</a:t>
            </a:r>
          </a:p>
          <a:p>
            <a:pPr lvl="1"/>
            <a:r>
              <a:rPr lang="en-US" sz="2000" dirty="0"/>
              <a:t>Depends on preferences for missing flight vs. time spent waiting</a:t>
            </a:r>
          </a:p>
          <a:p>
            <a:pPr lvl="1"/>
            <a:r>
              <a:rPr lang="en-US" sz="2000" dirty="0"/>
              <a:t>Encapsulated by a </a:t>
            </a:r>
            <a:r>
              <a:rPr lang="en-US" sz="2000" i="1" dirty="0"/>
              <a:t>utility function</a:t>
            </a:r>
            <a:endParaRPr lang="en-US" sz="1600" i="1" dirty="0"/>
          </a:p>
          <a:p>
            <a:r>
              <a:rPr lang="en-US" sz="2400" dirty="0"/>
              <a:t>The agent should choose the action that maximizes the </a:t>
            </a:r>
            <a:r>
              <a:rPr lang="en-US" sz="2400" i="1" dirty="0"/>
              <a:t>expected utility</a:t>
            </a:r>
            <a:r>
              <a:rPr lang="en-US" sz="2400" dirty="0"/>
              <a:t>:</a:t>
            </a:r>
          </a:p>
          <a:p>
            <a:pPr lvl="1">
              <a:buNone/>
            </a:pPr>
            <a:r>
              <a:rPr lang="en-US" sz="1600" dirty="0"/>
              <a:t>		</a:t>
            </a:r>
            <a:r>
              <a:rPr lang="en-US" sz="2000" dirty="0">
                <a:solidFill>
                  <a:srgbClr val="0066FF"/>
                </a:solidFill>
              </a:rPr>
              <a:t>P(A</a:t>
            </a:r>
            <a:r>
              <a:rPr lang="en-US" sz="2000" i="1" baseline="-25000" dirty="0">
                <a:solidFill>
                  <a:srgbClr val="0066FF"/>
                </a:solidFill>
              </a:rPr>
              <a:t>t</a:t>
            </a:r>
            <a:r>
              <a:rPr lang="en-US" sz="2000" dirty="0">
                <a:solidFill>
                  <a:srgbClr val="0066FF"/>
                </a:solidFill>
              </a:rPr>
              <a:t> succeeds) * U(A</a:t>
            </a:r>
            <a:r>
              <a:rPr lang="en-US" sz="2000" i="1" baseline="-25000" dirty="0">
                <a:solidFill>
                  <a:srgbClr val="0066FF"/>
                </a:solidFill>
              </a:rPr>
              <a:t>t</a:t>
            </a:r>
            <a:r>
              <a:rPr lang="en-US" sz="2000" dirty="0">
                <a:solidFill>
                  <a:srgbClr val="0066FF"/>
                </a:solidFill>
              </a:rPr>
              <a:t> succeeds) + P(A</a:t>
            </a:r>
            <a:r>
              <a:rPr lang="en-US" sz="2000" i="1" baseline="-25000" dirty="0">
                <a:solidFill>
                  <a:srgbClr val="0066FF"/>
                </a:solidFill>
              </a:rPr>
              <a:t>t</a:t>
            </a:r>
            <a:r>
              <a:rPr lang="en-US" sz="2000" dirty="0">
                <a:solidFill>
                  <a:srgbClr val="0066FF"/>
                </a:solidFill>
              </a:rPr>
              <a:t> fails) * U(A</a:t>
            </a:r>
            <a:r>
              <a:rPr lang="en-US" sz="2000" i="1" baseline="-25000" dirty="0">
                <a:solidFill>
                  <a:srgbClr val="0066FF"/>
                </a:solidFill>
              </a:rPr>
              <a:t>t</a:t>
            </a:r>
            <a:r>
              <a:rPr lang="en-US" sz="2000" dirty="0">
                <a:solidFill>
                  <a:srgbClr val="0066FF"/>
                </a:solidFill>
              </a:rPr>
              <a:t> fails)</a:t>
            </a:r>
          </a:p>
          <a:p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400" dirty="0">
                <a:solidFill>
                  <a:schemeClr val="accent2"/>
                </a:solidFill>
              </a:rPr>
              <a:t>Utility theory</a:t>
            </a:r>
            <a:r>
              <a:rPr lang="en-US" sz="2400" dirty="0"/>
              <a:t> is used to represent and infer preferences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Decision theory</a:t>
            </a:r>
            <a:r>
              <a:rPr lang="en-US" sz="2400" dirty="0"/>
              <a:t> = probability theory + utility theory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Monty Hall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sz="2400" dirty="0"/>
              <a:t>You’re a contestant on a game show. You see three closed doors, and behind one of them is a prize. You choose one door, and the host opens one of the other doors and reveals that there is no prize behind it. Then he offers you a chance to switch to the remaining door. Should you take it?</a:t>
            </a:r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52725" y="3810000"/>
            <a:ext cx="38766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Monty Hall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With probability 1/3, you picked the correct door, and with probability 2/3, picked the wrong door. If you picked the correct door and then you switch, you lose. If you picked the wrong door and then you switch, you win the prize.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Expected payoff of switching: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(1/3) * 0 + (2/3) * Prize</a:t>
            </a:r>
            <a:br>
              <a:rPr lang="en-US" sz="2800" b="1" dirty="0">
                <a:solidFill>
                  <a:srgbClr val="C00000"/>
                </a:solidFill>
              </a:rPr>
            </a:br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dirty="0"/>
              <a:t>Expected payoff of not switching: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(1/3) * Prize + (2/3) *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probabilities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25963"/>
          </a:xfrm>
        </p:spPr>
        <p:txBody>
          <a:bodyPr/>
          <a:lstStyle/>
          <a:p>
            <a:r>
              <a:rPr lang="en-US" sz="2400" b="1" dirty="0" err="1">
                <a:solidFill>
                  <a:srgbClr val="0066FF"/>
                </a:solidFill>
              </a:rPr>
              <a:t>Frequentism</a:t>
            </a:r>
            <a:endParaRPr lang="en-US" sz="2400" b="1" dirty="0">
              <a:solidFill>
                <a:srgbClr val="0066FF"/>
              </a:solidFill>
            </a:endParaRPr>
          </a:p>
          <a:p>
            <a:pPr lvl="1"/>
            <a:r>
              <a:rPr lang="en-US" sz="2000" dirty="0"/>
              <a:t>Probabilities are relative frequencies</a:t>
            </a:r>
          </a:p>
          <a:p>
            <a:pPr lvl="1"/>
            <a:r>
              <a:rPr lang="en-US" sz="2000" dirty="0"/>
              <a:t>For example, if we toss a coin many times, P(heads) is the proportion of the time the coin will come up heads</a:t>
            </a:r>
          </a:p>
          <a:p>
            <a:pPr lvl="1"/>
            <a:r>
              <a:rPr lang="en-US" sz="2000" dirty="0"/>
              <a:t>But what if we’re dealing with events that only happen once?</a:t>
            </a:r>
          </a:p>
          <a:p>
            <a:pPr lvl="2"/>
            <a:r>
              <a:rPr lang="en-US" sz="1600" dirty="0"/>
              <a:t>E.g., what is the probability that Republicans will win the presidency in 2012?</a:t>
            </a:r>
          </a:p>
          <a:p>
            <a:pPr lvl="1"/>
            <a:r>
              <a:rPr lang="en-US" sz="2000" dirty="0"/>
              <a:t>“Reference class” problem</a:t>
            </a:r>
          </a:p>
          <a:p>
            <a:r>
              <a:rPr lang="en-US" sz="2400" b="1" dirty="0">
                <a:solidFill>
                  <a:srgbClr val="0066FF"/>
                </a:solidFill>
              </a:rPr>
              <a:t>Subjectivism</a:t>
            </a:r>
          </a:p>
          <a:p>
            <a:pPr lvl="1"/>
            <a:r>
              <a:rPr lang="en-US" sz="2000" dirty="0"/>
              <a:t>Probabilities are degrees of belief </a:t>
            </a:r>
          </a:p>
          <a:p>
            <a:pPr lvl="1"/>
            <a:r>
              <a:rPr lang="en-US" sz="2000" dirty="0"/>
              <a:t>But then, how do we assign belief values to statements?</a:t>
            </a:r>
          </a:p>
          <a:p>
            <a:pPr lvl="1"/>
            <a:r>
              <a:rPr lang="en-US" sz="2000" dirty="0"/>
              <a:t>What would constrain agents to hold consistent beliefs?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Probabilities and rationality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r>
              <a:rPr lang="en-US" sz="2400" dirty="0"/>
              <a:t>Why should a rational agent hold beliefs that are consistent with axioms of probability?</a:t>
            </a:r>
          </a:p>
          <a:p>
            <a:endParaRPr lang="en-US" sz="2400" dirty="0"/>
          </a:p>
          <a:p>
            <a:r>
              <a:rPr lang="en-US" sz="2400" dirty="0"/>
              <a:t>De </a:t>
            </a:r>
            <a:r>
              <a:rPr lang="en-US" sz="2400" dirty="0" err="1"/>
              <a:t>Finetti</a:t>
            </a:r>
            <a:r>
              <a:rPr lang="en-US" sz="2400" dirty="0"/>
              <a:t> (1931): If an agent has some degree of belief in proposition </a:t>
            </a:r>
            <a:r>
              <a:rPr lang="en-US" sz="2400" dirty="0">
                <a:cs typeface="Times New Roman" pitchFamily="18" charset="0"/>
                <a:sym typeface="Symbol"/>
              </a:rPr>
              <a:t>A</a:t>
            </a:r>
            <a:r>
              <a:rPr lang="en-US" sz="2400" dirty="0"/>
              <a:t>, he/she should be able to decide whether or not to accept a bet for/against </a:t>
            </a:r>
            <a:r>
              <a:rPr lang="en-US" sz="2400" dirty="0">
                <a:cs typeface="Times New Roman" pitchFamily="18" charset="0"/>
                <a:sym typeface="Symbol"/>
              </a:rPr>
              <a:t>A</a:t>
            </a:r>
            <a:endParaRPr lang="en-US" sz="2400" dirty="0"/>
          </a:p>
          <a:p>
            <a:pPr lvl="1"/>
            <a:r>
              <a:rPr lang="en-US" sz="2000" dirty="0"/>
              <a:t>E.g., if the agent believes that </a:t>
            </a:r>
            <a:r>
              <a:rPr lang="en-US" sz="2000" dirty="0">
                <a:solidFill>
                  <a:srgbClr val="0066FF"/>
                </a:solidFill>
              </a:rPr>
              <a:t>P(</a:t>
            </a:r>
            <a:r>
              <a:rPr lang="en-US" sz="2000" dirty="0">
                <a:solidFill>
                  <a:srgbClr val="0066FF"/>
                </a:solidFill>
                <a:cs typeface="Times New Roman" pitchFamily="18" charset="0"/>
                <a:sym typeface="Symbol"/>
              </a:rPr>
              <a:t>A</a:t>
            </a:r>
            <a:r>
              <a:rPr lang="en-US" sz="2000" dirty="0">
                <a:solidFill>
                  <a:srgbClr val="0066FF"/>
                </a:solidFill>
              </a:rPr>
              <a:t>) = 0.4</a:t>
            </a:r>
            <a:r>
              <a:rPr lang="en-US" sz="2000" dirty="0"/>
              <a:t>, should he/she agree to bet </a:t>
            </a:r>
            <a:r>
              <a:rPr lang="en-US" sz="2000" dirty="0">
                <a:solidFill>
                  <a:srgbClr val="0066FF"/>
                </a:solidFill>
              </a:rPr>
              <a:t>$4</a:t>
            </a:r>
            <a:r>
              <a:rPr lang="en-US" sz="2000" dirty="0"/>
              <a:t> that A will occur against </a:t>
            </a:r>
            <a:r>
              <a:rPr lang="en-US" sz="2000" dirty="0">
                <a:solidFill>
                  <a:srgbClr val="0066FF"/>
                </a:solidFill>
              </a:rPr>
              <a:t>$6</a:t>
            </a:r>
            <a:r>
              <a:rPr lang="en-US" sz="2000" dirty="0"/>
              <a:t> that </a:t>
            </a:r>
            <a:r>
              <a:rPr lang="en-US" sz="2000" dirty="0">
                <a:cs typeface="Times New Roman" pitchFamily="18" charset="0"/>
                <a:sym typeface="Symbol"/>
              </a:rPr>
              <a:t>A</a:t>
            </a:r>
            <a:r>
              <a:rPr lang="en-US" sz="2000" dirty="0"/>
              <a:t> will not occur?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Theorem:</a:t>
            </a:r>
            <a:r>
              <a:rPr lang="en-US" sz="2400" dirty="0"/>
              <a:t> An agent who holds beliefs inconsistent with axioms of probability can be tricked into accepting a combination of bets that are guaranteed to lose them money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 lang="en-US" dirty="0"/>
              <a:t>Random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sz="2400" dirty="0"/>
              <a:t>We describe the (uncertain) state of the world using </a:t>
            </a:r>
            <a:r>
              <a:rPr lang="en-US" sz="2400" i="1" dirty="0"/>
              <a:t>random variables</a:t>
            </a:r>
            <a:endParaRPr lang="en-US" sz="2000" dirty="0"/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Denoted by capital letters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</a:rPr>
              <a:t>R</a:t>
            </a:r>
            <a:r>
              <a:rPr lang="en-US" sz="2000" dirty="0">
                <a:solidFill>
                  <a:srgbClr val="0066FF"/>
                </a:solidFill>
              </a:rPr>
              <a:t>: </a:t>
            </a:r>
            <a:r>
              <a:rPr lang="en-US" sz="2000" i="1" dirty="0">
                <a:solidFill>
                  <a:srgbClr val="0066FF"/>
                </a:solidFill>
              </a:rPr>
              <a:t>Is it raining?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</a:rPr>
              <a:t>W</a:t>
            </a:r>
            <a:r>
              <a:rPr lang="en-US" sz="2000" dirty="0">
                <a:solidFill>
                  <a:srgbClr val="0066FF"/>
                </a:solidFill>
              </a:rPr>
              <a:t>:</a:t>
            </a:r>
            <a:r>
              <a:rPr lang="en-US" sz="2000" i="1" dirty="0">
                <a:solidFill>
                  <a:srgbClr val="0066FF"/>
                </a:solidFill>
              </a:rPr>
              <a:t> What’s the weather?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</a:rPr>
              <a:t>D</a:t>
            </a:r>
            <a:r>
              <a:rPr lang="en-US" sz="2000" dirty="0">
                <a:solidFill>
                  <a:srgbClr val="0066FF"/>
                </a:solidFill>
              </a:rPr>
              <a:t>: </a:t>
            </a:r>
            <a:r>
              <a:rPr lang="en-US" sz="2000" i="1" dirty="0">
                <a:solidFill>
                  <a:srgbClr val="0066FF"/>
                </a:solidFill>
              </a:rPr>
              <a:t>What is the outcome of rolling two dice?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</a:rPr>
              <a:t>S</a:t>
            </a:r>
            <a:r>
              <a:rPr lang="en-US" sz="2000" dirty="0">
                <a:solidFill>
                  <a:srgbClr val="0066FF"/>
                </a:solidFill>
              </a:rPr>
              <a:t>: </a:t>
            </a:r>
            <a:r>
              <a:rPr lang="en-US" sz="2000" i="1" dirty="0">
                <a:solidFill>
                  <a:srgbClr val="0066FF"/>
                </a:solidFill>
              </a:rPr>
              <a:t>What is the speed of my car (in MPH)?</a:t>
            </a:r>
          </a:p>
          <a:p>
            <a:r>
              <a:rPr lang="en-US" sz="2400" dirty="0"/>
              <a:t>Just like variables in CSP’s, random variables take on values in a </a:t>
            </a:r>
            <a:r>
              <a:rPr lang="en-US" sz="2400" i="1" dirty="0"/>
              <a:t>domain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Domain values must be mutually exclusive and exhaustive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</a:rPr>
              <a:t>R</a:t>
            </a:r>
            <a:r>
              <a:rPr lang="en-US" sz="2000" dirty="0">
                <a:solidFill>
                  <a:srgbClr val="0066FF"/>
                </a:solidFill>
              </a:rPr>
              <a:t> </a:t>
            </a:r>
            <a:r>
              <a:rPr lang="en-US" sz="2000" dirty="0"/>
              <a:t>in</a:t>
            </a:r>
            <a:r>
              <a:rPr lang="en-US" sz="2000" dirty="0">
                <a:solidFill>
                  <a:srgbClr val="0066FF"/>
                </a:solidFill>
              </a:rPr>
              <a:t> {True, False}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</a:rPr>
              <a:t>W</a:t>
            </a:r>
            <a:r>
              <a:rPr lang="en-US" sz="2000" dirty="0">
                <a:solidFill>
                  <a:srgbClr val="0066FF"/>
                </a:solidFill>
              </a:rPr>
              <a:t> </a:t>
            </a:r>
            <a:r>
              <a:rPr lang="en-US" sz="2000" dirty="0"/>
              <a:t>in</a:t>
            </a:r>
            <a:r>
              <a:rPr lang="en-US" sz="2000" dirty="0">
                <a:solidFill>
                  <a:srgbClr val="0066FF"/>
                </a:solidFill>
              </a:rPr>
              <a:t> {Sunny, Cloudy, Rainy, Snow}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  <a:sym typeface="Symbol"/>
              </a:rPr>
              <a:t>D</a:t>
            </a:r>
            <a:r>
              <a:rPr lang="en-US" sz="2000" dirty="0">
                <a:solidFill>
                  <a:srgbClr val="0066FF"/>
                </a:solidFill>
                <a:sym typeface="Symbol"/>
              </a:rPr>
              <a:t> </a:t>
            </a:r>
            <a:r>
              <a:rPr lang="en-US" sz="2000" dirty="0">
                <a:sym typeface="Symbol"/>
              </a:rPr>
              <a:t>in</a:t>
            </a:r>
            <a:r>
              <a:rPr lang="en-US" sz="2000" dirty="0">
                <a:solidFill>
                  <a:srgbClr val="0066FF"/>
                </a:solidFill>
                <a:sym typeface="Symbol"/>
              </a:rPr>
              <a:t> {(1,1), (1,2), … (6,6)}</a:t>
            </a:r>
          </a:p>
          <a:p>
            <a:pPr lvl="1"/>
            <a:r>
              <a:rPr lang="en-US" sz="2000" b="1" dirty="0">
                <a:solidFill>
                  <a:srgbClr val="0066FF"/>
                </a:solidFill>
              </a:rPr>
              <a:t>S</a:t>
            </a:r>
            <a:r>
              <a:rPr lang="en-US" sz="2000" dirty="0">
                <a:solidFill>
                  <a:srgbClr val="0066FF"/>
                </a:solidFill>
              </a:rPr>
              <a:t> </a:t>
            </a:r>
            <a:r>
              <a:rPr lang="en-US" sz="2000" dirty="0"/>
              <a:t>in </a:t>
            </a:r>
            <a:r>
              <a:rPr lang="en-US" sz="2000" dirty="0">
                <a:solidFill>
                  <a:srgbClr val="0066FF"/>
                </a:solidFill>
              </a:rPr>
              <a:t>[0, </a:t>
            </a:r>
            <a:r>
              <a:rPr lang="en-US" sz="2000" dirty="0">
                <a:solidFill>
                  <a:srgbClr val="0066FF"/>
                </a:solidFill>
                <a:sym typeface="Symbol"/>
              </a:rPr>
              <a:t>200]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525963"/>
          </a:xfrm>
        </p:spPr>
        <p:txBody>
          <a:bodyPr/>
          <a:lstStyle/>
          <a:p>
            <a:r>
              <a:rPr lang="en-US" sz="2400" dirty="0"/>
              <a:t>Probabilistic statements are defined over </a:t>
            </a:r>
            <a:r>
              <a:rPr lang="en-US" sz="2400" i="1" dirty="0"/>
              <a:t>events</a:t>
            </a:r>
            <a:r>
              <a:rPr lang="en-US" sz="2400" dirty="0"/>
              <a:t>, or sets of world states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i="1" dirty="0">
                <a:solidFill>
                  <a:srgbClr val="0066FF"/>
                </a:solidFill>
              </a:rPr>
              <a:t>“It is raining”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i="1" dirty="0">
                <a:solidFill>
                  <a:srgbClr val="0066FF"/>
                </a:solidFill>
              </a:rPr>
              <a:t>“The weather is either cloudy or snowy”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i="1" dirty="0">
                <a:solidFill>
                  <a:srgbClr val="0066FF"/>
                </a:solidFill>
              </a:rPr>
              <a:t>“The sum of the two dice rolls is 11”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i="1" dirty="0">
                <a:solidFill>
                  <a:srgbClr val="0066FF"/>
                </a:solidFill>
              </a:rPr>
              <a:t>“My car is going between 30 and 50 miles per hour”</a:t>
            </a:r>
          </a:p>
          <a:p>
            <a:r>
              <a:rPr lang="en-US" sz="2400" dirty="0"/>
              <a:t>Events are described using propositions: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olidFill>
                  <a:srgbClr val="0066FF"/>
                </a:solidFill>
              </a:rPr>
              <a:t>R = True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olidFill>
                  <a:srgbClr val="0066FF"/>
                </a:solidFill>
              </a:rPr>
              <a:t>W = “Cloudy” </a:t>
            </a:r>
            <a:r>
              <a:rPr lang="en-US" sz="2000" dirty="0">
                <a:solidFill>
                  <a:srgbClr val="0066FF"/>
                </a:solidFill>
                <a:sym typeface="Symbol"/>
              </a:rPr>
              <a:t> W = “Snowy”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olidFill>
                  <a:srgbClr val="0066FF"/>
                </a:solidFill>
              </a:rPr>
              <a:t>D </a:t>
            </a:r>
            <a:r>
              <a:rPr lang="en-US" sz="2000" dirty="0">
                <a:solidFill>
                  <a:srgbClr val="0066FF"/>
                </a:solidFill>
                <a:sym typeface="Symbol"/>
              </a:rPr>
              <a:t> {(5,6), (6,5)}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solidFill>
                  <a:srgbClr val="0066FF"/>
                </a:solidFill>
                <a:sym typeface="Symbol"/>
              </a:rPr>
              <a:t>30  S  50</a:t>
            </a:r>
            <a:endParaRPr lang="en-US" sz="2000" dirty="0">
              <a:solidFill>
                <a:srgbClr val="0066FF"/>
              </a:solidFill>
            </a:endParaRPr>
          </a:p>
          <a:p>
            <a:r>
              <a:rPr lang="en-US" sz="2400" dirty="0"/>
              <a:t>Notation: </a:t>
            </a:r>
            <a:r>
              <a:rPr lang="en-US" sz="2400" dirty="0">
                <a:solidFill>
                  <a:srgbClr val="0066FF"/>
                </a:solidFill>
              </a:rPr>
              <a:t>P(</a:t>
            </a:r>
            <a:r>
              <a:rPr lang="en-US" sz="2400" dirty="0">
                <a:solidFill>
                  <a:srgbClr val="0066FF"/>
                </a:solidFill>
                <a:cs typeface="Times New Roman" pitchFamily="18" charset="0"/>
                <a:sym typeface="Symbol"/>
              </a:rPr>
              <a:t>A</a:t>
            </a:r>
            <a:r>
              <a:rPr lang="en-US" sz="2400" dirty="0">
                <a:solidFill>
                  <a:srgbClr val="0066FF"/>
                </a:solidFill>
              </a:rPr>
              <a:t>)</a:t>
            </a:r>
            <a:r>
              <a:rPr lang="en-US" sz="2400" dirty="0"/>
              <a:t> is the probability of the set of world states in which proposition </a:t>
            </a:r>
            <a:r>
              <a:rPr lang="en-US" sz="2400" dirty="0">
                <a:cs typeface="Times New Roman" pitchFamily="18" charset="0"/>
                <a:sym typeface="Symbol"/>
              </a:rPr>
              <a:t>A</a:t>
            </a:r>
            <a:r>
              <a:rPr lang="en-US" sz="2400" dirty="0"/>
              <a:t> holds</a:t>
            </a:r>
          </a:p>
          <a:p>
            <a:pPr lvl="1"/>
            <a:r>
              <a:rPr lang="en-US" sz="2000" dirty="0">
                <a:solidFill>
                  <a:srgbClr val="0066FF"/>
                </a:solidFill>
              </a:rPr>
              <a:t>P(X = x)</a:t>
            </a:r>
            <a:r>
              <a:rPr lang="en-US" sz="2000" dirty="0"/>
              <a:t>, or </a:t>
            </a:r>
            <a:r>
              <a:rPr lang="en-US" sz="2000" dirty="0">
                <a:solidFill>
                  <a:srgbClr val="0066FF"/>
                </a:solidFill>
              </a:rPr>
              <a:t>P(x) </a:t>
            </a:r>
            <a:r>
              <a:rPr lang="en-US" sz="2000" dirty="0"/>
              <a:t>for short, is the probability that random variable X has taken on the value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Kolmogorov’s</a:t>
            </a:r>
            <a:r>
              <a:rPr lang="en-US" dirty="0"/>
              <a:t> axioms of probability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For any propositions (events) </a:t>
            </a:r>
            <a:r>
              <a:rPr lang="en-US" sz="2400" dirty="0">
                <a:cs typeface="Times New Roman" pitchFamily="18" charset="0"/>
                <a:sym typeface="Symbol"/>
              </a:rPr>
              <a:t>A</a:t>
            </a:r>
            <a:r>
              <a:rPr lang="en-US" sz="2400" dirty="0"/>
              <a:t>, </a:t>
            </a:r>
            <a:r>
              <a:rPr lang="en-US" sz="2400" dirty="0">
                <a:sym typeface="Symbol"/>
              </a:rPr>
              <a:t>B</a:t>
            </a:r>
            <a:endParaRPr lang="en-US" sz="2400" dirty="0"/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solidFill>
                  <a:srgbClr val="0066FF"/>
                </a:solidFill>
              </a:rPr>
              <a:t>0 </a:t>
            </a:r>
            <a:r>
              <a:rPr lang="en-US" sz="2400" dirty="0">
                <a:solidFill>
                  <a:srgbClr val="0066FF"/>
                </a:solidFill>
                <a:cs typeface="Arial" charset="0"/>
              </a:rPr>
              <a:t>≤</a:t>
            </a:r>
            <a:r>
              <a:rPr lang="en-US" sz="2400" dirty="0">
                <a:solidFill>
                  <a:srgbClr val="0066FF"/>
                </a:solidFill>
              </a:rPr>
              <a:t> P(</a:t>
            </a:r>
            <a:r>
              <a:rPr lang="en-US" sz="2400" dirty="0">
                <a:solidFill>
                  <a:srgbClr val="0066FF"/>
                </a:solidFill>
                <a:cs typeface="Times New Roman" pitchFamily="18" charset="0"/>
                <a:sym typeface="Symbol"/>
              </a:rPr>
              <a:t>A</a:t>
            </a:r>
            <a:r>
              <a:rPr lang="en-US" sz="2400" dirty="0">
                <a:solidFill>
                  <a:srgbClr val="0066FF"/>
                </a:solidFill>
              </a:rPr>
              <a:t>) </a:t>
            </a:r>
            <a:r>
              <a:rPr lang="en-US" sz="2400" dirty="0">
                <a:solidFill>
                  <a:srgbClr val="0066FF"/>
                </a:solidFill>
                <a:cs typeface="Arial" charset="0"/>
              </a:rPr>
              <a:t>≤</a:t>
            </a:r>
            <a:r>
              <a:rPr lang="en-US" sz="2400" dirty="0">
                <a:solidFill>
                  <a:srgbClr val="0066FF"/>
                </a:solidFill>
              </a:rPr>
              <a:t> 1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solidFill>
                  <a:srgbClr val="0066FF"/>
                </a:solidFill>
              </a:rPr>
              <a:t>P(True) = 1 and P(False) = 0</a:t>
            </a:r>
          </a:p>
          <a:p>
            <a:pPr lvl="1">
              <a:buFont typeface="Wingdings" pitchFamily="2" charset="2"/>
              <a:buChar char="§"/>
            </a:pPr>
            <a:r>
              <a:rPr lang="en-US" sz="2400" dirty="0">
                <a:solidFill>
                  <a:srgbClr val="0066FF"/>
                </a:solidFill>
              </a:rPr>
              <a:t>P(</a:t>
            </a:r>
            <a:r>
              <a:rPr lang="en-US" sz="2400" dirty="0">
                <a:solidFill>
                  <a:srgbClr val="0066FF"/>
                </a:solidFill>
                <a:cs typeface="Times New Roman" pitchFamily="18" charset="0"/>
                <a:sym typeface="Symbol"/>
              </a:rPr>
              <a:t>A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>
                <a:solidFill>
                  <a:srgbClr val="0066FF"/>
                </a:solidFill>
                <a:sym typeface="Symbol" pitchFamily="18" charset="2"/>
              </a:rPr>
              <a:t> </a:t>
            </a:r>
            <a:r>
              <a:rPr lang="en-US" sz="2400" dirty="0">
                <a:solidFill>
                  <a:srgbClr val="0066FF"/>
                </a:solidFill>
                <a:sym typeface="Symbol"/>
              </a:rPr>
              <a:t>B</a:t>
            </a:r>
            <a:r>
              <a:rPr lang="en-US" sz="2400" dirty="0">
                <a:solidFill>
                  <a:srgbClr val="0066FF"/>
                </a:solidFill>
              </a:rPr>
              <a:t>) = P(</a:t>
            </a:r>
            <a:r>
              <a:rPr lang="en-US" sz="2400" dirty="0">
                <a:solidFill>
                  <a:srgbClr val="0066FF"/>
                </a:solidFill>
                <a:cs typeface="Times New Roman" pitchFamily="18" charset="0"/>
                <a:sym typeface="Symbol"/>
              </a:rPr>
              <a:t>A</a:t>
            </a:r>
            <a:r>
              <a:rPr lang="en-US" sz="2400" dirty="0">
                <a:solidFill>
                  <a:srgbClr val="0066FF"/>
                </a:solidFill>
              </a:rPr>
              <a:t>) + P(</a:t>
            </a:r>
            <a:r>
              <a:rPr lang="en-US" sz="2400" dirty="0">
                <a:solidFill>
                  <a:srgbClr val="0066FF"/>
                </a:solidFill>
                <a:sym typeface="Symbol"/>
              </a:rPr>
              <a:t>B</a:t>
            </a:r>
            <a:r>
              <a:rPr lang="en-US" sz="2400" dirty="0">
                <a:solidFill>
                  <a:srgbClr val="0066FF"/>
                </a:solidFill>
              </a:rPr>
              <a:t>) – P(</a:t>
            </a:r>
            <a:r>
              <a:rPr lang="en-US" sz="2400" dirty="0">
                <a:solidFill>
                  <a:srgbClr val="0066FF"/>
                </a:solidFill>
                <a:cs typeface="Times New Roman" pitchFamily="18" charset="0"/>
                <a:sym typeface="Symbol"/>
              </a:rPr>
              <a:t>A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400" dirty="0">
                <a:solidFill>
                  <a:srgbClr val="0066FF"/>
                </a:solidFill>
              </a:rPr>
              <a:t> </a:t>
            </a:r>
            <a:r>
              <a:rPr lang="en-US" sz="2400" dirty="0">
                <a:solidFill>
                  <a:srgbClr val="0066FF"/>
                </a:solidFill>
                <a:sym typeface="Symbol"/>
              </a:rPr>
              <a:t>B</a:t>
            </a:r>
            <a:r>
              <a:rPr lang="en-US" sz="2400" dirty="0">
                <a:solidFill>
                  <a:srgbClr val="0066FF"/>
                </a:solidFill>
              </a:rPr>
              <a:t>)</a:t>
            </a:r>
          </a:p>
          <a:p>
            <a:pPr lvl="2">
              <a:buFont typeface="Arial" pitchFamily="34" charset="0"/>
              <a:buChar char="–"/>
            </a:pPr>
            <a:r>
              <a:rPr lang="en-US" dirty="0"/>
              <a:t>Subtraction accounts for double-counting</a:t>
            </a:r>
            <a:br>
              <a:rPr lang="en-US" dirty="0"/>
            </a:b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Based on these axioms, what is </a:t>
            </a:r>
            <a:r>
              <a:rPr lang="en-US" sz="2400" dirty="0">
                <a:solidFill>
                  <a:srgbClr val="0066FF"/>
                </a:solidFill>
              </a:rPr>
              <a:t>P(</a:t>
            </a:r>
            <a:r>
              <a:rPr lang="en-US" sz="2400" dirty="0">
                <a:solidFill>
                  <a:srgbClr val="0066FF"/>
                </a:solidFill>
                <a:cs typeface="Times New Roman"/>
              </a:rPr>
              <a:t>¬</a:t>
            </a:r>
            <a:r>
              <a:rPr lang="en-US" sz="2400" dirty="0">
                <a:solidFill>
                  <a:srgbClr val="0066FF"/>
                </a:solidFill>
                <a:cs typeface="Times New Roman" pitchFamily="18" charset="0"/>
                <a:sym typeface="Symbol"/>
              </a:rPr>
              <a:t>A</a:t>
            </a:r>
            <a:r>
              <a:rPr lang="en-US" sz="2400" dirty="0">
                <a:solidFill>
                  <a:srgbClr val="0066FF"/>
                </a:solidFill>
                <a:cs typeface="Times New Roman"/>
              </a:rPr>
              <a:t>)</a:t>
            </a:r>
            <a:r>
              <a:rPr lang="en-US" sz="2400" dirty="0">
                <a:cs typeface="Times New Roman"/>
              </a:rPr>
              <a:t>?</a:t>
            </a:r>
          </a:p>
          <a:p>
            <a:pPr>
              <a:buFont typeface="Arial" pitchFamily="34" charset="0"/>
              <a:buChar char="•"/>
            </a:pPr>
            <a:endParaRPr lang="en-US" sz="2400" dirty="0">
              <a:cs typeface="Times New Roman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cs typeface="Times New Roman"/>
              </a:rPr>
              <a:t>These axioms are sufficient to completely specify probability theory for </a:t>
            </a:r>
            <a:r>
              <a:rPr lang="en-US" sz="2400" i="1" dirty="0">
                <a:cs typeface="Times New Roman"/>
              </a:rPr>
              <a:t>discrete</a:t>
            </a:r>
            <a:r>
              <a:rPr lang="en-US" sz="2400" dirty="0">
                <a:cs typeface="Times New Roman"/>
              </a:rPr>
              <a:t> random variables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cs typeface="Times New Roman"/>
              </a:rPr>
              <a:t>For continuous variables, need </a:t>
            </a:r>
            <a:r>
              <a:rPr lang="en-US" sz="2000" i="1" dirty="0">
                <a:cs typeface="Times New Roman"/>
              </a:rPr>
              <a:t>density functions</a:t>
            </a:r>
            <a:endParaRPr 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 events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Atomic event:</a:t>
            </a:r>
            <a:r>
              <a:rPr lang="en-US" sz="2400" dirty="0"/>
              <a:t> a complete specification of the state of the world, or a complete assignment of domain values to all random variables</a:t>
            </a:r>
          </a:p>
          <a:p>
            <a:pPr lvl="1"/>
            <a:r>
              <a:rPr lang="en-US" sz="2000" dirty="0"/>
              <a:t>Atomic events are mutually exclusive and exhaustive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E.g., if the world consists of only two Boolean variables </a:t>
            </a:r>
            <a:r>
              <a:rPr lang="en-US" sz="2400" i="1" dirty="0"/>
              <a:t>Cavity</a:t>
            </a:r>
            <a:r>
              <a:rPr lang="en-US" sz="2400" dirty="0"/>
              <a:t> and </a:t>
            </a:r>
            <a:r>
              <a:rPr lang="en-US" sz="2400" i="1" dirty="0"/>
              <a:t>Toothache</a:t>
            </a:r>
            <a:r>
              <a:rPr lang="en-US" sz="2400" dirty="0"/>
              <a:t>, then there are 4 distinct atomic events: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000" i="1" dirty="0">
                <a:solidFill>
                  <a:srgbClr val="0066FF"/>
                </a:solidFill>
              </a:rPr>
              <a:t>Cavity = false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Toothache = false</a:t>
            </a:r>
            <a:br>
              <a:rPr lang="en-US" sz="2000" i="1" dirty="0">
                <a:solidFill>
                  <a:srgbClr val="0066FF"/>
                </a:solidFill>
              </a:rPr>
            </a:br>
            <a:r>
              <a:rPr lang="en-US" sz="2000" i="1" dirty="0">
                <a:solidFill>
                  <a:srgbClr val="0066FF"/>
                </a:solidFill>
              </a:rPr>
              <a:t>		Cavity = false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 Toothache = true</a:t>
            </a:r>
            <a:br>
              <a:rPr lang="en-US" sz="2000" i="1" dirty="0">
                <a:solidFill>
                  <a:srgbClr val="0066FF"/>
                </a:solidFill>
              </a:rPr>
            </a:br>
            <a:r>
              <a:rPr lang="en-US" sz="2000" i="1" dirty="0">
                <a:solidFill>
                  <a:srgbClr val="0066FF"/>
                </a:solidFill>
              </a:rPr>
              <a:t>		Cavity = true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 Toothache = false</a:t>
            </a:r>
            <a:br>
              <a:rPr lang="en-US" sz="2000" i="1" dirty="0">
                <a:solidFill>
                  <a:srgbClr val="0066FF"/>
                </a:solidFill>
              </a:rPr>
            </a:br>
            <a:r>
              <a:rPr lang="en-US" sz="2000" i="1" dirty="0">
                <a:solidFill>
                  <a:srgbClr val="0066FF"/>
                </a:solidFill>
              </a:rPr>
              <a:t>		Cavity = true </a:t>
            </a:r>
            <a:r>
              <a:rPr lang="en-US" sz="2000" dirty="0">
                <a:solidFill>
                  <a:srgbClr val="0066FF"/>
                </a:solidFill>
                <a:sym typeface="Symbol" pitchFamily="18" charset="2"/>
              </a:rPr>
              <a:t></a:t>
            </a:r>
            <a:r>
              <a:rPr lang="en-US" sz="2000" i="1" dirty="0">
                <a:solidFill>
                  <a:srgbClr val="0066FF"/>
                </a:solidFill>
              </a:rPr>
              <a:t> Toothache = true</a:t>
            </a:r>
            <a:br>
              <a:rPr lang="en-US" sz="2400" i="1" dirty="0">
                <a:solidFill>
                  <a:srgbClr val="0066FF"/>
                </a:solidFill>
              </a:rPr>
            </a:br>
            <a:endParaRPr lang="en-US" sz="2400" i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</a:t>
            </a:r>
            <a:r>
              <a:rPr lang="en-US" sz="2800" b="1" dirty="0"/>
              <a:t>joint distribution </a:t>
            </a:r>
            <a:r>
              <a:rPr lang="en-US" sz="2800" dirty="0"/>
              <a:t>is an assignment of probabilities to every possible atomic event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pPr lvl="1"/>
            <a:r>
              <a:rPr lang="en-US" sz="2400" dirty="0"/>
              <a:t>Why does it follow from the axioms of probability that the probabilities of all possible atomic events must sum to 1?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2870200"/>
          <a:ext cx="6096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Atomic event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46237"/>
            <a:ext cx="8915400" cy="4525963"/>
          </a:xfrm>
        </p:spPr>
        <p:txBody>
          <a:bodyPr/>
          <a:lstStyle/>
          <a:p>
            <a:r>
              <a:rPr lang="en-US" sz="2800" dirty="0"/>
              <a:t>Suppose we have a joint </a:t>
            </a:r>
            <a:r>
              <a:rPr lang="en-US" sz="2800" i="1" dirty="0"/>
              <a:t>distribution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66FF"/>
                </a:solidFill>
              </a:rPr>
              <a:t>P(X</a:t>
            </a:r>
            <a:r>
              <a:rPr lang="en-US" sz="2800" baseline="-25000" dirty="0">
                <a:solidFill>
                  <a:srgbClr val="0066FF"/>
                </a:solidFill>
              </a:rPr>
              <a:t>1</a:t>
            </a:r>
            <a:r>
              <a:rPr lang="en-US" sz="2800" dirty="0">
                <a:solidFill>
                  <a:srgbClr val="0066FF"/>
                </a:solidFill>
              </a:rPr>
              <a:t>, X</a:t>
            </a:r>
            <a:r>
              <a:rPr lang="en-US" sz="2800" baseline="-25000" dirty="0">
                <a:solidFill>
                  <a:srgbClr val="0066FF"/>
                </a:solidFill>
              </a:rPr>
              <a:t>2</a:t>
            </a:r>
            <a:r>
              <a:rPr lang="en-US" sz="2800" dirty="0">
                <a:solidFill>
                  <a:srgbClr val="0066FF"/>
                </a:solidFill>
              </a:rPr>
              <a:t>, …, </a:t>
            </a:r>
            <a:r>
              <a:rPr lang="en-US" sz="2800" dirty="0" err="1">
                <a:solidFill>
                  <a:srgbClr val="0066FF"/>
                </a:solidFill>
              </a:rPr>
              <a:t>X</a:t>
            </a:r>
            <a:r>
              <a:rPr lang="en-US" sz="2800" baseline="-25000" dirty="0" err="1">
                <a:solidFill>
                  <a:srgbClr val="0066FF"/>
                </a:solidFill>
              </a:rPr>
              <a:t>n</a:t>
            </a:r>
            <a:r>
              <a:rPr lang="en-US" sz="2800" dirty="0">
                <a:solidFill>
                  <a:srgbClr val="0066FF"/>
                </a:solidFill>
              </a:rPr>
              <a:t>) </a:t>
            </a:r>
            <a:r>
              <a:rPr lang="en-US" sz="2800" dirty="0"/>
              <a:t>of n random variables with domain sizes d</a:t>
            </a:r>
          </a:p>
          <a:p>
            <a:pPr lvl="1"/>
            <a:r>
              <a:rPr lang="en-US" sz="2400" dirty="0"/>
              <a:t>What is the size of the probability table?</a:t>
            </a:r>
          </a:p>
          <a:p>
            <a:pPr lvl="1"/>
            <a:r>
              <a:rPr lang="en-US" sz="2400" dirty="0"/>
              <a:t>Impossible to write out completely for all but the smallest distributions</a:t>
            </a:r>
            <a:br>
              <a:rPr lang="en-US" sz="2400" dirty="0"/>
            </a:br>
            <a:endParaRPr lang="en-US" sz="2400" dirty="0"/>
          </a:p>
          <a:p>
            <a:r>
              <a:rPr lang="en-US" sz="2800" dirty="0"/>
              <a:t>Notation:</a:t>
            </a:r>
          </a:p>
          <a:p>
            <a:pPr lvl="1"/>
            <a:r>
              <a:rPr lang="en-US" sz="2400" dirty="0">
                <a:solidFill>
                  <a:srgbClr val="0066FF"/>
                </a:solidFill>
              </a:rPr>
              <a:t>P(X = x) </a:t>
            </a:r>
            <a:r>
              <a:rPr lang="en-US" sz="2400" dirty="0"/>
              <a:t>is the probability that random variable X takes on value x </a:t>
            </a:r>
          </a:p>
          <a:p>
            <a:pPr lvl="1"/>
            <a:r>
              <a:rPr lang="en-US" sz="2400" dirty="0">
                <a:solidFill>
                  <a:srgbClr val="0066FF"/>
                </a:solidFill>
              </a:rPr>
              <a:t>P(X)</a:t>
            </a:r>
            <a:r>
              <a:rPr lang="en-US" sz="2400" dirty="0"/>
              <a:t> is the </a:t>
            </a:r>
            <a:r>
              <a:rPr lang="en-US" sz="2400" i="1" dirty="0"/>
              <a:t>distribution </a:t>
            </a:r>
            <a:r>
              <a:rPr lang="en-US" sz="2400" dirty="0"/>
              <a:t>of probabilities for all possible values of X</a:t>
            </a:r>
          </a:p>
          <a:p>
            <a:pPr lvl="1"/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525963"/>
          </a:xfrm>
        </p:spPr>
        <p:txBody>
          <a:bodyPr/>
          <a:lstStyle/>
          <a:p>
            <a:r>
              <a:rPr lang="en-US" sz="2800" dirty="0"/>
              <a:t>Suppose we have the joint distribution </a:t>
            </a:r>
            <a:r>
              <a:rPr lang="en-US" sz="2800" dirty="0">
                <a:solidFill>
                  <a:srgbClr val="0066FF"/>
                </a:solidFill>
              </a:rPr>
              <a:t>P(X,Y)</a:t>
            </a:r>
            <a:r>
              <a:rPr lang="en-US" sz="2800" dirty="0"/>
              <a:t> and we want to find the </a:t>
            </a:r>
            <a:r>
              <a:rPr lang="en-US" sz="2800" i="1" dirty="0"/>
              <a:t>marginal distribution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66FF"/>
                </a:solidFill>
              </a:rPr>
              <a:t>P(Y)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endParaRPr lang="en-US" sz="2800" baseline="-25000" dirty="0"/>
          </a:p>
          <a:p>
            <a:endParaRPr lang="en-US" sz="2800" baseline="-25000" dirty="0"/>
          </a:p>
          <a:p>
            <a:pPr>
              <a:buNone/>
            </a:pPr>
            <a:endParaRPr lang="en-US" sz="2800" baseline="-25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3175000"/>
          <a:ext cx="6096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P(Cavity,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Toothache)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66800" y="5435600"/>
          <a:ext cx="31242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P(Cavity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48200" y="5435600"/>
          <a:ext cx="36576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9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P(Toothache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 err="1">
                          <a:solidFill>
                            <a:srgbClr val="0066FF"/>
                          </a:solidFill>
                        </a:rPr>
                        <a:t>Toochache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525963"/>
          </a:xfrm>
        </p:spPr>
        <p:txBody>
          <a:bodyPr/>
          <a:lstStyle/>
          <a:p>
            <a:r>
              <a:rPr lang="en-US" sz="2800" dirty="0"/>
              <a:t>Suppose we have the joint distribution </a:t>
            </a:r>
            <a:r>
              <a:rPr lang="en-US" sz="2800" dirty="0">
                <a:solidFill>
                  <a:srgbClr val="0066FF"/>
                </a:solidFill>
              </a:rPr>
              <a:t>P(X,Y)</a:t>
            </a:r>
            <a:r>
              <a:rPr lang="en-US" sz="2800" dirty="0"/>
              <a:t> and we want to find the </a:t>
            </a:r>
            <a:r>
              <a:rPr lang="en-US" sz="2800" i="1" dirty="0"/>
              <a:t>marginal distribution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66FF"/>
                </a:solidFill>
              </a:rPr>
              <a:t>P(Y)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  <a:p>
            <a:endParaRPr lang="en-US" sz="2800" baseline="-25000" dirty="0"/>
          </a:p>
          <a:p>
            <a:endParaRPr lang="en-US" sz="2800" baseline="-25000" dirty="0"/>
          </a:p>
          <a:p>
            <a:pPr>
              <a:buNone/>
            </a:pPr>
            <a:endParaRPr lang="en-US" sz="2800" baseline="-25000" dirty="0"/>
          </a:p>
          <a:p>
            <a:endParaRPr lang="en-US" sz="2800" dirty="0"/>
          </a:p>
          <a:p>
            <a:r>
              <a:rPr lang="en-US" sz="2800" dirty="0"/>
              <a:t>General rule: to find </a:t>
            </a:r>
            <a:r>
              <a:rPr lang="en-US" sz="2800" dirty="0">
                <a:solidFill>
                  <a:srgbClr val="0066FF"/>
                </a:solidFill>
              </a:rPr>
              <a:t>P(X = x)</a:t>
            </a:r>
            <a:r>
              <a:rPr lang="en-US" sz="2800" dirty="0"/>
              <a:t>, sum the probabilities of all atomic events where </a:t>
            </a:r>
            <a:r>
              <a:rPr lang="en-US" sz="2800" dirty="0">
                <a:solidFill>
                  <a:srgbClr val="0066FF"/>
                </a:solidFill>
              </a:rPr>
              <a:t>X = x</a:t>
            </a:r>
            <a:r>
              <a:rPr lang="en-US" sz="2800" dirty="0"/>
              <a:t>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011238" y="2987675"/>
          <a:ext cx="7329487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4" imgW="3377880" imgH="660240" progId="Equation.3">
                  <p:embed/>
                </p:oleObj>
              </mc:Choice>
              <mc:Fallback>
                <p:oleObj name="Equation" r:id="rId4" imgW="3377880" imgH="6602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2987675"/>
                        <a:ext cx="7329487" cy="1431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44562"/>
          </a:xfrm>
        </p:spPr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458200" cy="4525963"/>
          </a:xfrm>
        </p:spPr>
        <p:txBody>
          <a:bodyPr/>
          <a:lstStyle/>
          <a:p>
            <a:r>
              <a:rPr lang="en-US" sz="2400" dirty="0"/>
              <a:t>Probability of cavity given toothache: 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solidFill>
                  <a:srgbClr val="0066FF"/>
                </a:solidFill>
              </a:rPr>
              <a:t>P(</a:t>
            </a:r>
            <a:r>
              <a:rPr lang="en-US" sz="2400" i="1" dirty="0">
                <a:solidFill>
                  <a:srgbClr val="0066FF"/>
                </a:solidFill>
              </a:rPr>
              <a:t>Cavity = true</a:t>
            </a:r>
            <a:r>
              <a:rPr lang="en-US" sz="2400" dirty="0">
                <a:solidFill>
                  <a:srgbClr val="0066FF"/>
                </a:solidFill>
              </a:rPr>
              <a:t> | </a:t>
            </a:r>
            <a:r>
              <a:rPr lang="en-US" sz="2400" i="1" dirty="0">
                <a:solidFill>
                  <a:srgbClr val="0066FF"/>
                </a:solidFill>
              </a:rPr>
              <a:t>Toothache = true</a:t>
            </a:r>
            <a:r>
              <a:rPr lang="en-US" sz="2400" dirty="0">
                <a:solidFill>
                  <a:srgbClr val="0066FF"/>
                </a:solidFill>
              </a:rPr>
              <a:t>)</a:t>
            </a:r>
            <a:br>
              <a:rPr lang="en-US" sz="2400" dirty="0">
                <a:solidFill>
                  <a:srgbClr val="0066FF"/>
                </a:solidFill>
              </a:rPr>
            </a:br>
            <a:endParaRPr lang="en-US" sz="2400" dirty="0">
              <a:solidFill>
                <a:srgbClr val="0066FF"/>
              </a:solidFill>
            </a:endParaRPr>
          </a:p>
          <a:p>
            <a:r>
              <a:rPr lang="en-US" sz="2400" dirty="0"/>
              <a:t>For any two events A and B, 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648200" y="2286000"/>
          <a:ext cx="42116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4" imgW="1930320" imgH="419040" progId="Equation.3">
                  <p:embed/>
                </p:oleObj>
              </mc:Choice>
              <mc:Fallback>
                <p:oleObj name="Equation" r:id="rId4" imgW="193032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286000"/>
                        <a:ext cx="421163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Oval 7"/>
          <p:cNvSpPr/>
          <p:nvPr/>
        </p:nvSpPr>
        <p:spPr>
          <a:xfrm>
            <a:off x="2895600" y="4572000"/>
            <a:ext cx="1981200" cy="1981200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962400" y="4572000"/>
            <a:ext cx="1981200" cy="1981200"/>
          </a:xfrm>
          <a:prstGeom prst="ellipse">
            <a:avLst/>
          </a:prstGeom>
          <a:solidFill>
            <a:srgbClr val="0066FF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427317" y="44958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P(A)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400" y="449580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733800"/>
            <a:ext cx="1344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P(A </a:t>
            </a:r>
            <a:r>
              <a:rPr lang="en-US" sz="2400" dirty="0">
                <a:sym typeface="Symbol"/>
              </a:rPr>
              <a:t> B</a:t>
            </a:r>
            <a:r>
              <a:rPr lang="en-US" sz="2400" dirty="0"/>
              <a:t>)</a:t>
            </a:r>
          </a:p>
        </p:txBody>
      </p:sp>
      <p:cxnSp>
        <p:nvCxnSpPr>
          <p:cNvPr id="14" name="Straight Arrow Connector 13"/>
          <p:cNvCxnSpPr>
            <a:stCxn id="12" idx="2"/>
          </p:cNvCxnSpPr>
          <p:nvPr/>
        </p:nvCxnSpPr>
        <p:spPr>
          <a:xfrm rot="5400000">
            <a:off x="3691104" y="4771563"/>
            <a:ext cx="1443335" cy="29113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24400"/>
            <a:ext cx="8229600" cy="1401763"/>
          </a:xfrm>
        </p:spPr>
        <p:txBody>
          <a:bodyPr/>
          <a:lstStyle/>
          <a:p>
            <a:r>
              <a:rPr lang="en-US" sz="2400" dirty="0"/>
              <a:t>What is </a:t>
            </a:r>
            <a:r>
              <a:rPr lang="en-US" sz="2400" dirty="0">
                <a:solidFill>
                  <a:srgbClr val="0066FF"/>
                </a:solidFill>
              </a:rPr>
              <a:t>P(</a:t>
            </a:r>
            <a:r>
              <a:rPr lang="en-US" sz="2400" i="1" dirty="0">
                <a:solidFill>
                  <a:srgbClr val="0066FF"/>
                </a:solidFill>
              </a:rPr>
              <a:t>Cavity = true</a:t>
            </a:r>
            <a:r>
              <a:rPr lang="en-US" sz="2400" dirty="0">
                <a:solidFill>
                  <a:srgbClr val="0066FF"/>
                </a:solidFill>
              </a:rPr>
              <a:t> | </a:t>
            </a:r>
            <a:r>
              <a:rPr lang="en-US" sz="2400" i="1" dirty="0">
                <a:solidFill>
                  <a:srgbClr val="0066FF"/>
                </a:solidFill>
              </a:rPr>
              <a:t>Toothache = false</a:t>
            </a:r>
            <a:r>
              <a:rPr lang="en-US" sz="2400" dirty="0">
                <a:solidFill>
                  <a:srgbClr val="0066FF"/>
                </a:solidFill>
              </a:rPr>
              <a:t>)</a:t>
            </a:r>
            <a:r>
              <a:rPr lang="en-US" sz="2400" dirty="0"/>
              <a:t>?</a:t>
            </a:r>
          </a:p>
          <a:p>
            <a:pPr lvl="1">
              <a:buNone/>
            </a:pPr>
            <a:r>
              <a:rPr lang="en-US" sz="2000" dirty="0"/>
              <a:t>0.05 / 0.85 = 0.059</a:t>
            </a:r>
          </a:p>
          <a:p>
            <a:r>
              <a:rPr lang="en-US" sz="2400" dirty="0"/>
              <a:t>What is </a:t>
            </a:r>
            <a:r>
              <a:rPr lang="en-US" sz="2400" dirty="0">
                <a:solidFill>
                  <a:srgbClr val="0066FF"/>
                </a:solidFill>
              </a:rPr>
              <a:t>P(</a:t>
            </a:r>
            <a:r>
              <a:rPr lang="en-US" sz="2400" i="1" dirty="0">
                <a:solidFill>
                  <a:srgbClr val="0066FF"/>
                </a:solidFill>
              </a:rPr>
              <a:t>Cavity = false</a:t>
            </a:r>
            <a:r>
              <a:rPr lang="en-US" sz="2400" dirty="0">
                <a:solidFill>
                  <a:srgbClr val="0066FF"/>
                </a:solidFill>
              </a:rPr>
              <a:t> | </a:t>
            </a:r>
            <a:r>
              <a:rPr lang="en-US" sz="2400" i="1" dirty="0">
                <a:solidFill>
                  <a:srgbClr val="0066FF"/>
                </a:solidFill>
              </a:rPr>
              <a:t>Toothache = true</a:t>
            </a:r>
            <a:r>
              <a:rPr lang="en-US" sz="2400" dirty="0">
                <a:solidFill>
                  <a:srgbClr val="0066FF"/>
                </a:solidFill>
              </a:rPr>
              <a:t>)</a:t>
            </a:r>
            <a:r>
              <a:rPr lang="en-US" sz="2400" dirty="0"/>
              <a:t>?</a:t>
            </a:r>
          </a:p>
          <a:p>
            <a:pPr lvl="1">
              <a:buNone/>
            </a:pPr>
            <a:r>
              <a:rPr lang="en-US" sz="2000" dirty="0"/>
              <a:t>0.1 / 0.15 = 0.667</a:t>
            </a:r>
          </a:p>
          <a:p>
            <a:pPr lvl="1">
              <a:buNone/>
            </a:pP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219200"/>
          <a:ext cx="6096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P(Cavity,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Toothache)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3276600"/>
          <a:ext cx="31242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P(Cavity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48200" y="3276600"/>
          <a:ext cx="36576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9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P(Toothache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/>
          <a:lstStyle/>
          <a:p>
            <a:r>
              <a:rPr lang="en-US" dirty="0"/>
              <a:t>Conditional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1401763"/>
          </a:xfrm>
        </p:spPr>
        <p:txBody>
          <a:bodyPr/>
          <a:lstStyle/>
          <a:p>
            <a:r>
              <a:rPr lang="en-US" sz="2400" dirty="0"/>
              <a:t>A conditional distribution is a distribution over the values of one variable given fixed values of other variables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981200"/>
          <a:ext cx="6096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P(Cavity,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Toothache)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8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4038600"/>
          <a:ext cx="41148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4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P(Cavity | Toothache = true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0.667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24400" y="4038600"/>
          <a:ext cx="41148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4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Cavity|Toothache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= false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0.941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4800" y="5410200"/>
          <a:ext cx="41148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4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P(Toothache | Cavity = true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24400" y="5410200"/>
          <a:ext cx="41148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4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P(Toothache | Cavity = false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Toothache= false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0.889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i="1" dirty="0">
                          <a:solidFill>
                            <a:srgbClr val="0066FF"/>
                          </a:solidFill>
                        </a:rPr>
                        <a:t>Toothache = true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/>
          <a:lstStyle/>
          <a:p>
            <a:r>
              <a:rPr lang="en-US" dirty="0"/>
              <a:t>Normalization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r>
              <a:rPr lang="en-US" sz="2400" dirty="0"/>
              <a:t>To get the whole conditional distribution </a:t>
            </a:r>
            <a:r>
              <a:rPr lang="en-US" sz="2400" dirty="0">
                <a:solidFill>
                  <a:srgbClr val="0066FF"/>
                </a:solidFill>
              </a:rPr>
              <a:t>P(X | y)</a:t>
            </a:r>
            <a:r>
              <a:rPr lang="en-US" sz="2400" dirty="0"/>
              <a:t> at once, select all entries in the joint distribution matching </a:t>
            </a:r>
            <a:r>
              <a:rPr lang="en-US" sz="2400" dirty="0">
                <a:solidFill>
                  <a:srgbClr val="0066FF"/>
                </a:solidFill>
              </a:rPr>
              <a:t>Y = y</a:t>
            </a:r>
            <a:r>
              <a:rPr lang="en-US" sz="2400" dirty="0"/>
              <a:t> and renormalize them to sum to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362200"/>
          <a:ext cx="6096000" cy="1524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P(Cavity,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Toothache)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4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Toothache = false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Cavity = false </a:t>
                      </a:r>
                      <a:r>
                        <a:rPr lang="en-US" sz="14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4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 Toothache = false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Cavity = true </a:t>
                      </a:r>
                      <a:r>
                        <a:rPr lang="en-US" sz="1400" dirty="0">
                          <a:solidFill>
                            <a:srgbClr val="0066FF"/>
                          </a:solidFill>
                          <a:sym typeface="Symbol" pitchFamily="18" charset="2"/>
                        </a:rPr>
                        <a:t></a:t>
                      </a:r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 Toothache = true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90800" y="4343400"/>
          <a:ext cx="411480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4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Toothache, Cavity = 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Toothache= false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Toothache = true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90800" y="5715000"/>
          <a:ext cx="411480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4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P(Toothache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|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Cavity = false)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Toothache= false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0066FF"/>
                          </a:solidFill>
                        </a:rPr>
                        <a:t>Toothache = true 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Down Arrow 6"/>
          <p:cNvSpPr/>
          <p:nvPr/>
        </p:nvSpPr>
        <p:spPr>
          <a:xfrm>
            <a:off x="4419600" y="3962400"/>
            <a:ext cx="304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4419600" y="5334000"/>
            <a:ext cx="3048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00600" y="3897868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0" dirty="0">
                <a:solidFill>
                  <a:schemeClr val="tx1"/>
                </a:solidFill>
              </a:rPr>
              <a:t>Select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800600" y="5269468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aseline="0" dirty="0">
                <a:solidFill>
                  <a:schemeClr val="tx1"/>
                </a:solidFill>
              </a:rPr>
              <a:t>Renormalize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/>
          <a:lstStyle/>
          <a:p>
            <a:r>
              <a:rPr lang="en-US" dirty="0"/>
              <a:t>Normalization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r>
              <a:rPr lang="en-US" sz="2400" dirty="0"/>
              <a:t>To get the whole conditional distribution </a:t>
            </a:r>
            <a:r>
              <a:rPr lang="en-US" sz="2400" dirty="0">
                <a:solidFill>
                  <a:srgbClr val="0066FF"/>
                </a:solidFill>
              </a:rPr>
              <a:t>P(X | y) </a:t>
            </a:r>
            <a:r>
              <a:rPr lang="en-US" sz="2400" dirty="0"/>
              <a:t>at once, select all entries in the joint distribution matching </a:t>
            </a:r>
            <a:r>
              <a:rPr lang="en-US" sz="2400" dirty="0">
                <a:solidFill>
                  <a:srgbClr val="0066FF"/>
                </a:solidFill>
              </a:rPr>
              <a:t>Y = y </a:t>
            </a:r>
            <a:r>
              <a:rPr lang="en-US" sz="2400" dirty="0"/>
              <a:t>and renormalize them to sum to one</a:t>
            </a:r>
          </a:p>
          <a:p>
            <a:r>
              <a:rPr lang="en-US" sz="2400" dirty="0"/>
              <a:t>Why does it work?</a:t>
            </a:r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1641475" y="2847975"/>
          <a:ext cx="3738563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4" imgW="1333440" imgH="533160" progId="Equation.3">
                  <p:embed/>
                </p:oleObj>
              </mc:Choice>
              <mc:Fallback>
                <p:oleObj name="Equation" r:id="rId4" imgW="133344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475" y="2847975"/>
                        <a:ext cx="3738563" cy="149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5638800" y="3200400"/>
            <a:ext cx="2669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by marginalization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44562"/>
          </a:xfrm>
        </p:spPr>
        <p:txBody>
          <a:bodyPr/>
          <a:lstStyle/>
          <a:p>
            <a:r>
              <a:rPr lang="en-US" dirty="0"/>
              <a:t>Product rule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sz="2400" dirty="0"/>
              <a:t>Definition of conditional probability: </a:t>
            </a:r>
          </a:p>
          <a:p>
            <a:endParaRPr lang="en-US" sz="2400" dirty="0"/>
          </a:p>
          <a:p>
            <a:r>
              <a:rPr lang="en-US" sz="2400" dirty="0"/>
              <a:t>Sometimes we have the conditional probability and want to obtain the joint: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832475" y="1066800"/>
          <a:ext cx="26050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4" name="Equation" r:id="rId4" imgW="1193760" imgH="419040" progId="Equation.3">
                  <p:embed/>
                </p:oleObj>
              </mc:Choice>
              <mc:Fallback>
                <p:oleObj name="Equation" r:id="rId4" imgW="119376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066800"/>
                        <a:ext cx="260508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885950" y="3200400"/>
          <a:ext cx="5514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5" name="Equation" r:id="rId6" imgW="2450880" imgH="203040" progId="Equation.3">
                  <p:embed/>
                </p:oleObj>
              </mc:Choice>
              <mc:Fallback>
                <p:oleObj name="Equation" r:id="rId6" imgW="245088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3200400"/>
                        <a:ext cx="55149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6" name="Equation" r:id="rId8" imgW="914400" imgH="215640" progId="Equation.3">
                  <p:embed/>
                </p:oleObj>
              </mc:Choice>
              <mc:Fallback>
                <p:oleObj name="Equation" r:id="rId8" imgW="9144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44562"/>
          </a:xfrm>
        </p:spPr>
        <p:txBody>
          <a:bodyPr/>
          <a:lstStyle/>
          <a:p>
            <a:r>
              <a:rPr lang="en-US" dirty="0"/>
              <a:t>Product rule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sz="2400" dirty="0"/>
              <a:t>Definition of conditional probability: </a:t>
            </a:r>
          </a:p>
          <a:p>
            <a:endParaRPr lang="en-US" sz="2400" dirty="0"/>
          </a:p>
          <a:p>
            <a:r>
              <a:rPr lang="en-US" sz="2400" dirty="0"/>
              <a:t>Sometimes we have the conditional probability and want to obtain the joint: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chain rule: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832475" y="1066800"/>
          <a:ext cx="26050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4" name="Equation" r:id="rId4" imgW="1193760" imgH="419040" progId="Equation.3">
                  <p:embed/>
                </p:oleObj>
              </mc:Choice>
              <mc:Fallback>
                <p:oleObj name="Equation" r:id="rId4" imgW="119376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066800"/>
                        <a:ext cx="260508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1885950" y="3200400"/>
          <a:ext cx="5514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5" name="Equation" r:id="rId6" imgW="2450880" imgH="203040" progId="Equation.3">
                  <p:embed/>
                </p:oleObj>
              </mc:Choice>
              <mc:Fallback>
                <p:oleObj name="Equation" r:id="rId6" imgW="2450880" imgH="203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3200400"/>
                        <a:ext cx="55149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6" name="Equation" r:id="rId8" imgW="914400" imgH="215640" progId="Equation.3">
                  <p:embed/>
                </p:oleObj>
              </mc:Choice>
              <mc:Fallback>
                <p:oleObj name="Equation" r:id="rId8" imgW="9144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609600" y="4656138"/>
          <a:ext cx="8189913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7" name="Equation" r:id="rId10" imgW="3962160" imgH="660240" progId="Equation.3">
                  <p:embed/>
                </p:oleObj>
              </mc:Choice>
              <mc:Fallback>
                <p:oleObj name="Equation" r:id="rId10" imgW="3962160" imgH="660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656138"/>
                        <a:ext cx="8189913" cy="1363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The Birthday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r>
              <a:rPr lang="en-US" sz="2400" dirty="0"/>
              <a:t>We have a set of </a:t>
            </a:r>
            <a:r>
              <a:rPr lang="en-US" sz="2400" i="1" dirty="0"/>
              <a:t>n</a:t>
            </a:r>
            <a:r>
              <a:rPr lang="en-US" sz="2400" dirty="0"/>
              <a:t> people. What is the probability that two of them share the same birthday?</a:t>
            </a:r>
          </a:p>
          <a:p>
            <a:r>
              <a:rPr lang="en-US" sz="2400" dirty="0"/>
              <a:t>Easier to calculate the probability that </a:t>
            </a:r>
            <a:r>
              <a:rPr lang="en-US" sz="2400" i="1" dirty="0"/>
              <a:t>n</a:t>
            </a:r>
            <a:r>
              <a:rPr lang="en-US" sz="2400" dirty="0"/>
              <a:t> people </a:t>
            </a:r>
            <a:r>
              <a:rPr lang="en-US" sz="2400" i="1" dirty="0"/>
              <a:t>do</a:t>
            </a:r>
            <a:r>
              <a:rPr lang="en-US" sz="2400" dirty="0"/>
              <a:t> </a:t>
            </a:r>
            <a:r>
              <a:rPr lang="en-US" sz="2400" i="1" dirty="0"/>
              <a:t>not</a:t>
            </a:r>
            <a:r>
              <a:rPr lang="en-US" sz="2400" dirty="0"/>
              <a:t> share the same birthday</a:t>
            </a:r>
          </a:p>
          <a:p>
            <a:r>
              <a:rPr lang="en-US" sz="2400" dirty="0"/>
              <a:t>Let </a:t>
            </a:r>
            <a:r>
              <a:rPr lang="en-US" sz="2400" i="1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rgbClr val="C00000"/>
                </a:solidFill>
              </a:rPr>
              <a:t>(</a:t>
            </a:r>
            <a:r>
              <a:rPr lang="en-US" sz="2400" i="1" dirty="0" err="1">
                <a:solidFill>
                  <a:srgbClr val="C00000"/>
                </a:solidFill>
              </a:rPr>
              <a:t>i</a:t>
            </a:r>
            <a:r>
              <a:rPr lang="en-US" sz="2400" i="1" dirty="0">
                <a:solidFill>
                  <a:srgbClr val="C00000"/>
                </a:solidFill>
              </a:rPr>
              <a:t> |1, …, </a:t>
            </a:r>
            <a:r>
              <a:rPr lang="en-US" sz="2400" i="1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–</a:t>
            </a:r>
            <a:r>
              <a:rPr lang="en-US" sz="2400" i="1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denote the probability of the event that the </a:t>
            </a:r>
            <a:r>
              <a:rPr lang="en-US" sz="2400" dirty="0" err="1"/>
              <a:t>ith</a:t>
            </a:r>
            <a:r>
              <a:rPr lang="en-US" sz="2400" dirty="0"/>
              <a:t> person </a:t>
            </a:r>
            <a:r>
              <a:rPr lang="en-US" sz="2400" i="1" dirty="0"/>
              <a:t>does not </a:t>
            </a:r>
            <a:r>
              <a:rPr lang="en-US" sz="2400" dirty="0"/>
              <a:t>share a birthday with the previous </a:t>
            </a:r>
            <a:r>
              <a:rPr lang="en-US" sz="2400" i="1" dirty="0" err="1"/>
              <a:t>i</a:t>
            </a:r>
            <a:r>
              <a:rPr lang="en-US" sz="2400" dirty="0"/>
              <a:t> –1 people:</a:t>
            </a:r>
          </a:p>
          <a:p>
            <a:pPr algn="ctr">
              <a:buNone/>
            </a:pPr>
            <a:r>
              <a:rPr lang="en-US" sz="2400" i="1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rgbClr val="C00000"/>
                </a:solidFill>
              </a:rPr>
              <a:t>(</a:t>
            </a:r>
            <a:r>
              <a:rPr lang="en-US" sz="2400" i="1" dirty="0" err="1">
                <a:solidFill>
                  <a:srgbClr val="C00000"/>
                </a:solidFill>
              </a:rPr>
              <a:t>i</a:t>
            </a:r>
            <a:r>
              <a:rPr lang="en-US" sz="2400" i="1" dirty="0">
                <a:solidFill>
                  <a:srgbClr val="C00000"/>
                </a:solidFill>
              </a:rPr>
              <a:t> |1, …, </a:t>
            </a:r>
            <a:r>
              <a:rPr lang="en-US" sz="2400" i="1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–</a:t>
            </a:r>
            <a:r>
              <a:rPr lang="en-US" sz="2400" i="1" dirty="0">
                <a:solidFill>
                  <a:srgbClr val="C00000"/>
                </a:solidFill>
              </a:rPr>
              <a:t>1</a:t>
            </a:r>
            <a:r>
              <a:rPr lang="en-US" sz="2400" dirty="0">
                <a:solidFill>
                  <a:srgbClr val="C00000"/>
                </a:solidFill>
              </a:rPr>
              <a:t>) = (365 – </a:t>
            </a:r>
            <a:r>
              <a:rPr lang="en-US" sz="2400" i="1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 + 1)/365</a:t>
            </a:r>
          </a:p>
          <a:p>
            <a:r>
              <a:rPr lang="en-US" sz="2400" dirty="0"/>
              <a:t>Probability that n people do not share a birthday: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Probability that </a:t>
            </a:r>
            <a:r>
              <a:rPr lang="en-US" sz="2400" i="1" dirty="0"/>
              <a:t>n</a:t>
            </a:r>
            <a:r>
              <a:rPr lang="en-US" sz="2400" dirty="0"/>
              <a:t> people </a:t>
            </a:r>
            <a:r>
              <a:rPr lang="en-US" sz="2400" i="1" dirty="0"/>
              <a:t>do</a:t>
            </a:r>
            <a:r>
              <a:rPr lang="en-US" sz="2400" dirty="0"/>
              <a:t> share a birthday: one minus the above</a:t>
            </a:r>
          </a:p>
        </p:txBody>
      </p:sp>
      <p:pic>
        <p:nvPicPr>
          <p:cNvPr id="107526" name="Picture 6"/>
          <p:cNvPicPr>
            <a:picLocks noChangeAspect="1" noChangeArrowheads="1"/>
          </p:cNvPicPr>
          <p:nvPr/>
        </p:nvPicPr>
        <p:blipFill>
          <a:blip r:embed="rId3" cstate="print"/>
          <a:srcRect t="13587"/>
          <a:stretch>
            <a:fillRect/>
          </a:stretch>
        </p:blipFill>
        <p:spPr bwMode="auto">
          <a:xfrm>
            <a:off x="2768600" y="4815851"/>
            <a:ext cx="3632200" cy="581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The Birthday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229600" cy="4525963"/>
          </a:xfrm>
        </p:spPr>
        <p:txBody>
          <a:bodyPr/>
          <a:lstStyle/>
          <a:p>
            <a:r>
              <a:rPr lang="en-US" dirty="0"/>
              <a:t>For 23 people, the probability of sharing a birthday is above 0.5!</a:t>
            </a:r>
          </a:p>
        </p:txBody>
      </p:sp>
      <p:pic>
        <p:nvPicPr>
          <p:cNvPr id="1085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514600"/>
            <a:ext cx="5524500" cy="349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438400" y="6260068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http://en.wikipedia.org/wiki/Birthday_problem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25963"/>
          </a:xfrm>
        </p:spPr>
        <p:txBody>
          <a:bodyPr/>
          <a:lstStyle/>
          <a:p>
            <a:r>
              <a:rPr lang="en-US" sz="2400" dirty="0"/>
              <a:t>The product rule gives us two ways to factor a joint distribution:</a:t>
            </a:r>
          </a:p>
          <a:p>
            <a:endParaRPr lang="en-US" sz="2400" dirty="0"/>
          </a:p>
          <a:p>
            <a:pPr>
              <a:buNone/>
            </a:pPr>
            <a:br>
              <a:rPr lang="en-US" sz="2400" dirty="0"/>
            </a:br>
            <a:endParaRPr lang="en-US" sz="1400" dirty="0"/>
          </a:p>
          <a:p>
            <a:r>
              <a:rPr lang="en-US" sz="2400" dirty="0"/>
              <a:t>Therefore,</a:t>
            </a:r>
          </a:p>
          <a:p>
            <a:endParaRPr lang="en-US" sz="2400" dirty="0"/>
          </a:p>
          <a:p>
            <a:r>
              <a:rPr lang="en-US" sz="2400" dirty="0"/>
              <a:t>Why is this useful?</a:t>
            </a:r>
          </a:p>
          <a:p>
            <a:pPr lvl="1"/>
            <a:r>
              <a:rPr lang="en-US" sz="2000" dirty="0"/>
              <a:t>Can get </a:t>
            </a:r>
            <a:r>
              <a:rPr lang="en-US" sz="2000" i="1" dirty="0"/>
              <a:t>diagnostic probability </a:t>
            </a:r>
            <a:r>
              <a:rPr lang="en-US" sz="2000" dirty="0">
                <a:solidFill>
                  <a:srgbClr val="0066FF"/>
                </a:solidFill>
              </a:rPr>
              <a:t>P(cavity | toothache) </a:t>
            </a:r>
            <a:r>
              <a:rPr lang="en-US" sz="2000" dirty="0"/>
              <a:t>from </a:t>
            </a:r>
            <a:r>
              <a:rPr lang="en-US" sz="2000" i="1" dirty="0"/>
              <a:t>causal probability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66FF"/>
                </a:solidFill>
              </a:rPr>
              <a:t>P(toothache | cavity)</a:t>
            </a:r>
          </a:p>
          <a:p>
            <a:pPr lvl="1"/>
            <a:r>
              <a:rPr lang="en-US" sz="2000" dirty="0"/>
              <a:t>Can update our beliefs based on evidence</a:t>
            </a:r>
          </a:p>
          <a:p>
            <a:pPr lvl="1"/>
            <a:r>
              <a:rPr lang="en-US" sz="2000" dirty="0"/>
              <a:t>Important tool for probabilistic inference </a:t>
            </a:r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1885950" y="2971800"/>
          <a:ext cx="5514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Equation" r:id="rId4" imgW="2450880" imgH="203040" progId="Equation.3">
                  <p:embed/>
                </p:oleObj>
              </mc:Choice>
              <mc:Fallback>
                <p:oleObj name="Equation" r:id="rId4" imgW="245088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2971800"/>
                        <a:ext cx="55149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19363" y="3611563"/>
          <a:ext cx="356393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6" imgW="1536480" imgH="419040" progId="Equation.3">
                  <p:embed/>
                </p:oleObj>
              </mc:Choice>
              <mc:Fallback>
                <p:oleObj name="Equation" r:id="rId6" imgW="153648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611563"/>
                        <a:ext cx="3563937" cy="971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91400" y="152401"/>
            <a:ext cx="1135901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132913" y="1367135"/>
            <a:ext cx="1553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Rev. Thomas </a:t>
            </a:r>
            <a:r>
              <a:rPr lang="en-US" sz="1200" dirty="0" err="1"/>
              <a:t>Bayes</a:t>
            </a:r>
            <a:br>
              <a:rPr lang="en-US" sz="1200" dirty="0"/>
            </a:br>
            <a:r>
              <a:rPr lang="en-US" sz="1200" dirty="0"/>
              <a:t>(1702-1761)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Rule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4906963"/>
          </a:xfrm>
        </p:spPr>
        <p:txBody>
          <a:bodyPr/>
          <a:lstStyle/>
          <a:p>
            <a:r>
              <a:rPr lang="en-US" sz="2400" dirty="0"/>
              <a:t>Marie is getting married tomorrow, at an outdoor ceremony in the desert. In recent years, it has rained only 5 days each year (5/365 = 0.014). Unfortunately, the weatherman has predicted rain for tomorrow. When it actually rains, the weatherman correctly forecasts rain 90% of the time. When it doesn't rain, he incorrectly forecasts rain 10% of the time. What is the probability that it will rain on Marie's wedding?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Rule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4906963"/>
          </a:xfrm>
        </p:spPr>
        <p:txBody>
          <a:bodyPr/>
          <a:lstStyle/>
          <a:p>
            <a:r>
              <a:rPr lang="en-US" sz="2400" dirty="0"/>
              <a:t>Marie is getting married tomorrow, at an outdoor ceremony in the desert. In recent years, it has rained only 5 days each year (5/365 = 0.014). Unfortunately, the weatherman has predicted rain for tomorrow. When it actually rains, the weatherman correctly forecasts rain 90% of the time. When it doesn't rain, he incorrectly forecasts rain 10% of the time. What is the probability that it will rain on Marie's wedding?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62000" y="4089400"/>
          <a:ext cx="7888287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52" name="Equation" r:id="rId4" imgW="4063680" imgH="1307880" progId="Equation.3">
                  <p:embed/>
                </p:oleObj>
              </mc:Choice>
              <mc:Fallback>
                <p:oleObj name="Equation" r:id="rId4" imgW="4063680" imgH="1307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089400"/>
                        <a:ext cx="7888287" cy="254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rule: 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sz="2400" dirty="0"/>
              <a:t>1% of women at age forty who participate in routine screening have breast cancer.  80% of women with breast cancer will get positive </a:t>
            </a:r>
            <a:r>
              <a:rPr lang="en-US" sz="2400" dirty="0" err="1"/>
              <a:t>mammographies</a:t>
            </a:r>
            <a:r>
              <a:rPr lang="en-US" sz="2400" dirty="0"/>
              <a:t>.  9.6% of women without breast cancer will also get positive </a:t>
            </a:r>
            <a:r>
              <a:rPr lang="en-US" sz="2400" dirty="0" err="1"/>
              <a:t>mammographies</a:t>
            </a:r>
            <a:r>
              <a:rPr lang="en-US" sz="2400" dirty="0"/>
              <a:t>.  A woman in this age group had a positive mammography in a routine screening.  What is the probability that she actually has breast cancer?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rule: 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sz="2400" dirty="0"/>
              <a:t>1% of women at age forty who participate in routine screening have breast cancer.  80% of women with breast cancer will get positive </a:t>
            </a:r>
            <a:r>
              <a:rPr lang="en-US" sz="2400" dirty="0" err="1"/>
              <a:t>mammographies</a:t>
            </a:r>
            <a:r>
              <a:rPr lang="en-US" sz="2400" dirty="0"/>
              <a:t>.  9.6% of women without breast cancer will also get positive </a:t>
            </a:r>
            <a:r>
              <a:rPr lang="en-US" sz="2400" dirty="0" err="1"/>
              <a:t>mammographies</a:t>
            </a:r>
            <a:r>
              <a:rPr lang="en-US" sz="2400" dirty="0"/>
              <a:t>.  A woman in this age group had a positive mammography in a routine screening.  What is the probability that she actually has breast cancer?</a:t>
            </a:r>
          </a:p>
        </p:txBody>
      </p:sp>
      <p:graphicFrame>
        <p:nvGraphicFramePr>
          <p:cNvPr id="110594" name="Object 2"/>
          <p:cNvGraphicFramePr>
            <a:graphicFrameLocks noChangeAspect="1"/>
          </p:cNvGraphicFramePr>
          <p:nvPr/>
        </p:nvGraphicFramePr>
        <p:xfrm>
          <a:off x="533400" y="4267200"/>
          <a:ext cx="8221663" cy="2211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76" name="Equation" r:id="rId4" imgW="4863960" imgH="1307880" progId="Equation.3">
                  <p:embed/>
                </p:oleObj>
              </mc:Choice>
              <mc:Fallback>
                <p:oleObj name="Equation" r:id="rId4" imgW="4863960" imgH="13078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267200"/>
                        <a:ext cx="8221663" cy="22119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44562"/>
          </a:xfrm>
        </p:spPr>
        <p:txBody>
          <a:bodyPr/>
          <a:lstStyle/>
          <a:p>
            <a:r>
              <a:rPr lang="en-US" dirty="0"/>
              <a:t>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229600" cy="4525963"/>
          </a:xfrm>
        </p:spPr>
        <p:txBody>
          <a:bodyPr/>
          <a:lstStyle/>
          <a:p>
            <a:r>
              <a:rPr lang="en-US" sz="2400" dirty="0"/>
              <a:t>Two events A and B are independent if and only if </a:t>
            </a:r>
            <a:br>
              <a:rPr lang="en-US" sz="2400" dirty="0"/>
            </a:br>
            <a:r>
              <a:rPr lang="en-US" sz="2400" dirty="0">
                <a:solidFill>
                  <a:srgbClr val="0066FF"/>
                </a:solidFill>
              </a:rPr>
              <a:t>P(A </a:t>
            </a:r>
            <a:r>
              <a:rPr lang="en-US" sz="2400" dirty="0">
                <a:solidFill>
                  <a:srgbClr val="0066FF"/>
                </a:solidFill>
                <a:sym typeface="Symbol"/>
              </a:rPr>
              <a:t> B) = P(A) P(B)</a:t>
            </a:r>
          </a:p>
          <a:p>
            <a:pPr lvl="1"/>
            <a:r>
              <a:rPr lang="en-US" sz="2400" dirty="0">
                <a:sym typeface="Symbol"/>
              </a:rPr>
              <a:t>In other words, </a:t>
            </a:r>
            <a:r>
              <a:rPr lang="en-US" sz="2400" dirty="0">
                <a:solidFill>
                  <a:srgbClr val="0066FF"/>
                </a:solidFill>
                <a:sym typeface="Symbol"/>
              </a:rPr>
              <a:t>P(A | B) = P(A) </a:t>
            </a:r>
            <a:r>
              <a:rPr lang="en-US" sz="2400" dirty="0">
                <a:sym typeface="Symbol"/>
              </a:rPr>
              <a:t>and </a:t>
            </a:r>
            <a:r>
              <a:rPr lang="en-US" sz="2400" dirty="0">
                <a:solidFill>
                  <a:srgbClr val="0066FF"/>
                </a:solidFill>
                <a:sym typeface="Symbol"/>
              </a:rPr>
              <a:t>P(B | A) = P(B)</a:t>
            </a:r>
          </a:p>
          <a:p>
            <a:pPr lvl="1"/>
            <a:r>
              <a:rPr lang="en-US" sz="2400" dirty="0">
                <a:sym typeface="Symbol"/>
              </a:rPr>
              <a:t>This is an important simplifying assumption for modeling, e.g., </a:t>
            </a:r>
            <a:r>
              <a:rPr lang="en-US" sz="2400" i="1" dirty="0">
                <a:sym typeface="Symbol"/>
              </a:rPr>
              <a:t>Toothache</a:t>
            </a:r>
            <a:r>
              <a:rPr lang="en-US" sz="2400" dirty="0">
                <a:sym typeface="Symbol"/>
              </a:rPr>
              <a:t> and </a:t>
            </a:r>
            <a:r>
              <a:rPr lang="en-US" sz="2400" i="1" dirty="0">
                <a:sym typeface="Symbol"/>
              </a:rPr>
              <a:t>Weather</a:t>
            </a:r>
            <a:r>
              <a:rPr lang="en-US" sz="2400" dirty="0">
                <a:sym typeface="Symbol"/>
              </a:rPr>
              <a:t> can be assumed to be independent</a:t>
            </a:r>
            <a:br>
              <a:rPr lang="en-US" sz="2400" dirty="0">
                <a:sym typeface="Symbol"/>
              </a:rPr>
            </a:br>
            <a:endParaRPr lang="en-US" sz="1000" dirty="0">
              <a:sym typeface="Symbol"/>
            </a:endParaRPr>
          </a:p>
          <a:p>
            <a:r>
              <a:rPr lang="en-US" sz="2400" dirty="0">
                <a:sym typeface="Symbol"/>
              </a:rPr>
              <a:t>Are two </a:t>
            </a:r>
            <a:r>
              <a:rPr lang="en-US" sz="2400" i="1" dirty="0">
                <a:sym typeface="Symbol"/>
              </a:rPr>
              <a:t>mutually exclusive </a:t>
            </a:r>
            <a:r>
              <a:rPr lang="en-US" sz="2400" dirty="0">
                <a:sym typeface="Symbol"/>
              </a:rPr>
              <a:t>events independent?</a:t>
            </a:r>
          </a:p>
          <a:p>
            <a:pPr lvl="1"/>
            <a:r>
              <a:rPr lang="en-US" sz="2400" dirty="0">
                <a:sym typeface="Symbol"/>
              </a:rPr>
              <a:t>No, but for mutually exclusive events we have </a:t>
            </a:r>
            <a:br>
              <a:rPr lang="en-US" sz="2400" dirty="0">
                <a:sym typeface="Symbol"/>
              </a:rPr>
            </a:br>
            <a:r>
              <a:rPr lang="en-US" sz="2400" dirty="0">
                <a:solidFill>
                  <a:srgbClr val="0066FF"/>
                </a:solidFill>
                <a:sym typeface="Symbol"/>
              </a:rPr>
              <a:t>P(A  B) = P(A) + P(B)</a:t>
            </a:r>
            <a:br>
              <a:rPr lang="en-US" sz="2400" dirty="0">
                <a:solidFill>
                  <a:srgbClr val="0066FF"/>
                </a:solidFill>
                <a:sym typeface="Symbol"/>
              </a:rPr>
            </a:br>
            <a:endParaRPr lang="en-US" sz="2400" dirty="0">
              <a:solidFill>
                <a:srgbClr val="0066FF"/>
              </a:solidFill>
              <a:sym typeface="Symbol"/>
            </a:endParaRPr>
          </a:p>
          <a:p>
            <a:r>
              <a:rPr lang="en-US" sz="2400" b="1" dirty="0">
                <a:sym typeface="Symbol"/>
              </a:rPr>
              <a:t>Conditional independence</a:t>
            </a:r>
            <a:r>
              <a:rPr lang="en-US" sz="2400" dirty="0">
                <a:sym typeface="Symbol"/>
              </a:rPr>
              <a:t>: A and B are </a:t>
            </a:r>
            <a:r>
              <a:rPr lang="en-US" sz="2400" i="1" dirty="0">
                <a:sym typeface="Symbol"/>
              </a:rPr>
              <a:t>conditionally independent</a:t>
            </a:r>
            <a:r>
              <a:rPr lang="en-US" sz="2400" dirty="0">
                <a:sym typeface="Symbol"/>
              </a:rPr>
              <a:t> given C </a:t>
            </a:r>
            <a:r>
              <a:rPr lang="en-US" sz="2400" dirty="0" err="1">
                <a:sym typeface="Symbol"/>
              </a:rPr>
              <a:t>iff</a:t>
            </a:r>
            <a:r>
              <a:rPr lang="en-US" sz="2400" dirty="0">
                <a:sym typeface="Symbol"/>
              </a:rPr>
              <a:t>  </a:t>
            </a:r>
            <a:r>
              <a:rPr lang="en-US" sz="2400" dirty="0">
                <a:solidFill>
                  <a:srgbClr val="0066FF"/>
                </a:solidFill>
                <a:sym typeface="Symbol"/>
              </a:rPr>
              <a:t>P(A  B | C) = P(A | C) P(B | C)</a:t>
            </a:r>
          </a:p>
          <a:p>
            <a:pPr lvl="1"/>
            <a:endParaRPr lang="en-US" sz="2400" dirty="0">
              <a:solidFill>
                <a:srgbClr val="0066FF"/>
              </a:solidFill>
              <a:sym typeface="Symbol"/>
            </a:endParaRPr>
          </a:p>
          <a:p>
            <a:endParaRPr lang="en-US" sz="1000" dirty="0">
              <a:sym typeface="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Example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22437"/>
            <a:ext cx="8686800" cy="4525963"/>
          </a:xfrm>
        </p:spPr>
        <p:txBody>
          <a:bodyPr/>
          <a:lstStyle/>
          <a:p>
            <a:r>
              <a:rPr lang="en-US" sz="2000" i="1" dirty="0">
                <a:solidFill>
                  <a:srgbClr val="0066FF"/>
                </a:solidFill>
              </a:rPr>
              <a:t>Toothache</a:t>
            </a:r>
            <a:r>
              <a:rPr lang="en-US" sz="2000" dirty="0">
                <a:solidFill>
                  <a:srgbClr val="0066FF"/>
                </a:solidFill>
              </a:rPr>
              <a:t>:</a:t>
            </a:r>
            <a:r>
              <a:rPr lang="en-US" sz="2000" dirty="0"/>
              <a:t> </a:t>
            </a:r>
            <a:r>
              <a:rPr lang="en-US" sz="2000" dirty="0" err="1"/>
              <a:t>boolean</a:t>
            </a:r>
            <a:r>
              <a:rPr lang="en-US" sz="2000" dirty="0"/>
              <a:t> variable indicating whether the patient has a toothache</a:t>
            </a:r>
          </a:p>
          <a:p>
            <a:r>
              <a:rPr lang="en-US" sz="2000" i="1" dirty="0">
                <a:solidFill>
                  <a:srgbClr val="0066FF"/>
                </a:solidFill>
              </a:rPr>
              <a:t>Cavity</a:t>
            </a:r>
            <a:r>
              <a:rPr lang="en-US" sz="2000" dirty="0">
                <a:solidFill>
                  <a:srgbClr val="0066FF"/>
                </a:solidFill>
              </a:rPr>
              <a:t>:</a:t>
            </a:r>
            <a:r>
              <a:rPr lang="en-US" sz="2000" dirty="0"/>
              <a:t> </a:t>
            </a:r>
            <a:r>
              <a:rPr lang="en-US" sz="2000" dirty="0" err="1"/>
              <a:t>boolean</a:t>
            </a:r>
            <a:r>
              <a:rPr lang="en-US" sz="2000" dirty="0"/>
              <a:t> variable indicating whether the patient has a cavity</a:t>
            </a:r>
          </a:p>
          <a:p>
            <a:r>
              <a:rPr lang="en-US" sz="2000" i="1" dirty="0">
                <a:solidFill>
                  <a:srgbClr val="0066FF"/>
                </a:solidFill>
              </a:rPr>
              <a:t>Catch</a:t>
            </a:r>
            <a:r>
              <a:rPr lang="en-US" sz="2000" dirty="0">
                <a:solidFill>
                  <a:srgbClr val="0066FF"/>
                </a:solidFill>
              </a:rPr>
              <a:t>:</a:t>
            </a:r>
            <a:r>
              <a:rPr lang="en-US" sz="2000" dirty="0"/>
              <a:t> whether the dentist’s probe catches in the cavity</a:t>
            </a:r>
          </a:p>
          <a:p>
            <a:endParaRPr lang="en-US" sz="1000" dirty="0"/>
          </a:p>
          <a:p>
            <a:r>
              <a:rPr lang="en-US" sz="2000" dirty="0"/>
              <a:t>If the patient has a cavity, the probability that the probe catches in it doesn't depend on whether he/she has a toothache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FF"/>
                </a:solidFill>
              </a:rPr>
              <a:t>P(</a:t>
            </a:r>
            <a:r>
              <a:rPr lang="en-US" sz="2000" i="1" dirty="0">
                <a:solidFill>
                  <a:srgbClr val="0066FF"/>
                </a:solidFill>
              </a:rPr>
              <a:t>Catch | Toothache, Cavity</a:t>
            </a:r>
            <a:r>
              <a:rPr lang="en-US" sz="2000" dirty="0">
                <a:solidFill>
                  <a:srgbClr val="0066FF"/>
                </a:solidFill>
              </a:rPr>
              <a:t>) = P(</a:t>
            </a:r>
            <a:r>
              <a:rPr lang="en-US" sz="2000" i="1" dirty="0">
                <a:solidFill>
                  <a:srgbClr val="0066FF"/>
                </a:solidFill>
              </a:rPr>
              <a:t>Catch | Cavity</a:t>
            </a:r>
            <a:r>
              <a:rPr lang="en-US" sz="2000" dirty="0">
                <a:solidFill>
                  <a:srgbClr val="0066FF"/>
                </a:solidFill>
              </a:rPr>
              <a:t>)</a:t>
            </a:r>
            <a:endParaRPr lang="en-US" sz="2000" dirty="0"/>
          </a:p>
          <a:p>
            <a:r>
              <a:rPr lang="en-US" sz="2000" dirty="0"/>
              <a:t>Therefore</a:t>
            </a:r>
            <a:r>
              <a:rPr lang="en-US" sz="2000" i="1" dirty="0"/>
              <a:t>, </a:t>
            </a:r>
            <a:r>
              <a:rPr lang="en-US" sz="2000" i="1" dirty="0">
                <a:solidFill>
                  <a:srgbClr val="0066FF"/>
                </a:solidFill>
              </a:rPr>
              <a:t>Catch</a:t>
            </a:r>
            <a:r>
              <a:rPr lang="en-US" sz="2000" i="1" dirty="0"/>
              <a:t> </a:t>
            </a:r>
            <a:r>
              <a:rPr lang="en-US" sz="2000" dirty="0"/>
              <a:t>is </a:t>
            </a:r>
            <a:r>
              <a:rPr lang="en-US" sz="2000" dirty="0">
                <a:solidFill>
                  <a:srgbClr val="FF0000"/>
                </a:solidFill>
              </a:rPr>
              <a:t>conditionally independent</a:t>
            </a:r>
            <a:r>
              <a:rPr lang="en-US" sz="2000" dirty="0"/>
              <a:t> of </a:t>
            </a:r>
            <a:r>
              <a:rPr lang="en-US" sz="2000" i="1" dirty="0">
                <a:solidFill>
                  <a:srgbClr val="0066FF"/>
                </a:solidFill>
              </a:rPr>
              <a:t>Toothache</a:t>
            </a:r>
            <a:r>
              <a:rPr lang="en-US" sz="2000" i="1" dirty="0"/>
              <a:t> </a:t>
            </a:r>
            <a:r>
              <a:rPr lang="en-US" sz="2000" dirty="0"/>
              <a:t>given </a:t>
            </a:r>
            <a:r>
              <a:rPr lang="en-US" sz="2000" i="1" dirty="0">
                <a:solidFill>
                  <a:srgbClr val="0066FF"/>
                </a:solidFill>
              </a:rPr>
              <a:t>Cavity</a:t>
            </a:r>
          </a:p>
          <a:p>
            <a:r>
              <a:rPr lang="en-US" sz="2000" dirty="0"/>
              <a:t>Likewise, </a:t>
            </a:r>
            <a:r>
              <a:rPr lang="en-US" sz="2000" i="1" dirty="0">
                <a:solidFill>
                  <a:srgbClr val="0066FF"/>
                </a:solidFill>
              </a:rPr>
              <a:t>Toothache</a:t>
            </a:r>
            <a:r>
              <a:rPr lang="en-US" sz="2000" i="1" dirty="0"/>
              <a:t> </a:t>
            </a:r>
            <a:r>
              <a:rPr lang="en-US" sz="2000" dirty="0"/>
              <a:t>is conditionally independent of </a:t>
            </a:r>
            <a:r>
              <a:rPr lang="en-US" sz="2000" i="1" dirty="0">
                <a:solidFill>
                  <a:srgbClr val="0066FF"/>
                </a:solidFill>
              </a:rPr>
              <a:t>Catch</a:t>
            </a:r>
            <a:r>
              <a:rPr lang="en-US" sz="2000" i="1" dirty="0"/>
              <a:t> </a:t>
            </a:r>
            <a:r>
              <a:rPr lang="en-US" sz="2000" dirty="0"/>
              <a:t>given </a:t>
            </a:r>
            <a:r>
              <a:rPr lang="en-US" sz="2000" i="1" dirty="0">
                <a:solidFill>
                  <a:srgbClr val="0066FF"/>
                </a:solidFill>
              </a:rPr>
              <a:t>Cavity</a:t>
            </a:r>
          </a:p>
          <a:p>
            <a:pPr>
              <a:buNone/>
            </a:pPr>
            <a:r>
              <a:rPr lang="en-US" sz="2000" i="1" dirty="0">
                <a:solidFill>
                  <a:srgbClr val="0066FF"/>
                </a:solidFill>
              </a:rPr>
              <a:t>	  </a:t>
            </a:r>
            <a:r>
              <a:rPr lang="en-US" sz="2000" dirty="0">
                <a:solidFill>
                  <a:srgbClr val="0066FF"/>
                </a:solidFill>
              </a:rPr>
              <a:t>P(</a:t>
            </a:r>
            <a:r>
              <a:rPr lang="en-US" sz="2000" i="1" dirty="0">
                <a:solidFill>
                  <a:srgbClr val="0066FF"/>
                </a:solidFill>
              </a:rPr>
              <a:t>Toothache | Catch, Cavity</a:t>
            </a:r>
            <a:r>
              <a:rPr lang="en-US" sz="2000" dirty="0">
                <a:solidFill>
                  <a:srgbClr val="0066FF"/>
                </a:solidFill>
              </a:rPr>
              <a:t>) = P(</a:t>
            </a:r>
            <a:r>
              <a:rPr lang="en-US" sz="2000" i="1" dirty="0">
                <a:solidFill>
                  <a:srgbClr val="0066FF"/>
                </a:solidFill>
              </a:rPr>
              <a:t>Toothache | Cavity</a:t>
            </a:r>
            <a:r>
              <a:rPr lang="en-US" sz="2000" dirty="0">
                <a:solidFill>
                  <a:srgbClr val="0066FF"/>
                </a:solidFill>
              </a:rPr>
              <a:t>)</a:t>
            </a:r>
          </a:p>
          <a:p>
            <a:r>
              <a:rPr lang="en-US" sz="2000" dirty="0"/>
              <a:t>Equivalent statement: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FF"/>
                </a:solidFill>
              </a:rPr>
              <a:t>P(</a:t>
            </a:r>
            <a:r>
              <a:rPr lang="en-US" sz="2000" i="1" dirty="0">
                <a:solidFill>
                  <a:srgbClr val="0066FF"/>
                </a:solidFill>
              </a:rPr>
              <a:t>Toothache, Catch | Cavity</a:t>
            </a:r>
            <a:r>
              <a:rPr lang="en-US" sz="2000" dirty="0">
                <a:solidFill>
                  <a:srgbClr val="0066FF"/>
                </a:solidFill>
              </a:rPr>
              <a:t>) = P(</a:t>
            </a:r>
            <a:r>
              <a:rPr lang="en-US" sz="2000" i="1" dirty="0">
                <a:solidFill>
                  <a:srgbClr val="0066FF"/>
                </a:solidFill>
              </a:rPr>
              <a:t>Toothache | Cavity</a:t>
            </a:r>
            <a:r>
              <a:rPr lang="en-US" sz="2000" dirty="0">
                <a:solidFill>
                  <a:srgbClr val="0066FF"/>
                </a:solidFill>
              </a:rPr>
              <a:t>) P(</a:t>
            </a:r>
            <a:r>
              <a:rPr lang="en-US" sz="2000" i="1" dirty="0">
                <a:solidFill>
                  <a:srgbClr val="0066FF"/>
                </a:solidFill>
              </a:rPr>
              <a:t>Catch | Cavity</a:t>
            </a:r>
            <a:r>
              <a:rPr lang="en-US" sz="2000" dirty="0">
                <a:solidFill>
                  <a:srgbClr val="0066FF"/>
                </a:solidFill>
              </a:rPr>
              <a:t>)</a:t>
            </a:r>
            <a:r>
              <a:rPr lang="en-US" sz="2000" dirty="0"/>
              <a:t>
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How many numbers do we need to represent the joint probability table </a:t>
            </a:r>
            <a:r>
              <a:rPr lang="en-US" sz="2400" dirty="0">
                <a:solidFill>
                  <a:srgbClr val="0066FF"/>
                </a:solidFill>
              </a:rPr>
              <a:t>P(</a:t>
            </a:r>
            <a:r>
              <a:rPr lang="en-US" sz="2400" i="1" dirty="0">
                <a:solidFill>
                  <a:srgbClr val="0066FF"/>
                </a:solidFill>
              </a:rPr>
              <a:t>Toothache, Cavity, Catch</a:t>
            </a:r>
            <a:r>
              <a:rPr lang="en-US" sz="2400" dirty="0">
                <a:solidFill>
                  <a:srgbClr val="0066FF"/>
                </a:solidFill>
              </a:rPr>
              <a:t>)</a:t>
            </a:r>
            <a:r>
              <a:rPr lang="en-US" sz="2400" dirty="0"/>
              <a:t>? </a:t>
            </a:r>
          </a:p>
          <a:p>
            <a:pPr lvl="1">
              <a:buNone/>
            </a:pPr>
            <a:r>
              <a:rPr lang="en-US" sz="2000" dirty="0"/>
              <a:t>2</a:t>
            </a:r>
            <a:r>
              <a:rPr lang="en-US" sz="2000" baseline="30000" dirty="0"/>
              <a:t>3</a:t>
            </a:r>
            <a:r>
              <a:rPr lang="en-US" sz="2000" dirty="0"/>
              <a:t> – 1 = 7 independent entries</a:t>
            </a:r>
          </a:p>
          <a:p>
            <a:r>
              <a:rPr lang="en-US" sz="2400" dirty="0"/>
              <a:t>Write out the joint distribution using chain rule:</a:t>
            </a:r>
          </a:p>
          <a:p>
            <a:pPr>
              <a:buFontTx/>
              <a:buNone/>
            </a:pPr>
            <a:r>
              <a:rPr lang="en-US" sz="2400" b="1" dirty="0"/>
              <a:t>	</a:t>
            </a:r>
            <a:r>
              <a:rPr lang="en-US" sz="2000" dirty="0">
                <a:solidFill>
                  <a:srgbClr val="0066FF"/>
                </a:solidFill>
              </a:rPr>
              <a:t>P(</a:t>
            </a:r>
            <a:r>
              <a:rPr lang="en-US" sz="2000" i="1" dirty="0">
                <a:solidFill>
                  <a:srgbClr val="0066FF"/>
                </a:solidFill>
              </a:rPr>
              <a:t>Toothache, Catch, Cavity</a:t>
            </a:r>
            <a:r>
              <a:rPr lang="en-US" sz="2000" dirty="0">
                <a:solidFill>
                  <a:srgbClr val="0066FF"/>
                </a:solidFill>
              </a:rPr>
              <a:t>)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FF"/>
                </a:solidFill>
              </a:rPr>
              <a:t>	= P(</a:t>
            </a:r>
            <a:r>
              <a:rPr lang="en-US" sz="2000" i="1" dirty="0">
                <a:solidFill>
                  <a:srgbClr val="0066FF"/>
                </a:solidFill>
              </a:rPr>
              <a:t>Cavity</a:t>
            </a:r>
            <a:r>
              <a:rPr lang="en-US" sz="2000" dirty="0">
                <a:solidFill>
                  <a:srgbClr val="0066FF"/>
                </a:solidFill>
              </a:rPr>
              <a:t>) P(</a:t>
            </a:r>
            <a:r>
              <a:rPr lang="en-US" sz="2000" i="1" dirty="0">
                <a:solidFill>
                  <a:srgbClr val="0066FF"/>
                </a:solidFill>
              </a:rPr>
              <a:t>Catch</a:t>
            </a:r>
            <a:r>
              <a:rPr lang="en-US" sz="2000" dirty="0">
                <a:solidFill>
                  <a:srgbClr val="0066FF"/>
                </a:solidFill>
              </a:rPr>
              <a:t> | </a:t>
            </a:r>
            <a:r>
              <a:rPr lang="en-US" sz="2000" i="1" dirty="0">
                <a:solidFill>
                  <a:srgbClr val="0066FF"/>
                </a:solidFill>
              </a:rPr>
              <a:t>Cavity</a:t>
            </a:r>
            <a:r>
              <a:rPr lang="en-US" sz="2000" dirty="0">
                <a:solidFill>
                  <a:srgbClr val="0066FF"/>
                </a:solidFill>
              </a:rPr>
              <a:t>) P(</a:t>
            </a:r>
            <a:r>
              <a:rPr lang="en-US" sz="2000" i="1" dirty="0">
                <a:solidFill>
                  <a:srgbClr val="0066FF"/>
                </a:solidFill>
              </a:rPr>
              <a:t>Toothache | Catch, Cavity</a:t>
            </a:r>
            <a:r>
              <a:rPr lang="en-US" sz="2000" dirty="0">
                <a:solidFill>
                  <a:srgbClr val="0066FF"/>
                </a:solidFill>
              </a:rPr>
              <a:t>) 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FF"/>
                </a:solidFill>
              </a:rPr>
              <a:t>	= P(</a:t>
            </a:r>
            <a:r>
              <a:rPr lang="en-US" sz="2000" i="1" dirty="0">
                <a:solidFill>
                  <a:srgbClr val="0066FF"/>
                </a:solidFill>
              </a:rPr>
              <a:t>Cavity</a:t>
            </a:r>
            <a:r>
              <a:rPr lang="en-US" sz="2000" dirty="0">
                <a:solidFill>
                  <a:srgbClr val="0066FF"/>
                </a:solidFill>
              </a:rPr>
              <a:t>) P(</a:t>
            </a:r>
            <a:r>
              <a:rPr lang="en-US" sz="2000" i="1" dirty="0">
                <a:solidFill>
                  <a:srgbClr val="0066FF"/>
                </a:solidFill>
              </a:rPr>
              <a:t>Catch</a:t>
            </a:r>
            <a:r>
              <a:rPr lang="en-US" sz="2000" dirty="0">
                <a:solidFill>
                  <a:srgbClr val="0066FF"/>
                </a:solidFill>
              </a:rPr>
              <a:t> | </a:t>
            </a:r>
            <a:r>
              <a:rPr lang="en-US" sz="2000" i="1" dirty="0">
                <a:solidFill>
                  <a:srgbClr val="0066FF"/>
                </a:solidFill>
              </a:rPr>
              <a:t>Cavity</a:t>
            </a:r>
            <a:r>
              <a:rPr lang="en-US" sz="2000" dirty="0">
                <a:solidFill>
                  <a:srgbClr val="0066FF"/>
                </a:solidFill>
              </a:rPr>
              <a:t>) P(</a:t>
            </a:r>
            <a:r>
              <a:rPr lang="en-US" sz="2000" i="1" dirty="0">
                <a:solidFill>
                  <a:srgbClr val="0066FF"/>
                </a:solidFill>
              </a:rPr>
              <a:t>Toothache | Cavity</a:t>
            </a:r>
            <a:r>
              <a:rPr lang="en-US" sz="2000" dirty="0">
                <a:solidFill>
                  <a:srgbClr val="0066FF"/>
                </a:solidFill>
              </a:rPr>
              <a:t>) </a:t>
            </a:r>
            <a:endParaRPr lang="en-US" sz="2000" dirty="0"/>
          </a:p>
          <a:p>
            <a:r>
              <a:rPr lang="en-US" sz="2400" dirty="0"/>
              <a:t>How many numbers do we need to represent these distributions? </a:t>
            </a:r>
          </a:p>
          <a:p>
            <a:pPr lvl="1">
              <a:buFontTx/>
              <a:buNone/>
            </a:pPr>
            <a:r>
              <a:rPr lang="en-US" sz="2000" dirty="0"/>
              <a:t>1 + 2 + 2 = 5 independent numbers</a:t>
            </a:r>
            <a:endParaRPr lang="en-US" sz="1600" dirty="0">
              <a:solidFill>
                <a:srgbClr val="FF0000"/>
              </a:solidFill>
            </a:endParaRPr>
          </a:p>
          <a:p>
            <a:r>
              <a:rPr lang="en-US" sz="2400" dirty="0"/>
              <a:t>In most cases, the use of conditional independence reduces the size of the representation of the joint distribution from exponential in </a:t>
            </a:r>
            <a:r>
              <a:rPr lang="en-US" sz="2400" i="1" dirty="0"/>
              <a:t>n </a:t>
            </a:r>
            <a:r>
              <a:rPr lang="en-US" sz="2400" dirty="0"/>
              <a:t>to linear in </a:t>
            </a:r>
            <a:r>
              <a:rPr lang="en-US" sz="2400" i="1" dirty="0"/>
              <a:t>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general, the agent observes the values of some random variables </a:t>
            </a:r>
            <a:r>
              <a:rPr lang="en-US" sz="2800" dirty="0">
                <a:solidFill>
                  <a:srgbClr val="0066FF"/>
                </a:solidFill>
              </a:rPr>
              <a:t>X</a:t>
            </a:r>
            <a:r>
              <a:rPr lang="en-US" sz="2800" baseline="-25000" dirty="0">
                <a:solidFill>
                  <a:srgbClr val="0066FF"/>
                </a:solidFill>
              </a:rPr>
              <a:t>1</a:t>
            </a:r>
            <a:r>
              <a:rPr lang="en-US" sz="2800" dirty="0">
                <a:solidFill>
                  <a:srgbClr val="0066FF"/>
                </a:solidFill>
              </a:rPr>
              <a:t>, X</a:t>
            </a:r>
            <a:r>
              <a:rPr lang="en-US" sz="2800" baseline="-25000" dirty="0">
                <a:solidFill>
                  <a:srgbClr val="0066FF"/>
                </a:solidFill>
              </a:rPr>
              <a:t>2</a:t>
            </a:r>
            <a:r>
              <a:rPr lang="en-US" sz="2800" dirty="0">
                <a:solidFill>
                  <a:srgbClr val="0066FF"/>
                </a:solidFill>
              </a:rPr>
              <a:t>, …, </a:t>
            </a:r>
            <a:r>
              <a:rPr lang="en-US" sz="2800" dirty="0" err="1">
                <a:solidFill>
                  <a:srgbClr val="0066FF"/>
                </a:solidFill>
              </a:rPr>
              <a:t>X</a:t>
            </a:r>
            <a:r>
              <a:rPr lang="en-US" sz="2800" baseline="-25000" dirty="0" err="1">
                <a:solidFill>
                  <a:srgbClr val="0066FF"/>
                </a:solidFill>
              </a:rPr>
              <a:t>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/>
              <a:t>and needs to reason about the values of some other </a:t>
            </a:r>
            <a:r>
              <a:rPr lang="en-US" sz="2800" i="1" dirty="0"/>
              <a:t>unobserved</a:t>
            </a:r>
            <a:r>
              <a:rPr lang="en-US" sz="2800" dirty="0"/>
              <a:t> random variables </a:t>
            </a:r>
            <a:r>
              <a:rPr lang="en-US" sz="2800" dirty="0">
                <a:solidFill>
                  <a:srgbClr val="0066FF"/>
                </a:solidFill>
              </a:rPr>
              <a:t>Y</a:t>
            </a:r>
            <a:r>
              <a:rPr lang="en-US" sz="2800" baseline="-25000" dirty="0">
                <a:solidFill>
                  <a:srgbClr val="0066FF"/>
                </a:solidFill>
              </a:rPr>
              <a:t>1</a:t>
            </a:r>
            <a:r>
              <a:rPr lang="en-US" sz="2800" dirty="0">
                <a:solidFill>
                  <a:srgbClr val="0066FF"/>
                </a:solidFill>
              </a:rPr>
              <a:t>, Y</a:t>
            </a:r>
            <a:r>
              <a:rPr lang="en-US" sz="2800" baseline="-25000" dirty="0">
                <a:solidFill>
                  <a:srgbClr val="0066FF"/>
                </a:solidFill>
              </a:rPr>
              <a:t>2</a:t>
            </a:r>
            <a:r>
              <a:rPr lang="en-US" sz="2800" dirty="0">
                <a:solidFill>
                  <a:srgbClr val="0066FF"/>
                </a:solidFill>
              </a:rPr>
              <a:t>, …, </a:t>
            </a:r>
            <a:r>
              <a:rPr lang="en-US" sz="2800" dirty="0" err="1">
                <a:solidFill>
                  <a:srgbClr val="0066FF"/>
                </a:solidFill>
              </a:rPr>
              <a:t>Y</a:t>
            </a:r>
            <a:r>
              <a:rPr lang="en-US" sz="2800" baseline="-25000" dirty="0" err="1">
                <a:solidFill>
                  <a:srgbClr val="0066FF"/>
                </a:solidFill>
              </a:rPr>
              <a:t>m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</a:p>
          <a:p>
            <a:pPr lvl="1"/>
            <a:r>
              <a:rPr lang="en-US" sz="2400" dirty="0"/>
              <a:t>Figuring out a diagnosis based on symptoms and test results</a:t>
            </a:r>
          </a:p>
          <a:p>
            <a:pPr lvl="1"/>
            <a:r>
              <a:rPr lang="en-US" sz="2400" dirty="0"/>
              <a:t>Classifying the content type of an image or a document based on some features</a:t>
            </a:r>
          </a:p>
          <a:p>
            <a:r>
              <a:rPr lang="en-US" sz="2800" dirty="0"/>
              <a:t>This will be the subject of the next few lectures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3246</TotalTime>
  <Words>2926</Words>
  <Application>Microsoft Office PowerPoint</Application>
  <PresentationFormat>On-screen Show (4:3)</PresentationFormat>
  <Paragraphs>346</Paragraphs>
  <Slides>35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Symbol</vt:lpstr>
      <vt:lpstr>Wingdings</vt:lpstr>
      <vt:lpstr>Default Design</vt:lpstr>
      <vt:lpstr>Equation</vt:lpstr>
      <vt:lpstr>PowerPoint Presentation</vt:lpstr>
      <vt:lpstr>Probability</vt:lpstr>
      <vt:lpstr>Uncertainty</vt:lpstr>
      <vt:lpstr>Probability</vt:lpstr>
      <vt:lpstr>Making decisions under uncertainty</vt:lpstr>
      <vt:lpstr>Monty Hall problem</vt:lpstr>
      <vt:lpstr>Monty Hall problem</vt:lpstr>
      <vt:lpstr>Where do probabilities come from?</vt:lpstr>
      <vt:lpstr>Probabilities and rationality</vt:lpstr>
      <vt:lpstr>Random variables</vt:lpstr>
      <vt:lpstr>Events</vt:lpstr>
      <vt:lpstr>Kolmogorov’s axioms of probability</vt:lpstr>
      <vt:lpstr>Atomic events</vt:lpstr>
      <vt:lpstr>Joint probability distributions</vt:lpstr>
      <vt:lpstr>Joint probability distributions</vt:lpstr>
      <vt:lpstr>Marginal probability distributions</vt:lpstr>
      <vt:lpstr>Marginal probability distributions</vt:lpstr>
      <vt:lpstr>Conditional probability</vt:lpstr>
      <vt:lpstr>Conditional probability</vt:lpstr>
      <vt:lpstr>Conditional distributions</vt:lpstr>
      <vt:lpstr>Normalization trick</vt:lpstr>
      <vt:lpstr>Normalization trick</vt:lpstr>
      <vt:lpstr>Product rule</vt:lpstr>
      <vt:lpstr>Product rule</vt:lpstr>
      <vt:lpstr>The Birthday problem</vt:lpstr>
      <vt:lpstr>The Birthday problem</vt:lpstr>
      <vt:lpstr>Bayes Rule</vt:lpstr>
      <vt:lpstr>Bayes Rule example</vt:lpstr>
      <vt:lpstr>Bayes Rule example</vt:lpstr>
      <vt:lpstr>Bayes rule: Another example</vt:lpstr>
      <vt:lpstr>Bayes rule: Another example</vt:lpstr>
      <vt:lpstr>Independence</vt:lpstr>
      <vt:lpstr>Conditional independence: Example</vt:lpstr>
      <vt:lpstr>Conditional independence: Example</vt:lpstr>
      <vt:lpstr>Probabilistic inference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</dc:title>
  <dc:creator>Min-Yen Kan</dc:creator>
  <cp:lastModifiedBy>Prof. Dr. M.M.A. Hashem</cp:lastModifiedBy>
  <cp:revision>220</cp:revision>
  <dcterms:created xsi:type="dcterms:W3CDTF">2003-12-18T04:23:21Z</dcterms:created>
  <dcterms:modified xsi:type="dcterms:W3CDTF">2020-11-08T05:16:06Z</dcterms:modified>
</cp:coreProperties>
</file>