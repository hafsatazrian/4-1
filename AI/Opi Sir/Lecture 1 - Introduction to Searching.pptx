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0" r:id="rId27"/>
    <p:sldId id="282" r:id="rId28"/>
    <p:sldId id="283" r:id="rId29"/>
    <p:sldId id="284" r:id="rId30"/>
    <p:sldId id="290" r:id="rId31"/>
    <p:sldId id="291" r:id="rId32"/>
    <p:sldId id="292" r:id="rId33"/>
    <p:sldId id="293" r:id="rId34"/>
    <p:sldId id="294" r:id="rId35"/>
    <p:sldId id="285" r:id="rId36"/>
    <p:sldId id="295" r:id="rId37"/>
    <p:sldId id="296" r:id="rId38"/>
    <p:sldId id="299" r:id="rId39"/>
    <p:sldId id="286" r:id="rId40"/>
    <p:sldId id="300" r:id="rId41"/>
    <p:sldId id="297" r:id="rId42"/>
    <p:sldId id="287" r:id="rId43"/>
    <p:sldId id="298" r:id="rId44"/>
    <p:sldId id="288" r:id="rId45"/>
    <p:sldId id="327" r:id="rId46"/>
    <p:sldId id="301" r:id="rId47"/>
    <p:sldId id="302" r:id="rId48"/>
    <p:sldId id="303" r:id="rId49"/>
    <p:sldId id="289" r:id="rId50"/>
    <p:sldId id="304" r:id="rId51"/>
    <p:sldId id="305" r:id="rId52"/>
    <p:sldId id="306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29" r:id="rId65"/>
    <p:sldId id="319" r:id="rId66"/>
    <p:sldId id="320" r:id="rId67"/>
    <p:sldId id="328" r:id="rId68"/>
    <p:sldId id="321" r:id="rId69"/>
    <p:sldId id="322" r:id="rId70"/>
    <p:sldId id="323" r:id="rId71"/>
    <p:sldId id="324" r:id="rId72"/>
    <p:sldId id="326" r:id="rId73"/>
    <p:sldId id="325" r:id="rId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A6121A-E9B4-4AAB-AFDB-3507960D5B1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1"/>
            <p14:sldId id="280"/>
            <p14:sldId id="282"/>
            <p14:sldId id="283"/>
            <p14:sldId id="284"/>
            <p14:sldId id="290"/>
            <p14:sldId id="291"/>
            <p14:sldId id="292"/>
            <p14:sldId id="293"/>
            <p14:sldId id="294"/>
            <p14:sldId id="285"/>
            <p14:sldId id="295"/>
            <p14:sldId id="296"/>
            <p14:sldId id="299"/>
            <p14:sldId id="286"/>
            <p14:sldId id="300"/>
            <p14:sldId id="297"/>
            <p14:sldId id="287"/>
            <p14:sldId id="298"/>
            <p14:sldId id="288"/>
            <p14:sldId id="327"/>
            <p14:sldId id="301"/>
            <p14:sldId id="302"/>
            <p14:sldId id="303"/>
            <p14:sldId id="289"/>
            <p14:sldId id="304"/>
            <p14:sldId id="305"/>
            <p14:sldId id="306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29"/>
            <p14:sldId id="319"/>
            <p14:sldId id="320"/>
            <p14:sldId id="328"/>
            <p14:sldId id="321"/>
            <p14:sldId id="322"/>
          </p14:sldIdLst>
        </p14:section>
        <p14:section name="Untitled Section" id="{D6AF67BD-A1F0-4212-843F-4A799EF3130A}">
          <p14:sldIdLst>
            <p14:sldId id="323"/>
            <p14:sldId id="324"/>
            <p14:sldId id="326"/>
            <p14:sldId id="32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2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7:35:18.7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481 78 24575,'-457'0'0,"434"-4"0,23 4 0,0 0 0,0 0 0,0 0 0,0 0 0,0-1 0,0 1 0,0 0 0,0 0 0,0 0 0,0-1 0,0 1 0,0 0 0,0 0 0,0 0 0,0-1 0,0 1 0,0 0 0,0 0 0,0 0 0,0-1 0,0 1 0,0 0 0,0 0 0,0 0 0,0 0 0,0-1 0,0 1 0,1 0 0,-1 0 0,0 0 0,0 0 0,0-1 0,0 1 0,0 0 0,1 0 0,-1 0 0,0 0 0,0 0 0,0 0 0,1 0 0,-1 0 0,0 0 0,0-1 0,0 1 0,0 0 0,1 0 0,37-12 0,5 10 0,49 2 0,34-1 0,-57-12 0,-51 9 0,0 1 0,29-3 0,58-7 0,-17 1 0,-286 12 0,-52 2 0,234 0 0,0 1 0,0 1 0,1 1 0,-19 7 0,17-5 0,-1-1 0,-28 6 0,26-7-1365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7:35:22.9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191 0 24450,'-191'25'0,"573"-25"0,-573-25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7:35:29.32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7:35:30.5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265 1 24575,'-4'0'0,"-6"0"0,-6 4 0,-4 2 0,-3-1 0,-2-1 0,-1 0 0,4 2 0,1 1 0,0-1 0,0-2 0,2 4 0,1-1 0,-1-1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7:35:33.70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24575,'738'0'-1365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7:35:35.93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24575,'11'1'0,"0"1"0,0-1 0,-1 2 0,12 3 0,39 6 0,29-10 0,-57-3 0,-1 2 0,0 1 0,48 9 0,-46-5-29,1-2-1,-1-1 1,68-4-1,-39-1-1217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29T17:35:38.2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24575,'34'-1'0,"1"2"0,0 2 0,49 9 0,69 14 0,-126-21 0,1-2 0,41 1 0,-42-4 0,0 2 0,49 9 0,-55-7-1365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B314B-7EAC-4F02-B2F7-56698ECFD4EE}" type="datetimeFigureOut">
              <a:rPr lang="en-GB" smtClean="0"/>
              <a:t>20/08/2025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26CE54-0F6A-46A6-8597-A6CCFBA9F5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693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GB" dirty="0"/>
              <a:t>Only if the path cost is a non-decreasing function of the depth of the node.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6CE54-0F6A-46A6-8597-A6CCFBA9F5FC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9085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Goal test is done when selected for expansion, test of better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6CE54-0F6A-46A6-8597-A6CCFBA9F5FC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274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3F577-7B9C-892D-9964-9929FF526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EA8C3-2AA8-921F-2DEB-872AE59F0F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FEC2A-AA40-72AE-0C2A-2D45907F5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A3ECC-5CAF-4F14-A242-B702E2784D37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73F04-680A-E525-59CE-1C9188886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663BB-9188-96BC-E6BC-7E236F67D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635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D363D-921B-1FE5-D959-28ED8C7F8CE5}"/>
              </a:ext>
            </a:extLst>
          </p:cNvPr>
          <p:cNvSpPr>
            <a:spLocks noGrp="1"/>
          </p:cNvSpPr>
          <p:nvPr>
            <p:ph type="title"/>
          </p:nvPr>
        </p:nvSpPr>
        <p:spPr>
          <a:custGeom>
            <a:avLst/>
            <a:gdLst>
              <a:gd name="connsiteX0" fmla="*/ 0 w 10515600"/>
              <a:gd name="connsiteY0" fmla="*/ 0 h 1325563"/>
              <a:gd name="connsiteX1" fmla="*/ 689356 w 10515600"/>
              <a:gd name="connsiteY1" fmla="*/ 0 h 1325563"/>
              <a:gd name="connsiteX2" fmla="*/ 1168400 w 10515600"/>
              <a:gd name="connsiteY2" fmla="*/ 0 h 1325563"/>
              <a:gd name="connsiteX3" fmla="*/ 1647444 w 10515600"/>
              <a:gd name="connsiteY3" fmla="*/ 0 h 1325563"/>
              <a:gd name="connsiteX4" fmla="*/ 2126488 w 10515600"/>
              <a:gd name="connsiteY4" fmla="*/ 0 h 1325563"/>
              <a:gd name="connsiteX5" fmla="*/ 2710688 w 10515600"/>
              <a:gd name="connsiteY5" fmla="*/ 0 h 1325563"/>
              <a:gd name="connsiteX6" fmla="*/ 3084576 w 10515600"/>
              <a:gd name="connsiteY6" fmla="*/ 0 h 1325563"/>
              <a:gd name="connsiteX7" fmla="*/ 3668776 w 10515600"/>
              <a:gd name="connsiteY7" fmla="*/ 0 h 1325563"/>
              <a:gd name="connsiteX8" fmla="*/ 4042664 w 10515600"/>
              <a:gd name="connsiteY8" fmla="*/ 0 h 1325563"/>
              <a:gd name="connsiteX9" fmla="*/ 4626864 w 10515600"/>
              <a:gd name="connsiteY9" fmla="*/ 0 h 1325563"/>
              <a:gd name="connsiteX10" fmla="*/ 5000752 w 10515600"/>
              <a:gd name="connsiteY10" fmla="*/ 0 h 1325563"/>
              <a:gd name="connsiteX11" fmla="*/ 5479796 w 10515600"/>
              <a:gd name="connsiteY11" fmla="*/ 0 h 1325563"/>
              <a:gd name="connsiteX12" fmla="*/ 6274308 w 10515600"/>
              <a:gd name="connsiteY12" fmla="*/ 0 h 1325563"/>
              <a:gd name="connsiteX13" fmla="*/ 6543040 w 10515600"/>
              <a:gd name="connsiteY13" fmla="*/ 0 h 1325563"/>
              <a:gd name="connsiteX14" fmla="*/ 7127240 w 10515600"/>
              <a:gd name="connsiteY14" fmla="*/ 0 h 1325563"/>
              <a:gd name="connsiteX15" fmla="*/ 7921752 w 10515600"/>
              <a:gd name="connsiteY15" fmla="*/ 0 h 1325563"/>
              <a:gd name="connsiteX16" fmla="*/ 8611108 w 10515600"/>
              <a:gd name="connsiteY16" fmla="*/ 0 h 1325563"/>
              <a:gd name="connsiteX17" fmla="*/ 9300464 w 10515600"/>
              <a:gd name="connsiteY17" fmla="*/ 0 h 1325563"/>
              <a:gd name="connsiteX18" fmla="*/ 9779508 w 10515600"/>
              <a:gd name="connsiteY18" fmla="*/ 0 h 1325563"/>
              <a:gd name="connsiteX19" fmla="*/ 10515600 w 10515600"/>
              <a:gd name="connsiteY19" fmla="*/ 0 h 1325563"/>
              <a:gd name="connsiteX20" fmla="*/ 10515600 w 10515600"/>
              <a:gd name="connsiteY20" fmla="*/ 455110 h 1325563"/>
              <a:gd name="connsiteX21" fmla="*/ 10515600 w 10515600"/>
              <a:gd name="connsiteY21" fmla="*/ 870453 h 1325563"/>
              <a:gd name="connsiteX22" fmla="*/ 10515600 w 10515600"/>
              <a:gd name="connsiteY22" fmla="*/ 1325563 h 1325563"/>
              <a:gd name="connsiteX23" fmla="*/ 10036556 w 10515600"/>
              <a:gd name="connsiteY23" fmla="*/ 1325563 h 1325563"/>
              <a:gd name="connsiteX24" fmla="*/ 9452356 w 10515600"/>
              <a:gd name="connsiteY24" fmla="*/ 1325563 h 1325563"/>
              <a:gd name="connsiteX25" fmla="*/ 8657844 w 10515600"/>
              <a:gd name="connsiteY25" fmla="*/ 1325563 h 1325563"/>
              <a:gd name="connsiteX26" fmla="*/ 8389112 w 10515600"/>
              <a:gd name="connsiteY26" fmla="*/ 1325563 h 1325563"/>
              <a:gd name="connsiteX27" fmla="*/ 8015224 w 10515600"/>
              <a:gd name="connsiteY27" fmla="*/ 1325563 h 1325563"/>
              <a:gd name="connsiteX28" fmla="*/ 7746492 w 10515600"/>
              <a:gd name="connsiteY28" fmla="*/ 1325563 h 1325563"/>
              <a:gd name="connsiteX29" fmla="*/ 7057136 w 10515600"/>
              <a:gd name="connsiteY29" fmla="*/ 1325563 h 1325563"/>
              <a:gd name="connsiteX30" fmla="*/ 6788404 w 10515600"/>
              <a:gd name="connsiteY30" fmla="*/ 1325563 h 1325563"/>
              <a:gd name="connsiteX31" fmla="*/ 6099048 w 10515600"/>
              <a:gd name="connsiteY31" fmla="*/ 1325563 h 1325563"/>
              <a:gd name="connsiteX32" fmla="*/ 5304536 w 10515600"/>
              <a:gd name="connsiteY32" fmla="*/ 1325563 h 1325563"/>
              <a:gd name="connsiteX33" fmla="*/ 5035804 w 10515600"/>
              <a:gd name="connsiteY33" fmla="*/ 1325563 h 1325563"/>
              <a:gd name="connsiteX34" fmla="*/ 4451604 w 10515600"/>
              <a:gd name="connsiteY34" fmla="*/ 1325563 h 1325563"/>
              <a:gd name="connsiteX35" fmla="*/ 3972560 w 10515600"/>
              <a:gd name="connsiteY35" fmla="*/ 1325563 h 1325563"/>
              <a:gd name="connsiteX36" fmla="*/ 3388360 w 10515600"/>
              <a:gd name="connsiteY36" fmla="*/ 1325563 h 1325563"/>
              <a:gd name="connsiteX37" fmla="*/ 2804160 w 10515600"/>
              <a:gd name="connsiteY37" fmla="*/ 1325563 h 1325563"/>
              <a:gd name="connsiteX38" fmla="*/ 2325116 w 10515600"/>
              <a:gd name="connsiteY38" fmla="*/ 1325563 h 1325563"/>
              <a:gd name="connsiteX39" fmla="*/ 1530604 w 10515600"/>
              <a:gd name="connsiteY39" fmla="*/ 1325563 h 1325563"/>
              <a:gd name="connsiteX40" fmla="*/ 1261872 w 10515600"/>
              <a:gd name="connsiteY40" fmla="*/ 1325563 h 1325563"/>
              <a:gd name="connsiteX41" fmla="*/ 572516 w 10515600"/>
              <a:gd name="connsiteY41" fmla="*/ 1325563 h 1325563"/>
              <a:gd name="connsiteX42" fmla="*/ 0 w 10515600"/>
              <a:gd name="connsiteY42" fmla="*/ 1325563 h 1325563"/>
              <a:gd name="connsiteX43" fmla="*/ 0 w 10515600"/>
              <a:gd name="connsiteY43" fmla="*/ 857197 h 1325563"/>
              <a:gd name="connsiteX44" fmla="*/ 0 w 10515600"/>
              <a:gd name="connsiteY44" fmla="*/ 441854 h 1325563"/>
              <a:gd name="connsiteX45" fmla="*/ 0 w 10515600"/>
              <a:gd name="connsiteY45" fmla="*/ 0 h 132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515600" h="1325563" fill="none" extrusionOk="0">
                <a:moveTo>
                  <a:pt x="0" y="0"/>
                </a:moveTo>
                <a:cubicBezTo>
                  <a:pt x="253838" y="-18819"/>
                  <a:pt x="351414" y="62000"/>
                  <a:pt x="689356" y="0"/>
                </a:cubicBezTo>
                <a:cubicBezTo>
                  <a:pt x="1027298" y="-62000"/>
                  <a:pt x="1020961" y="21931"/>
                  <a:pt x="1168400" y="0"/>
                </a:cubicBezTo>
                <a:cubicBezTo>
                  <a:pt x="1315839" y="-21931"/>
                  <a:pt x="1474707" y="29733"/>
                  <a:pt x="1647444" y="0"/>
                </a:cubicBezTo>
                <a:cubicBezTo>
                  <a:pt x="1820181" y="-29733"/>
                  <a:pt x="1905353" y="35773"/>
                  <a:pt x="2126488" y="0"/>
                </a:cubicBezTo>
                <a:cubicBezTo>
                  <a:pt x="2347623" y="-35773"/>
                  <a:pt x="2474840" y="26931"/>
                  <a:pt x="2710688" y="0"/>
                </a:cubicBezTo>
                <a:cubicBezTo>
                  <a:pt x="2946536" y="-26931"/>
                  <a:pt x="2901208" y="25700"/>
                  <a:pt x="3084576" y="0"/>
                </a:cubicBezTo>
                <a:cubicBezTo>
                  <a:pt x="3267944" y="-25700"/>
                  <a:pt x="3504545" y="40785"/>
                  <a:pt x="3668776" y="0"/>
                </a:cubicBezTo>
                <a:cubicBezTo>
                  <a:pt x="3833007" y="-40785"/>
                  <a:pt x="3895124" y="1762"/>
                  <a:pt x="4042664" y="0"/>
                </a:cubicBezTo>
                <a:cubicBezTo>
                  <a:pt x="4190204" y="-1762"/>
                  <a:pt x="4477573" y="6051"/>
                  <a:pt x="4626864" y="0"/>
                </a:cubicBezTo>
                <a:cubicBezTo>
                  <a:pt x="4776155" y="-6051"/>
                  <a:pt x="4876670" y="35233"/>
                  <a:pt x="5000752" y="0"/>
                </a:cubicBezTo>
                <a:cubicBezTo>
                  <a:pt x="5124834" y="-35233"/>
                  <a:pt x="5320007" y="6376"/>
                  <a:pt x="5479796" y="0"/>
                </a:cubicBezTo>
                <a:cubicBezTo>
                  <a:pt x="5639585" y="-6376"/>
                  <a:pt x="5987388" y="89120"/>
                  <a:pt x="6274308" y="0"/>
                </a:cubicBezTo>
                <a:cubicBezTo>
                  <a:pt x="6561228" y="-89120"/>
                  <a:pt x="6469549" y="14711"/>
                  <a:pt x="6543040" y="0"/>
                </a:cubicBezTo>
                <a:cubicBezTo>
                  <a:pt x="6616531" y="-14711"/>
                  <a:pt x="6880894" y="24867"/>
                  <a:pt x="7127240" y="0"/>
                </a:cubicBezTo>
                <a:cubicBezTo>
                  <a:pt x="7373586" y="-24867"/>
                  <a:pt x="7703353" y="29232"/>
                  <a:pt x="7921752" y="0"/>
                </a:cubicBezTo>
                <a:cubicBezTo>
                  <a:pt x="8140151" y="-29232"/>
                  <a:pt x="8436992" y="15020"/>
                  <a:pt x="8611108" y="0"/>
                </a:cubicBezTo>
                <a:cubicBezTo>
                  <a:pt x="8785224" y="-15020"/>
                  <a:pt x="9086613" y="81581"/>
                  <a:pt x="9300464" y="0"/>
                </a:cubicBezTo>
                <a:cubicBezTo>
                  <a:pt x="9514315" y="-81581"/>
                  <a:pt x="9623261" y="50401"/>
                  <a:pt x="9779508" y="0"/>
                </a:cubicBezTo>
                <a:cubicBezTo>
                  <a:pt x="9935755" y="-50401"/>
                  <a:pt x="10305332" y="31654"/>
                  <a:pt x="10515600" y="0"/>
                </a:cubicBezTo>
                <a:cubicBezTo>
                  <a:pt x="10546853" y="191382"/>
                  <a:pt x="10469454" y="308968"/>
                  <a:pt x="10515600" y="455110"/>
                </a:cubicBezTo>
                <a:cubicBezTo>
                  <a:pt x="10561746" y="601252"/>
                  <a:pt x="10509168" y="742830"/>
                  <a:pt x="10515600" y="870453"/>
                </a:cubicBezTo>
                <a:cubicBezTo>
                  <a:pt x="10522032" y="998076"/>
                  <a:pt x="10471646" y="1208229"/>
                  <a:pt x="10515600" y="1325563"/>
                </a:cubicBezTo>
                <a:cubicBezTo>
                  <a:pt x="10314459" y="1339219"/>
                  <a:pt x="10239166" y="1311799"/>
                  <a:pt x="10036556" y="1325563"/>
                </a:cubicBezTo>
                <a:cubicBezTo>
                  <a:pt x="9833946" y="1339327"/>
                  <a:pt x="9709123" y="1307965"/>
                  <a:pt x="9452356" y="1325563"/>
                </a:cubicBezTo>
                <a:cubicBezTo>
                  <a:pt x="9195589" y="1343161"/>
                  <a:pt x="8994962" y="1306787"/>
                  <a:pt x="8657844" y="1325563"/>
                </a:cubicBezTo>
                <a:cubicBezTo>
                  <a:pt x="8320726" y="1344339"/>
                  <a:pt x="8518055" y="1302532"/>
                  <a:pt x="8389112" y="1325563"/>
                </a:cubicBezTo>
                <a:cubicBezTo>
                  <a:pt x="8260169" y="1348594"/>
                  <a:pt x="8193007" y="1316196"/>
                  <a:pt x="8015224" y="1325563"/>
                </a:cubicBezTo>
                <a:cubicBezTo>
                  <a:pt x="7837441" y="1334930"/>
                  <a:pt x="7849788" y="1324348"/>
                  <a:pt x="7746492" y="1325563"/>
                </a:cubicBezTo>
                <a:cubicBezTo>
                  <a:pt x="7643196" y="1326778"/>
                  <a:pt x="7232373" y="1285719"/>
                  <a:pt x="7057136" y="1325563"/>
                </a:cubicBezTo>
                <a:cubicBezTo>
                  <a:pt x="6881899" y="1365407"/>
                  <a:pt x="6919216" y="1307755"/>
                  <a:pt x="6788404" y="1325563"/>
                </a:cubicBezTo>
                <a:cubicBezTo>
                  <a:pt x="6657592" y="1343371"/>
                  <a:pt x="6278085" y="1271576"/>
                  <a:pt x="6099048" y="1325563"/>
                </a:cubicBezTo>
                <a:cubicBezTo>
                  <a:pt x="5920011" y="1379550"/>
                  <a:pt x="5508657" y="1311185"/>
                  <a:pt x="5304536" y="1325563"/>
                </a:cubicBezTo>
                <a:cubicBezTo>
                  <a:pt x="5100415" y="1339941"/>
                  <a:pt x="5108664" y="1325272"/>
                  <a:pt x="5035804" y="1325563"/>
                </a:cubicBezTo>
                <a:cubicBezTo>
                  <a:pt x="4962944" y="1325854"/>
                  <a:pt x="4711907" y="1259348"/>
                  <a:pt x="4451604" y="1325563"/>
                </a:cubicBezTo>
                <a:cubicBezTo>
                  <a:pt x="4191301" y="1391778"/>
                  <a:pt x="4112922" y="1274610"/>
                  <a:pt x="3972560" y="1325563"/>
                </a:cubicBezTo>
                <a:cubicBezTo>
                  <a:pt x="3832198" y="1376516"/>
                  <a:pt x="3671072" y="1290382"/>
                  <a:pt x="3388360" y="1325563"/>
                </a:cubicBezTo>
                <a:cubicBezTo>
                  <a:pt x="3105648" y="1360744"/>
                  <a:pt x="2958255" y="1258146"/>
                  <a:pt x="2804160" y="1325563"/>
                </a:cubicBezTo>
                <a:cubicBezTo>
                  <a:pt x="2650065" y="1392980"/>
                  <a:pt x="2499275" y="1316491"/>
                  <a:pt x="2325116" y="1325563"/>
                </a:cubicBezTo>
                <a:cubicBezTo>
                  <a:pt x="2150957" y="1334635"/>
                  <a:pt x="1851726" y="1245043"/>
                  <a:pt x="1530604" y="1325563"/>
                </a:cubicBezTo>
                <a:cubicBezTo>
                  <a:pt x="1209482" y="1406083"/>
                  <a:pt x="1376466" y="1302836"/>
                  <a:pt x="1261872" y="1325563"/>
                </a:cubicBezTo>
                <a:cubicBezTo>
                  <a:pt x="1147278" y="1348290"/>
                  <a:pt x="909434" y="1251726"/>
                  <a:pt x="572516" y="1325563"/>
                </a:cubicBezTo>
                <a:cubicBezTo>
                  <a:pt x="235598" y="1399400"/>
                  <a:pt x="227600" y="1323263"/>
                  <a:pt x="0" y="1325563"/>
                </a:cubicBezTo>
                <a:cubicBezTo>
                  <a:pt x="-836" y="1164828"/>
                  <a:pt x="53582" y="1051078"/>
                  <a:pt x="0" y="857197"/>
                </a:cubicBezTo>
                <a:cubicBezTo>
                  <a:pt x="-53582" y="663316"/>
                  <a:pt x="48368" y="606188"/>
                  <a:pt x="0" y="441854"/>
                </a:cubicBezTo>
                <a:cubicBezTo>
                  <a:pt x="-48368" y="277520"/>
                  <a:pt x="14050" y="146763"/>
                  <a:pt x="0" y="0"/>
                </a:cubicBezTo>
                <a:close/>
              </a:path>
              <a:path w="10515600" h="1325563" stroke="0" extrusionOk="0">
                <a:moveTo>
                  <a:pt x="0" y="0"/>
                </a:moveTo>
                <a:cubicBezTo>
                  <a:pt x="92178" y="-21222"/>
                  <a:pt x="264011" y="11084"/>
                  <a:pt x="373888" y="0"/>
                </a:cubicBezTo>
                <a:cubicBezTo>
                  <a:pt x="483765" y="-11084"/>
                  <a:pt x="744959" y="34565"/>
                  <a:pt x="852932" y="0"/>
                </a:cubicBezTo>
                <a:cubicBezTo>
                  <a:pt x="960905" y="-34565"/>
                  <a:pt x="1117522" y="45939"/>
                  <a:pt x="1331976" y="0"/>
                </a:cubicBezTo>
                <a:cubicBezTo>
                  <a:pt x="1546430" y="-45939"/>
                  <a:pt x="1819161" y="31205"/>
                  <a:pt x="2021332" y="0"/>
                </a:cubicBezTo>
                <a:cubicBezTo>
                  <a:pt x="2223503" y="-31205"/>
                  <a:pt x="2374427" y="16088"/>
                  <a:pt x="2710688" y="0"/>
                </a:cubicBezTo>
                <a:cubicBezTo>
                  <a:pt x="3046949" y="-16088"/>
                  <a:pt x="3188751" y="11240"/>
                  <a:pt x="3400044" y="0"/>
                </a:cubicBezTo>
                <a:cubicBezTo>
                  <a:pt x="3611337" y="-11240"/>
                  <a:pt x="3729003" y="24882"/>
                  <a:pt x="3984244" y="0"/>
                </a:cubicBezTo>
                <a:cubicBezTo>
                  <a:pt x="4239485" y="-24882"/>
                  <a:pt x="4248661" y="16847"/>
                  <a:pt x="4358132" y="0"/>
                </a:cubicBezTo>
                <a:cubicBezTo>
                  <a:pt x="4467603" y="-16847"/>
                  <a:pt x="4704277" y="78533"/>
                  <a:pt x="5047488" y="0"/>
                </a:cubicBezTo>
                <a:cubicBezTo>
                  <a:pt x="5390699" y="-78533"/>
                  <a:pt x="5478617" y="32801"/>
                  <a:pt x="5631688" y="0"/>
                </a:cubicBezTo>
                <a:cubicBezTo>
                  <a:pt x="5784759" y="-32801"/>
                  <a:pt x="5981634" y="25702"/>
                  <a:pt x="6215888" y="0"/>
                </a:cubicBezTo>
                <a:cubicBezTo>
                  <a:pt x="6450142" y="-25702"/>
                  <a:pt x="6736604" y="19690"/>
                  <a:pt x="6905244" y="0"/>
                </a:cubicBezTo>
                <a:cubicBezTo>
                  <a:pt x="7073884" y="-19690"/>
                  <a:pt x="7286882" y="54355"/>
                  <a:pt x="7384288" y="0"/>
                </a:cubicBezTo>
                <a:cubicBezTo>
                  <a:pt x="7481694" y="-54355"/>
                  <a:pt x="7569919" y="19084"/>
                  <a:pt x="7653020" y="0"/>
                </a:cubicBezTo>
                <a:cubicBezTo>
                  <a:pt x="7736121" y="-19084"/>
                  <a:pt x="8028971" y="7172"/>
                  <a:pt x="8342376" y="0"/>
                </a:cubicBezTo>
                <a:cubicBezTo>
                  <a:pt x="8655781" y="-7172"/>
                  <a:pt x="8513400" y="26567"/>
                  <a:pt x="8611108" y="0"/>
                </a:cubicBezTo>
                <a:cubicBezTo>
                  <a:pt x="8708816" y="-26567"/>
                  <a:pt x="8765519" y="8311"/>
                  <a:pt x="8879840" y="0"/>
                </a:cubicBezTo>
                <a:cubicBezTo>
                  <a:pt x="8994161" y="-8311"/>
                  <a:pt x="9094252" y="11307"/>
                  <a:pt x="9253728" y="0"/>
                </a:cubicBezTo>
                <a:cubicBezTo>
                  <a:pt x="9413204" y="-11307"/>
                  <a:pt x="9611384" y="21739"/>
                  <a:pt x="9732772" y="0"/>
                </a:cubicBezTo>
                <a:cubicBezTo>
                  <a:pt x="9854160" y="-21739"/>
                  <a:pt x="10260773" y="2376"/>
                  <a:pt x="10515600" y="0"/>
                </a:cubicBezTo>
                <a:cubicBezTo>
                  <a:pt x="10547807" y="96027"/>
                  <a:pt x="10502213" y="250485"/>
                  <a:pt x="10515600" y="441854"/>
                </a:cubicBezTo>
                <a:cubicBezTo>
                  <a:pt x="10528987" y="633223"/>
                  <a:pt x="10500953" y="689669"/>
                  <a:pt x="10515600" y="843942"/>
                </a:cubicBezTo>
                <a:cubicBezTo>
                  <a:pt x="10530247" y="998215"/>
                  <a:pt x="10471267" y="1208650"/>
                  <a:pt x="10515600" y="1325563"/>
                </a:cubicBezTo>
                <a:cubicBezTo>
                  <a:pt x="10408911" y="1343606"/>
                  <a:pt x="10186565" y="1311187"/>
                  <a:pt x="10036556" y="1325563"/>
                </a:cubicBezTo>
                <a:cubicBezTo>
                  <a:pt x="9886547" y="1339939"/>
                  <a:pt x="9538345" y="1281053"/>
                  <a:pt x="9347200" y="1325563"/>
                </a:cubicBezTo>
                <a:cubicBezTo>
                  <a:pt x="9156055" y="1370073"/>
                  <a:pt x="9003166" y="1299112"/>
                  <a:pt x="8763000" y="1325563"/>
                </a:cubicBezTo>
                <a:cubicBezTo>
                  <a:pt x="8522834" y="1352014"/>
                  <a:pt x="8471849" y="1310553"/>
                  <a:pt x="8283956" y="1325563"/>
                </a:cubicBezTo>
                <a:cubicBezTo>
                  <a:pt x="8096063" y="1340573"/>
                  <a:pt x="8141020" y="1320966"/>
                  <a:pt x="8015224" y="1325563"/>
                </a:cubicBezTo>
                <a:cubicBezTo>
                  <a:pt x="7889428" y="1330160"/>
                  <a:pt x="7402689" y="1296549"/>
                  <a:pt x="7220712" y="1325563"/>
                </a:cubicBezTo>
                <a:cubicBezTo>
                  <a:pt x="7038735" y="1354577"/>
                  <a:pt x="6860564" y="1290552"/>
                  <a:pt x="6636512" y="1325563"/>
                </a:cubicBezTo>
                <a:cubicBezTo>
                  <a:pt x="6412460" y="1360574"/>
                  <a:pt x="6317643" y="1317756"/>
                  <a:pt x="6052312" y="1325563"/>
                </a:cubicBezTo>
                <a:cubicBezTo>
                  <a:pt x="5786981" y="1333370"/>
                  <a:pt x="5763881" y="1287197"/>
                  <a:pt x="5678424" y="1325563"/>
                </a:cubicBezTo>
                <a:cubicBezTo>
                  <a:pt x="5592967" y="1363929"/>
                  <a:pt x="5399248" y="1312349"/>
                  <a:pt x="5199380" y="1325563"/>
                </a:cubicBezTo>
                <a:cubicBezTo>
                  <a:pt x="4999512" y="1338777"/>
                  <a:pt x="4987883" y="1284423"/>
                  <a:pt x="4825492" y="1325563"/>
                </a:cubicBezTo>
                <a:cubicBezTo>
                  <a:pt x="4663101" y="1366703"/>
                  <a:pt x="4380555" y="1308688"/>
                  <a:pt x="4241292" y="1325563"/>
                </a:cubicBezTo>
                <a:cubicBezTo>
                  <a:pt x="4102029" y="1342438"/>
                  <a:pt x="3778341" y="1285171"/>
                  <a:pt x="3446780" y="1325563"/>
                </a:cubicBezTo>
                <a:cubicBezTo>
                  <a:pt x="3115219" y="1365955"/>
                  <a:pt x="3099173" y="1290652"/>
                  <a:pt x="2757424" y="1325563"/>
                </a:cubicBezTo>
                <a:cubicBezTo>
                  <a:pt x="2415675" y="1360474"/>
                  <a:pt x="2510972" y="1310466"/>
                  <a:pt x="2278380" y="1325563"/>
                </a:cubicBezTo>
                <a:cubicBezTo>
                  <a:pt x="2045788" y="1340660"/>
                  <a:pt x="1716210" y="1317992"/>
                  <a:pt x="1483868" y="1325563"/>
                </a:cubicBezTo>
                <a:cubicBezTo>
                  <a:pt x="1251526" y="1333134"/>
                  <a:pt x="972052" y="1254362"/>
                  <a:pt x="689356" y="1325563"/>
                </a:cubicBezTo>
                <a:cubicBezTo>
                  <a:pt x="406660" y="1396764"/>
                  <a:pt x="201106" y="1320070"/>
                  <a:pt x="0" y="1325563"/>
                </a:cubicBezTo>
                <a:cubicBezTo>
                  <a:pt x="-31617" y="1137567"/>
                  <a:pt x="37158" y="1000617"/>
                  <a:pt x="0" y="896964"/>
                </a:cubicBezTo>
                <a:cubicBezTo>
                  <a:pt x="-37158" y="793311"/>
                  <a:pt x="17420" y="591636"/>
                  <a:pt x="0" y="428599"/>
                </a:cubicBezTo>
                <a:cubicBezTo>
                  <a:pt x="-17420" y="265562"/>
                  <a:pt x="47044" y="122437"/>
                  <a:pt x="0" y="0"/>
                </a:cubicBezTo>
                <a:close/>
              </a:path>
            </a:pathLst>
          </a:custGeom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576319421"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>
            <a:lvl1pPr algn="ctr"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99D4A-6B08-C144-AFE3-77A01A5AD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C066A-E572-A277-D369-78396D584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AEF30-4002-714D-0670-A49096DB8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5FF20-6D76-29F2-418E-8864E01FE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80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003FF-F52F-4E38-0A2E-9DA1C60DA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3E876-7455-9295-91BF-4F641EF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47266-3916-28B3-A555-7FB1D3D8E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E68EB-F701-4E7C-8A1B-AAB143967A5F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7012B-55DA-34F4-808B-189EA4C3C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D8DC9-36B0-31D0-B5F2-FC0C84BD9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0228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9EA8A-FF95-E0BD-7238-CF02B00FD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89762-D796-DC09-14A4-5AD190D825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6F5D70-A3AC-50F5-06B7-9CE9CF507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FC517-D127-635A-B264-F649FC869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1DE66-4F81-4974-88C3-7164F909D911}" type="datetime1">
              <a:rPr lang="en-GB" smtClean="0"/>
              <a:t>20/08/2025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F902A-670D-5ED9-8D4D-F35167B04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85025-5D85-AC22-6D8F-3E6EE503D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600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7F54F-E990-F487-57E9-D0FAA742D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5E450-926E-F984-8F71-955FA0FEC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0BA968-AC90-BAC3-F9C8-6F8478B71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6AA182-DAAF-6A22-82E6-4D09269F1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AF3F09-93B2-51FA-9088-7D9BCEBC6D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0812B9-38A2-5B54-1BDB-7B50AFC36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1D5EC-0436-4D1A-B807-42CAECB52F3A}" type="datetime1">
              <a:rPr lang="en-GB" smtClean="0"/>
              <a:t>20/08/2025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2CC307-A30C-C6CE-E36C-F30561210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4CABA7-3B6D-774C-73DB-AC25CE1A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209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385C2-AC71-5CD4-56A8-CA28E1598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A798A5-3197-07D3-6CD1-2A6563AF5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A3ADE-44B1-4EF3-919C-3E8C2EF5A85F}" type="datetime1">
              <a:rPr lang="en-GB" smtClean="0"/>
              <a:t>20/08/2025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1AD66C-1B15-DB67-7702-F791D23B5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D6D4E-F44E-AEA5-1EB9-E5D5B3B5F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7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17971-EA51-1E5E-FABA-79A35091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F570B-75EC-43EA-ABF4-4059CC25C5DE}" type="datetime1">
              <a:rPr lang="en-GB" smtClean="0"/>
              <a:t>20/08/2025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AD9B04-D7D8-9928-C4F7-04945D125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0B3C4-33CC-72BA-889F-986C21D06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1085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2A411-0235-0168-189D-927979B3F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C01DE-2ACF-2FCE-308A-BFFDD6898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8CC266-6F22-04FB-4D09-0BC53C109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AF3AA6-3A77-7ABB-8CE0-53336682B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A2AE1-6EC0-47B6-9286-227F6CC4BE37}" type="datetime1">
              <a:rPr lang="en-GB" smtClean="0"/>
              <a:t>20/08/2025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BDD05-C09C-3554-C58E-1FD10B16C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ACC2B-34F8-346A-1D83-2FA177A62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826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FB5CA-54DD-FAF3-9B07-FA2AE2C13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044D3F-4214-F3D0-4E40-C3D7AC72D2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659081-4537-48AB-E691-80D9C313E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4768B4-1148-4864-A694-4E4A62F90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18897-E1BD-4D4D-B0B7-CDDDCC6D391E}" type="datetime1">
              <a:rPr lang="en-GB" smtClean="0"/>
              <a:t>20/08/2025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6F3E4C-A1EA-4FA4-37E9-D4BDEC853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227AC-5B9C-43D9-35DB-94115AA5D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0327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A51ED-3800-0D94-43C0-4DC9006B3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6EAF76-2B38-92CE-1645-607F15BB6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1DE2D-65A0-9797-96FC-951FC7CD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5AAC1-57D9-4D00-AB02-0520E4D4A784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EEA3A-A9E6-9867-EFD1-11A0DDEFE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EDA0E-F08D-D2E9-D34C-4BE6FAC46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485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964FED-6CB9-AF94-F333-C88F49B078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ED8B65-A0C8-2F43-0A6D-1E466060B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972CA-C602-AC11-0A41-83CDB61E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FE15E-9DEF-4BA1-88F2-D1C0C031F929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A94C6-4E92-45EE-14C2-7582DA461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FE9AD-4D06-455A-43CC-97EF29F85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3353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7396CC-AE2A-8FCF-9294-1636AE519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DC19C-91AE-C626-CCEE-59A834248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453CA-04EB-8130-D6AB-D4E0B71E0E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EA207B-7DFC-4FD1-8A21-6A6CCCD46F9E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C1FF-20C6-4F46-C58B-266E55AA3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5F486-2A3E-BC10-5284-9B45A2F58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B268CF-8001-41B5-ADCD-92A7738D3D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679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3.png"/><Relationship Id="rId2" Type="http://schemas.openxmlformats.org/officeDocument/2006/relationships/image" Target="../media/image8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customXml" Target="../ink/ink4.xml"/><Relationship Id="rId1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78DFA-AB5E-A717-8846-2B007F75CA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Searching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BA92-8188-0147-A078-4FF601FBF7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Md Mehrab Hossain Opi</a:t>
            </a:r>
          </a:p>
          <a:p>
            <a:r>
              <a:rPr lang="en-GB" dirty="0"/>
              <a:t>CSE 4109: Artificial Intelligence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296BA-E98B-0C90-A688-7E62AA8D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F5BA6-E035-4879-AB7D-175221F8FC7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897201-96C6-F5CA-638B-7D3FB18C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8312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F06D1-D60F-EA78-76DA-90E1A818A562}"/>
              </a:ext>
            </a:extLst>
          </p:cNvPr>
          <p:cNvSpPr>
            <a:spLocks noGrp="1"/>
          </p:cNvSpPr>
          <p:nvPr>
            <p:ph type="title"/>
          </p:nvPr>
        </p:nvSpPr>
        <p:spPr>
          <a:custGeom>
            <a:avLst/>
            <a:gdLst>
              <a:gd name="connsiteX0" fmla="*/ 0 w 10515600"/>
              <a:gd name="connsiteY0" fmla="*/ 0 h 1325563"/>
              <a:gd name="connsiteX1" fmla="*/ 584200 w 10515600"/>
              <a:gd name="connsiteY1" fmla="*/ 0 h 1325563"/>
              <a:gd name="connsiteX2" fmla="*/ 1063244 w 10515600"/>
              <a:gd name="connsiteY2" fmla="*/ 0 h 1325563"/>
              <a:gd name="connsiteX3" fmla="*/ 1542288 w 10515600"/>
              <a:gd name="connsiteY3" fmla="*/ 0 h 1325563"/>
              <a:gd name="connsiteX4" fmla="*/ 2126488 w 10515600"/>
              <a:gd name="connsiteY4" fmla="*/ 0 h 1325563"/>
              <a:gd name="connsiteX5" fmla="*/ 2815844 w 10515600"/>
              <a:gd name="connsiteY5" fmla="*/ 0 h 1325563"/>
              <a:gd name="connsiteX6" fmla="*/ 3505200 w 10515600"/>
              <a:gd name="connsiteY6" fmla="*/ 0 h 1325563"/>
              <a:gd name="connsiteX7" fmla="*/ 4194556 w 10515600"/>
              <a:gd name="connsiteY7" fmla="*/ 0 h 1325563"/>
              <a:gd name="connsiteX8" fmla="*/ 4989068 w 10515600"/>
              <a:gd name="connsiteY8" fmla="*/ 0 h 1325563"/>
              <a:gd name="connsiteX9" fmla="*/ 5573268 w 10515600"/>
              <a:gd name="connsiteY9" fmla="*/ 0 h 1325563"/>
              <a:gd name="connsiteX10" fmla="*/ 6262624 w 10515600"/>
              <a:gd name="connsiteY10" fmla="*/ 0 h 1325563"/>
              <a:gd name="connsiteX11" fmla="*/ 6846824 w 10515600"/>
              <a:gd name="connsiteY11" fmla="*/ 0 h 1325563"/>
              <a:gd name="connsiteX12" fmla="*/ 7431024 w 10515600"/>
              <a:gd name="connsiteY12" fmla="*/ 0 h 1325563"/>
              <a:gd name="connsiteX13" fmla="*/ 8015224 w 10515600"/>
              <a:gd name="connsiteY13" fmla="*/ 0 h 1325563"/>
              <a:gd name="connsiteX14" fmla="*/ 8283956 w 10515600"/>
              <a:gd name="connsiteY14" fmla="*/ 0 h 1325563"/>
              <a:gd name="connsiteX15" fmla="*/ 8973312 w 10515600"/>
              <a:gd name="connsiteY15" fmla="*/ 0 h 1325563"/>
              <a:gd name="connsiteX16" fmla="*/ 9242044 w 10515600"/>
              <a:gd name="connsiteY16" fmla="*/ 0 h 1325563"/>
              <a:gd name="connsiteX17" fmla="*/ 9826244 w 10515600"/>
              <a:gd name="connsiteY17" fmla="*/ 0 h 1325563"/>
              <a:gd name="connsiteX18" fmla="*/ 10515600 w 10515600"/>
              <a:gd name="connsiteY18" fmla="*/ 0 h 1325563"/>
              <a:gd name="connsiteX19" fmla="*/ 10515600 w 10515600"/>
              <a:gd name="connsiteY19" fmla="*/ 468366 h 1325563"/>
              <a:gd name="connsiteX20" fmla="*/ 10515600 w 10515600"/>
              <a:gd name="connsiteY20" fmla="*/ 870453 h 1325563"/>
              <a:gd name="connsiteX21" fmla="*/ 10515600 w 10515600"/>
              <a:gd name="connsiteY21" fmla="*/ 1325563 h 1325563"/>
              <a:gd name="connsiteX22" fmla="*/ 10141712 w 10515600"/>
              <a:gd name="connsiteY22" fmla="*/ 1325563 h 1325563"/>
              <a:gd name="connsiteX23" fmla="*/ 9767824 w 10515600"/>
              <a:gd name="connsiteY23" fmla="*/ 1325563 h 1325563"/>
              <a:gd name="connsiteX24" fmla="*/ 8973312 w 10515600"/>
              <a:gd name="connsiteY24" fmla="*/ 1325563 h 1325563"/>
              <a:gd name="connsiteX25" fmla="*/ 8178800 w 10515600"/>
              <a:gd name="connsiteY25" fmla="*/ 1325563 h 1325563"/>
              <a:gd name="connsiteX26" fmla="*/ 7594600 w 10515600"/>
              <a:gd name="connsiteY26" fmla="*/ 1325563 h 1325563"/>
              <a:gd name="connsiteX27" fmla="*/ 6800088 w 10515600"/>
              <a:gd name="connsiteY27" fmla="*/ 1325563 h 1325563"/>
              <a:gd name="connsiteX28" fmla="*/ 6215888 w 10515600"/>
              <a:gd name="connsiteY28" fmla="*/ 1325563 h 1325563"/>
              <a:gd name="connsiteX29" fmla="*/ 5526532 w 10515600"/>
              <a:gd name="connsiteY29" fmla="*/ 1325563 h 1325563"/>
              <a:gd name="connsiteX30" fmla="*/ 5257800 w 10515600"/>
              <a:gd name="connsiteY30" fmla="*/ 1325563 h 1325563"/>
              <a:gd name="connsiteX31" fmla="*/ 4463288 w 10515600"/>
              <a:gd name="connsiteY31" fmla="*/ 1325563 h 1325563"/>
              <a:gd name="connsiteX32" fmla="*/ 3984244 w 10515600"/>
              <a:gd name="connsiteY32" fmla="*/ 1325563 h 1325563"/>
              <a:gd name="connsiteX33" fmla="*/ 3294888 w 10515600"/>
              <a:gd name="connsiteY33" fmla="*/ 1325563 h 1325563"/>
              <a:gd name="connsiteX34" fmla="*/ 3026156 w 10515600"/>
              <a:gd name="connsiteY34" fmla="*/ 1325563 h 1325563"/>
              <a:gd name="connsiteX35" fmla="*/ 2231644 w 10515600"/>
              <a:gd name="connsiteY35" fmla="*/ 1325563 h 1325563"/>
              <a:gd name="connsiteX36" fmla="*/ 1752600 w 10515600"/>
              <a:gd name="connsiteY36" fmla="*/ 1325563 h 1325563"/>
              <a:gd name="connsiteX37" fmla="*/ 1168400 w 10515600"/>
              <a:gd name="connsiteY37" fmla="*/ 1325563 h 1325563"/>
              <a:gd name="connsiteX38" fmla="*/ 794512 w 10515600"/>
              <a:gd name="connsiteY38" fmla="*/ 1325563 h 1325563"/>
              <a:gd name="connsiteX39" fmla="*/ 0 w 10515600"/>
              <a:gd name="connsiteY39" fmla="*/ 1325563 h 1325563"/>
              <a:gd name="connsiteX40" fmla="*/ 0 w 10515600"/>
              <a:gd name="connsiteY40" fmla="*/ 857197 h 1325563"/>
              <a:gd name="connsiteX41" fmla="*/ 0 w 10515600"/>
              <a:gd name="connsiteY41" fmla="*/ 415343 h 1325563"/>
              <a:gd name="connsiteX42" fmla="*/ 0 w 10515600"/>
              <a:gd name="connsiteY42" fmla="*/ 0 h 132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0515600" h="1325563" fill="none" extrusionOk="0">
                <a:moveTo>
                  <a:pt x="0" y="0"/>
                </a:moveTo>
                <a:cubicBezTo>
                  <a:pt x="199634" y="-51373"/>
                  <a:pt x="446638" y="49318"/>
                  <a:pt x="584200" y="0"/>
                </a:cubicBezTo>
                <a:cubicBezTo>
                  <a:pt x="721762" y="-49318"/>
                  <a:pt x="930663" y="38378"/>
                  <a:pt x="1063244" y="0"/>
                </a:cubicBezTo>
                <a:cubicBezTo>
                  <a:pt x="1195825" y="-38378"/>
                  <a:pt x="1431271" y="30342"/>
                  <a:pt x="1542288" y="0"/>
                </a:cubicBezTo>
                <a:cubicBezTo>
                  <a:pt x="1653305" y="-30342"/>
                  <a:pt x="2002343" y="6432"/>
                  <a:pt x="2126488" y="0"/>
                </a:cubicBezTo>
                <a:cubicBezTo>
                  <a:pt x="2250633" y="-6432"/>
                  <a:pt x="2527769" y="42761"/>
                  <a:pt x="2815844" y="0"/>
                </a:cubicBezTo>
                <a:cubicBezTo>
                  <a:pt x="3103919" y="-42761"/>
                  <a:pt x="3245895" y="80955"/>
                  <a:pt x="3505200" y="0"/>
                </a:cubicBezTo>
                <a:cubicBezTo>
                  <a:pt x="3764505" y="-80955"/>
                  <a:pt x="3973551" y="60894"/>
                  <a:pt x="4194556" y="0"/>
                </a:cubicBezTo>
                <a:cubicBezTo>
                  <a:pt x="4415561" y="-60894"/>
                  <a:pt x="4634215" y="38307"/>
                  <a:pt x="4989068" y="0"/>
                </a:cubicBezTo>
                <a:cubicBezTo>
                  <a:pt x="5343921" y="-38307"/>
                  <a:pt x="5366694" y="14017"/>
                  <a:pt x="5573268" y="0"/>
                </a:cubicBezTo>
                <a:cubicBezTo>
                  <a:pt x="5779842" y="-14017"/>
                  <a:pt x="5981864" y="46115"/>
                  <a:pt x="6262624" y="0"/>
                </a:cubicBezTo>
                <a:cubicBezTo>
                  <a:pt x="6543384" y="-46115"/>
                  <a:pt x="6606752" y="68194"/>
                  <a:pt x="6846824" y="0"/>
                </a:cubicBezTo>
                <a:cubicBezTo>
                  <a:pt x="7086896" y="-68194"/>
                  <a:pt x="7217835" y="65291"/>
                  <a:pt x="7431024" y="0"/>
                </a:cubicBezTo>
                <a:cubicBezTo>
                  <a:pt x="7644213" y="-65291"/>
                  <a:pt x="7879463" y="31774"/>
                  <a:pt x="8015224" y="0"/>
                </a:cubicBezTo>
                <a:cubicBezTo>
                  <a:pt x="8150985" y="-31774"/>
                  <a:pt x="8212154" y="4755"/>
                  <a:pt x="8283956" y="0"/>
                </a:cubicBezTo>
                <a:cubicBezTo>
                  <a:pt x="8355758" y="-4755"/>
                  <a:pt x="8826519" y="17716"/>
                  <a:pt x="8973312" y="0"/>
                </a:cubicBezTo>
                <a:cubicBezTo>
                  <a:pt x="9120105" y="-17716"/>
                  <a:pt x="9173478" y="9199"/>
                  <a:pt x="9242044" y="0"/>
                </a:cubicBezTo>
                <a:cubicBezTo>
                  <a:pt x="9310610" y="-9199"/>
                  <a:pt x="9591506" y="8584"/>
                  <a:pt x="9826244" y="0"/>
                </a:cubicBezTo>
                <a:cubicBezTo>
                  <a:pt x="10060982" y="-8584"/>
                  <a:pt x="10201720" y="53859"/>
                  <a:pt x="10515600" y="0"/>
                </a:cubicBezTo>
                <a:cubicBezTo>
                  <a:pt x="10528818" y="97495"/>
                  <a:pt x="10505274" y="259415"/>
                  <a:pt x="10515600" y="468366"/>
                </a:cubicBezTo>
                <a:cubicBezTo>
                  <a:pt x="10525926" y="677317"/>
                  <a:pt x="10508682" y="677626"/>
                  <a:pt x="10515600" y="870453"/>
                </a:cubicBezTo>
                <a:cubicBezTo>
                  <a:pt x="10522518" y="1063280"/>
                  <a:pt x="10510955" y="1218240"/>
                  <a:pt x="10515600" y="1325563"/>
                </a:cubicBezTo>
                <a:cubicBezTo>
                  <a:pt x="10340140" y="1355842"/>
                  <a:pt x="10274695" y="1293885"/>
                  <a:pt x="10141712" y="1325563"/>
                </a:cubicBezTo>
                <a:cubicBezTo>
                  <a:pt x="10008729" y="1357241"/>
                  <a:pt x="9902744" y="1312872"/>
                  <a:pt x="9767824" y="1325563"/>
                </a:cubicBezTo>
                <a:cubicBezTo>
                  <a:pt x="9632904" y="1338254"/>
                  <a:pt x="9328068" y="1240126"/>
                  <a:pt x="8973312" y="1325563"/>
                </a:cubicBezTo>
                <a:cubicBezTo>
                  <a:pt x="8618556" y="1411000"/>
                  <a:pt x="8531308" y="1259411"/>
                  <a:pt x="8178800" y="1325563"/>
                </a:cubicBezTo>
                <a:cubicBezTo>
                  <a:pt x="7826292" y="1391715"/>
                  <a:pt x="7713557" y="1282190"/>
                  <a:pt x="7594600" y="1325563"/>
                </a:cubicBezTo>
                <a:cubicBezTo>
                  <a:pt x="7475643" y="1368936"/>
                  <a:pt x="7009492" y="1305285"/>
                  <a:pt x="6800088" y="1325563"/>
                </a:cubicBezTo>
                <a:cubicBezTo>
                  <a:pt x="6590684" y="1345841"/>
                  <a:pt x="6389801" y="1260904"/>
                  <a:pt x="6215888" y="1325563"/>
                </a:cubicBezTo>
                <a:cubicBezTo>
                  <a:pt x="6041975" y="1390222"/>
                  <a:pt x="5678912" y="1265992"/>
                  <a:pt x="5526532" y="1325563"/>
                </a:cubicBezTo>
                <a:cubicBezTo>
                  <a:pt x="5374152" y="1385134"/>
                  <a:pt x="5382254" y="1306310"/>
                  <a:pt x="5257800" y="1325563"/>
                </a:cubicBezTo>
                <a:cubicBezTo>
                  <a:pt x="5133346" y="1344816"/>
                  <a:pt x="4836155" y="1289227"/>
                  <a:pt x="4463288" y="1325563"/>
                </a:cubicBezTo>
                <a:cubicBezTo>
                  <a:pt x="4090421" y="1361899"/>
                  <a:pt x="4151020" y="1298534"/>
                  <a:pt x="3984244" y="1325563"/>
                </a:cubicBezTo>
                <a:cubicBezTo>
                  <a:pt x="3817468" y="1352592"/>
                  <a:pt x="3572374" y="1304693"/>
                  <a:pt x="3294888" y="1325563"/>
                </a:cubicBezTo>
                <a:cubicBezTo>
                  <a:pt x="3017402" y="1346433"/>
                  <a:pt x="3151456" y="1317654"/>
                  <a:pt x="3026156" y="1325563"/>
                </a:cubicBezTo>
                <a:cubicBezTo>
                  <a:pt x="2900856" y="1333472"/>
                  <a:pt x="2418455" y="1297159"/>
                  <a:pt x="2231644" y="1325563"/>
                </a:cubicBezTo>
                <a:cubicBezTo>
                  <a:pt x="2044833" y="1353967"/>
                  <a:pt x="1940374" y="1306516"/>
                  <a:pt x="1752600" y="1325563"/>
                </a:cubicBezTo>
                <a:cubicBezTo>
                  <a:pt x="1564826" y="1344610"/>
                  <a:pt x="1305095" y="1305552"/>
                  <a:pt x="1168400" y="1325563"/>
                </a:cubicBezTo>
                <a:cubicBezTo>
                  <a:pt x="1031705" y="1345574"/>
                  <a:pt x="927881" y="1303665"/>
                  <a:pt x="794512" y="1325563"/>
                </a:cubicBezTo>
                <a:cubicBezTo>
                  <a:pt x="661143" y="1347461"/>
                  <a:pt x="164008" y="1239848"/>
                  <a:pt x="0" y="1325563"/>
                </a:cubicBezTo>
                <a:cubicBezTo>
                  <a:pt x="-43827" y="1107128"/>
                  <a:pt x="40367" y="1071636"/>
                  <a:pt x="0" y="857197"/>
                </a:cubicBezTo>
                <a:cubicBezTo>
                  <a:pt x="-40367" y="642758"/>
                  <a:pt x="24937" y="567712"/>
                  <a:pt x="0" y="415343"/>
                </a:cubicBezTo>
                <a:cubicBezTo>
                  <a:pt x="-24937" y="262974"/>
                  <a:pt x="39094" y="119383"/>
                  <a:pt x="0" y="0"/>
                </a:cubicBezTo>
                <a:close/>
              </a:path>
              <a:path w="10515600" h="1325563" stroke="0" extrusionOk="0">
                <a:moveTo>
                  <a:pt x="0" y="0"/>
                </a:moveTo>
                <a:cubicBezTo>
                  <a:pt x="117769" y="-54612"/>
                  <a:pt x="363642" y="16397"/>
                  <a:pt x="479044" y="0"/>
                </a:cubicBezTo>
                <a:cubicBezTo>
                  <a:pt x="594446" y="-16397"/>
                  <a:pt x="677892" y="18700"/>
                  <a:pt x="747776" y="0"/>
                </a:cubicBezTo>
                <a:cubicBezTo>
                  <a:pt x="817660" y="-18700"/>
                  <a:pt x="1147191" y="42425"/>
                  <a:pt x="1542288" y="0"/>
                </a:cubicBezTo>
                <a:cubicBezTo>
                  <a:pt x="1937385" y="-42425"/>
                  <a:pt x="1903667" y="55036"/>
                  <a:pt x="2021332" y="0"/>
                </a:cubicBezTo>
                <a:cubicBezTo>
                  <a:pt x="2138997" y="-55036"/>
                  <a:pt x="2261555" y="30614"/>
                  <a:pt x="2500376" y="0"/>
                </a:cubicBezTo>
                <a:cubicBezTo>
                  <a:pt x="2739197" y="-30614"/>
                  <a:pt x="2992326" y="934"/>
                  <a:pt x="3294888" y="0"/>
                </a:cubicBezTo>
                <a:cubicBezTo>
                  <a:pt x="3597450" y="-934"/>
                  <a:pt x="3536470" y="20588"/>
                  <a:pt x="3668776" y="0"/>
                </a:cubicBezTo>
                <a:cubicBezTo>
                  <a:pt x="3801082" y="-20588"/>
                  <a:pt x="4167052" y="95069"/>
                  <a:pt x="4463288" y="0"/>
                </a:cubicBezTo>
                <a:cubicBezTo>
                  <a:pt x="4759524" y="-95069"/>
                  <a:pt x="4927052" y="44879"/>
                  <a:pt x="5257800" y="0"/>
                </a:cubicBezTo>
                <a:cubicBezTo>
                  <a:pt x="5588548" y="-44879"/>
                  <a:pt x="5635378" y="45685"/>
                  <a:pt x="5842000" y="0"/>
                </a:cubicBezTo>
                <a:cubicBezTo>
                  <a:pt x="6048622" y="-45685"/>
                  <a:pt x="6336244" y="84925"/>
                  <a:pt x="6636512" y="0"/>
                </a:cubicBezTo>
                <a:cubicBezTo>
                  <a:pt x="6936780" y="-84925"/>
                  <a:pt x="6983770" y="37784"/>
                  <a:pt x="7115556" y="0"/>
                </a:cubicBezTo>
                <a:cubicBezTo>
                  <a:pt x="7247342" y="-37784"/>
                  <a:pt x="7473141" y="52757"/>
                  <a:pt x="7594600" y="0"/>
                </a:cubicBezTo>
                <a:cubicBezTo>
                  <a:pt x="7716059" y="-52757"/>
                  <a:pt x="8131150" y="920"/>
                  <a:pt x="8283956" y="0"/>
                </a:cubicBezTo>
                <a:cubicBezTo>
                  <a:pt x="8436762" y="-920"/>
                  <a:pt x="8664826" y="24800"/>
                  <a:pt x="8763000" y="0"/>
                </a:cubicBezTo>
                <a:cubicBezTo>
                  <a:pt x="8861174" y="-24800"/>
                  <a:pt x="9272964" y="43339"/>
                  <a:pt x="9557512" y="0"/>
                </a:cubicBezTo>
                <a:cubicBezTo>
                  <a:pt x="9842060" y="-43339"/>
                  <a:pt x="10044680" y="73864"/>
                  <a:pt x="10515600" y="0"/>
                </a:cubicBezTo>
                <a:cubicBezTo>
                  <a:pt x="10536968" y="118651"/>
                  <a:pt x="10479712" y="227816"/>
                  <a:pt x="10515600" y="441854"/>
                </a:cubicBezTo>
                <a:cubicBezTo>
                  <a:pt x="10551488" y="655892"/>
                  <a:pt x="10487580" y="795649"/>
                  <a:pt x="10515600" y="896964"/>
                </a:cubicBezTo>
                <a:cubicBezTo>
                  <a:pt x="10543620" y="998279"/>
                  <a:pt x="10467886" y="1134345"/>
                  <a:pt x="10515600" y="1325563"/>
                </a:cubicBezTo>
                <a:cubicBezTo>
                  <a:pt x="10386768" y="1345314"/>
                  <a:pt x="10232234" y="1296468"/>
                  <a:pt x="10141712" y="1325563"/>
                </a:cubicBezTo>
                <a:cubicBezTo>
                  <a:pt x="10051190" y="1354658"/>
                  <a:pt x="9821524" y="1272248"/>
                  <a:pt x="9557512" y="1325563"/>
                </a:cubicBezTo>
                <a:cubicBezTo>
                  <a:pt x="9293500" y="1378878"/>
                  <a:pt x="9328409" y="1285987"/>
                  <a:pt x="9183624" y="1325563"/>
                </a:cubicBezTo>
                <a:cubicBezTo>
                  <a:pt x="9038839" y="1365139"/>
                  <a:pt x="8786483" y="1307681"/>
                  <a:pt x="8599424" y="1325563"/>
                </a:cubicBezTo>
                <a:cubicBezTo>
                  <a:pt x="8412365" y="1343445"/>
                  <a:pt x="8414709" y="1295618"/>
                  <a:pt x="8330692" y="1325563"/>
                </a:cubicBezTo>
                <a:cubicBezTo>
                  <a:pt x="8246675" y="1355508"/>
                  <a:pt x="8177963" y="1311461"/>
                  <a:pt x="8061960" y="1325563"/>
                </a:cubicBezTo>
                <a:cubicBezTo>
                  <a:pt x="7945957" y="1339665"/>
                  <a:pt x="7703014" y="1305435"/>
                  <a:pt x="7477760" y="1325563"/>
                </a:cubicBezTo>
                <a:cubicBezTo>
                  <a:pt x="7252506" y="1345691"/>
                  <a:pt x="7252717" y="1303457"/>
                  <a:pt x="7103872" y="1325563"/>
                </a:cubicBezTo>
                <a:cubicBezTo>
                  <a:pt x="6955027" y="1347669"/>
                  <a:pt x="6731082" y="1266922"/>
                  <a:pt x="6414516" y="1325563"/>
                </a:cubicBezTo>
                <a:cubicBezTo>
                  <a:pt x="6097950" y="1384204"/>
                  <a:pt x="6209104" y="1291605"/>
                  <a:pt x="6040628" y="1325563"/>
                </a:cubicBezTo>
                <a:cubicBezTo>
                  <a:pt x="5872152" y="1359521"/>
                  <a:pt x="5612756" y="1250928"/>
                  <a:pt x="5351272" y="1325563"/>
                </a:cubicBezTo>
                <a:cubicBezTo>
                  <a:pt x="5089788" y="1400198"/>
                  <a:pt x="5214554" y="1299028"/>
                  <a:pt x="5082540" y="1325563"/>
                </a:cubicBezTo>
                <a:cubicBezTo>
                  <a:pt x="4950526" y="1352098"/>
                  <a:pt x="4664612" y="1292268"/>
                  <a:pt x="4393184" y="1325563"/>
                </a:cubicBezTo>
                <a:cubicBezTo>
                  <a:pt x="4121756" y="1358858"/>
                  <a:pt x="4202348" y="1294794"/>
                  <a:pt x="4019296" y="1325563"/>
                </a:cubicBezTo>
                <a:cubicBezTo>
                  <a:pt x="3836244" y="1356332"/>
                  <a:pt x="3833682" y="1302544"/>
                  <a:pt x="3750564" y="1325563"/>
                </a:cubicBezTo>
                <a:cubicBezTo>
                  <a:pt x="3667446" y="1348582"/>
                  <a:pt x="3558774" y="1289251"/>
                  <a:pt x="3376676" y="1325563"/>
                </a:cubicBezTo>
                <a:cubicBezTo>
                  <a:pt x="3194578" y="1361875"/>
                  <a:pt x="2934693" y="1260449"/>
                  <a:pt x="2687320" y="1325563"/>
                </a:cubicBezTo>
                <a:cubicBezTo>
                  <a:pt x="2439947" y="1390677"/>
                  <a:pt x="2409273" y="1286072"/>
                  <a:pt x="2313432" y="1325563"/>
                </a:cubicBezTo>
                <a:cubicBezTo>
                  <a:pt x="2217591" y="1365054"/>
                  <a:pt x="2115947" y="1322974"/>
                  <a:pt x="2044700" y="1325563"/>
                </a:cubicBezTo>
                <a:cubicBezTo>
                  <a:pt x="1973453" y="1328152"/>
                  <a:pt x="1746704" y="1313098"/>
                  <a:pt x="1670812" y="1325563"/>
                </a:cubicBezTo>
                <a:cubicBezTo>
                  <a:pt x="1594920" y="1338028"/>
                  <a:pt x="1361608" y="1274437"/>
                  <a:pt x="1191768" y="1325563"/>
                </a:cubicBezTo>
                <a:cubicBezTo>
                  <a:pt x="1021928" y="1376689"/>
                  <a:pt x="747020" y="1259611"/>
                  <a:pt x="607568" y="1325563"/>
                </a:cubicBezTo>
                <a:cubicBezTo>
                  <a:pt x="468116" y="1391515"/>
                  <a:pt x="299108" y="1260064"/>
                  <a:pt x="0" y="1325563"/>
                </a:cubicBezTo>
                <a:cubicBezTo>
                  <a:pt x="-42502" y="1110413"/>
                  <a:pt x="24566" y="1060159"/>
                  <a:pt x="0" y="857197"/>
                </a:cubicBezTo>
                <a:cubicBezTo>
                  <a:pt x="-24566" y="654235"/>
                  <a:pt x="2557" y="605171"/>
                  <a:pt x="0" y="415343"/>
                </a:cubicBezTo>
                <a:cubicBezTo>
                  <a:pt x="-2557" y="225515"/>
                  <a:pt x="15012" y="88770"/>
                  <a:pt x="0" y="0"/>
                </a:cubicBezTo>
                <a:close/>
              </a:path>
            </a:pathLst>
          </a:custGeom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/>
          <a:p>
            <a:pPr algn="ctr"/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Artificial Intelligence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2E6FA-669E-99F5-9142-526565ED7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5400" u="sng" dirty="0"/>
              <a:t>What is AI?</a:t>
            </a:r>
          </a:p>
          <a:p>
            <a:pPr marL="0" indent="0" algn="ctr">
              <a:buNone/>
            </a:pPr>
            <a:endParaRPr lang="en-GB" sz="3200" dirty="0"/>
          </a:p>
          <a:p>
            <a:pPr marL="0" indent="0" algn="ctr">
              <a:buNone/>
            </a:pPr>
            <a:r>
              <a:rPr lang="en-GB" sz="3200" dirty="0"/>
              <a:t>The Art of creating machines that perform functions that require intelligence when performed by people.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7C151B-649A-A5A1-3C38-2FB5B7E1CF89}"/>
              </a:ext>
            </a:extLst>
          </p:cNvPr>
          <p:cNvSpPr/>
          <p:nvPr/>
        </p:nvSpPr>
        <p:spPr>
          <a:xfrm>
            <a:off x="3186545" y="3713018"/>
            <a:ext cx="2170546" cy="517237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251B32-D778-8408-F931-C7EA6EDE3CF3}"/>
              </a:ext>
            </a:extLst>
          </p:cNvPr>
          <p:cNvSpPr/>
          <p:nvPr/>
        </p:nvSpPr>
        <p:spPr>
          <a:xfrm>
            <a:off x="1173017" y="4812145"/>
            <a:ext cx="6197601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The ability to think and understand instead of doing things by instinct or automatically.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3BA287-51BD-93C3-CB17-2616EA7B0F17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4271818" y="4230255"/>
            <a:ext cx="0" cy="5818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0785E05-0754-034F-A53F-8EC86E888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44C4E-D239-43ED-9E6D-40D8E6A045BF}" type="datetime1">
              <a:rPr lang="en-GB" smtClean="0"/>
              <a:t>20/08/2025</a:t>
            </a:fld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97AD2D5-733E-CC83-1061-EE05E2602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4265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C3ACF-3A55-B005-AF44-D275CECD2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0ED88-A468-69EC-3877-69D07F194C28}"/>
              </a:ext>
            </a:extLst>
          </p:cNvPr>
          <p:cNvSpPr>
            <a:spLocks noGrp="1"/>
          </p:cNvSpPr>
          <p:nvPr>
            <p:ph type="title"/>
          </p:nvPr>
        </p:nvSpPr>
        <p:spPr>
          <a:custGeom>
            <a:avLst/>
            <a:gdLst>
              <a:gd name="connsiteX0" fmla="*/ 0 w 10515600"/>
              <a:gd name="connsiteY0" fmla="*/ 0 h 1325563"/>
              <a:gd name="connsiteX1" fmla="*/ 584200 w 10515600"/>
              <a:gd name="connsiteY1" fmla="*/ 0 h 1325563"/>
              <a:gd name="connsiteX2" fmla="*/ 1063244 w 10515600"/>
              <a:gd name="connsiteY2" fmla="*/ 0 h 1325563"/>
              <a:gd name="connsiteX3" fmla="*/ 1542288 w 10515600"/>
              <a:gd name="connsiteY3" fmla="*/ 0 h 1325563"/>
              <a:gd name="connsiteX4" fmla="*/ 2126488 w 10515600"/>
              <a:gd name="connsiteY4" fmla="*/ 0 h 1325563"/>
              <a:gd name="connsiteX5" fmla="*/ 2815844 w 10515600"/>
              <a:gd name="connsiteY5" fmla="*/ 0 h 1325563"/>
              <a:gd name="connsiteX6" fmla="*/ 3505200 w 10515600"/>
              <a:gd name="connsiteY6" fmla="*/ 0 h 1325563"/>
              <a:gd name="connsiteX7" fmla="*/ 4194556 w 10515600"/>
              <a:gd name="connsiteY7" fmla="*/ 0 h 1325563"/>
              <a:gd name="connsiteX8" fmla="*/ 4989068 w 10515600"/>
              <a:gd name="connsiteY8" fmla="*/ 0 h 1325563"/>
              <a:gd name="connsiteX9" fmla="*/ 5573268 w 10515600"/>
              <a:gd name="connsiteY9" fmla="*/ 0 h 1325563"/>
              <a:gd name="connsiteX10" fmla="*/ 6262624 w 10515600"/>
              <a:gd name="connsiteY10" fmla="*/ 0 h 1325563"/>
              <a:gd name="connsiteX11" fmla="*/ 6846824 w 10515600"/>
              <a:gd name="connsiteY11" fmla="*/ 0 h 1325563"/>
              <a:gd name="connsiteX12" fmla="*/ 7431024 w 10515600"/>
              <a:gd name="connsiteY12" fmla="*/ 0 h 1325563"/>
              <a:gd name="connsiteX13" fmla="*/ 8015224 w 10515600"/>
              <a:gd name="connsiteY13" fmla="*/ 0 h 1325563"/>
              <a:gd name="connsiteX14" fmla="*/ 8283956 w 10515600"/>
              <a:gd name="connsiteY14" fmla="*/ 0 h 1325563"/>
              <a:gd name="connsiteX15" fmla="*/ 8973312 w 10515600"/>
              <a:gd name="connsiteY15" fmla="*/ 0 h 1325563"/>
              <a:gd name="connsiteX16" fmla="*/ 9242044 w 10515600"/>
              <a:gd name="connsiteY16" fmla="*/ 0 h 1325563"/>
              <a:gd name="connsiteX17" fmla="*/ 9826244 w 10515600"/>
              <a:gd name="connsiteY17" fmla="*/ 0 h 1325563"/>
              <a:gd name="connsiteX18" fmla="*/ 10515600 w 10515600"/>
              <a:gd name="connsiteY18" fmla="*/ 0 h 1325563"/>
              <a:gd name="connsiteX19" fmla="*/ 10515600 w 10515600"/>
              <a:gd name="connsiteY19" fmla="*/ 468366 h 1325563"/>
              <a:gd name="connsiteX20" fmla="*/ 10515600 w 10515600"/>
              <a:gd name="connsiteY20" fmla="*/ 870453 h 1325563"/>
              <a:gd name="connsiteX21" fmla="*/ 10515600 w 10515600"/>
              <a:gd name="connsiteY21" fmla="*/ 1325563 h 1325563"/>
              <a:gd name="connsiteX22" fmla="*/ 10141712 w 10515600"/>
              <a:gd name="connsiteY22" fmla="*/ 1325563 h 1325563"/>
              <a:gd name="connsiteX23" fmla="*/ 9767824 w 10515600"/>
              <a:gd name="connsiteY23" fmla="*/ 1325563 h 1325563"/>
              <a:gd name="connsiteX24" fmla="*/ 8973312 w 10515600"/>
              <a:gd name="connsiteY24" fmla="*/ 1325563 h 1325563"/>
              <a:gd name="connsiteX25" fmla="*/ 8178800 w 10515600"/>
              <a:gd name="connsiteY25" fmla="*/ 1325563 h 1325563"/>
              <a:gd name="connsiteX26" fmla="*/ 7594600 w 10515600"/>
              <a:gd name="connsiteY26" fmla="*/ 1325563 h 1325563"/>
              <a:gd name="connsiteX27" fmla="*/ 6800088 w 10515600"/>
              <a:gd name="connsiteY27" fmla="*/ 1325563 h 1325563"/>
              <a:gd name="connsiteX28" fmla="*/ 6215888 w 10515600"/>
              <a:gd name="connsiteY28" fmla="*/ 1325563 h 1325563"/>
              <a:gd name="connsiteX29" fmla="*/ 5526532 w 10515600"/>
              <a:gd name="connsiteY29" fmla="*/ 1325563 h 1325563"/>
              <a:gd name="connsiteX30" fmla="*/ 5257800 w 10515600"/>
              <a:gd name="connsiteY30" fmla="*/ 1325563 h 1325563"/>
              <a:gd name="connsiteX31" fmla="*/ 4463288 w 10515600"/>
              <a:gd name="connsiteY31" fmla="*/ 1325563 h 1325563"/>
              <a:gd name="connsiteX32" fmla="*/ 3984244 w 10515600"/>
              <a:gd name="connsiteY32" fmla="*/ 1325563 h 1325563"/>
              <a:gd name="connsiteX33" fmla="*/ 3294888 w 10515600"/>
              <a:gd name="connsiteY33" fmla="*/ 1325563 h 1325563"/>
              <a:gd name="connsiteX34" fmla="*/ 3026156 w 10515600"/>
              <a:gd name="connsiteY34" fmla="*/ 1325563 h 1325563"/>
              <a:gd name="connsiteX35" fmla="*/ 2231644 w 10515600"/>
              <a:gd name="connsiteY35" fmla="*/ 1325563 h 1325563"/>
              <a:gd name="connsiteX36" fmla="*/ 1752600 w 10515600"/>
              <a:gd name="connsiteY36" fmla="*/ 1325563 h 1325563"/>
              <a:gd name="connsiteX37" fmla="*/ 1168400 w 10515600"/>
              <a:gd name="connsiteY37" fmla="*/ 1325563 h 1325563"/>
              <a:gd name="connsiteX38" fmla="*/ 794512 w 10515600"/>
              <a:gd name="connsiteY38" fmla="*/ 1325563 h 1325563"/>
              <a:gd name="connsiteX39" fmla="*/ 0 w 10515600"/>
              <a:gd name="connsiteY39" fmla="*/ 1325563 h 1325563"/>
              <a:gd name="connsiteX40" fmla="*/ 0 w 10515600"/>
              <a:gd name="connsiteY40" fmla="*/ 857197 h 1325563"/>
              <a:gd name="connsiteX41" fmla="*/ 0 w 10515600"/>
              <a:gd name="connsiteY41" fmla="*/ 415343 h 1325563"/>
              <a:gd name="connsiteX42" fmla="*/ 0 w 10515600"/>
              <a:gd name="connsiteY42" fmla="*/ 0 h 132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0515600" h="1325563" fill="none" extrusionOk="0">
                <a:moveTo>
                  <a:pt x="0" y="0"/>
                </a:moveTo>
                <a:cubicBezTo>
                  <a:pt x="199634" y="-51373"/>
                  <a:pt x="446638" y="49318"/>
                  <a:pt x="584200" y="0"/>
                </a:cubicBezTo>
                <a:cubicBezTo>
                  <a:pt x="721762" y="-49318"/>
                  <a:pt x="930663" y="38378"/>
                  <a:pt x="1063244" y="0"/>
                </a:cubicBezTo>
                <a:cubicBezTo>
                  <a:pt x="1195825" y="-38378"/>
                  <a:pt x="1431271" y="30342"/>
                  <a:pt x="1542288" y="0"/>
                </a:cubicBezTo>
                <a:cubicBezTo>
                  <a:pt x="1653305" y="-30342"/>
                  <a:pt x="2002343" y="6432"/>
                  <a:pt x="2126488" y="0"/>
                </a:cubicBezTo>
                <a:cubicBezTo>
                  <a:pt x="2250633" y="-6432"/>
                  <a:pt x="2527769" y="42761"/>
                  <a:pt x="2815844" y="0"/>
                </a:cubicBezTo>
                <a:cubicBezTo>
                  <a:pt x="3103919" y="-42761"/>
                  <a:pt x="3245895" y="80955"/>
                  <a:pt x="3505200" y="0"/>
                </a:cubicBezTo>
                <a:cubicBezTo>
                  <a:pt x="3764505" y="-80955"/>
                  <a:pt x="3973551" y="60894"/>
                  <a:pt x="4194556" y="0"/>
                </a:cubicBezTo>
                <a:cubicBezTo>
                  <a:pt x="4415561" y="-60894"/>
                  <a:pt x="4634215" y="38307"/>
                  <a:pt x="4989068" y="0"/>
                </a:cubicBezTo>
                <a:cubicBezTo>
                  <a:pt x="5343921" y="-38307"/>
                  <a:pt x="5366694" y="14017"/>
                  <a:pt x="5573268" y="0"/>
                </a:cubicBezTo>
                <a:cubicBezTo>
                  <a:pt x="5779842" y="-14017"/>
                  <a:pt x="5981864" y="46115"/>
                  <a:pt x="6262624" y="0"/>
                </a:cubicBezTo>
                <a:cubicBezTo>
                  <a:pt x="6543384" y="-46115"/>
                  <a:pt x="6606752" y="68194"/>
                  <a:pt x="6846824" y="0"/>
                </a:cubicBezTo>
                <a:cubicBezTo>
                  <a:pt x="7086896" y="-68194"/>
                  <a:pt x="7217835" y="65291"/>
                  <a:pt x="7431024" y="0"/>
                </a:cubicBezTo>
                <a:cubicBezTo>
                  <a:pt x="7644213" y="-65291"/>
                  <a:pt x="7879463" y="31774"/>
                  <a:pt x="8015224" y="0"/>
                </a:cubicBezTo>
                <a:cubicBezTo>
                  <a:pt x="8150985" y="-31774"/>
                  <a:pt x="8212154" y="4755"/>
                  <a:pt x="8283956" y="0"/>
                </a:cubicBezTo>
                <a:cubicBezTo>
                  <a:pt x="8355758" y="-4755"/>
                  <a:pt x="8826519" y="17716"/>
                  <a:pt x="8973312" y="0"/>
                </a:cubicBezTo>
                <a:cubicBezTo>
                  <a:pt x="9120105" y="-17716"/>
                  <a:pt x="9173478" y="9199"/>
                  <a:pt x="9242044" y="0"/>
                </a:cubicBezTo>
                <a:cubicBezTo>
                  <a:pt x="9310610" y="-9199"/>
                  <a:pt x="9591506" y="8584"/>
                  <a:pt x="9826244" y="0"/>
                </a:cubicBezTo>
                <a:cubicBezTo>
                  <a:pt x="10060982" y="-8584"/>
                  <a:pt x="10201720" y="53859"/>
                  <a:pt x="10515600" y="0"/>
                </a:cubicBezTo>
                <a:cubicBezTo>
                  <a:pt x="10528818" y="97495"/>
                  <a:pt x="10505274" y="259415"/>
                  <a:pt x="10515600" y="468366"/>
                </a:cubicBezTo>
                <a:cubicBezTo>
                  <a:pt x="10525926" y="677317"/>
                  <a:pt x="10508682" y="677626"/>
                  <a:pt x="10515600" y="870453"/>
                </a:cubicBezTo>
                <a:cubicBezTo>
                  <a:pt x="10522518" y="1063280"/>
                  <a:pt x="10510955" y="1218240"/>
                  <a:pt x="10515600" y="1325563"/>
                </a:cubicBezTo>
                <a:cubicBezTo>
                  <a:pt x="10340140" y="1355842"/>
                  <a:pt x="10274695" y="1293885"/>
                  <a:pt x="10141712" y="1325563"/>
                </a:cubicBezTo>
                <a:cubicBezTo>
                  <a:pt x="10008729" y="1357241"/>
                  <a:pt x="9902744" y="1312872"/>
                  <a:pt x="9767824" y="1325563"/>
                </a:cubicBezTo>
                <a:cubicBezTo>
                  <a:pt x="9632904" y="1338254"/>
                  <a:pt x="9328068" y="1240126"/>
                  <a:pt x="8973312" y="1325563"/>
                </a:cubicBezTo>
                <a:cubicBezTo>
                  <a:pt x="8618556" y="1411000"/>
                  <a:pt x="8531308" y="1259411"/>
                  <a:pt x="8178800" y="1325563"/>
                </a:cubicBezTo>
                <a:cubicBezTo>
                  <a:pt x="7826292" y="1391715"/>
                  <a:pt x="7713557" y="1282190"/>
                  <a:pt x="7594600" y="1325563"/>
                </a:cubicBezTo>
                <a:cubicBezTo>
                  <a:pt x="7475643" y="1368936"/>
                  <a:pt x="7009492" y="1305285"/>
                  <a:pt x="6800088" y="1325563"/>
                </a:cubicBezTo>
                <a:cubicBezTo>
                  <a:pt x="6590684" y="1345841"/>
                  <a:pt x="6389801" y="1260904"/>
                  <a:pt x="6215888" y="1325563"/>
                </a:cubicBezTo>
                <a:cubicBezTo>
                  <a:pt x="6041975" y="1390222"/>
                  <a:pt x="5678912" y="1265992"/>
                  <a:pt x="5526532" y="1325563"/>
                </a:cubicBezTo>
                <a:cubicBezTo>
                  <a:pt x="5374152" y="1385134"/>
                  <a:pt x="5382254" y="1306310"/>
                  <a:pt x="5257800" y="1325563"/>
                </a:cubicBezTo>
                <a:cubicBezTo>
                  <a:pt x="5133346" y="1344816"/>
                  <a:pt x="4836155" y="1289227"/>
                  <a:pt x="4463288" y="1325563"/>
                </a:cubicBezTo>
                <a:cubicBezTo>
                  <a:pt x="4090421" y="1361899"/>
                  <a:pt x="4151020" y="1298534"/>
                  <a:pt x="3984244" y="1325563"/>
                </a:cubicBezTo>
                <a:cubicBezTo>
                  <a:pt x="3817468" y="1352592"/>
                  <a:pt x="3572374" y="1304693"/>
                  <a:pt x="3294888" y="1325563"/>
                </a:cubicBezTo>
                <a:cubicBezTo>
                  <a:pt x="3017402" y="1346433"/>
                  <a:pt x="3151456" y="1317654"/>
                  <a:pt x="3026156" y="1325563"/>
                </a:cubicBezTo>
                <a:cubicBezTo>
                  <a:pt x="2900856" y="1333472"/>
                  <a:pt x="2418455" y="1297159"/>
                  <a:pt x="2231644" y="1325563"/>
                </a:cubicBezTo>
                <a:cubicBezTo>
                  <a:pt x="2044833" y="1353967"/>
                  <a:pt x="1940374" y="1306516"/>
                  <a:pt x="1752600" y="1325563"/>
                </a:cubicBezTo>
                <a:cubicBezTo>
                  <a:pt x="1564826" y="1344610"/>
                  <a:pt x="1305095" y="1305552"/>
                  <a:pt x="1168400" y="1325563"/>
                </a:cubicBezTo>
                <a:cubicBezTo>
                  <a:pt x="1031705" y="1345574"/>
                  <a:pt x="927881" y="1303665"/>
                  <a:pt x="794512" y="1325563"/>
                </a:cubicBezTo>
                <a:cubicBezTo>
                  <a:pt x="661143" y="1347461"/>
                  <a:pt x="164008" y="1239848"/>
                  <a:pt x="0" y="1325563"/>
                </a:cubicBezTo>
                <a:cubicBezTo>
                  <a:pt x="-43827" y="1107128"/>
                  <a:pt x="40367" y="1071636"/>
                  <a:pt x="0" y="857197"/>
                </a:cubicBezTo>
                <a:cubicBezTo>
                  <a:pt x="-40367" y="642758"/>
                  <a:pt x="24937" y="567712"/>
                  <a:pt x="0" y="415343"/>
                </a:cubicBezTo>
                <a:cubicBezTo>
                  <a:pt x="-24937" y="262974"/>
                  <a:pt x="39094" y="119383"/>
                  <a:pt x="0" y="0"/>
                </a:cubicBezTo>
                <a:close/>
              </a:path>
              <a:path w="10515600" h="1325563" stroke="0" extrusionOk="0">
                <a:moveTo>
                  <a:pt x="0" y="0"/>
                </a:moveTo>
                <a:cubicBezTo>
                  <a:pt x="117769" y="-54612"/>
                  <a:pt x="363642" y="16397"/>
                  <a:pt x="479044" y="0"/>
                </a:cubicBezTo>
                <a:cubicBezTo>
                  <a:pt x="594446" y="-16397"/>
                  <a:pt x="677892" y="18700"/>
                  <a:pt x="747776" y="0"/>
                </a:cubicBezTo>
                <a:cubicBezTo>
                  <a:pt x="817660" y="-18700"/>
                  <a:pt x="1147191" y="42425"/>
                  <a:pt x="1542288" y="0"/>
                </a:cubicBezTo>
                <a:cubicBezTo>
                  <a:pt x="1937385" y="-42425"/>
                  <a:pt x="1903667" y="55036"/>
                  <a:pt x="2021332" y="0"/>
                </a:cubicBezTo>
                <a:cubicBezTo>
                  <a:pt x="2138997" y="-55036"/>
                  <a:pt x="2261555" y="30614"/>
                  <a:pt x="2500376" y="0"/>
                </a:cubicBezTo>
                <a:cubicBezTo>
                  <a:pt x="2739197" y="-30614"/>
                  <a:pt x="2992326" y="934"/>
                  <a:pt x="3294888" y="0"/>
                </a:cubicBezTo>
                <a:cubicBezTo>
                  <a:pt x="3597450" y="-934"/>
                  <a:pt x="3536470" y="20588"/>
                  <a:pt x="3668776" y="0"/>
                </a:cubicBezTo>
                <a:cubicBezTo>
                  <a:pt x="3801082" y="-20588"/>
                  <a:pt x="4167052" y="95069"/>
                  <a:pt x="4463288" y="0"/>
                </a:cubicBezTo>
                <a:cubicBezTo>
                  <a:pt x="4759524" y="-95069"/>
                  <a:pt x="4927052" y="44879"/>
                  <a:pt x="5257800" y="0"/>
                </a:cubicBezTo>
                <a:cubicBezTo>
                  <a:pt x="5588548" y="-44879"/>
                  <a:pt x="5635378" y="45685"/>
                  <a:pt x="5842000" y="0"/>
                </a:cubicBezTo>
                <a:cubicBezTo>
                  <a:pt x="6048622" y="-45685"/>
                  <a:pt x="6336244" y="84925"/>
                  <a:pt x="6636512" y="0"/>
                </a:cubicBezTo>
                <a:cubicBezTo>
                  <a:pt x="6936780" y="-84925"/>
                  <a:pt x="6983770" y="37784"/>
                  <a:pt x="7115556" y="0"/>
                </a:cubicBezTo>
                <a:cubicBezTo>
                  <a:pt x="7247342" y="-37784"/>
                  <a:pt x="7473141" y="52757"/>
                  <a:pt x="7594600" y="0"/>
                </a:cubicBezTo>
                <a:cubicBezTo>
                  <a:pt x="7716059" y="-52757"/>
                  <a:pt x="8131150" y="920"/>
                  <a:pt x="8283956" y="0"/>
                </a:cubicBezTo>
                <a:cubicBezTo>
                  <a:pt x="8436762" y="-920"/>
                  <a:pt x="8664826" y="24800"/>
                  <a:pt x="8763000" y="0"/>
                </a:cubicBezTo>
                <a:cubicBezTo>
                  <a:pt x="8861174" y="-24800"/>
                  <a:pt x="9272964" y="43339"/>
                  <a:pt x="9557512" y="0"/>
                </a:cubicBezTo>
                <a:cubicBezTo>
                  <a:pt x="9842060" y="-43339"/>
                  <a:pt x="10044680" y="73864"/>
                  <a:pt x="10515600" y="0"/>
                </a:cubicBezTo>
                <a:cubicBezTo>
                  <a:pt x="10536968" y="118651"/>
                  <a:pt x="10479712" y="227816"/>
                  <a:pt x="10515600" y="441854"/>
                </a:cubicBezTo>
                <a:cubicBezTo>
                  <a:pt x="10551488" y="655892"/>
                  <a:pt x="10487580" y="795649"/>
                  <a:pt x="10515600" y="896964"/>
                </a:cubicBezTo>
                <a:cubicBezTo>
                  <a:pt x="10543620" y="998279"/>
                  <a:pt x="10467886" y="1134345"/>
                  <a:pt x="10515600" y="1325563"/>
                </a:cubicBezTo>
                <a:cubicBezTo>
                  <a:pt x="10386768" y="1345314"/>
                  <a:pt x="10232234" y="1296468"/>
                  <a:pt x="10141712" y="1325563"/>
                </a:cubicBezTo>
                <a:cubicBezTo>
                  <a:pt x="10051190" y="1354658"/>
                  <a:pt x="9821524" y="1272248"/>
                  <a:pt x="9557512" y="1325563"/>
                </a:cubicBezTo>
                <a:cubicBezTo>
                  <a:pt x="9293500" y="1378878"/>
                  <a:pt x="9328409" y="1285987"/>
                  <a:pt x="9183624" y="1325563"/>
                </a:cubicBezTo>
                <a:cubicBezTo>
                  <a:pt x="9038839" y="1365139"/>
                  <a:pt x="8786483" y="1307681"/>
                  <a:pt x="8599424" y="1325563"/>
                </a:cubicBezTo>
                <a:cubicBezTo>
                  <a:pt x="8412365" y="1343445"/>
                  <a:pt x="8414709" y="1295618"/>
                  <a:pt x="8330692" y="1325563"/>
                </a:cubicBezTo>
                <a:cubicBezTo>
                  <a:pt x="8246675" y="1355508"/>
                  <a:pt x="8177963" y="1311461"/>
                  <a:pt x="8061960" y="1325563"/>
                </a:cubicBezTo>
                <a:cubicBezTo>
                  <a:pt x="7945957" y="1339665"/>
                  <a:pt x="7703014" y="1305435"/>
                  <a:pt x="7477760" y="1325563"/>
                </a:cubicBezTo>
                <a:cubicBezTo>
                  <a:pt x="7252506" y="1345691"/>
                  <a:pt x="7252717" y="1303457"/>
                  <a:pt x="7103872" y="1325563"/>
                </a:cubicBezTo>
                <a:cubicBezTo>
                  <a:pt x="6955027" y="1347669"/>
                  <a:pt x="6731082" y="1266922"/>
                  <a:pt x="6414516" y="1325563"/>
                </a:cubicBezTo>
                <a:cubicBezTo>
                  <a:pt x="6097950" y="1384204"/>
                  <a:pt x="6209104" y="1291605"/>
                  <a:pt x="6040628" y="1325563"/>
                </a:cubicBezTo>
                <a:cubicBezTo>
                  <a:pt x="5872152" y="1359521"/>
                  <a:pt x="5612756" y="1250928"/>
                  <a:pt x="5351272" y="1325563"/>
                </a:cubicBezTo>
                <a:cubicBezTo>
                  <a:pt x="5089788" y="1400198"/>
                  <a:pt x="5214554" y="1299028"/>
                  <a:pt x="5082540" y="1325563"/>
                </a:cubicBezTo>
                <a:cubicBezTo>
                  <a:pt x="4950526" y="1352098"/>
                  <a:pt x="4664612" y="1292268"/>
                  <a:pt x="4393184" y="1325563"/>
                </a:cubicBezTo>
                <a:cubicBezTo>
                  <a:pt x="4121756" y="1358858"/>
                  <a:pt x="4202348" y="1294794"/>
                  <a:pt x="4019296" y="1325563"/>
                </a:cubicBezTo>
                <a:cubicBezTo>
                  <a:pt x="3836244" y="1356332"/>
                  <a:pt x="3833682" y="1302544"/>
                  <a:pt x="3750564" y="1325563"/>
                </a:cubicBezTo>
                <a:cubicBezTo>
                  <a:pt x="3667446" y="1348582"/>
                  <a:pt x="3558774" y="1289251"/>
                  <a:pt x="3376676" y="1325563"/>
                </a:cubicBezTo>
                <a:cubicBezTo>
                  <a:pt x="3194578" y="1361875"/>
                  <a:pt x="2934693" y="1260449"/>
                  <a:pt x="2687320" y="1325563"/>
                </a:cubicBezTo>
                <a:cubicBezTo>
                  <a:pt x="2439947" y="1390677"/>
                  <a:pt x="2409273" y="1286072"/>
                  <a:pt x="2313432" y="1325563"/>
                </a:cubicBezTo>
                <a:cubicBezTo>
                  <a:pt x="2217591" y="1365054"/>
                  <a:pt x="2115947" y="1322974"/>
                  <a:pt x="2044700" y="1325563"/>
                </a:cubicBezTo>
                <a:cubicBezTo>
                  <a:pt x="1973453" y="1328152"/>
                  <a:pt x="1746704" y="1313098"/>
                  <a:pt x="1670812" y="1325563"/>
                </a:cubicBezTo>
                <a:cubicBezTo>
                  <a:pt x="1594920" y="1338028"/>
                  <a:pt x="1361608" y="1274437"/>
                  <a:pt x="1191768" y="1325563"/>
                </a:cubicBezTo>
                <a:cubicBezTo>
                  <a:pt x="1021928" y="1376689"/>
                  <a:pt x="747020" y="1259611"/>
                  <a:pt x="607568" y="1325563"/>
                </a:cubicBezTo>
                <a:cubicBezTo>
                  <a:pt x="468116" y="1391515"/>
                  <a:pt x="299108" y="1260064"/>
                  <a:pt x="0" y="1325563"/>
                </a:cubicBezTo>
                <a:cubicBezTo>
                  <a:pt x="-42502" y="1110413"/>
                  <a:pt x="24566" y="1060159"/>
                  <a:pt x="0" y="857197"/>
                </a:cubicBezTo>
                <a:cubicBezTo>
                  <a:pt x="-24566" y="654235"/>
                  <a:pt x="2557" y="605171"/>
                  <a:pt x="0" y="415343"/>
                </a:cubicBezTo>
                <a:cubicBezTo>
                  <a:pt x="-2557" y="225515"/>
                  <a:pt x="15012" y="88770"/>
                  <a:pt x="0" y="0"/>
                </a:cubicBezTo>
                <a:close/>
              </a:path>
            </a:pathLst>
          </a:custGeom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/>
          <a:p>
            <a:pPr algn="ctr"/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Artificial Intelligence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DC42BF9-F42B-B44E-6274-7D58E0FC30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44098"/>
            <a:ext cx="4295243" cy="4351338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54BF63-AA87-E80D-0D46-FD0E0AFA4C14}"/>
              </a:ext>
            </a:extLst>
          </p:cNvPr>
          <p:cNvSpPr txBox="1"/>
          <p:nvPr/>
        </p:nvSpPr>
        <p:spPr>
          <a:xfrm>
            <a:off x="5911273" y="3136612"/>
            <a:ext cx="4331442" cy="58477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sz="3200" dirty="0"/>
              <a:t>Do you think this is AI?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DE731A26-CCE0-BCB3-F034-778F5CDF0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787DF-5007-4D02-AC93-6AE7826DF75B}" type="datetime1">
              <a:rPr lang="en-GB" smtClean="0"/>
              <a:t>20/08/2025</a:t>
            </a:fld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2DE01B6-299F-024B-BA09-BC96D5F29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1885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3C02D-AAE8-FE4C-9AB2-79F064E68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970F5-26D4-8A73-75BA-5DBA99D0A7F0}"/>
              </a:ext>
            </a:extLst>
          </p:cNvPr>
          <p:cNvSpPr>
            <a:spLocks noGrp="1"/>
          </p:cNvSpPr>
          <p:nvPr>
            <p:ph type="title"/>
          </p:nvPr>
        </p:nvSpPr>
        <p:spPr>
          <a:custGeom>
            <a:avLst/>
            <a:gdLst>
              <a:gd name="connsiteX0" fmla="*/ 0 w 10515600"/>
              <a:gd name="connsiteY0" fmla="*/ 0 h 1325563"/>
              <a:gd name="connsiteX1" fmla="*/ 584200 w 10515600"/>
              <a:gd name="connsiteY1" fmla="*/ 0 h 1325563"/>
              <a:gd name="connsiteX2" fmla="*/ 1063244 w 10515600"/>
              <a:gd name="connsiteY2" fmla="*/ 0 h 1325563"/>
              <a:gd name="connsiteX3" fmla="*/ 1542288 w 10515600"/>
              <a:gd name="connsiteY3" fmla="*/ 0 h 1325563"/>
              <a:gd name="connsiteX4" fmla="*/ 2126488 w 10515600"/>
              <a:gd name="connsiteY4" fmla="*/ 0 h 1325563"/>
              <a:gd name="connsiteX5" fmla="*/ 2815844 w 10515600"/>
              <a:gd name="connsiteY5" fmla="*/ 0 h 1325563"/>
              <a:gd name="connsiteX6" fmla="*/ 3505200 w 10515600"/>
              <a:gd name="connsiteY6" fmla="*/ 0 h 1325563"/>
              <a:gd name="connsiteX7" fmla="*/ 4194556 w 10515600"/>
              <a:gd name="connsiteY7" fmla="*/ 0 h 1325563"/>
              <a:gd name="connsiteX8" fmla="*/ 4989068 w 10515600"/>
              <a:gd name="connsiteY8" fmla="*/ 0 h 1325563"/>
              <a:gd name="connsiteX9" fmla="*/ 5573268 w 10515600"/>
              <a:gd name="connsiteY9" fmla="*/ 0 h 1325563"/>
              <a:gd name="connsiteX10" fmla="*/ 6262624 w 10515600"/>
              <a:gd name="connsiteY10" fmla="*/ 0 h 1325563"/>
              <a:gd name="connsiteX11" fmla="*/ 6846824 w 10515600"/>
              <a:gd name="connsiteY11" fmla="*/ 0 h 1325563"/>
              <a:gd name="connsiteX12" fmla="*/ 7431024 w 10515600"/>
              <a:gd name="connsiteY12" fmla="*/ 0 h 1325563"/>
              <a:gd name="connsiteX13" fmla="*/ 8015224 w 10515600"/>
              <a:gd name="connsiteY13" fmla="*/ 0 h 1325563"/>
              <a:gd name="connsiteX14" fmla="*/ 8283956 w 10515600"/>
              <a:gd name="connsiteY14" fmla="*/ 0 h 1325563"/>
              <a:gd name="connsiteX15" fmla="*/ 8973312 w 10515600"/>
              <a:gd name="connsiteY15" fmla="*/ 0 h 1325563"/>
              <a:gd name="connsiteX16" fmla="*/ 9242044 w 10515600"/>
              <a:gd name="connsiteY16" fmla="*/ 0 h 1325563"/>
              <a:gd name="connsiteX17" fmla="*/ 9826244 w 10515600"/>
              <a:gd name="connsiteY17" fmla="*/ 0 h 1325563"/>
              <a:gd name="connsiteX18" fmla="*/ 10515600 w 10515600"/>
              <a:gd name="connsiteY18" fmla="*/ 0 h 1325563"/>
              <a:gd name="connsiteX19" fmla="*/ 10515600 w 10515600"/>
              <a:gd name="connsiteY19" fmla="*/ 468366 h 1325563"/>
              <a:gd name="connsiteX20" fmla="*/ 10515600 w 10515600"/>
              <a:gd name="connsiteY20" fmla="*/ 870453 h 1325563"/>
              <a:gd name="connsiteX21" fmla="*/ 10515600 w 10515600"/>
              <a:gd name="connsiteY21" fmla="*/ 1325563 h 1325563"/>
              <a:gd name="connsiteX22" fmla="*/ 10141712 w 10515600"/>
              <a:gd name="connsiteY22" fmla="*/ 1325563 h 1325563"/>
              <a:gd name="connsiteX23" fmla="*/ 9767824 w 10515600"/>
              <a:gd name="connsiteY23" fmla="*/ 1325563 h 1325563"/>
              <a:gd name="connsiteX24" fmla="*/ 8973312 w 10515600"/>
              <a:gd name="connsiteY24" fmla="*/ 1325563 h 1325563"/>
              <a:gd name="connsiteX25" fmla="*/ 8178800 w 10515600"/>
              <a:gd name="connsiteY25" fmla="*/ 1325563 h 1325563"/>
              <a:gd name="connsiteX26" fmla="*/ 7594600 w 10515600"/>
              <a:gd name="connsiteY26" fmla="*/ 1325563 h 1325563"/>
              <a:gd name="connsiteX27" fmla="*/ 6800088 w 10515600"/>
              <a:gd name="connsiteY27" fmla="*/ 1325563 h 1325563"/>
              <a:gd name="connsiteX28" fmla="*/ 6215888 w 10515600"/>
              <a:gd name="connsiteY28" fmla="*/ 1325563 h 1325563"/>
              <a:gd name="connsiteX29" fmla="*/ 5526532 w 10515600"/>
              <a:gd name="connsiteY29" fmla="*/ 1325563 h 1325563"/>
              <a:gd name="connsiteX30" fmla="*/ 5257800 w 10515600"/>
              <a:gd name="connsiteY30" fmla="*/ 1325563 h 1325563"/>
              <a:gd name="connsiteX31" fmla="*/ 4463288 w 10515600"/>
              <a:gd name="connsiteY31" fmla="*/ 1325563 h 1325563"/>
              <a:gd name="connsiteX32" fmla="*/ 3984244 w 10515600"/>
              <a:gd name="connsiteY32" fmla="*/ 1325563 h 1325563"/>
              <a:gd name="connsiteX33" fmla="*/ 3294888 w 10515600"/>
              <a:gd name="connsiteY33" fmla="*/ 1325563 h 1325563"/>
              <a:gd name="connsiteX34" fmla="*/ 3026156 w 10515600"/>
              <a:gd name="connsiteY34" fmla="*/ 1325563 h 1325563"/>
              <a:gd name="connsiteX35" fmla="*/ 2231644 w 10515600"/>
              <a:gd name="connsiteY35" fmla="*/ 1325563 h 1325563"/>
              <a:gd name="connsiteX36" fmla="*/ 1752600 w 10515600"/>
              <a:gd name="connsiteY36" fmla="*/ 1325563 h 1325563"/>
              <a:gd name="connsiteX37" fmla="*/ 1168400 w 10515600"/>
              <a:gd name="connsiteY37" fmla="*/ 1325563 h 1325563"/>
              <a:gd name="connsiteX38" fmla="*/ 794512 w 10515600"/>
              <a:gd name="connsiteY38" fmla="*/ 1325563 h 1325563"/>
              <a:gd name="connsiteX39" fmla="*/ 0 w 10515600"/>
              <a:gd name="connsiteY39" fmla="*/ 1325563 h 1325563"/>
              <a:gd name="connsiteX40" fmla="*/ 0 w 10515600"/>
              <a:gd name="connsiteY40" fmla="*/ 857197 h 1325563"/>
              <a:gd name="connsiteX41" fmla="*/ 0 w 10515600"/>
              <a:gd name="connsiteY41" fmla="*/ 415343 h 1325563"/>
              <a:gd name="connsiteX42" fmla="*/ 0 w 10515600"/>
              <a:gd name="connsiteY42" fmla="*/ 0 h 132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0515600" h="1325563" fill="none" extrusionOk="0">
                <a:moveTo>
                  <a:pt x="0" y="0"/>
                </a:moveTo>
                <a:cubicBezTo>
                  <a:pt x="199634" y="-51373"/>
                  <a:pt x="446638" y="49318"/>
                  <a:pt x="584200" y="0"/>
                </a:cubicBezTo>
                <a:cubicBezTo>
                  <a:pt x="721762" y="-49318"/>
                  <a:pt x="930663" y="38378"/>
                  <a:pt x="1063244" y="0"/>
                </a:cubicBezTo>
                <a:cubicBezTo>
                  <a:pt x="1195825" y="-38378"/>
                  <a:pt x="1431271" y="30342"/>
                  <a:pt x="1542288" y="0"/>
                </a:cubicBezTo>
                <a:cubicBezTo>
                  <a:pt x="1653305" y="-30342"/>
                  <a:pt x="2002343" y="6432"/>
                  <a:pt x="2126488" y="0"/>
                </a:cubicBezTo>
                <a:cubicBezTo>
                  <a:pt x="2250633" y="-6432"/>
                  <a:pt x="2527769" y="42761"/>
                  <a:pt x="2815844" y="0"/>
                </a:cubicBezTo>
                <a:cubicBezTo>
                  <a:pt x="3103919" y="-42761"/>
                  <a:pt x="3245895" y="80955"/>
                  <a:pt x="3505200" y="0"/>
                </a:cubicBezTo>
                <a:cubicBezTo>
                  <a:pt x="3764505" y="-80955"/>
                  <a:pt x="3973551" y="60894"/>
                  <a:pt x="4194556" y="0"/>
                </a:cubicBezTo>
                <a:cubicBezTo>
                  <a:pt x="4415561" y="-60894"/>
                  <a:pt x="4634215" y="38307"/>
                  <a:pt x="4989068" y="0"/>
                </a:cubicBezTo>
                <a:cubicBezTo>
                  <a:pt x="5343921" y="-38307"/>
                  <a:pt x="5366694" y="14017"/>
                  <a:pt x="5573268" y="0"/>
                </a:cubicBezTo>
                <a:cubicBezTo>
                  <a:pt x="5779842" y="-14017"/>
                  <a:pt x="5981864" y="46115"/>
                  <a:pt x="6262624" y="0"/>
                </a:cubicBezTo>
                <a:cubicBezTo>
                  <a:pt x="6543384" y="-46115"/>
                  <a:pt x="6606752" y="68194"/>
                  <a:pt x="6846824" y="0"/>
                </a:cubicBezTo>
                <a:cubicBezTo>
                  <a:pt x="7086896" y="-68194"/>
                  <a:pt x="7217835" y="65291"/>
                  <a:pt x="7431024" y="0"/>
                </a:cubicBezTo>
                <a:cubicBezTo>
                  <a:pt x="7644213" y="-65291"/>
                  <a:pt x="7879463" y="31774"/>
                  <a:pt x="8015224" y="0"/>
                </a:cubicBezTo>
                <a:cubicBezTo>
                  <a:pt x="8150985" y="-31774"/>
                  <a:pt x="8212154" y="4755"/>
                  <a:pt x="8283956" y="0"/>
                </a:cubicBezTo>
                <a:cubicBezTo>
                  <a:pt x="8355758" y="-4755"/>
                  <a:pt x="8826519" y="17716"/>
                  <a:pt x="8973312" y="0"/>
                </a:cubicBezTo>
                <a:cubicBezTo>
                  <a:pt x="9120105" y="-17716"/>
                  <a:pt x="9173478" y="9199"/>
                  <a:pt x="9242044" y="0"/>
                </a:cubicBezTo>
                <a:cubicBezTo>
                  <a:pt x="9310610" y="-9199"/>
                  <a:pt x="9591506" y="8584"/>
                  <a:pt x="9826244" y="0"/>
                </a:cubicBezTo>
                <a:cubicBezTo>
                  <a:pt x="10060982" y="-8584"/>
                  <a:pt x="10201720" y="53859"/>
                  <a:pt x="10515600" y="0"/>
                </a:cubicBezTo>
                <a:cubicBezTo>
                  <a:pt x="10528818" y="97495"/>
                  <a:pt x="10505274" y="259415"/>
                  <a:pt x="10515600" y="468366"/>
                </a:cubicBezTo>
                <a:cubicBezTo>
                  <a:pt x="10525926" y="677317"/>
                  <a:pt x="10508682" y="677626"/>
                  <a:pt x="10515600" y="870453"/>
                </a:cubicBezTo>
                <a:cubicBezTo>
                  <a:pt x="10522518" y="1063280"/>
                  <a:pt x="10510955" y="1218240"/>
                  <a:pt x="10515600" y="1325563"/>
                </a:cubicBezTo>
                <a:cubicBezTo>
                  <a:pt x="10340140" y="1355842"/>
                  <a:pt x="10274695" y="1293885"/>
                  <a:pt x="10141712" y="1325563"/>
                </a:cubicBezTo>
                <a:cubicBezTo>
                  <a:pt x="10008729" y="1357241"/>
                  <a:pt x="9902744" y="1312872"/>
                  <a:pt x="9767824" y="1325563"/>
                </a:cubicBezTo>
                <a:cubicBezTo>
                  <a:pt x="9632904" y="1338254"/>
                  <a:pt x="9328068" y="1240126"/>
                  <a:pt x="8973312" y="1325563"/>
                </a:cubicBezTo>
                <a:cubicBezTo>
                  <a:pt x="8618556" y="1411000"/>
                  <a:pt x="8531308" y="1259411"/>
                  <a:pt x="8178800" y="1325563"/>
                </a:cubicBezTo>
                <a:cubicBezTo>
                  <a:pt x="7826292" y="1391715"/>
                  <a:pt x="7713557" y="1282190"/>
                  <a:pt x="7594600" y="1325563"/>
                </a:cubicBezTo>
                <a:cubicBezTo>
                  <a:pt x="7475643" y="1368936"/>
                  <a:pt x="7009492" y="1305285"/>
                  <a:pt x="6800088" y="1325563"/>
                </a:cubicBezTo>
                <a:cubicBezTo>
                  <a:pt x="6590684" y="1345841"/>
                  <a:pt x="6389801" y="1260904"/>
                  <a:pt x="6215888" y="1325563"/>
                </a:cubicBezTo>
                <a:cubicBezTo>
                  <a:pt x="6041975" y="1390222"/>
                  <a:pt x="5678912" y="1265992"/>
                  <a:pt x="5526532" y="1325563"/>
                </a:cubicBezTo>
                <a:cubicBezTo>
                  <a:pt x="5374152" y="1385134"/>
                  <a:pt x="5382254" y="1306310"/>
                  <a:pt x="5257800" y="1325563"/>
                </a:cubicBezTo>
                <a:cubicBezTo>
                  <a:pt x="5133346" y="1344816"/>
                  <a:pt x="4836155" y="1289227"/>
                  <a:pt x="4463288" y="1325563"/>
                </a:cubicBezTo>
                <a:cubicBezTo>
                  <a:pt x="4090421" y="1361899"/>
                  <a:pt x="4151020" y="1298534"/>
                  <a:pt x="3984244" y="1325563"/>
                </a:cubicBezTo>
                <a:cubicBezTo>
                  <a:pt x="3817468" y="1352592"/>
                  <a:pt x="3572374" y="1304693"/>
                  <a:pt x="3294888" y="1325563"/>
                </a:cubicBezTo>
                <a:cubicBezTo>
                  <a:pt x="3017402" y="1346433"/>
                  <a:pt x="3151456" y="1317654"/>
                  <a:pt x="3026156" y="1325563"/>
                </a:cubicBezTo>
                <a:cubicBezTo>
                  <a:pt x="2900856" y="1333472"/>
                  <a:pt x="2418455" y="1297159"/>
                  <a:pt x="2231644" y="1325563"/>
                </a:cubicBezTo>
                <a:cubicBezTo>
                  <a:pt x="2044833" y="1353967"/>
                  <a:pt x="1940374" y="1306516"/>
                  <a:pt x="1752600" y="1325563"/>
                </a:cubicBezTo>
                <a:cubicBezTo>
                  <a:pt x="1564826" y="1344610"/>
                  <a:pt x="1305095" y="1305552"/>
                  <a:pt x="1168400" y="1325563"/>
                </a:cubicBezTo>
                <a:cubicBezTo>
                  <a:pt x="1031705" y="1345574"/>
                  <a:pt x="927881" y="1303665"/>
                  <a:pt x="794512" y="1325563"/>
                </a:cubicBezTo>
                <a:cubicBezTo>
                  <a:pt x="661143" y="1347461"/>
                  <a:pt x="164008" y="1239848"/>
                  <a:pt x="0" y="1325563"/>
                </a:cubicBezTo>
                <a:cubicBezTo>
                  <a:pt x="-43827" y="1107128"/>
                  <a:pt x="40367" y="1071636"/>
                  <a:pt x="0" y="857197"/>
                </a:cubicBezTo>
                <a:cubicBezTo>
                  <a:pt x="-40367" y="642758"/>
                  <a:pt x="24937" y="567712"/>
                  <a:pt x="0" y="415343"/>
                </a:cubicBezTo>
                <a:cubicBezTo>
                  <a:pt x="-24937" y="262974"/>
                  <a:pt x="39094" y="119383"/>
                  <a:pt x="0" y="0"/>
                </a:cubicBezTo>
                <a:close/>
              </a:path>
              <a:path w="10515600" h="1325563" stroke="0" extrusionOk="0">
                <a:moveTo>
                  <a:pt x="0" y="0"/>
                </a:moveTo>
                <a:cubicBezTo>
                  <a:pt x="117769" y="-54612"/>
                  <a:pt x="363642" y="16397"/>
                  <a:pt x="479044" y="0"/>
                </a:cubicBezTo>
                <a:cubicBezTo>
                  <a:pt x="594446" y="-16397"/>
                  <a:pt x="677892" y="18700"/>
                  <a:pt x="747776" y="0"/>
                </a:cubicBezTo>
                <a:cubicBezTo>
                  <a:pt x="817660" y="-18700"/>
                  <a:pt x="1147191" y="42425"/>
                  <a:pt x="1542288" y="0"/>
                </a:cubicBezTo>
                <a:cubicBezTo>
                  <a:pt x="1937385" y="-42425"/>
                  <a:pt x="1903667" y="55036"/>
                  <a:pt x="2021332" y="0"/>
                </a:cubicBezTo>
                <a:cubicBezTo>
                  <a:pt x="2138997" y="-55036"/>
                  <a:pt x="2261555" y="30614"/>
                  <a:pt x="2500376" y="0"/>
                </a:cubicBezTo>
                <a:cubicBezTo>
                  <a:pt x="2739197" y="-30614"/>
                  <a:pt x="2992326" y="934"/>
                  <a:pt x="3294888" y="0"/>
                </a:cubicBezTo>
                <a:cubicBezTo>
                  <a:pt x="3597450" y="-934"/>
                  <a:pt x="3536470" y="20588"/>
                  <a:pt x="3668776" y="0"/>
                </a:cubicBezTo>
                <a:cubicBezTo>
                  <a:pt x="3801082" y="-20588"/>
                  <a:pt x="4167052" y="95069"/>
                  <a:pt x="4463288" y="0"/>
                </a:cubicBezTo>
                <a:cubicBezTo>
                  <a:pt x="4759524" y="-95069"/>
                  <a:pt x="4927052" y="44879"/>
                  <a:pt x="5257800" y="0"/>
                </a:cubicBezTo>
                <a:cubicBezTo>
                  <a:pt x="5588548" y="-44879"/>
                  <a:pt x="5635378" y="45685"/>
                  <a:pt x="5842000" y="0"/>
                </a:cubicBezTo>
                <a:cubicBezTo>
                  <a:pt x="6048622" y="-45685"/>
                  <a:pt x="6336244" y="84925"/>
                  <a:pt x="6636512" y="0"/>
                </a:cubicBezTo>
                <a:cubicBezTo>
                  <a:pt x="6936780" y="-84925"/>
                  <a:pt x="6983770" y="37784"/>
                  <a:pt x="7115556" y="0"/>
                </a:cubicBezTo>
                <a:cubicBezTo>
                  <a:pt x="7247342" y="-37784"/>
                  <a:pt x="7473141" y="52757"/>
                  <a:pt x="7594600" y="0"/>
                </a:cubicBezTo>
                <a:cubicBezTo>
                  <a:pt x="7716059" y="-52757"/>
                  <a:pt x="8131150" y="920"/>
                  <a:pt x="8283956" y="0"/>
                </a:cubicBezTo>
                <a:cubicBezTo>
                  <a:pt x="8436762" y="-920"/>
                  <a:pt x="8664826" y="24800"/>
                  <a:pt x="8763000" y="0"/>
                </a:cubicBezTo>
                <a:cubicBezTo>
                  <a:pt x="8861174" y="-24800"/>
                  <a:pt x="9272964" y="43339"/>
                  <a:pt x="9557512" y="0"/>
                </a:cubicBezTo>
                <a:cubicBezTo>
                  <a:pt x="9842060" y="-43339"/>
                  <a:pt x="10044680" y="73864"/>
                  <a:pt x="10515600" y="0"/>
                </a:cubicBezTo>
                <a:cubicBezTo>
                  <a:pt x="10536968" y="118651"/>
                  <a:pt x="10479712" y="227816"/>
                  <a:pt x="10515600" y="441854"/>
                </a:cubicBezTo>
                <a:cubicBezTo>
                  <a:pt x="10551488" y="655892"/>
                  <a:pt x="10487580" y="795649"/>
                  <a:pt x="10515600" y="896964"/>
                </a:cubicBezTo>
                <a:cubicBezTo>
                  <a:pt x="10543620" y="998279"/>
                  <a:pt x="10467886" y="1134345"/>
                  <a:pt x="10515600" y="1325563"/>
                </a:cubicBezTo>
                <a:cubicBezTo>
                  <a:pt x="10386768" y="1345314"/>
                  <a:pt x="10232234" y="1296468"/>
                  <a:pt x="10141712" y="1325563"/>
                </a:cubicBezTo>
                <a:cubicBezTo>
                  <a:pt x="10051190" y="1354658"/>
                  <a:pt x="9821524" y="1272248"/>
                  <a:pt x="9557512" y="1325563"/>
                </a:cubicBezTo>
                <a:cubicBezTo>
                  <a:pt x="9293500" y="1378878"/>
                  <a:pt x="9328409" y="1285987"/>
                  <a:pt x="9183624" y="1325563"/>
                </a:cubicBezTo>
                <a:cubicBezTo>
                  <a:pt x="9038839" y="1365139"/>
                  <a:pt x="8786483" y="1307681"/>
                  <a:pt x="8599424" y="1325563"/>
                </a:cubicBezTo>
                <a:cubicBezTo>
                  <a:pt x="8412365" y="1343445"/>
                  <a:pt x="8414709" y="1295618"/>
                  <a:pt x="8330692" y="1325563"/>
                </a:cubicBezTo>
                <a:cubicBezTo>
                  <a:pt x="8246675" y="1355508"/>
                  <a:pt x="8177963" y="1311461"/>
                  <a:pt x="8061960" y="1325563"/>
                </a:cubicBezTo>
                <a:cubicBezTo>
                  <a:pt x="7945957" y="1339665"/>
                  <a:pt x="7703014" y="1305435"/>
                  <a:pt x="7477760" y="1325563"/>
                </a:cubicBezTo>
                <a:cubicBezTo>
                  <a:pt x="7252506" y="1345691"/>
                  <a:pt x="7252717" y="1303457"/>
                  <a:pt x="7103872" y="1325563"/>
                </a:cubicBezTo>
                <a:cubicBezTo>
                  <a:pt x="6955027" y="1347669"/>
                  <a:pt x="6731082" y="1266922"/>
                  <a:pt x="6414516" y="1325563"/>
                </a:cubicBezTo>
                <a:cubicBezTo>
                  <a:pt x="6097950" y="1384204"/>
                  <a:pt x="6209104" y="1291605"/>
                  <a:pt x="6040628" y="1325563"/>
                </a:cubicBezTo>
                <a:cubicBezTo>
                  <a:pt x="5872152" y="1359521"/>
                  <a:pt x="5612756" y="1250928"/>
                  <a:pt x="5351272" y="1325563"/>
                </a:cubicBezTo>
                <a:cubicBezTo>
                  <a:pt x="5089788" y="1400198"/>
                  <a:pt x="5214554" y="1299028"/>
                  <a:pt x="5082540" y="1325563"/>
                </a:cubicBezTo>
                <a:cubicBezTo>
                  <a:pt x="4950526" y="1352098"/>
                  <a:pt x="4664612" y="1292268"/>
                  <a:pt x="4393184" y="1325563"/>
                </a:cubicBezTo>
                <a:cubicBezTo>
                  <a:pt x="4121756" y="1358858"/>
                  <a:pt x="4202348" y="1294794"/>
                  <a:pt x="4019296" y="1325563"/>
                </a:cubicBezTo>
                <a:cubicBezTo>
                  <a:pt x="3836244" y="1356332"/>
                  <a:pt x="3833682" y="1302544"/>
                  <a:pt x="3750564" y="1325563"/>
                </a:cubicBezTo>
                <a:cubicBezTo>
                  <a:pt x="3667446" y="1348582"/>
                  <a:pt x="3558774" y="1289251"/>
                  <a:pt x="3376676" y="1325563"/>
                </a:cubicBezTo>
                <a:cubicBezTo>
                  <a:pt x="3194578" y="1361875"/>
                  <a:pt x="2934693" y="1260449"/>
                  <a:pt x="2687320" y="1325563"/>
                </a:cubicBezTo>
                <a:cubicBezTo>
                  <a:pt x="2439947" y="1390677"/>
                  <a:pt x="2409273" y="1286072"/>
                  <a:pt x="2313432" y="1325563"/>
                </a:cubicBezTo>
                <a:cubicBezTo>
                  <a:pt x="2217591" y="1365054"/>
                  <a:pt x="2115947" y="1322974"/>
                  <a:pt x="2044700" y="1325563"/>
                </a:cubicBezTo>
                <a:cubicBezTo>
                  <a:pt x="1973453" y="1328152"/>
                  <a:pt x="1746704" y="1313098"/>
                  <a:pt x="1670812" y="1325563"/>
                </a:cubicBezTo>
                <a:cubicBezTo>
                  <a:pt x="1594920" y="1338028"/>
                  <a:pt x="1361608" y="1274437"/>
                  <a:pt x="1191768" y="1325563"/>
                </a:cubicBezTo>
                <a:cubicBezTo>
                  <a:pt x="1021928" y="1376689"/>
                  <a:pt x="747020" y="1259611"/>
                  <a:pt x="607568" y="1325563"/>
                </a:cubicBezTo>
                <a:cubicBezTo>
                  <a:pt x="468116" y="1391515"/>
                  <a:pt x="299108" y="1260064"/>
                  <a:pt x="0" y="1325563"/>
                </a:cubicBezTo>
                <a:cubicBezTo>
                  <a:pt x="-42502" y="1110413"/>
                  <a:pt x="24566" y="1060159"/>
                  <a:pt x="0" y="857197"/>
                </a:cubicBezTo>
                <a:cubicBezTo>
                  <a:pt x="-24566" y="654235"/>
                  <a:pt x="2557" y="605171"/>
                  <a:pt x="0" y="415343"/>
                </a:cubicBezTo>
                <a:cubicBezTo>
                  <a:pt x="-2557" y="225515"/>
                  <a:pt x="15012" y="88770"/>
                  <a:pt x="0" y="0"/>
                </a:cubicBezTo>
                <a:close/>
              </a:path>
            </a:pathLst>
          </a:custGeom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Scribble/>
                  </ask:type>
                </ask:lineSketchStyleProps>
              </a:ext>
            </a:extLst>
          </a:ln>
        </p:spPr>
        <p:txBody>
          <a:bodyPr/>
          <a:lstStyle/>
          <a:p>
            <a:pPr algn="ctr"/>
            <a:r>
              <a:rPr lang="en-GB" dirty="0">
                <a:latin typeface="Verdana" panose="020B0604030504040204" pitchFamily="34" charset="0"/>
                <a:ea typeface="Verdana" panose="020B0604030504040204" pitchFamily="34" charset="0"/>
              </a:rPr>
              <a:t>Searching in AI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047255-E264-8705-81B8-551C90CE0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dirty="0"/>
              <a:t>AI is all about searching.</a:t>
            </a:r>
          </a:p>
          <a:p>
            <a:pPr marL="0" indent="0" algn="ctr">
              <a:buNone/>
            </a:pPr>
            <a:r>
              <a:rPr lang="en-GB" dirty="0"/>
              <a:t>Searching for a solution of a given problem.</a:t>
            </a:r>
          </a:p>
          <a:p>
            <a:pPr marL="0" indent="0" algn="ctr">
              <a:buNone/>
            </a:pPr>
            <a:r>
              <a:rPr lang="en-GB" dirty="0"/>
              <a:t>Or</a:t>
            </a:r>
          </a:p>
          <a:p>
            <a:pPr marL="0" indent="0" algn="ctr">
              <a:buNone/>
            </a:pPr>
            <a:r>
              <a:rPr lang="en-GB" dirty="0"/>
              <a:t>Searching for the steps to complete a task.</a:t>
            </a:r>
          </a:p>
          <a:p>
            <a:pPr marL="0" indent="0" algn="ctr">
              <a:buNone/>
            </a:pPr>
            <a:endParaRPr lang="en-GB" dirty="0"/>
          </a:p>
          <a:p>
            <a:pPr>
              <a:buFontTx/>
              <a:buChar char="-"/>
            </a:pPr>
            <a:r>
              <a:rPr lang="en-GB" dirty="0"/>
              <a:t>Search for direction to reach a destination.</a:t>
            </a:r>
          </a:p>
          <a:p>
            <a:pPr>
              <a:buFontTx/>
              <a:buChar char="-"/>
            </a:pPr>
            <a:r>
              <a:rPr lang="en-GB" dirty="0"/>
              <a:t>Search for an answer when asked in LLM(ChatGPT).</a:t>
            </a:r>
          </a:p>
          <a:p>
            <a:pPr>
              <a:buFontTx/>
              <a:buChar char="-"/>
            </a:pPr>
            <a:r>
              <a:rPr lang="en-GB" dirty="0"/>
              <a:t>Search for the next step in chess to win the game.</a:t>
            </a:r>
          </a:p>
          <a:p>
            <a:pPr marL="0" indent="0" algn="ctr">
              <a:buNone/>
            </a:pP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1AA13-0253-E4D5-05C8-F9FC3053D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FB3C3-F4C7-41C2-99B5-865874A92B91}" type="datetime1">
              <a:rPr lang="en-GB" smtClean="0"/>
              <a:t>20/08/2025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A324C-B8EE-CFC4-E374-95CB9CCEF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8895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D995B-9EA1-F88A-E0DA-61DCA8E26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A4855-AF6F-EE0B-DA70-BBF2B11EF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2239" y="1946084"/>
            <a:ext cx="6827520" cy="1649095"/>
          </a:xfrm>
        </p:spPr>
        <p:txBody>
          <a:bodyPr/>
          <a:lstStyle/>
          <a:p>
            <a:pPr marL="0" indent="0" algn="ctr">
              <a:buNone/>
            </a:pPr>
            <a:r>
              <a:rPr lang="en-GB" u="sng" dirty="0"/>
              <a:t>Agent</a:t>
            </a:r>
          </a:p>
          <a:p>
            <a:pPr marL="0" indent="0" algn="ctr">
              <a:buNone/>
            </a:pPr>
            <a:r>
              <a:rPr lang="en-GB" dirty="0"/>
              <a:t>An entity that perceives its environment and acts upon that environment.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FDBCEB-E62A-FD5A-08D8-5A3A23EAECC2}"/>
              </a:ext>
            </a:extLst>
          </p:cNvPr>
          <p:cNvSpPr txBox="1"/>
          <p:nvPr/>
        </p:nvSpPr>
        <p:spPr>
          <a:xfrm>
            <a:off x="4790566" y="3850575"/>
            <a:ext cx="30578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GB" sz="2400" dirty="0"/>
              <a:t>A robot?</a:t>
            </a:r>
          </a:p>
          <a:p>
            <a:pPr marL="285750" indent="-285750">
              <a:buFontTx/>
              <a:buChar char="-"/>
            </a:pPr>
            <a:r>
              <a:rPr lang="en-GB" sz="2400" dirty="0"/>
              <a:t>A car?</a:t>
            </a:r>
          </a:p>
          <a:p>
            <a:pPr marL="285750" indent="-285750">
              <a:buFontTx/>
              <a:buChar char="-"/>
            </a:pPr>
            <a:r>
              <a:rPr lang="en-GB" sz="2400" dirty="0"/>
              <a:t>A human?</a:t>
            </a:r>
          </a:p>
          <a:p>
            <a:pPr marL="285750" indent="-285750">
              <a:buFontTx/>
              <a:buChar char="-"/>
            </a:pPr>
            <a:r>
              <a:rPr lang="en-GB" sz="2400" dirty="0"/>
              <a:t>A game character?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0DAD6E-48D0-1DFF-1A07-72F4AB702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9457A-9629-4B01-8495-69E582C093E5}" type="datetime1">
              <a:rPr lang="en-GB" smtClean="0"/>
              <a:t>20/08/2025</a:t>
            </a:fld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B6B7AFE-C703-87CA-06CC-20CD4307E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6446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2C567-0A2C-0356-16F8-70E727E9C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8D3A2-427C-3F57-7130-517E11AC3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u="sng" dirty="0"/>
              <a:t>State</a:t>
            </a:r>
          </a:p>
          <a:p>
            <a:pPr marL="0" indent="0" algn="ctr">
              <a:buNone/>
            </a:pPr>
            <a:r>
              <a:rPr lang="en-GB" dirty="0"/>
              <a:t>A state is a specific configuration of the agent and its environment at a given time.</a:t>
            </a:r>
            <a:endParaRPr lang="en-GB" u="sn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41C49C-0A31-A2E5-4D64-EA79FF4F8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528" y="3423102"/>
            <a:ext cx="3044952" cy="30820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7E7608-F0D3-4146-9BE6-40FBC1260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191" y="3423102"/>
            <a:ext cx="3074623" cy="30820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442CC87-9FB9-D45B-643E-2B47DEB22C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0525" y="3415602"/>
            <a:ext cx="3074623" cy="3089585"/>
          </a:xfrm>
          <a:prstGeom prst="rect">
            <a:avLst/>
          </a:prstGeom>
        </p:spPr>
      </p:pic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C8877AD-5552-8646-1ECF-5407E8401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1DAF6-F370-4AC3-915C-8E4034A7FACA}" type="datetime1">
              <a:rPr lang="en-GB" smtClean="0"/>
              <a:t>20/08/2025</a:t>
            </a:fld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4871660-B356-5700-F258-C35CABE79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3026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8317A-1286-3FF2-C065-179128E83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3F6F1-E6F9-E85F-AB3B-1A6046926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u="sng" dirty="0"/>
              <a:t>Initial State</a:t>
            </a:r>
          </a:p>
          <a:p>
            <a:pPr marL="0" indent="0" algn="ctr">
              <a:buNone/>
            </a:pPr>
            <a:r>
              <a:rPr lang="en-GB" dirty="0"/>
              <a:t>The state in which the agent begins.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263B03-739E-0590-9266-41FBFF2E1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275" y="2823110"/>
            <a:ext cx="3321449" cy="3353853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C20402A-8C25-281A-0653-F5FFE24D3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70951-AE6F-4AA5-A06E-A61578813E0B}" type="datetime1">
              <a:rPr lang="en-GB" smtClean="0"/>
              <a:t>20/08/2025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860C9-226C-5212-ACFF-B43C3D856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2363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DFD7E-0B20-50C1-6992-32DD55A3B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02FCA-A1F2-7FFA-00D9-0A5A6367C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u="sng" dirty="0"/>
              <a:t>Actions</a:t>
            </a:r>
          </a:p>
          <a:p>
            <a:pPr marL="0" indent="0" algn="ctr">
              <a:buNone/>
            </a:pPr>
            <a:r>
              <a:rPr lang="en-GB" dirty="0"/>
              <a:t>Choices that can be made in a state.</a:t>
            </a:r>
          </a:p>
          <a:p>
            <a:pPr algn="ctr">
              <a:buFontTx/>
              <a:buChar char="-"/>
            </a:pPr>
            <a:r>
              <a:rPr lang="en-GB" dirty="0"/>
              <a:t>20 possible moves in the first move of a chess game.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u="sng" dirty="0"/>
              <a:t>ACTIONS(s)</a:t>
            </a:r>
          </a:p>
          <a:p>
            <a:pPr marL="0" indent="0" algn="ctr">
              <a:buNone/>
            </a:pPr>
            <a:r>
              <a:rPr lang="en-GB" dirty="0"/>
              <a:t>A function that returns the set of actions that can be executed in state 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C70F9-8F0F-3131-C951-555231DAE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A5FB3-BCBE-43CD-9329-82712410BD12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24DC57-D67C-4087-A055-F27DA18FC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649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C9F82-53A4-9386-EE73-22C5D0D2B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FB0D-EC7B-2C63-3FF0-A22CC5F34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u="sng" dirty="0"/>
              <a:t>Transition Model</a:t>
            </a:r>
          </a:p>
          <a:p>
            <a:pPr marL="0" indent="0" algn="ctr">
              <a:buNone/>
            </a:pPr>
            <a:r>
              <a:rPr lang="en-GB" sz="2400" dirty="0"/>
              <a:t>A description of what state results from performing any applicable action in any given state.</a:t>
            </a:r>
          </a:p>
          <a:p>
            <a:pPr marL="0" indent="0" algn="ctr">
              <a:buNone/>
            </a:pPr>
            <a:r>
              <a:rPr lang="en-GB" sz="2400" u="sng" dirty="0"/>
              <a:t>RESULT(</a:t>
            </a:r>
            <a:r>
              <a:rPr lang="en-GB" sz="2400" u="sng" dirty="0" err="1"/>
              <a:t>s,a</a:t>
            </a:r>
            <a:r>
              <a:rPr lang="en-GB" sz="2400" u="sng" dirty="0"/>
              <a:t>)</a:t>
            </a:r>
          </a:p>
          <a:p>
            <a:pPr marL="0" indent="0" algn="ctr">
              <a:buNone/>
            </a:pPr>
            <a:r>
              <a:rPr lang="en-GB" sz="2400" dirty="0"/>
              <a:t>A function that returns the state resulting from performing action a in state 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60A0E3-163D-D40E-A9F5-BF5A7CFDB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146" y="4001294"/>
            <a:ext cx="2630370" cy="26177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D3A4EC-4346-D538-7EDC-40FE11C67244}"/>
              </a:ext>
            </a:extLst>
          </p:cNvPr>
          <p:cNvSpPr txBox="1"/>
          <p:nvPr/>
        </p:nvSpPr>
        <p:spPr>
          <a:xfrm>
            <a:off x="1010675" y="4940824"/>
            <a:ext cx="5226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   RESULT(                                            , ‘c2c3’) =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455376-7D64-063B-E051-097F5C384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072" y="3996820"/>
            <a:ext cx="2573569" cy="2617724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99C666B-310A-30FF-67EC-5323BF2F4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9019A-9525-4ED9-B8ED-959877D5F58E}" type="datetime1">
              <a:rPr lang="en-GB" smtClean="0"/>
              <a:t>20/08/2025</a:t>
            </a:fld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67AB36-A9DF-FE52-6D37-6E1492604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6917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281B1-1BA1-C5C4-EC61-F690EB91F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FA6C9-89E2-9885-DBAB-600A0FD31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u="sng" dirty="0"/>
              <a:t>State Space</a:t>
            </a:r>
          </a:p>
          <a:p>
            <a:pPr marL="0" indent="0" algn="ctr">
              <a:buNone/>
            </a:pPr>
            <a:r>
              <a:rPr lang="en-GB" dirty="0"/>
              <a:t>The set of all states reachable from the initial state by any sequence of action.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C95DB-3F79-C6D9-5E22-7F9BB3C2F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AD681-5019-441A-A7DB-9FF15E17C22E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333401-5034-270B-B596-4343B92E7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1314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FC433-DFC2-CD65-B48C-26D4A3539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88B08-A593-00EB-3636-FFED14BC4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DF6FD-5114-DF86-5C8F-9624449C9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u="sng" dirty="0"/>
              <a:t>State Space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95EAFE-5FB5-4DE3-DEB7-04A012274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1" y="2253752"/>
            <a:ext cx="5879269" cy="442031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B697DAF-A920-EC3F-3473-1BE4179F5A37}"/>
                  </a:ext>
                </a:extLst>
              </p14:cNvPr>
              <p14:cNvContentPartPr/>
              <p14:nvPr/>
            </p14:nvContentPartPr>
            <p14:xfrm>
              <a:off x="3886848" y="4626216"/>
              <a:ext cx="233640" cy="28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B697DAF-A920-EC3F-3473-1BE4179F5A3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24208" y="4563576"/>
                <a:ext cx="35928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FBA3D05-E31D-E555-AA0E-16AA7C6692C8}"/>
                  </a:ext>
                </a:extLst>
              </p14:cNvPr>
              <p14:cNvContentPartPr/>
              <p14:nvPr/>
            </p14:nvContentPartPr>
            <p14:xfrm>
              <a:off x="4932648" y="5723856"/>
              <a:ext cx="137880" cy="9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FBA3D05-E31D-E555-AA0E-16AA7C6692C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69648" y="5660856"/>
                <a:ext cx="263520" cy="13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B7ECA9E4-08D1-FC20-1F89-E9BE61094FF3}"/>
              </a:ext>
            </a:extLst>
          </p:cNvPr>
          <p:cNvGrpSpPr/>
          <p:nvPr/>
        </p:nvGrpSpPr>
        <p:grpSpPr>
          <a:xfrm>
            <a:off x="4933728" y="5559336"/>
            <a:ext cx="95760" cy="24480"/>
            <a:chOff x="4933728" y="5559336"/>
            <a:chExt cx="95760" cy="2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EE2881B-3486-B66D-7C7F-3E530A715348}"/>
                    </a:ext>
                  </a:extLst>
                </p14:cNvPr>
                <p14:cNvContentPartPr/>
                <p14:nvPr/>
              </p14:nvContentPartPr>
              <p14:xfrm>
                <a:off x="5029128" y="5559336"/>
                <a:ext cx="3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EE2881B-3486-B66D-7C7F-3E530A71534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966128" y="5496696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CADDD40-37C7-9500-F555-CA2BA4976684}"/>
                    </a:ext>
                  </a:extLst>
                </p14:cNvPr>
                <p14:cNvContentPartPr/>
                <p14:nvPr/>
              </p14:nvContentPartPr>
              <p14:xfrm>
                <a:off x="4933728" y="5559336"/>
                <a:ext cx="95760" cy="24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CADDD40-37C7-9500-F555-CA2BA497668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870728" y="5496696"/>
                  <a:ext cx="221400" cy="15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26B0425-716E-0F4A-5726-DF04A95B61DE}"/>
                  </a:ext>
                </a:extLst>
              </p14:cNvPr>
              <p14:cNvContentPartPr/>
              <p14:nvPr/>
            </p14:nvContentPartPr>
            <p14:xfrm>
              <a:off x="5797008" y="6592536"/>
              <a:ext cx="26604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26B0425-716E-0F4A-5726-DF04A95B61D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734008" y="6529536"/>
                <a:ext cx="39168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B64887D-0780-0DD6-DDE6-CDC36012CE57}"/>
                  </a:ext>
                </a:extLst>
              </p14:cNvPr>
              <p14:cNvContentPartPr/>
              <p14:nvPr/>
            </p14:nvContentPartPr>
            <p14:xfrm>
              <a:off x="7900488" y="6574536"/>
              <a:ext cx="238320" cy="19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B64887D-0780-0DD6-DDE6-CDC36012CE5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837488" y="6511536"/>
                <a:ext cx="36396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6CAC6F8-9A91-DCAE-7831-DF9566F7033F}"/>
                  </a:ext>
                </a:extLst>
              </p14:cNvPr>
              <p14:cNvContentPartPr/>
              <p14:nvPr/>
            </p14:nvContentPartPr>
            <p14:xfrm>
              <a:off x="7031448" y="5696496"/>
              <a:ext cx="222120" cy="259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6CAC6F8-9A91-DCAE-7831-DF9566F7033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968808" y="5633496"/>
                <a:ext cx="347760" cy="151560"/>
              </a:xfrm>
              <a:prstGeom prst="rect">
                <a:avLst/>
              </a:prstGeom>
            </p:spPr>
          </p:pic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3D79DE-C752-90F2-2F4B-A8FEC11BB33D}"/>
              </a:ext>
            </a:extLst>
          </p:cNvPr>
          <p:cNvCxnSpPr/>
          <p:nvPr/>
        </p:nvCxnSpPr>
        <p:spPr>
          <a:xfrm flipV="1">
            <a:off x="3758184" y="3858768"/>
            <a:ext cx="466344" cy="50292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0C1357-9A2D-A460-87AF-4591BD6D9E70}"/>
              </a:ext>
            </a:extLst>
          </p:cNvPr>
          <p:cNvCxnSpPr/>
          <p:nvPr/>
        </p:nvCxnSpPr>
        <p:spPr>
          <a:xfrm>
            <a:off x="4764024" y="4937760"/>
            <a:ext cx="521208" cy="5212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3D09F2D-390B-19FE-AB85-E4812FD193E2}"/>
              </a:ext>
            </a:extLst>
          </p:cNvPr>
          <p:cNvCxnSpPr/>
          <p:nvPr/>
        </p:nvCxnSpPr>
        <p:spPr>
          <a:xfrm>
            <a:off x="6931153" y="4961225"/>
            <a:ext cx="521208" cy="5212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8D55192-11DE-92B6-4172-4E1690D41B27}"/>
              </a:ext>
            </a:extLst>
          </p:cNvPr>
          <p:cNvCxnSpPr/>
          <p:nvPr/>
        </p:nvCxnSpPr>
        <p:spPr>
          <a:xfrm>
            <a:off x="7735824" y="6108192"/>
            <a:ext cx="6217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0BB335F9-1101-D826-D49A-308D46D64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3DC1-1A17-458D-A0C5-A9119A2E667F}" type="datetime1">
              <a:rPr lang="en-GB" smtClean="0"/>
              <a:t>20/08/2025</a:t>
            </a:fld>
            <a:endParaRPr lang="en-GB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4A4DF51F-09C2-F7A3-018D-0995AADB6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31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F92E4-9872-98C3-5079-CA2A72659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FE027-CE3F-36F9-AA85-1343105FA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To simplify state space, we will represent each state with a simple node.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38700D07-E5ED-6ECE-A072-A823A213D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9321" y="2463800"/>
            <a:ext cx="4505325" cy="384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F4933-7CD4-6F0E-94DF-64423E8F7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A2170-F5ED-4263-8A97-975A1EC0D70C}" type="datetime1">
              <a:rPr lang="en-GB" smtClean="0"/>
              <a:t>20/08/2025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D0823-274F-18D3-DC5C-4D9206605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0171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6C8D6-EDB5-75D8-C52C-56CCC1A6E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7F6CD-0C0E-E647-FCF2-A05A4F4CF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u="sng" dirty="0"/>
              <a:t>Goal Test</a:t>
            </a:r>
          </a:p>
          <a:p>
            <a:pPr marL="0" indent="0" algn="ctr">
              <a:buNone/>
            </a:pPr>
            <a:r>
              <a:rPr lang="en-GB" dirty="0"/>
              <a:t>A way to determine whether a given state is a goal state.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291FDB-F44A-D17B-395E-AC566DBB6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350" y="3291176"/>
            <a:ext cx="1371262" cy="14202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1D205D-6AFF-C891-445B-DC8A5F094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1762" y="3357986"/>
            <a:ext cx="1371262" cy="12866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2E4524-5CC4-500B-2E50-B24BE3C0A260}"/>
              </a:ext>
            </a:extLst>
          </p:cNvPr>
          <p:cNvSpPr txBox="1"/>
          <p:nvPr/>
        </p:nvSpPr>
        <p:spPr>
          <a:xfrm>
            <a:off x="3629350" y="4846349"/>
            <a:ext cx="1656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Goal State 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897895-34A5-D30B-F376-B8D3247565DC}"/>
              </a:ext>
            </a:extLst>
          </p:cNvPr>
          <p:cNvSpPr txBox="1"/>
          <p:nvPr/>
        </p:nvSpPr>
        <p:spPr>
          <a:xfrm>
            <a:off x="7341505" y="4779539"/>
            <a:ext cx="2271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Not a Goal State ❌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7E5FE56-BA50-FB4A-C08C-ECA32E9F9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67560-EF2D-4C98-AF37-F96423DCACA4}" type="datetime1">
              <a:rPr lang="en-GB" smtClean="0"/>
              <a:t>20/08/2025</a:t>
            </a:fld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025103A-BB76-BE1E-4E79-3E27F6B8A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9824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1D023-B5C2-0B32-39E4-8D5984B37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23D4C-D872-7F19-6AA7-F3A99A7F2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u="sng" dirty="0"/>
              <a:t>Path Cost</a:t>
            </a:r>
          </a:p>
          <a:p>
            <a:pPr marL="0" indent="0" algn="ctr">
              <a:buNone/>
            </a:pPr>
            <a:r>
              <a:rPr lang="en-GB" dirty="0"/>
              <a:t>Path cost is the total cost of a sequence of actions from the initial state to the goal state.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902F901-4EC5-9DA0-2CC1-9920287C2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474" y="3236685"/>
            <a:ext cx="5991692" cy="3511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B7469C0-2C1E-9C30-7B7E-227DA27C7DD7}"/>
                  </a:ext>
                </a:extLst>
              </p:cNvPr>
              <p:cNvSpPr txBox="1"/>
              <p:nvPr/>
            </p:nvSpPr>
            <p:spPr>
              <a:xfrm>
                <a:off x="7080166" y="4370832"/>
                <a:ext cx="48433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Cost of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−&gt;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−&gt;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−&gt;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= 5+1+3=9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B7469C0-2C1E-9C30-7B7E-227DA27C7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0166" y="4370832"/>
                <a:ext cx="4843377" cy="369332"/>
              </a:xfrm>
              <a:prstGeom prst="rect">
                <a:avLst/>
              </a:prstGeom>
              <a:blipFill>
                <a:blip r:embed="rId3"/>
                <a:stretch>
                  <a:fillRect l="-1006" t="-8197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8FE15A-939C-AD1F-9F4F-EEA01A90D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82D7-259D-4ACA-B51D-8CE966ADD330}" type="datetime1">
              <a:rPr lang="en-GB" smtClean="0"/>
              <a:t>20/08/2025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013AB-4AB1-2EB3-9404-4E653C347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7570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93E8E-4F4C-5A02-3CA0-9446CC276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Search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08416-7D39-02EC-1F17-14F640EF7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dirty="0"/>
              <a:t> A search problem is a formal representation of a problem that an AI agent can solve by exploring different states to reach a goal.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A search problem is defined by five elements:</a:t>
            </a:r>
          </a:p>
          <a:p>
            <a:pPr marL="514350" indent="-514350">
              <a:buAutoNum type="arabicPeriod"/>
            </a:pPr>
            <a:r>
              <a:rPr lang="en-GB" dirty="0"/>
              <a:t>Initial State</a:t>
            </a:r>
          </a:p>
          <a:p>
            <a:pPr marL="514350" indent="-514350">
              <a:buAutoNum type="arabicPeriod"/>
            </a:pPr>
            <a:r>
              <a:rPr lang="en-GB" dirty="0"/>
              <a:t>Actions</a:t>
            </a:r>
          </a:p>
          <a:p>
            <a:pPr marL="514350" indent="-514350">
              <a:buAutoNum type="arabicPeriod"/>
            </a:pPr>
            <a:r>
              <a:rPr lang="en-GB" dirty="0"/>
              <a:t>Transition Model</a:t>
            </a:r>
          </a:p>
          <a:p>
            <a:pPr marL="514350" indent="-514350">
              <a:buAutoNum type="arabicPeriod"/>
            </a:pPr>
            <a:r>
              <a:rPr lang="en-GB" dirty="0"/>
              <a:t>Goal Test</a:t>
            </a:r>
          </a:p>
          <a:p>
            <a:pPr marL="514350" indent="-514350">
              <a:buAutoNum type="arabicPeriod"/>
            </a:pPr>
            <a:r>
              <a:rPr lang="en-GB" dirty="0"/>
              <a:t>Path Cost Function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3E357-3AC5-281C-B1C1-44832718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751AC-40AC-418C-8682-ED90B606A1B8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97678B-97F4-B121-0CA7-66BBBAF5A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1119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0133B-D756-3AD4-23A1-2D2394914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Search Problem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30477-0A76-F4EF-EE9A-F130B82E0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u="sng" dirty="0"/>
              <a:t>Solution</a:t>
            </a:r>
          </a:p>
          <a:p>
            <a:pPr marL="0" indent="0" algn="ctr">
              <a:buNone/>
            </a:pPr>
            <a:r>
              <a:rPr lang="en-GB" sz="2400" dirty="0"/>
              <a:t>A sequence of actions that leads from the initial state to a goal state.</a:t>
            </a:r>
          </a:p>
          <a:p>
            <a:pPr marL="0" indent="0" algn="ctr">
              <a:buNone/>
            </a:pPr>
            <a:endParaRPr lang="en-GB" sz="2400" u="sng" dirty="0"/>
          </a:p>
          <a:p>
            <a:pPr marL="0" indent="0" algn="ctr">
              <a:buNone/>
            </a:pPr>
            <a:r>
              <a:rPr lang="en-GB" sz="2400" u="sng" dirty="0"/>
              <a:t>Optimal Solution</a:t>
            </a:r>
          </a:p>
          <a:p>
            <a:pPr marL="0" indent="0" algn="ctr">
              <a:buNone/>
            </a:pPr>
            <a:r>
              <a:rPr lang="en-GB" sz="2400" dirty="0"/>
              <a:t>A solution that has the lowest path cost among all solutions.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C0852-83FB-3EB4-0727-01628F218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9D447-96BE-4A4A-9FF3-70930B2549F2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F676D-EC4E-4B13-38DC-D64E0E20D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1783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7DBE4-7ABB-9B73-26D8-AA16E404C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7389F-36A7-77B9-EBC5-16A40693E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dirty="0"/>
              <a:t>A node is a data structure that represents a state in the search tree, along with information needed to reconstruct the path taken to reach that state.</a:t>
            </a:r>
          </a:p>
          <a:p>
            <a:pPr marL="0" indent="0">
              <a:buNone/>
            </a:pPr>
            <a:r>
              <a:rPr lang="en-GB" dirty="0"/>
              <a:t>Each node typically stores:</a:t>
            </a:r>
          </a:p>
          <a:p>
            <a:pPr marL="514350" indent="-514350">
              <a:buAutoNum type="arabicPeriod"/>
            </a:pPr>
            <a:r>
              <a:rPr lang="en-GB" dirty="0"/>
              <a:t>State – the actual state in the problem domain.</a:t>
            </a:r>
          </a:p>
          <a:p>
            <a:pPr marL="514350" indent="-514350">
              <a:buAutoNum type="arabicPeriod"/>
            </a:pPr>
            <a:r>
              <a:rPr lang="en-GB" dirty="0"/>
              <a:t>Parent – The node from which this node was generated.</a:t>
            </a:r>
          </a:p>
          <a:p>
            <a:pPr marL="514350" indent="-514350">
              <a:buAutoNum type="arabicPeriod"/>
            </a:pPr>
            <a:r>
              <a:rPr lang="en-GB" dirty="0"/>
              <a:t>Action – the action taken to reach this state from the parent.</a:t>
            </a:r>
          </a:p>
          <a:p>
            <a:pPr marL="514350" indent="-514350">
              <a:buAutoNum type="arabicPeriod"/>
            </a:pPr>
            <a:r>
              <a:rPr lang="en-GB" dirty="0"/>
              <a:t>Path Cost – Cost from the initial state to this node.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49DB7-48DE-5E5C-E187-04FD7EAD7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8D7F8-E312-47E3-A88C-F955C5B8DC99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6E807-4549-C71D-48E0-44D39DD9C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555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09B6A-6BC2-F247-82E3-3182B8076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D4A6-D70E-2FD1-66B7-D7C63BD6D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sz="2400" dirty="0"/>
              <a:t>The goal of a search algorithm is to explore the state space starting from the initial state, using actions to generate new states, until it finds a goal state.</a:t>
            </a:r>
          </a:p>
          <a:p>
            <a:pPr marL="0" indent="0">
              <a:buNone/>
            </a:pPr>
            <a:r>
              <a:rPr lang="en-GB" sz="2400" dirty="0"/>
              <a:t>Steps:</a:t>
            </a:r>
          </a:p>
          <a:p>
            <a:pPr marL="457200" indent="-457200">
              <a:buAutoNum type="arabicPeriod"/>
            </a:pPr>
            <a:r>
              <a:rPr lang="en-GB" sz="2400" dirty="0"/>
              <a:t>Start with a frontier that contains the initial node.</a:t>
            </a:r>
          </a:p>
          <a:p>
            <a:pPr lvl="1">
              <a:buFontTx/>
              <a:buChar char="-"/>
            </a:pPr>
            <a:r>
              <a:rPr lang="en-GB" sz="2000" dirty="0"/>
              <a:t>‘frontier’ is a data structure that contains all the node we could explore next, that we haven’t explored yet.</a:t>
            </a:r>
          </a:p>
          <a:p>
            <a:pPr marL="0" indent="0">
              <a:buNone/>
            </a:pPr>
            <a:r>
              <a:rPr lang="en-GB" sz="2400" dirty="0"/>
              <a:t>2. Repeat:</a:t>
            </a:r>
          </a:p>
          <a:p>
            <a:pPr marL="0" indent="0">
              <a:buNone/>
            </a:pPr>
            <a:r>
              <a:rPr lang="en-GB" sz="2400" dirty="0"/>
              <a:t>	3. If the frontier is empty, then no solution exists.</a:t>
            </a:r>
          </a:p>
          <a:p>
            <a:pPr marL="0" indent="0">
              <a:buNone/>
            </a:pPr>
            <a:r>
              <a:rPr lang="en-GB" sz="2400" dirty="0"/>
              <a:t>	4. Remove a node from the frontier.</a:t>
            </a:r>
          </a:p>
          <a:p>
            <a:pPr marL="0" indent="0">
              <a:buNone/>
            </a:pPr>
            <a:r>
              <a:rPr lang="en-GB" sz="2400" dirty="0"/>
              <a:t>	5. If node contains goal state return the solution.</a:t>
            </a:r>
          </a:p>
          <a:p>
            <a:pPr marL="0" indent="0">
              <a:buNone/>
            </a:pPr>
            <a:r>
              <a:rPr lang="en-GB" sz="2400" dirty="0"/>
              <a:t>	6. Expand node, add resulting nodes to the frontier.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FE50D-CC4B-F202-0209-E91A57CD4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D8CDC-BB39-4529-8671-DAA8F8830C95}" type="datetime1">
              <a:rPr lang="en-GB" smtClean="0"/>
              <a:t>20/08/2025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56727-AA4D-749F-A3F7-C4015950E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8044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8D3EE-0CD7-BBE9-FC3A-6619A0FBD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50D4C-F2BA-A168-135B-61BC2DCBB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Suppose the initial state is A and the goal state</a:t>
            </a:r>
            <a:br>
              <a:rPr lang="en-GB" dirty="0"/>
            </a:br>
            <a:r>
              <a:rPr lang="en-GB" dirty="0"/>
              <a:t>is D.</a:t>
            </a:r>
          </a:p>
          <a:p>
            <a:r>
              <a:rPr lang="en-GB" dirty="0"/>
              <a:t>The goal of our search problem is to find</a:t>
            </a:r>
            <a:br>
              <a:rPr lang="en-GB" dirty="0"/>
            </a:br>
            <a:r>
              <a:rPr lang="en-GB" dirty="0"/>
              <a:t>a path from A to D.</a:t>
            </a:r>
          </a:p>
          <a:p>
            <a:r>
              <a:rPr lang="en-GB" dirty="0"/>
              <a:t>Let’s apply the general approach.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339EF9E-FCDE-682E-CA4E-61F849C415F7}"/>
              </a:ext>
            </a:extLst>
          </p:cNvPr>
          <p:cNvSpPr/>
          <p:nvPr/>
        </p:nvSpPr>
        <p:spPr>
          <a:xfrm>
            <a:off x="9601200" y="1892808"/>
            <a:ext cx="740664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E03983A-E33D-D65C-5268-337A029F8B8C}"/>
              </a:ext>
            </a:extLst>
          </p:cNvPr>
          <p:cNvSpPr/>
          <p:nvPr/>
        </p:nvSpPr>
        <p:spPr>
          <a:xfrm>
            <a:off x="8860536" y="2941320"/>
            <a:ext cx="740664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C174FE-B2C9-36DF-0E8B-40E1B72D9AB7}"/>
              </a:ext>
            </a:extLst>
          </p:cNvPr>
          <p:cNvSpPr/>
          <p:nvPr/>
        </p:nvSpPr>
        <p:spPr>
          <a:xfrm>
            <a:off x="10448544" y="2941320"/>
            <a:ext cx="740664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C5BE9E3-D85A-42DE-30F4-86ADF7334671}"/>
              </a:ext>
            </a:extLst>
          </p:cNvPr>
          <p:cNvSpPr/>
          <p:nvPr/>
        </p:nvSpPr>
        <p:spPr>
          <a:xfrm>
            <a:off x="8119872" y="4303776"/>
            <a:ext cx="740664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9857C49-AE01-4F59-4648-B86F5B828C44}"/>
              </a:ext>
            </a:extLst>
          </p:cNvPr>
          <p:cNvSpPr/>
          <p:nvPr/>
        </p:nvSpPr>
        <p:spPr>
          <a:xfrm>
            <a:off x="9736836" y="4303776"/>
            <a:ext cx="740664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ECC66C7-0400-0B4F-801D-42AF22EEC3EA}"/>
              </a:ext>
            </a:extLst>
          </p:cNvPr>
          <p:cNvSpPr/>
          <p:nvPr/>
        </p:nvSpPr>
        <p:spPr>
          <a:xfrm>
            <a:off x="11189208" y="4303776"/>
            <a:ext cx="740664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969A5B8-4833-0F8B-AECD-16B1B43820E4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9230868" y="2615184"/>
            <a:ext cx="740664" cy="3261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3AF17A1-9390-FA0E-254C-2154A1C4D71A}"/>
              </a:ext>
            </a:extLst>
          </p:cNvPr>
          <p:cNvCxnSpPr>
            <a:stCxn id="5" idx="4"/>
            <a:endCxn id="7" idx="0"/>
          </p:cNvCxnSpPr>
          <p:nvPr/>
        </p:nvCxnSpPr>
        <p:spPr>
          <a:xfrm flipH="1">
            <a:off x="8490204" y="3663696"/>
            <a:ext cx="740664" cy="640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C60B9C5-52F5-59A3-73B0-2FDB4FEAD095}"/>
              </a:ext>
            </a:extLst>
          </p:cNvPr>
          <p:cNvCxnSpPr>
            <a:cxnSpLocks/>
            <a:stCxn id="9" idx="2"/>
            <a:endCxn id="8" idx="6"/>
          </p:cNvCxnSpPr>
          <p:nvPr/>
        </p:nvCxnSpPr>
        <p:spPr>
          <a:xfrm flipH="1">
            <a:off x="10477500" y="4664964"/>
            <a:ext cx="7117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2954A1D-96C8-9A76-B294-0FF91D8B371E}"/>
              </a:ext>
            </a:extLst>
          </p:cNvPr>
          <p:cNvCxnSpPr>
            <a:stCxn id="4" idx="4"/>
            <a:endCxn id="6" idx="0"/>
          </p:cNvCxnSpPr>
          <p:nvPr/>
        </p:nvCxnSpPr>
        <p:spPr>
          <a:xfrm>
            <a:off x="9971532" y="2615184"/>
            <a:ext cx="847344" cy="3261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45D5A87-9C08-F0DE-BEE0-8819293D06C2}"/>
              </a:ext>
            </a:extLst>
          </p:cNvPr>
          <p:cNvCxnSpPr>
            <a:stCxn id="6" idx="5"/>
            <a:endCxn id="9" idx="0"/>
          </p:cNvCxnSpPr>
          <p:nvPr/>
        </p:nvCxnSpPr>
        <p:spPr>
          <a:xfrm>
            <a:off x="11080740" y="3557906"/>
            <a:ext cx="478800" cy="7458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18CD2AB6-55ED-4EE2-D0A4-443C4578B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6F6E7-249D-4ADD-B07F-A98378921F7F}" type="datetime1">
              <a:rPr lang="en-GB" smtClean="0"/>
              <a:t>20/08/2025</a:t>
            </a:fld>
            <a:endParaRPr lang="en-GB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5D991C51-F9A6-F29E-51FE-76EF64FFA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969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4B58AF3-DE17-C763-4AC3-4E70A1BA0903}"/>
              </a:ext>
            </a:extLst>
          </p:cNvPr>
          <p:cNvSpPr/>
          <p:nvPr/>
        </p:nvSpPr>
        <p:spPr>
          <a:xfrm>
            <a:off x="838200" y="1892808"/>
            <a:ext cx="5907024" cy="8229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BADA1A-AAC3-6EF9-561A-73FEE1424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81D8C-8712-79DB-168A-F79F577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Frontier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065C18B-78D3-97A4-BDA8-031AF3B293C0}"/>
              </a:ext>
            </a:extLst>
          </p:cNvPr>
          <p:cNvSpPr/>
          <p:nvPr/>
        </p:nvSpPr>
        <p:spPr>
          <a:xfrm>
            <a:off x="9025128" y="2304288"/>
            <a:ext cx="740664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CC19581-259B-4BB6-7983-C2F69BEC47FB}"/>
              </a:ext>
            </a:extLst>
          </p:cNvPr>
          <p:cNvSpPr/>
          <p:nvPr/>
        </p:nvSpPr>
        <p:spPr>
          <a:xfrm>
            <a:off x="8284464" y="3352800"/>
            <a:ext cx="740664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9E3E19C-5C01-23D2-9F4F-3121F3281AEF}"/>
              </a:ext>
            </a:extLst>
          </p:cNvPr>
          <p:cNvSpPr/>
          <p:nvPr/>
        </p:nvSpPr>
        <p:spPr>
          <a:xfrm>
            <a:off x="9872472" y="3352800"/>
            <a:ext cx="740664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FAC2EB4-E4CB-7966-CBD8-D7F90021A650}"/>
              </a:ext>
            </a:extLst>
          </p:cNvPr>
          <p:cNvSpPr/>
          <p:nvPr/>
        </p:nvSpPr>
        <p:spPr>
          <a:xfrm>
            <a:off x="7543800" y="4715256"/>
            <a:ext cx="740664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794A98F-0797-4C82-7D62-12A2E5F77CD9}"/>
              </a:ext>
            </a:extLst>
          </p:cNvPr>
          <p:cNvSpPr/>
          <p:nvPr/>
        </p:nvSpPr>
        <p:spPr>
          <a:xfrm>
            <a:off x="9160764" y="4715256"/>
            <a:ext cx="740664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BF5B5E1-5D1C-D3FE-D19E-D3B34CA78D1C}"/>
              </a:ext>
            </a:extLst>
          </p:cNvPr>
          <p:cNvSpPr/>
          <p:nvPr/>
        </p:nvSpPr>
        <p:spPr>
          <a:xfrm>
            <a:off x="10613136" y="4715256"/>
            <a:ext cx="740664" cy="722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9A7E299-53EF-BA52-6F0C-23006044DC33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8654796" y="3026664"/>
            <a:ext cx="740664" cy="3261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F6D301F-AE88-6DD8-4AF4-6A467EC71557}"/>
              </a:ext>
            </a:extLst>
          </p:cNvPr>
          <p:cNvCxnSpPr>
            <a:stCxn id="5" idx="4"/>
            <a:endCxn id="7" idx="0"/>
          </p:cNvCxnSpPr>
          <p:nvPr/>
        </p:nvCxnSpPr>
        <p:spPr>
          <a:xfrm flipH="1">
            <a:off x="7914132" y="4075176"/>
            <a:ext cx="740664" cy="640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51796A1-57FC-F89F-1787-B4B87A243DC4}"/>
              </a:ext>
            </a:extLst>
          </p:cNvPr>
          <p:cNvCxnSpPr>
            <a:cxnSpLocks/>
            <a:stCxn id="9" idx="2"/>
            <a:endCxn id="8" idx="6"/>
          </p:cNvCxnSpPr>
          <p:nvPr/>
        </p:nvCxnSpPr>
        <p:spPr>
          <a:xfrm flipH="1">
            <a:off x="9901428" y="5076444"/>
            <a:ext cx="7117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F78E1D2-C38D-E889-0830-60D25AC1DD90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9025128" y="3713988"/>
            <a:ext cx="8473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03571A9-FA61-838A-40D0-07EC5CF80825}"/>
              </a:ext>
            </a:extLst>
          </p:cNvPr>
          <p:cNvCxnSpPr>
            <a:stCxn id="6" idx="5"/>
            <a:endCxn id="9" idx="0"/>
          </p:cNvCxnSpPr>
          <p:nvPr/>
        </p:nvCxnSpPr>
        <p:spPr>
          <a:xfrm>
            <a:off x="10504668" y="3969386"/>
            <a:ext cx="478800" cy="7458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A7983FD-ACA2-30A2-43AE-766F3EF8705B}"/>
              </a:ext>
            </a:extLst>
          </p:cNvPr>
          <p:cNvSpPr txBox="1"/>
          <p:nvPr/>
        </p:nvSpPr>
        <p:spPr>
          <a:xfrm>
            <a:off x="335016" y="2990088"/>
            <a:ext cx="707314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1. Start with a frontier that contains the initial node.</a:t>
            </a:r>
          </a:p>
          <a:p>
            <a:pPr marL="0" indent="0">
              <a:buNone/>
            </a:pPr>
            <a:r>
              <a:rPr lang="en-GB" sz="2000" dirty="0"/>
              <a:t>2. Repeat:</a:t>
            </a:r>
          </a:p>
          <a:p>
            <a:pPr marL="0" indent="0">
              <a:buNone/>
            </a:pPr>
            <a:r>
              <a:rPr lang="en-GB" sz="2000" dirty="0"/>
              <a:t>	3. If the frontier is empty, then no solution exists.</a:t>
            </a:r>
          </a:p>
          <a:p>
            <a:pPr marL="0" indent="0">
              <a:buNone/>
            </a:pPr>
            <a:r>
              <a:rPr lang="en-GB" sz="2000" dirty="0"/>
              <a:t>	4. Remove a node from the frontier.</a:t>
            </a:r>
          </a:p>
          <a:p>
            <a:pPr marL="0" indent="0">
              <a:buNone/>
            </a:pPr>
            <a:r>
              <a:rPr lang="en-GB" sz="2000" dirty="0"/>
              <a:t>	5. If node contains goal state return the solution.</a:t>
            </a:r>
          </a:p>
          <a:p>
            <a:pPr marL="0" indent="0">
              <a:buNone/>
            </a:pPr>
            <a:r>
              <a:rPr lang="en-GB" sz="2000" dirty="0"/>
              <a:t>	6. Expand node, add resulting nodes to the frontier.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7C50378-3A45-FE83-44A6-374F72271782}"/>
              </a:ext>
            </a:extLst>
          </p:cNvPr>
          <p:cNvSpPr/>
          <p:nvPr/>
        </p:nvSpPr>
        <p:spPr>
          <a:xfrm>
            <a:off x="2055876" y="1943100"/>
            <a:ext cx="740664" cy="722376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2D69C8-4813-A808-17A8-7B621405A362}"/>
              </a:ext>
            </a:extLst>
          </p:cNvPr>
          <p:cNvSpPr/>
          <p:nvPr/>
        </p:nvSpPr>
        <p:spPr>
          <a:xfrm>
            <a:off x="658368" y="2990088"/>
            <a:ext cx="5437632" cy="362712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9B2928-A55A-5A14-A401-D99B246B52BE}"/>
              </a:ext>
            </a:extLst>
          </p:cNvPr>
          <p:cNvSpPr/>
          <p:nvPr/>
        </p:nvSpPr>
        <p:spPr>
          <a:xfrm>
            <a:off x="1578864" y="3606674"/>
            <a:ext cx="5279136" cy="362712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F1EFD5-6370-9493-AF0C-4B5950A96278}"/>
              </a:ext>
            </a:extLst>
          </p:cNvPr>
          <p:cNvSpPr/>
          <p:nvPr/>
        </p:nvSpPr>
        <p:spPr>
          <a:xfrm>
            <a:off x="1578864" y="3915388"/>
            <a:ext cx="3788664" cy="362712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0A2202B-C223-E21B-C532-77801C64EA5D}"/>
              </a:ext>
            </a:extLst>
          </p:cNvPr>
          <p:cNvSpPr/>
          <p:nvPr/>
        </p:nvSpPr>
        <p:spPr>
          <a:xfrm>
            <a:off x="1578864" y="4223260"/>
            <a:ext cx="5279136" cy="362712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510D24-C94B-7D04-7B88-EF391F18B842}"/>
              </a:ext>
            </a:extLst>
          </p:cNvPr>
          <p:cNvSpPr/>
          <p:nvPr/>
        </p:nvSpPr>
        <p:spPr>
          <a:xfrm>
            <a:off x="1578864" y="4538948"/>
            <a:ext cx="5526024" cy="362712"/>
          </a:xfrm>
          <a:prstGeom prst="rect">
            <a:avLst/>
          </a:prstGeom>
          <a:noFill/>
          <a:ln w="28575" cap="flat" cmpd="sng" algn="ctr">
            <a:solidFill>
              <a:schemeClr val="accent5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F34180-4BBB-EC8E-BB54-096314D06A57}"/>
              </a:ext>
            </a:extLst>
          </p:cNvPr>
          <p:cNvSpPr/>
          <p:nvPr/>
        </p:nvSpPr>
        <p:spPr>
          <a:xfrm>
            <a:off x="2849880" y="1937576"/>
            <a:ext cx="740664" cy="722376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F14C63E-4183-AB4E-F1B3-C101A56CB444}"/>
              </a:ext>
            </a:extLst>
          </p:cNvPr>
          <p:cNvSpPr/>
          <p:nvPr/>
        </p:nvSpPr>
        <p:spPr>
          <a:xfrm>
            <a:off x="3643884" y="1922574"/>
            <a:ext cx="740664" cy="722376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D81F0B2-A376-D15C-5704-3CC200B97C5D}"/>
              </a:ext>
            </a:extLst>
          </p:cNvPr>
          <p:cNvSpPr/>
          <p:nvPr/>
        </p:nvSpPr>
        <p:spPr>
          <a:xfrm>
            <a:off x="4437888" y="1922574"/>
            <a:ext cx="740664" cy="722376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4145828-FEB0-33FC-53F0-6A99E6CBE82F}"/>
              </a:ext>
            </a:extLst>
          </p:cNvPr>
          <p:cNvSpPr/>
          <p:nvPr/>
        </p:nvSpPr>
        <p:spPr>
          <a:xfrm>
            <a:off x="2849880" y="1937576"/>
            <a:ext cx="740664" cy="722376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401281D-27F9-DF6E-4602-670677BED154}"/>
              </a:ext>
            </a:extLst>
          </p:cNvPr>
          <p:cNvSpPr/>
          <p:nvPr/>
        </p:nvSpPr>
        <p:spPr>
          <a:xfrm>
            <a:off x="5221224" y="1922574"/>
            <a:ext cx="740664" cy="722376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060F3FF5-39DF-138E-FC3A-D1B7014E5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15F4F-5C8B-4C28-B527-151A31FC0146}" type="datetime1">
              <a:rPr lang="en-GB" smtClean="0"/>
              <a:t>20/08/2025</a:t>
            </a:fld>
            <a:endParaRPr lang="en-GB"/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3EDE2242-6E54-3334-6FB4-3295055AF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6775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5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6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8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xit" presetSubtype="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1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0" presetClass="exit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0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0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0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0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0" presetClass="exit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0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0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0" presetClass="exit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0" presetClass="entr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0" presetClass="exit" presetSubtype="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10" presetClass="entr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7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7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7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0" presetClass="exit" presetSubtype="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10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0" presetClass="exit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0" presetClass="entr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9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9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9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9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10" presetClass="exit" presetSubtype="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0" presetClass="entr" presetSubtype="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10" presetClass="exit" presetSubtype="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10" presetClass="entr" presetSubtype="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21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10" presetClass="exit" presetSubtype="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indefinite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10" presetClass="entr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21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5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5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10" presetClass="exit" presetSubtype="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22" grpId="0" animBg="1"/>
      <p:bldP spid="22" grpId="1" animBg="1"/>
      <p:bldP spid="22" grpId="2" animBg="1"/>
      <p:bldP spid="23" grpId="0" animBg="1"/>
      <p:bldP spid="23" grpId="1" animBg="1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4" grpId="6" animBg="1"/>
      <p:bldP spid="24" grpId="7" animBg="1"/>
      <p:bldP spid="24" grpId="8" animBg="1"/>
      <p:bldP spid="24" grpId="9" animBg="1"/>
      <p:bldP spid="24" grpId="10" animBg="1"/>
      <p:bldP spid="24" grpId="11" animBg="1"/>
      <p:bldP spid="25" grpId="0" animBg="1"/>
      <p:bldP spid="25" grpId="1" animBg="1"/>
      <p:bldP spid="25" grpId="2" animBg="1"/>
      <p:bldP spid="25" grpId="3" animBg="1"/>
      <p:bldP spid="25" grpId="4" animBg="1"/>
      <p:bldP spid="25" grpId="5" animBg="1"/>
      <p:bldP spid="25" grpId="6" animBg="1"/>
      <p:bldP spid="25" grpId="7" animBg="1"/>
      <p:bldP spid="25" grpId="8" animBg="1"/>
      <p:bldP spid="25" grpId="9" animBg="1"/>
      <p:bldP spid="25" grpId="10" animBg="1"/>
      <p:bldP spid="25" grpId="11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26" grpId="7" animBg="1"/>
      <p:bldP spid="26" grpId="8" animBg="1"/>
      <p:bldP spid="26" grpId="9" animBg="1"/>
      <p:bldP spid="26" grpId="10" animBg="1"/>
      <p:bldP spid="26" grpId="11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7" grpId="6" animBg="1"/>
      <p:bldP spid="27" grpId="7" animBg="1"/>
      <p:bldP spid="27" grpId="8" animBg="1"/>
      <p:bldP spid="27" grpId="9" animBg="1"/>
      <p:bldP spid="28" grpId="0" animBg="1"/>
      <p:bldP spid="28" grpId="1" animBg="1"/>
      <p:bldP spid="28" grpId="2" animBg="1"/>
      <p:bldP spid="29" grpId="0" animBg="1"/>
      <p:bldP spid="29" grpId="2" animBg="1"/>
      <p:bldP spid="29" grpId="3" animBg="1"/>
      <p:bldP spid="30" grpId="0" animBg="1"/>
      <p:bldP spid="30" grpId="1" animBg="1"/>
      <p:bldP spid="30" grpId="3" animBg="1"/>
      <p:bldP spid="31" grpId="0" animBg="1"/>
      <p:bldP spid="31" grpId="1" animBg="1"/>
      <p:bldP spid="31" grpId="2" animBg="1"/>
      <p:bldP spid="32" grpId="0" animBg="1"/>
      <p:bldP spid="32" grpId="1" animBg="1"/>
      <p:bldP spid="32" grpId="2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545D2-F85D-EB07-803B-73732FCCE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 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F0D7A6-5595-DFF0-00FC-2A76D99E59E8}"/>
              </a:ext>
            </a:extLst>
          </p:cNvPr>
          <p:cNvSpPr txBox="1"/>
          <p:nvPr/>
        </p:nvSpPr>
        <p:spPr>
          <a:xfrm>
            <a:off x="838200" y="1910864"/>
            <a:ext cx="707314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1. Start with a frontier that contains the initial node.</a:t>
            </a:r>
          </a:p>
          <a:p>
            <a:pPr marL="0" indent="0">
              <a:buNone/>
            </a:pPr>
            <a:r>
              <a:rPr lang="en-GB" sz="2000" dirty="0"/>
              <a:t>2. Repeat:</a:t>
            </a:r>
          </a:p>
          <a:p>
            <a:pPr marL="0" indent="0">
              <a:buNone/>
            </a:pPr>
            <a:r>
              <a:rPr lang="en-GB" sz="2000" dirty="0"/>
              <a:t>	3. If the frontier is empty, then no solution exists.</a:t>
            </a:r>
          </a:p>
          <a:p>
            <a:pPr marL="0" indent="0">
              <a:buNone/>
            </a:pPr>
            <a:r>
              <a:rPr lang="en-GB" sz="2000" dirty="0"/>
              <a:t>	4. Remove a node from the frontier.</a:t>
            </a:r>
          </a:p>
          <a:p>
            <a:pPr marL="0" indent="0">
              <a:buNone/>
            </a:pPr>
            <a:r>
              <a:rPr lang="en-GB" sz="2000" dirty="0"/>
              <a:t>	5. If node contains goal state return the solution.</a:t>
            </a:r>
          </a:p>
          <a:p>
            <a:pPr marL="0" indent="0">
              <a:buNone/>
            </a:pPr>
            <a:r>
              <a:rPr lang="en-GB" sz="2000" dirty="0"/>
              <a:t>	6. Expand node, add resulting nodes to the frontier.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5E08EF-9F5D-7A97-61EB-31F586B61496}"/>
              </a:ext>
            </a:extLst>
          </p:cNvPr>
          <p:cNvSpPr txBox="1"/>
          <p:nvPr/>
        </p:nvSpPr>
        <p:spPr>
          <a:xfrm>
            <a:off x="568403" y="4207192"/>
            <a:ext cx="6643165" cy="52322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sz="2800" dirty="0"/>
              <a:t>Is there any problem with this algorithm?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91A44D0-33E1-BD3F-EB76-F6C465294428}"/>
              </a:ext>
            </a:extLst>
          </p:cNvPr>
          <p:cNvGrpSpPr/>
          <p:nvPr/>
        </p:nvGrpSpPr>
        <p:grpSpPr>
          <a:xfrm>
            <a:off x="8284464" y="1949196"/>
            <a:ext cx="749808" cy="3616452"/>
            <a:chOff x="8284464" y="1949196"/>
            <a:chExt cx="749808" cy="361645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AAD6CC3-D676-DCB3-B474-D71B598029F8}"/>
                </a:ext>
              </a:extLst>
            </p:cNvPr>
            <p:cNvSpPr/>
            <p:nvPr/>
          </p:nvSpPr>
          <p:spPr>
            <a:xfrm>
              <a:off x="8284464" y="1949196"/>
              <a:ext cx="740664" cy="72237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C3DB79B-D6DB-36D4-B6BD-5609A1FBE980}"/>
                </a:ext>
              </a:extLst>
            </p:cNvPr>
            <p:cNvSpPr/>
            <p:nvPr/>
          </p:nvSpPr>
          <p:spPr>
            <a:xfrm>
              <a:off x="8284464" y="3352800"/>
              <a:ext cx="740664" cy="72237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5E26DE9-3BC3-A565-5958-FCAC08840985}"/>
                </a:ext>
              </a:extLst>
            </p:cNvPr>
            <p:cNvSpPr/>
            <p:nvPr/>
          </p:nvSpPr>
          <p:spPr>
            <a:xfrm>
              <a:off x="8293608" y="4843272"/>
              <a:ext cx="740664" cy="72237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C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8BAA59A-8467-E387-F6AD-51CBEDFD5562}"/>
                </a:ext>
              </a:extLst>
            </p:cNvPr>
            <p:cNvCxnSpPr>
              <a:stCxn id="7" idx="4"/>
              <a:endCxn id="8" idx="0"/>
            </p:cNvCxnSpPr>
            <p:nvPr/>
          </p:nvCxnSpPr>
          <p:spPr>
            <a:xfrm>
              <a:off x="8654796" y="4075176"/>
              <a:ext cx="9144" cy="7680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5EF2824-3E44-952F-3EA1-1E2C06E93F96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8392932" y="2565782"/>
              <a:ext cx="0" cy="89280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653823F-CB05-3999-B3B8-D9D53DE9D088}"/>
                </a:ext>
              </a:extLst>
            </p:cNvPr>
            <p:cNvCxnSpPr>
              <a:stCxn id="7" idx="7"/>
              <a:endCxn id="6" idx="5"/>
            </p:cNvCxnSpPr>
            <p:nvPr/>
          </p:nvCxnSpPr>
          <p:spPr>
            <a:xfrm flipV="1">
              <a:off x="8916660" y="2565782"/>
              <a:ext cx="0" cy="89280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89345AEA-5653-B82F-41FF-3EA6624F4CE4}"/>
              </a:ext>
            </a:extLst>
          </p:cNvPr>
          <p:cNvSpPr txBox="1"/>
          <p:nvPr/>
        </p:nvSpPr>
        <p:spPr>
          <a:xfrm>
            <a:off x="9176019" y="2810333"/>
            <a:ext cx="2807179" cy="70788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GB" sz="2000" dirty="0"/>
              <a:t>Will this algorithm work</a:t>
            </a:r>
            <a:br>
              <a:rPr lang="en-GB" sz="2000" dirty="0"/>
            </a:br>
            <a:r>
              <a:rPr lang="en-GB" sz="2000" dirty="0"/>
              <a:t>on this graph?</a:t>
            </a:r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874983CB-04A4-BD20-0C49-267197CEE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E120D-DBCF-4688-A29A-EAE02FBBC6A0}" type="datetime1">
              <a:rPr lang="en-GB" smtClean="0"/>
              <a:t>20/08/2025</a:t>
            </a:fld>
            <a:endParaRPr lang="en-GB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E5519ED-E367-14D4-A139-A074A390F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0529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08CF3-A4D2-F227-EA8C-49AD86447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Revised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2B09E-CC9D-84B7-47C9-75BFCEE98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GB" dirty="0"/>
              <a:t>Start with a frontier that contains the initial node.</a:t>
            </a:r>
          </a:p>
          <a:p>
            <a:pPr marL="514350" indent="-514350">
              <a:buAutoNum type="arabicPeriod"/>
            </a:pPr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Start with an empty set.</a:t>
            </a:r>
          </a:p>
          <a:p>
            <a:pPr marL="0" indent="0">
              <a:buNone/>
            </a:pPr>
            <a:r>
              <a:rPr lang="en-GB" dirty="0"/>
              <a:t>2. Repeat:</a:t>
            </a:r>
          </a:p>
          <a:p>
            <a:pPr marL="0" indent="0">
              <a:buNone/>
            </a:pPr>
            <a:r>
              <a:rPr lang="en-GB" dirty="0"/>
              <a:t>	3. If the frontier is empty, then no solution exists.</a:t>
            </a:r>
          </a:p>
          <a:p>
            <a:pPr marL="0" indent="0">
              <a:buNone/>
            </a:pPr>
            <a:r>
              <a:rPr lang="en-GB" dirty="0"/>
              <a:t>	4. Remove a node from the frontier.</a:t>
            </a:r>
          </a:p>
          <a:p>
            <a:pPr marL="0" indent="0">
              <a:buNone/>
            </a:pPr>
            <a:r>
              <a:rPr lang="en-GB" dirty="0"/>
              <a:t>	5. If node contains goal state return the solution.</a:t>
            </a:r>
          </a:p>
          <a:p>
            <a:pPr marL="0" indent="0">
              <a:buNone/>
            </a:pPr>
            <a:r>
              <a:rPr lang="en-GB" dirty="0"/>
              <a:t>	6. Add the node to the explored set.</a:t>
            </a:r>
          </a:p>
          <a:p>
            <a:pPr marL="0" indent="0">
              <a:buNone/>
            </a:pPr>
            <a:r>
              <a:rPr lang="en-GB" dirty="0"/>
              <a:t>	7. Expand node, add resulting nodes to the </a:t>
            </a:r>
            <a:r>
              <a:rPr lang="en-GB" dirty="0">
                <a:solidFill>
                  <a:schemeClr val="accent5">
                    <a:lumMod val="75000"/>
                  </a:schemeClr>
                </a:solidFill>
              </a:rPr>
              <a:t>frontier if they aren’t already in the frontier or the explored set.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4C16C-086F-4C75-D0BE-3AEC94D56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56854-6D9F-D4D3-BF97-24B2BD0CE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5731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2169A-B056-BC62-D482-1FD5613B1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Measuring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E0A8A-2016-6937-7D59-5ABF26424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u="sng" dirty="0"/>
              <a:t>Completeness</a:t>
            </a:r>
          </a:p>
          <a:p>
            <a:pPr marL="0" indent="0" algn="ctr">
              <a:buNone/>
            </a:pPr>
            <a:r>
              <a:rPr lang="en-GB" dirty="0"/>
              <a:t>Is the algorithm guaranteed to find a solution when there is one?</a:t>
            </a:r>
          </a:p>
          <a:p>
            <a:pPr marL="0" indent="0" algn="ctr">
              <a:buNone/>
            </a:pPr>
            <a:r>
              <a:rPr lang="en-GB" u="sng" dirty="0"/>
              <a:t>Optimality</a:t>
            </a:r>
          </a:p>
          <a:p>
            <a:pPr marL="0" indent="0" algn="ctr">
              <a:buNone/>
            </a:pPr>
            <a:r>
              <a:rPr lang="en-GB" dirty="0"/>
              <a:t>Does the strategy find the optimal solution?</a:t>
            </a:r>
          </a:p>
          <a:p>
            <a:pPr marL="0" indent="0" algn="ctr">
              <a:buNone/>
            </a:pPr>
            <a:r>
              <a:rPr lang="en-GB" u="sng" dirty="0"/>
              <a:t>Time Complexity</a:t>
            </a:r>
          </a:p>
          <a:p>
            <a:pPr marL="0" indent="0" algn="ctr">
              <a:buNone/>
            </a:pPr>
            <a:r>
              <a:rPr lang="en-GB" dirty="0"/>
              <a:t>How long does it take to find a solution?</a:t>
            </a:r>
          </a:p>
          <a:p>
            <a:pPr marL="0" indent="0" algn="ctr">
              <a:buNone/>
            </a:pPr>
            <a:r>
              <a:rPr lang="en-GB" u="sng" dirty="0"/>
              <a:t>Space Complexity</a:t>
            </a:r>
          </a:p>
          <a:p>
            <a:pPr marL="0" indent="0" algn="ctr">
              <a:buNone/>
            </a:pPr>
            <a:r>
              <a:rPr lang="en-GB" dirty="0"/>
              <a:t>How much memory is needed to perform the search?</a:t>
            </a:r>
          </a:p>
          <a:p>
            <a:pPr marL="0" indent="0" algn="ctr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82642-1FBF-0D1E-00A7-A1500E6A6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E70940-A6D0-42B1-8E2C-20029E1B5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0652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B31BE-AD8F-FE26-FEAB-0597F835C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Complexity in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2B78A-20B6-6032-0138-3F8FBC6B6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Graph is often represented implicitly.</a:t>
            </a:r>
          </a:p>
          <a:p>
            <a:pPr lvl="1"/>
            <a:r>
              <a:rPr lang="en-GB" dirty="0"/>
              <a:t>Initial state, actions and transition model.</a:t>
            </a:r>
          </a:p>
          <a:p>
            <a:pPr lvl="1"/>
            <a:r>
              <a:rPr lang="en-GB" dirty="0"/>
              <a:t>Often infinite.</a:t>
            </a:r>
          </a:p>
          <a:p>
            <a:r>
              <a:rPr lang="en-GB" dirty="0"/>
              <a:t>Traditional complexity doesn’t apply here.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B668D-7495-9506-F116-506BA4DD2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5F7412-6DD8-6AFA-4B18-9449AC2F4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7972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15C07-4DFB-8CDC-2161-9AE842B6E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65320-07E5-3D52-D2AB-A40D2576B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Complexity in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496F9-0CE0-C9BC-E35D-8A16B96E8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Complexity is represented in terms of three quantities.</a:t>
            </a:r>
          </a:p>
          <a:p>
            <a:pPr marL="0" indent="0" algn="ctr">
              <a:buNone/>
            </a:pPr>
            <a:r>
              <a:rPr lang="en-GB" b="1" u="sng" dirty="0"/>
              <a:t>Branching factor(b)</a:t>
            </a:r>
          </a:p>
          <a:p>
            <a:pPr marL="0" indent="0" algn="ctr">
              <a:buNone/>
            </a:pPr>
            <a:r>
              <a:rPr lang="en-GB" dirty="0"/>
              <a:t>Maximum number of successor of any node.</a:t>
            </a:r>
          </a:p>
          <a:p>
            <a:pPr marL="0" indent="0" algn="ctr">
              <a:buNone/>
            </a:pPr>
            <a:r>
              <a:rPr lang="en-GB" b="1" u="sng" dirty="0"/>
              <a:t>Depth of the shallowest goal(d)</a:t>
            </a:r>
          </a:p>
          <a:p>
            <a:pPr marL="0" indent="0" algn="ctr">
              <a:buNone/>
            </a:pPr>
            <a:r>
              <a:rPr lang="en-GB" dirty="0"/>
              <a:t>The smallest number of steps needed to reach a goal from the root.</a:t>
            </a:r>
          </a:p>
          <a:p>
            <a:pPr marL="0" indent="0" algn="ctr">
              <a:buNone/>
            </a:pPr>
            <a:r>
              <a:rPr lang="en-GB" b="1" u="sng" dirty="0"/>
              <a:t>Maximum path length(m)</a:t>
            </a:r>
          </a:p>
          <a:p>
            <a:pPr marL="0" indent="0" algn="ctr">
              <a:buNone/>
            </a:pPr>
            <a:r>
              <a:rPr lang="en-GB" dirty="0"/>
              <a:t>Longest sequence of actions without repeating state.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E3A8-9570-5983-7E0C-4D8832153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D31F6-8A25-CF38-9C96-F3FBE6614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4967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8CBC6-4751-C4BE-C820-6AAC48EE5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Complexity in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C23C0-224D-5B7B-9F28-75F2E60B9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Time complexity is measured in </a:t>
            </a:r>
            <a:r>
              <a:rPr lang="en-GB" b="1" dirty="0"/>
              <a:t>number of nodes generated</a:t>
            </a:r>
            <a:r>
              <a:rPr lang="en-GB" dirty="0"/>
              <a:t>.</a:t>
            </a:r>
          </a:p>
          <a:p>
            <a:r>
              <a:rPr lang="en-GB" dirty="0"/>
              <a:t>Space complexity is measured in </a:t>
            </a:r>
            <a:r>
              <a:rPr lang="en-GB" b="1" dirty="0"/>
              <a:t>maximum number of nodes stored in memory at any one time</a:t>
            </a:r>
            <a:r>
              <a:rPr lang="en-GB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C901A-C336-89AF-7462-2051F4B2A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A7DEC-381B-72A8-C876-523FC617F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3970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D8008-D129-0A06-07F9-446FBE77F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Effectiveness of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65291-FC71-968E-D1ED-B01DBA9E0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GB" u="sng" dirty="0"/>
              <a:t>Search Cost</a:t>
            </a:r>
          </a:p>
          <a:p>
            <a:pPr marL="0" indent="0" algn="ctr">
              <a:buNone/>
            </a:pPr>
            <a:r>
              <a:rPr lang="en-GB" dirty="0"/>
              <a:t>Time spent computing the solution.</a:t>
            </a:r>
          </a:p>
          <a:p>
            <a:pPr marL="0" indent="0" algn="ctr">
              <a:buNone/>
            </a:pPr>
            <a:r>
              <a:rPr lang="en-GB" dirty="0"/>
              <a:t>Milliseconds, CPU cycles, or node expanded.</a:t>
            </a:r>
          </a:p>
          <a:p>
            <a:pPr marL="0" indent="0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u="sng" dirty="0"/>
              <a:t>Path Cost</a:t>
            </a:r>
          </a:p>
          <a:p>
            <a:pPr marL="0" indent="0" algn="ctr">
              <a:buNone/>
            </a:pPr>
            <a:r>
              <a:rPr lang="en-GB" dirty="0"/>
              <a:t>Quality of the final solution in domain terms.</a:t>
            </a:r>
          </a:p>
          <a:p>
            <a:pPr marL="0" indent="0" algn="ctr">
              <a:buNone/>
            </a:pPr>
            <a:r>
              <a:rPr lang="en-GB" dirty="0"/>
              <a:t>Money, distance, etc.</a:t>
            </a:r>
          </a:p>
          <a:p>
            <a:pPr marL="0" indent="0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b="1" dirty="0"/>
              <a:t>Total Cost = Search Cost + Path Cost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FE084-A99C-6E43-D0FE-E7906DC61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FD5650-27C8-2E0E-3DE8-CFDA70BC4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9409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98532-44A2-C33C-6956-CFBF02226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Uninformed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E4265-4D2A-0109-2A99-807A76627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dirty="0"/>
              <a:t>Strategies that have </a:t>
            </a:r>
            <a:r>
              <a:rPr lang="en-GB" b="1" dirty="0"/>
              <a:t>no additional information </a:t>
            </a:r>
            <a:r>
              <a:rPr lang="en-GB" dirty="0"/>
              <a:t>about states beyond that provided in the problem definition. </a:t>
            </a:r>
          </a:p>
          <a:p>
            <a:r>
              <a:rPr lang="en-GB" dirty="0"/>
              <a:t>Only know</a:t>
            </a:r>
          </a:p>
          <a:p>
            <a:pPr lvl="1"/>
            <a:r>
              <a:rPr lang="en-GB" dirty="0"/>
              <a:t>Problem definition.</a:t>
            </a:r>
          </a:p>
          <a:p>
            <a:pPr lvl="1"/>
            <a:r>
              <a:rPr lang="en-GB" dirty="0"/>
              <a:t>How to generate successor.</a:t>
            </a:r>
          </a:p>
          <a:p>
            <a:pPr lvl="1"/>
            <a:r>
              <a:rPr lang="en-GB" dirty="0"/>
              <a:t>How to recognize a goal state.</a:t>
            </a:r>
          </a:p>
          <a:p>
            <a:pPr lvl="1"/>
            <a:endParaRPr lang="en-GB" dirty="0"/>
          </a:p>
          <a:p>
            <a:r>
              <a:rPr lang="en-GB" dirty="0"/>
              <a:t>Strategies only differ in the </a:t>
            </a:r>
            <a:r>
              <a:rPr lang="en-GB" b="1" dirty="0"/>
              <a:t>order they expand nodes</a:t>
            </a:r>
            <a:r>
              <a:rPr lang="en-GB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41C05-90AC-3502-9220-D9815E2DA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AF565F-F16B-EE8E-C73A-A85BAA2DC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856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A19CD-5207-6D10-3CF9-16CB665AA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Breadth-First 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BF2E0-ABAE-E922-4DB7-033147AD4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shallowest unexpanded node is chosen for expansion.</a:t>
            </a:r>
          </a:p>
          <a:p>
            <a:r>
              <a:rPr lang="en-GB" dirty="0"/>
              <a:t>Achieved by using a </a:t>
            </a:r>
            <a:r>
              <a:rPr lang="en-GB" b="1" dirty="0"/>
              <a:t>FIFO queue </a:t>
            </a:r>
            <a:r>
              <a:rPr lang="en-GB" dirty="0"/>
              <a:t>as frontier.</a:t>
            </a:r>
          </a:p>
          <a:p>
            <a:pPr lvl="1"/>
            <a:r>
              <a:rPr lang="en-GB" dirty="0"/>
              <a:t>New nodes go the back; old nodes are expanded first.</a:t>
            </a:r>
          </a:p>
          <a:p>
            <a:pPr lvl="1"/>
            <a:endParaRPr lang="en-GB" dirty="0"/>
          </a:p>
          <a:p>
            <a:r>
              <a:rPr lang="en-GB" b="1" dirty="0"/>
              <a:t>General approach is slightly changed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Goal test is applied during generation of node.</a:t>
            </a:r>
          </a:p>
          <a:p>
            <a:endParaRPr lang="en-GB" dirty="0"/>
          </a:p>
          <a:p>
            <a:r>
              <a:rPr lang="en-GB" dirty="0"/>
              <a:t>Always finds the shallowest path to any node.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9182C-B773-1445-3014-6587B5464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CE9BC-BF5D-0CEA-D58F-DDF7B082C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0940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1CA6A-2CF4-9A2C-1337-37EA72D06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F19A4-33EC-B7CC-319D-6CBDC80B0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283"/>
          </a:xfrm>
        </p:spPr>
        <p:txBody>
          <a:bodyPr>
            <a:normAutofit/>
          </a:bodyPr>
          <a:lstStyle/>
          <a:p>
            <a:r>
              <a:rPr lang="en-GB" sz="3600" dirty="0"/>
              <a:t>Breadth-First 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D73CB-E22A-C896-1FCB-525857030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4712"/>
            <a:ext cx="10515600" cy="5368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dirty="0"/>
              <a:t>function BREADTH-FIRST-SEARCH(problem) returns a solution, or failure</a:t>
            </a:r>
          </a:p>
          <a:p>
            <a:pPr marL="0" indent="0">
              <a:buNone/>
            </a:pPr>
            <a:r>
              <a:rPr lang="en-GB" sz="2000" dirty="0"/>
              <a:t> node ←a node with STATE = </a:t>
            </a:r>
            <a:r>
              <a:rPr lang="en-GB" sz="2000" dirty="0" err="1"/>
              <a:t>problem.INITIAL</a:t>
            </a:r>
            <a:r>
              <a:rPr lang="en-GB" sz="2000" dirty="0"/>
              <a:t>-STATE,PATH-COST =0</a:t>
            </a:r>
          </a:p>
          <a:p>
            <a:pPr marL="0" indent="0">
              <a:buNone/>
            </a:pPr>
            <a:r>
              <a:rPr lang="en-GB" sz="2000" dirty="0"/>
              <a:t> if </a:t>
            </a:r>
            <a:r>
              <a:rPr lang="en-GB" sz="2000" dirty="0" err="1"/>
              <a:t>problem.GOAL</a:t>
            </a:r>
            <a:r>
              <a:rPr lang="en-GB" sz="2000" dirty="0"/>
              <a:t>-TEST(</a:t>
            </a:r>
            <a:r>
              <a:rPr lang="en-GB" sz="2000" dirty="0" err="1"/>
              <a:t>node.STATE</a:t>
            </a:r>
            <a:r>
              <a:rPr lang="en-GB" sz="2000" dirty="0"/>
              <a:t>) then return SOLUTION(node)</a:t>
            </a:r>
          </a:p>
          <a:p>
            <a:pPr marL="0" indent="0">
              <a:buNone/>
            </a:pPr>
            <a:r>
              <a:rPr lang="en-GB" sz="2000" dirty="0"/>
              <a:t> frontier ←a FIFO queue with node as the only element</a:t>
            </a:r>
          </a:p>
          <a:p>
            <a:pPr marL="0" indent="0">
              <a:buNone/>
            </a:pPr>
            <a:r>
              <a:rPr lang="en-GB" sz="2000" dirty="0"/>
              <a:t> explored ←an empty set</a:t>
            </a:r>
          </a:p>
          <a:p>
            <a:pPr marL="0" indent="0">
              <a:buNone/>
            </a:pPr>
            <a:r>
              <a:rPr lang="en-GB" sz="2000" dirty="0"/>
              <a:t> loop do</a:t>
            </a:r>
          </a:p>
          <a:p>
            <a:pPr marL="0" indent="0">
              <a:buNone/>
            </a:pPr>
            <a:r>
              <a:rPr lang="en-GB" sz="2000" dirty="0"/>
              <a:t> 	if EMPTY?(frontier) then return failure</a:t>
            </a:r>
          </a:p>
          <a:p>
            <a:pPr marL="0" indent="0">
              <a:buNone/>
            </a:pPr>
            <a:r>
              <a:rPr lang="en-GB" sz="2000" dirty="0"/>
              <a:t>	node ←POP(frontier) /* chooses the shallowest node in frontier */</a:t>
            </a:r>
          </a:p>
          <a:p>
            <a:pPr marL="0" indent="0">
              <a:buNone/>
            </a:pPr>
            <a:r>
              <a:rPr lang="en-GB" sz="2000" dirty="0"/>
              <a:t> 	add </a:t>
            </a:r>
            <a:r>
              <a:rPr lang="en-GB" sz="2000" dirty="0" err="1"/>
              <a:t>node.STATE</a:t>
            </a:r>
            <a:r>
              <a:rPr lang="en-GB" sz="2000" dirty="0"/>
              <a:t> to explored</a:t>
            </a:r>
          </a:p>
          <a:p>
            <a:pPr marL="0" indent="0">
              <a:buNone/>
            </a:pPr>
            <a:r>
              <a:rPr lang="en-GB" sz="2000" dirty="0"/>
              <a:t> 	for each action in </a:t>
            </a:r>
            <a:r>
              <a:rPr lang="en-GB" sz="2000" dirty="0" err="1"/>
              <a:t>problem.ACTIONS</a:t>
            </a:r>
            <a:r>
              <a:rPr lang="en-GB" sz="2000" dirty="0"/>
              <a:t>(</a:t>
            </a:r>
            <a:r>
              <a:rPr lang="en-GB" sz="2000" dirty="0" err="1"/>
              <a:t>node.STATE</a:t>
            </a:r>
            <a:r>
              <a:rPr lang="en-GB" sz="2000" dirty="0"/>
              <a:t>) do</a:t>
            </a:r>
          </a:p>
          <a:p>
            <a:pPr marL="0" indent="0">
              <a:buNone/>
            </a:pPr>
            <a:r>
              <a:rPr lang="en-GB" sz="2000" dirty="0"/>
              <a:t> 		child ←CHILD-NODE(</a:t>
            </a:r>
            <a:r>
              <a:rPr lang="en-GB" sz="2000" dirty="0" err="1"/>
              <a:t>problem,node,action</a:t>
            </a:r>
            <a:r>
              <a:rPr lang="en-GB" sz="2000" dirty="0"/>
              <a:t>)</a:t>
            </a:r>
          </a:p>
          <a:p>
            <a:pPr marL="0" indent="0">
              <a:buNone/>
            </a:pPr>
            <a:r>
              <a:rPr lang="en-GB" sz="2000" dirty="0"/>
              <a:t> 		if </a:t>
            </a:r>
            <a:r>
              <a:rPr lang="en-GB" sz="2000" dirty="0" err="1"/>
              <a:t>child.STATE</a:t>
            </a:r>
            <a:r>
              <a:rPr lang="en-GB" sz="2000" dirty="0"/>
              <a:t> is not in explored or frontier then</a:t>
            </a:r>
          </a:p>
          <a:p>
            <a:pPr marL="0" indent="0">
              <a:buNone/>
            </a:pPr>
            <a:r>
              <a:rPr lang="en-GB" sz="2000" dirty="0"/>
              <a:t> 			if </a:t>
            </a:r>
            <a:r>
              <a:rPr lang="en-GB" sz="2000" dirty="0" err="1"/>
              <a:t>problem.GOAL</a:t>
            </a:r>
            <a:r>
              <a:rPr lang="en-GB" sz="2000" dirty="0"/>
              <a:t>-TEST(</a:t>
            </a:r>
            <a:r>
              <a:rPr lang="en-GB" sz="2000" dirty="0" err="1"/>
              <a:t>child.STATE</a:t>
            </a:r>
            <a:r>
              <a:rPr lang="en-GB" sz="2000" dirty="0"/>
              <a:t>) then return SOLUTION(child)</a:t>
            </a:r>
          </a:p>
          <a:p>
            <a:pPr marL="0" indent="0">
              <a:buNone/>
            </a:pPr>
            <a:r>
              <a:rPr lang="en-GB" sz="2000" dirty="0"/>
              <a:t> 			frontier ←INSERT(</a:t>
            </a:r>
            <a:r>
              <a:rPr lang="en-GB" sz="2000" dirty="0" err="1"/>
              <a:t>child,frontier</a:t>
            </a:r>
            <a:r>
              <a:rPr lang="en-GB" sz="2000" dirty="0"/>
              <a:t>)</a:t>
            </a:r>
          </a:p>
          <a:p>
            <a:pPr marL="0" indent="0">
              <a:buNone/>
            </a:pPr>
            <a:endParaRPr lang="en-GB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26480-2554-63DD-F0C6-A0D20A927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62714F-8339-4AD0-117B-3BE12A014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0788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F1E46-C66A-B433-2A91-44E956FC2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BFS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C4D64-417E-5BBD-8FAE-68EE97470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sz="3600" dirty="0"/>
              <a:t>Is it Complete?</a:t>
            </a:r>
          </a:p>
          <a:p>
            <a:pPr marL="0" indent="0" algn="ctr">
              <a:buNone/>
            </a:pPr>
            <a:endParaRPr lang="en-GB" sz="3600" dirty="0"/>
          </a:p>
          <a:p>
            <a:pPr marL="0" indent="0" algn="ctr">
              <a:buNone/>
            </a:pPr>
            <a:r>
              <a:rPr lang="en-GB" sz="3600" dirty="0"/>
              <a:t>Is it Optimal?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87612-0A5B-05F7-DE59-8A0F84E3D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03DC6D-CB44-9C92-942F-B95C6D668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026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50B07-854D-A399-71F8-00691D3C6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BFS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1D8E1C-3D6C-3BDC-BA20-3AF8C86A6C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What about time complexity?</a:t>
                </a:r>
              </a:p>
              <a:p>
                <a:r>
                  <a:rPr lang="en-GB" dirty="0"/>
                  <a:t>We are not talking about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Think about branching factor and depth.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1D8E1C-3D6C-3BDC-BA20-3AF8C86A6C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C3D92-5C73-8056-0369-8F91F1ECB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AC28F6-EA42-4D80-8E7B-AE6933B3A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30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13FCF-708B-FEC8-B1C4-579985892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90AF4-526B-747A-A8DD-C9A3C35C4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BFS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CF9864-BA00-6E5F-2ACE-6DC7CF9672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dirty="0"/>
                  <a:t>Consider searching a uniform tree.</a:t>
                </a:r>
              </a:p>
              <a:p>
                <a:pPr lvl="1"/>
                <a:r>
                  <a:rPr lang="en-GB" dirty="0"/>
                  <a:t>Every state has b successor.</a:t>
                </a:r>
              </a:p>
              <a:p>
                <a:pPr lvl="1"/>
                <a:r>
                  <a:rPr lang="en-GB" dirty="0"/>
                  <a:t>Like complete binary tree.(b=2)</a:t>
                </a:r>
              </a:p>
              <a:p>
                <a:r>
                  <a:rPr lang="en-GB" dirty="0"/>
                  <a:t>At each level number of states is multiplied by b.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,…, 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en-GB" dirty="0"/>
              </a:p>
              <a:p>
                <a:r>
                  <a:rPr lang="en-GB" dirty="0"/>
                  <a:t>In worst case, the solution is the last node of depth d.</a:t>
                </a:r>
              </a:p>
              <a:p>
                <a:r>
                  <a:rPr lang="en-GB" dirty="0"/>
                  <a:t>Then total number of node generated is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+…+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endParaRPr lang="en-GB" b="0" dirty="0"/>
              </a:p>
              <a:p>
                <a:r>
                  <a:rPr lang="en-GB" dirty="0"/>
                  <a:t>What would happen if we didn’t test goal node during generation?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CF9864-BA00-6E5F-2ACE-6DC7CF9672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3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F4155-D2E6-0E19-831F-E2252438A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7766ED-9E23-1CA5-CDFD-392A339E7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2800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9D8AE-068C-852A-480D-0742658F5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BFS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15A9B4-79BC-3F81-0878-0CF9F022C9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How about space complexity?</a:t>
                </a:r>
              </a:p>
              <a:p>
                <a:r>
                  <a:rPr lang="en-GB" dirty="0"/>
                  <a:t>Every node generated remains in the memory.</a:t>
                </a:r>
              </a:p>
              <a:p>
                <a:pPr lvl="1"/>
                <a:r>
                  <a:rPr lang="en-GB" dirty="0"/>
                  <a:t>Either in frontier, or in the explored set.</a:t>
                </a:r>
              </a:p>
              <a:p>
                <a:pPr lvl="1"/>
                <a:r>
                  <a:rPr lang="en-GB" dirty="0"/>
                  <a:t>Hence,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15A9B4-79BC-3F81-0878-0CF9F022C9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95667-5151-4C61-DB0B-9C551F77D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124C63-1827-64FA-3B36-318B7C59A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10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0E08E-4CDD-781E-A8AA-48DC684BD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Uniform-cost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4A31A2-0A3D-2349-1688-B5E6997FDD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BFS is optimal when step-costs are equal.</a:t>
                </a:r>
              </a:p>
              <a:p>
                <a:r>
                  <a:rPr lang="en-GB" dirty="0"/>
                  <a:t>With a simple extension, we can find an algorithm that is optimal with any step-cost function.</a:t>
                </a:r>
              </a:p>
              <a:p>
                <a:pPr lvl="1"/>
                <a:r>
                  <a:rPr lang="en-GB" dirty="0"/>
                  <a:t>Dijkstra?</a:t>
                </a:r>
              </a:p>
              <a:p>
                <a:r>
                  <a:rPr lang="en-GB" dirty="0"/>
                  <a:t>Instead of expanding the shallowest node, Uniform-Cost Search expands the node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with the </a:t>
                </a:r>
                <a:r>
                  <a:rPr lang="en-GB" b="1" dirty="0"/>
                  <a:t>lowest path cost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1" dirty="0"/>
                  <a:t>.</a:t>
                </a:r>
              </a:p>
              <a:p>
                <a:r>
                  <a:rPr lang="en-GB" dirty="0"/>
                  <a:t>Done by storing the frontier as a </a:t>
                </a:r>
                <a:r>
                  <a:rPr lang="en-GB" b="1" dirty="0"/>
                  <a:t>priority queue </a:t>
                </a:r>
                <a:r>
                  <a:rPr lang="en-GB" dirty="0"/>
                  <a:t>ordered by g.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4A31A2-0A3D-2349-1688-B5E6997FDD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99617-069A-E29B-A0B2-20CF8F66D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5BE56D-C843-ABC9-6615-F3346FF71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77842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5A072-26CF-A108-0F41-8D95A8CE3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16BE0-0605-478F-95AB-1F82682DA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715"/>
          </a:xfrm>
        </p:spPr>
        <p:txBody>
          <a:bodyPr>
            <a:normAutofit/>
          </a:bodyPr>
          <a:lstStyle/>
          <a:p>
            <a:r>
              <a:rPr lang="en-GB" sz="3600" dirty="0"/>
              <a:t>Uniform-cost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66062-1A41-5496-AF8B-9810625CB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6424"/>
            <a:ext cx="10515600" cy="507053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dirty="0"/>
              <a:t> function UNIFORM-COST-SEARCH(problem) returns a solution, or failure</a:t>
            </a:r>
          </a:p>
          <a:p>
            <a:pPr marL="0" indent="0">
              <a:buNone/>
            </a:pPr>
            <a:r>
              <a:rPr lang="en-GB" dirty="0"/>
              <a:t> 	node ←a node with STATE = </a:t>
            </a:r>
            <a:r>
              <a:rPr lang="en-GB" dirty="0" err="1"/>
              <a:t>problem.INITIAL</a:t>
            </a:r>
            <a:r>
              <a:rPr lang="en-GB" dirty="0"/>
              <a:t>-STATE, PATH-COST =0</a:t>
            </a:r>
          </a:p>
          <a:p>
            <a:pPr marL="0" indent="0">
              <a:buNone/>
            </a:pPr>
            <a:r>
              <a:rPr lang="en-GB" dirty="0"/>
              <a:t> 	frontier ←a </a:t>
            </a:r>
            <a:r>
              <a:rPr lang="en-GB" b="1" dirty="0"/>
              <a:t>priority queue </a:t>
            </a:r>
            <a:r>
              <a:rPr lang="en-GB" dirty="0"/>
              <a:t>ordered by PATH-COST, with node as the only element</a:t>
            </a:r>
          </a:p>
          <a:p>
            <a:pPr marL="0" indent="0">
              <a:buNone/>
            </a:pPr>
            <a:r>
              <a:rPr lang="en-GB" dirty="0"/>
              <a:t> 	explored ←an empty set</a:t>
            </a:r>
          </a:p>
          <a:p>
            <a:pPr marL="0" indent="0">
              <a:buNone/>
            </a:pPr>
            <a:r>
              <a:rPr lang="en-GB" dirty="0"/>
              <a:t>	 loop do</a:t>
            </a:r>
          </a:p>
          <a:p>
            <a:pPr marL="0" indent="0">
              <a:buNone/>
            </a:pPr>
            <a:r>
              <a:rPr lang="en-GB" dirty="0"/>
              <a:t>		 if EMPTY?(frontier) then return failure</a:t>
            </a:r>
          </a:p>
          <a:p>
            <a:pPr marL="0" indent="0">
              <a:buNone/>
            </a:pPr>
            <a:r>
              <a:rPr lang="en-GB" dirty="0"/>
              <a:t> 		node ←POP(frontier) /* chooses the lowest-cost node in frontier */</a:t>
            </a:r>
          </a:p>
          <a:p>
            <a:pPr marL="0" indent="0">
              <a:buNone/>
            </a:pPr>
            <a:r>
              <a:rPr lang="en-GB" dirty="0"/>
              <a:t>		 if </a:t>
            </a:r>
            <a:r>
              <a:rPr lang="en-GB" dirty="0" err="1"/>
              <a:t>problem.GOAL</a:t>
            </a:r>
            <a:r>
              <a:rPr lang="en-GB" dirty="0"/>
              <a:t>-TEST(</a:t>
            </a:r>
            <a:r>
              <a:rPr lang="en-GB" dirty="0" err="1"/>
              <a:t>node.STATE</a:t>
            </a:r>
            <a:r>
              <a:rPr lang="en-GB" dirty="0"/>
              <a:t>) then return SOLUTION(node)</a:t>
            </a:r>
          </a:p>
          <a:p>
            <a:pPr marL="0" indent="0">
              <a:buNone/>
            </a:pPr>
            <a:r>
              <a:rPr lang="en-GB" dirty="0"/>
              <a:t> 			add </a:t>
            </a:r>
            <a:r>
              <a:rPr lang="en-GB" dirty="0" err="1"/>
              <a:t>node.STATE</a:t>
            </a:r>
            <a:r>
              <a:rPr lang="en-GB" dirty="0"/>
              <a:t> to explored</a:t>
            </a:r>
          </a:p>
          <a:p>
            <a:pPr marL="0" indent="0">
              <a:buNone/>
            </a:pPr>
            <a:r>
              <a:rPr lang="en-GB" dirty="0"/>
              <a:t> 		for each action in </a:t>
            </a:r>
            <a:r>
              <a:rPr lang="en-GB" dirty="0" err="1"/>
              <a:t>problem.ACTIONS</a:t>
            </a:r>
            <a:r>
              <a:rPr lang="en-GB" dirty="0"/>
              <a:t>(</a:t>
            </a:r>
            <a:r>
              <a:rPr lang="en-GB" dirty="0" err="1"/>
              <a:t>node.STATE</a:t>
            </a:r>
            <a:r>
              <a:rPr lang="en-GB" dirty="0"/>
              <a:t>) do</a:t>
            </a:r>
          </a:p>
          <a:p>
            <a:pPr marL="0" indent="0">
              <a:buNone/>
            </a:pPr>
            <a:r>
              <a:rPr lang="en-GB" dirty="0"/>
              <a:t>			child ←CHILD-NODE(</a:t>
            </a:r>
            <a:r>
              <a:rPr lang="en-GB" dirty="0" err="1"/>
              <a:t>problem,node,action</a:t>
            </a:r>
            <a:r>
              <a:rPr lang="en-GB" dirty="0"/>
              <a:t>)</a:t>
            </a:r>
          </a:p>
          <a:p>
            <a:pPr marL="0" indent="0">
              <a:buNone/>
            </a:pPr>
            <a:r>
              <a:rPr lang="en-GB" dirty="0"/>
              <a:t>			if </a:t>
            </a:r>
            <a:r>
              <a:rPr lang="en-GB" dirty="0" err="1"/>
              <a:t>child.STATE</a:t>
            </a:r>
            <a:r>
              <a:rPr lang="en-GB" dirty="0"/>
              <a:t> is not in explored or frontier then</a:t>
            </a:r>
          </a:p>
          <a:p>
            <a:pPr marL="0" indent="0">
              <a:buNone/>
            </a:pPr>
            <a:r>
              <a:rPr lang="en-GB" dirty="0"/>
              <a:t>			 	frontier ←INSERT(</a:t>
            </a:r>
            <a:r>
              <a:rPr lang="en-GB" dirty="0" err="1"/>
              <a:t>child,frontier</a:t>
            </a:r>
            <a:r>
              <a:rPr lang="en-GB" dirty="0"/>
              <a:t>)</a:t>
            </a:r>
          </a:p>
          <a:p>
            <a:pPr marL="0" indent="0">
              <a:buNone/>
            </a:pPr>
            <a:r>
              <a:rPr lang="en-GB" dirty="0"/>
              <a:t> 			else if </a:t>
            </a:r>
            <a:r>
              <a:rPr lang="en-GB" dirty="0" err="1"/>
              <a:t>child.STATE</a:t>
            </a:r>
            <a:r>
              <a:rPr lang="en-GB" dirty="0"/>
              <a:t> is in frontier with higher PATH-COST then</a:t>
            </a:r>
          </a:p>
          <a:p>
            <a:pPr marL="0" indent="0">
              <a:buNone/>
            </a:pPr>
            <a:r>
              <a:rPr lang="en-GB" dirty="0"/>
              <a:t>				replace that frontier node with child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39CB1-89C5-F920-9595-D4EE54D02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2C1AC8-2A0C-8949-7A81-A2EA8C0E4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6841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42F59-9FFC-F63B-3068-17C4265A4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Performance of Uniform-cost Search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315B08-FD57-5E54-F0D6-70FF52FA2C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7344" y="1825625"/>
                <a:ext cx="10515600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GB" dirty="0"/>
                  <a:t>Is it complete?</a:t>
                </a:r>
              </a:p>
              <a:p>
                <a:r>
                  <a:rPr lang="en-GB" dirty="0"/>
                  <a:t>Is it optimal?</a:t>
                </a:r>
              </a:p>
              <a:p>
                <a:r>
                  <a:rPr lang="en-GB" dirty="0"/>
                  <a:t>What about complexity?</a:t>
                </a:r>
              </a:p>
              <a:p>
                <a:r>
                  <a:rPr lang="en-GB" dirty="0"/>
                  <a:t>Does not care about number of step, but only about the total path.</a:t>
                </a:r>
              </a:p>
              <a:p>
                <a:pPr lvl="1"/>
                <a:r>
                  <a:rPr lang="en-GB" dirty="0"/>
                  <a:t>Complexity is complex, doesn’t consider b or d.</a:t>
                </a:r>
              </a:p>
              <a:p>
                <a:r>
                  <a:rPr lang="en-GB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GB" dirty="0"/>
                  <a:t> be  the cost of the optimal solution.</a:t>
                </a:r>
              </a:p>
              <a:p>
                <a:r>
                  <a:rPr lang="en-GB" dirty="0"/>
                  <a:t>Assume every action costs at least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Then algorithm’s worst-case time and space complexity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d>
                          <m:dPr>
                            <m:begChr m:val="⌊"/>
                            <m:endChr m:val="]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</m:den>
                            </m:f>
                          </m:e>
                        </m:d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315B08-FD57-5E54-F0D6-70FF52FA2C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7344" y="1825625"/>
                <a:ext cx="10515600" cy="4351338"/>
              </a:xfrm>
              <a:blipFill>
                <a:blip r:embed="rId2"/>
                <a:stretch>
                  <a:fillRect l="-870" t="-2241" r="-5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C8D38-4D03-116C-7F2E-5163D5BD6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05B104-5F98-9EF4-CFE6-58360CE45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4521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0869F-3503-91D2-82FB-9DD5A945E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A1EAC-982B-B385-9F51-4B7CF5F8E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Performance of Uniform-cost Search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95AD70-734E-FB66-2323-979F63EC6F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7344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Does not care about number of step, but only about the total path.</a:t>
                </a:r>
              </a:p>
              <a:p>
                <a:pPr lvl="1"/>
                <a:r>
                  <a:rPr lang="en-GB" dirty="0"/>
                  <a:t>Complexity is complex, doesn’t consider b or d.</a:t>
                </a:r>
              </a:p>
              <a:p>
                <a:r>
                  <a:rPr lang="en-GB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GB" dirty="0"/>
                  <a:t> be  the cost of the optimal solution.</a:t>
                </a:r>
              </a:p>
              <a:p>
                <a:r>
                  <a:rPr lang="en-GB" dirty="0"/>
                  <a:t>Assume every action costs at least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Then algorithm’s worst-case time and space complexity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d>
                          <m:dPr>
                            <m:begChr m:val="⌊"/>
                            <m:endChr m:val="]"/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</m:den>
                            </m:f>
                          </m:e>
                        </m:d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95AD70-734E-FB66-2323-979F63EC6F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7344" y="182562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EE236-88D7-F09B-DFD0-8FEFDF664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1249FB-6BFD-0E64-459B-F0687B0A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528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7B8AC-C825-2326-515B-AD28E7D84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Depth-First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7A526-E4F2-C082-1929-C8A9E08B9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Expands the </a:t>
            </a:r>
            <a:r>
              <a:rPr lang="en-GB" b="1" dirty="0"/>
              <a:t>deepest node </a:t>
            </a:r>
            <a:r>
              <a:rPr lang="en-GB" dirty="0"/>
              <a:t>in the current frontier.</a:t>
            </a:r>
          </a:p>
          <a:p>
            <a:r>
              <a:rPr lang="en-GB" dirty="0"/>
              <a:t>Uses a </a:t>
            </a:r>
            <a:r>
              <a:rPr lang="en-GB" b="1" dirty="0"/>
              <a:t>LIFO</a:t>
            </a:r>
            <a:r>
              <a:rPr lang="en-GB" dirty="0"/>
              <a:t> queue.</a:t>
            </a:r>
          </a:p>
          <a:p>
            <a:pPr lvl="1"/>
            <a:r>
              <a:rPr lang="en-GB" dirty="0"/>
              <a:t>Stack.</a:t>
            </a:r>
          </a:p>
          <a:p>
            <a:r>
              <a:rPr lang="en-GB" dirty="0"/>
              <a:t>Most recently generated node is chosen for expansion.</a:t>
            </a:r>
          </a:p>
          <a:p>
            <a:pPr lvl="1"/>
            <a:r>
              <a:rPr lang="en-GB" dirty="0"/>
              <a:t>Often implemented in </a:t>
            </a:r>
            <a:r>
              <a:rPr lang="en-GB" b="1" dirty="0"/>
              <a:t>recursive manner.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11959-E529-FE87-02BD-019012641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75711-9BB5-0742-53E1-74B1DBF0D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3410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39F12-9154-C645-2493-A871D69A8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7B218-728F-0BE1-5230-BEAAE71B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Depth-First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0A1D9E-B14E-2DD6-BA45-4848406C57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How about the performance?</a:t>
                </a:r>
              </a:p>
              <a:p>
                <a:pPr lvl="1"/>
                <a:r>
                  <a:rPr lang="en-GB" dirty="0"/>
                  <a:t>Optimal?</a:t>
                </a:r>
              </a:p>
              <a:p>
                <a:pPr lvl="1"/>
                <a:r>
                  <a:rPr lang="en-GB" dirty="0"/>
                  <a:t>Complete?</a:t>
                </a:r>
              </a:p>
              <a:p>
                <a:r>
                  <a:rPr lang="en-GB" dirty="0"/>
                  <a:t>How about complexity?</a:t>
                </a:r>
              </a:p>
              <a:p>
                <a:pPr lvl="1"/>
                <a:r>
                  <a:rPr lang="en-GB" dirty="0"/>
                  <a:t>Time Complexity?</a:t>
                </a:r>
              </a:p>
              <a:p>
                <a:pPr lvl="1"/>
                <a:r>
                  <a:rPr lang="en-GB" dirty="0"/>
                  <a:t>Space Complexity?</a:t>
                </a:r>
              </a:p>
              <a:p>
                <a:pPr lvl="1"/>
                <a:endParaRPr lang="en-GB" dirty="0"/>
              </a:p>
              <a:p>
                <a:r>
                  <a:rPr lang="en-GB" dirty="0"/>
                  <a:t>May generate all of the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nodes in the search tree.</a:t>
                </a:r>
              </a:p>
              <a:p>
                <a:pPr lvl="1"/>
                <a:r>
                  <a:rPr lang="en-GB" dirty="0"/>
                  <a:t>m is the maximum depth of any node.</a:t>
                </a:r>
              </a:p>
              <a:p>
                <a:pPr lvl="1"/>
                <a:r>
                  <a:rPr lang="en-GB" dirty="0"/>
                  <a:t>Can be infinite.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0A1D9E-B14E-2DD6-BA45-4848406C57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b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71116-03F3-7D7A-35A0-C2D64B7B9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764EED-BA7F-F0A7-6A90-F60013480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3177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02460-D9AC-E3D0-7DC6-C8F2FCFE2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Depth-First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6B3DA8-3A63-2468-1D32-443C616052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So why do we need DFS?</a:t>
                </a:r>
              </a:p>
              <a:p>
                <a:r>
                  <a:rPr lang="en-GB" dirty="0"/>
                  <a:t>Space complexity!</a:t>
                </a:r>
              </a:p>
              <a:p>
                <a:r>
                  <a:rPr lang="en-GB" dirty="0"/>
                  <a:t>On a graph?</a:t>
                </a:r>
              </a:p>
              <a:p>
                <a:r>
                  <a:rPr lang="en-GB" dirty="0"/>
                  <a:t>On a tree?</a:t>
                </a:r>
              </a:p>
              <a:p>
                <a:r>
                  <a:rPr lang="en-GB" dirty="0"/>
                  <a:t>For a state space with branching factor b and maximum depth m, DFS  requires storage of only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𝑏𝑚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6B3DA8-3A63-2468-1D32-443C616052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CF232-F84E-C9F7-F53C-5F5679D6E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17DA4F-98DF-6AC1-2AA3-F2F36498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71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96E52-E5DD-A981-802C-442860991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Depth-Limited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EC6C0-25DB-7E48-C17C-E9006592D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DFS fails in infinite state space.</a:t>
            </a:r>
          </a:p>
          <a:p>
            <a:r>
              <a:rPr lang="en-GB" dirty="0"/>
              <a:t>This is solved by depth-limited search.</a:t>
            </a:r>
          </a:p>
          <a:p>
            <a:r>
              <a:rPr lang="en-GB" dirty="0"/>
              <a:t>A predetermined depth limit (l) is selected first.</a:t>
            </a:r>
          </a:p>
          <a:p>
            <a:r>
              <a:rPr lang="en-GB" dirty="0"/>
              <a:t>DFS treats the nodes at level l as leaf.</a:t>
            </a:r>
          </a:p>
          <a:p>
            <a:pPr lvl="1"/>
            <a:r>
              <a:rPr lang="en-GB" dirty="0"/>
              <a:t>The successors of level l+1 are ignored.</a:t>
            </a:r>
          </a:p>
          <a:p>
            <a:pPr lvl="1"/>
            <a:endParaRPr lang="en-GB" dirty="0"/>
          </a:p>
          <a:p>
            <a:r>
              <a:rPr lang="en-GB" dirty="0"/>
              <a:t>Is it complete?</a:t>
            </a:r>
          </a:p>
          <a:p>
            <a:r>
              <a:rPr lang="en-GB" dirty="0"/>
              <a:t>Is it optimal?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E8871-3D7E-DC4B-C96A-12AB86BB4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3E6CD-4399-402E-08DD-99D192673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4126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39E53-9B25-83D4-C223-3C5D11F4D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4723"/>
          </a:xfrm>
        </p:spPr>
        <p:txBody>
          <a:bodyPr>
            <a:normAutofit/>
          </a:bodyPr>
          <a:lstStyle/>
          <a:p>
            <a:r>
              <a:rPr lang="en-GB" sz="3600" dirty="0"/>
              <a:t>Depth-Limited Search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08D7E-B6E5-55F5-936C-1CDDA0824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7008"/>
            <a:ext cx="10515600" cy="496995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sz="2200" dirty="0"/>
              <a:t>function DEPTH-LIMITED-SEARCH(</a:t>
            </a:r>
            <a:r>
              <a:rPr lang="en-US" sz="2200" dirty="0" err="1"/>
              <a:t>problem,limit</a:t>
            </a:r>
            <a:r>
              <a:rPr lang="en-US" sz="2200" dirty="0"/>
              <a:t>) returns a solution, or failure/cutoff</a:t>
            </a:r>
          </a:p>
          <a:p>
            <a:pPr marL="0" indent="0">
              <a:buNone/>
            </a:pPr>
            <a:r>
              <a:rPr lang="en-US" sz="2200" dirty="0"/>
              <a:t> 	return RECURSIVE-DLS(MAKE-NODE(</a:t>
            </a:r>
            <a:r>
              <a:rPr lang="en-US" sz="2200" dirty="0" err="1"/>
              <a:t>problem.INITIAL</a:t>
            </a:r>
            <a:r>
              <a:rPr lang="en-US" sz="2200" dirty="0"/>
              <a:t>-STATE),</a:t>
            </a:r>
            <a:r>
              <a:rPr lang="en-US" sz="2200" dirty="0" err="1"/>
              <a:t>problem,limit</a:t>
            </a:r>
            <a:r>
              <a:rPr lang="en-US" sz="2200" dirty="0"/>
              <a:t>)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 function RECURSIVE-DLS(</a:t>
            </a:r>
            <a:r>
              <a:rPr lang="en-US" sz="2200" dirty="0" err="1"/>
              <a:t>node,problem,limit</a:t>
            </a:r>
            <a:r>
              <a:rPr lang="en-US" sz="2200" dirty="0"/>
              <a:t>) returns a solution, or failure/cutoff</a:t>
            </a:r>
          </a:p>
          <a:p>
            <a:pPr marL="0" indent="0">
              <a:buNone/>
            </a:pPr>
            <a:r>
              <a:rPr lang="en-US" sz="2200" dirty="0"/>
              <a:t>	if </a:t>
            </a:r>
            <a:r>
              <a:rPr lang="en-US" sz="2200" dirty="0" err="1"/>
              <a:t>problem.GOAL</a:t>
            </a:r>
            <a:r>
              <a:rPr lang="en-US" sz="2200" dirty="0"/>
              <a:t>-TEST(</a:t>
            </a:r>
            <a:r>
              <a:rPr lang="en-US" sz="2200" dirty="0" err="1"/>
              <a:t>node.STATE</a:t>
            </a:r>
            <a:r>
              <a:rPr lang="en-US" sz="2200" dirty="0"/>
              <a:t>) then return SOLUTION(node)</a:t>
            </a:r>
          </a:p>
          <a:p>
            <a:pPr marL="0" indent="0">
              <a:buNone/>
            </a:pPr>
            <a:r>
              <a:rPr lang="en-US" sz="2200" dirty="0"/>
              <a:t>	else if limit =0 then return cutoff</a:t>
            </a:r>
          </a:p>
          <a:p>
            <a:pPr marL="0" indent="0">
              <a:buNone/>
            </a:pPr>
            <a:r>
              <a:rPr lang="en-US" sz="2200" dirty="0"/>
              <a:t>	else</a:t>
            </a:r>
          </a:p>
          <a:p>
            <a:pPr marL="0" indent="0">
              <a:buNone/>
            </a:pPr>
            <a:r>
              <a:rPr lang="en-US" sz="2200" dirty="0"/>
              <a:t>		cutoff occurred?←false</a:t>
            </a:r>
          </a:p>
          <a:p>
            <a:pPr marL="0" indent="0">
              <a:buNone/>
            </a:pPr>
            <a:r>
              <a:rPr lang="en-US" sz="2200" dirty="0"/>
              <a:t>		for each action in </a:t>
            </a:r>
            <a:r>
              <a:rPr lang="en-US" sz="2200" dirty="0" err="1"/>
              <a:t>problem.ACTIONS</a:t>
            </a:r>
            <a:r>
              <a:rPr lang="en-US" sz="2200" dirty="0"/>
              <a:t>(</a:t>
            </a:r>
            <a:r>
              <a:rPr lang="en-US" sz="2200" dirty="0" err="1"/>
              <a:t>node.STATE</a:t>
            </a:r>
            <a:r>
              <a:rPr lang="en-US" sz="2200" dirty="0"/>
              <a:t>) do</a:t>
            </a:r>
          </a:p>
          <a:p>
            <a:pPr marL="0" indent="0">
              <a:buNone/>
            </a:pPr>
            <a:r>
              <a:rPr lang="en-US" sz="2200" dirty="0"/>
              <a:t>			child ←CHILD-NODE(</a:t>
            </a:r>
            <a:r>
              <a:rPr lang="en-US" sz="2200" dirty="0" err="1"/>
              <a:t>problem,node,action</a:t>
            </a:r>
            <a:r>
              <a:rPr lang="en-US" sz="2200" dirty="0"/>
              <a:t>)</a:t>
            </a:r>
          </a:p>
          <a:p>
            <a:pPr marL="0" indent="0">
              <a:buNone/>
            </a:pPr>
            <a:r>
              <a:rPr lang="en-US" sz="2200" dirty="0"/>
              <a:t>			result ←RECURSIVE-DLS(</a:t>
            </a:r>
            <a:r>
              <a:rPr lang="en-US" sz="2200" dirty="0" err="1"/>
              <a:t>child,problem,limit</a:t>
            </a:r>
            <a:r>
              <a:rPr lang="en-US" sz="2200" dirty="0"/>
              <a:t> − 1)</a:t>
            </a:r>
          </a:p>
          <a:p>
            <a:pPr marL="0" indent="0">
              <a:buNone/>
            </a:pPr>
            <a:r>
              <a:rPr lang="en-US" sz="2200" dirty="0"/>
              <a:t>			if result = cutoff then cutoff occurred?←true</a:t>
            </a:r>
          </a:p>
          <a:p>
            <a:pPr marL="0" indent="0">
              <a:buNone/>
            </a:pPr>
            <a:r>
              <a:rPr lang="en-US" sz="2200" dirty="0"/>
              <a:t>			else if result= failure then return result</a:t>
            </a:r>
          </a:p>
          <a:p>
            <a:pPr marL="0" indent="0">
              <a:buNone/>
            </a:pPr>
            <a:r>
              <a:rPr lang="en-US" sz="2200" dirty="0"/>
              <a:t>		if cutoff occurred? then return cutoff else return failure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34D9E-D46B-0835-101C-5E9CE7D83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DA0E2D-F3B7-D09C-12A9-CCA5D19C0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261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9F21B-149D-69A6-235A-9D1E097CC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Iterative Deepening DFS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23918-BC61-453D-8F12-5A9B96152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IDS gradually increases the depth limit, until the goal is found.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3DA44-111D-84B5-2BEA-EC5A0B00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C0830-EC53-46FE-9141-5083983A7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44</a:t>
            </a:fld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45C9A3-DAF5-83F7-FCA6-8AC701D50844}"/>
                  </a:ext>
                </a:extLst>
              </p:cNvPr>
              <p:cNvSpPr txBox="1"/>
              <p:nvPr/>
            </p:nvSpPr>
            <p:spPr>
              <a:xfrm>
                <a:off x="1207008" y="2676727"/>
                <a:ext cx="9930384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>
                    <a:latin typeface="Consolas" panose="020B0609020204030204" pitchFamily="49" charset="0"/>
                  </a:rPr>
                  <a:t>Function ITERATIVE-DEEPENING-SEARCH(problem) returns a </a:t>
                </a:r>
                <a:r>
                  <a:rPr lang="en-GB" dirty="0" err="1">
                    <a:latin typeface="Consolas" panose="020B0609020204030204" pitchFamily="49" charset="0"/>
                  </a:rPr>
                  <a:t>solution,or</a:t>
                </a:r>
                <a:r>
                  <a:rPr lang="en-GB" dirty="0">
                    <a:latin typeface="Consolas" panose="020B0609020204030204" pitchFamily="49" charset="0"/>
                  </a:rPr>
                  <a:t> failure 	for depth = 0 to ∞ </a:t>
                </a:r>
              </a:p>
              <a:p>
                <a:r>
                  <a:rPr lang="en-GB" dirty="0">
                    <a:latin typeface="Consolas" panose="020B0609020204030204" pitchFamily="49" charset="0"/>
                  </a:rPr>
                  <a:t>		do result ← DEPTH-LIMITED-SEARCH(</a:t>
                </a:r>
                <a:r>
                  <a:rPr lang="en-GB" dirty="0" err="1">
                    <a:latin typeface="Consolas" panose="020B0609020204030204" pitchFamily="49" charset="0"/>
                  </a:rPr>
                  <a:t>problem,depth</a:t>
                </a:r>
                <a:r>
                  <a:rPr lang="en-GB" dirty="0">
                    <a:latin typeface="Consolas" panose="020B0609020204030204" pitchFamily="49" charset="0"/>
                  </a:rPr>
                  <a:t>)</a:t>
                </a:r>
              </a:p>
              <a:p>
                <a:r>
                  <a:rPr lang="en-GB" dirty="0">
                    <a:latin typeface="Consolas" panose="020B0609020204030204" pitchFamily="49" charset="0"/>
                  </a:rPr>
                  <a:t>		if result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GB" dirty="0">
                    <a:latin typeface="Consolas" panose="020B0609020204030204" pitchFamily="49" charset="0"/>
                  </a:rPr>
                  <a:t> cutoff then return result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E45C9A3-DAF5-83F7-FCA6-8AC701D50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008" y="2676727"/>
                <a:ext cx="9930384" cy="1200329"/>
              </a:xfrm>
              <a:prstGeom prst="rect">
                <a:avLst/>
              </a:prstGeom>
              <a:blipFill>
                <a:blip r:embed="rId2"/>
                <a:stretch>
                  <a:fillRect l="-491" t="-2538"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9937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A68BF-1800-505E-7F8D-60BEFE568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Iterative Deepening DFS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BB270-89C0-8EC7-0D22-9D5E61B4C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Combines the benefit of both BFS and DFS.</a:t>
            </a:r>
          </a:p>
          <a:p>
            <a:r>
              <a:rPr lang="en-GB" dirty="0"/>
              <a:t>Memory complexity?</a:t>
            </a:r>
          </a:p>
          <a:p>
            <a:pPr lvl="1"/>
            <a:r>
              <a:rPr lang="en-GB" dirty="0"/>
              <a:t>O(bd)</a:t>
            </a:r>
          </a:p>
          <a:p>
            <a:r>
              <a:rPr lang="en-GB" dirty="0"/>
              <a:t>Complete?</a:t>
            </a:r>
          </a:p>
          <a:p>
            <a:r>
              <a:rPr lang="en-GB" dirty="0"/>
              <a:t>How about time complexity?</a:t>
            </a:r>
          </a:p>
          <a:p>
            <a:r>
              <a:rPr lang="en-GB" dirty="0"/>
              <a:t>Aren’t we generating same node multiple times?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3A1DF-BD25-BC57-9C67-40F29346F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16E59E-F9ED-4BAC-A07D-3E3043F0A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5728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6B255-C98D-FEBB-DF8A-C69CF4B96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ADF90-4D77-20D2-6B74-FEAA958C9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Iterative Deepening DFS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102A8-A252-A0FC-12E0-D52CFFB83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Turns out it’s not that costly.</a:t>
            </a:r>
          </a:p>
          <a:p>
            <a:r>
              <a:rPr lang="en-GB" dirty="0"/>
              <a:t>Most of the nodes are in the bottom level.</a:t>
            </a:r>
          </a:p>
          <a:p>
            <a:r>
              <a:rPr lang="en-GB" dirty="0"/>
              <a:t>How does it compare with BFS?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842DC-0506-9AFB-DC08-15E4B2BB5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E2C3EF-8D8D-A989-BC97-BA8CF60A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4814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EFCC4-F91B-5634-915C-83E7AB788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Iterative Deepening DFS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0F31D8-194E-2A04-9DA5-8CA4502E30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Suppose the goal node is at level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Then we will generate the tree d times.</a:t>
                </a:r>
              </a:p>
              <a:p>
                <a:r>
                  <a:rPr lang="en-GB" dirty="0"/>
                  <a:t>How many time each level will be generated?</a:t>
                </a:r>
              </a:p>
              <a:p>
                <a:r>
                  <a:rPr lang="en-GB" dirty="0"/>
                  <a:t>The last level will be generated only once.</a:t>
                </a:r>
              </a:p>
              <a:p>
                <a:r>
                  <a:rPr lang="en-GB" dirty="0"/>
                  <a:t>The first level will be generated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dirty="0"/>
                  <a:t> times.</a:t>
                </a:r>
              </a:p>
              <a:p>
                <a:r>
                  <a:rPr lang="en-GB" dirty="0"/>
                  <a:t>In the worst-case total number of generated nodes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𝐼𝐷𝑆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+…+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GB" b="0" dirty="0"/>
              </a:p>
              <a:p>
                <a:r>
                  <a:rPr lang="en-GB" b="0" dirty="0"/>
                  <a:t>Asymptotically, this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0" dirty="0"/>
                  <a:t> similar to BFS.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0F31D8-194E-2A04-9DA5-8CA4502E30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63D37-03E4-1B38-7B0D-FDF37EF64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340D9-A2C4-8B7B-79AB-5655589D4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6087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8B076-3614-22EA-B3EE-1926D7CE0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Iterative Deepening DFS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8ADD5E-407C-8DFE-69F2-CDD6297EA0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Let,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=5.</m:t>
                    </m:r>
                  </m:oMath>
                </a14:m>
                <a:endParaRPr lang="en-GB" b="0" dirty="0"/>
              </a:p>
              <a:p>
                <a:r>
                  <a:rPr lang="en-GB" dirty="0"/>
                  <a:t>Then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𝐼𝐷𝑆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=50+400+3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000+20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000+100,000=123450.</m:t>
                    </m:r>
                  </m:oMath>
                </a14:m>
                <a:endParaRPr lang="en-GB" b="0" dirty="0"/>
              </a:p>
              <a:p>
                <a:r>
                  <a:rPr lang="en-GB" dirty="0"/>
                  <a:t>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𝐵𝐹𝑆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=10+100+1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000+10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000+100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000=111110.</m:t>
                    </m:r>
                  </m:oMath>
                </a14:m>
                <a:endParaRPr lang="en-GB" b="0" dirty="0"/>
              </a:p>
              <a:p>
                <a:r>
                  <a:rPr lang="en-GB" dirty="0"/>
                  <a:t>IDS is the preferred uninformed search method when the search space is </a:t>
                </a:r>
                <a:r>
                  <a:rPr lang="en-GB" b="1" dirty="0"/>
                  <a:t>large</a:t>
                </a:r>
                <a:r>
                  <a:rPr lang="en-GB" dirty="0"/>
                  <a:t> and the depth of the solution is unknown.</a:t>
                </a:r>
              </a:p>
              <a:p>
                <a:endParaRPr lang="en-GB" dirty="0"/>
              </a:p>
              <a:p>
                <a:r>
                  <a:rPr lang="en-GB" dirty="0"/>
                  <a:t>Also see iterative </a:t>
                </a:r>
                <a:r>
                  <a:rPr lang="en-GB" b="1" dirty="0"/>
                  <a:t>lengthening search</a:t>
                </a:r>
                <a:r>
                  <a:rPr lang="en-GB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8ADD5E-407C-8DFE-69F2-CDD6297EA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F6D79-D634-2B92-3B50-22FF4E4EB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9C30DF-51A5-8332-ECF3-C655AEDE4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4667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DD3FC-A0F6-841C-F8F8-82CA1F708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Bidirectional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23EBC2-654A-CDB5-2E91-3D798A299B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The main idea is to run two simultaneous searches.</a:t>
                </a:r>
              </a:p>
              <a:p>
                <a:r>
                  <a:rPr lang="en-GB" dirty="0"/>
                  <a:t>One forward from the initial state.</a:t>
                </a:r>
              </a:p>
              <a:p>
                <a:r>
                  <a:rPr lang="en-GB" dirty="0"/>
                  <a:t>The other backward from the goal.</a:t>
                </a:r>
              </a:p>
              <a:p>
                <a:pPr lvl="1"/>
                <a:r>
                  <a:rPr lang="en-GB" dirty="0"/>
                  <a:t>Hoping the two searches meet in the middle.</a:t>
                </a:r>
              </a:p>
              <a:p>
                <a:r>
                  <a:rPr lang="en-GB" dirty="0"/>
                  <a:t>The motivation is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sup>
                    </m:sSup>
                  </m:oMath>
                </a14:m>
                <a:r>
                  <a:rPr lang="en-GB" dirty="0"/>
                  <a:t> is much less than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23EBC2-654A-CDB5-2E91-3D798A299B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93541-AA5D-441F-CB25-17E87981B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9BA26-B3E4-EB84-F38F-0F9AE449B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9216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8A0D8-651C-FE37-BC6F-8724B0834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Bidirectional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0CE9-3CAD-6266-7F12-9C583A225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Goal test is replaced with a check to see whether the frontiers of the two searches intersect.</a:t>
            </a:r>
          </a:p>
          <a:p>
            <a:pPr lvl="1"/>
            <a:r>
              <a:rPr lang="en-GB" dirty="0"/>
              <a:t>If they do a solution is found.</a:t>
            </a:r>
          </a:p>
          <a:p>
            <a:pPr lvl="1"/>
            <a:r>
              <a:rPr lang="en-GB" dirty="0"/>
              <a:t>Now this solution might not be the optimal one.</a:t>
            </a:r>
          </a:p>
          <a:p>
            <a:endParaRPr lang="en-GB" dirty="0"/>
          </a:p>
          <a:p>
            <a:r>
              <a:rPr lang="en-GB" dirty="0"/>
              <a:t>The check can be done when each node is generated or selected for expansion and, with a hash table, will take constant time.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E0D1-0B85-D7E6-1CDB-B1CB15101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43881F-B26F-8276-C7A1-C5209D20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5969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4F5A2-49A8-F848-E23C-4A36583D0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Bidirectional Search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CC88A3-BFC8-EBBF-9D00-FD4F7DD626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Suppose, depth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Each direction runs BFS one node at a time.</a:t>
                </a:r>
              </a:p>
              <a:p>
                <a:r>
                  <a:rPr lang="en-GB" dirty="0"/>
                  <a:t>In the worst case two searches meet when they have generated all of the nodes at depth 3.</a:t>
                </a:r>
              </a:p>
              <a:p>
                <a:r>
                  <a:rPr lang="en-GB" dirty="0"/>
                  <a:t>For b = 10, total of 2220 nodes are generated compared to 1,111,110 for a standard BFS.</a:t>
                </a:r>
              </a:p>
              <a:p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CC88A3-BFC8-EBBF-9D00-FD4F7DD626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8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97C0E-F52D-A686-8FEE-AFD16C791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93EA6-F8B4-E5C2-6918-E0E337E77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3938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2019D-2B9B-F63F-5257-EA77807E7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Comparing Uninformed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1FC66DCD-3C6A-2658-3EFE-E49422509F6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586931767"/>
                  </p:ext>
                </p:extLst>
              </p:nvPr>
            </p:nvGraphicFramePr>
            <p:xfrm>
              <a:off x="411480" y="2291969"/>
              <a:ext cx="11228833" cy="27435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467886">
                      <a:extLst>
                        <a:ext uri="{9D8B030D-6E8A-4147-A177-3AD203B41FA5}">
                          <a16:colId xmlns:a16="http://schemas.microsoft.com/office/drawing/2014/main" val="2580296644"/>
                        </a:ext>
                      </a:extLst>
                    </a:gridCol>
                    <a:gridCol w="1740352">
                      <a:extLst>
                        <a:ext uri="{9D8B030D-6E8A-4147-A177-3AD203B41FA5}">
                          <a16:colId xmlns:a16="http://schemas.microsoft.com/office/drawing/2014/main" val="1833752564"/>
                        </a:ext>
                      </a:extLst>
                    </a:gridCol>
                    <a:gridCol w="1604119">
                      <a:extLst>
                        <a:ext uri="{9D8B030D-6E8A-4147-A177-3AD203B41FA5}">
                          <a16:colId xmlns:a16="http://schemas.microsoft.com/office/drawing/2014/main" val="238968485"/>
                        </a:ext>
                      </a:extLst>
                    </a:gridCol>
                    <a:gridCol w="1604119">
                      <a:extLst>
                        <a:ext uri="{9D8B030D-6E8A-4147-A177-3AD203B41FA5}">
                          <a16:colId xmlns:a16="http://schemas.microsoft.com/office/drawing/2014/main" val="3107514110"/>
                        </a:ext>
                      </a:extLst>
                    </a:gridCol>
                    <a:gridCol w="1604119">
                      <a:extLst>
                        <a:ext uri="{9D8B030D-6E8A-4147-A177-3AD203B41FA5}">
                          <a16:colId xmlns:a16="http://schemas.microsoft.com/office/drawing/2014/main" val="598044552"/>
                        </a:ext>
                      </a:extLst>
                    </a:gridCol>
                    <a:gridCol w="1604119">
                      <a:extLst>
                        <a:ext uri="{9D8B030D-6E8A-4147-A177-3AD203B41FA5}">
                          <a16:colId xmlns:a16="http://schemas.microsoft.com/office/drawing/2014/main" val="3861253896"/>
                        </a:ext>
                      </a:extLst>
                    </a:gridCol>
                    <a:gridCol w="1604119">
                      <a:extLst>
                        <a:ext uri="{9D8B030D-6E8A-4147-A177-3AD203B41FA5}">
                          <a16:colId xmlns:a16="http://schemas.microsoft.com/office/drawing/2014/main" val="128568650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Criterion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BFS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Uniform-Cost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DFS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Depth-Limited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Iterative Deepening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Bidirectional(if applicable)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30208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Complete?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65466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p>
                                </m:s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d>
                                      <m:dPr>
                                        <m:begChr m:val="⌊"/>
                                        <m:endChr m:val="⌋"/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p>
                                              <m:sSupPr>
                                                <m:ctrlPr>
                                                  <a:rPr lang="en-GB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GB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GB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∗</m:t>
                                                </m:r>
                                              </m:sup>
                                            </m:sSup>
                                          </m:num>
                                          <m:den>
                                            <m: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  <m:t>∈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sup>
                                </m:s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p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p>
                                </m:s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/2</m:t>
                                    </m:r>
                                  </m:sup>
                                </m:s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438249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Space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p>
                                </m:s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d>
                                      <m:dPr>
                                        <m:begChr m:val="⌊"/>
                                        <m:endChr m:val="⌋"/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p>
                                              <m:sSupPr>
                                                <m:ctrlPr>
                                                  <a:rPr lang="en-GB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GB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𝐶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GB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∗</m:t>
                                                </m:r>
                                              </m:sup>
                                            </m:sSup>
                                          </m:num>
                                          <m:den>
                                            <m: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  <m:t>∈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sup>
                                </m:s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𝑏𝑚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𝑏𝑙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𝑏𝑑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/2</m:t>
                                    </m:r>
                                  </m:sup>
                                </m:s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3816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Optimal?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71898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1FC66DCD-3C6A-2658-3EFE-E49422509F6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586931767"/>
                  </p:ext>
                </p:extLst>
              </p:nvPr>
            </p:nvGraphicFramePr>
            <p:xfrm>
              <a:off x="411480" y="2291969"/>
              <a:ext cx="11228833" cy="27435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467886">
                      <a:extLst>
                        <a:ext uri="{9D8B030D-6E8A-4147-A177-3AD203B41FA5}">
                          <a16:colId xmlns:a16="http://schemas.microsoft.com/office/drawing/2014/main" val="2580296644"/>
                        </a:ext>
                      </a:extLst>
                    </a:gridCol>
                    <a:gridCol w="1740352">
                      <a:extLst>
                        <a:ext uri="{9D8B030D-6E8A-4147-A177-3AD203B41FA5}">
                          <a16:colId xmlns:a16="http://schemas.microsoft.com/office/drawing/2014/main" val="1833752564"/>
                        </a:ext>
                      </a:extLst>
                    </a:gridCol>
                    <a:gridCol w="1604119">
                      <a:extLst>
                        <a:ext uri="{9D8B030D-6E8A-4147-A177-3AD203B41FA5}">
                          <a16:colId xmlns:a16="http://schemas.microsoft.com/office/drawing/2014/main" val="238968485"/>
                        </a:ext>
                      </a:extLst>
                    </a:gridCol>
                    <a:gridCol w="1604119">
                      <a:extLst>
                        <a:ext uri="{9D8B030D-6E8A-4147-A177-3AD203B41FA5}">
                          <a16:colId xmlns:a16="http://schemas.microsoft.com/office/drawing/2014/main" val="3107514110"/>
                        </a:ext>
                      </a:extLst>
                    </a:gridCol>
                    <a:gridCol w="1604119">
                      <a:extLst>
                        <a:ext uri="{9D8B030D-6E8A-4147-A177-3AD203B41FA5}">
                          <a16:colId xmlns:a16="http://schemas.microsoft.com/office/drawing/2014/main" val="598044552"/>
                        </a:ext>
                      </a:extLst>
                    </a:gridCol>
                    <a:gridCol w="1604119">
                      <a:extLst>
                        <a:ext uri="{9D8B030D-6E8A-4147-A177-3AD203B41FA5}">
                          <a16:colId xmlns:a16="http://schemas.microsoft.com/office/drawing/2014/main" val="3861253896"/>
                        </a:ext>
                      </a:extLst>
                    </a:gridCol>
                    <a:gridCol w="1604119">
                      <a:extLst>
                        <a:ext uri="{9D8B030D-6E8A-4147-A177-3AD203B41FA5}">
                          <a16:colId xmlns:a16="http://schemas.microsoft.com/office/drawing/2014/main" val="1285686500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Criterion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BFS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Uniform-Cost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DFS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Depth-Limited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Iterative Deepening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Bidirectional(if applicable)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830208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Complete?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6546622"/>
                      </a:ext>
                    </a:extLst>
                  </a:tr>
                  <a:tr h="5437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Time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4615" t="-243820" r="-461538" b="-185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760" t="-243820" r="-401901" b="-185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760" t="-243820" r="-301901" b="-185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760" t="-243820" r="-201901" b="-185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98864" t="-243820" r="-101136" b="-1853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01141" t="-243820" r="-1521" b="-1853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3824981"/>
                      </a:ext>
                    </a:extLst>
                  </a:tr>
                  <a:tr h="5437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Space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4615" t="-340000" r="-461538" b="-8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760" t="-340000" r="-401901" b="-8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760" t="-340000" r="-301901" b="-8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760" t="-340000" r="-201901" b="-8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98864" t="-340000" r="-101136" b="-8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01141" t="-340000" r="-1521" b="-8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3816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Optimal?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Yes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dirty="0"/>
                            <a:t>Yes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718981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EC747-84E5-94F3-669F-A6A97BD45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B80B8F-0445-F057-A29E-63ED80C0E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8927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4106F-34CB-EC67-C3E6-E172D5E91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Informed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F2880-EDE3-4501-094C-1D2A3F634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dirty="0"/>
              <a:t>Informed Search algorithms use problem-specific knowledge (called a </a:t>
            </a:r>
            <a:r>
              <a:rPr lang="en-GB" b="1" dirty="0"/>
              <a:t>heuristic</a:t>
            </a:r>
            <a:r>
              <a:rPr lang="en-GB" dirty="0"/>
              <a:t>) to make better decision about which path to follow toward the goal.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3091A-E5A0-0A67-A508-3E5163D5B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B40A5-1884-D747-8FD1-15C15BB0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8668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A54CA-DCFA-D7C5-C795-B0EDB0D54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Best-First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E7E14B-DC2E-C45F-11CC-4FC69F4779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The general approach is called best-first search.</a:t>
                </a:r>
              </a:p>
              <a:p>
                <a:r>
                  <a:rPr lang="en-GB" dirty="0"/>
                  <a:t>A node is selected for expansion based on an evaluation function,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The node with the lowest evaluation is expanded first.</a:t>
                </a:r>
              </a:p>
              <a:p>
                <a:r>
                  <a:rPr lang="en-GB" dirty="0"/>
                  <a:t>The choice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 determines the search strategy.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E7E14B-DC2E-C45F-11CC-4FC69F4779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24654-94D0-361C-0595-08AC6B135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FD0A94-3AA9-8ECE-1CD0-EDBE3E49E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1146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7F59D-DF40-79FF-A474-351B78D82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Heuristic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F602DF-2951-EBC7-D094-46E4A566CD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Most best-first search algorithms include as a component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dirty="0"/>
                  <a:t> a heuristic function, denoted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  <a:br>
                  <a:rPr lang="en-GB" dirty="0"/>
                </a:b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𝑒𝑠𝑡𝑖𝑚𝑎𝑡𝑒𝑑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𝑐𝑜𝑠𝑡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𝑐h𝑒𝑎𝑝𝑒𝑠𝑡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𝑝𝑎𝑡h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𝑓𝑟𝑜𝑚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𝑠𝑡𝑎𝑡𝑒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𝑛𝑜𝑑𝑒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𝑔𝑜𝑎𝑙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𝑠𝑡𝑎𝑡𝑒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F602DF-2951-EBC7-D094-46E4A566CD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7ED8B-FAD7-42D5-AC70-418B92DCE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266733-F6EE-46F2-C772-46A33917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34421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E2C6F-E10C-C120-4395-35094D7E4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Greedy Best-First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7F5A3-A6C6-92D9-1601-78B2F6EDC4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Greedy best-first search selects the node that appears to be closest to the goal, based on the heuristic function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only.</a:t>
                </a:r>
              </a:p>
              <a:p>
                <a:endParaRPr lang="en-GB" dirty="0"/>
              </a:p>
              <a:p>
                <a:r>
                  <a:rPr lang="en-GB" dirty="0"/>
                  <a:t>Let’s understand this with the maze problem.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7F5A3-A6C6-92D9-1601-78B2F6EDC4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C7C56-3421-11D8-D33B-2B3B409F3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4CBBF9-9731-90E0-FE5D-57C737066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8535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25DFA-F3D4-0415-F4F8-C1BC2935F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Best First Search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C62E832-E1D9-7489-E102-FFF575C19C7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62534" y="3105214"/>
          <a:ext cx="7066932" cy="2595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911">
                  <a:extLst>
                    <a:ext uri="{9D8B030D-6E8A-4147-A177-3AD203B41FA5}">
                      <a16:colId xmlns:a16="http://schemas.microsoft.com/office/drawing/2014/main" val="64687663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8102021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42901871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709540840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372940855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5971745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690832184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89911562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7372645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835741083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46956999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544991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20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68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76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42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56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334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41148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E05CC-A5E8-7563-9915-B59202C07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5F4899-F755-C653-B653-80F9A122E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57</a:t>
            </a:fld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C1EB7F-BF4F-83CB-2676-EA5F7972F532}"/>
              </a:ext>
            </a:extLst>
          </p:cNvPr>
          <p:cNvSpPr/>
          <p:nvPr/>
        </p:nvSpPr>
        <p:spPr>
          <a:xfrm>
            <a:off x="9040555" y="310521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EEB116A-2C84-5052-920A-5912B3EF1017}"/>
              </a:ext>
            </a:extLst>
          </p:cNvPr>
          <p:cNvSpPr/>
          <p:nvPr/>
        </p:nvSpPr>
        <p:spPr>
          <a:xfrm>
            <a:off x="2562534" y="533025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790775-9E9B-41CA-5F94-849CC6A266C2}"/>
              </a:ext>
            </a:extLst>
          </p:cNvPr>
          <p:cNvSpPr txBox="1"/>
          <p:nvPr/>
        </p:nvSpPr>
        <p:spPr>
          <a:xfrm>
            <a:off x="3624779" y="1870095"/>
            <a:ext cx="49424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Consider the following maze.</a:t>
            </a:r>
          </a:p>
          <a:p>
            <a:pPr algn="ctr"/>
            <a:r>
              <a:rPr lang="en-GB" dirty="0"/>
              <a:t>The agent wants to go to cell B from the cell A.</a:t>
            </a:r>
          </a:p>
          <a:p>
            <a:pPr algn="ctr"/>
            <a:r>
              <a:rPr lang="en-GB" dirty="0"/>
              <a:t>Our target is to find the shortest path.</a:t>
            </a:r>
          </a:p>
        </p:txBody>
      </p:sp>
    </p:spTree>
    <p:extLst>
      <p:ext uri="{BB962C8B-B14F-4D97-AF65-F5344CB8AC3E}">
        <p14:creationId xmlns:p14="http://schemas.microsoft.com/office/powerpoint/2010/main" val="1099196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5FD9F-6C10-4648-4CFE-1762D2611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DBD09-F048-3EDB-6CFF-A642D67EE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Best First Search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D4851DE-8960-4902-55C5-A4CDFCFDA92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62534" y="3105214"/>
          <a:ext cx="7066932" cy="2595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911">
                  <a:extLst>
                    <a:ext uri="{9D8B030D-6E8A-4147-A177-3AD203B41FA5}">
                      <a16:colId xmlns:a16="http://schemas.microsoft.com/office/drawing/2014/main" val="64687663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8102021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42901871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709540840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372940855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5971745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690832184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89911562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7372645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835741083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46956999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544991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20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68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76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42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56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334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41148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753EE-9477-D53E-C657-F0E3B859B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FD8656-25CE-1EC3-BC68-E553F8559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58</a:t>
            </a:fld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F4E455-826D-D79A-2196-5C2FAA11F713}"/>
              </a:ext>
            </a:extLst>
          </p:cNvPr>
          <p:cNvSpPr/>
          <p:nvPr/>
        </p:nvSpPr>
        <p:spPr>
          <a:xfrm>
            <a:off x="9040555" y="310521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DFC3C75-ED7A-ED27-CFC3-F0B5F874595C}"/>
              </a:ext>
            </a:extLst>
          </p:cNvPr>
          <p:cNvSpPr/>
          <p:nvPr/>
        </p:nvSpPr>
        <p:spPr>
          <a:xfrm>
            <a:off x="2562534" y="533025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19C82-E55C-6850-EE41-84CFEFAB1C4F}"/>
              </a:ext>
            </a:extLst>
          </p:cNvPr>
          <p:cNvSpPr txBox="1"/>
          <p:nvPr/>
        </p:nvSpPr>
        <p:spPr>
          <a:xfrm>
            <a:off x="3272164" y="1870095"/>
            <a:ext cx="5647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Between C and D which point will lead us to B faster?</a:t>
            </a:r>
          </a:p>
        </p:txBody>
      </p:sp>
    </p:spTree>
    <p:extLst>
      <p:ext uri="{BB962C8B-B14F-4D97-AF65-F5344CB8AC3E}">
        <p14:creationId xmlns:p14="http://schemas.microsoft.com/office/powerpoint/2010/main" val="1102415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D5DEF-154A-CDD6-33CA-1A5F9A448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1F26D-4FAD-4615-43BE-72DB83FB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Best First Search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433196A-B32F-4C83-BE6D-C0EA7CAAC82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62534" y="3105214"/>
          <a:ext cx="7066932" cy="2595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911">
                  <a:extLst>
                    <a:ext uri="{9D8B030D-6E8A-4147-A177-3AD203B41FA5}">
                      <a16:colId xmlns:a16="http://schemas.microsoft.com/office/drawing/2014/main" val="64687663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8102021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42901871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709540840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372940855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5971745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690832184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89911562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7372645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835741083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46956999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544991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20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68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76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42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56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334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41148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08F4E-07FC-31DE-BB91-A8D3EEB3C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061AD5-1DFE-CCBB-E048-0F07CDE53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59</a:t>
            </a:fld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C24949-A649-C636-586E-02C880112BCB}"/>
              </a:ext>
            </a:extLst>
          </p:cNvPr>
          <p:cNvSpPr/>
          <p:nvPr/>
        </p:nvSpPr>
        <p:spPr>
          <a:xfrm>
            <a:off x="9040555" y="310521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69BE770-FE43-5F5E-DE22-C01EBD22DD1A}"/>
              </a:ext>
            </a:extLst>
          </p:cNvPr>
          <p:cNvSpPr/>
          <p:nvPr/>
        </p:nvSpPr>
        <p:spPr>
          <a:xfrm>
            <a:off x="2562534" y="533025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3793E1-EA10-7FCD-5217-B96A20F9215C}"/>
              </a:ext>
            </a:extLst>
          </p:cNvPr>
          <p:cNvSpPr txBox="1"/>
          <p:nvPr/>
        </p:nvSpPr>
        <p:spPr>
          <a:xfrm>
            <a:off x="3934689" y="1870095"/>
            <a:ext cx="43226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Let’s consider the Manhattan distance.</a:t>
            </a:r>
          </a:p>
          <a:p>
            <a:pPr algn="ctr"/>
            <a:r>
              <a:rPr lang="en-GB" dirty="0"/>
              <a:t>We will use this as the heuristic function.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5DB45230-A685-A8FA-66A4-3115FC685F45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3447288" y="3290634"/>
            <a:ext cx="5593267" cy="961326"/>
          </a:xfrm>
          <a:prstGeom prst="bentConnector3">
            <a:avLst>
              <a:gd name="adj1" fmla="val 138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EDB22373-D493-ADF1-BBAD-5DBF78D1532F}"/>
              </a:ext>
            </a:extLst>
          </p:cNvPr>
          <p:cNvCxnSpPr>
            <a:endCxn id="23" idx="2"/>
          </p:cNvCxnSpPr>
          <p:nvPr/>
        </p:nvCxnSpPr>
        <p:spPr>
          <a:xfrm flipV="1">
            <a:off x="7095744" y="3476054"/>
            <a:ext cx="2239267" cy="556450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D68C6F3-DFA7-6721-CF97-234D48819849}"/>
                  </a:ext>
                </a:extLst>
              </p:cNvPr>
              <p:cNvSpPr txBox="1"/>
              <p:nvPr/>
            </p:nvSpPr>
            <p:spPr>
              <a:xfrm>
                <a:off x="3581400" y="2735882"/>
                <a:ext cx="12784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D68C6F3-DFA7-6721-CF97-234D48819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2735882"/>
                <a:ext cx="127842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36F38FE-2D94-D1D6-F209-5FFD373133FE}"/>
                  </a:ext>
                </a:extLst>
              </p:cNvPr>
              <p:cNvSpPr txBox="1"/>
              <p:nvPr/>
            </p:nvSpPr>
            <p:spPr>
              <a:xfrm>
                <a:off x="9629466" y="3586631"/>
                <a:ext cx="10409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dirty="0"/>
                  <a:t>6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36F38FE-2D94-D1D6-F209-5FFD37313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9466" y="3586631"/>
                <a:ext cx="1040991" cy="369332"/>
              </a:xfrm>
              <a:prstGeom prst="rect">
                <a:avLst/>
              </a:prstGeom>
              <a:blipFill>
                <a:blip r:embed="rId3"/>
                <a:stretch>
                  <a:fillRect t="-8197" r="-4118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702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715E4-4C61-556F-870E-C8F07878F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5635-1CA5-E145-D18C-AE8BA5446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Best First Search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5AF7FC8-4ED0-8AB6-4F0F-C3D06C30BE5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62534" y="3021330"/>
          <a:ext cx="7066932" cy="2595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911">
                  <a:extLst>
                    <a:ext uri="{9D8B030D-6E8A-4147-A177-3AD203B41FA5}">
                      <a16:colId xmlns:a16="http://schemas.microsoft.com/office/drawing/2014/main" val="64687663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8102021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42901871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709540840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372940855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5971745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690832184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89911562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7372645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835741083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46956999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544991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20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68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76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42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56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334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41148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208FD-1D74-EACD-5D43-E14F98DB4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B071E9-CF48-63F9-B3B5-B70A6549B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60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A37CD1D-A1A0-61D9-256D-901BD8864CB4}"/>
                  </a:ext>
                </a:extLst>
              </p:cNvPr>
              <p:cNvSpPr txBox="1"/>
              <p:nvPr/>
            </p:nvSpPr>
            <p:spPr>
              <a:xfrm>
                <a:off x="4287364" y="2282190"/>
                <a:ext cx="36172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Let’s find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for all the cells.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A37CD1D-A1A0-61D9-256D-901BD8864C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7364" y="2282190"/>
                <a:ext cx="3617272" cy="369332"/>
              </a:xfrm>
              <a:prstGeom prst="rect">
                <a:avLst/>
              </a:prstGeom>
              <a:blipFill>
                <a:blip r:embed="rId2"/>
                <a:stretch>
                  <a:fillRect l="-1347" t="-8197" r="-673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144409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C62E832-E1D9-7489-E102-FFF575C19C7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62534" y="1958360"/>
          <a:ext cx="7066932" cy="2595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911">
                  <a:extLst>
                    <a:ext uri="{9D8B030D-6E8A-4147-A177-3AD203B41FA5}">
                      <a16:colId xmlns:a16="http://schemas.microsoft.com/office/drawing/2014/main" val="64687663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8102021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42901871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709540840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372940855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5971745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690832184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89911562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7372645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835741083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46956999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544991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720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68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76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42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856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334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411486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E05CC-A5E8-7563-9915-B59202C07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5F4899-F755-C653-B653-80F9A122E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61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F0262F-94C8-75D0-C639-41C86BB45E42}"/>
              </a:ext>
            </a:extLst>
          </p:cNvPr>
          <p:cNvSpPr/>
          <p:nvPr/>
        </p:nvSpPr>
        <p:spPr>
          <a:xfrm>
            <a:off x="2562534" y="418340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078BD3-4A00-6CA3-B40C-A5728FBD8226}"/>
              </a:ext>
            </a:extLst>
          </p:cNvPr>
          <p:cNvSpPr/>
          <p:nvPr/>
        </p:nvSpPr>
        <p:spPr>
          <a:xfrm>
            <a:off x="3151445" y="418340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ABEA68-07EA-FB96-DF8D-6DFB8B5C3554}"/>
              </a:ext>
            </a:extLst>
          </p:cNvPr>
          <p:cNvSpPr/>
          <p:nvPr/>
        </p:nvSpPr>
        <p:spPr>
          <a:xfrm>
            <a:off x="3740356" y="418340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336418-BAF6-C0F8-065C-8B56F2DA0D81}"/>
              </a:ext>
            </a:extLst>
          </p:cNvPr>
          <p:cNvSpPr/>
          <p:nvPr/>
        </p:nvSpPr>
        <p:spPr>
          <a:xfrm>
            <a:off x="4329267" y="418340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57620B-D09B-A81B-4B22-81516F69BB01}"/>
              </a:ext>
            </a:extLst>
          </p:cNvPr>
          <p:cNvSpPr/>
          <p:nvPr/>
        </p:nvSpPr>
        <p:spPr>
          <a:xfrm>
            <a:off x="4324762" y="381256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BF3AB6-DAAF-4BC7-B783-5FF7E57AC3F7}"/>
              </a:ext>
            </a:extLst>
          </p:cNvPr>
          <p:cNvSpPr/>
          <p:nvPr/>
        </p:nvSpPr>
        <p:spPr>
          <a:xfrm>
            <a:off x="4326607" y="344172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D38AAB-7A97-9DF6-5434-A719BCEE898E}"/>
              </a:ext>
            </a:extLst>
          </p:cNvPr>
          <p:cNvSpPr/>
          <p:nvPr/>
        </p:nvSpPr>
        <p:spPr>
          <a:xfrm>
            <a:off x="4921357" y="344172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02D2F6-5712-5313-2840-68A42C8DA4A3}"/>
              </a:ext>
            </a:extLst>
          </p:cNvPr>
          <p:cNvSpPr/>
          <p:nvPr/>
        </p:nvSpPr>
        <p:spPr>
          <a:xfrm>
            <a:off x="4921357" y="306707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827E42-9195-1B92-3765-1EBCECB43A07}"/>
              </a:ext>
            </a:extLst>
          </p:cNvPr>
          <p:cNvSpPr/>
          <p:nvPr/>
        </p:nvSpPr>
        <p:spPr>
          <a:xfrm>
            <a:off x="4913673" y="270004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8C5877-E669-F07C-C97B-0248568823C3}"/>
              </a:ext>
            </a:extLst>
          </p:cNvPr>
          <p:cNvSpPr/>
          <p:nvPr/>
        </p:nvSpPr>
        <p:spPr>
          <a:xfrm>
            <a:off x="4915007" y="232285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8708D3-4183-3C7B-94CA-BC692B20D7F5}"/>
              </a:ext>
            </a:extLst>
          </p:cNvPr>
          <p:cNvSpPr/>
          <p:nvPr/>
        </p:nvSpPr>
        <p:spPr>
          <a:xfrm>
            <a:off x="4915007" y="195836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6A13AA-D7AA-1C14-1DDA-6766D587CBFC}"/>
              </a:ext>
            </a:extLst>
          </p:cNvPr>
          <p:cNvSpPr/>
          <p:nvPr/>
        </p:nvSpPr>
        <p:spPr>
          <a:xfrm>
            <a:off x="5502584" y="2329855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BED25E-CD7D-6A35-E93E-6AB7F3427E71}"/>
              </a:ext>
            </a:extLst>
          </p:cNvPr>
          <p:cNvSpPr/>
          <p:nvPr/>
        </p:nvSpPr>
        <p:spPr>
          <a:xfrm>
            <a:off x="6094979" y="233049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395DFA-F479-8ABC-1FB7-8450CF1E97C5}"/>
              </a:ext>
            </a:extLst>
          </p:cNvPr>
          <p:cNvSpPr/>
          <p:nvPr/>
        </p:nvSpPr>
        <p:spPr>
          <a:xfrm>
            <a:off x="6097845" y="270135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1D7A36-E099-4A43-C620-F7C699860C0C}"/>
              </a:ext>
            </a:extLst>
          </p:cNvPr>
          <p:cNvSpPr/>
          <p:nvPr/>
        </p:nvSpPr>
        <p:spPr>
          <a:xfrm>
            <a:off x="6682658" y="269627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C1EB7F-BF4F-83CB-2676-EA5F7972F532}"/>
              </a:ext>
            </a:extLst>
          </p:cNvPr>
          <p:cNvSpPr/>
          <p:nvPr/>
        </p:nvSpPr>
        <p:spPr>
          <a:xfrm>
            <a:off x="7272697" y="270004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760F21-4493-4779-5D6D-31FDC4F308DC}"/>
              </a:ext>
            </a:extLst>
          </p:cNvPr>
          <p:cNvSpPr/>
          <p:nvPr/>
        </p:nvSpPr>
        <p:spPr>
          <a:xfrm>
            <a:off x="7271878" y="232920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406210-8EDC-F03C-C6BB-E09383DE4990}"/>
              </a:ext>
            </a:extLst>
          </p:cNvPr>
          <p:cNvSpPr/>
          <p:nvPr/>
        </p:nvSpPr>
        <p:spPr>
          <a:xfrm>
            <a:off x="7276285" y="196213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3D664DF-05FB-781F-258C-DA33C8EF3B26}"/>
              </a:ext>
            </a:extLst>
          </p:cNvPr>
          <p:cNvSpPr/>
          <p:nvPr/>
        </p:nvSpPr>
        <p:spPr>
          <a:xfrm>
            <a:off x="7871546" y="196471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A0C52A-120F-0280-162E-4CE6B625B1AA}"/>
              </a:ext>
            </a:extLst>
          </p:cNvPr>
          <p:cNvSpPr/>
          <p:nvPr/>
        </p:nvSpPr>
        <p:spPr>
          <a:xfrm>
            <a:off x="7271162" y="307088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1CE2D84-4E5E-B667-72C0-EDAF60A5B932}"/>
              </a:ext>
            </a:extLst>
          </p:cNvPr>
          <p:cNvSpPr/>
          <p:nvPr/>
        </p:nvSpPr>
        <p:spPr>
          <a:xfrm>
            <a:off x="7271161" y="343795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5414649-9B12-6024-73A9-CD5D0E58490A}"/>
              </a:ext>
            </a:extLst>
          </p:cNvPr>
          <p:cNvSpPr/>
          <p:nvPr/>
        </p:nvSpPr>
        <p:spPr>
          <a:xfrm>
            <a:off x="7855567" y="343795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06E2180-ADED-D968-1D2B-EABF08901B61}"/>
              </a:ext>
            </a:extLst>
          </p:cNvPr>
          <p:cNvSpPr/>
          <p:nvPr/>
        </p:nvSpPr>
        <p:spPr>
          <a:xfrm>
            <a:off x="8439972" y="344430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737A4F9-3E13-B740-C0CA-442C4D6A1EC7}"/>
              </a:ext>
            </a:extLst>
          </p:cNvPr>
          <p:cNvSpPr/>
          <p:nvPr/>
        </p:nvSpPr>
        <p:spPr>
          <a:xfrm>
            <a:off x="9038815" y="344432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C882CD5-ABC3-16E0-9312-477211424612}"/>
              </a:ext>
            </a:extLst>
          </p:cNvPr>
          <p:cNvSpPr/>
          <p:nvPr/>
        </p:nvSpPr>
        <p:spPr>
          <a:xfrm>
            <a:off x="9028883" y="306451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2337B61-4782-01C4-83CE-DD5793DB1081}"/>
              </a:ext>
            </a:extLst>
          </p:cNvPr>
          <p:cNvSpPr/>
          <p:nvPr/>
        </p:nvSpPr>
        <p:spPr>
          <a:xfrm>
            <a:off x="9033233" y="269627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9D6437B-4607-1DBC-EFA8-5EA1F711DF3A}"/>
              </a:ext>
            </a:extLst>
          </p:cNvPr>
          <p:cNvSpPr/>
          <p:nvPr/>
        </p:nvSpPr>
        <p:spPr>
          <a:xfrm>
            <a:off x="9029468" y="232285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EEB116A-2C84-5052-920A-5912B3EF1017}"/>
              </a:ext>
            </a:extLst>
          </p:cNvPr>
          <p:cNvSpPr/>
          <p:nvPr/>
        </p:nvSpPr>
        <p:spPr>
          <a:xfrm>
            <a:off x="9028882" y="1968659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F3E2DD1-A51E-C9FD-FCAD-51F7E25BB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Best First Search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2712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9DA49-5B5B-DDC0-3A27-F3A6E2AB2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Best First Search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3832F-2882-3649-7390-F43EE7A6B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87A81E-F3C7-B224-EFA8-939944882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62</a:t>
            </a:fld>
            <a:endParaRPr lang="en-GB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828A223-6FB9-2B2E-C414-41F2F48494A2}"/>
              </a:ext>
            </a:extLst>
          </p:cNvPr>
          <p:cNvGraphicFramePr>
            <a:graphicFrameLocks/>
          </p:cNvGraphicFramePr>
          <p:nvPr/>
        </p:nvGraphicFramePr>
        <p:xfrm>
          <a:off x="2562534" y="2985485"/>
          <a:ext cx="7066932" cy="2595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911">
                  <a:extLst>
                    <a:ext uri="{9D8B030D-6E8A-4147-A177-3AD203B41FA5}">
                      <a16:colId xmlns:a16="http://schemas.microsoft.com/office/drawing/2014/main" val="64687663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8102021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42901871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709540840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372940855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5971745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690832184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89911562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7372645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835741083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46956999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544991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20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68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76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42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56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334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411486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40643918-DB44-1A14-F602-1786EE285934}"/>
              </a:ext>
            </a:extLst>
          </p:cNvPr>
          <p:cNvSpPr/>
          <p:nvPr/>
        </p:nvSpPr>
        <p:spPr>
          <a:xfrm>
            <a:off x="2562534" y="5210525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6E0113-1D90-A9A4-FB42-D474429A71C6}"/>
              </a:ext>
            </a:extLst>
          </p:cNvPr>
          <p:cNvSpPr/>
          <p:nvPr/>
        </p:nvSpPr>
        <p:spPr>
          <a:xfrm>
            <a:off x="3151445" y="5210525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0C2988-962A-ED7F-3A56-D63C15BAC212}"/>
              </a:ext>
            </a:extLst>
          </p:cNvPr>
          <p:cNvSpPr/>
          <p:nvPr/>
        </p:nvSpPr>
        <p:spPr>
          <a:xfrm>
            <a:off x="3740356" y="5210525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F1D2B0-04FA-7B9D-54FF-201728342D07}"/>
              </a:ext>
            </a:extLst>
          </p:cNvPr>
          <p:cNvSpPr/>
          <p:nvPr/>
        </p:nvSpPr>
        <p:spPr>
          <a:xfrm>
            <a:off x="4329267" y="5210525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41DC02-8569-5F52-A854-9E2162F79EB1}"/>
              </a:ext>
            </a:extLst>
          </p:cNvPr>
          <p:cNvSpPr/>
          <p:nvPr/>
        </p:nvSpPr>
        <p:spPr>
          <a:xfrm>
            <a:off x="4329266" y="4839685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B4E378-98D9-0AB3-D967-928627190306}"/>
              </a:ext>
            </a:extLst>
          </p:cNvPr>
          <p:cNvSpPr/>
          <p:nvPr/>
        </p:nvSpPr>
        <p:spPr>
          <a:xfrm>
            <a:off x="4329266" y="4468845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C25A58-03BE-4284-5693-BC52265B9C8E}"/>
              </a:ext>
            </a:extLst>
          </p:cNvPr>
          <p:cNvSpPr/>
          <p:nvPr/>
        </p:nvSpPr>
        <p:spPr>
          <a:xfrm>
            <a:off x="4329253" y="4094829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767058-39CE-F339-B341-4572348FFA59}"/>
              </a:ext>
            </a:extLst>
          </p:cNvPr>
          <p:cNvSpPr/>
          <p:nvPr/>
        </p:nvSpPr>
        <p:spPr>
          <a:xfrm>
            <a:off x="4329253" y="372232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DCDE49-6272-351C-71A1-62473A1F40C4}"/>
              </a:ext>
            </a:extLst>
          </p:cNvPr>
          <p:cNvSpPr/>
          <p:nvPr/>
        </p:nvSpPr>
        <p:spPr>
          <a:xfrm>
            <a:off x="4918152" y="373526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B9324D-2B88-7815-86BC-BBC2598DF7B0}"/>
              </a:ext>
            </a:extLst>
          </p:cNvPr>
          <p:cNvSpPr/>
          <p:nvPr/>
        </p:nvSpPr>
        <p:spPr>
          <a:xfrm>
            <a:off x="5507063" y="372954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4770B0-2650-AB99-77F2-591A534E8A7E}"/>
              </a:ext>
            </a:extLst>
          </p:cNvPr>
          <p:cNvSpPr/>
          <p:nvPr/>
        </p:nvSpPr>
        <p:spPr>
          <a:xfrm>
            <a:off x="6095955" y="372764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5CF6FC-6C0A-03FC-2CA3-A616E8F816D0}"/>
              </a:ext>
            </a:extLst>
          </p:cNvPr>
          <p:cNvSpPr/>
          <p:nvPr/>
        </p:nvSpPr>
        <p:spPr>
          <a:xfrm>
            <a:off x="6684847" y="372192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941587-05BE-93DA-BC1E-01C6A32D170C}"/>
              </a:ext>
            </a:extLst>
          </p:cNvPr>
          <p:cNvSpPr/>
          <p:nvPr/>
        </p:nvSpPr>
        <p:spPr>
          <a:xfrm>
            <a:off x="7273720" y="373526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83DF49-EF2E-71AE-DD08-365723C68B38}"/>
              </a:ext>
            </a:extLst>
          </p:cNvPr>
          <p:cNvSpPr/>
          <p:nvPr/>
        </p:nvSpPr>
        <p:spPr>
          <a:xfrm>
            <a:off x="7862574" y="3733356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7D9E156-CA98-BBA8-DA8A-570B4F2EB881}"/>
              </a:ext>
            </a:extLst>
          </p:cNvPr>
          <p:cNvSpPr/>
          <p:nvPr/>
        </p:nvSpPr>
        <p:spPr>
          <a:xfrm>
            <a:off x="7870156" y="4094829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A0DFCB-C83C-D74B-F17B-20EAEFAC7FFE}"/>
              </a:ext>
            </a:extLst>
          </p:cNvPr>
          <p:cNvSpPr/>
          <p:nvPr/>
        </p:nvSpPr>
        <p:spPr>
          <a:xfrm>
            <a:off x="7865272" y="447376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F0C52A-5274-B023-B7EF-57F6F8CDB8E0}"/>
              </a:ext>
            </a:extLst>
          </p:cNvPr>
          <p:cNvSpPr/>
          <p:nvPr/>
        </p:nvSpPr>
        <p:spPr>
          <a:xfrm>
            <a:off x="7273663" y="4472892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45DE06C-B24F-48B9-8885-5093B438ABA1}"/>
              </a:ext>
            </a:extLst>
          </p:cNvPr>
          <p:cNvSpPr/>
          <p:nvPr/>
        </p:nvSpPr>
        <p:spPr>
          <a:xfrm>
            <a:off x="6684517" y="4464958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B0D22F-65F0-E62C-91A8-260744D94AD1}"/>
              </a:ext>
            </a:extLst>
          </p:cNvPr>
          <p:cNvSpPr/>
          <p:nvPr/>
        </p:nvSpPr>
        <p:spPr>
          <a:xfrm>
            <a:off x="6092680" y="446146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7EE9DB6-09E9-F23C-8126-B5770F7A20A8}"/>
              </a:ext>
            </a:extLst>
          </p:cNvPr>
          <p:cNvSpPr/>
          <p:nvPr/>
        </p:nvSpPr>
        <p:spPr>
          <a:xfrm>
            <a:off x="5508074" y="4463129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D3A1F1-9368-FDB8-E534-61C162729E9E}"/>
              </a:ext>
            </a:extLst>
          </p:cNvPr>
          <p:cNvSpPr/>
          <p:nvPr/>
        </p:nvSpPr>
        <p:spPr>
          <a:xfrm>
            <a:off x="5517186" y="4839451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7B154A5-E727-5A83-9297-01A5E6D97D12}"/>
              </a:ext>
            </a:extLst>
          </p:cNvPr>
          <p:cNvSpPr/>
          <p:nvPr/>
        </p:nvSpPr>
        <p:spPr>
          <a:xfrm>
            <a:off x="9040291" y="2991201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61BB96-DCCE-364B-17D5-F7691C252AB9}"/>
              </a:ext>
            </a:extLst>
          </p:cNvPr>
          <p:cNvSpPr/>
          <p:nvPr/>
        </p:nvSpPr>
        <p:spPr>
          <a:xfrm>
            <a:off x="5509566" y="5209822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D066DE9-5AD9-1913-EFCB-F221C78DA7BF}"/>
              </a:ext>
            </a:extLst>
          </p:cNvPr>
          <p:cNvSpPr/>
          <p:nvPr/>
        </p:nvSpPr>
        <p:spPr>
          <a:xfrm>
            <a:off x="6092679" y="5209573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7CA209-A295-3C1B-3056-D091B3154439}"/>
              </a:ext>
            </a:extLst>
          </p:cNvPr>
          <p:cNvSpPr/>
          <p:nvPr/>
        </p:nvSpPr>
        <p:spPr>
          <a:xfrm>
            <a:off x="6689865" y="520862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03262F-EC16-54B7-1716-C80AF44537BE}"/>
              </a:ext>
            </a:extLst>
          </p:cNvPr>
          <p:cNvSpPr/>
          <p:nvPr/>
        </p:nvSpPr>
        <p:spPr>
          <a:xfrm>
            <a:off x="7279431" y="5207192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F568731-9A6C-E7FF-05AB-FBFB665A08C8}"/>
              </a:ext>
            </a:extLst>
          </p:cNvPr>
          <p:cNvSpPr/>
          <p:nvPr/>
        </p:nvSpPr>
        <p:spPr>
          <a:xfrm>
            <a:off x="7870156" y="5209822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8C36520-7005-1097-4A56-61E5945B0AC3}"/>
              </a:ext>
            </a:extLst>
          </p:cNvPr>
          <p:cNvSpPr/>
          <p:nvPr/>
        </p:nvSpPr>
        <p:spPr>
          <a:xfrm>
            <a:off x="8451380" y="5207349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AFA0047-9A8B-109D-B645-CF0CF57F0D9C}"/>
              </a:ext>
            </a:extLst>
          </p:cNvPr>
          <p:cNvSpPr/>
          <p:nvPr/>
        </p:nvSpPr>
        <p:spPr>
          <a:xfrm>
            <a:off x="9040224" y="5209732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943B574-8A01-7B80-D1BF-57D29F6860A7}"/>
              </a:ext>
            </a:extLst>
          </p:cNvPr>
          <p:cNvSpPr/>
          <p:nvPr/>
        </p:nvSpPr>
        <p:spPr>
          <a:xfrm>
            <a:off x="9040224" y="483532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7101206-E0FE-5EA7-1FD9-1EC5647FA068}"/>
              </a:ext>
            </a:extLst>
          </p:cNvPr>
          <p:cNvSpPr/>
          <p:nvPr/>
        </p:nvSpPr>
        <p:spPr>
          <a:xfrm>
            <a:off x="9040223" y="447360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FDA5D8E-D423-586E-9255-E9DD9A6E7D15}"/>
              </a:ext>
            </a:extLst>
          </p:cNvPr>
          <p:cNvSpPr/>
          <p:nvPr/>
        </p:nvSpPr>
        <p:spPr>
          <a:xfrm>
            <a:off x="9040222" y="409848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832740E-5F3E-7FB9-2BD7-017DF854FD1A}"/>
              </a:ext>
            </a:extLst>
          </p:cNvPr>
          <p:cNvSpPr/>
          <p:nvPr/>
        </p:nvSpPr>
        <p:spPr>
          <a:xfrm>
            <a:off x="9040221" y="372914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F6FF29D-7CB8-6A74-182A-DEAE8F374F07}"/>
              </a:ext>
            </a:extLst>
          </p:cNvPr>
          <p:cNvSpPr/>
          <p:nvPr/>
        </p:nvSpPr>
        <p:spPr>
          <a:xfrm>
            <a:off x="9040221" y="335521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2A61CE-00E2-8211-0EF7-84A3C2FCE713}"/>
              </a:ext>
            </a:extLst>
          </p:cNvPr>
          <p:cNvSpPr txBox="1"/>
          <p:nvPr/>
        </p:nvSpPr>
        <p:spPr>
          <a:xfrm>
            <a:off x="3302443" y="2096341"/>
            <a:ext cx="616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Now, let’s apply the same algorithm on the following maze.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7B3EFF1-B133-175E-F1D6-D53E31137595}"/>
              </a:ext>
            </a:extLst>
          </p:cNvPr>
          <p:cNvSpPr txBox="1"/>
          <p:nvPr/>
        </p:nvSpPr>
        <p:spPr>
          <a:xfrm>
            <a:off x="5168924" y="2466394"/>
            <a:ext cx="245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Is it the shortest path?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24B9A3-85B9-9CC3-E612-52581DA5DCE8}"/>
              </a:ext>
            </a:extLst>
          </p:cNvPr>
          <p:cNvSpPr txBox="1"/>
          <p:nvPr/>
        </p:nvSpPr>
        <p:spPr>
          <a:xfrm>
            <a:off x="9802368" y="3654187"/>
            <a:ext cx="1178528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/>
              <a:t>Cost = 33</a:t>
            </a:r>
          </a:p>
        </p:txBody>
      </p:sp>
    </p:spTree>
    <p:extLst>
      <p:ext uri="{BB962C8B-B14F-4D97-AF65-F5344CB8AC3E}">
        <p14:creationId xmlns:p14="http://schemas.microsoft.com/office/powerpoint/2010/main" val="2857561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5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65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0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5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0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5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90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95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5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100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15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200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250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300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3500"/>
                            </p:stCondLst>
                            <p:childTnLst>
                              <p:par>
                                <p:cTn id="1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79AAA-9654-4850-1E1E-A433FE238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D6B73-029B-0163-4600-94D787A0B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Best First Search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01BC8-94E8-82CD-94D5-28FA7477F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F7118C-9DCA-F6B4-A1A0-383999D1A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63</a:t>
            </a:fld>
            <a:endParaRPr lang="en-GB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AB79FDA-4003-923D-5E76-75841CEE6C62}"/>
              </a:ext>
            </a:extLst>
          </p:cNvPr>
          <p:cNvGraphicFramePr>
            <a:graphicFrameLocks/>
          </p:cNvGraphicFramePr>
          <p:nvPr/>
        </p:nvGraphicFramePr>
        <p:xfrm>
          <a:off x="2562534" y="2385537"/>
          <a:ext cx="7066932" cy="2595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911">
                  <a:extLst>
                    <a:ext uri="{9D8B030D-6E8A-4147-A177-3AD203B41FA5}">
                      <a16:colId xmlns:a16="http://schemas.microsoft.com/office/drawing/2014/main" val="64687663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8102021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42901871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709540840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372940855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5971745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690832184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89911562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7372645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835741083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46956999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544991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20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68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76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42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56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334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411486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1A371B36-2028-8A42-EFCA-5ED9DEA335DE}"/>
              </a:ext>
            </a:extLst>
          </p:cNvPr>
          <p:cNvSpPr/>
          <p:nvPr/>
        </p:nvSpPr>
        <p:spPr>
          <a:xfrm>
            <a:off x="2562534" y="459787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D41061-783B-D263-A1D9-FC74393C93D9}"/>
              </a:ext>
            </a:extLst>
          </p:cNvPr>
          <p:cNvSpPr/>
          <p:nvPr/>
        </p:nvSpPr>
        <p:spPr>
          <a:xfrm>
            <a:off x="3151445" y="459787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14B76D-A4C5-5FCD-6FA0-47AE4E080A84}"/>
              </a:ext>
            </a:extLst>
          </p:cNvPr>
          <p:cNvSpPr/>
          <p:nvPr/>
        </p:nvSpPr>
        <p:spPr>
          <a:xfrm>
            <a:off x="3740356" y="459787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9692B2-D16C-1637-279C-A7E4BAFF2026}"/>
              </a:ext>
            </a:extLst>
          </p:cNvPr>
          <p:cNvSpPr/>
          <p:nvPr/>
        </p:nvSpPr>
        <p:spPr>
          <a:xfrm>
            <a:off x="4329267" y="459787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A1C8C8-CADE-A440-8374-B3E3BE05FE01}"/>
              </a:ext>
            </a:extLst>
          </p:cNvPr>
          <p:cNvSpPr/>
          <p:nvPr/>
        </p:nvSpPr>
        <p:spPr>
          <a:xfrm>
            <a:off x="4329266" y="422703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620F59-934E-8451-A2D1-B8D3A06D70F5}"/>
              </a:ext>
            </a:extLst>
          </p:cNvPr>
          <p:cNvSpPr/>
          <p:nvPr/>
        </p:nvSpPr>
        <p:spPr>
          <a:xfrm>
            <a:off x="4329266" y="385619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FB894B-DB8E-D914-C058-3C0B6EF14ADA}"/>
              </a:ext>
            </a:extLst>
          </p:cNvPr>
          <p:cNvSpPr/>
          <p:nvPr/>
        </p:nvSpPr>
        <p:spPr>
          <a:xfrm>
            <a:off x="3740355" y="3865341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013BBA-048E-3F59-2313-E2A0F0EB7850}"/>
              </a:ext>
            </a:extLst>
          </p:cNvPr>
          <p:cNvSpPr/>
          <p:nvPr/>
        </p:nvSpPr>
        <p:spPr>
          <a:xfrm>
            <a:off x="3151445" y="3865341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84DD9B-357A-78B1-6F1C-CD6983A4873A}"/>
              </a:ext>
            </a:extLst>
          </p:cNvPr>
          <p:cNvSpPr/>
          <p:nvPr/>
        </p:nvSpPr>
        <p:spPr>
          <a:xfrm>
            <a:off x="3151444" y="349212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DCB22D-887C-72BC-5E35-CDC7D475C532}"/>
              </a:ext>
            </a:extLst>
          </p:cNvPr>
          <p:cNvSpPr/>
          <p:nvPr/>
        </p:nvSpPr>
        <p:spPr>
          <a:xfrm>
            <a:off x="3151443" y="3118899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4EFD08-D8F1-206F-B6B6-E23CA33CAD59}"/>
              </a:ext>
            </a:extLst>
          </p:cNvPr>
          <p:cNvSpPr/>
          <p:nvPr/>
        </p:nvSpPr>
        <p:spPr>
          <a:xfrm>
            <a:off x="3151442" y="274296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246CAB5-A709-AB56-798E-3C5BD6B6E853}"/>
              </a:ext>
            </a:extLst>
          </p:cNvPr>
          <p:cNvSpPr/>
          <p:nvPr/>
        </p:nvSpPr>
        <p:spPr>
          <a:xfrm>
            <a:off x="3151441" y="237283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A79A54-870E-6341-1C36-5D67415B0126}"/>
              </a:ext>
            </a:extLst>
          </p:cNvPr>
          <p:cNvSpPr/>
          <p:nvPr/>
        </p:nvSpPr>
        <p:spPr>
          <a:xfrm>
            <a:off x="3740354" y="2381601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9587B4-DD45-34F6-A113-DCEDF70A99E5}"/>
              </a:ext>
            </a:extLst>
          </p:cNvPr>
          <p:cNvSpPr/>
          <p:nvPr/>
        </p:nvSpPr>
        <p:spPr>
          <a:xfrm>
            <a:off x="4329259" y="2374109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E4D821-41E8-20E0-094F-EF70F39D7332}"/>
              </a:ext>
            </a:extLst>
          </p:cNvPr>
          <p:cNvSpPr/>
          <p:nvPr/>
        </p:nvSpPr>
        <p:spPr>
          <a:xfrm>
            <a:off x="4918164" y="2378553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28F6AF-6759-C39D-077B-68992ED02122}"/>
              </a:ext>
            </a:extLst>
          </p:cNvPr>
          <p:cNvSpPr/>
          <p:nvPr/>
        </p:nvSpPr>
        <p:spPr>
          <a:xfrm>
            <a:off x="5507063" y="238045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75D8D0-135E-C6DF-89AF-1AD90FE73F20}"/>
              </a:ext>
            </a:extLst>
          </p:cNvPr>
          <p:cNvSpPr/>
          <p:nvPr/>
        </p:nvSpPr>
        <p:spPr>
          <a:xfrm>
            <a:off x="6095956" y="238045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874A90-A449-59BC-9DAB-305AB9BC256C}"/>
              </a:ext>
            </a:extLst>
          </p:cNvPr>
          <p:cNvSpPr/>
          <p:nvPr/>
        </p:nvSpPr>
        <p:spPr>
          <a:xfrm>
            <a:off x="6684906" y="238007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E85DE06-FF15-1E27-C0A7-049DC42DC8AF}"/>
              </a:ext>
            </a:extLst>
          </p:cNvPr>
          <p:cNvSpPr/>
          <p:nvPr/>
        </p:nvSpPr>
        <p:spPr>
          <a:xfrm>
            <a:off x="7273780" y="2378650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F216F2-8841-AC67-1F2B-2E07CC39E67E}"/>
              </a:ext>
            </a:extLst>
          </p:cNvPr>
          <p:cNvSpPr/>
          <p:nvPr/>
        </p:nvSpPr>
        <p:spPr>
          <a:xfrm>
            <a:off x="7862654" y="238007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9CA993-72C3-4DCE-7777-2FA9967E1C9E}"/>
              </a:ext>
            </a:extLst>
          </p:cNvPr>
          <p:cNvSpPr/>
          <p:nvPr/>
        </p:nvSpPr>
        <p:spPr>
          <a:xfrm>
            <a:off x="8451491" y="2383806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1A1A256-D19C-1205-D913-F28F1A4341B1}"/>
              </a:ext>
            </a:extLst>
          </p:cNvPr>
          <p:cNvSpPr/>
          <p:nvPr/>
        </p:nvSpPr>
        <p:spPr>
          <a:xfrm>
            <a:off x="9040291" y="2378553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6E24AE-676A-085C-FC43-BDF9C8B87D2B}"/>
              </a:ext>
            </a:extLst>
          </p:cNvPr>
          <p:cNvSpPr txBox="1"/>
          <p:nvPr/>
        </p:nvSpPr>
        <p:spPr>
          <a:xfrm>
            <a:off x="9738360" y="3244334"/>
            <a:ext cx="1178528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/>
              <a:t>Cost = 21</a:t>
            </a:r>
          </a:p>
        </p:txBody>
      </p:sp>
    </p:spTree>
    <p:extLst>
      <p:ext uri="{BB962C8B-B14F-4D97-AF65-F5344CB8AC3E}">
        <p14:creationId xmlns:p14="http://schemas.microsoft.com/office/powerpoint/2010/main" val="186748840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300F1-EEC1-C0DF-6121-DE4FEBF2F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Best First Search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8D7865-4FBF-D382-E35D-6937B3D5F7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Complete?</a:t>
                </a:r>
              </a:p>
              <a:p>
                <a:r>
                  <a:rPr lang="en-GB" dirty="0"/>
                  <a:t>Optimal?</a:t>
                </a:r>
              </a:p>
              <a:p>
                <a:r>
                  <a:rPr lang="en-GB" dirty="0"/>
                  <a:t>Complexity?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in worst case.</a:t>
                </a:r>
              </a:p>
              <a:p>
                <a:r>
                  <a:rPr lang="en-GB" dirty="0"/>
                  <a:t>With a good heuristic function, however, the complexity can be reduced substantially.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8D7865-4FBF-D382-E35D-6937B3D5F7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B2961-D154-EA9C-9166-1C03F1571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420F49-69EF-B2E8-5831-84F31AD7A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64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27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2E2F3-1B69-7F23-BAB6-8FE3E294E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A*-Search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CDA54E-DE55-4AD0-63E7-4D722B8FEA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Most widely known form of best-first search.</a:t>
                </a:r>
              </a:p>
              <a:p>
                <a:r>
                  <a:rPr lang="en-GB" dirty="0"/>
                  <a:t>It evaluates nodes by combining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, the cost to reach the node,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, the cost to get from the node to the goal: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GB" b="0" dirty="0"/>
              </a:p>
              <a:p>
                <a:r>
                  <a:rPr lang="en-GB" dirty="0"/>
                  <a:t>Since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gives the path cost from the start node to node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,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the estimated cost of the cheapest path from the node to the goal: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𝑒𝑠𝑡𝑖𝑚𝑎𝑡𝑒𝑑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𝑐𝑜𝑠𝑡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𝑐h𝑒𝑎𝑝𝑒𝑠𝑡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𝑠𝑜𝑙𝑢𝑡𝑖𝑜𝑛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𝑡h𝑟𝑜𝑢𝑔h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CDA54E-DE55-4AD0-63E7-4D722B8FEA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EF925-D218-C675-3BAD-831E34B57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F856C-3032-3466-E04B-5F5C025F0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0473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A4D68-22F5-225B-192A-49F939A00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14872-C854-30E1-1C74-2EA9C0D63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A*-Search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49FE4-5DF5-2F03-92E6-3E7CF4A1D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C776D4-FE24-8DA7-43D7-7E379077F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66</a:t>
            </a:fld>
            <a:endParaRPr lang="en-GB"/>
          </a:p>
        </p:txBody>
      </p:sp>
      <p:graphicFrame>
        <p:nvGraphicFramePr>
          <p:cNvPr id="3" name="Content Placeholder 5">
            <a:extLst>
              <a:ext uri="{FF2B5EF4-FFF2-40B4-BE49-F238E27FC236}">
                <a16:creationId xmlns:a16="http://schemas.microsoft.com/office/drawing/2014/main" id="{5C3C5846-19A8-A926-F80B-483BCEE07D6E}"/>
              </a:ext>
            </a:extLst>
          </p:cNvPr>
          <p:cNvGraphicFramePr>
            <a:graphicFrameLocks/>
          </p:cNvGraphicFramePr>
          <p:nvPr/>
        </p:nvGraphicFramePr>
        <p:xfrm>
          <a:off x="2562534" y="2372837"/>
          <a:ext cx="7066932" cy="2595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8911">
                  <a:extLst>
                    <a:ext uri="{9D8B030D-6E8A-4147-A177-3AD203B41FA5}">
                      <a16:colId xmlns:a16="http://schemas.microsoft.com/office/drawing/2014/main" val="64687663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81020219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42901871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709540840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372940855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59717459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690832184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89911562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073726458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1835741083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3469569991"/>
                    </a:ext>
                  </a:extLst>
                </a:gridCol>
                <a:gridCol w="588911">
                  <a:extLst>
                    <a:ext uri="{9D8B030D-6E8A-4147-A177-3AD203B41FA5}">
                      <a16:colId xmlns:a16="http://schemas.microsoft.com/office/drawing/2014/main" val="25449911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20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68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76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42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56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334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411486"/>
                  </a:ext>
                </a:extLst>
              </a:tr>
            </a:tbl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EA5556C4-BB2F-0909-71D0-904D98D7E4FA}"/>
              </a:ext>
            </a:extLst>
          </p:cNvPr>
          <p:cNvSpPr/>
          <p:nvPr/>
        </p:nvSpPr>
        <p:spPr>
          <a:xfrm>
            <a:off x="2562534" y="4597877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C2C19A-D4F3-8129-677B-10A814592359}"/>
              </a:ext>
            </a:extLst>
          </p:cNvPr>
          <p:cNvSpPr/>
          <p:nvPr/>
        </p:nvSpPr>
        <p:spPr>
          <a:xfrm>
            <a:off x="9040555" y="2375854"/>
            <a:ext cx="588911" cy="37084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62F22A9-9DFC-F72F-B39D-19F12E6142FD}"/>
              </a:ext>
            </a:extLst>
          </p:cNvPr>
          <p:cNvSpPr/>
          <p:nvPr/>
        </p:nvSpPr>
        <p:spPr>
          <a:xfrm>
            <a:off x="3155001" y="4597877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16+</a:t>
            </a:r>
            <a:r>
              <a:rPr lang="en-US" sz="1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3B22027-E404-3BC3-32AB-6B455C5E26F9}"/>
              </a:ext>
            </a:extLst>
          </p:cNvPr>
          <p:cNvSpPr/>
          <p:nvPr/>
        </p:nvSpPr>
        <p:spPr>
          <a:xfrm>
            <a:off x="3753056" y="4597877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15+</a:t>
            </a:r>
            <a:r>
              <a:rPr lang="en-US" sz="1400" dirty="0">
                <a:solidFill>
                  <a:srgbClr val="FF0000"/>
                </a:solidFill>
              </a:rPr>
              <a:t>2</a:t>
            </a:r>
            <a:endParaRPr lang="en-US" sz="1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44676A-0D9D-6457-0EC8-0398DB0E568A}"/>
              </a:ext>
            </a:extLst>
          </p:cNvPr>
          <p:cNvSpPr/>
          <p:nvPr/>
        </p:nvSpPr>
        <p:spPr>
          <a:xfrm>
            <a:off x="4337204" y="4597877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14+</a:t>
            </a:r>
            <a:r>
              <a:rPr lang="en-US" sz="1400" dirty="0">
                <a:solidFill>
                  <a:srgbClr val="FF0000"/>
                </a:solidFill>
              </a:rPr>
              <a:t>3</a:t>
            </a:r>
            <a:endParaRPr lang="en-US" sz="14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F06F8C4-EA62-F260-D7C9-1897996382C9}"/>
              </a:ext>
            </a:extLst>
          </p:cNvPr>
          <p:cNvSpPr/>
          <p:nvPr/>
        </p:nvSpPr>
        <p:spPr>
          <a:xfrm>
            <a:off x="4332440" y="4227037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13+</a:t>
            </a:r>
            <a:r>
              <a:rPr lang="en-US" sz="1400" dirty="0">
                <a:solidFill>
                  <a:srgbClr val="FF0000"/>
                </a:solidFill>
              </a:rPr>
              <a:t>4</a:t>
            </a:r>
            <a:endParaRPr lang="en-US" sz="14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E7EDFC1-85C3-A79A-D9CE-9F4E1CCE3178}"/>
              </a:ext>
            </a:extLst>
          </p:cNvPr>
          <p:cNvSpPr/>
          <p:nvPr/>
        </p:nvSpPr>
        <p:spPr>
          <a:xfrm>
            <a:off x="4327676" y="3856197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12+</a:t>
            </a:r>
            <a:r>
              <a:rPr lang="en-US" sz="1400" dirty="0">
                <a:solidFill>
                  <a:srgbClr val="FF0000"/>
                </a:solidFill>
              </a:rPr>
              <a:t>5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06CE30-20F1-48CD-AFAD-FCBF37DE6780}"/>
              </a:ext>
            </a:extLst>
          </p:cNvPr>
          <p:cNvSpPr/>
          <p:nvPr/>
        </p:nvSpPr>
        <p:spPr>
          <a:xfrm>
            <a:off x="4322912" y="3485357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11+</a:t>
            </a:r>
            <a:r>
              <a:rPr lang="en-US" sz="1400" dirty="0">
                <a:solidFill>
                  <a:srgbClr val="FF0000"/>
                </a:solidFill>
              </a:rPr>
              <a:t>6</a:t>
            </a:r>
            <a:endParaRPr lang="en-US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B69BCC-EB11-7CAB-2CBF-AE07A51A24AA}"/>
              </a:ext>
            </a:extLst>
          </p:cNvPr>
          <p:cNvSpPr/>
          <p:nvPr/>
        </p:nvSpPr>
        <p:spPr>
          <a:xfrm>
            <a:off x="4318148" y="3114517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10+</a:t>
            </a:r>
            <a:r>
              <a:rPr lang="en-US" sz="1400" dirty="0">
                <a:solidFill>
                  <a:srgbClr val="FF0000"/>
                </a:solidFill>
              </a:rPr>
              <a:t>7</a:t>
            </a:r>
            <a:endParaRPr lang="en-US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26965E-5D9C-41CC-293E-CE63568A24ED}"/>
              </a:ext>
            </a:extLst>
          </p:cNvPr>
          <p:cNvSpPr/>
          <p:nvPr/>
        </p:nvSpPr>
        <p:spPr>
          <a:xfrm>
            <a:off x="4911439" y="3114517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9+</a:t>
            </a:r>
            <a:r>
              <a:rPr lang="en-US" sz="1400" dirty="0">
                <a:solidFill>
                  <a:srgbClr val="FF0000"/>
                </a:solidFill>
              </a:rPr>
              <a:t>8</a:t>
            </a:r>
            <a:endParaRPr lang="en-US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6EE06D-F856-4243-7A5E-7B3EBB9A24D3}"/>
              </a:ext>
            </a:extLst>
          </p:cNvPr>
          <p:cNvSpPr/>
          <p:nvPr/>
        </p:nvSpPr>
        <p:spPr>
          <a:xfrm>
            <a:off x="5500350" y="3122614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8+</a:t>
            </a:r>
            <a:r>
              <a:rPr lang="en-US" sz="1400" dirty="0">
                <a:solidFill>
                  <a:srgbClr val="FF0000"/>
                </a:solidFill>
              </a:rPr>
              <a:t>9</a:t>
            </a:r>
            <a:endParaRPr lang="en-US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B13E7F-5386-26AD-DA2E-DBE6E4B01EBC}"/>
              </a:ext>
            </a:extLst>
          </p:cNvPr>
          <p:cNvSpPr/>
          <p:nvPr/>
        </p:nvSpPr>
        <p:spPr>
          <a:xfrm>
            <a:off x="6098021" y="3122614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7+</a:t>
            </a:r>
            <a:r>
              <a:rPr lang="en-US" sz="1400" dirty="0">
                <a:solidFill>
                  <a:srgbClr val="FF0000"/>
                </a:solidFill>
              </a:rPr>
              <a:t>10</a:t>
            </a:r>
            <a:endParaRPr lang="en-US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1509F3-00E9-E1FB-E5CF-567310CF63FC}"/>
              </a:ext>
            </a:extLst>
          </p:cNvPr>
          <p:cNvSpPr/>
          <p:nvPr/>
        </p:nvSpPr>
        <p:spPr>
          <a:xfrm>
            <a:off x="6695692" y="3122614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6+</a:t>
            </a:r>
            <a:r>
              <a:rPr lang="en-US" sz="1400" dirty="0">
                <a:solidFill>
                  <a:srgbClr val="FF0000"/>
                </a:solidFill>
              </a:rPr>
              <a:t>11</a:t>
            </a:r>
            <a:endParaRPr lang="en-US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B8B378-D9D2-F8E0-8B2F-A9CEE87F95D5}"/>
              </a:ext>
            </a:extLst>
          </p:cNvPr>
          <p:cNvSpPr/>
          <p:nvPr/>
        </p:nvSpPr>
        <p:spPr>
          <a:xfrm>
            <a:off x="7284219" y="3122614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5+</a:t>
            </a:r>
            <a:r>
              <a:rPr lang="en-US" sz="1400" dirty="0">
                <a:solidFill>
                  <a:srgbClr val="FF0000"/>
                </a:solidFill>
              </a:rPr>
              <a:t>12</a:t>
            </a:r>
            <a:endParaRPr lang="en-US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E93ACF-F2E0-CC82-C054-3116245BE013}"/>
              </a:ext>
            </a:extLst>
          </p:cNvPr>
          <p:cNvSpPr/>
          <p:nvPr/>
        </p:nvSpPr>
        <p:spPr>
          <a:xfrm>
            <a:off x="7867931" y="3122614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4+</a:t>
            </a:r>
            <a:r>
              <a:rPr lang="en-US" sz="1400" dirty="0">
                <a:solidFill>
                  <a:srgbClr val="FF0000"/>
                </a:solidFill>
              </a:rPr>
              <a:t>13</a:t>
            </a:r>
            <a:endParaRPr lang="en-US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0E6767-EE77-9B63-63B9-533B199911AB}"/>
              </a:ext>
            </a:extLst>
          </p:cNvPr>
          <p:cNvSpPr/>
          <p:nvPr/>
        </p:nvSpPr>
        <p:spPr>
          <a:xfrm>
            <a:off x="7867931" y="3484946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5+</a:t>
            </a:r>
            <a:r>
              <a:rPr lang="en-US" sz="1400" dirty="0">
                <a:solidFill>
                  <a:srgbClr val="FF0000"/>
                </a:solidFill>
              </a:rPr>
              <a:t>14</a:t>
            </a:r>
            <a:endParaRPr lang="en-US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594AD2-5366-911E-91E0-F652145E30C3}"/>
              </a:ext>
            </a:extLst>
          </p:cNvPr>
          <p:cNvSpPr/>
          <p:nvPr/>
        </p:nvSpPr>
        <p:spPr>
          <a:xfrm>
            <a:off x="3753055" y="3855786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13+</a:t>
            </a:r>
            <a:r>
              <a:rPr lang="en-US" sz="1400" dirty="0">
                <a:solidFill>
                  <a:srgbClr val="FF0000"/>
                </a:solidFill>
              </a:rPr>
              <a:t>6</a:t>
            </a:r>
            <a:endParaRPr lang="en-US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C47B7-58D8-97C6-567D-4B5A6C5B8EB8}"/>
              </a:ext>
            </a:extLst>
          </p:cNvPr>
          <p:cNvSpPr/>
          <p:nvPr/>
        </p:nvSpPr>
        <p:spPr>
          <a:xfrm>
            <a:off x="3154318" y="3855786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14+</a:t>
            </a:r>
            <a:r>
              <a:rPr lang="en-US" sz="1400" dirty="0">
                <a:solidFill>
                  <a:srgbClr val="FF0000"/>
                </a:solidFill>
              </a:rPr>
              <a:t>7</a:t>
            </a:r>
            <a:endParaRPr lang="en-US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2B407A-E9DF-897D-4ABC-12A43F0D72A6}"/>
              </a:ext>
            </a:extLst>
          </p:cNvPr>
          <p:cNvSpPr/>
          <p:nvPr/>
        </p:nvSpPr>
        <p:spPr>
          <a:xfrm>
            <a:off x="3142728" y="3484946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13+</a:t>
            </a:r>
            <a:r>
              <a:rPr lang="en-US" sz="1400" dirty="0">
                <a:solidFill>
                  <a:srgbClr val="FF0000"/>
                </a:solidFill>
              </a:rPr>
              <a:t>8</a:t>
            </a:r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6F9BFC-BAA7-9F07-61DC-2E7729622326}"/>
              </a:ext>
            </a:extLst>
          </p:cNvPr>
          <p:cNvSpPr/>
          <p:nvPr/>
        </p:nvSpPr>
        <p:spPr>
          <a:xfrm>
            <a:off x="3151872" y="3122614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12+</a:t>
            </a:r>
            <a:r>
              <a:rPr lang="en-US" sz="1400" dirty="0">
                <a:solidFill>
                  <a:srgbClr val="FF0000"/>
                </a:solidFill>
              </a:rPr>
              <a:t>9</a:t>
            </a:r>
            <a:endParaRPr lang="en-US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57AAB5-7A6E-BF2E-2A0D-5EE713923D0C}"/>
              </a:ext>
            </a:extLst>
          </p:cNvPr>
          <p:cNvSpPr/>
          <p:nvPr/>
        </p:nvSpPr>
        <p:spPr>
          <a:xfrm>
            <a:off x="3155001" y="2742855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11+</a:t>
            </a:r>
            <a:r>
              <a:rPr lang="en-US" sz="1100" dirty="0">
                <a:solidFill>
                  <a:srgbClr val="FF0000"/>
                </a:solidFill>
              </a:rPr>
              <a:t>10</a:t>
            </a:r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4D4A7C-FB58-0E75-8F48-ABA785C83339}"/>
              </a:ext>
            </a:extLst>
          </p:cNvPr>
          <p:cNvSpPr/>
          <p:nvPr/>
        </p:nvSpPr>
        <p:spPr>
          <a:xfrm>
            <a:off x="3141767" y="2371604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10+</a:t>
            </a:r>
            <a:r>
              <a:rPr lang="en-US" sz="1100" dirty="0">
                <a:solidFill>
                  <a:srgbClr val="FF0000"/>
                </a:solidFill>
              </a:rPr>
              <a:t>11</a:t>
            </a:r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EB82A9-0252-EAA4-AE7A-2F39BB7B7970}"/>
              </a:ext>
            </a:extLst>
          </p:cNvPr>
          <p:cNvSpPr/>
          <p:nvPr/>
        </p:nvSpPr>
        <p:spPr>
          <a:xfrm>
            <a:off x="3725530" y="2371399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9+</a:t>
            </a:r>
            <a:r>
              <a:rPr lang="en-US" sz="1400" dirty="0">
                <a:solidFill>
                  <a:srgbClr val="FF0000"/>
                </a:solidFill>
              </a:rPr>
              <a:t>12</a:t>
            </a:r>
            <a:endParaRPr lang="en-US" sz="1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6D7DF1-767F-4A0B-DBC1-26AB5EDE1935}"/>
              </a:ext>
            </a:extLst>
          </p:cNvPr>
          <p:cNvSpPr/>
          <p:nvPr/>
        </p:nvSpPr>
        <p:spPr>
          <a:xfrm>
            <a:off x="4330273" y="2371399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8+</a:t>
            </a:r>
            <a:r>
              <a:rPr lang="en-US" sz="1400" dirty="0">
                <a:solidFill>
                  <a:srgbClr val="FF0000"/>
                </a:solidFill>
              </a:rPr>
              <a:t>13</a:t>
            </a:r>
            <a:endParaRPr lang="en-US" sz="14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D718E1-880C-441D-8DBC-B21BAB567573}"/>
              </a:ext>
            </a:extLst>
          </p:cNvPr>
          <p:cNvSpPr/>
          <p:nvPr/>
        </p:nvSpPr>
        <p:spPr>
          <a:xfrm>
            <a:off x="4916587" y="2371399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7+</a:t>
            </a:r>
            <a:r>
              <a:rPr lang="en-US" sz="1400" dirty="0">
                <a:solidFill>
                  <a:srgbClr val="FF0000"/>
                </a:solidFill>
              </a:rPr>
              <a:t>14</a:t>
            </a:r>
            <a:endParaRPr lang="en-US" sz="1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9DB952-F4FA-500F-0D80-7C9A1848CA95}"/>
              </a:ext>
            </a:extLst>
          </p:cNvPr>
          <p:cNvSpPr/>
          <p:nvPr/>
        </p:nvSpPr>
        <p:spPr>
          <a:xfrm>
            <a:off x="5507089" y="2379496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6+</a:t>
            </a:r>
            <a:r>
              <a:rPr lang="en-US" sz="1400" dirty="0">
                <a:solidFill>
                  <a:srgbClr val="FF0000"/>
                </a:solidFill>
              </a:rPr>
              <a:t>15</a:t>
            </a:r>
            <a:endParaRPr lang="en-US" sz="14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7EAF36-97B0-C877-EBD2-B455E020A0A6}"/>
              </a:ext>
            </a:extLst>
          </p:cNvPr>
          <p:cNvSpPr/>
          <p:nvPr/>
        </p:nvSpPr>
        <p:spPr>
          <a:xfrm>
            <a:off x="6093450" y="2371399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5+</a:t>
            </a:r>
            <a:r>
              <a:rPr lang="en-US" sz="1400" dirty="0">
                <a:solidFill>
                  <a:srgbClr val="FF0000"/>
                </a:solidFill>
              </a:rPr>
              <a:t>16</a:t>
            </a:r>
            <a:endParaRPr lang="en-US" sz="1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70E90A-C6C4-DBE6-CA29-780921232878}"/>
              </a:ext>
            </a:extLst>
          </p:cNvPr>
          <p:cNvSpPr/>
          <p:nvPr/>
        </p:nvSpPr>
        <p:spPr>
          <a:xfrm>
            <a:off x="6695691" y="2379496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4+</a:t>
            </a:r>
            <a:r>
              <a:rPr lang="en-US" sz="1400" dirty="0">
                <a:solidFill>
                  <a:srgbClr val="FF0000"/>
                </a:solidFill>
              </a:rPr>
              <a:t>17</a:t>
            </a:r>
            <a:endParaRPr lang="en-US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2E5D806-969D-2FB6-FCBE-ABC8016031A1}"/>
              </a:ext>
            </a:extLst>
          </p:cNvPr>
          <p:cNvSpPr/>
          <p:nvPr/>
        </p:nvSpPr>
        <p:spPr>
          <a:xfrm>
            <a:off x="7297932" y="2371399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3+</a:t>
            </a:r>
            <a:r>
              <a:rPr lang="en-US" sz="1400" dirty="0">
                <a:solidFill>
                  <a:srgbClr val="FF0000"/>
                </a:solidFill>
              </a:rPr>
              <a:t>18</a:t>
            </a:r>
            <a:endParaRPr lang="en-US" sz="14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EFF9F23-871F-B4C3-B086-F82AE571F3BA}"/>
              </a:ext>
            </a:extLst>
          </p:cNvPr>
          <p:cNvSpPr/>
          <p:nvPr/>
        </p:nvSpPr>
        <p:spPr>
          <a:xfrm>
            <a:off x="7849403" y="2367145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2+</a:t>
            </a:r>
            <a:r>
              <a:rPr lang="en-US" sz="1400" dirty="0">
                <a:solidFill>
                  <a:srgbClr val="FF0000"/>
                </a:solidFill>
              </a:rPr>
              <a:t>19</a:t>
            </a:r>
            <a:endParaRPr lang="en-US" sz="14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EC4B794-1D2E-05A1-AF4C-A5B3C099A0C5}"/>
              </a:ext>
            </a:extLst>
          </p:cNvPr>
          <p:cNvSpPr/>
          <p:nvPr/>
        </p:nvSpPr>
        <p:spPr>
          <a:xfrm>
            <a:off x="8444978" y="2367145"/>
            <a:ext cx="588911" cy="37084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1+</a:t>
            </a:r>
            <a:r>
              <a:rPr lang="en-US" sz="1400" dirty="0">
                <a:solidFill>
                  <a:srgbClr val="FF0000"/>
                </a:solidFill>
              </a:rPr>
              <a:t>20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97122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  <p:bldP spid="3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36" grpId="0" animBg="1"/>
      <p:bldP spid="37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9963E-C189-5427-E287-7C02C287C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1571"/>
          </a:xfrm>
        </p:spPr>
        <p:txBody>
          <a:bodyPr>
            <a:normAutofit fontScale="90000"/>
          </a:bodyPr>
          <a:lstStyle/>
          <a:p>
            <a:r>
              <a:rPr lang="en-US" dirty="0"/>
              <a:t>Greedy Best First Search/ A* Search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99FAB-D599-7B14-E0CE-B80DC1E56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8136"/>
            <a:ext cx="5257800" cy="508882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GreedyBestFirstSearch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(problem):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node :=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create_node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problem.initial_state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parent =null, action = null,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path_cost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0)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frontier :=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PriorityQueue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ordered by h(n)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frontier.insert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node,f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node.state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))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explored := empty set</a:t>
            </a:r>
          </a:p>
          <a:p>
            <a:pPr marL="0" indent="0">
              <a:buNone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while frontier is not empty: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node :=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frontier.pop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if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problem.is_goal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node.state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return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solution_path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(node)</a:t>
            </a:r>
          </a:p>
          <a:p>
            <a:pPr marL="0" indent="0">
              <a:buNone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explored.add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node.state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249D2-311F-F6B0-FE1D-CE4DCD6C4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247B5-888E-BA4D-956F-A5532D82A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67</a:t>
            </a:fld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170D72C-0216-1392-0CB5-DCE4C95CF729}"/>
              </a:ext>
            </a:extLst>
          </p:cNvPr>
          <p:cNvSpPr txBox="1">
            <a:spLocks/>
          </p:cNvSpPr>
          <p:nvPr/>
        </p:nvSpPr>
        <p:spPr>
          <a:xfrm>
            <a:off x="6096000" y="1088135"/>
            <a:ext cx="5599176" cy="50888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for each action in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problem.actions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node.state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child_state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:=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problem.result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node.state,action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step_cost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:=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problem.step_cost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node.state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action,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                                      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child_state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child_node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:=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create_node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child_state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parent=node, action = action,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path_cost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node.path_cost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step_cost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if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child_state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 in explored and not in frontier: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f_value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:= f(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child_state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frontier.insert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child_node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f_value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return failure</a:t>
            </a:r>
          </a:p>
        </p:txBody>
      </p:sp>
    </p:spTree>
    <p:extLst>
      <p:ext uri="{BB962C8B-B14F-4D97-AF65-F5344CB8AC3E}">
        <p14:creationId xmlns:p14="http://schemas.microsoft.com/office/powerpoint/2010/main" val="191984854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982ED-C7A2-B197-0F5B-0B86223C5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Condition of Optimality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B657E1-E1AA-5BE5-B5F3-96E2058F81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First condition is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be an </a:t>
                </a:r>
                <a:r>
                  <a:rPr lang="en-GB" b="1" dirty="0"/>
                  <a:t>admissible</a:t>
                </a:r>
                <a:r>
                  <a:rPr lang="en-GB" dirty="0"/>
                  <a:t> heuristic.</a:t>
                </a:r>
              </a:p>
              <a:p>
                <a:r>
                  <a:rPr lang="en-GB" dirty="0"/>
                  <a:t>Admissible heuristic never overestimates the cost to reach the goal.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never overestimates the true cost of a solution along the current path through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Euclidean/Manhattan distance never overestimates.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B657E1-E1AA-5BE5-B5F3-96E2058F81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4D29E-6EB7-5890-1E56-C4F77C293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6D1A04-DCEE-E79F-DC2F-14888AF73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68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4312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E1E4D-E2D1-9D04-4351-4FCB798B4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Condition of Optimality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402360-71EB-055F-D187-3C75ECDA9C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Slightly stronger condition is </a:t>
                </a:r>
                <a:r>
                  <a:rPr lang="en-GB" b="1" dirty="0"/>
                  <a:t>consistency</a:t>
                </a:r>
                <a:r>
                  <a:rPr lang="en-GB" dirty="0"/>
                  <a:t>(monotonicity)</a:t>
                </a:r>
              </a:p>
              <a:p>
                <a:pPr lvl="1"/>
                <a:r>
                  <a:rPr lang="en-GB" dirty="0"/>
                  <a:t>Required for graph search.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consistent if, for every node n and every successor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GB" dirty="0"/>
                  <a:t>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generated by any action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, the estimated cost of reaching the goal from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is no greater that the step cost of getting to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GB" dirty="0"/>
                  <a:t> plus the estimated cost of reaching goal from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402360-71EB-055F-D187-3C75ECDA9C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4FC04-1074-D45E-25AD-FD578694E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3D675D-2482-7ADD-06DB-80D64B42A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69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6914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183B6A6-6021-1F9C-5110-2B82C618738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Optimality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183B6A6-6021-1F9C-5110-2B82C61873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C0FC7E-D79F-406B-B6E1-94C175289A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The tree search is optimal 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</a:t>
                </a:r>
                <a:r>
                  <a:rPr lang="en-GB" b="1" dirty="0"/>
                  <a:t>admissible</a:t>
                </a:r>
                <a:r>
                  <a:rPr lang="en-GB" dirty="0"/>
                  <a:t>.</a:t>
                </a:r>
              </a:p>
              <a:p>
                <a:r>
                  <a:rPr lang="en-GB" dirty="0"/>
                  <a:t>The graph search is optimal 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</a:t>
                </a:r>
                <a:r>
                  <a:rPr lang="en-GB" b="1" dirty="0"/>
                  <a:t>consistent</a:t>
                </a:r>
                <a:r>
                  <a:rPr lang="en-GB" dirty="0"/>
                  <a:t>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C0FC7E-D79F-406B-B6E1-94C175289A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BF586-337F-00A3-7899-DB013CB86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C35C47-C708-7D8A-B57E-DF9B9522D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70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8508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AE8D9-F4A0-FE9D-034E-1BA14009F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Memory-bounded Heuristic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677E92-27E7-4D47-5B84-22F6E9EB44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Simplest way  to reduce memory is to use iterative deepening.</a:t>
                </a:r>
              </a:p>
              <a:p>
                <a:r>
                  <a:rPr lang="en-GB" dirty="0"/>
                  <a:t>The algorithm is called iterative-deepening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IDA</m:t>
                        </m:r>
                      </m:e>
                      <m:sup>
                        <m:r>
                          <a:rPr lang="en-GB" b="0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GB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The cut-off value is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GB" dirty="0"/>
                  <a:t>cost (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677E92-27E7-4D47-5B84-22F6E9EB44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67DCA-C593-7F49-FE9E-B6D22D5E5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3A8B1B-B18D-BC9A-02F9-51CAE4E3A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71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3274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DC0E2-B8DD-4E85-6A6D-4CED6A99A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/>
          <a:lstStyle/>
          <a:p>
            <a:r>
              <a:rPr lang="en-GB" dirty="0"/>
              <a:t>Recursive best-first Search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54370D-4F3A-F0B8-11AB-C5D00F66C7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97864"/>
                <a:ext cx="10515600" cy="4979099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 function RECURSIVE-BEST-FIRST-SEARCH(problem) returns a solution, or failure</a:t>
                </a:r>
              </a:p>
              <a:p>
                <a:pPr marL="0" indent="0">
                  <a:buNone/>
                </a:pPr>
                <a:r>
                  <a:rPr lang="en-GB" dirty="0"/>
                  <a:t> 	return RBFS(problem, MAKE-NODE(</a:t>
                </a:r>
                <a:r>
                  <a:rPr lang="en-GB" dirty="0" err="1"/>
                  <a:t>problem.INITIAL</a:t>
                </a:r>
                <a:r>
                  <a:rPr lang="en-GB" dirty="0"/>
                  <a:t>-STATE),∞)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 function RBFS(problem, node, f-limit) returns a solution, or failure and a new f-cost limit</a:t>
                </a:r>
              </a:p>
              <a:p>
                <a:pPr marL="0" indent="0">
                  <a:buNone/>
                </a:pPr>
                <a:r>
                  <a:rPr lang="en-GB" dirty="0"/>
                  <a:t> 	if </a:t>
                </a:r>
                <a:r>
                  <a:rPr lang="en-GB" dirty="0" err="1"/>
                  <a:t>problem.GOAL</a:t>
                </a:r>
                <a:r>
                  <a:rPr lang="en-GB" dirty="0"/>
                  <a:t>-TEST(</a:t>
                </a:r>
                <a:r>
                  <a:rPr lang="en-GB" dirty="0" err="1"/>
                  <a:t>node.STATE</a:t>
                </a:r>
                <a:r>
                  <a:rPr lang="en-GB" dirty="0"/>
                  <a:t>) then return SOLUTION(node)</a:t>
                </a:r>
              </a:p>
              <a:p>
                <a:pPr marL="0" indent="0">
                  <a:buNone/>
                </a:pPr>
                <a:r>
                  <a:rPr lang="en-GB" dirty="0"/>
                  <a:t> 	successors ←[ ]</a:t>
                </a:r>
              </a:p>
              <a:p>
                <a:pPr marL="0" indent="0">
                  <a:buNone/>
                </a:pPr>
                <a:r>
                  <a:rPr lang="en-GB" dirty="0"/>
                  <a:t>	for each action in </a:t>
                </a:r>
                <a:r>
                  <a:rPr lang="en-GB" dirty="0" err="1"/>
                  <a:t>problem.ACTIONS</a:t>
                </a:r>
                <a:r>
                  <a:rPr lang="en-GB" dirty="0"/>
                  <a:t>(</a:t>
                </a:r>
                <a:r>
                  <a:rPr lang="en-GB" dirty="0" err="1"/>
                  <a:t>node.STATE</a:t>
                </a:r>
                <a:r>
                  <a:rPr lang="en-GB" dirty="0"/>
                  <a:t>) do</a:t>
                </a:r>
              </a:p>
              <a:p>
                <a:pPr marL="0" indent="0">
                  <a:buNone/>
                </a:pPr>
                <a:r>
                  <a:rPr lang="en-GB" dirty="0"/>
                  <a:t>		add CHILD-NODE(problem, node, action) into successors</a:t>
                </a:r>
              </a:p>
              <a:p>
                <a:pPr marL="0" indent="0">
                  <a:buNone/>
                </a:pPr>
                <a:r>
                  <a:rPr lang="en-GB" dirty="0"/>
                  <a:t>	if successors is empty then return failure, ∞</a:t>
                </a:r>
              </a:p>
              <a:p>
                <a:pPr marL="0" indent="0">
                  <a:buNone/>
                </a:pPr>
                <a:r>
                  <a:rPr lang="en-GB" dirty="0"/>
                  <a:t>	for each s in successors do /* update f with value from previous search, if any */</a:t>
                </a:r>
              </a:p>
              <a:p>
                <a:pPr marL="0" indent="0">
                  <a:buNone/>
                </a:pPr>
                <a:r>
                  <a:rPr lang="en-GB" dirty="0"/>
                  <a:t>		</a:t>
                </a:r>
                <a:r>
                  <a:rPr lang="en-GB" dirty="0" err="1"/>
                  <a:t>s.f</a:t>
                </a:r>
                <a:r>
                  <a:rPr lang="en-GB" dirty="0"/>
                  <a:t> ←max(</a:t>
                </a:r>
                <a:r>
                  <a:rPr lang="en-GB" dirty="0" err="1"/>
                  <a:t>s.g</a:t>
                </a:r>
                <a:r>
                  <a:rPr lang="en-GB" dirty="0"/>
                  <a:t> + </a:t>
                </a:r>
                <a:r>
                  <a:rPr lang="en-GB" dirty="0" err="1"/>
                  <a:t>s.h</a:t>
                </a:r>
                <a:r>
                  <a:rPr lang="en-GB" dirty="0"/>
                  <a:t>, </a:t>
                </a:r>
                <a:r>
                  <a:rPr lang="en-GB" dirty="0" err="1"/>
                  <a:t>node.f</a:t>
                </a:r>
                <a:r>
                  <a:rPr lang="en-GB" dirty="0"/>
                  <a:t>))</a:t>
                </a:r>
              </a:p>
              <a:p>
                <a:pPr marL="0" indent="0">
                  <a:buNone/>
                </a:pPr>
                <a:r>
                  <a:rPr lang="en-GB" dirty="0"/>
                  <a:t>	loop do</a:t>
                </a:r>
              </a:p>
              <a:p>
                <a:pPr marL="0" indent="0">
                  <a:buNone/>
                </a:pPr>
                <a:r>
                  <a:rPr lang="en-GB" dirty="0"/>
                  <a:t>		best ←the lowest f-value node in successors</a:t>
                </a:r>
              </a:p>
              <a:p>
                <a:pPr marL="0" indent="0">
                  <a:buNone/>
                </a:pPr>
                <a:r>
                  <a:rPr lang="en-GB" dirty="0"/>
                  <a:t>		if </a:t>
                </a:r>
                <a:r>
                  <a:rPr lang="en-GB" dirty="0" err="1"/>
                  <a:t>best.f</a:t>
                </a:r>
                <a:r>
                  <a:rPr lang="en-GB" dirty="0"/>
                  <a:t> &gt; </a:t>
                </a:r>
                <a:r>
                  <a:rPr lang="en-GB" dirty="0" err="1"/>
                  <a:t>f_limit</a:t>
                </a:r>
                <a:r>
                  <a:rPr lang="en-GB" dirty="0"/>
                  <a:t> then return failure, </a:t>
                </a:r>
                <a:r>
                  <a:rPr lang="en-GB" dirty="0" err="1"/>
                  <a:t>best.f</a:t>
                </a: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		alternative ←the second-lowest f-value among successors</a:t>
                </a:r>
              </a:p>
              <a:p>
                <a:pPr marL="0" indent="0">
                  <a:buNone/>
                </a:pPr>
                <a:r>
                  <a:rPr lang="en-GB" dirty="0"/>
                  <a:t>		</a:t>
                </a:r>
                <a:r>
                  <a:rPr lang="en-GB" dirty="0" err="1"/>
                  <a:t>result,best.f</a:t>
                </a:r>
                <a:r>
                  <a:rPr lang="en-GB" dirty="0"/>
                  <a:t> ←RBFS(</a:t>
                </a:r>
                <a:r>
                  <a:rPr lang="en-GB" dirty="0" err="1"/>
                  <a:t>problem,best,min</a:t>
                </a:r>
                <a:r>
                  <a:rPr lang="en-GB" dirty="0"/>
                  <a:t>(</a:t>
                </a:r>
                <a:r>
                  <a:rPr lang="en-GB" dirty="0" err="1"/>
                  <a:t>f_limit,alternative</a:t>
                </a:r>
                <a:r>
                  <a:rPr lang="en-GB" dirty="0"/>
                  <a:t>))</a:t>
                </a:r>
              </a:p>
              <a:p>
                <a:pPr marL="0" indent="0">
                  <a:buNone/>
                </a:pPr>
                <a:r>
                  <a:rPr lang="en-GB" dirty="0"/>
                  <a:t>		if result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GB" dirty="0"/>
                  <a:t> failure then return result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54370D-4F3A-F0B8-11AB-C5D00F66C7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97864"/>
                <a:ext cx="10515600" cy="4979099"/>
              </a:xfrm>
              <a:blipFill>
                <a:blip r:embed="rId2"/>
                <a:stretch>
                  <a:fillRect t="-15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97AF7-E45E-CA76-6F55-2CAE9E177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85DC6A-D303-8D3F-5600-278641F50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72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093222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39CE0-9E41-6E08-E4F3-791E4279D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Recursive best-first Search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8DEA6F-7153-335E-5718-8C939F2F94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GB" dirty="0"/>
                  <a:t>RBSF uses linear space.</a:t>
                </a:r>
              </a:p>
              <a:p>
                <a:r>
                  <a:rPr lang="en-GB" dirty="0"/>
                  <a:t>The structure is similar to recursive DFS.</a:t>
                </a:r>
              </a:p>
              <a:p>
                <a:r>
                  <a:rPr lang="en-GB" dirty="0"/>
                  <a:t>Rather than continuing  indefinitely, uses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𝑙𝑖𝑚𝑖𝑡</m:t>
                    </m:r>
                  </m:oMath>
                </a14:m>
                <a:r>
                  <a:rPr lang="en-GB" dirty="0"/>
                  <a:t> variable to keep track of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𝑣𝑎𝑙𝑢𝑒</m:t>
                    </m:r>
                  </m:oMath>
                </a14:m>
                <a:r>
                  <a:rPr lang="en-GB" dirty="0"/>
                  <a:t> of the best alternative path available.</a:t>
                </a:r>
              </a:p>
              <a:p>
                <a:r>
                  <a:rPr lang="en-GB" dirty="0"/>
                  <a:t>If current node exceed this limit, the recursion unwinds back to the alternative path. </a:t>
                </a:r>
              </a:p>
              <a:p>
                <a:r>
                  <a:rPr lang="en-GB" dirty="0"/>
                  <a:t>As the recursion unwinds, RBFS replaces the f-value of each node along the path with a backed-up value—the best f-value of its children.</a:t>
                </a:r>
              </a:p>
              <a:p>
                <a:r>
                  <a:rPr lang="en-GB" dirty="0"/>
                  <a:t>In this way, RBFS remembers the f-value of the best leaf in the forgotten subtree and can therefore decide whether it’s worth </a:t>
                </a:r>
                <a:r>
                  <a:rPr lang="en-GB" dirty="0" err="1"/>
                  <a:t>reexpanding</a:t>
                </a:r>
                <a:r>
                  <a:rPr lang="en-GB" dirty="0"/>
                  <a:t> the subtree at some later time.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8DEA6F-7153-335E-5718-8C939F2F94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9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899E0-5AFC-EA56-DD2A-F3EE222E8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600A-A7B8-4674-AAE3-A37177B883E5}" type="datetime1">
              <a:rPr lang="en-GB" smtClean="0"/>
              <a:t>20/08/2025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5F5354-22A8-16AB-BA55-C84D5ADA6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268CF-8001-41B5-ADCD-92A7738D3D9B}" type="slidenum">
              <a:rPr lang="en-GB" smtClean="0"/>
              <a:t>73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5418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2000</TotalTime>
  <Words>4484</Words>
  <Application>Microsoft Office PowerPoint</Application>
  <PresentationFormat>Widescreen</PresentationFormat>
  <Paragraphs>945</Paragraphs>
  <Slides>73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80" baseType="lpstr">
      <vt:lpstr>Aptos</vt:lpstr>
      <vt:lpstr>Arial</vt:lpstr>
      <vt:lpstr>Calibri</vt:lpstr>
      <vt:lpstr>Cambria Math</vt:lpstr>
      <vt:lpstr>Consolas</vt:lpstr>
      <vt:lpstr>Verdana</vt:lpstr>
      <vt:lpstr>Office Theme</vt:lpstr>
      <vt:lpstr>Searching</vt:lpstr>
      <vt:lpstr>Artificial Intelligence</vt:lpstr>
      <vt:lpstr>Artificial Intelligence</vt:lpstr>
      <vt:lpstr>Searching in AI</vt:lpstr>
      <vt:lpstr>Basic Terminology</vt:lpstr>
      <vt:lpstr>Basic Terminology</vt:lpstr>
      <vt:lpstr>Basic Terminology</vt:lpstr>
      <vt:lpstr>Basic Terminology</vt:lpstr>
      <vt:lpstr>Basic Terminology</vt:lpstr>
      <vt:lpstr>Basic Terminology</vt:lpstr>
      <vt:lpstr>Basic Terminology</vt:lpstr>
      <vt:lpstr>Basic Terminology</vt:lpstr>
      <vt:lpstr>Basic Terminology</vt:lpstr>
      <vt:lpstr>Basic Terminology</vt:lpstr>
      <vt:lpstr>Search Problem</vt:lpstr>
      <vt:lpstr>Search Problem Solution</vt:lpstr>
      <vt:lpstr>node</vt:lpstr>
      <vt:lpstr>General Approach</vt:lpstr>
      <vt:lpstr>General Approach</vt:lpstr>
      <vt:lpstr>General Approach</vt:lpstr>
      <vt:lpstr>General Approach</vt:lpstr>
      <vt:lpstr>Revised Approach</vt:lpstr>
      <vt:lpstr>Measuring Performance</vt:lpstr>
      <vt:lpstr>Complexity in AI</vt:lpstr>
      <vt:lpstr>Complexity in AI</vt:lpstr>
      <vt:lpstr>Complexity in AI</vt:lpstr>
      <vt:lpstr>Effectiveness of Algorithm</vt:lpstr>
      <vt:lpstr>Uninformed Search</vt:lpstr>
      <vt:lpstr>Breadth-First  Search</vt:lpstr>
      <vt:lpstr>Breadth-First  Search</vt:lpstr>
      <vt:lpstr>BFS Performance</vt:lpstr>
      <vt:lpstr>BFS Performance</vt:lpstr>
      <vt:lpstr>BFS Performance</vt:lpstr>
      <vt:lpstr>BFS Performance</vt:lpstr>
      <vt:lpstr>Uniform-cost Search</vt:lpstr>
      <vt:lpstr>Uniform-cost Search</vt:lpstr>
      <vt:lpstr>Performance of Uniform-cost Search</vt:lpstr>
      <vt:lpstr>Performance of Uniform-cost Search</vt:lpstr>
      <vt:lpstr>Depth-First Search</vt:lpstr>
      <vt:lpstr>Depth-First Search</vt:lpstr>
      <vt:lpstr>Depth-First Search</vt:lpstr>
      <vt:lpstr>Depth-Limited Search</vt:lpstr>
      <vt:lpstr>Depth-Limited Search</vt:lpstr>
      <vt:lpstr>Iterative Deepening DFS</vt:lpstr>
      <vt:lpstr>Iterative Deepening DFS</vt:lpstr>
      <vt:lpstr>Iterative Deepening DFS</vt:lpstr>
      <vt:lpstr>Iterative Deepening DFS</vt:lpstr>
      <vt:lpstr>Iterative Deepening DFS</vt:lpstr>
      <vt:lpstr>Bidirectional Search</vt:lpstr>
      <vt:lpstr>Bidirectional Search</vt:lpstr>
      <vt:lpstr>Bidirectional Search</vt:lpstr>
      <vt:lpstr>Comparing Uninformed Search</vt:lpstr>
      <vt:lpstr>Informed Search</vt:lpstr>
      <vt:lpstr>Best-First Search</vt:lpstr>
      <vt:lpstr>Heuristic Function</vt:lpstr>
      <vt:lpstr>Greedy Best-First Search</vt:lpstr>
      <vt:lpstr>Greedy Best First Search</vt:lpstr>
      <vt:lpstr>Greedy Best First Search</vt:lpstr>
      <vt:lpstr>Greedy Best First Search</vt:lpstr>
      <vt:lpstr>Greedy Best First Search</vt:lpstr>
      <vt:lpstr>Greedy Best First Search</vt:lpstr>
      <vt:lpstr>Greedy Best First Search</vt:lpstr>
      <vt:lpstr>Greedy Best First Search</vt:lpstr>
      <vt:lpstr>Greedy Best First Search</vt:lpstr>
      <vt:lpstr>A*-Search</vt:lpstr>
      <vt:lpstr>A*-Search</vt:lpstr>
      <vt:lpstr>Greedy Best First Search/ A* Search</vt:lpstr>
      <vt:lpstr>Condition of Optimality</vt:lpstr>
      <vt:lpstr>Condition of Optimality</vt:lpstr>
      <vt:lpstr>Optimality of A^∗</vt:lpstr>
      <vt:lpstr>Memory-bounded Heuristic Search</vt:lpstr>
      <vt:lpstr>Recursive best-first Search</vt:lpstr>
      <vt:lpstr>Recursive best-first 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Mehrab Hossain Opi</dc:creator>
  <cp:lastModifiedBy>Md Mehrab Hossain Opi</cp:lastModifiedBy>
  <cp:revision>47</cp:revision>
  <dcterms:created xsi:type="dcterms:W3CDTF">2025-07-29T06:51:35Z</dcterms:created>
  <dcterms:modified xsi:type="dcterms:W3CDTF">2025-08-20T04:23:26Z</dcterms:modified>
</cp:coreProperties>
</file>