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8"/>
  </p:notesMasterIdLst>
  <p:sldIdLst>
    <p:sldId id="256" r:id="rId2"/>
    <p:sldId id="331" r:id="rId3"/>
    <p:sldId id="355" r:id="rId4"/>
    <p:sldId id="284" r:id="rId5"/>
    <p:sldId id="332" r:id="rId6"/>
    <p:sldId id="333" r:id="rId7"/>
    <p:sldId id="356" r:id="rId8"/>
    <p:sldId id="334" r:id="rId9"/>
    <p:sldId id="335" r:id="rId10"/>
    <p:sldId id="357" r:id="rId11"/>
    <p:sldId id="358" r:id="rId12"/>
    <p:sldId id="359" r:id="rId13"/>
    <p:sldId id="339" r:id="rId14"/>
    <p:sldId id="340" r:id="rId15"/>
    <p:sldId id="341" r:id="rId16"/>
    <p:sldId id="342" r:id="rId17"/>
    <p:sldId id="360" r:id="rId18"/>
    <p:sldId id="343" r:id="rId19"/>
    <p:sldId id="344" r:id="rId20"/>
    <p:sldId id="345" r:id="rId21"/>
    <p:sldId id="346" r:id="rId22"/>
    <p:sldId id="347" r:id="rId23"/>
    <p:sldId id="348" r:id="rId24"/>
    <p:sldId id="349" r:id="rId25"/>
    <p:sldId id="350" r:id="rId26"/>
    <p:sldId id="351" r:id="rId27"/>
    <p:sldId id="352" r:id="rId28"/>
    <p:sldId id="353" r:id="rId29"/>
    <p:sldId id="354" r:id="rId30"/>
    <p:sldId id="361" r:id="rId31"/>
    <p:sldId id="376" r:id="rId32"/>
    <p:sldId id="362" r:id="rId33"/>
    <p:sldId id="363" r:id="rId34"/>
    <p:sldId id="364" r:id="rId35"/>
    <p:sldId id="377" r:id="rId36"/>
    <p:sldId id="365" r:id="rId37"/>
    <p:sldId id="366" r:id="rId38"/>
    <p:sldId id="367" r:id="rId39"/>
    <p:sldId id="368" r:id="rId40"/>
    <p:sldId id="369" r:id="rId41"/>
    <p:sldId id="370" r:id="rId42"/>
    <p:sldId id="371" r:id="rId43"/>
    <p:sldId id="372" r:id="rId44"/>
    <p:sldId id="373" r:id="rId45"/>
    <p:sldId id="374" r:id="rId46"/>
    <p:sldId id="378" r:id="rId47"/>
    <p:sldId id="375" r:id="rId48"/>
    <p:sldId id="379" r:id="rId49"/>
    <p:sldId id="380" r:id="rId50"/>
    <p:sldId id="381" r:id="rId51"/>
    <p:sldId id="382" r:id="rId52"/>
    <p:sldId id="383" r:id="rId53"/>
    <p:sldId id="384" r:id="rId54"/>
    <p:sldId id="385" r:id="rId55"/>
    <p:sldId id="386" r:id="rId56"/>
    <p:sldId id="387" r:id="rId5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410ECDD-8D64-4728-8AFF-D44FD3AB49B7}">
          <p14:sldIdLst>
            <p14:sldId id="256"/>
            <p14:sldId id="331"/>
            <p14:sldId id="355"/>
            <p14:sldId id="284"/>
            <p14:sldId id="332"/>
            <p14:sldId id="333"/>
            <p14:sldId id="356"/>
            <p14:sldId id="334"/>
            <p14:sldId id="335"/>
            <p14:sldId id="357"/>
            <p14:sldId id="358"/>
            <p14:sldId id="359"/>
            <p14:sldId id="339"/>
            <p14:sldId id="340"/>
            <p14:sldId id="341"/>
            <p14:sldId id="342"/>
            <p14:sldId id="360"/>
            <p14:sldId id="343"/>
            <p14:sldId id="344"/>
            <p14:sldId id="345"/>
            <p14:sldId id="346"/>
            <p14:sldId id="347"/>
            <p14:sldId id="348"/>
            <p14:sldId id="349"/>
            <p14:sldId id="350"/>
            <p14:sldId id="351"/>
            <p14:sldId id="352"/>
            <p14:sldId id="353"/>
            <p14:sldId id="354"/>
            <p14:sldId id="361"/>
            <p14:sldId id="376"/>
            <p14:sldId id="362"/>
            <p14:sldId id="363"/>
            <p14:sldId id="364"/>
          </p14:sldIdLst>
        </p14:section>
        <p14:section name="Untitled Section" id="{C6AD3709-CDD2-4238-AD5F-441084053ADA}">
          <p14:sldIdLst>
            <p14:sldId id="377"/>
            <p14:sldId id="365"/>
            <p14:sldId id="366"/>
            <p14:sldId id="367"/>
            <p14:sldId id="368"/>
            <p14:sldId id="369"/>
            <p14:sldId id="370"/>
            <p14:sldId id="371"/>
            <p14:sldId id="372"/>
            <p14:sldId id="373"/>
            <p14:sldId id="374"/>
            <p14:sldId id="378"/>
            <p14:sldId id="375"/>
            <p14:sldId id="379"/>
            <p14:sldId id="380"/>
            <p14:sldId id="381"/>
            <p14:sldId id="382"/>
            <p14:sldId id="383"/>
            <p14:sldId id="384"/>
            <p14:sldId id="385"/>
            <p14:sldId id="386"/>
            <p14:sldId id="38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9349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4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EB314B-7EAC-4F02-B2F7-56698ECFD4EE}" type="datetimeFigureOut">
              <a:rPr lang="en-GB" smtClean="0"/>
              <a:t>08/10/2025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26CE54-0F6A-46A6-8597-A6CCFBA9F5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1693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3F577-7B9C-892D-9964-9929FF5266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8EA8C3-2AA8-921F-2DEB-872AE59F0F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FEC2A-AA40-72AE-0C2A-2D45907F5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A3ECC-5CAF-4F14-A242-B702E2784D37}" type="datetime1">
              <a:rPr lang="en-GB" smtClean="0"/>
              <a:t>08/10/2025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C73F04-680A-E525-59CE-1C9188886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E663BB-9188-96BC-E6BC-7E236F67D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7635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D363D-921B-1FE5-D959-28ED8C7F8CE5}"/>
              </a:ext>
            </a:extLst>
          </p:cNvPr>
          <p:cNvSpPr>
            <a:spLocks noGrp="1"/>
          </p:cNvSpPr>
          <p:nvPr>
            <p:ph type="title"/>
          </p:nvPr>
        </p:nvSpPr>
        <p:spPr>
          <a:custGeom>
            <a:avLst/>
            <a:gdLst>
              <a:gd name="connsiteX0" fmla="*/ 0 w 10515600"/>
              <a:gd name="connsiteY0" fmla="*/ 0 h 1325563"/>
              <a:gd name="connsiteX1" fmla="*/ 689356 w 10515600"/>
              <a:gd name="connsiteY1" fmla="*/ 0 h 1325563"/>
              <a:gd name="connsiteX2" fmla="*/ 1168400 w 10515600"/>
              <a:gd name="connsiteY2" fmla="*/ 0 h 1325563"/>
              <a:gd name="connsiteX3" fmla="*/ 1647444 w 10515600"/>
              <a:gd name="connsiteY3" fmla="*/ 0 h 1325563"/>
              <a:gd name="connsiteX4" fmla="*/ 2126488 w 10515600"/>
              <a:gd name="connsiteY4" fmla="*/ 0 h 1325563"/>
              <a:gd name="connsiteX5" fmla="*/ 2710688 w 10515600"/>
              <a:gd name="connsiteY5" fmla="*/ 0 h 1325563"/>
              <a:gd name="connsiteX6" fmla="*/ 3084576 w 10515600"/>
              <a:gd name="connsiteY6" fmla="*/ 0 h 1325563"/>
              <a:gd name="connsiteX7" fmla="*/ 3668776 w 10515600"/>
              <a:gd name="connsiteY7" fmla="*/ 0 h 1325563"/>
              <a:gd name="connsiteX8" fmla="*/ 4042664 w 10515600"/>
              <a:gd name="connsiteY8" fmla="*/ 0 h 1325563"/>
              <a:gd name="connsiteX9" fmla="*/ 4626864 w 10515600"/>
              <a:gd name="connsiteY9" fmla="*/ 0 h 1325563"/>
              <a:gd name="connsiteX10" fmla="*/ 5000752 w 10515600"/>
              <a:gd name="connsiteY10" fmla="*/ 0 h 1325563"/>
              <a:gd name="connsiteX11" fmla="*/ 5479796 w 10515600"/>
              <a:gd name="connsiteY11" fmla="*/ 0 h 1325563"/>
              <a:gd name="connsiteX12" fmla="*/ 6274308 w 10515600"/>
              <a:gd name="connsiteY12" fmla="*/ 0 h 1325563"/>
              <a:gd name="connsiteX13" fmla="*/ 6543040 w 10515600"/>
              <a:gd name="connsiteY13" fmla="*/ 0 h 1325563"/>
              <a:gd name="connsiteX14" fmla="*/ 7127240 w 10515600"/>
              <a:gd name="connsiteY14" fmla="*/ 0 h 1325563"/>
              <a:gd name="connsiteX15" fmla="*/ 7921752 w 10515600"/>
              <a:gd name="connsiteY15" fmla="*/ 0 h 1325563"/>
              <a:gd name="connsiteX16" fmla="*/ 8611108 w 10515600"/>
              <a:gd name="connsiteY16" fmla="*/ 0 h 1325563"/>
              <a:gd name="connsiteX17" fmla="*/ 9300464 w 10515600"/>
              <a:gd name="connsiteY17" fmla="*/ 0 h 1325563"/>
              <a:gd name="connsiteX18" fmla="*/ 9779508 w 10515600"/>
              <a:gd name="connsiteY18" fmla="*/ 0 h 1325563"/>
              <a:gd name="connsiteX19" fmla="*/ 10515600 w 10515600"/>
              <a:gd name="connsiteY19" fmla="*/ 0 h 1325563"/>
              <a:gd name="connsiteX20" fmla="*/ 10515600 w 10515600"/>
              <a:gd name="connsiteY20" fmla="*/ 455110 h 1325563"/>
              <a:gd name="connsiteX21" fmla="*/ 10515600 w 10515600"/>
              <a:gd name="connsiteY21" fmla="*/ 870453 h 1325563"/>
              <a:gd name="connsiteX22" fmla="*/ 10515600 w 10515600"/>
              <a:gd name="connsiteY22" fmla="*/ 1325563 h 1325563"/>
              <a:gd name="connsiteX23" fmla="*/ 10036556 w 10515600"/>
              <a:gd name="connsiteY23" fmla="*/ 1325563 h 1325563"/>
              <a:gd name="connsiteX24" fmla="*/ 9452356 w 10515600"/>
              <a:gd name="connsiteY24" fmla="*/ 1325563 h 1325563"/>
              <a:gd name="connsiteX25" fmla="*/ 8657844 w 10515600"/>
              <a:gd name="connsiteY25" fmla="*/ 1325563 h 1325563"/>
              <a:gd name="connsiteX26" fmla="*/ 8389112 w 10515600"/>
              <a:gd name="connsiteY26" fmla="*/ 1325563 h 1325563"/>
              <a:gd name="connsiteX27" fmla="*/ 8015224 w 10515600"/>
              <a:gd name="connsiteY27" fmla="*/ 1325563 h 1325563"/>
              <a:gd name="connsiteX28" fmla="*/ 7746492 w 10515600"/>
              <a:gd name="connsiteY28" fmla="*/ 1325563 h 1325563"/>
              <a:gd name="connsiteX29" fmla="*/ 7057136 w 10515600"/>
              <a:gd name="connsiteY29" fmla="*/ 1325563 h 1325563"/>
              <a:gd name="connsiteX30" fmla="*/ 6788404 w 10515600"/>
              <a:gd name="connsiteY30" fmla="*/ 1325563 h 1325563"/>
              <a:gd name="connsiteX31" fmla="*/ 6099048 w 10515600"/>
              <a:gd name="connsiteY31" fmla="*/ 1325563 h 1325563"/>
              <a:gd name="connsiteX32" fmla="*/ 5304536 w 10515600"/>
              <a:gd name="connsiteY32" fmla="*/ 1325563 h 1325563"/>
              <a:gd name="connsiteX33" fmla="*/ 5035804 w 10515600"/>
              <a:gd name="connsiteY33" fmla="*/ 1325563 h 1325563"/>
              <a:gd name="connsiteX34" fmla="*/ 4451604 w 10515600"/>
              <a:gd name="connsiteY34" fmla="*/ 1325563 h 1325563"/>
              <a:gd name="connsiteX35" fmla="*/ 3972560 w 10515600"/>
              <a:gd name="connsiteY35" fmla="*/ 1325563 h 1325563"/>
              <a:gd name="connsiteX36" fmla="*/ 3388360 w 10515600"/>
              <a:gd name="connsiteY36" fmla="*/ 1325563 h 1325563"/>
              <a:gd name="connsiteX37" fmla="*/ 2804160 w 10515600"/>
              <a:gd name="connsiteY37" fmla="*/ 1325563 h 1325563"/>
              <a:gd name="connsiteX38" fmla="*/ 2325116 w 10515600"/>
              <a:gd name="connsiteY38" fmla="*/ 1325563 h 1325563"/>
              <a:gd name="connsiteX39" fmla="*/ 1530604 w 10515600"/>
              <a:gd name="connsiteY39" fmla="*/ 1325563 h 1325563"/>
              <a:gd name="connsiteX40" fmla="*/ 1261872 w 10515600"/>
              <a:gd name="connsiteY40" fmla="*/ 1325563 h 1325563"/>
              <a:gd name="connsiteX41" fmla="*/ 572516 w 10515600"/>
              <a:gd name="connsiteY41" fmla="*/ 1325563 h 1325563"/>
              <a:gd name="connsiteX42" fmla="*/ 0 w 10515600"/>
              <a:gd name="connsiteY42" fmla="*/ 1325563 h 1325563"/>
              <a:gd name="connsiteX43" fmla="*/ 0 w 10515600"/>
              <a:gd name="connsiteY43" fmla="*/ 857197 h 1325563"/>
              <a:gd name="connsiteX44" fmla="*/ 0 w 10515600"/>
              <a:gd name="connsiteY44" fmla="*/ 441854 h 1325563"/>
              <a:gd name="connsiteX45" fmla="*/ 0 w 10515600"/>
              <a:gd name="connsiteY45" fmla="*/ 0 h 1325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0515600" h="1325563" fill="none" extrusionOk="0">
                <a:moveTo>
                  <a:pt x="0" y="0"/>
                </a:moveTo>
                <a:cubicBezTo>
                  <a:pt x="253838" y="-18819"/>
                  <a:pt x="351414" y="62000"/>
                  <a:pt x="689356" y="0"/>
                </a:cubicBezTo>
                <a:cubicBezTo>
                  <a:pt x="1027298" y="-62000"/>
                  <a:pt x="1020961" y="21931"/>
                  <a:pt x="1168400" y="0"/>
                </a:cubicBezTo>
                <a:cubicBezTo>
                  <a:pt x="1315839" y="-21931"/>
                  <a:pt x="1474707" y="29733"/>
                  <a:pt x="1647444" y="0"/>
                </a:cubicBezTo>
                <a:cubicBezTo>
                  <a:pt x="1820181" y="-29733"/>
                  <a:pt x="1905353" y="35773"/>
                  <a:pt x="2126488" y="0"/>
                </a:cubicBezTo>
                <a:cubicBezTo>
                  <a:pt x="2347623" y="-35773"/>
                  <a:pt x="2474840" y="26931"/>
                  <a:pt x="2710688" y="0"/>
                </a:cubicBezTo>
                <a:cubicBezTo>
                  <a:pt x="2946536" y="-26931"/>
                  <a:pt x="2901208" y="25700"/>
                  <a:pt x="3084576" y="0"/>
                </a:cubicBezTo>
                <a:cubicBezTo>
                  <a:pt x="3267944" y="-25700"/>
                  <a:pt x="3504545" y="40785"/>
                  <a:pt x="3668776" y="0"/>
                </a:cubicBezTo>
                <a:cubicBezTo>
                  <a:pt x="3833007" y="-40785"/>
                  <a:pt x="3895124" y="1762"/>
                  <a:pt x="4042664" y="0"/>
                </a:cubicBezTo>
                <a:cubicBezTo>
                  <a:pt x="4190204" y="-1762"/>
                  <a:pt x="4477573" y="6051"/>
                  <a:pt x="4626864" y="0"/>
                </a:cubicBezTo>
                <a:cubicBezTo>
                  <a:pt x="4776155" y="-6051"/>
                  <a:pt x="4876670" y="35233"/>
                  <a:pt x="5000752" y="0"/>
                </a:cubicBezTo>
                <a:cubicBezTo>
                  <a:pt x="5124834" y="-35233"/>
                  <a:pt x="5320007" y="6376"/>
                  <a:pt x="5479796" y="0"/>
                </a:cubicBezTo>
                <a:cubicBezTo>
                  <a:pt x="5639585" y="-6376"/>
                  <a:pt x="5987388" y="89120"/>
                  <a:pt x="6274308" y="0"/>
                </a:cubicBezTo>
                <a:cubicBezTo>
                  <a:pt x="6561228" y="-89120"/>
                  <a:pt x="6469549" y="14711"/>
                  <a:pt x="6543040" y="0"/>
                </a:cubicBezTo>
                <a:cubicBezTo>
                  <a:pt x="6616531" y="-14711"/>
                  <a:pt x="6880894" y="24867"/>
                  <a:pt x="7127240" y="0"/>
                </a:cubicBezTo>
                <a:cubicBezTo>
                  <a:pt x="7373586" y="-24867"/>
                  <a:pt x="7703353" y="29232"/>
                  <a:pt x="7921752" y="0"/>
                </a:cubicBezTo>
                <a:cubicBezTo>
                  <a:pt x="8140151" y="-29232"/>
                  <a:pt x="8436992" y="15020"/>
                  <a:pt x="8611108" y="0"/>
                </a:cubicBezTo>
                <a:cubicBezTo>
                  <a:pt x="8785224" y="-15020"/>
                  <a:pt x="9086613" y="81581"/>
                  <a:pt x="9300464" y="0"/>
                </a:cubicBezTo>
                <a:cubicBezTo>
                  <a:pt x="9514315" y="-81581"/>
                  <a:pt x="9623261" y="50401"/>
                  <a:pt x="9779508" y="0"/>
                </a:cubicBezTo>
                <a:cubicBezTo>
                  <a:pt x="9935755" y="-50401"/>
                  <a:pt x="10305332" y="31654"/>
                  <a:pt x="10515600" y="0"/>
                </a:cubicBezTo>
                <a:cubicBezTo>
                  <a:pt x="10546853" y="191382"/>
                  <a:pt x="10469454" y="308968"/>
                  <a:pt x="10515600" y="455110"/>
                </a:cubicBezTo>
                <a:cubicBezTo>
                  <a:pt x="10561746" y="601252"/>
                  <a:pt x="10509168" y="742830"/>
                  <a:pt x="10515600" y="870453"/>
                </a:cubicBezTo>
                <a:cubicBezTo>
                  <a:pt x="10522032" y="998076"/>
                  <a:pt x="10471646" y="1208229"/>
                  <a:pt x="10515600" y="1325563"/>
                </a:cubicBezTo>
                <a:cubicBezTo>
                  <a:pt x="10314459" y="1339219"/>
                  <a:pt x="10239166" y="1311799"/>
                  <a:pt x="10036556" y="1325563"/>
                </a:cubicBezTo>
                <a:cubicBezTo>
                  <a:pt x="9833946" y="1339327"/>
                  <a:pt x="9709123" y="1307965"/>
                  <a:pt x="9452356" y="1325563"/>
                </a:cubicBezTo>
                <a:cubicBezTo>
                  <a:pt x="9195589" y="1343161"/>
                  <a:pt x="8994962" y="1306787"/>
                  <a:pt x="8657844" y="1325563"/>
                </a:cubicBezTo>
                <a:cubicBezTo>
                  <a:pt x="8320726" y="1344339"/>
                  <a:pt x="8518055" y="1302532"/>
                  <a:pt x="8389112" y="1325563"/>
                </a:cubicBezTo>
                <a:cubicBezTo>
                  <a:pt x="8260169" y="1348594"/>
                  <a:pt x="8193007" y="1316196"/>
                  <a:pt x="8015224" y="1325563"/>
                </a:cubicBezTo>
                <a:cubicBezTo>
                  <a:pt x="7837441" y="1334930"/>
                  <a:pt x="7849788" y="1324348"/>
                  <a:pt x="7746492" y="1325563"/>
                </a:cubicBezTo>
                <a:cubicBezTo>
                  <a:pt x="7643196" y="1326778"/>
                  <a:pt x="7232373" y="1285719"/>
                  <a:pt x="7057136" y="1325563"/>
                </a:cubicBezTo>
                <a:cubicBezTo>
                  <a:pt x="6881899" y="1365407"/>
                  <a:pt x="6919216" y="1307755"/>
                  <a:pt x="6788404" y="1325563"/>
                </a:cubicBezTo>
                <a:cubicBezTo>
                  <a:pt x="6657592" y="1343371"/>
                  <a:pt x="6278085" y="1271576"/>
                  <a:pt x="6099048" y="1325563"/>
                </a:cubicBezTo>
                <a:cubicBezTo>
                  <a:pt x="5920011" y="1379550"/>
                  <a:pt x="5508657" y="1311185"/>
                  <a:pt x="5304536" y="1325563"/>
                </a:cubicBezTo>
                <a:cubicBezTo>
                  <a:pt x="5100415" y="1339941"/>
                  <a:pt x="5108664" y="1325272"/>
                  <a:pt x="5035804" y="1325563"/>
                </a:cubicBezTo>
                <a:cubicBezTo>
                  <a:pt x="4962944" y="1325854"/>
                  <a:pt x="4711907" y="1259348"/>
                  <a:pt x="4451604" y="1325563"/>
                </a:cubicBezTo>
                <a:cubicBezTo>
                  <a:pt x="4191301" y="1391778"/>
                  <a:pt x="4112922" y="1274610"/>
                  <a:pt x="3972560" y="1325563"/>
                </a:cubicBezTo>
                <a:cubicBezTo>
                  <a:pt x="3832198" y="1376516"/>
                  <a:pt x="3671072" y="1290382"/>
                  <a:pt x="3388360" y="1325563"/>
                </a:cubicBezTo>
                <a:cubicBezTo>
                  <a:pt x="3105648" y="1360744"/>
                  <a:pt x="2958255" y="1258146"/>
                  <a:pt x="2804160" y="1325563"/>
                </a:cubicBezTo>
                <a:cubicBezTo>
                  <a:pt x="2650065" y="1392980"/>
                  <a:pt x="2499275" y="1316491"/>
                  <a:pt x="2325116" y="1325563"/>
                </a:cubicBezTo>
                <a:cubicBezTo>
                  <a:pt x="2150957" y="1334635"/>
                  <a:pt x="1851726" y="1245043"/>
                  <a:pt x="1530604" y="1325563"/>
                </a:cubicBezTo>
                <a:cubicBezTo>
                  <a:pt x="1209482" y="1406083"/>
                  <a:pt x="1376466" y="1302836"/>
                  <a:pt x="1261872" y="1325563"/>
                </a:cubicBezTo>
                <a:cubicBezTo>
                  <a:pt x="1147278" y="1348290"/>
                  <a:pt x="909434" y="1251726"/>
                  <a:pt x="572516" y="1325563"/>
                </a:cubicBezTo>
                <a:cubicBezTo>
                  <a:pt x="235598" y="1399400"/>
                  <a:pt x="227600" y="1323263"/>
                  <a:pt x="0" y="1325563"/>
                </a:cubicBezTo>
                <a:cubicBezTo>
                  <a:pt x="-836" y="1164828"/>
                  <a:pt x="53582" y="1051078"/>
                  <a:pt x="0" y="857197"/>
                </a:cubicBezTo>
                <a:cubicBezTo>
                  <a:pt x="-53582" y="663316"/>
                  <a:pt x="48368" y="606188"/>
                  <a:pt x="0" y="441854"/>
                </a:cubicBezTo>
                <a:cubicBezTo>
                  <a:pt x="-48368" y="277520"/>
                  <a:pt x="14050" y="146763"/>
                  <a:pt x="0" y="0"/>
                </a:cubicBezTo>
                <a:close/>
              </a:path>
              <a:path w="10515600" h="1325563" stroke="0" extrusionOk="0">
                <a:moveTo>
                  <a:pt x="0" y="0"/>
                </a:moveTo>
                <a:cubicBezTo>
                  <a:pt x="92178" y="-21222"/>
                  <a:pt x="264011" y="11084"/>
                  <a:pt x="373888" y="0"/>
                </a:cubicBezTo>
                <a:cubicBezTo>
                  <a:pt x="483765" y="-11084"/>
                  <a:pt x="744959" y="34565"/>
                  <a:pt x="852932" y="0"/>
                </a:cubicBezTo>
                <a:cubicBezTo>
                  <a:pt x="960905" y="-34565"/>
                  <a:pt x="1117522" y="45939"/>
                  <a:pt x="1331976" y="0"/>
                </a:cubicBezTo>
                <a:cubicBezTo>
                  <a:pt x="1546430" y="-45939"/>
                  <a:pt x="1819161" y="31205"/>
                  <a:pt x="2021332" y="0"/>
                </a:cubicBezTo>
                <a:cubicBezTo>
                  <a:pt x="2223503" y="-31205"/>
                  <a:pt x="2374427" y="16088"/>
                  <a:pt x="2710688" y="0"/>
                </a:cubicBezTo>
                <a:cubicBezTo>
                  <a:pt x="3046949" y="-16088"/>
                  <a:pt x="3188751" y="11240"/>
                  <a:pt x="3400044" y="0"/>
                </a:cubicBezTo>
                <a:cubicBezTo>
                  <a:pt x="3611337" y="-11240"/>
                  <a:pt x="3729003" y="24882"/>
                  <a:pt x="3984244" y="0"/>
                </a:cubicBezTo>
                <a:cubicBezTo>
                  <a:pt x="4239485" y="-24882"/>
                  <a:pt x="4248661" y="16847"/>
                  <a:pt x="4358132" y="0"/>
                </a:cubicBezTo>
                <a:cubicBezTo>
                  <a:pt x="4467603" y="-16847"/>
                  <a:pt x="4704277" y="78533"/>
                  <a:pt x="5047488" y="0"/>
                </a:cubicBezTo>
                <a:cubicBezTo>
                  <a:pt x="5390699" y="-78533"/>
                  <a:pt x="5478617" y="32801"/>
                  <a:pt x="5631688" y="0"/>
                </a:cubicBezTo>
                <a:cubicBezTo>
                  <a:pt x="5784759" y="-32801"/>
                  <a:pt x="5981634" y="25702"/>
                  <a:pt x="6215888" y="0"/>
                </a:cubicBezTo>
                <a:cubicBezTo>
                  <a:pt x="6450142" y="-25702"/>
                  <a:pt x="6736604" y="19690"/>
                  <a:pt x="6905244" y="0"/>
                </a:cubicBezTo>
                <a:cubicBezTo>
                  <a:pt x="7073884" y="-19690"/>
                  <a:pt x="7286882" y="54355"/>
                  <a:pt x="7384288" y="0"/>
                </a:cubicBezTo>
                <a:cubicBezTo>
                  <a:pt x="7481694" y="-54355"/>
                  <a:pt x="7569919" y="19084"/>
                  <a:pt x="7653020" y="0"/>
                </a:cubicBezTo>
                <a:cubicBezTo>
                  <a:pt x="7736121" y="-19084"/>
                  <a:pt x="8028971" y="7172"/>
                  <a:pt x="8342376" y="0"/>
                </a:cubicBezTo>
                <a:cubicBezTo>
                  <a:pt x="8655781" y="-7172"/>
                  <a:pt x="8513400" y="26567"/>
                  <a:pt x="8611108" y="0"/>
                </a:cubicBezTo>
                <a:cubicBezTo>
                  <a:pt x="8708816" y="-26567"/>
                  <a:pt x="8765519" y="8311"/>
                  <a:pt x="8879840" y="0"/>
                </a:cubicBezTo>
                <a:cubicBezTo>
                  <a:pt x="8994161" y="-8311"/>
                  <a:pt x="9094252" y="11307"/>
                  <a:pt x="9253728" y="0"/>
                </a:cubicBezTo>
                <a:cubicBezTo>
                  <a:pt x="9413204" y="-11307"/>
                  <a:pt x="9611384" y="21739"/>
                  <a:pt x="9732772" y="0"/>
                </a:cubicBezTo>
                <a:cubicBezTo>
                  <a:pt x="9854160" y="-21739"/>
                  <a:pt x="10260773" y="2376"/>
                  <a:pt x="10515600" y="0"/>
                </a:cubicBezTo>
                <a:cubicBezTo>
                  <a:pt x="10547807" y="96027"/>
                  <a:pt x="10502213" y="250485"/>
                  <a:pt x="10515600" y="441854"/>
                </a:cubicBezTo>
                <a:cubicBezTo>
                  <a:pt x="10528987" y="633223"/>
                  <a:pt x="10500953" y="689669"/>
                  <a:pt x="10515600" y="843942"/>
                </a:cubicBezTo>
                <a:cubicBezTo>
                  <a:pt x="10530247" y="998215"/>
                  <a:pt x="10471267" y="1208650"/>
                  <a:pt x="10515600" y="1325563"/>
                </a:cubicBezTo>
                <a:cubicBezTo>
                  <a:pt x="10408911" y="1343606"/>
                  <a:pt x="10186565" y="1311187"/>
                  <a:pt x="10036556" y="1325563"/>
                </a:cubicBezTo>
                <a:cubicBezTo>
                  <a:pt x="9886547" y="1339939"/>
                  <a:pt x="9538345" y="1281053"/>
                  <a:pt x="9347200" y="1325563"/>
                </a:cubicBezTo>
                <a:cubicBezTo>
                  <a:pt x="9156055" y="1370073"/>
                  <a:pt x="9003166" y="1299112"/>
                  <a:pt x="8763000" y="1325563"/>
                </a:cubicBezTo>
                <a:cubicBezTo>
                  <a:pt x="8522834" y="1352014"/>
                  <a:pt x="8471849" y="1310553"/>
                  <a:pt x="8283956" y="1325563"/>
                </a:cubicBezTo>
                <a:cubicBezTo>
                  <a:pt x="8096063" y="1340573"/>
                  <a:pt x="8141020" y="1320966"/>
                  <a:pt x="8015224" y="1325563"/>
                </a:cubicBezTo>
                <a:cubicBezTo>
                  <a:pt x="7889428" y="1330160"/>
                  <a:pt x="7402689" y="1296549"/>
                  <a:pt x="7220712" y="1325563"/>
                </a:cubicBezTo>
                <a:cubicBezTo>
                  <a:pt x="7038735" y="1354577"/>
                  <a:pt x="6860564" y="1290552"/>
                  <a:pt x="6636512" y="1325563"/>
                </a:cubicBezTo>
                <a:cubicBezTo>
                  <a:pt x="6412460" y="1360574"/>
                  <a:pt x="6317643" y="1317756"/>
                  <a:pt x="6052312" y="1325563"/>
                </a:cubicBezTo>
                <a:cubicBezTo>
                  <a:pt x="5786981" y="1333370"/>
                  <a:pt x="5763881" y="1287197"/>
                  <a:pt x="5678424" y="1325563"/>
                </a:cubicBezTo>
                <a:cubicBezTo>
                  <a:pt x="5592967" y="1363929"/>
                  <a:pt x="5399248" y="1312349"/>
                  <a:pt x="5199380" y="1325563"/>
                </a:cubicBezTo>
                <a:cubicBezTo>
                  <a:pt x="4999512" y="1338777"/>
                  <a:pt x="4987883" y="1284423"/>
                  <a:pt x="4825492" y="1325563"/>
                </a:cubicBezTo>
                <a:cubicBezTo>
                  <a:pt x="4663101" y="1366703"/>
                  <a:pt x="4380555" y="1308688"/>
                  <a:pt x="4241292" y="1325563"/>
                </a:cubicBezTo>
                <a:cubicBezTo>
                  <a:pt x="4102029" y="1342438"/>
                  <a:pt x="3778341" y="1285171"/>
                  <a:pt x="3446780" y="1325563"/>
                </a:cubicBezTo>
                <a:cubicBezTo>
                  <a:pt x="3115219" y="1365955"/>
                  <a:pt x="3099173" y="1290652"/>
                  <a:pt x="2757424" y="1325563"/>
                </a:cubicBezTo>
                <a:cubicBezTo>
                  <a:pt x="2415675" y="1360474"/>
                  <a:pt x="2510972" y="1310466"/>
                  <a:pt x="2278380" y="1325563"/>
                </a:cubicBezTo>
                <a:cubicBezTo>
                  <a:pt x="2045788" y="1340660"/>
                  <a:pt x="1716210" y="1317992"/>
                  <a:pt x="1483868" y="1325563"/>
                </a:cubicBezTo>
                <a:cubicBezTo>
                  <a:pt x="1251526" y="1333134"/>
                  <a:pt x="972052" y="1254362"/>
                  <a:pt x="689356" y="1325563"/>
                </a:cubicBezTo>
                <a:cubicBezTo>
                  <a:pt x="406660" y="1396764"/>
                  <a:pt x="201106" y="1320070"/>
                  <a:pt x="0" y="1325563"/>
                </a:cubicBezTo>
                <a:cubicBezTo>
                  <a:pt x="-31617" y="1137567"/>
                  <a:pt x="37158" y="1000617"/>
                  <a:pt x="0" y="896964"/>
                </a:cubicBezTo>
                <a:cubicBezTo>
                  <a:pt x="-37158" y="793311"/>
                  <a:pt x="17420" y="591636"/>
                  <a:pt x="0" y="428599"/>
                </a:cubicBezTo>
                <a:cubicBezTo>
                  <a:pt x="-17420" y="265562"/>
                  <a:pt x="47044" y="122437"/>
                  <a:pt x="0" y="0"/>
                </a:cubicBezTo>
                <a:close/>
              </a:path>
            </a:pathLst>
          </a:custGeom>
          <a:ln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576319421">
                  <ask:type>
                    <ask:lineSketchScribble/>
                  </ask:type>
                </ask:lineSketchStyleProps>
              </a:ext>
            </a:extLst>
          </a:ln>
        </p:spPr>
        <p:txBody>
          <a:bodyPr/>
          <a:lstStyle>
            <a:lvl1pPr algn="ctr"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99D4A-6B08-C144-AFE3-77A01A5AD3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C066A-E572-A277-D369-78396D584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08/10/2025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EAEF30-4002-714D-0670-A49096DB8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A5FF20-6D76-29F2-418E-8864E01FE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080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003FF-F52F-4E38-0A2E-9DA1C60DA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53E876-7455-9295-91BF-4F641EF553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47266-3916-28B3-A555-7FB1D3D8E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E68EB-F701-4E7C-8A1B-AAB143967A5F}" type="datetime1">
              <a:rPr lang="en-GB" smtClean="0"/>
              <a:t>08/10/2025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7012B-55DA-34F4-808B-189EA4C3C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8D8DC9-36B0-31D0-B5F2-FC0C84BD9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0228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9EA8A-FF95-E0BD-7238-CF02B00FD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89762-D796-DC09-14A4-5AD190D825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6F5D70-A3AC-50F5-06B7-9CE9CF5074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DFC517-D127-635A-B264-F649FC869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1DE66-4F81-4974-88C3-7164F909D911}" type="datetime1">
              <a:rPr lang="en-GB" smtClean="0"/>
              <a:t>08/10/2025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BF902A-670D-5ED9-8D4D-F35167B04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D85025-5D85-AC22-6D8F-3E6EE503D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6600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7F54F-E990-F487-57E9-D0FAA742D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A5E450-926E-F984-8F71-955FA0FEC1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0BA968-AC90-BAC3-F9C8-6F8478B719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6AA182-DAAF-6A22-82E6-4D09269F14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AF3F09-93B2-51FA-9088-7D9BCEBC6D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0812B9-38A2-5B54-1BDB-7B50AFC36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1D5EC-0436-4D1A-B807-42CAECB52F3A}" type="datetime1">
              <a:rPr lang="en-GB" smtClean="0"/>
              <a:t>08/10/2025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2CC307-A30C-C6CE-E36C-F30561210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4CABA7-3B6D-774C-73DB-AC25CE1AD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1209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385C2-AC71-5CD4-56A8-CA28E1598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A798A5-3197-07D3-6CD1-2A6563AF5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A3ADE-44B1-4EF3-919C-3E8C2EF5A85F}" type="datetime1">
              <a:rPr lang="en-GB" smtClean="0"/>
              <a:t>08/10/2025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1AD66C-1B15-DB67-7702-F791D23B5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DD6D4E-F44E-AEA5-1EB9-E5D5B3B5F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7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117971-EA51-1E5E-FABA-79A350912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F570B-75EC-43EA-ABF4-4059CC25C5DE}" type="datetime1">
              <a:rPr lang="en-GB" smtClean="0"/>
              <a:t>08/10/2025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AD9B04-D7D8-9928-C4F7-04945D125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D0B3C4-33CC-72BA-889F-986C21D06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1085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2A411-0235-0168-189D-927979B3F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9C01DE-2ACF-2FCE-308A-BFFDD6898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8CC266-6F22-04FB-4D09-0BC53C1093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AF3AA6-3A77-7ABB-8CE0-53336682B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A2AE1-6EC0-47B6-9286-227F6CC4BE37}" type="datetime1">
              <a:rPr lang="en-GB" smtClean="0"/>
              <a:t>08/10/2025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BBDD05-C09C-3554-C58E-1FD10B16C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CACC2B-34F8-346A-1D83-2FA177A62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1826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FB5CA-54DD-FAF3-9B07-FA2AE2C13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044D3F-4214-F3D0-4E40-C3D7AC72D2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659081-4537-48AB-E691-80D9C313E9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4768B4-1148-4864-A694-4E4A62F90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18897-E1BD-4D4D-B0B7-CDDDCC6D391E}" type="datetime1">
              <a:rPr lang="en-GB" smtClean="0"/>
              <a:t>08/10/2025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6F3E4C-A1EA-4FA4-37E9-D4BDEC853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A227AC-5B9C-43D9-35DB-94115AA5D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0327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A51ED-3800-0D94-43C0-4DC9006B3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6EAF76-2B38-92CE-1645-607F15BB64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1DE2D-65A0-9797-96FC-951FC7CDF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5AAC1-57D9-4D00-AB02-0520E4D4A784}" type="datetime1">
              <a:rPr lang="en-GB" smtClean="0"/>
              <a:t>08/10/2025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EEA3A-A9E6-9867-EFD1-11A0DDEFE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6EDA0E-F08D-D2E9-D34C-4BE6FAC46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3485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964FED-6CB9-AF94-F333-C88F49B078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ED8B65-A0C8-2F43-0A6D-1E466060B8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972CA-C602-AC11-0A41-83CDB61E6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FE15E-9DEF-4BA1-88F2-D1C0C031F929}" type="datetime1">
              <a:rPr lang="en-GB" smtClean="0"/>
              <a:t>08/10/2025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3A94C6-4E92-45EE-14C2-7582DA461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3FE9AD-4D06-455A-43CC-97EF29F85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3353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7396CC-AE2A-8FCF-9294-1636AE519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DDC19C-91AE-C626-CCEE-59A834248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453CA-04EB-8130-D6AB-D4E0B71E0E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EA207B-7DFC-4FD1-8A21-6A6CCCD46F9E}" type="datetime1">
              <a:rPr lang="en-GB" smtClean="0"/>
              <a:t>08/10/2025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AC1FF-20C6-4F46-C58B-266E55AA37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5F486-2A3E-BC10-5284-9B45A2F58D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679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78DFA-AB5E-A717-8846-2B007F75CA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First Order Logic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6CBA92-8188-0147-A078-4FF601FBF7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Md Mehrab Hossain Opi</a:t>
            </a:r>
          </a:p>
          <a:p>
            <a:r>
              <a:rPr lang="en-GB" dirty="0"/>
              <a:t>CSE 4109: Artificial Intelligence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5296BA-E98B-0C90-A688-7E62AA8D0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F5BA6-E035-4879-AB7D-175221F8FC75}" type="datetime1">
              <a:rPr lang="en-GB" smtClean="0"/>
              <a:t>08/10/2025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897201-96C6-F5CA-638B-7D3FB18C9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8312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10054-F1E3-C780-C32C-99CD74C20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Properties of Good Representation Languages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1EA81-C2FA-4F48-5300-A1641760D9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Declarative: Separates knowledge from inference.</a:t>
            </a:r>
          </a:p>
          <a:p>
            <a:r>
              <a:rPr lang="en-GB" dirty="0"/>
              <a:t>Compositional: meaning of whole = function of parts.</a:t>
            </a:r>
          </a:p>
          <a:p>
            <a:r>
              <a:rPr lang="en-GB" dirty="0"/>
              <a:t>Expressive: able to represent general laws, partial info.</a:t>
            </a:r>
          </a:p>
          <a:p>
            <a:endParaRPr lang="en-GB" dirty="0"/>
          </a:p>
          <a:p>
            <a:r>
              <a:rPr lang="en-GB" dirty="0"/>
              <a:t>Propositional logic has the first two.</a:t>
            </a:r>
          </a:p>
          <a:p>
            <a:r>
              <a:rPr lang="en-GB" dirty="0"/>
              <a:t>FOL adds expressiveness by modelling objects and relations.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646423-7925-1E0A-8BCE-8CCBEF731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08/10/2025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B66F3E-086A-1AFA-6A1E-493147B67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5011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75A92-9AC0-6499-90F6-A9BC19D13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AB9FE-4B5C-C79E-B70F-BFA61BE0C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Representation Revisited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B9FC1-6A54-8F50-F1EA-A828642368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Programming Language</a:t>
            </a:r>
          </a:p>
          <a:p>
            <a:r>
              <a:rPr lang="en-GB" dirty="0"/>
              <a:t>Can represent facts. (data structure)</a:t>
            </a:r>
          </a:p>
          <a:p>
            <a:r>
              <a:rPr lang="en-GB" dirty="0"/>
              <a:t>Lacks any general mechanism for deriving facts.</a:t>
            </a:r>
          </a:p>
          <a:p>
            <a:r>
              <a:rPr lang="en-GB" dirty="0"/>
              <a:t>Lacks expressiveness required to handle partial information.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00D95E-6EBF-5B09-2DBA-127C1665B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08/10/2025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BFD840-711F-325D-AB9E-6EEABCD1D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6595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4106F-34CB-EC67-C3E6-E172D5E91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Representation Revisited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F2880-EDE3-4501-094C-1D2A3F634D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Propositional Logic</a:t>
            </a:r>
          </a:p>
          <a:p>
            <a:r>
              <a:rPr lang="en-GB" dirty="0"/>
              <a:t>Strengths: declarative, compositional, truth-based.</a:t>
            </a:r>
          </a:p>
          <a:p>
            <a:r>
              <a:rPr lang="en-GB" dirty="0"/>
              <a:t>Weakness:</a:t>
            </a:r>
          </a:p>
          <a:p>
            <a:pPr lvl="1"/>
            <a:r>
              <a:rPr lang="en-GB" dirty="0"/>
              <a:t>Can’t represent general rules concisely.</a:t>
            </a:r>
          </a:p>
          <a:p>
            <a:pPr lvl="2"/>
            <a:r>
              <a:rPr lang="en-GB" dirty="0"/>
              <a:t>In Wumpus world must write Breeze-Pit rule per square.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3091A-E5A0-0A67-A508-3E5163D5B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08/10/2025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AB40A5-1884-D747-8FD1-15C15BB0D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9866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3F27A-3867-1BD0-B82E-8858C41B6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Representation Revisited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277BF-542E-EB70-0826-7CC289C39C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Natural Language</a:t>
            </a:r>
          </a:p>
          <a:p>
            <a:r>
              <a:rPr lang="en-GB" dirty="0"/>
              <a:t>Very expressive, used for communication.</a:t>
            </a:r>
          </a:p>
          <a:p>
            <a:r>
              <a:rPr lang="en-GB" dirty="0"/>
              <a:t>Problems:</a:t>
            </a:r>
          </a:p>
          <a:p>
            <a:pPr lvl="1"/>
            <a:r>
              <a:rPr lang="en-GB" dirty="0"/>
              <a:t>Context dependence → “Look!” meaningless without situation.</a:t>
            </a:r>
          </a:p>
          <a:p>
            <a:pPr lvl="1"/>
            <a:r>
              <a:rPr lang="en-GB" dirty="0"/>
              <a:t>Ambiguity → “spring” (season vs. coil).</a:t>
            </a:r>
          </a:p>
          <a:p>
            <a:r>
              <a:rPr lang="en-GB" dirty="0"/>
              <a:t>So natural language is not suitable as a direct representation for machines.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2B78F8-C600-106F-0E8A-34C70F703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08/10/2025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8084EF-F7DD-BC38-9D88-F2EAD601C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41302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40183-D772-183B-1025-C95221F90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Combining Best of Both Worlds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58DE3-01F5-2EC5-C23C-1498E84D46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Take from propositional logic:</a:t>
            </a:r>
          </a:p>
          <a:p>
            <a:pPr lvl="1"/>
            <a:r>
              <a:rPr lang="en-GB" dirty="0"/>
              <a:t>Declarative, compositional, unambiguous foundation.</a:t>
            </a:r>
          </a:p>
          <a:p>
            <a:r>
              <a:rPr lang="en-GB" dirty="0"/>
              <a:t>Take from natural language:</a:t>
            </a:r>
          </a:p>
          <a:p>
            <a:pPr lvl="1"/>
            <a:r>
              <a:rPr lang="en-GB" dirty="0"/>
              <a:t>Objects (people, numbers, pits, squares).</a:t>
            </a:r>
          </a:p>
          <a:p>
            <a:pPr lvl="1"/>
            <a:r>
              <a:rPr lang="en-GB" dirty="0"/>
              <a:t>Relations/Properties (owns, bigger than, adjacent).</a:t>
            </a:r>
          </a:p>
          <a:p>
            <a:pPr lvl="1"/>
            <a:r>
              <a:rPr lang="en-GB" dirty="0"/>
              <a:t>Functions (father of, one more than).</a:t>
            </a:r>
          </a:p>
          <a:p>
            <a:r>
              <a:rPr lang="en-GB" dirty="0"/>
              <a:t>Almost all knowledge fits into this framework.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B435C-9E84-9161-01C7-3F8B3424E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08/10/2025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EA4B98-2E1C-15B2-D071-CAD9C98F1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3086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5781B-AE33-0D48-95ED-79CDA1147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FOL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4150B-1B5A-B1BA-E7AB-B855E2C261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‘One plus Two equals Three’</a:t>
            </a:r>
          </a:p>
          <a:p>
            <a:pPr lvl="1"/>
            <a:r>
              <a:rPr lang="en-GB" dirty="0"/>
              <a:t>Objects: one, two, three, one plus two.</a:t>
            </a:r>
          </a:p>
          <a:p>
            <a:pPr lvl="1"/>
            <a:r>
              <a:rPr lang="en-GB" dirty="0"/>
              <a:t>Relation: equals.</a:t>
            </a:r>
          </a:p>
          <a:p>
            <a:pPr lvl="1"/>
            <a:r>
              <a:rPr lang="en-GB" dirty="0"/>
              <a:t>Function: plus.</a:t>
            </a:r>
          </a:p>
          <a:p>
            <a:r>
              <a:rPr lang="en-GB" dirty="0"/>
              <a:t>‘Squares </a:t>
            </a:r>
            <a:r>
              <a:rPr lang="en-GB" dirty="0" err="1"/>
              <a:t>neighboring</a:t>
            </a:r>
            <a:r>
              <a:rPr lang="en-GB" dirty="0"/>
              <a:t> the Wumpus are smelly’</a:t>
            </a:r>
          </a:p>
          <a:p>
            <a:pPr lvl="1"/>
            <a:r>
              <a:rPr lang="en-GB" dirty="0"/>
              <a:t>Objects: Wumpus, squares.</a:t>
            </a:r>
          </a:p>
          <a:p>
            <a:pPr lvl="1"/>
            <a:r>
              <a:rPr lang="en-GB" dirty="0"/>
              <a:t>Property: smelly.</a:t>
            </a:r>
          </a:p>
          <a:p>
            <a:pPr lvl="1"/>
            <a:r>
              <a:rPr lang="en-GB" dirty="0"/>
              <a:t>Relation: </a:t>
            </a:r>
            <a:r>
              <a:rPr lang="en-GB" dirty="0" err="1"/>
              <a:t>neighboring</a:t>
            </a:r>
            <a:r>
              <a:rPr lang="en-GB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60F0AF-6A50-357E-D53D-33041AC85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08/10/2025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435E99-E36B-A3C9-C67D-36A652691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47257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870DD-A4ED-E6BB-B11A-3D9B05F22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FOL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81E80-D2F5-5141-6702-58109EB47A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Much more expressive than propositional logic.</a:t>
            </a:r>
          </a:p>
          <a:p>
            <a:r>
              <a:rPr lang="en-GB" dirty="0"/>
              <a:t>Can represent general laws and structured knowledge.</a:t>
            </a:r>
          </a:p>
          <a:p>
            <a:r>
              <a:rPr lang="en-GB" dirty="0"/>
              <a:t>Foundation of math, philosophy, and AI reasoning.</a:t>
            </a:r>
          </a:p>
          <a:p>
            <a:r>
              <a:rPr lang="en-GB" dirty="0"/>
              <a:t>Lets agents represent and reason about the real world.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C24E7-699A-E68F-587E-36D532A22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08/10/2025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AC209A-7446-B18E-11B6-DBCC50147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43666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A55DB-2B81-64A8-7C0E-A1DAF27B6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Models in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92D25-8364-E931-0EB0-C5B7F75BCD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model = formal structure = a possible world.</a:t>
            </a:r>
          </a:p>
          <a:p>
            <a:r>
              <a:rPr lang="en-GB" dirty="0"/>
              <a:t>Propositional logic: model = assign truth values to symbols.</a:t>
            </a:r>
          </a:p>
          <a:p>
            <a:r>
              <a:rPr lang="en-GB" dirty="0"/>
              <a:t>First-order logic: model = objects + relations among them.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44AE7C-80B7-6AE5-D164-C209F4B80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08/10/2025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D9B3DB-1097-E931-3401-995565565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07133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4C688-1D5D-1EAB-872E-34008D08F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FOL Model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7F71D-5D69-D519-2D03-CC06E20D84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706368" cy="4351338"/>
          </a:xfrm>
        </p:spPr>
        <p:txBody>
          <a:bodyPr/>
          <a:lstStyle/>
          <a:p>
            <a:r>
              <a:rPr lang="en-GB" dirty="0"/>
              <a:t>Objects:</a:t>
            </a:r>
          </a:p>
          <a:p>
            <a:r>
              <a:rPr lang="en-GB" dirty="0"/>
              <a:t>Richard the Lionheart.</a:t>
            </a:r>
          </a:p>
          <a:p>
            <a:r>
              <a:rPr lang="en-GB" dirty="0"/>
              <a:t>His younger brother, the Evil King John.</a:t>
            </a:r>
          </a:p>
          <a:p>
            <a:r>
              <a:rPr lang="en-GB" dirty="0"/>
              <a:t>The left legs of Richard and John.</a:t>
            </a:r>
          </a:p>
          <a:p>
            <a:r>
              <a:rPr lang="en-GB" dirty="0"/>
              <a:t>A crown.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4ACA14-5BEB-E45F-C798-41923CDA3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08/10/2025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30BAC1-FC26-7DA6-8D7E-00F66A8AF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10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2B22086-FD4F-AA52-DBEF-EFBEDF62B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4559" y="2005010"/>
            <a:ext cx="7557194" cy="417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7892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87F0D-E8A6-1B3D-F8FF-DCC67DAA6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9920C-C4C3-D7F7-CCAA-60F342B35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FOL Model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16E127-6CC1-9F80-6898-169E50CB85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3706368" cy="4351338"/>
              </a:xfrm>
            </p:spPr>
            <p:txBody>
              <a:bodyPr/>
              <a:lstStyle/>
              <a:p>
                <a:r>
                  <a:rPr lang="en-GB" dirty="0"/>
                  <a:t>Relation:</a:t>
                </a:r>
              </a:p>
              <a:p>
                <a:r>
                  <a:rPr lang="en-GB" dirty="0"/>
                  <a:t>Brotherhood:</a:t>
                </a:r>
                <a:br>
                  <a:rPr lang="en-GB" dirty="0"/>
                </a:b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</m:d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𝐽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d>
                      </m:e>
                    </m:d>
                  </m:oMath>
                </a14:m>
                <a:endParaRPr lang="en-GB" b="0" dirty="0"/>
              </a:p>
              <a:p>
                <a:r>
                  <a:rPr lang="en-GB" dirty="0"/>
                  <a:t>On head:</a:t>
                </a:r>
                <a:br>
                  <a:rPr lang="en-GB" dirty="0"/>
                </a:br>
                <a:r>
                  <a:rPr lang="en-GB" dirty="0"/>
                  <a:t>{the crown, John}</a:t>
                </a:r>
              </a:p>
              <a:p>
                <a:r>
                  <a:rPr lang="en-GB" dirty="0"/>
                  <a:t>Person: R, J.</a:t>
                </a:r>
              </a:p>
              <a:p>
                <a:r>
                  <a:rPr lang="en-GB" dirty="0"/>
                  <a:t>King: J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16E127-6CC1-9F80-6898-169E50CB85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3706368" cy="4351338"/>
              </a:xfrm>
              <a:blipFill>
                <a:blip r:embed="rId2"/>
                <a:stretch>
                  <a:fillRect l="-2961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D68B65-1A73-7DD0-8B49-C47D8ACC7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08/10/2025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84B0FE-8ABF-4DAA-F7FC-834366201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11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C789F3-C8A7-AB16-5F0E-BFCF84BCB7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4559" y="2005010"/>
            <a:ext cx="7557194" cy="417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2790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25015-40C0-B9AB-1569-51EBA54FB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0F105-2D81-9E84-59AC-4D518D9CE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FOL Model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E3410B-86D7-4565-78E4-F33FFDF26E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3706368" cy="4351338"/>
              </a:xfrm>
            </p:spPr>
            <p:txBody>
              <a:bodyPr/>
              <a:lstStyle/>
              <a:p>
                <a:r>
                  <a:rPr lang="en-GB" dirty="0"/>
                  <a:t>Function:</a:t>
                </a:r>
              </a:p>
              <a:p>
                <a:r>
                  <a:rPr lang="en-GB" dirty="0"/>
                  <a:t>Left leg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𝐿𝑒𝑓𝑡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𝐿𝑒𝑔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GB" b="0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𝐿𝑒𝑓𝑡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𝐿𝑒𝑔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GB" b="0" dirty="0"/>
              </a:p>
              <a:p>
                <a:pPr lvl="1"/>
                <a:endParaRPr lang="en-GB" dirty="0"/>
              </a:p>
              <a:p>
                <a:r>
                  <a:rPr lang="en-GB" dirty="0"/>
                  <a:t>FOL requires total functions.</a:t>
                </a:r>
              </a:p>
              <a:p>
                <a:r>
                  <a:rPr lang="en-GB" dirty="0"/>
                  <a:t>There must be a value for every input tuple.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E3410B-86D7-4565-78E4-F33FFDF26E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3706368" cy="4351338"/>
              </a:xfrm>
              <a:blipFill>
                <a:blip r:embed="rId2"/>
                <a:stretch>
                  <a:fillRect l="-2961" t="-2381" r="-658" b="-350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482DD4-D8B9-4324-5784-FCE807FD8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08/10/2025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52DDE0-2C67-AB0E-0385-7A9655C49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12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0025DE-7F91-DD3F-0E7A-704F78BB4A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4559" y="2005010"/>
            <a:ext cx="7557194" cy="417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9868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B9F17-EDEE-1044-B8F6-DB4C9AC26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Linking Vocabulary to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18477-F9A8-5516-D6EC-F176805930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Logical symbols map to objects, relations, functions in the model.</a:t>
            </a:r>
          </a:p>
          <a:p>
            <a:r>
              <a:rPr lang="en-GB" dirty="0"/>
              <a:t>This mapping lets us evaluate truth of sentences.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1F366-0391-EF59-7596-A59237149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08/10/2025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CFDA9D-874E-AD49-4A9F-CD9DE95D1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96666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997E4-BD5E-EF49-2A4A-D52DC7114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Symbols in FOL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9DF5DA-18E8-92CB-1F26-73213156BB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Constant symbols → objects (e.g., Richard, John).</a:t>
            </a:r>
          </a:p>
          <a:p>
            <a:r>
              <a:rPr lang="en-GB" dirty="0"/>
              <a:t>Predicate symbols → relations/properties (e.g., Brother, King, </a:t>
            </a:r>
            <a:r>
              <a:rPr lang="en-GB" dirty="0" err="1"/>
              <a:t>OnHead</a:t>
            </a:r>
            <a:r>
              <a:rPr lang="en-GB" dirty="0"/>
              <a:t>).</a:t>
            </a:r>
          </a:p>
          <a:p>
            <a:r>
              <a:rPr lang="en-GB" dirty="0"/>
              <a:t>Function symbols → mappings (e.g., </a:t>
            </a:r>
            <a:r>
              <a:rPr lang="en-GB" dirty="0" err="1"/>
              <a:t>LeftLeg</a:t>
            </a:r>
            <a:r>
              <a:rPr lang="en-GB" dirty="0"/>
              <a:t>, </a:t>
            </a:r>
            <a:r>
              <a:rPr lang="en-GB" dirty="0" err="1"/>
              <a:t>MotherOf</a:t>
            </a:r>
            <a:r>
              <a:rPr lang="en-GB" dirty="0"/>
              <a:t>).</a:t>
            </a:r>
          </a:p>
          <a:p>
            <a:r>
              <a:rPr lang="en-GB" dirty="0"/>
              <a:t>Arity: number of arguments a predicate/function takes.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A50F72-0CE8-94BF-98D5-1BA894A8C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08/10/2025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C12945-D2B8-2650-0DFB-52A81D5D4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8439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3160D-A195-182A-BEA7-BA1EFBD92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44E93-4ECC-9553-91F1-35A3078EFC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model must interpret all symbols.</a:t>
            </a:r>
          </a:p>
          <a:p>
            <a:r>
              <a:rPr lang="en-GB" dirty="0"/>
              <a:t>Example (intended interpretation):</a:t>
            </a:r>
          </a:p>
          <a:p>
            <a:pPr lvl="1"/>
            <a:r>
              <a:rPr lang="en-GB" dirty="0"/>
              <a:t>Richard ↦ Richard the Lionheart</a:t>
            </a:r>
          </a:p>
          <a:p>
            <a:pPr lvl="1"/>
            <a:r>
              <a:rPr lang="en-GB" dirty="0"/>
              <a:t>Brother ↦ brotherhood relation</a:t>
            </a:r>
          </a:p>
          <a:p>
            <a:pPr lvl="1"/>
            <a:r>
              <a:rPr lang="en-GB" dirty="0" err="1"/>
              <a:t>LeftLeg</a:t>
            </a:r>
            <a:r>
              <a:rPr lang="en-GB" dirty="0"/>
              <a:t> ↦ mapping person → leg</a:t>
            </a:r>
          </a:p>
          <a:p>
            <a:r>
              <a:rPr lang="en-GB" dirty="0"/>
              <a:t>Many other interpretations are possible!</a:t>
            </a:r>
          </a:p>
          <a:p>
            <a:pPr lvl="1"/>
            <a:r>
              <a:rPr lang="en-GB" dirty="0"/>
              <a:t>Richard could map to the crown.</a:t>
            </a:r>
          </a:p>
          <a:p>
            <a:pPr lvl="1"/>
            <a:r>
              <a:rPr lang="en-GB" dirty="0"/>
              <a:t>Both Richard &amp; John could refer to the same object.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3DD0F0-AEFE-5164-8770-D0D207CF8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08/10/2025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5CC6CD-7341-E384-04D7-30C670DAC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22891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7AB4F-8A54-818D-4EB8-70B449065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Sentences in FOL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5BB2CE-615C-C8F4-7823-8928CD4FB5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Built from terms (constants, variables, functions).</a:t>
            </a:r>
          </a:p>
          <a:p>
            <a:r>
              <a:rPr lang="en-GB" dirty="0"/>
              <a:t>Atomic sentences: Predicate(Term,...), e.g. Brother(Richard, John).</a:t>
            </a:r>
          </a:p>
          <a:p>
            <a:r>
              <a:rPr lang="en-GB" dirty="0"/>
              <a:t>Complex sentences: connectives (¬, ∧, ∨, ⇒, ⇔).</a:t>
            </a:r>
          </a:p>
          <a:p>
            <a:r>
              <a:rPr lang="en-GB" dirty="0"/>
              <a:t>Quantifiers: ∀x (for all x), ∃x (there exists x).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5BEBDB-8A75-199F-F512-5054095F9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08/10/2025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80EBE1-A6D7-F568-AA45-775F6F4AB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43993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7EF21-D8E1-6A70-108F-2A687E6FF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Grammar of FOL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54AD35B-C74D-DFC6-49D2-EB0E0EBA03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77550" y="1825625"/>
            <a:ext cx="5036900" cy="435133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218DB-1880-A4B1-B8B2-B2B2323A5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08/10/2025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18AD87-D136-A78B-97E9-18F660743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6475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ACA1B-5CD4-7C6D-EFAA-A98D8CFAE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5B241-F2CC-7DC8-9BDA-7EE8B401BD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term is a logical expression that refers to an object.</a:t>
            </a:r>
          </a:p>
          <a:p>
            <a:r>
              <a:rPr lang="en-GB" dirty="0"/>
              <a:t>Types of terms:</a:t>
            </a:r>
          </a:p>
          <a:p>
            <a:pPr lvl="1"/>
            <a:r>
              <a:rPr lang="en-GB" dirty="0"/>
              <a:t>Constant: John</a:t>
            </a:r>
          </a:p>
          <a:p>
            <a:pPr lvl="1"/>
            <a:r>
              <a:rPr lang="en-GB" dirty="0"/>
              <a:t>Variable: x</a:t>
            </a:r>
          </a:p>
          <a:p>
            <a:pPr lvl="1"/>
            <a:r>
              <a:rPr lang="en-GB" dirty="0"/>
              <a:t>Function application: </a:t>
            </a:r>
            <a:r>
              <a:rPr lang="en-GB" dirty="0" err="1"/>
              <a:t>LeftLeg</a:t>
            </a:r>
            <a:r>
              <a:rPr lang="en-GB" dirty="0"/>
              <a:t>(John)</a:t>
            </a:r>
          </a:p>
          <a:p>
            <a:r>
              <a:rPr lang="en-GB" dirty="0"/>
              <a:t>Complex term </a:t>
            </a:r>
          </a:p>
          <a:p>
            <a:pPr lvl="1"/>
            <a:r>
              <a:rPr lang="en-GB" dirty="0"/>
              <a:t>A complex term is formed by a function symbol followed by a parenthesized list of terms as arguments to the function symbol.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454800-EBAB-D5BB-8CC9-5A1C54D25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08/10/2025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A8EBF1-BCB6-685A-1557-6F795CD58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62017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EFF89-A7E8-7A98-A529-E2A00948E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Semantics of Terms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3CD086-F08D-5FA4-9BFC-171C805C77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Term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₁,…,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err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GB" i="1" dirty="0" err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):</m:t>
                    </m:r>
                  </m:oMath>
                </a14:m>
                <a:endParaRPr lang="en-GB" dirty="0"/>
              </a:p>
              <a:p>
                <a:r>
                  <a:rPr lang="en-GB" dirty="0"/>
                  <a:t>f ↦ some function F in model.</a:t>
                </a:r>
              </a:p>
              <a:p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₁,…,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err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GB" i="1" dirty="0" err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GB" dirty="0"/>
                  <a:t> ↦ objects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₁,…,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GB" dirty="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₁,…,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err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GB" i="1" dirty="0" err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) ↦ 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₁,…,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err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GB" i="1" dirty="0" err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3CD086-F08D-5FA4-9BFC-171C805C77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B934E-F2F7-6853-ABAC-8D67524F7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08/10/2025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40082F-5013-F9DD-730A-517E705D2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4190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40411-46C0-D386-C6C9-6E0D30932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Atomic Sentences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C7A883-4238-81A4-6839-2B22CE9061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Atom is formed from a predicate symbol optionally followed by a parenthesized list of terms.</a:t>
                </a:r>
              </a:p>
              <a:p>
                <a:r>
                  <a:rPr lang="en-GB" dirty="0"/>
                  <a:t>Smallest units of meaning.</a:t>
                </a:r>
              </a:p>
              <a:p>
                <a:r>
                  <a:rPr lang="en-GB" dirty="0"/>
                  <a:t>Example: Brother(Richard, John).</a:t>
                </a:r>
              </a:p>
              <a:p>
                <a:r>
                  <a:rPr lang="en-GB" dirty="0"/>
                  <a:t>Can be complex: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𝑀𝑎𝑟𝑟𝑖𝑒𝑑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𝐹𝑎𝑡h𝑒𝑟</m:t>
                        </m:r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𝑅𝑖𝑐h𝑎𝑟𝑑</m:t>
                            </m:r>
                          </m:e>
                        </m:d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𝑀𝑜𝑡h𝑒𝑟</m:t>
                        </m:r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𝐽𝑜h𝑛</m:t>
                            </m:r>
                          </m:e>
                        </m:d>
                      </m:e>
                    </m:d>
                  </m:oMath>
                </a14:m>
                <a:endParaRPr lang="en-GB" dirty="0"/>
              </a:p>
              <a:p>
                <a:r>
                  <a:rPr lang="en-GB" dirty="0"/>
                  <a:t>True if relation holds among the referred objects.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C7A883-4238-81A4-6839-2B22CE9061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185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D36C2-C022-73C7-426C-C8408FCE7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08/10/2025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ADD3B1-FF4A-5A6A-AA6C-1A419B474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45133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899CE-808B-2E96-E23A-36C18F6E3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Complex Sentences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E4757-ACD6-6303-BCE6-2A5B0ADAE0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Built with connectives (¬, ∧, ∨, ⇒, ⇔).</a:t>
            </a:r>
          </a:p>
          <a:p>
            <a:r>
              <a:rPr lang="en-GB" dirty="0"/>
              <a:t>Example sentences true in model:</a:t>
            </a:r>
          </a:p>
          <a:p>
            <a:pPr lvl="1"/>
            <a:r>
              <a:rPr lang="en-GB" dirty="0"/>
              <a:t>¬Brother(</a:t>
            </a:r>
            <a:r>
              <a:rPr lang="en-GB" dirty="0" err="1"/>
              <a:t>LeftLeg</a:t>
            </a:r>
            <a:r>
              <a:rPr lang="en-GB" dirty="0"/>
              <a:t>(Richard), John)</a:t>
            </a:r>
          </a:p>
          <a:p>
            <a:pPr lvl="1"/>
            <a:r>
              <a:rPr lang="en-GB" dirty="0"/>
              <a:t>King(Richard) ∨ King(John)</a:t>
            </a:r>
          </a:p>
          <a:p>
            <a:pPr lvl="1"/>
            <a:r>
              <a:rPr lang="en-GB" dirty="0"/>
              <a:t>¬King(Richard) ⇒ King(John)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C43E2F-F3BF-571B-EDB4-4651FE5C6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08/10/2025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A53FAD-D3C3-A7E5-D1DF-DD657B5DF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65775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75303-F3E4-1FB2-66B0-C8EE228D8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Quantifiers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0EA7F-9984-1353-379E-C84DA789AF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Express properties of entire collection of objects without referring them by name.</a:t>
            </a:r>
          </a:p>
          <a:p>
            <a:r>
              <a:rPr lang="en-GB" dirty="0"/>
              <a:t>Universal (∀): “for all”.</a:t>
            </a:r>
          </a:p>
          <a:p>
            <a:r>
              <a:rPr lang="en-GB" dirty="0"/>
              <a:t>Existential (∃): “there exists”.</a:t>
            </a:r>
          </a:p>
          <a:p>
            <a:r>
              <a:rPr lang="en-GB" dirty="0"/>
              <a:t>Allow generalization over domain.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3706A8-201B-E867-7568-A28B769EE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08/10/2025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3A566E-5EFB-A138-AEFC-C44EAC8ED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33369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2FE23-C26A-A023-B125-6A52C5C05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Universal Quantification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3CF89D-C2C6-25FA-AB38-FAB6D18613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All kings are person.</a:t>
                </a:r>
              </a:p>
              <a:p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𝐾𝑖𝑛𝑔</m:t>
                    </m:r>
                    <m:d>
                      <m:d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i="1" dirty="0" smtClean="0">
                        <a:latin typeface="Cambria Math" panose="02040503050406030204" pitchFamily="18" charset="0"/>
                      </a:rPr>
                      <m:t>⇒ 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𝑃𝑒𝑟𝑠𝑜𝑛</m:t>
                    </m:r>
                    <m:d>
                      <m:d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GB" dirty="0"/>
              </a:p>
              <a:p>
                <a:pPr lvl="1"/>
                <a:r>
                  <a:rPr lang="en-GB" dirty="0"/>
                  <a:t>For all x if x is a king, then x is a person.</a:t>
                </a:r>
              </a:p>
              <a:p>
                <a:pPr lvl="1"/>
                <a:r>
                  <a:rPr lang="en-GB" dirty="0"/>
                  <a:t>x is a variable, and also a term.</a:t>
                </a:r>
              </a:p>
              <a:p>
                <a:pPr lvl="1"/>
                <a:r>
                  <a:rPr lang="en-GB" dirty="0"/>
                  <a:t>A term with no variables is called a ground term.</a:t>
                </a:r>
              </a:p>
              <a:p>
                <a:r>
                  <a:rPr lang="en-GB" dirty="0"/>
                  <a:t>True if every object satisfies rule.</a:t>
                </a:r>
              </a:p>
              <a:p>
                <a:r>
                  <a:rPr lang="en-GB" dirty="0"/>
                  <a:t>Works like a conjunction over all domain objects.</a:t>
                </a:r>
              </a:p>
              <a:p>
                <a:r>
                  <a:rPr lang="en-GB" dirty="0"/>
                  <a:t>Caution: use ⇒, not ∧.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3CF89D-C2C6-25FA-AB38-FAB6D18613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90049-3160-D4B0-8F64-8A36CB4B1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08/10/2025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90321F-E83E-4267-32FD-43E3C8E0E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05382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5CB0C-6158-909B-7A38-C332E4375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Existential Quantification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25F740-48B7-A643-62C7-77257020F9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King John has a crown on his head.</a:t>
                </a:r>
              </a:p>
              <a:p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∃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𝐶𝑟𝑜𝑤𝑛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) ∧ </m:t>
                    </m:r>
                    <m:r>
                      <a:rPr lang="en-GB" i="1" dirty="0" err="1" smtClean="0">
                        <a:latin typeface="Cambria Math" panose="02040503050406030204" pitchFamily="18" charset="0"/>
                      </a:rPr>
                      <m:t>𝑂𝑛𝐻𝑒𝑎𝑑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𝐽𝑜h𝑛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endParaRPr lang="en-GB" dirty="0"/>
              </a:p>
              <a:p>
                <a:r>
                  <a:rPr lang="en-GB" dirty="0"/>
                  <a:t>True if at least one object satisfies.</a:t>
                </a:r>
              </a:p>
              <a:p>
                <a:r>
                  <a:rPr lang="en-GB" dirty="0"/>
                  <a:t>Works like a disjunction over domain objects.</a:t>
                </a:r>
              </a:p>
              <a:p>
                <a:r>
                  <a:rPr lang="en-GB" dirty="0"/>
                  <a:t>Caution: avoid ∃x (P ⇒ Q), usually too weak.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25F740-48B7-A643-62C7-77257020F9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E3C4BC-0C9D-9D58-D236-E21CBE9FD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08/10/2025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828045-4536-D534-930E-B0AC35BFC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68556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F8799-121C-911E-BB0F-F9F938C5B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Nested Quantifiers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1CB68-000E-261B-3E30-AD2A31511A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Order matters!</a:t>
            </a:r>
          </a:p>
          <a:p>
            <a:r>
              <a:rPr lang="en-GB" dirty="0"/>
              <a:t>∀x ∃y Loves(</a:t>
            </a:r>
            <a:r>
              <a:rPr lang="en-GB" dirty="0" err="1"/>
              <a:t>x,y</a:t>
            </a:r>
            <a:r>
              <a:rPr lang="en-GB" dirty="0"/>
              <a:t>) → everybody loves somebody.</a:t>
            </a:r>
          </a:p>
          <a:p>
            <a:r>
              <a:rPr lang="en-GB" dirty="0"/>
              <a:t>∃y ∀x Loves(</a:t>
            </a:r>
            <a:r>
              <a:rPr lang="en-GB" dirty="0" err="1"/>
              <a:t>x,y</a:t>
            </a:r>
            <a:r>
              <a:rPr lang="en-GB" dirty="0"/>
              <a:t>) → there’s somebody loved by everyone.</a:t>
            </a:r>
          </a:p>
          <a:p>
            <a:r>
              <a:rPr lang="en-GB" dirty="0"/>
              <a:t>Use different variable names to avoid confusion.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CBCFE3-82D3-2DA2-C33B-A2F5E2AB5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08/10/2025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E74B9A-5F99-52FA-E2E8-9912F2D70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5190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16AFC-0FE7-74B3-795D-5EACB2801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Connections Between ∀ and ∃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93E0D-BCB7-32BA-1BB7-B4B8F49DE0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Everyone likes ice cream means that there is no one who does not like ice cream.</a:t>
            </a:r>
          </a:p>
          <a:p>
            <a:r>
              <a:rPr lang="en-GB" dirty="0"/>
              <a:t>Duality through negation:</a:t>
            </a:r>
          </a:p>
          <a:p>
            <a:pPr lvl="1"/>
            <a:r>
              <a:rPr lang="en-GB" dirty="0"/>
              <a:t>∀x P ≡ ¬∃x ¬P</a:t>
            </a:r>
          </a:p>
          <a:p>
            <a:pPr lvl="1"/>
            <a:r>
              <a:rPr lang="en-GB" dirty="0"/>
              <a:t>∃x P ≡ ¬∀x ¬P</a:t>
            </a:r>
          </a:p>
          <a:p>
            <a:r>
              <a:rPr lang="en-GB" dirty="0"/>
              <a:t>Analogy:</a:t>
            </a:r>
          </a:p>
          <a:p>
            <a:r>
              <a:rPr lang="en-GB" dirty="0"/>
              <a:t>∀ ≈ big AND</a:t>
            </a:r>
          </a:p>
          <a:p>
            <a:r>
              <a:rPr lang="en-GB" dirty="0"/>
              <a:t>∃ ≈ big 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0AAA52-886F-E901-07FA-92691F6AE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08/10/2025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1645B9-8D7E-9FED-E72B-E56533BF0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84968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60D81-D134-DA9B-2F71-EA7F86BC6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Equality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3D1461-C469-FB76-F4F8-21C2DE8C0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Extra atomic form: </a:t>
            </a:r>
          </a:p>
          <a:p>
            <a:pPr lvl="1"/>
            <a:r>
              <a:rPr lang="en-GB" dirty="0"/>
              <a:t>Term1 = Term2.</a:t>
            </a:r>
          </a:p>
          <a:p>
            <a:r>
              <a:rPr lang="en-GB" dirty="0"/>
              <a:t>True if both terms refer to same object.</a:t>
            </a:r>
          </a:p>
          <a:p>
            <a:r>
              <a:rPr lang="en-GB" dirty="0"/>
              <a:t>Example: Father(John) = Henry.</a:t>
            </a:r>
          </a:p>
          <a:p>
            <a:r>
              <a:rPr lang="en-GB" dirty="0"/>
              <a:t>Can express uniqueness:</a:t>
            </a:r>
          </a:p>
          <a:p>
            <a:pPr lvl="1"/>
            <a:r>
              <a:rPr lang="en-GB" dirty="0"/>
              <a:t>∃</a:t>
            </a:r>
            <a:r>
              <a:rPr lang="en-GB" dirty="0" err="1"/>
              <a:t>x,y</a:t>
            </a:r>
            <a:r>
              <a:rPr lang="en-GB" dirty="0"/>
              <a:t> Brother(</a:t>
            </a:r>
            <a:r>
              <a:rPr lang="en-GB" dirty="0" err="1"/>
              <a:t>x,Richard</a:t>
            </a:r>
            <a:r>
              <a:rPr lang="en-GB" dirty="0"/>
              <a:t>) ∧ Brother(</a:t>
            </a:r>
            <a:r>
              <a:rPr lang="en-GB" dirty="0" err="1"/>
              <a:t>y,Richard</a:t>
            </a:r>
            <a:r>
              <a:rPr lang="en-GB" dirty="0"/>
              <a:t>) ∧ x ≠ 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B60F1A-48C2-3707-6D21-12A3EC8D4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08/10/2025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3E4D86-1AFC-84C3-E3E3-EB8BFF4E7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33915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0A894-9A39-7790-C04A-01A7EC71E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Limits of Standard Semantics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1D91E4-AAC1-A3D8-4D94-557E82A706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Example: “Richard’s brothers are John and Geoffrey.”</a:t>
                </a:r>
              </a:p>
              <a:p>
                <a:r>
                  <a:rPr lang="en-GB" dirty="0"/>
                  <a:t>Needs cumbersome FOL: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𝐵𝑟𝑜𝑡h𝑒𝑟</m:t>
                    </m:r>
                    <m:d>
                      <m:d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 dirty="0" err="1" smtClean="0">
                            <a:latin typeface="Cambria Math" panose="02040503050406030204" pitchFamily="18" charset="0"/>
                          </a:rPr>
                          <m:t>𝐽𝑜h𝑛</m:t>
                        </m:r>
                        <m:r>
                          <a:rPr lang="en-GB" i="1" dirty="0" err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i="1" dirty="0" err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en-GB" i="1" dirty="0" smtClean="0">
                        <a:latin typeface="Cambria Math" panose="02040503050406030204" pitchFamily="18" charset="0"/>
                      </a:rPr>
                      <m:t>∧ 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𝐵𝑟𝑜𝑡h𝑒𝑟</m:t>
                    </m:r>
                    <m:d>
                      <m:d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 dirty="0" err="1" smtClean="0">
                            <a:latin typeface="Cambria Math" panose="02040503050406030204" pitchFamily="18" charset="0"/>
                          </a:rPr>
                          <m:t>𝐺𝑒𝑜𝑓𝑓𝑟𝑒𝑦</m:t>
                        </m:r>
                        <m:r>
                          <a:rPr lang="en-GB" i="1" dirty="0" err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i="1" dirty="0" err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𝐽𝑜h𝑛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 ≠ 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𝐺𝑒𝑜𝑓𝑓𝑟𝑒𝑦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 ∀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𝐵𝑟𝑜𝑡h𝑒𝑟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 dirty="0" err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i="1" dirty="0" err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) ⇒ (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𝐽𝑜h𝑛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 ∨ 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𝐺𝑒𝑜𝑓𝑓𝑟𝑒𝑦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1D91E4-AAC1-A3D8-4D94-557E82A706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5DD5C6-F7D3-AE35-4CAD-A1F885784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08/10/2025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AB694B-1539-347F-5BEC-98891345B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45394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0C629-589B-CBB1-F8F8-8E0F2C5DC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Alternative: Database Semantics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7B1AD-3CAE-C2AC-202C-987A8DC41A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Unique-names assumption: each constant is a distinct object.</a:t>
            </a:r>
          </a:p>
          <a:p>
            <a:r>
              <a:rPr lang="en-GB" dirty="0"/>
              <a:t>Closed-world assumption: unknown facts = false.</a:t>
            </a:r>
          </a:p>
          <a:p>
            <a:r>
              <a:rPr lang="en-GB" dirty="0"/>
              <a:t>Domain closure: only objects named by constants exist.</a:t>
            </a:r>
          </a:p>
          <a:p>
            <a:r>
              <a:rPr lang="en-GB" dirty="0"/>
              <a:t>Makes FOL more concise (but less general).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A524BE-7A00-3A43-D740-1A074198D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08/10/2025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16111A-9CEF-533B-CA67-BCCDDEF21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12157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13E4D-2CEA-DFED-DC84-207B1EBCF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FOL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F6CCE2-8C8F-4845-E0F1-4CE1156009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Sentences are added to a knowledge base using TELL.</a:t>
                </a:r>
              </a:p>
              <a:p>
                <a:r>
                  <a:rPr lang="en-US" dirty="0"/>
                  <a:t>Such sentences are called assertions.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𝑇𝐸𝐿𝐿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𝐾𝐵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𝐾𝑖𝑛𝑔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𝐽𝑜h𝑛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𝑇𝐸𝐿𝐿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𝐾𝐵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𝑃𝑒𝑟𝑠𝑜𝑛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𝑅𝑖𝑐h𝑎𝑟𝑑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𝑇𝐸𝐿𝐿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𝐾𝐵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∀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𝐾𝑖𝑛𝑔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 ⇒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𝑃𝑒𝑟𝑠𝑜𝑛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We can ask question using ASK.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𝐴𝑆𝐾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𝐾𝐵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𝐾𝑖𝑛𝑔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𝐽𝑜h𝑛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Called queries or goals.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F6CCE2-8C8F-4845-E0F1-4CE1156009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AA86F1-C3E7-A928-F8DA-083BDBE07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08/10/2025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4C59FC-68C7-BCF2-E732-23AA6168F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1049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B6A37-02EA-4BB3-F33D-8A5D93077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FOL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FE03AA-2924-0614-4BFF-DD3CB419F9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If we want to know what value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makes the sentence true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𝐴𝑆𝐾𝑉𝐴𝑅𝑆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𝐾𝐵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𝑃𝑒𝑟𝑠𝑜𝑛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endParaRPr lang="en-US" b="0" dirty="0"/>
              </a:p>
              <a:p>
                <a:r>
                  <a:rPr lang="en-US" dirty="0"/>
                  <a:t>This gives a stream of answers.</a:t>
                </a:r>
              </a:p>
              <a:p>
                <a:pPr lvl="1"/>
                <a:r>
                  <a:rPr lang="en-US" dirty="0"/>
                  <a:t>{x/John} and {x/Richard}.</a:t>
                </a:r>
              </a:p>
              <a:p>
                <a:r>
                  <a:rPr lang="en-US" dirty="0"/>
                  <a:t>Such an answer is called </a:t>
                </a:r>
                <a:r>
                  <a:rPr lang="en-US" b="1" dirty="0"/>
                  <a:t>substitution</a:t>
                </a:r>
                <a:r>
                  <a:rPr lang="en-US" dirty="0"/>
                  <a:t> or binding list.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FE03AA-2924-0614-4BFF-DD3CB419F9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37E8E9-ACE2-CC28-0648-FF1420AB3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08/10/2025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BE76C2-DE2B-82D4-04B2-4EB857AC6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25276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AE7D8-0CE2-5FD4-587D-F86325071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kinship Domain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4FCAED-F185-506F-C9DB-183219AB23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Domain of family relationships.</a:t>
            </a:r>
          </a:p>
          <a:p>
            <a:pPr lvl="1"/>
            <a:r>
              <a:rPr lang="en-US" dirty="0"/>
              <a:t>Elizabeth is the mother of Charles.</a:t>
            </a:r>
          </a:p>
          <a:p>
            <a:pPr lvl="1"/>
            <a:r>
              <a:rPr lang="en-US" dirty="0"/>
              <a:t>Charles is the father of William.</a:t>
            </a:r>
          </a:p>
          <a:p>
            <a:pPr lvl="1"/>
            <a:r>
              <a:rPr lang="en-US" dirty="0"/>
              <a:t>One’s grandmother is the mother of one’s parent.</a:t>
            </a:r>
          </a:p>
          <a:p>
            <a:endParaRPr lang="en-US" dirty="0"/>
          </a:p>
          <a:p>
            <a:r>
              <a:rPr lang="en-US" dirty="0"/>
              <a:t>Objects are people.</a:t>
            </a:r>
          </a:p>
          <a:p>
            <a:r>
              <a:rPr lang="en-US" dirty="0"/>
              <a:t>Two unary predicates, </a:t>
            </a:r>
            <a:r>
              <a:rPr lang="en-US" i="1" dirty="0"/>
              <a:t>Male</a:t>
            </a:r>
            <a:r>
              <a:rPr lang="en-US" dirty="0"/>
              <a:t> and </a:t>
            </a:r>
            <a:r>
              <a:rPr lang="en-US" i="1" dirty="0"/>
              <a:t>Female</a:t>
            </a:r>
            <a:r>
              <a:rPr lang="en-US" dirty="0"/>
              <a:t>.</a:t>
            </a:r>
          </a:p>
          <a:p>
            <a:r>
              <a:rPr lang="en-US" dirty="0"/>
              <a:t>Relations are represented by binary predicate.</a:t>
            </a:r>
          </a:p>
          <a:p>
            <a:pPr lvl="1"/>
            <a:r>
              <a:rPr lang="en-US" i="1" dirty="0"/>
              <a:t>Parent, Sibling, Brother, Sister, Child, Daughter</a:t>
            </a:r>
            <a:r>
              <a:rPr lang="en-US" dirty="0"/>
              <a:t>, and so 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E766C3-4E9D-4831-4CCE-B0747513B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08/10/2025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D47963-94C7-B415-3EEF-490C383F9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39069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15E6A-129B-86E3-253C-21B8B08E5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kinship Domain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5D460B-B87B-0B8E-0DBC-1E3D5C6104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Function for </a:t>
                </a:r>
                <a:r>
                  <a:rPr lang="en-US" i="1" dirty="0"/>
                  <a:t>father</a:t>
                </a:r>
                <a:r>
                  <a:rPr lang="en-US" dirty="0"/>
                  <a:t> and </a:t>
                </a:r>
                <a:r>
                  <a:rPr lang="en-US" i="1" dirty="0"/>
                  <a:t>mother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Every person has exactly one of each of these.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We can go through each function and predicate and write them in terms of other symbol.</a:t>
                </a:r>
              </a:p>
              <a:p>
                <a:r>
                  <a:rPr lang="en-US" dirty="0"/>
                  <a:t>One’s mother is one’s female parent.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𝑀𝑜𝑡h𝑒𝑟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⇔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𝐹𝑒𝑚𝑎𝑙𝑒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US" i="1" dirty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𝑃𝑎𝑟𝑒𝑛𝑡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err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 dirty="0" err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i="1" dirty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Male and female are disjoint categories.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𝑀𝑎𝑙𝑒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 ⇔¬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𝐹𝑒𝑚𝑎𝑙𝑒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 .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5D460B-B87B-0B8E-0DBC-1E3D5C6104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5B1105-24F2-09F0-709A-47B4F3B09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08/10/2025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2FEF93-FE82-1A1F-BEB9-9F768DE96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67359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2CC2A-29CA-CDCA-9C34-5CC81F202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kinship Domain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9A2F9F-4CFA-BB76-6DA0-607D8F5F6F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Parent and child are inverse relations: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∀</m:t>
                    </m:r>
                    <m:r>
                      <m:rPr>
                        <m:nor/>
                      </m:rPr>
                      <a:rPr lang="en-US"/>
                      <m:t>p</m:t>
                    </m:r>
                    <m:r>
                      <m:rPr>
                        <m:nor/>
                      </m:rPr>
                      <a:rPr lang="en-US"/>
                      <m:t>,</m:t>
                    </m:r>
                    <m:r>
                      <m:rPr>
                        <m:nor/>
                      </m:rPr>
                      <a:rPr lang="en-US"/>
                      <m:t>c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Parent</m:t>
                    </m:r>
                    <m:r>
                      <m:rPr>
                        <m:nor/>
                      </m:rPr>
                      <a:rPr lang="en-US"/>
                      <m:t>(</m:t>
                    </m:r>
                    <m:r>
                      <m:rPr>
                        <m:nor/>
                      </m:rPr>
                      <a:rPr lang="en-US"/>
                      <m:t>p</m:t>
                    </m:r>
                    <m:r>
                      <m:rPr>
                        <m:nor/>
                      </m:rPr>
                      <a:rPr lang="en-US"/>
                      <m:t>,</m:t>
                    </m:r>
                    <m:r>
                      <m:rPr>
                        <m:nor/>
                      </m:rPr>
                      <a:rPr lang="en-US"/>
                      <m:t>c</m:t>
                    </m:r>
                    <m:r>
                      <m:rPr>
                        <m:nor/>
                      </m:rPr>
                      <a:rPr lang="en-US"/>
                      <m:t>) ⇔ </m:t>
                    </m:r>
                    <m:r>
                      <m:rPr>
                        <m:nor/>
                      </m:rPr>
                      <a:rPr lang="en-US"/>
                      <m:t>Child</m:t>
                    </m:r>
                    <m:r>
                      <m:rPr>
                        <m:nor/>
                      </m:rPr>
                      <a:rPr lang="en-US"/>
                      <m:t>(</m:t>
                    </m:r>
                    <m:r>
                      <m:rPr>
                        <m:nor/>
                      </m:rPr>
                      <a:rPr lang="en-US"/>
                      <m:t>c</m:t>
                    </m:r>
                    <m:r>
                      <m:rPr>
                        <m:nor/>
                      </m:rPr>
                      <a:rPr lang="en-US"/>
                      <m:t>,</m:t>
                    </m:r>
                    <m:r>
                      <m:rPr>
                        <m:nor/>
                      </m:rPr>
                      <a:rPr lang="en-US"/>
                      <m:t>p</m:t>
                    </m:r>
                    <m:r>
                      <m:rPr>
                        <m:nor/>
                      </m:rPr>
                      <a:rPr lang="en-US"/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A sibling is another child of one’s parents: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s-ES"/>
                      <m:t>∀</m:t>
                    </m:r>
                    <m:r>
                      <m:rPr>
                        <m:nor/>
                      </m:rPr>
                      <a:rPr lang="es-ES"/>
                      <m:t>x</m:t>
                    </m:r>
                    <m:r>
                      <m:rPr>
                        <m:nor/>
                      </m:rPr>
                      <a:rPr lang="es-ES"/>
                      <m:t>,</m:t>
                    </m:r>
                    <m:r>
                      <m:rPr>
                        <m:nor/>
                      </m:rPr>
                      <a:rPr lang="es-ES"/>
                      <m:t>y</m:t>
                    </m:r>
                    <m:r>
                      <m:rPr>
                        <m:nor/>
                      </m:rPr>
                      <a:rPr lang="es-ES"/>
                      <m:t> </m:t>
                    </m:r>
                    <m:r>
                      <m:rPr>
                        <m:nor/>
                      </m:rPr>
                      <a:rPr lang="es-ES"/>
                      <m:t>Sibling</m:t>
                    </m:r>
                    <m:r>
                      <m:rPr>
                        <m:nor/>
                      </m:rPr>
                      <a:rPr lang="es-ES"/>
                      <m:t>(</m:t>
                    </m:r>
                    <m:r>
                      <m:rPr>
                        <m:nor/>
                      </m:rPr>
                      <a:rPr lang="es-ES"/>
                      <m:t>x</m:t>
                    </m:r>
                    <m:r>
                      <m:rPr>
                        <m:nor/>
                      </m:rPr>
                      <a:rPr lang="es-ES"/>
                      <m:t>,</m:t>
                    </m:r>
                    <m:r>
                      <m:rPr>
                        <m:nor/>
                      </m:rPr>
                      <a:rPr lang="es-ES"/>
                      <m:t>y</m:t>
                    </m:r>
                    <m:r>
                      <m:rPr>
                        <m:nor/>
                      </m:rPr>
                      <a:rPr lang="es-ES"/>
                      <m:t>) ⇔ </m:t>
                    </m:r>
                    <m:r>
                      <m:rPr>
                        <m:nor/>
                      </m:rPr>
                      <a:rPr lang="es-ES"/>
                      <m:t>x</m:t>
                    </m:r>
                    <m:r>
                      <m:rPr>
                        <m:nor/>
                      </m:rPr>
                      <a:rPr lang="es-ES"/>
                      <m:t>= </m:t>
                    </m:r>
                    <m:r>
                      <m:rPr>
                        <m:nor/>
                      </m:rPr>
                      <a:rPr lang="es-ES"/>
                      <m:t>y</m:t>
                    </m:r>
                    <m:r>
                      <m:rPr>
                        <m:nor/>
                      </m:rPr>
                      <a:rPr lang="es-ES"/>
                      <m:t> ∧∃</m:t>
                    </m:r>
                    <m:r>
                      <m:rPr>
                        <m:nor/>
                      </m:rPr>
                      <a:rPr lang="es-ES"/>
                      <m:t>p</m:t>
                    </m:r>
                    <m:r>
                      <m:rPr>
                        <m:nor/>
                      </m:rPr>
                      <a:rPr lang="es-ES"/>
                      <m:t> </m:t>
                    </m:r>
                    <m:r>
                      <m:rPr>
                        <m:nor/>
                      </m:rPr>
                      <a:rPr lang="es-ES"/>
                      <m:t>Parent</m:t>
                    </m:r>
                    <m:r>
                      <m:rPr>
                        <m:nor/>
                      </m:rPr>
                      <a:rPr lang="es-ES"/>
                      <m:t>(</m:t>
                    </m:r>
                    <m:r>
                      <m:rPr>
                        <m:nor/>
                      </m:rPr>
                      <a:rPr lang="es-ES"/>
                      <m:t>p</m:t>
                    </m:r>
                    <m:r>
                      <m:rPr>
                        <m:nor/>
                      </m:rPr>
                      <a:rPr lang="es-ES"/>
                      <m:t>,</m:t>
                    </m:r>
                    <m:r>
                      <m:rPr>
                        <m:nor/>
                      </m:rPr>
                      <a:rPr lang="es-ES"/>
                      <m:t>x</m:t>
                    </m:r>
                    <m:r>
                      <m:rPr>
                        <m:nor/>
                      </m:rPr>
                      <a:rPr lang="es-ES"/>
                      <m:t>)∧</m:t>
                    </m:r>
                    <m:r>
                      <m:rPr>
                        <m:nor/>
                      </m:rPr>
                      <a:rPr lang="es-ES"/>
                      <m:t>Parent</m:t>
                    </m:r>
                    <m:r>
                      <m:rPr>
                        <m:nor/>
                      </m:rPr>
                      <a:rPr lang="es-ES"/>
                      <m:t>(</m:t>
                    </m:r>
                    <m:r>
                      <m:rPr>
                        <m:nor/>
                      </m:rPr>
                      <a:rPr lang="es-ES"/>
                      <m:t>p</m:t>
                    </m:r>
                    <m:r>
                      <m:rPr>
                        <m:nor/>
                      </m:rPr>
                      <a:rPr lang="es-ES"/>
                      <m:t>,</m:t>
                    </m:r>
                    <m:r>
                      <m:rPr>
                        <m:nor/>
                      </m:rPr>
                      <a:rPr lang="es-ES"/>
                      <m:t>y</m:t>
                    </m:r>
                    <m:r>
                      <m:rPr>
                        <m:nor/>
                      </m:rPr>
                      <a:rPr lang="es-ES"/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Each of these sentences can be viewed as an axiom of the kinship domain.</a:t>
                </a:r>
              </a:p>
              <a:p>
                <a:r>
                  <a:rPr lang="en-US" dirty="0"/>
                  <a:t>They provide the basic factual information from which useful conclusions can be derived.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9A2F9F-4CFA-BB76-6DA0-607D8F5F6F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5E716-C9F9-C219-798C-0422A048E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08/10/2025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6730DE-CCED-9527-E28D-A1371EEF7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2509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83E7C-6E3A-74C1-7C97-6BB2428B1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kinship Domain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C5540F-827D-9757-C720-03D2563C07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Not all logical sentences about a domain are axioms. Some are theorems—that is, they are entailed by the axioms. </a:t>
                </a:r>
                <a:br>
                  <a:rPr lang="en-US" dirty="0"/>
                </a:br>
                <a:br>
                  <a:rPr lang="en-US" dirty="0"/>
                </a:b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s-ES"/>
                      <m:t>∀</m:t>
                    </m:r>
                    <m:r>
                      <m:rPr>
                        <m:nor/>
                      </m:rPr>
                      <a:rPr lang="es-ES"/>
                      <m:t>x</m:t>
                    </m:r>
                    <m:r>
                      <m:rPr>
                        <m:nor/>
                      </m:rPr>
                      <a:rPr lang="es-ES"/>
                      <m:t>,</m:t>
                    </m:r>
                    <m:r>
                      <m:rPr>
                        <m:nor/>
                      </m:rPr>
                      <a:rPr lang="es-ES"/>
                      <m:t>y</m:t>
                    </m:r>
                    <m:r>
                      <m:rPr>
                        <m:nor/>
                      </m:rPr>
                      <a:rPr lang="es-ES"/>
                      <m:t> </m:t>
                    </m:r>
                    <m:r>
                      <m:rPr>
                        <m:nor/>
                      </m:rPr>
                      <a:rPr lang="es-ES"/>
                      <m:t>Sibling</m:t>
                    </m:r>
                    <m:r>
                      <m:rPr>
                        <m:nor/>
                      </m:rPr>
                      <a:rPr lang="es-ES"/>
                      <m:t>(</m:t>
                    </m:r>
                    <m:r>
                      <m:rPr>
                        <m:nor/>
                      </m:rPr>
                      <a:rPr lang="es-ES"/>
                      <m:t>x</m:t>
                    </m:r>
                    <m:r>
                      <m:rPr>
                        <m:nor/>
                      </m:rPr>
                      <a:rPr lang="es-ES"/>
                      <m:t>,</m:t>
                    </m:r>
                    <m:r>
                      <m:rPr>
                        <m:nor/>
                      </m:rPr>
                      <a:rPr lang="es-ES"/>
                      <m:t>y</m:t>
                    </m:r>
                    <m:r>
                      <m:rPr>
                        <m:nor/>
                      </m:rPr>
                      <a:rPr lang="es-ES"/>
                      <m:t>) ⇔ </m:t>
                    </m:r>
                    <m:r>
                      <m:rPr>
                        <m:nor/>
                      </m:rPr>
                      <a:rPr lang="es-ES"/>
                      <m:t>Sibling</m:t>
                    </m:r>
                    <m:r>
                      <m:rPr>
                        <m:nor/>
                      </m:rPr>
                      <a:rPr lang="es-ES"/>
                      <m:t>(</m:t>
                    </m:r>
                    <m:r>
                      <m:rPr>
                        <m:nor/>
                      </m:rPr>
                      <a:rPr lang="es-ES"/>
                      <m:t>y</m:t>
                    </m:r>
                    <m:r>
                      <m:rPr>
                        <m:nor/>
                      </m:rPr>
                      <a:rPr lang="es-ES"/>
                      <m:t>,</m:t>
                    </m:r>
                    <m:r>
                      <m:rPr>
                        <m:nor/>
                      </m:rPr>
                      <a:rPr lang="es-ES"/>
                      <m:t>x</m:t>
                    </m:r>
                    <m:r>
                      <m:rPr>
                        <m:nor/>
                      </m:rPr>
                      <a:rPr lang="es-ES"/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Logically, KB should only contain axioms.</a:t>
                </a:r>
              </a:p>
              <a:p>
                <a:r>
                  <a:rPr lang="en-US" dirty="0"/>
                  <a:t>Practically, theorems are essential to reduce the computational cost.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C5540F-827D-9757-C720-03D2563C07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9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5E5ABD-7863-1111-C7F8-743C20FD4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08/10/2025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49A053-8F6E-E0FD-5454-2C2CE3C50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24122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10327-10CB-7DA9-E1F9-7855CE1D6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E2ACD8-4113-4DC2-18AF-50E5329E6A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 will see the theory of natural numbers or non-negative integers.</a:t>
                </a:r>
              </a:p>
              <a:p>
                <a:r>
                  <a:rPr lang="en-US" dirty="0"/>
                  <a:t>We need</a:t>
                </a:r>
              </a:p>
              <a:p>
                <a:pPr lvl="1"/>
                <a:r>
                  <a:rPr lang="en-US" dirty="0"/>
                  <a:t>A predicate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𝑁𝑎𝑡𝑁𝑢𝑚</m:t>
                    </m:r>
                  </m:oMath>
                </a14:m>
                <a:r>
                  <a:rPr lang="en-US" dirty="0"/>
                  <a:t> that will be true of all natural numbers.</a:t>
                </a:r>
              </a:p>
              <a:p>
                <a:pPr lvl="1"/>
                <a:r>
                  <a:rPr lang="en-US" dirty="0"/>
                  <a:t>A constant symbol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, 0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One function symbol,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𝑠𝑢𝑐𝑐𝑒𝑠𝑠𝑜𝑟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E2ACD8-4113-4DC2-18AF-50E5329E6A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73E51F-F4D6-3755-6523-729D9EBE5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08/10/2025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A9D0B2-4B4A-953D-000C-C37B8FBEF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7401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1F40A-6742-D86E-EB42-C59D9DDCB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3B3699-40ED-00CF-2AC5-62D3283DB1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Peano axioms define natural numbers and addition.</a:t>
                </a:r>
              </a:p>
              <a:p>
                <a:r>
                  <a:rPr lang="en-US" dirty="0"/>
                  <a:t>Natural numbers are defined recursively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𝑁𝑎𝑡𝑁𝑢𝑚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(0)</m:t>
                      </m:r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∀ 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𝑁𝑎𝑡𝑁𝑢𝑚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) ⇒ 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𝑁𝑎𝑡𝑁𝑢𝑚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pt-BR" dirty="0"/>
              </a:p>
              <a:p>
                <a:endParaRPr lang="pt-BR" dirty="0"/>
              </a:p>
              <a:p>
                <a:r>
                  <a:rPr lang="pt-BR" dirty="0"/>
                  <a:t>We also need axioms to constraint the successor function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∀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0≠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∀ 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 ⇒ 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pt-BR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3B3699-40ED-00CF-2AC5-62D3283DB1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9EA4D-2915-FED4-E0DA-C007AD14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08/10/2025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ECF230-B934-7C4E-95BC-4E0FCF5FA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89169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7CEC2-2915-2548-F79B-775A9DFC7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426D90-20F4-2A8E-BC47-26C36D4F1A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Let’s define addition now.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∀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𝑁𝑎𝑡𝑁𝑢𝑚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US" i="1" dirty="0">
                          <a:latin typeface="Cambria Math" panose="02040503050406030204" pitchFamily="18" charset="0"/>
                        </a:rPr>
                        <m:t>⇒ + 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US" i="1" dirty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Adding 0 to any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gives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itself.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∀ 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𝑁𝑎𝑡𝑁𝑢𝑚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) ∧ 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𝑁𝑎𝑡𝑁𝑢𝑚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) ⇒ + (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), 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(+(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pt-BR" dirty="0"/>
              </a:p>
              <a:p>
                <a:pPr lvl="1"/>
                <a:endParaRPr lang="pt-BR" dirty="0"/>
              </a:p>
              <a:p>
                <a:r>
                  <a:rPr lang="en-US" dirty="0"/>
                  <a:t>To make our sentences about numbers easier to read, we allow the use of infix notation. </a:t>
                </a:r>
              </a:p>
              <a:p>
                <a:r>
                  <a:rPr lang="en-US" dirty="0"/>
                  <a:t>We can also write S(n) as n + 1, so the second axiom becomes</a:t>
                </a:r>
              </a:p>
              <a:p>
                <a:pPr marL="457200" lvl="1" indent="0">
                  <a:buNone/>
                </a:pPr>
                <a:br>
                  <a:rPr lang="en-US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∀ 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𝑁𝑎𝑡𝑁𝑢𝑚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) ∧ 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𝑁𝑎𝑡𝑁𝑢𝑚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) ⇒ (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 + 1) + 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 = (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)+1 . </m:t>
                      </m:r>
                    </m:oMath>
                  </m:oMathPara>
                </a14:m>
                <a:endParaRPr lang="pt-BR" dirty="0"/>
              </a:p>
              <a:p>
                <a:endParaRPr lang="pt-BR" dirty="0"/>
              </a:p>
              <a:p>
                <a:r>
                  <a:rPr lang="pt-BR" dirty="0"/>
                  <a:t>We can define other operations from addition.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426D90-20F4-2A8E-BC47-26C36D4F1A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9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F87939-657E-39D8-5432-0D54A9421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08/10/2025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17B75F-7436-86F6-AD3C-BD2C650C8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95497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7DFA5-DD85-3B9B-96F2-FB8D2A60F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99CC13-917D-5870-4E4E-C333B66B41A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 use one unary predicate,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𝑆𝑒𝑡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The empty set is a constant written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{}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Binary predicates are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𝑚𝑒𝑚𝑏𝑒𝑟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(set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is a subset, not necessarily proper, of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</a:p>
              <a:p>
                <a:r>
                  <a:rPr lang="en-US" dirty="0"/>
                  <a:t>Binary functions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∩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(the intersection of two sets)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∪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(the union of two sets)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r>
                  <a:rPr lang="en-US" dirty="0"/>
                  <a:t>(the set resulting from adjoining element x to set s)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99CC13-917D-5870-4E4E-C333B66B41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C75AEE-D5FE-7DD0-461F-B19626295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08/10/2025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2D7B55-24D9-71DE-14AF-3F031763F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138654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89A2A-A8E9-2B74-85FA-59869E167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15BBB7-070A-65DE-2AA6-0259656619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Possible axioms</a:t>
                </a:r>
              </a:p>
              <a:p>
                <a:r>
                  <a:rPr lang="en-US" dirty="0"/>
                  <a:t>The only sets are the empty set and those made by adjoining something to a set: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∀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𝑆𝑒𝑡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) ⇔ 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= { }) ∨ (∃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𝑆𝑒𝑡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) ∧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= {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}) .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Adjoining an element already in the set has no effect: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∀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∈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⇔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= {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A set is a subset of another set if and only if all of the first set’s members are members of the second set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∀ 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⊆ 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⇔ (∀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∈ 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 ⇒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∈ 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15BBB7-070A-65DE-2AA6-0259656619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31350B-4BBA-6F3C-A99A-AF8CCB57A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08/10/2025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90695C-E86D-9F99-DDEE-ECB2891A1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88217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F76F2-7A47-AC19-0AA9-A251107FD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Wumpus World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AA6F92-908E-692D-2B2E-516264C0B7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dirty="0"/>
                  <a:t>The Wumpus agent receives a percept vector with five elements.</a:t>
                </a:r>
              </a:p>
              <a:p>
                <a:r>
                  <a:rPr lang="en-US" dirty="0"/>
                  <a:t>KB should contain both percept and time.</a:t>
                </a:r>
              </a:p>
              <a:p>
                <a:r>
                  <a:rPr lang="en-US" dirty="0"/>
                  <a:t>A typical percept sentence would be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𝑃𝑒𝑟𝑐𝑒𝑝𝑡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([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𝑆𝑡𝑒𝑛𝑐h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𝐵𝑟𝑒𝑒𝑧𝑒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𝐺𝑙𝑖𝑡𝑡𝑒𝑟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𝑁𝑜𝑛𝑒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𝑁𝑜𝑛𝑒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],5)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 actions in the Wumpus world can be represented by logical terms: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𝑇𝑢𝑟𝑛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𝑅𝑖𝑔h𝑡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),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𝑇𝑢𝑟𝑛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𝐿𝑒𝑓𝑡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),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𝐹𝑜𝑟𝑤𝑎𝑟𝑑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𝑆h𝑜𝑜𝑡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𝐺𝑟𝑎𝑏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𝐶𝑙𝑖𝑚𝑏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To determine which is best, the agent program executes the query </a:t>
                </a:r>
              </a:p>
              <a:p>
                <a:pPr marL="457200" lvl="1" indent="0">
                  <a:buNone/>
                </a:pPr>
                <a:br>
                  <a:rPr lang="en-US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𝐴𝑆𝐾𝑉𝐴𝑅𝑆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(∃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𝐵𝑒𝑠𝑡𝐴𝑐𝑡𝑖𝑜𝑛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,5))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AA6F92-908E-692D-2B2E-516264C0B7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10BC6-C99E-5C87-E9F6-578C67871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08/10/2025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ADDBAA-72B8-A6B9-94B2-E6A383C9D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246319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6AF3F-8C9F-F1A2-BE41-A100A9E69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Wumpus World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DCB3F6-D808-09E6-0E58-D709781147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raw percept data implies certain facts about the current state.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𝑃𝑒𝑟𝑐𝑒𝑝𝑡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([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𝐵𝑟𝑒𝑒𝑧𝑒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],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) ⇒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𝐵𝑟𝑒𝑒𝑧𝑒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𝑃𝑒𝑟𝑐𝑒𝑝𝑡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([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𝐺𝑙𝑖𝑡𝑡𝑒𝑟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],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) ⇒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𝐺𝑙𝑖𝑡𝑡𝑒𝑟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These rules exhibit a trivial form of the reasoning process called perception.</a:t>
                </a:r>
              </a:p>
              <a:p>
                <a:r>
                  <a:rPr lang="en-US" dirty="0"/>
                  <a:t>Simple “reflex” behavior can also be implemented by quantified implication sentences.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𝐺𝑙𝑖𝑡𝑡𝑒𝑟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) ⇒ 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𝐵𝑒𝑠𝑡𝐴𝑐𝑡𝑖𝑜𝑛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𝐺𝑟𝑎𝑏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DCB3F6-D808-09E6-0E58-D709781147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448A9-B81F-040B-AA1B-D9C0E4499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08/10/2025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F21FF5-E7DE-F510-C994-9DD9333BD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798178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F4AC7-3DA1-7EAD-6AC6-BD581F281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Wumpus World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430288-D411-2828-216A-B60ED000D4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7963" y="1825625"/>
                <a:ext cx="11380763" cy="4351338"/>
              </a:xfrm>
            </p:spPr>
            <p:txBody>
              <a:bodyPr/>
              <a:lstStyle/>
              <a:p>
                <a:r>
                  <a:rPr lang="en-US" dirty="0"/>
                  <a:t>Now it is time to represent the environment itself. </a:t>
                </a:r>
              </a:p>
              <a:p>
                <a:r>
                  <a:rPr lang="en-US" dirty="0"/>
                  <a:t>Adjacency of any two squares can be defined as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𝐴𝑑𝑗𝑎𝑐𝑒𝑛𝑡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dirty="0" err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 dirty="0" err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 dirty="0" err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dirty="0" err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i="1" dirty="0" err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 dirty="0" err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</m:d>
                      <m:r>
                        <a:rPr lang="en-US" i="1" dirty="0">
                          <a:latin typeface="Cambria Math" panose="02040503050406030204" pitchFamily="18" charset="0"/>
                        </a:rPr>
                        <m:t>⇔ 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∧(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−1∨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+1))∨(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∧(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−1∨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+1))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Use a unary predicate Pit that is true of squares containing pits.</a:t>
                </a:r>
              </a:p>
              <a:p>
                <a:r>
                  <a:rPr lang="en-US" dirty="0"/>
                  <a:t>Since there is exactly one </a:t>
                </a:r>
                <a:r>
                  <a:rPr lang="en-US" dirty="0" err="1"/>
                  <a:t>wumpus</a:t>
                </a:r>
                <a:r>
                  <a:rPr lang="en-US" dirty="0"/>
                  <a:t>, a constant Wumpus is just as good as a unary predicate.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430288-D411-2828-216A-B60ED000D4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7963" y="1825625"/>
                <a:ext cx="11380763" cy="4351338"/>
              </a:xfrm>
              <a:blipFill>
                <a:blip r:embed="rId2"/>
                <a:stretch>
                  <a:fillRect l="-964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DDD397-FB64-9BFB-80D4-F5CF65236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08/10/2025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97D337-7D32-C390-8D9C-C6AC1F38D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605192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0ADFC-B129-326C-B17A-C3F85653E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Wumpus World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1180F8-156C-AC06-4230-17C3198EBA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 write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𝐴𝑔𝑒𝑛𝑡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to mean that the agent is at square s at time t.</a:t>
                </a:r>
              </a:p>
              <a:p>
                <a:r>
                  <a:rPr lang="en-US" dirty="0"/>
                  <a:t>We can then say that objects can only be at one location at a time: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𝐴𝑡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) ∧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𝐴𝑡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) ⇒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1 =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2 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1180F8-156C-AC06-4230-17C3198EBA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696578-5315-8014-9C3B-60511A58E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08/10/2025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280E18-2791-1DD9-ACFB-37D6B124F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780774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66898-5192-798A-A874-FEDDA55DB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Wumpus World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618039-F919-D14A-B737-D3CE58DD01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The agent can infer properties of the square from properties of its current percept. </a:t>
                </a:r>
              </a:p>
              <a:p>
                <a:r>
                  <a:rPr lang="en-US" dirty="0"/>
                  <a:t>If the agent is at a square and perceives a breeze, then that square is breezy: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𝐴𝑡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𝐴𝑔𝑒𝑛𝑡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) ∧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𝐵𝑟𝑒𝑒𝑧𝑒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) ⇒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𝐵𝑟𝑒𝑒𝑧𝑦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Unlike propositional logic, </a:t>
                </a:r>
                <a:r>
                  <a:rPr lang="en-US" b="1" dirty="0"/>
                  <a:t>first-order logic needs only one axiom</a:t>
                </a:r>
                <a:r>
                  <a:rPr lang="en-US" dirty="0"/>
                  <a:t>, not a separate set for every square or geographical layout.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𝐵𝑟𝑒𝑒𝑧𝑦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) ⇔∃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𝐴𝑑𝑗𝑎𝑐𝑒𝑛𝑡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)∧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𝑃𝑖𝑡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618039-F919-D14A-B737-D3CE58DD01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CCD6F6-54CA-934C-7741-27931A6A8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08/10/2025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10D140-73AE-771A-E1ED-BDB6F6088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045062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5F778-883A-3B8C-AE47-D77762D97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Wumpus World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6F26D0-C752-AA80-8419-B76631A2CF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 can quantify over time, so we need just one successor-state axiom for each predicate </a:t>
                </a:r>
                <a:br>
                  <a:rPr lang="en-US" dirty="0"/>
                </a:br>
                <a:endParaRPr lang="en-US" dirty="0"/>
              </a:p>
              <a:p>
                <a:r>
                  <a:rPr lang="en-US" dirty="0"/>
                  <a:t>The axiom for the arrow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𝐻𝑎𝑣𝑒𝐴𝑟𝑟𝑜𝑤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+1) ⇔ (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𝐻𝑎𝑣𝑒𝐴𝑟𝑟𝑜𝑤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)∧¬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𝐴𝑐𝑡𝑖𝑜𝑛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𝑆h𝑜𝑜𝑡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)) 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6F26D0-C752-AA80-8419-B76631A2CF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17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8BB2E-B77E-6256-A5FF-4486E8982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08/10/2025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04CC6E-5C23-57F7-4BF4-6714A72E5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781074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D47B5-D25D-7CF8-4E10-BA43DFB5D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Knowledge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D7771-ADC4-AED9-A051-E4DE8AA4CD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general process of knowledge base construction is called knowledge engineering.</a:t>
            </a:r>
          </a:p>
          <a:p>
            <a:endParaRPr lang="en-US" dirty="0"/>
          </a:p>
          <a:p>
            <a:r>
              <a:rPr lang="en-US" dirty="0"/>
              <a:t>Consists of seven steps.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B9B3CB-A3B5-A9D0-096D-D4790B1C4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08/10/2025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20879C-CD65-9530-89FC-3711DD772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47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409923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BB1A8-5480-243D-E9CB-06F0E7D11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 the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18FF69-E33B-99E8-EAB1-51959898F1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Define scope</a:t>
            </a:r>
          </a:p>
          <a:p>
            <a:pPr lvl="1"/>
            <a:r>
              <a:rPr lang="en-US" dirty="0"/>
              <a:t>Delineate the range of questions the KB will answer and specify the facts needed for each problem.</a:t>
            </a:r>
          </a:p>
          <a:p>
            <a:pPr lvl="1"/>
            <a:r>
              <a:rPr lang="en-US" dirty="0"/>
              <a:t>Does the Wumpus knowledge base need to be able to choose actions or is it required to answer questions only about the contents of the environment?</a:t>
            </a:r>
          </a:p>
          <a:p>
            <a:pPr lvl="1"/>
            <a:r>
              <a:rPr lang="en-US" dirty="0"/>
              <a:t>Analogous to PEAS for agent design.</a:t>
            </a:r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9D984-A9BD-9146-52A8-14E6D794A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08/10/2025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F255F2-F58E-C6A9-A33E-F47F9D05F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48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84111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82946-D85E-DAD8-495D-9A2A04634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Assemble the Relevant Knowledge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F7FF4-69FF-0A56-5E71-9117FB1574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Knowledge Acquisition</a:t>
            </a:r>
          </a:p>
          <a:p>
            <a:pPr lvl="1"/>
            <a:r>
              <a:rPr lang="en-US" dirty="0"/>
              <a:t>Work with domain experts to extract their knowledge (if you aren't an expert).</a:t>
            </a:r>
          </a:p>
          <a:p>
            <a:pPr lvl="1"/>
            <a:r>
              <a:rPr lang="en-US" dirty="0"/>
              <a:t>For Wumpus world it was easy.</a:t>
            </a:r>
          </a:p>
          <a:p>
            <a:r>
              <a:rPr lang="en-US" dirty="0"/>
              <a:t>Non-formal stage</a:t>
            </a:r>
          </a:p>
          <a:p>
            <a:pPr lvl="1"/>
            <a:r>
              <a:rPr lang="en-US" dirty="0"/>
              <a:t>Focus on understanding the scope and how the domain works.</a:t>
            </a:r>
          </a:p>
          <a:p>
            <a:r>
              <a:rPr lang="en-US" dirty="0"/>
              <a:t>Relevance Check</a:t>
            </a:r>
          </a:p>
          <a:p>
            <a:pPr lvl="1"/>
            <a:r>
              <a:rPr lang="en-US" dirty="0"/>
              <a:t>Determine which facts are truly necessary for the task (e.g., </a:t>
            </a:r>
            <a:r>
              <a:rPr lang="en-US" i="1" dirty="0"/>
              <a:t>Is stray capacitance relevant for VLSI simulation?</a:t>
            </a:r>
            <a:r>
              <a:rPr lang="en-US" dirty="0"/>
              <a:t>).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B622E0-5522-6FB2-4C08-D5F89A40A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08/10/2025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4076CE-0EAF-A59E-9AE0-5E94D4C40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49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238576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35CE7-E78A-FACC-D3BE-7F5B70276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Decide on a Vocabulary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CB4ED9-F85D-285F-FD88-EA809AD6FF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Translate Concepts</a:t>
            </a:r>
          </a:p>
          <a:p>
            <a:pPr lvl="1"/>
            <a:r>
              <a:rPr lang="en-US" dirty="0"/>
              <a:t>Convert important domain concepts into formal logic names (predicates, functions, constants).</a:t>
            </a:r>
          </a:p>
          <a:p>
            <a:r>
              <a:rPr lang="en-US" dirty="0"/>
              <a:t>Ontology</a:t>
            </a:r>
          </a:p>
          <a:p>
            <a:pPr lvl="1"/>
            <a:r>
              <a:rPr lang="en-US" dirty="0"/>
              <a:t>The resulting vocabulary/theory that defines </a:t>
            </a:r>
            <a:r>
              <a:rPr lang="en-US" i="1" dirty="0"/>
              <a:t>what kinds of things exist</a:t>
            </a:r>
            <a:r>
              <a:rPr lang="en-US" dirty="0"/>
              <a:t> in the domain.</a:t>
            </a:r>
          </a:p>
          <a:p>
            <a:pPr lvl="2"/>
            <a:r>
              <a:rPr lang="en-US" i="1" dirty="0"/>
              <a:t>Are pits objects or a predicate on squares?</a:t>
            </a:r>
          </a:p>
          <a:p>
            <a:pPr lvl="2"/>
            <a:r>
              <a:rPr lang="en-US" i="1" dirty="0"/>
              <a:t>Agent’s orientation is a function or a predicate.</a:t>
            </a:r>
            <a:endParaRPr lang="en-US" dirty="0"/>
          </a:p>
          <a:p>
            <a:r>
              <a:rPr lang="en-US" dirty="0"/>
              <a:t>Style is Key</a:t>
            </a:r>
          </a:p>
          <a:p>
            <a:pPr lvl="1"/>
            <a:r>
              <a:rPr lang="en-US" dirty="0"/>
              <a:t>Poor vocabulary choices can negatively impact project success.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329963-7468-B678-2DA9-917A02FE7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08/10/2025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E4FD65-A13F-7696-5DB5-669687CFF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50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395085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68026-FA31-577F-E123-16BC4552F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Encode General Knowledge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462B35-30C7-1240-4CCC-85FE86B53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Writes down the axioms for all the vocabulary terms.</a:t>
            </a:r>
          </a:p>
          <a:p>
            <a:r>
              <a:rPr lang="en-US" dirty="0"/>
              <a:t>Define Terms</a:t>
            </a:r>
          </a:p>
          <a:p>
            <a:pPr lvl="1"/>
            <a:r>
              <a:rPr lang="en-US" dirty="0"/>
              <a:t>Write axioms to pin down the meaning and interrelationships of the vocabulary terms.</a:t>
            </a:r>
          </a:p>
          <a:p>
            <a:r>
              <a:rPr lang="en-US" dirty="0"/>
              <a:t>Iterative Process</a:t>
            </a:r>
          </a:p>
          <a:p>
            <a:pPr lvl="1"/>
            <a:r>
              <a:rPr lang="en-US" dirty="0"/>
              <a:t>This step often reveals gaps or misconceptions in the vocabulary, requiring a return to Step 3.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5FD0EA-32BB-38F2-A7D0-E98D3D9D9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08/10/2025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12CD25-7896-923C-7616-F03F75936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51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830022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845EF-6ED4-FE77-811F-D8B58993F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Encode Specific Problem Instance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C6767A-E002-5C3A-0781-548EFA3A1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Input Data</a:t>
            </a:r>
          </a:p>
          <a:p>
            <a:pPr lvl="1"/>
            <a:r>
              <a:rPr lang="en-US" dirty="0"/>
              <a:t>Write simple atomic sentences describing the specific situation or problem.</a:t>
            </a:r>
          </a:p>
          <a:p>
            <a:r>
              <a:rPr lang="en-US" dirty="0"/>
              <a:t>For Agents</a:t>
            </a:r>
          </a:p>
          <a:p>
            <a:pPr lvl="1"/>
            <a:r>
              <a:rPr lang="en-US" dirty="0"/>
              <a:t>Input comes from sensors.</a:t>
            </a:r>
          </a:p>
          <a:p>
            <a:r>
              <a:rPr lang="en-US" dirty="0"/>
              <a:t>For KB</a:t>
            </a:r>
          </a:p>
          <a:p>
            <a:pPr lvl="1"/>
            <a:r>
              <a:rPr lang="en-US" dirty="0"/>
              <a:t>Input is supplied as facts/sentences (like input data for a traditional program).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49E1F-C011-11FB-86A5-E017D2547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08/10/2025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6EC9F3-0A1F-DFB7-65F3-B513298A5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52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849133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CECA6-54A0-523D-E71C-7F16F583E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Pose Queries and Get Answers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DB1CC-4652-CA6E-C123-4878CC8133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Inference at Work</a:t>
            </a:r>
          </a:p>
          <a:p>
            <a:pPr lvl="1"/>
            <a:r>
              <a:rPr lang="en-US" dirty="0"/>
              <a:t>Use the inference procedure to operate on the axioms and problem-specific facts to derive the desired answers.</a:t>
            </a:r>
          </a:p>
          <a:p>
            <a:r>
              <a:rPr lang="en-US" dirty="0"/>
              <a:t>Key Benefit</a:t>
            </a:r>
          </a:p>
          <a:p>
            <a:pPr lvl="1"/>
            <a:r>
              <a:rPr lang="en-US" dirty="0"/>
              <a:t>Avoids the need to write an application-specific solution algorithm.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B5B39-3841-7115-0E87-2BCDD6AC2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08/10/2025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EB1F34-0A8B-43D8-3551-84FBFAC52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53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586677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3CD60-6ED3-6DE9-F64B-766F30FF7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Debug the Knowledge 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5367A-7277-03E9-9557-F146FBF33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Refinement</a:t>
            </a:r>
          </a:p>
          <a:p>
            <a:pPr lvl="1"/>
            <a:r>
              <a:rPr lang="en-US" dirty="0"/>
              <a:t>Rarely correct on the first try; answers are correct for the KB but may not be what the user expects.</a:t>
            </a:r>
          </a:p>
          <a:p>
            <a:r>
              <a:rPr lang="en-US" dirty="0"/>
              <a:t>Identify Errors</a:t>
            </a:r>
          </a:p>
          <a:p>
            <a:pPr lvl="1"/>
            <a:r>
              <a:rPr lang="en-US" dirty="0"/>
              <a:t>Missing/Weak Axioms</a:t>
            </a:r>
          </a:p>
          <a:p>
            <a:pPr lvl="2"/>
            <a:r>
              <a:rPr lang="en-US" dirty="0"/>
              <a:t>Reasoning stops unexpectedly (e.g., using a simple conditional (⇒) instead of a biconditional (⟺)).</a:t>
            </a:r>
          </a:p>
          <a:p>
            <a:pPr lvl="1"/>
            <a:r>
              <a:rPr lang="en-US" dirty="0"/>
              <a:t>Incorrect Axioms</a:t>
            </a:r>
          </a:p>
          <a:p>
            <a:pPr lvl="3"/>
            <a:r>
              <a:rPr lang="en-US" dirty="0"/>
              <a:t>False statements about the world, independently of the rest of the KB (e.g., </a:t>
            </a:r>
            <a:r>
              <a:rPr lang="en-US" i="1" dirty="0"/>
              <a:t>All things with 4 legs are mammals</a:t>
            </a:r>
            <a:r>
              <a:rPr lang="en-US" dirty="0"/>
              <a:t>).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2CF7EA-67F4-E62B-5D91-0B70A2399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08/10/2025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A82473-7F7D-1FD0-D170-DE6D48118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54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788901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129C1-AA15-8534-2978-35CA09746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Electronic Circuit Domain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0BBF6-BA94-7AE5-1D3E-40A019205F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Self Study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A1B582-282F-3091-FE6F-573AC726F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08/10/2025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0534B0-CDAB-FD25-77FC-6B0E24597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55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916126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D03DB25-A0AA-7E31-5F05-FD39966E2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Thank You.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EF83CD-A9DC-2B8C-8029-E3DBCD8D4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08/10/2025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39D0B7-D368-E579-C82B-DEA941337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56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6865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6004</TotalTime>
  <Words>3190</Words>
  <Application>Microsoft Office PowerPoint</Application>
  <PresentationFormat>Widescreen</PresentationFormat>
  <Paragraphs>463</Paragraphs>
  <Slides>56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1" baseType="lpstr">
      <vt:lpstr>Aptos</vt:lpstr>
      <vt:lpstr>Arial</vt:lpstr>
      <vt:lpstr>Cambria Math</vt:lpstr>
      <vt:lpstr>Verdana</vt:lpstr>
      <vt:lpstr>Office Theme</vt:lpstr>
      <vt:lpstr>First Order Logic</vt:lpstr>
      <vt:lpstr>Properties of Good Representation Languages</vt:lpstr>
      <vt:lpstr>Representation Revisited</vt:lpstr>
      <vt:lpstr>Representation Revisited</vt:lpstr>
      <vt:lpstr>Representation Revisited</vt:lpstr>
      <vt:lpstr>Combining Best of Both Worlds</vt:lpstr>
      <vt:lpstr>FOL Example</vt:lpstr>
      <vt:lpstr>Why FOL Matters</vt:lpstr>
      <vt:lpstr>Models in Logic</vt:lpstr>
      <vt:lpstr>FOL Model Example</vt:lpstr>
      <vt:lpstr>FOL Model Example</vt:lpstr>
      <vt:lpstr>FOL Model Example</vt:lpstr>
      <vt:lpstr>Linking Vocabulary to Model</vt:lpstr>
      <vt:lpstr>Symbols in FOL</vt:lpstr>
      <vt:lpstr>Interpretation</vt:lpstr>
      <vt:lpstr>Sentences in FOL</vt:lpstr>
      <vt:lpstr>Grammar of FOL</vt:lpstr>
      <vt:lpstr>Terms</vt:lpstr>
      <vt:lpstr>Semantics of Terms</vt:lpstr>
      <vt:lpstr>Atomic Sentences</vt:lpstr>
      <vt:lpstr>Complex Sentences</vt:lpstr>
      <vt:lpstr>Quantifiers</vt:lpstr>
      <vt:lpstr>Universal Quantification</vt:lpstr>
      <vt:lpstr>Existential Quantification</vt:lpstr>
      <vt:lpstr>Nested Quantifiers</vt:lpstr>
      <vt:lpstr>Connections Between ∀ and ∃</vt:lpstr>
      <vt:lpstr>Equality</vt:lpstr>
      <vt:lpstr>Limits of Standard Semantics</vt:lpstr>
      <vt:lpstr>Alternative: Database Semantics</vt:lpstr>
      <vt:lpstr>Using FOL</vt:lpstr>
      <vt:lpstr>Using FOL</vt:lpstr>
      <vt:lpstr>The kinship Domain</vt:lpstr>
      <vt:lpstr>The kinship Domain</vt:lpstr>
      <vt:lpstr>The kinship Domain</vt:lpstr>
      <vt:lpstr>The kinship Domain</vt:lpstr>
      <vt:lpstr>Numbers</vt:lpstr>
      <vt:lpstr>Numbers</vt:lpstr>
      <vt:lpstr>Numbers</vt:lpstr>
      <vt:lpstr>Sets</vt:lpstr>
      <vt:lpstr>Sets</vt:lpstr>
      <vt:lpstr>The Wumpus World</vt:lpstr>
      <vt:lpstr>The Wumpus World</vt:lpstr>
      <vt:lpstr>The Wumpus World</vt:lpstr>
      <vt:lpstr>The Wumpus World</vt:lpstr>
      <vt:lpstr>The Wumpus World</vt:lpstr>
      <vt:lpstr>The Wumpus World</vt:lpstr>
      <vt:lpstr>Knowledge Engineering</vt:lpstr>
      <vt:lpstr>Identify the task</vt:lpstr>
      <vt:lpstr>Assemble the Relevant Knowledge</vt:lpstr>
      <vt:lpstr>Decide on a Vocabulary</vt:lpstr>
      <vt:lpstr>Encode General Knowledge</vt:lpstr>
      <vt:lpstr>Encode Specific Problem Instance</vt:lpstr>
      <vt:lpstr>Pose Queries and Get Answers</vt:lpstr>
      <vt:lpstr>Debug the Knowledge Base</vt:lpstr>
      <vt:lpstr>The Electronic Circuit Domain</vt:lpstr>
      <vt:lpstr>Thank You.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 Mehrab Hossain Opi</dc:creator>
  <cp:lastModifiedBy>Md Mehrab Hossain Opi</cp:lastModifiedBy>
  <cp:revision>152</cp:revision>
  <dcterms:created xsi:type="dcterms:W3CDTF">2025-07-29T06:51:35Z</dcterms:created>
  <dcterms:modified xsi:type="dcterms:W3CDTF">2025-10-08T05:28:31Z</dcterms:modified>
</cp:coreProperties>
</file>