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308" r:id="rId3"/>
    <p:sldId id="331" r:id="rId4"/>
    <p:sldId id="332" r:id="rId5"/>
    <p:sldId id="333" r:id="rId6"/>
    <p:sldId id="352" r:id="rId7"/>
    <p:sldId id="334" r:id="rId8"/>
    <p:sldId id="335" r:id="rId9"/>
    <p:sldId id="336" r:id="rId10"/>
    <p:sldId id="353" r:id="rId11"/>
    <p:sldId id="354" r:id="rId12"/>
    <p:sldId id="355" r:id="rId13"/>
    <p:sldId id="356" r:id="rId14"/>
    <p:sldId id="337" r:id="rId15"/>
    <p:sldId id="338" r:id="rId16"/>
    <p:sldId id="339" r:id="rId17"/>
    <p:sldId id="341" r:id="rId18"/>
    <p:sldId id="340" r:id="rId19"/>
    <p:sldId id="342" r:id="rId20"/>
    <p:sldId id="343" r:id="rId21"/>
    <p:sldId id="357" r:id="rId22"/>
    <p:sldId id="358" r:id="rId23"/>
    <p:sldId id="359" r:id="rId24"/>
    <p:sldId id="360" r:id="rId25"/>
    <p:sldId id="361" r:id="rId26"/>
    <p:sldId id="362" r:id="rId27"/>
    <p:sldId id="363" r:id="rId28"/>
    <p:sldId id="364" r:id="rId29"/>
    <p:sldId id="365" r:id="rId30"/>
    <p:sldId id="366" r:id="rId31"/>
    <p:sldId id="367" r:id="rId32"/>
    <p:sldId id="368" r:id="rId33"/>
    <p:sldId id="369" r:id="rId34"/>
    <p:sldId id="370" r:id="rId35"/>
    <p:sldId id="371" r:id="rId36"/>
    <p:sldId id="372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EB314B-7EAC-4F02-B2F7-56698ECFD4EE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26CE54-0F6A-46A6-8597-A6CCFBA9F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1693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3F577-7B9C-892D-9964-9929FF526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8EA8C3-2AA8-921F-2DEB-872AE59F0F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FEC2A-AA40-72AE-0C2A-2D45907F5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A3ECC-5CAF-4F14-A242-B702E2784D37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73F04-680A-E525-59CE-1C9188886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663BB-9188-96BC-E6BC-7E236F67D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7635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D363D-921B-1FE5-D959-28ED8C7F8CE5}"/>
              </a:ext>
            </a:extLst>
          </p:cNvPr>
          <p:cNvSpPr>
            <a:spLocks noGrp="1"/>
          </p:cNvSpPr>
          <p:nvPr>
            <p:ph type="title"/>
          </p:nvPr>
        </p:nvSpPr>
        <p:spPr>
          <a:custGeom>
            <a:avLst/>
            <a:gdLst>
              <a:gd name="connsiteX0" fmla="*/ 0 w 10515600"/>
              <a:gd name="connsiteY0" fmla="*/ 0 h 1325563"/>
              <a:gd name="connsiteX1" fmla="*/ 689356 w 10515600"/>
              <a:gd name="connsiteY1" fmla="*/ 0 h 1325563"/>
              <a:gd name="connsiteX2" fmla="*/ 1168400 w 10515600"/>
              <a:gd name="connsiteY2" fmla="*/ 0 h 1325563"/>
              <a:gd name="connsiteX3" fmla="*/ 1647444 w 10515600"/>
              <a:gd name="connsiteY3" fmla="*/ 0 h 1325563"/>
              <a:gd name="connsiteX4" fmla="*/ 2126488 w 10515600"/>
              <a:gd name="connsiteY4" fmla="*/ 0 h 1325563"/>
              <a:gd name="connsiteX5" fmla="*/ 2710688 w 10515600"/>
              <a:gd name="connsiteY5" fmla="*/ 0 h 1325563"/>
              <a:gd name="connsiteX6" fmla="*/ 3084576 w 10515600"/>
              <a:gd name="connsiteY6" fmla="*/ 0 h 1325563"/>
              <a:gd name="connsiteX7" fmla="*/ 3668776 w 10515600"/>
              <a:gd name="connsiteY7" fmla="*/ 0 h 1325563"/>
              <a:gd name="connsiteX8" fmla="*/ 4042664 w 10515600"/>
              <a:gd name="connsiteY8" fmla="*/ 0 h 1325563"/>
              <a:gd name="connsiteX9" fmla="*/ 4626864 w 10515600"/>
              <a:gd name="connsiteY9" fmla="*/ 0 h 1325563"/>
              <a:gd name="connsiteX10" fmla="*/ 5000752 w 10515600"/>
              <a:gd name="connsiteY10" fmla="*/ 0 h 1325563"/>
              <a:gd name="connsiteX11" fmla="*/ 5479796 w 10515600"/>
              <a:gd name="connsiteY11" fmla="*/ 0 h 1325563"/>
              <a:gd name="connsiteX12" fmla="*/ 6274308 w 10515600"/>
              <a:gd name="connsiteY12" fmla="*/ 0 h 1325563"/>
              <a:gd name="connsiteX13" fmla="*/ 6543040 w 10515600"/>
              <a:gd name="connsiteY13" fmla="*/ 0 h 1325563"/>
              <a:gd name="connsiteX14" fmla="*/ 7127240 w 10515600"/>
              <a:gd name="connsiteY14" fmla="*/ 0 h 1325563"/>
              <a:gd name="connsiteX15" fmla="*/ 7921752 w 10515600"/>
              <a:gd name="connsiteY15" fmla="*/ 0 h 1325563"/>
              <a:gd name="connsiteX16" fmla="*/ 8611108 w 10515600"/>
              <a:gd name="connsiteY16" fmla="*/ 0 h 1325563"/>
              <a:gd name="connsiteX17" fmla="*/ 9300464 w 10515600"/>
              <a:gd name="connsiteY17" fmla="*/ 0 h 1325563"/>
              <a:gd name="connsiteX18" fmla="*/ 9779508 w 10515600"/>
              <a:gd name="connsiteY18" fmla="*/ 0 h 1325563"/>
              <a:gd name="connsiteX19" fmla="*/ 10515600 w 10515600"/>
              <a:gd name="connsiteY19" fmla="*/ 0 h 1325563"/>
              <a:gd name="connsiteX20" fmla="*/ 10515600 w 10515600"/>
              <a:gd name="connsiteY20" fmla="*/ 455110 h 1325563"/>
              <a:gd name="connsiteX21" fmla="*/ 10515600 w 10515600"/>
              <a:gd name="connsiteY21" fmla="*/ 870453 h 1325563"/>
              <a:gd name="connsiteX22" fmla="*/ 10515600 w 10515600"/>
              <a:gd name="connsiteY22" fmla="*/ 1325563 h 1325563"/>
              <a:gd name="connsiteX23" fmla="*/ 10036556 w 10515600"/>
              <a:gd name="connsiteY23" fmla="*/ 1325563 h 1325563"/>
              <a:gd name="connsiteX24" fmla="*/ 9452356 w 10515600"/>
              <a:gd name="connsiteY24" fmla="*/ 1325563 h 1325563"/>
              <a:gd name="connsiteX25" fmla="*/ 8657844 w 10515600"/>
              <a:gd name="connsiteY25" fmla="*/ 1325563 h 1325563"/>
              <a:gd name="connsiteX26" fmla="*/ 8389112 w 10515600"/>
              <a:gd name="connsiteY26" fmla="*/ 1325563 h 1325563"/>
              <a:gd name="connsiteX27" fmla="*/ 8015224 w 10515600"/>
              <a:gd name="connsiteY27" fmla="*/ 1325563 h 1325563"/>
              <a:gd name="connsiteX28" fmla="*/ 7746492 w 10515600"/>
              <a:gd name="connsiteY28" fmla="*/ 1325563 h 1325563"/>
              <a:gd name="connsiteX29" fmla="*/ 7057136 w 10515600"/>
              <a:gd name="connsiteY29" fmla="*/ 1325563 h 1325563"/>
              <a:gd name="connsiteX30" fmla="*/ 6788404 w 10515600"/>
              <a:gd name="connsiteY30" fmla="*/ 1325563 h 1325563"/>
              <a:gd name="connsiteX31" fmla="*/ 6099048 w 10515600"/>
              <a:gd name="connsiteY31" fmla="*/ 1325563 h 1325563"/>
              <a:gd name="connsiteX32" fmla="*/ 5304536 w 10515600"/>
              <a:gd name="connsiteY32" fmla="*/ 1325563 h 1325563"/>
              <a:gd name="connsiteX33" fmla="*/ 5035804 w 10515600"/>
              <a:gd name="connsiteY33" fmla="*/ 1325563 h 1325563"/>
              <a:gd name="connsiteX34" fmla="*/ 4451604 w 10515600"/>
              <a:gd name="connsiteY34" fmla="*/ 1325563 h 1325563"/>
              <a:gd name="connsiteX35" fmla="*/ 3972560 w 10515600"/>
              <a:gd name="connsiteY35" fmla="*/ 1325563 h 1325563"/>
              <a:gd name="connsiteX36" fmla="*/ 3388360 w 10515600"/>
              <a:gd name="connsiteY36" fmla="*/ 1325563 h 1325563"/>
              <a:gd name="connsiteX37" fmla="*/ 2804160 w 10515600"/>
              <a:gd name="connsiteY37" fmla="*/ 1325563 h 1325563"/>
              <a:gd name="connsiteX38" fmla="*/ 2325116 w 10515600"/>
              <a:gd name="connsiteY38" fmla="*/ 1325563 h 1325563"/>
              <a:gd name="connsiteX39" fmla="*/ 1530604 w 10515600"/>
              <a:gd name="connsiteY39" fmla="*/ 1325563 h 1325563"/>
              <a:gd name="connsiteX40" fmla="*/ 1261872 w 10515600"/>
              <a:gd name="connsiteY40" fmla="*/ 1325563 h 1325563"/>
              <a:gd name="connsiteX41" fmla="*/ 572516 w 10515600"/>
              <a:gd name="connsiteY41" fmla="*/ 1325563 h 1325563"/>
              <a:gd name="connsiteX42" fmla="*/ 0 w 10515600"/>
              <a:gd name="connsiteY42" fmla="*/ 1325563 h 1325563"/>
              <a:gd name="connsiteX43" fmla="*/ 0 w 10515600"/>
              <a:gd name="connsiteY43" fmla="*/ 857197 h 1325563"/>
              <a:gd name="connsiteX44" fmla="*/ 0 w 10515600"/>
              <a:gd name="connsiteY44" fmla="*/ 441854 h 1325563"/>
              <a:gd name="connsiteX45" fmla="*/ 0 w 10515600"/>
              <a:gd name="connsiteY45" fmla="*/ 0 h 1325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515600" h="1325563" fill="none" extrusionOk="0">
                <a:moveTo>
                  <a:pt x="0" y="0"/>
                </a:moveTo>
                <a:cubicBezTo>
                  <a:pt x="253838" y="-18819"/>
                  <a:pt x="351414" y="62000"/>
                  <a:pt x="689356" y="0"/>
                </a:cubicBezTo>
                <a:cubicBezTo>
                  <a:pt x="1027298" y="-62000"/>
                  <a:pt x="1020961" y="21931"/>
                  <a:pt x="1168400" y="0"/>
                </a:cubicBezTo>
                <a:cubicBezTo>
                  <a:pt x="1315839" y="-21931"/>
                  <a:pt x="1474707" y="29733"/>
                  <a:pt x="1647444" y="0"/>
                </a:cubicBezTo>
                <a:cubicBezTo>
                  <a:pt x="1820181" y="-29733"/>
                  <a:pt x="1905353" y="35773"/>
                  <a:pt x="2126488" y="0"/>
                </a:cubicBezTo>
                <a:cubicBezTo>
                  <a:pt x="2347623" y="-35773"/>
                  <a:pt x="2474840" y="26931"/>
                  <a:pt x="2710688" y="0"/>
                </a:cubicBezTo>
                <a:cubicBezTo>
                  <a:pt x="2946536" y="-26931"/>
                  <a:pt x="2901208" y="25700"/>
                  <a:pt x="3084576" y="0"/>
                </a:cubicBezTo>
                <a:cubicBezTo>
                  <a:pt x="3267944" y="-25700"/>
                  <a:pt x="3504545" y="40785"/>
                  <a:pt x="3668776" y="0"/>
                </a:cubicBezTo>
                <a:cubicBezTo>
                  <a:pt x="3833007" y="-40785"/>
                  <a:pt x="3895124" y="1762"/>
                  <a:pt x="4042664" y="0"/>
                </a:cubicBezTo>
                <a:cubicBezTo>
                  <a:pt x="4190204" y="-1762"/>
                  <a:pt x="4477573" y="6051"/>
                  <a:pt x="4626864" y="0"/>
                </a:cubicBezTo>
                <a:cubicBezTo>
                  <a:pt x="4776155" y="-6051"/>
                  <a:pt x="4876670" y="35233"/>
                  <a:pt x="5000752" y="0"/>
                </a:cubicBezTo>
                <a:cubicBezTo>
                  <a:pt x="5124834" y="-35233"/>
                  <a:pt x="5320007" y="6376"/>
                  <a:pt x="5479796" y="0"/>
                </a:cubicBezTo>
                <a:cubicBezTo>
                  <a:pt x="5639585" y="-6376"/>
                  <a:pt x="5987388" y="89120"/>
                  <a:pt x="6274308" y="0"/>
                </a:cubicBezTo>
                <a:cubicBezTo>
                  <a:pt x="6561228" y="-89120"/>
                  <a:pt x="6469549" y="14711"/>
                  <a:pt x="6543040" y="0"/>
                </a:cubicBezTo>
                <a:cubicBezTo>
                  <a:pt x="6616531" y="-14711"/>
                  <a:pt x="6880894" y="24867"/>
                  <a:pt x="7127240" y="0"/>
                </a:cubicBezTo>
                <a:cubicBezTo>
                  <a:pt x="7373586" y="-24867"/>
                  <a:pt x="7703353" y="29232"/>
                  <a:pt x="7921752" y="0"/>
                </a:cubicBezTo>
                <a:cubicBezTo>
                  <a:pt x="8140151" y="-29232"/>
                  <a:pt x="8436992" y="15020"/>
                  <a:pt x="8611108" y="0"/>
                </a:cubicBezTo>
                <a:cubicBezTo>
                  <a:pt x="8785224" y="-15020"/>
                  <a:pt x="9086613" y="81581"/>
                  <a:pt x="9300464" y="0"/>
                </a:cubicBezTo>
                <a:cubicBezTo>
                  <a:pt x="9514315" y="-81581"/>
                  <a:pt x="9623261" y="50401"/>
                  <a:pt x="9779508" y="0"/>
                </a:cubicBezTo>
                <a:cubicBezTo>
                  <a:pt x="9935755" y="-50401"/>
                  <a:pt x="10305332" y="31654"/>
                  <a:pt x="10515600" y="0"/>
                </a:cubicBezTo>
                <a:cubicBezTo>
                  <a:pt x="10546853" y="191382"/>
                  <a:pt x="10469454" y="308968"/>
                  <a:pt x="10515600" y="455110"/>
                </a:cubicBezTo>
                <a:cubicBezTo>
                  <a:pt x="10561746" y="601252"/>
                  <a:pt x="10509168" y="742830"/>
                  <a:pt x="10515600" y="870453"/>
                </a:cubicBezTo>
                <a:cubicBezTo>
                  <a:pt x="10522032" y="998076"/>
                  <a:pt x="10471646" y="1208229"/>
                  <a:pt x="10515600" y="1325563"/>
                </a:cubicBezTo>
                <a:cubicBezTo>
                  <a:pt x="10314459" y="1339219"/>
                  <a:pt x="10239166" y="1311799"/>
                  <a:pt x="10036556" y="1325563"/>
                </a:cubicBezTo>
                <a:cubicBezTo>
                  <a:pt x="9833946" y="1339327"/>
                  <a:pt x="9709123" y="1307965"/>
                  <a:pt x="9452356" y="1325563"/>
                </a:cubicBezTo>
                <a:cubicBezTo>
                  <a:pt x="9195589" y="1343161"/>
                  <a:pt x="8994962" y="1306787"/>
                  <a:pt x="8657844" y="1325563"/>
                </a:cubicBezTo>
                <a:cubicBezTo>
                  <a:pt x="8320726" y="1344339"/>
                  <a:pt x="8518055" y="1302532"/>
                  <a:pt x="8389112" y="1325563"/>
                </a:cubicBezTo>
                <a:cubicBezTo>
                  <a:pt x="8260169" y="1348594"/>
                  <a:pt x="8193007" y="1316196"/>
                  <a:pt x="8015224" y="1325563"/>
                </a:cubicBezTo>
                <a:cubicBezTo>
                  <a:pt x="7837441" y="1334930"/>
                  <a:pt x="7849788" y="1324348"/>
                  <a:pt x="7746492" y="1325563"/>
                </a:cubicBezTo>
                <a:cubicBezTo>
                  <a:pt x="7643196" y="1326778"/>
                  <a:pt x="7232373" y="1285719"/>
                  <a:pt x="7057136" y="1325563"/>
                </a:cubicBezTo>
                <a:cubicBezTo>
                  <a:pt x="6881899" y="1365407"/>
                  <a:pt x="6919216" y="1307755"/>
                  <a:pt x="6788404" y="1325563"/>
                </a:cubicBezTo>
                <a:cubicBezTo>
                  <a:pt x="6657592" y="1343371"/>
                  <a:pt x="6278085" y="1271576"/>
                  <a:pt x="6099048" y="1325563"/>
                </a:cubicBezTo>
                <a:cubicBezTo>
                  <a:pt x="5920011" y="1379550"/>
                  <a:pt x="5508657" y="1311185"/>
                  <a:pt x="5304536" y="1325563"/>
                </a:cubicBezTo>
                <a:cubicBezTo>
                  <a:pt x="5100415" y="1339941"/>
                  <a:pt x="5108664" y="1325272"/>
                  <a:pt x="5035804" y="1325563"/>
                </a:cubicBezTo>
                <a:cubicBezTo>
                  <a:pt x="4962944" y="1325854"/>
                  <a:pt x="4711907" y="1259348"/>
                  <a:pt x="4451604" y="1325563"/>
                </a:cubicBezTo>
                <a:cubicBezTo>
                  <a:pt x="4191301" y="1391778"/>
                  <a:pt x="4112922" y="1274610"/>
                  <a:pt x="3972560" y="1325563"/>
                </a:cubicBezTo>
                <a:cubicBezTo>
                  <a:pt x="3832198" y="1376516"/>
                  <a:pt x="3671072" y="1290382"/>
                  <a:pt x="3388360" y="1325563"/>
                </a:cubicBezTo>
                <a:cubicBezTo>
                  <a:pt x="3105648" y="1360744"/>
                  <a:pt x="2958255" y="1258146"/>
                  <a:pt x="2804160" y="1325563"/>
                </a:cubicBezTo>
                <a:cubicBezTo>
                  <a:pt x="2650065" y="1392980"/>
                  <a:pt x="2499275" y="1316491"/>
                  <a:pt x="2325116" y="1325563"/>
                </a:cubicBezTo>
                <a:cubicBezTo>
                  <a:pt x="2150957" y="1334635"/>
                  <a:pt x="1851726" y="1245043"/>
                  <a:pt x="1530604" y="1325563"/>
                </a:cubicBezTo>
                <a:cubicBezTo>
                  <a:pt x="1209482" y="1406083"/>
                  <a:pt x="1376466" y="1302836"/>
                  <a:pt x="1261872" y="1325563"/>
                </a:cubicBezTo>
                <a:cubicBezTo>
                  <a:pt x="1147278" y="1348290"/>
                  <a:pt x="909434" y="1251726"/>
                  <a:pt x="572516" y="1325563"/>
                </a:cubicBezTo>
                <a:cubicBezTo>
                  <a:pt x="235598" y="1399400"/>
                  <a:pt x="227600" y="1323263"/>
                  <a:pt x="0" y="1325563"/>
                </a:cubicBezTo>
                <a:cubicBezTo>
                  <a:pt x="-836" y="1164828"/>
                  <a:pt x="53582" y="1051078"/>
                  <a:pt x="0" y="857197"/>
                </a:cubicBezTo>
                <a:cubicBezTo>
                  <a:pt x="-53582" y="663316"/>
                  <a:pt x="48368" y="606188"/>
                  <a:pt x="0" y="441854"/>
                </a:cubicBezTo>
                <a:cubicBezTo>
                  <a:pt x="-48368" y="277520"/>
                  <a:pt x="14050" y="146763"/>
                  <a:pt x="0" y="0"/>
                </a:cubicBezTo>
                <a:close/>
              </a:path>
              <a:path w="10515600" h="1325563" stroke="0" extrusionOk="0">
                <a:moveTo>
                  <a:pt x="0" y="0"/>
                </a:moveTo>
                <a:cubicBezTo>
                  <a:pt x="92178" y="-21222"/>
                  <a:pt x="264011" y="11084"/>
                  <a:pt x="373888" y="0"/>
                </a:cubicBezTo>
                <a:cubicBezTo>
                  <a:pt x="483765" y="-11084"/>
                  <a:pt x="744959" y="34565"/>
                  <a:pt x="852932" y="0"/>
                </a:cubicBezTo>
                <a:cubicBezTo>
                  <a:pt x="960905" y="-34565"/>
                  <a:pt x="1117522" y="45939"/>
                  <a:pt x="1331976" y="0"/>
                </a:cubicBezTo>
                <a:cubicBezTo>
                  <a:pt x="1546430" y="-45939"/>
                  <a:pt x="1819161" y="31205"/>
                  <a:pt x="2021332" y="0"/>
                </a:cubicBezTo>
                <a:cubicBezTo>
                  <a:pt x="2223503" y="-31205"/>
                  <a:pt x="2374427" y="16088"/>
                  <a:pt x="2710688" y="0"/>
                </a:cubicBezTo>
                <a:cubicBezTo>
                  <a:pt x="3046949" y="-16088"/>
                  <a:pt x="3188751" y="11240"/>
                  <a:pt x="3400044" y="0"/>
                </a:cubicBezTo>
                <a:cubicBezTo>
                  <a:pt x="3611337" y="-11240"/>
                  <a:pt x="3729003" y="24882"/>
                  <a:pt x="3984244" y="0"/>
                </a:cubicBezTo>
                <a:cubicBezTo>
                  <a:pt x="4239485" y="-24882"/>
                  <a:pt x="4248661" y="16847"/>
                  <a:pt x="4358132" y="0"/>
                </a:cubicBezTo>
                <a:cubicBezTo>
                  <a:pt x="4467603" y="-16847"/>
                  <a:pt x="4704277" y="78533"/>
                  <a:pt x="5047488" y="0"/>
                </a:cubicBezTo>
                <a:cubicBezTo>
                  <a:pt x="5390699" y="-78533"/>
                  <a:pt x="5478617" y="32801"/>
                  <a:pt x="5631688" y="0"/>
                </a:cubicBezTo>
                <a:cubicBezTo>
                  <a:pt x="5784759" y="-32801"/>
                  <a:pt x="5981634" y="25702"/>
                  <a:pt x="6215888" y="0"/>
                </a:cubicBezTo>
                <a:cubicBezTo>
                  <a:pt x="6450142" y="-25702"/>
                  <a:pt x="6736604" y="19690"/>
                  <a:pt x="6905244" y="0"/>
                </a:cubicBezTo>
                <a:cubicBezTo>
                  <a:pt x="7073884" y="-19690"/>
                  <a:pt x="7286882" y="54355"/>
                  <a:pt x="7384288" y="0"/>
                </a:cubicBezTo>
                <a:cubicBezTo>
                  <a:pt x="7481694" y="-54355"/>
                  <a:pt x="7569919" y="19084"/>
                  <a:pt x="7653020" y="0"/>
                </a:cubicBezTo>
                <a:cubicBezTo>
                  <a:pt x="7736121" y="-19084"/>
                  <a:pt x="8028971" y="7172"/>
                  <a:pt x="8342376" y="0"/>
                </a:cubicBezTo>
                <a:cubicBezTo>
                  <a:pt x="8655781" y="-7172"/>
                  <a:pt x="8513400" y="26567"/>
                  <a:pt x="8611108" y="0"/>
                </a:cubicBezTo>
                <a:cubicBezTo>
                  <a:pt x="8708816" y="-26567"/>
                  <a:pt x="8765519" y="8311"/>
                  <a:pt x="8879840" y="0"/>
                </a:cubicBezTo>
                <a:cubicBezTo>
                  <a:pt x="8994161" y="-8311"/>
                  <a:pt x="9094252" y="11307"/>
                  <a:pt x="9253728" y="0"/>
                </a:cubicBezTo>
                <a:cubicBezTo>
                  <a:pt x="9413204" y="-11307"/>
                  <a:pt x="9611384" y="21739"/>
                  <a:pt x="9732772" y="0"/>
                </a:cubicBezTo>
                <a:cubicBezTo>
                  <a:pt x="9854160" y="-21739"/>
                  <a:pt x="10260773" y="2376"/>
                  <a:pt x="10515600" y="0"/>
                </a:cubicBezTo>
                <a:cubicBezTo>
                  <a:pt x="10547807" y="96027"/>
                  <a:pt x="10502213" y="250485"/>
                  <a:pt x="10515600" y="441854"/>
                </a:cubicBezTo>
                <a:cubicBezTo>
                  <a:pt x="10528987" y="633223"/>
                  <a:pt x="10500953" y="689669"/>
                  <a:pt x="10515600" y="843942"/>
                </a:cubicBezTo>
                <a:cubicBezTo>
                  <a:pt x="10530247" y="998215"/>
                  <a:pt x="10471267" y="1208650"/>
                  <a:pt x="10515600" y="1325563"/>
                </a:cubicBezTo>
                <a:cubicBezTo>
                  <a:pt x="10408911" y="1343606"/>
                  <a:pt x="10186565" y="1311187"/>
                  <a:pt x="10036556" y="1325563"/>
                </a:cubicBezTo>
                <a:cubicBezTo>
                  <a:pt x="9886547" y="1339939"/>
                  <a:pt x="9538345" y="1281053"/>
                  <a:pt x="9347200" y="1325563"/>
                </a:cubicBezTo>
                <a:cubicBezTo>
                  <a:pt x="9156055" y="1370073"/>
                  <a:pt x="9003166" y="1299112"/>
                  <a:pt x="8763000" y="1325563"/>
                </a:cubicBezTo>
                <a:cubicBezTo>
                  <a:pt x="8522834" y="1352014"/>
                  <a:pt x="8471849" y="1310553"/>
                  <a:pt x="8283956" y="1325563"/>
                </a:cubicBezTo>
                <a:cubicBezTo>
                  <a:pt x="8096063" y="1340573"/>
                  <a:pt x="8141020" y="1320966"/>
                  <a:pt x="8015224" y="1325563"/>
                </a:cubicBezTo>
                <a:cubicBezTo>
                  <a:pt x="7889428" y="1330160"/>
                  <a:pt x="7402689" y="1296549"/>
                  <a:pt x="7220712" y="1325563"/>
                </a:cubicBezTo>
                <a:cubicBezTo>
                  <a:pt x="7038735" y="1354577"/>
                  <a:pt x="6860564" y="1290552"/>
                  <a:pt x="6636512" y="1325563"/>
                </a:cubicBezTo>
                <a:cubicBezTo>
                  <a:pt x="6412460" y="1360574"/>
                  <a:pt x="6317643" y="1317756"/>
                  <a:pt x="6052312" y="1325563"/>
                </a:cubicBezTo>
                <a:cubicBezTo>
                  <a:pt x="5786981" y="1333370"/>
                  <a:pt x="5763881" y="1287197"/>
                  <a:pt x="5678424" y="1325563"/>
                </a:cubicBezTo>
                <a:cubicBezTo>
                  <a:pt x="5592967" y="1363929"/>
                  <a:pt x="5399248" y="1312349"/>
                  <a:pt x="5199380" y="1325563"/>
                </a:cubicBezTo>
                <a:cubicBezTo>
                  <a:pt x="4999512" y="1338777"/>
                  <a:pt x="4987883" y="1284423"/>
                  <a:pt x="4825492" y="1325563"/>
                </a:cubicBezTo>
                <a:cubicBezTo>
                  <a:pt x="4663101" y="1366703"/>
                  <a:pt x="4380555" y="1308688"/>
                  <a:pt x="4241292" y="1325563"/>
                </a:cubicBezTo>
                <a:cubicBezTo>
                  <a:pt x="4102029" y="1342438"/>
                  <a:pt x="3778341" y="1285171"/>
                  <a:pt x="3446780" y="1325563"/>
                </a:cubicBezTo>
                <a:cubicBezTo>
                  <a:pt x="3115219" y="1365955"/>
                  <a:pt x="3099173" y="1290652"/>
                  <a:pt x="2757424" y="1325563"/>
                </a:cubicBezTo>
                <a:cubicBezTo>
                  <a:pt x="2415675" y="1360474"/>
                  <a:pt x="2510972" y="1310466"/>
                  <a:pt x="2278380" y="1325563"/>
                </a:cubicBezTo>
                <a:cubicBezTo>
                  <a:pt x="2045788" y="1340660"/>
                  <a:pt x="1716210" y="1317992"/>
                  <a:pt x="1483868" y="1325563"/>
                </a:cubicBezTo>
                <a:cubicBezTo>
                  <a:pt x="1251526" y="1333134"/>
                  <a:pt x="972052" y="1254362"/>
                  <a:pt x="689356" y="1325563"/>
                </a:cubicBezTo>
                <a:cubicBezTo>
                  <a:pt x="406660" y="1396764"/>
                  <a:pt x="201106" y="1320070"/>
                  <a:pt x="0" y="1325563"/>
                </a:cubicBezTo>
                <a:cubicBezTo>
                  <a:pt x="-31617" y="1137567"/>
                  <a:pt x="37158" y="1000617"/>
                  <a:pt x="0" y="896964"/>
                </a:cubicBezTo>
                <a:cubicBezTo>
                  <a:pt x="-37158" y="793311"/>
                  <a:pt x="17420" y="591636"/>
                  <a:pt x="0" y="428599"/>
                </a:cubicBezTo>
                <a:cubicBezTo>
                  <a:pt x="-17420" y="265562"/>
                  <a:pt x="47044" y="122437"/>
                  <a:pt x="0" y="0"/>
                </a:cubicBezTo>
                <a:close/>
              </a:path>
            </a:pathLst>
          </a:custGeom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576319421">
                  <ask:type>
                    <ask:lineSketchScribble/>
                  </ask:type>
                </ask:lineSketchStyleProps>
              </a:ext>
            </a:extLst>
          </a:ln>
        </p:spPr>
        <p:txBody>
          <a:bodyPr/>
          <a:lstStyle>
            <a:lvl1pPr algn="ctr"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99D4A-6B08-C144-AFE3-77A01A5AD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C066A-E572-A277-D369-78396D584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AEF30-4002-714D-0670-A49096DB8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5FF20-6D76-29F2-418E-8864E01FE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080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003FF-F52F-4E38-0A2E-9DA1C60DA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3E876-7455-9295-91BF-4F641EF55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47266-3916-28B3-A555-7FB1D3D8E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E68EB-F701-4E7C-8A1B-AAB143967A5F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7012B-55DA-34F4-808B-189EA4C3C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D8DC9-36B0-31D0-B5F2-FC0C84BD9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0228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9EA8A-FF95-E0BD-7238-CF02B00FD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89762-D796-DC09-14A4-5AD190D825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6F5D70-A3AC-50F5-06B7-9CE9CF507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FC517-D127-635A-B264-F649FC869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1DE66-4F81-4974-88C3-7164F909D911}" type="datetime1">
              <a:rPr lang="en-GB" smtClean="0"/>
              <a:t>29/10/2025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F902A-670D-5ED9-8D4D-F35167B04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D85025-5D85-AC22-6D8F-3E6EE503D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6600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7F54F-E990-F487-57E9-D0FAA742D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5E450-926E-F984-8F71-955FA0FEC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0BA968-AC90-BAC3-F9C8-6F8478B719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6AA182-DAAF-6A22-82E6-4D09269F14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AF3F09-93B2-51FA-9088-7D9BCEBC6D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0812B9-38A2-5B54-1BDB-7B50AFC36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1D5EC-0436-4D1A-B807-42CAECB52F3A}" type="datetime1">
              <a:rPr lang="en-GB" smtClean="0"/>
              <a:t>29/10/2025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2CC307-A30C-C6CE-E36C-F30561210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4CABA7-3B6D-774C-73DB-AC25CE1A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209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385C2-AC71-5CD4-56A8-CA28E1598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A798A5-3197-07D3-6CD1-2A6563AF5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A3ADE-44B1-4EF3-919C-3E8C2EF5A85F}" type="datetime1">
              <a:rPr lang="en-GB" smtClean="0"/>
              <a:t>29/10/2025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1AD66C-1B15-DB67-7702-F791D23B5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D6D4E-F44E-AEA5-1EB9-E5D5B3B5F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7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17971-EA51-1E5E-FABA-79A350912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F570B-75EC-43EA-ABF4-4059CC25C5DE}" type="datetime1">
              <a:rPr lang="en-GB" smtClean="0"/>
              <a:t>29/10/2025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AD9B04-D7D8-9928-C4F7-04945D125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0B3C4-33CC-72BA-889F-986C21D06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1085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2A411-0235-0168-189D-927979B3F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C01DE-2ACF-2FCE-308A-BFFDD6898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8CC266-6F22-04FB-4D09-0BC53C109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F3AA6-3A77-7ABB-8CE0-53336682B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A2AE1-6EC0-47B6-9286-227F6CC4BE37}" type="datetime1">
              <a:rPr lang="en-GB" smtClean="0"/>
              <a:t>29/10/2025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BDD05-C09C-3554-C58E-1FD10B16C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ACC2B-34F8-346A-1D83-2FA177A62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1826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FB5CA-54DD-FAF3-9B07-FA2AE2C13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044D3F-4214-F3D0-4E40-C3D7AC72D2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659081-4537-48AB-E691-80D9C313E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4768B4-1148-4864-A694-4E4A62F90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18897-E1BD-4D4D-B0B7-CDDDCC6D391E}" type="datetime1">
              <a:rPr lang="en-GB" smtClean="0"/>
              <a:t>29/10/2025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6F3E4C-A1EA-4FA4-37E9-D4BDEC853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A227AC-5B9C-43D9-35DB-94115AA5D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0327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A51ED-3800-0D94-43C0-4DC9006B3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6EAF76-2B38-92CE-1645-607F15BB64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1DE2D-65A0-9797-96FC-951FC7CD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5AAC1-57D9-4D00-AB02-0520E4D4A784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EEA3A-A9E6-9867-EFD1-11A0DDEFE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EDA0E-F08D-D2E9-D34C-4BE6FAC46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485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964FED-6CB9-AF94-F333-C88F49B078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ED8B65-A0C8-2F43-0A6D-1E466060B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972CA-C602-AC11-0A41-83CDB61E6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FE15E-9DEF-4BA1-88F2-D1C0C031F929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A94C6-4E92-45EE-14C2-7582DA461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FE9AD-4D06-455A-43CC-97EF29F85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3353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7396CC-AE2A-8FCF-9294-1636AE519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DC19C-91AE-C626-CCEE-59A834248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453CA-04EB-8130-D6AB-D4E0B71E0E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EA207B-7DFC-4FD1-8A21-6A6CCCD46F9E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C1FF-20C6-4F46-C58B-266E55AA37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5F486-2A3E-BC10-5284-9B45A2F58D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679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78DFA-AB5E-A717-8846-2B007F75CA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Classical Planning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BA92-8188-0147-A078-4FF601FBF7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Md Mehrab Hossain Opi</a:t>
            </a:r>
          </a:p>
          <a:p>
            <a:r>
              <a:rPr lang="en-GB" dirty="0"/>
              <a:t>CSE 4109: Artificial Intelligence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296BA-E98B-0C90-A688-7E62AA8D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F5BA6-E035-4879-AB7D-175221F8FC75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897201-96C6-F5CA-638B-7D3FB18C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8312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4106F-34CB-EC67-C3E6-E172D5E91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F2880-EDE3-4501-094C-1D2A3F634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Earlier problem-solving agents use atomic states.</a:t>
            </a:r>
          </a:p>
          <a:p>
            <a:pPr lvl="1"/>
            <a:r>
              <a:rPr lang="en-GB" dirty="0"/>
              <a:t>Need good domain specific heuristics.</a:t>
            </a:r>
          </a:p>
          <a:p>
            <a:r>
              <a:rPr lang="en-GB" dirty="0"/>
              <a:t>Logical agents can use domain-independent heuristics but get overloaded with too many ground actions/states.</a:t>
            </a:r>
          </a:p>
          <a:p>
            <a:r>
              <a:rPr lang="en-GB" dirty="0"/>
              <a:t>Factored representation is used to solve this complexity.</a:t>
            </a:r>
          </a:p>
          <a:p>
            <a:pPr lvl="1"/>
            <a:r>
              <a:rPr lang="en-GB" dirty="0"/>
              <a:t>Using PDDL.</a:t>
            </a:r>
          </a:p>
          <a:p>
            <a:r>
              <a:rPr lang="en-US" dirty="0"/>
              <a:t>Each State is represented as a set of variables (</a:t>
            </a:r>
            <a:r>
              <a:rPr lang="en-US" dirty="0" err="1"/>
              <a:t>fluents</a:t>
            </a:r>
            <a:r>
              <a:rPr lang="en-US" dirty="0"/>
              <a:t>) that are ground functionless atoms.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3091A-E5A0-0A67-A508-3E5163D5B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AB40A5-1884-D747-8FD1-15C15BB0D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9866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39E29-FE2F-1FC9-9EE3-410FC828A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PDDL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7B847-23B3-F63A-CEFD-929A6C28C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Planning Domain Definition Language </a:t>
            </a:r>
            <a:r>
              <a:rPr lang="en-US" dirty="0"/>
              <a:t>is the standard language to describe planning problem.</a:t>
            </a:r>
          </a:p>
          <a:p>
            <a:r>
              <a:rPr lang="en-US" dirty="0"/>
              <a:t>Each problem is defined by</a:t>
            </a:r>
          </a:p>
          <a:p>
            <a:pPr lvl="1"/>
            <a:r>
              <a:rPr lang="en-US" dirty="0"/>
              <a:t>Initial State</a:t>
            </a:r>
          </a:p>
          <a:p>
            <a:pPr lvl="1"/>
            <a:r>
              <a:rPr lang="en-US" dirty="0"/>
              <a:t>Available Actions</a:t>
            </a:r>
          </a:p>
          <a:p>
            <a:pPr lvl="1"/>
            <a:r>
              <a:rPr lang="en-US" dirty="0"/>
              <a:t>Result Functions</a:t>
            </a:r>
          </a:p>
          <a:p>
            <a:pPr lvl="1"/>
            <a:r>
              <a:rPr lang="en-US" dirty="0"/>
              <a:t>Goal Test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475E5-0283-5896-0418-44BB3A0D4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E95791-D4EE-4E8F-2A3B-24FBB1C4F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1415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4EE1D-2ABC-F017-37BD-7F95FFAD7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Representation of States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339BAF-03C6-3872-CF33-9005F98CA0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state = conjunction of ground, function-free </a:t>
                </a:r>
                <a:r>
                  <a:rPr lang="en-US" dirty="0" err="1"/>
                  <a:t>fluents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A state in a package delivery problem might be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𝑇𝑟𝑢𝑐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𝐷h𝑎𝑘𝑎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𝑇𝑟𝑢𝑐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𝐾h𝑢𝑙𝑛𝑎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We use database semantics.</a:t>
                </a:r>
              </a:p>
              <a:p>
                <a:r>
                  <a:rPr lang="en-US" b="1" dirty="0"/>
                  <a:t>Closed world assumption</a:t>
                </a:r>
                <a:r>
                  <a:rPr lang="en-US" dirty="0"/>
                  <a:t>: anything not listed is false.</a:t>
                </a:r>
              </a:p>
              <a:p>
                <a:r>
                  <a:rPr lang="en-US" b="1" dirty="0"/>
                  <a:t>Unique-name Assumption</a:t>
                </a:r>
                <a:r>
                  <a:rPr lang="en-US" dirty="0"/>
                  <a:t>: distinct symbols mean distinct objects.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339BAF-03C6-3872-CF33-9005F98CA0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CBCF5-E38F-2B12-1E77-3E78A55A7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5FC51C-5F2F-45EB-8070-A7A2AD7A5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8667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DCA35-3F29-720C-C76D-8349527E2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Actions and Action Schemas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6D0BE-73DF-B4F6-EF8A-84252BD91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1" y="1825625"/>
            <a:ext cx="11001374" cy="4351338"/>
          </a:xfrm>
        </p:spPr>
        <p:txBody>
          <a:bodyPr>
            <a:normAutofit/>
          </a:bodyPr>
          <a:lstStyle/>
          <a:p>
            <a:r>
              <a:rPr lang="en-US" dirty="0"/>
              <a:t>Actions are described by a set of action schemas.</a:t>
            </a:r>
          </a:p>
          <a:p>
            <a:pPr lvl="1"/>
            <a:r>
              <a:rPr lang="en-US" dirty="0"/>
              <a:t>that implicitly define the ACTIONS(s)and RESULT(s, a) functions needed to do a problem-solving search.</a:t>
            </a:r>
          </a:p>
          <a:p>
            <a:r>
              <a:rPr lang="en-US" dirty="0"/>
              <a:t>A set of ground (variable-free) actions can be represented by a single action schema.</a:t>
            </a:r>
          </a:p>
          <a:p>
            <a:r>
              <a:rPr lang="en-US" dirty="0"/>
              <a:t>Classical planning concentrates on problems where most actions leave most things unchanged.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14CCD-8188-6510-AA5B-0CDF6AAFC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5219E5-20D5-AABE-59F4-AC0CF6D7A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7445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48637-E11D-0E4A-3609-C602C6940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Schema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025A19-6BE2-6C1A-7EB2-AABD033CC2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schema consists of the action name, a list of all the variables used in the schema, a precondition and an effect.</a:t>
                </a:r>
              </a:p>
              <a:p>
                <a:r>
                  <a:rPr lang="en-US" dirty="0"/>
                  <a:t>An action schema for flying a plane from one location to another</a:t>
                </a:r>
                <a:br>
                  <a:rPr lang="en-US" dirty="0"/>
                </a:br>
                <a:br>
                  <a:rPr lang="en-US" sz="24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𝐴𝑐𝑡𝑖𝑜𝑛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𝐹𝑙𝑦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𝑓𝑟𝑜𝑚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br>
                  <a:rPr lang="en-US" sz="24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𝑃𝑅𝐸𝐶𝑂𝑁𝐷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𝐴𝑡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𝑓𝑟𝑜𝑚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𝑃𝑙𝑎𝑛𝑒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𝐴𝑖𝑟𝑝𝑜𝑟𝑡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𝑓𝑟𝑜𝑚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∧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𝐴𝑖𝑟𝑝𝑜𝑟𝑡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𝑡𝑜</m:t>
                        </m:r>
                      </m:e>
                    </m:d>
                  </m:oMath>
                </a14:m>
                <a:br>
                  <a:rPr lang="en-US" sz="24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𝐸𝐹𝐹𝐸𝐶𝑇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:¬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𝑓𝑟𝑜𝑚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 ∧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Action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 is applicable in state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 if the preconditions are satisfied by 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025A19-6BE2-6C1A-7EB2-AABD033CC2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A45A7-6131-A41C-4BCA-3EC7A7C3E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B6C699-6811-D362-6220-D08CBBE8A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714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78D3C-B740-FDF3-43BD-85913F660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Applying 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36624C-BB15-A380-F8A1-A03BF46837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Executing an action changes a state using: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𝑅𝐸𝑆𝑈𝐿𝑇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 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–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𝐷𝐸𝐿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)) ∪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𝐴𝐷𝐷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ADD list: </a:t>
                </a:r>
                <a:r>
                  <a:rPr lang="en-US" dirty="0" err="1"/>
                  <a:t>fluents</a:t>
                </a:r>
                <a:r>
                  <a:rPr lang="en-US" dirty="0"/>
                  <a:t> added to the state.</a:t>
                </a:r>
              </a:p>
              <a:p>
                <a:pPr lvl="1"/>
                <a:r>
                  <a:rPr lang="en-US" dirty="0"/>
                  <a:t>DELETE list: </a:t>
                </a:r>
                <a:r>
                  <a:rPr lang="en-US" dirty="0" err="1"/>
                  <a:t>fluents</a:t>
                </a:r>
                <a:r>
                  <a:rPr lang="en-US" dirty="0"/>
                  <a:t> removed from the state.</a:t>
                </a:r>
              </a:p>
              <a:p>
                <a:r>
                  <a:rPr lang="en-US" dirty="0"/>
                  <a:t>Ensures all resulting states are ground (variable-free).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36624C-BB15-A380-F8A1-A03BF46837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BB927-7044-B92B-C4AB-CDEE12E58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9813D9-DE1F-D1FE-601D-63A864B27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387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69E1F-6499-A10A-779D-D62D30097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Domain and Problem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0A2E4-A031-DEB2-82A6-E1025FC8D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planning domain = set of action schemas.</a:t>
            </a:r>
          </a:p>
          <a:p>
            <a:r>
              <a:rPr lang="en-US" dirty="0"/>
              <a:t>A specific planning problem = domain + initial state + goal.</a:t>
            </a:r>
          </a:p>
          <a:p>
            <a:r>
              <a:rPr lang="en-US" dirty="0"/>
              <a:t>Air Cargo Transport Problem</a:t>
            </a:r>
          </a:p>
          <a:p>
            <a:r>
              <a:rPr lang="en-US" dirty="0"/>
              <a:t>Initial state: positions of planes and cargoes.</a:t>
            </a:r>
          </a:p>
          <a:p>
            <a:r>
              <a:rPr lang="en-US" dirty="0"/>
              <a:t>Actions: Load, Unload, Fly.</a:t>
            </a:r>
          </a:p>
          <a:p>
            <a:r>
              <a:rPr lang="en-US" dirty="0"/>
              <a:t>Goal: cargoes reach destination airports.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FDC19-0069-CA13-C145-AF760F181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A52ADD-9B64-C5B0-8ACF-7654F640E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5885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59EDF-F204-E8E3-DAD0-591F10E8B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Satisfaction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C6713-C098-F35D-38A9-7B2C4F11E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 = conjunction of positive or negative literals.</a:t>
            </a:r>
          </a:p>
          <a:p>
            <a:r>
              <a:rPr lang="en-US" dirty="0"/>
              <a:t>A state satisfies a goal if it entails all goal </a:t>
            </a:r>
            <a:r>
              <a:rPr lang="en-US" dirty="0" err="1"/>
              <a:t>fluents</a:t>
            </a:r>
            <a:r>
              <a:rPr lang="en-US" dirty="0"/>
              <a:t>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Rich ∧ Famous ∧ Miserable ⊨ Rich ∧ Famous.</a:t>
            </a:r>
          </a:p>
          <a:p>
            <a:r>
              <a:rPr lang="en-US" dirty="0"/>
              <a:t>Goals can include existential variables (e.g., “there exists a plane at SFO”)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62B79-A56A-FA64-4846-E45754CE7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C1068E-542E-E106-6B79-81446240C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8966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E0109-D4DE-6C4C-DB21-A13B685EB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PDDL of Air Cargo Transportation Problem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9B5CF08-B330-A549-B7BE-97D57706F1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2899" y="1825625"/>
            <a:ext cx="9926201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BB242-979B-C046-E4B4-227525B98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8BF97B-B621-945E-0599-FA7FB555C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3871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C2C85-D826-EDDE-BB99-23CF78F6F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Blocks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E2215-E502-8935-B85D-77D963DF1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domain consists of a set of cube-shaped blocks sitting on a table.</a:t>
            </a:r>
          </a:p>
          <a:p>
            <a:r>
              <a:rPr lang="en-US" dirty="0"/>
              <a:t>The blocks can be stacked, but only one block can fit directly on top of another.</a:t>
            </a:r>
          </a:p>
          <a:p>
            <a:r>
              <a:rPr lang="en-US" dirty="0"/>
              <a:t>A robot arm can pick up a block and move it to another position, either on the table or on top of another block.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C8EE-D160-2E47-F744-A4A4B6984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1EC677-66F5-A41B-5DB1-FF69E0132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2710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06819-E5DB-C605-1F9F-384A8F7CB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DC00E-4C2B-3DEF-7183-084FAE7CF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goal will always be to build one or more stacks of blocks, specified in terms of what blocks are on top of what other blocks.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FE151-0AC6-3732-B82A-7864B4D43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73EB82-35CA-CB98-2A56-2F0AD7F5A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12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22C9FF-E5F6-6C03-B070-2B74F1735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242" y="3114999"/>
            <a:ext cx="7763958" cy="255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436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96ADC-9E0A-AAFF-3221-025950139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PDDL for Blocks World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C555E9D-00A8-E5DD-DA91-9990657559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42309"/>
            <a:ext cx="10515600" cy="366259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505DC-D976-D2BF-1F19-7BD327BD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C069C6-91F3-6B6D-4FDD-2D570F794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3732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DCF21-AACB-B938-3229-21B7C4408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as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7C540-9D6E-58A9-C546-939BC5225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planning problem is defined by:</a:t>
            </a:r>
          </a:p>
          <a:p>
            <a:pPr lvl="1"/>
            <a:r>
              <a:rPr lang="en-US" dirty="0"/>
              <a:t>Initial state</a:t>
            </a:r>
          </a:p>
          <a:p>
            <a:pPr lvl="1"/>
            <a:r>
              <a:rPr lang="en-US" dirty="0"/>
              <a:t>ACTIONS(s)</a:t>
            </a:r>
          </a:p>
          <a:p>
            <a:pPr lvl="1"/>
            <a:r>
              <a:rPr lang="en-US" dirty="0"/>
              <a:t>RESULT(s, a)</a:t>
            </a:r>
          </a:p>
          <a:p>
            <a:pPr lvl="1"/>
            <a:r>
              <a:rPr lang="en-US" dirty="0"/>
              <a:t>Goal test</a:t>
            </a:r>
          </a:p>
          <a:p>
            <a:r>
              <a:rPr lang="en-US" dirty="0"/>
              <a:t>Objective: find a sequence of actions leading from start to a goal state.</a:t>
            </a:r>
          </a:p>
          <a:p>
            <a:r>
              <a:rPr lang="en-US" dirty="0"/>
              <a:t>Classical planning = search over state space using action schemas and logical structure.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2D09D-958C-6640-F383-4E1B05370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111084-8F85-6FF1-3468-AD086E5E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2763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ECE7F-6B74-161B-D7E0-37DAC0098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Planning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09677-6D42-841F-7DB0-521535653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planning problem defines a search problem.</a:t>
            </a:r>
          </a:p>
          <a:p>
            <a:r>
              <a:rPr lang="en-US" dirty="0"/>
              <a:t>We can search forward from the initial state or backward from the goal.</a:t>
            </a:r>
          </a:p>
          <a:p>
            <a:r>
              <a:rPr lang="en-US" dirty="0"/>
              <a:t>Declarative action schemas allow both direction of search.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64FC1-9AD6-4E5B-BBAD-595F8ECB4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69CDAD-4922-5924-4E0E-26916B5D8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4349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515AF-1987-6E2E-2386-713374608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(Progression)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AC3D9-6A8A-68B2-CBB5-3609A37EE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from initial state, apply actions forward until reaching the goal.</a:t>
            </a:r>
          </a:p>
          <a:p>
            <a:r>
              <a:rPr lang="en-US" dirty="0"/>
              <a:t>Equivalent to regular heuristic search (like A*).</a:t>
            </a:r>
          </a:p>
          <a:p>
            <a:r>
              <a:rPr lang="en-US" dirty="0"/>
              <a:t>Early researchers thought it was too inefficient.</a:t>
            </a:r>
          </a:p>
          <a:p>
            <a:pPr lvl="1"/>
            <a:r>
              <a:rPr lang="en-US" dirty="0"/>
              <a:t>Explores many irrelevant actions.</a:t>
            </a:r>
          </a:p>
          <a:p>
            <a:pPr lvl="1"/>
            <a:r>
              <a:rPr lang="en-US" dirty="0"/>
              <a:t>Huge branching factor and state space.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0615B-C701-8389-B91D-29630C28C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CBBF41-1ABF-B318-5487-C884070F5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7417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7BE08-35DB-511E-FE06-7733BC8B3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Backward (Regression)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205D44-045F-DEE6-22CF-CAA0363100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Starts from the </a:t>
                </a:r>
                <a:r>
                  <a:rPr lang="en-US" b="1" dirty="0"/>
                  <a:t>goal</a:t>
                </a:r>
                <a:r>
                  <a:rPr lang="en-US" dirty="0"/>
                  <a:t> and searches backward using </a:t>
                </a:r>
                <a:r>
                  <a:rPr lang="en-US" b="1" dirty="0"/>
                  <a:t>inverse actions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Only considers </a:t>
                </a:r>
                <a:r>
                  <a:rPr lang="en-US" b="1" dirty="0"/>
                  <a:t>relevant actions</a:t>
                </a:r>
                <a:r>
                  <a:rPr lang="en-US" dirty="0"/>
                  <a:t> — those contributing to the goal.</a:t>
                </a:r>
              </a:p>
              <a:p>
                <a:r>
                  <a:rPr lang="en-US" dirty="0"/>
                  <a:t>Regression from goal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over action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𝐴𝐷𝐷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𝑃𝑅𝐸𝐶𝑂𝑁𝐷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Effects already achieved need not hold before; preconditions must hold.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𝐷𝐸𝐿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/>
                  <a:t> ignored as we don’t know whether deleted facts were true before.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205D44-045F-DEE6-22CF-CAA0363100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46F2D-2362-E0FD-1047-F1C0EA71B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37F5A7-9A77-9B01-E372-21C702205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52882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A7F3-EF95-3184-606B-C04586F42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vs Backward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4A3D374-CA41-F5FF-4323-6E22890065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9396" y="1825625"/>
            <a:ext cx="7273208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0131F-0B9C-458B-AE19-57902B41F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01F1CE-6EFA-3C2F-BEAA-4CE4397FF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13145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BC518-899D-4AB2-E1A7-7806BAA16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Heuristics for Planning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933BB5-6847-9160-68D3-C6E3062942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Both forward and backward search need good heuristics.</a:t>
                </a:r>
              </a:p>
              <a:p>
                <a:r>
                  <a:rPr lang="en-US" dirty="0"/>
                  <a:t>Heuristics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= estimated cost from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to goal.</a:t>
                </a:r>
              </a:p>
              <a:p>
                <a:r>
                  <a:rPr lang="en-US" dirty="0"/>
                  <a:t>Derived from relaxed problems that are easier to solve.</a:t>
                </a:r>
              </a:p>
              <a:p>
                <a:r>
                  <a:rPr lang="en-US" dirty="0"/>
                  <a:t>Goal: define domain-independent, automatically computable heuristics.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933BB5-6847-9160-68D3-C6E3062942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AD710-85DA-36F2-34DE-7650DF7B6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102E2-C958-EC68-4729-EC0B94193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5275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BCBD9-2A21-BAC9-E56A-D36004CF0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Relaxed Problem Heuristics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69C4F-A366-3105-A347-C6260B851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Relaxed = make the problem easier by:</a:t>
            </a:r>
          </a:p>
          <a:p>
            <a:pPr lvl="1"/>
            <a:r>
              <a:rPr lang="en-US" dirty="0"/>
              <a:t>Adding edges – ignore constraints.</a:t>
            </a:r>
          </a:p>
          <a:p>
            <a:pPr lvl="1"/>
            <a:r>
              <a:rPr lang="en-US" dirty="0"/>
              <a:t>Reducing nodes – state abstraction.</a:t>
            </a:r>
          </a:p>
          <a:p>
            <a:r>
              <a:rPr lang="en-US" dirty="0"/>
              <a:t>The cost  of solving the relaxed problem = heuristic estimate.</a:t>
            </a:r>
          </a:p>
          <a:p>
            <a:r>
              <a:rPr lang="en-US" dirty="0"/>
              <a:t>Two classic relaxations:</a:t>
            </a:r>
          </a:p>
          <a:p>
            <a:pPr lvl="1"/>
            <a:r>
              <a:rPr lang="en-US" dirty="0"/>
              <a:t>Adding More Edge - Ignore preconditions</a:t>
            </a:r>
          </a:p>
          <a:p>
            <a:pPr lvl="1"/>
            <a:r>
              <a:rPr lang="en-US" dirty="0"/>
              <a:t>Grouping Multiple </a:t>
            </a:r>
            <a:r>
              <a:rPr lang="en-US"/>
              <a:t>Nodes Together - Ignore </a:t>
            </a:r>
            <a:r>
              <a:rPr lang="en-US" dirty="0"/>
              <a:t>delete lists.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93D87-74F7-C537-29FC-1824C731F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61621A-0362-3E68-B1B2-04ACE5FC1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7700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C1ECE-A9AA-107E-6315-B9160CCEE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Ignore Preconditions Heuristics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D3D75-BEDF-32EE-AE39-4C0CD5A34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Drop all precondition from actions.</a:t>
            </a:r>
          </a:p>
          <a:p>
            <a:r>
              <a:rPr lang="en-US" dirty="0"/>
              <a:t>Any action can be applied anywhere.</a:t>
            </a:r>
          </a:p>
          <a:p>
            <a:r>
              <a:rPr lang="en-US" dirty="0"/>
              <a:t>Approximation: number of unsatisfied goal literals.</a:t>
            </a:r>
          </a:p>
          <a:p>
            <a:r>
              <a:rPr lang="en-US" dirty="0"/>
              <a:t>More accurate: use minimal set of actions whose effects cover the goal.</a:t>
            </a:r>
          </a:p>
          <a:p>
            <a:r>
              <a:rPr lang="en-US" dirty="0"/>
              <a:t>Equivalent to a set cover problem.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2087B-51D2-3304-412A-812C1CC7C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E3215E-B677-2A6F-C670-491B0B5DE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86474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723A9-7860-AD9B-9775-7E7C614DD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Ignore Delete Lists Heuristics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8AE30-16F1-058D-EE47-39463BB8B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Remove all negative effects from actions.</a:t>
            </a:r>
          </a:p>
          <a:p>
            <a:r>
              <a:rPr lang="en-US" dirty="0"/>
              <a:t>Once a goal is achieved, it stays true.</a:t>
            </a:r>
          </a:p>
          <a:p>
            <a:r>
              <a:rPr lang="en-US" dirty="0"/>
              <a:t>Simplifies search space – no dead ends.</a:t>
            </a:r>
          </a:p>
          <a:p>
            <a:r>
              <a:rPr lang="en-US" dirty="0"/>
              <a:t>Still NP-hard, but </a:t>
            </a:r>
            <a:r>
              <a:rPr lang="en-US" dirty="0" err="1"/>
              <a:t>approximable</a:t>
            </a:r>
            <a:r>
              <a:rPr lang="en-US" dirty="0"/>
              <a:t> with hill-climbing.</a:t>
            </a:r>
          </a:p>
          <a:p>
            <a:r>
              <a:rPr lang="en-US" dirty="0"/>
              <a:t>Used in modern planners like FF.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BA499-5182-9D28-A0A7-A13AD914D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3841DB-6C2C-B8CC-845E-3F3477F39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11077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10239-AB86-30F5-949D-5B9969D30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91E35-7B4E-2454-D71E-569A351B7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Instead of relaxing actions, simplify the state space.</a:t>
            </a:r>
          </a:p>
          <a:p>
            <a:r>
              <a:rPr lang="en-US" dirty="0"/>
              <a:t>Map multiple concrete states into one abstract state.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Abstract solution gives admissible heuristic and easier computation.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703EE-40DF-9214-889B-24ED613C8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F5D234-8739-20FE-521D-B4F252A80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70588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7F166-F176-D3B9-B9A0-F575E9ACB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Decomposition and Subgoal Independence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0C97B3-0BA8-E8D7-FFAE-0C28F55BA8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Divide goal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into smaller subgoals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Solve each subgoal separately (plans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Combine costs for total heuristics: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𝑐𝑜𝑠𝑡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dirty="0"/>
                  <a:t> – admissible but coarse.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𝑠𝑢𝑚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𝑐𝑜𝑠𝑡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dirty="0"/>
                  <a:t> - more accurate, but not always admissible.</a:t>
                </a:r>
              </a:p>
              <a:p>
                <a:r>
                  <a:rPr lang="en-US" dirty="0"/>
                  <a:t>Works best when subgoals are independent.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0C97B3-0BA8-E8D7-FFAE-0C28F55BA8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AA8EE-1E16-0061-303D-1842E60F8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9596C7-3665-EE0B-554D-2D299A443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29713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04592-1009-3B6A-7A0D-BBBB5084B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FF (</a:t>
            </a:r>
            <a:r>
              <a:rPr lang="en-US" dirty="0" err="1"/>
              <a:t>FastForward</a:t>
            </a:r>
            <a:r>
              <a:rPr lang="en-US" dirty="0"/>
              <a:t>) Planner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1B153-3241-301C-DC81-CCC70554F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Modern planner using ignore-delete-lists heuristic.</a:t>
            </a:r>
          </a:p>
          <a:p>
            <a:r>
              <a:rPr lang="en-US" dirty="0"/>
              <a:t>Builds planning graph to estimate heuristic values.</a:t>
            </a:r>
          </a:p>
          <a:p>
            <a:r>
              <a:rPr lang="en-US" dirty="0"/>
              <a:t>Performs hill-climbing search toward better heuristic scores.</a:t>
            </a:r>
          </a:p>
          <a:p>
            <a:r>
              <a:rPr lang="en-US" dirty="0"/>
              <a:t>Uses iterative deepening to escape plateaus or local maxima.</a:t>
            </a:r>
          </a:p>
          <a:p>
            <a:r>
              <a:rPr lang="en-US" dirty="0"/>
              <a:t>Achieves fast, domain-independent planning.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534C09-BF39-D423-54E6-9FE07FAA0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EEB120-D4A4-52C8-225B-A38AACA96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1590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0CD2C-72EB-B56E-F53D-3A05A6795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for Planning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32621-D469-6F58-2786-CD44084B0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Traditional heuristics often give inaccurate estimates.</a:t>
            </a:r>
          </a:p>
          <a:p>
            <a:r>
              <a:rPr lang="en-US" dirty="0"/>
              <a:t>A planning graph provides a more informed, admissible heuristic.</a:t>
            </a:r>
          </a:p>
          <a:p>
            <a:r>
              <a:rPr lang="en-US" dirty="0"/>
              <a:t>Used in two ways:</a:t>
            </a:r>
          </a:p>
          <a:p>
            <a:pPr lvl="1"/>
            <a:r>
              <a:rPr lang="en-US" dirty="0"/>
              <a:t>To derive heuristics for search algorithms.</a:t>
            </a:r>
          </a:p>
          <a:p>
            <a:pPr lvl="1"/>
            <a:r>
              <a:rPr lang="en-US" dirty="0"/>
              <a:t>To directly extract plans using the </a:t>
            </a:r>
            <a:r>
              <a:rPr lang="en-US" dirty="0" err="1"/>
              <a:t>GraphPlan</a:t>
            </a:r>
            <a:r>
              <a:rPr lang="en-US" dirty="0"/>
              <a:t> algorithm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85D5C-9542-9BA3-83E3-F548A27C4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5551B3-BCA1-429E-3FB9-D476C8D68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14709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A7A6A-70D9-D70C-CBBB-A6B3BA72B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044A7-7198-F6B4-C3FE-E3B32F7E0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compact, polynomial-sized structure approximating the full search tree.</a:t>
            </a:r>
          </a:p>
          <a:p>
            <a:r>
              <a:rPr lang="en-US" dirty="0"/>
              <a:t>Alternates between state levels (Si) and action levels (Ai).</a:t>
            </a:r>
          </a:p>
          <a:p>
            <a:r>
              <a:rPr lang="en-US" dirty="0"/>
              <a:t>Each level represents what could be true or possible at a given time.</a:t>
            </a:r>
          </a:p>
          <a:p>
            <a:r>
              <a:rPr lang="en-US" dirty="0"/>
              <a:t>Cannot guarantee reachability but never overestimates plan length → admissible heuristic.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29544-61AE-1C71-2529-BD45195D0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C1ABA5-545A-7981-225E-86575DECE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74714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64A20-F40A-5ED8-3A9F-C0F9816A6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a Planning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1D11E-C047-B66D-42FC-E2F3E84F2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Starts with S₀: literals true in the initial state.</a:t>
            </a:r>
          </a:p>
          <a:p>
            <a:r>
              <a:rPr lang="en-US" dirty="0"/>
              <a:t>Then A₀: all actions whose preconditions are met in S₀.</a:t>
            </a:r>
          </a:p>
          <a:p>
            <a:r>
              <a:rPr lang="en-US" dirty="0"/>
              <a:t>Followed by S₁, A₁, and so on — until the graph levels off (no new info).</a:t>
            </a:r>
          </a:p>
          <a:p>
            <a:r>
              <a:rPr lang="en-US" dirty="0"/>
              <a:t>Each Si contains possible literals, even conflicting ones (e.g., P and ¬P).</a:t>
            </a:r>
          </a:p>
          <a:p>
            <a:r>
              <a:rPr lang="en-US" dirty="0"/>
              <a:t>Includes persistence actions (“no-ops”) to maintain </a:t>
            </a:r>
            <a:r>
              <a:rPr lang="en-US" dirty="0" err="1"/>
              <a:t>fluents</a:t>
            </a:r>
            <a:r>
              <a:rPr lang="en-US" dirty="0"/>
              <a:t> over time.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DFB07-307C-31D2-7988-81645757D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A50C19-C8EA-EB66-0100-95F7C09AA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22344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286D3-6027-D8FB-A754-C43779BBC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Mutual Exclusion (Mutex)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C100F-DC1D-C956-05F3-0858338ED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Records conflicts between actions or literals.</a:t>
            </a:r>
          </a:p>
          <a:p>
            <a:r>
              <a:rPr lang="en-US" dirty="0"/>
              <a:t>Two actions are mutex if they have:</a:t>
            </a:r>
          </a:p>
          <a:p>
            <a:pPr lvl="1"/>
            <a:r>
              <a:rPr lang="en-US" dirty="0"/>
              <a:t>Inconsistent effects: one negates another’s effect.</a:t>
            </a:r>
          </a:p>
          <a:p>
            <a:pPr lvl="1"/>
            <a:r>
              <a:rPr lang="en-US" dirty="0"/>
              <a:t>Interference: one negates another’s precondition.</a:t>
            </a:r>
          </a:p>
          <a:p>
            <a:pPr lvl="1"/>
            <a:r>
              <a:rPr lang="en-US" dirty="0"/>
              <a:t>Competing needs: their preconditions are mutex.</a:t>
            </a:r>
          </a:p>
          <a:p>
            <a:r>
              <a:rPr lang="en-US" dirty="0"/>
              <a:t>Two literals are mutex if:</a:t>
            </a:r>
          </a:p>
          <a:p>
            <a:pPr lvl="1"/>
            <a:r>
              <a:rPr lang="en-US" dirty="0"/>
              <a:t>One negates the other, or</a:t>
            </a:r>
          </a:p>
          <a:p>
            <a:pPr lvl="1"/>
            <a:r>
              <a:rPr lang="en-US" dirty="0"/>
              <a:t>Their supporting actions are mutex (inconsistent support).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568AE-B1FA-4633-2E0C-D4DAABDD4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CFDC89-7DE3-35B7-B918-60FF88BAF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53274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BB791-3F19-E5E9-8DDE-A1A1288FF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“Have Cake and Eat Cake”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668CE-FEDB-5618-23B1-AE001DF3A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Actions:</a:t>
            </a:r>
          </a:p>
          <a:p>
            <a:pPr lvl="1"/>
            <a:r>
              <a:rPr lang="en-US" dirty="0"/>
              <a:t>Eat(Cake): consumes the cake, produces Eaten(Cake).</a:t>
            </a:r>
          </a:p>
          <a:p>
            <a:pPr lvl="1"/>
            <a:r>
              <a:rPr lang="en-US" dirty="0"/>
              <a:t>Bake(Cake): restores Have(Cake).</a:t>
            </a:r>
          </a:p>
          <a:p>
            <a:r>
              <a:rPr lang="en-US" dirty="0"/>
              <a:t>Planning graph builds levels of possible states and actions, recording mutexes (e.g., can’t Eat and Have simultaneously).</a:t>
            </a:r>
          </a:p>
          <a:p>
            <a:r>
              <a:rPr lang="en-US" dirty="0"/>
              <a:t>Demonstrates how planning graphs approximate reachability and help compute heuristic costs.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D5AE7-F492-5F8A-DBF9-811E0A306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CD4C14-A7D8-16B7-40AF-9BCA00417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94066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0A6F7-97AE-9BCB-1359-95484E13A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Heuristic Estimation with Planning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32EB0-0CE0-C57E-55F8-F050EF6AF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Level cost of literal g: first level Si where g appears.</a:t>
            </a:r>
          </a:p>
          <a:p>
            <a:r>
              <a:rPr lang="en-US" dirty="0"/>
              <a:t>Common heuristics:</a:t>
            </a:r>
          </a:p>
          <a:p>
            <a:pPr lvl="1"/>
            <a:r>
              <a:rPr lang="en-US" dirty="0"/>
              <a:t>Max-level: max of level costs of goals (admissible, coarse).</a:t>
            </a:r>
          </a:p>
          <a:p>
            <a:pPr lvl="1"/>
            <a:r>
              <a:rPr lang="en-US" dirty="0"/>
              <a:t>Level-sum: sum of level costs (not always admissible but effective).</a:t>
            </a:r>
          </a:p>
          <a:p>
            <a:pPr lvl="1"/>
            <a:r>
              <a:rPr lang="en-US" dirty="0"/>
              <a:t>Set-level: first level where all goals appear without mutexes (admissible, accurate).</a:t>
            </a:r>
          </a:p>
          <a:p>
            <a:r>
              <a:rPr lang="en-US" dirty="0"/>
              <a:t>The graph acts as a relaxed problem, ignoring higher-order conflicts.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18B64-D899-1E11-55C4-F653A6F68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D1BE5-22C3-1F33-9EA9-611406631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20129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5AA5D-FF3C-CC3A-B247-312A6DAB2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GraphPlan</a:t>
            </a:r>
            <a:r>
              <a:rPr lang="en-US" dirty="0"/>
              <a:t>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EE3F7-743E-FB18-DC81-576DAC4E5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Builds the planning graph incrementally until goals are non-mutex.</a:t>
            </a:r>
          </a:p>
          <a:p>
            <a:r>
              <a:rPr lang="en-US" dirty="0"/>
              <a:t>Then performs backward search to extract a valid plan.</a:t>
            </a:r>
          </a:p>
          <a:p>
            <a:r>
              <a:rPr lang="en-US" dirty="0"/>
              <a:t>If fails → expands one more level and retries.</a:t>
            </a:r>
          </a:p>
          <a:p>
            <a:r>
              <a:rPr lang="en-US" dirty="0"/>
              <a:t>Guarantees termination: when both the graph and “no-good” table level off, no plan exists.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DCAED-7AC7-E1E3-D2F5-D8B4C332F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9A96D1-CC25-5251-1E47-1BBC64497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13248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00C22-2813-C848-F51C-6A950895B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Inside </a:t>
            </a:r>
            <a:r>
              <a:rPr lang="en-US" dirty="0" err="1"/>
              <a:t>GraphPlan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050AD-BD92-345C-0565-98CF369AB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Expansion phase: add new Ai, Si, and recompute mutexes.</a:t>
            </a:r>
          </a:p>
          <a:p>
            <a:r>
              <a:rPr lang="en-US" dirty="0"/>
              <a:t>Solution extraction: backward CSP-style search for a set of non-mutex actions that achieve the goals.</a:t>
            </a:r>
          </a:p>
          <a:p>
            <a:r>
              <a:rPr lang="en-US" dirty="0"/>
              <a:t>Uses no-good learning to avoid repeated dead ends.</a:t>
            </a:r>
          </a:p>
          <a:p>
            <a:r>
              <a:rPr lang="en-US" dirty="0"/>
              <a:t>Often guided by level-cost heuristics (prefer easier subgoals first).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14033-7F7A-B69D-3E06-EF3F51CE0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4F4282-A716-4916-7C86-FD91F0CC3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19901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78233-F846-F965-69ED-1A8AF38E4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Termination and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119EB-99D1-9E97-61C3-A7D1C0CA1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Monotonicity ensures termination:</a:t>
            </a:r>
          </a:p>
          <a:p>
            <a:pPr lvl="1"/>
            <a:r>
              <a:rPr lang="en-US" dirty="0"/>
              <a:t>Literals and actions increase monotonically.</a:t>
            </a:r>
          </a:p>
          <a:p>
            <a:pPr lvl="1"/>
            <a:r>
              <a:rPr lang="en-US" dirty="0"/>
              <a:t>Mutexes and no-goods decrease monotonically.</a:t>
            </a:r>
          </a:p>
          <a:p>
            <a:r>
              <a:rPr lang="en-US" dirty="0"/>
              <a:t>When two consecutive levels are identical → graph has leveled off.</a:t>
            </a:r>
          </a:p>
          <a:p>
            <a:r>
              <a:rPr lang="en-US" dirty="0"/>
              <a:t>If no plan by then → problem is unsolvable.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7D8BA-A499-48A2-9F46-26B84F59C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81345B-10CB-EC59-1218-EF28FDF7E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92624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CFDC3-7E84-D4BA-CB93-BD0A642CE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and Competitions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35F74-B2DA-22A8-2402-BB6F663D4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Planning graphs revolutionized heuristic planning.</a:t>
            </a:r>
          </a:p>
          <a:p>
            <a:r>
              <a:rPr lang="en-US" dirty="0" err="1"/>
              <a:t>GraphPlan</a:t>
            </a:r>
            <a:r>
              <a:rPr lang="en-US" dirty="0"/>
              <a:t> inspired many top planners:</a:t>
            </a:r>
          </a:p>
          <a:p>
            <a:pPr lvl="1"/>
            <a:r>
              <a:rPr lang="en-US" dirty="0"/>
              <a:t>IPP, LPG (graph-based)</a:t>
            </a:r>
          </a:p>
          <a:p>
            <a:pPr lvl="1"/>
            <a:r>
              <a:rPr lang="en-US" dirty="0"/>
              <a:t>FF, LAMA (heuristic search)</a:t>
            </a:r>
          </a:p>
          <a:p>
            <a:pPr lvl="1"/>
            <a:r>
              <a:rPr lang="en-US" dirty="0"/>
              <a:t>SATPLAN (SAT-based)</a:t>
            </a:r>
          </a:p>
          <a:p>
            <a:r>
              <a:rPr lang="en-US" dirty="0"/>
              <a:t>Shaped modern satisficing and optimal planning systems.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58DC8-24C0-6324-4AF0-59F7AA993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478F58-1E0C-B73B-50CB-C055E74B1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71927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5B12C-B1B8-7683-F533-DE05D81BD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B2CA9-D089-354C-92C8-FC4BC5EE0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B9F02-7AD2-5E5C-119F-602F07CCF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29/10/2025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ABDD46-4001-FDF7-617F-29547B5A7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6207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2726</TotalTime>
  <Words>1749</Words>
  <Application>Microsoft Office PowerPoint</Application>
  <PresentationFormat>Widescreen</PresentationFormat>
  <Paragraphs>260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Aptos</vt:lpstr>
      <vt:lpstr>Arial</vt:lpstr>
      <vt:lpstr>Cambria Math</vt:lpstr>
      <vt:lpstr>Verdana</vt:lpstr>
      <vt:lpstr>Office Theme</vt:lpstr>
      <vt:lpstr>Classical Planning</vt:lpstr>
      <vt:lpstr>Motivation</vt:lpstr>
      <vt:lpstr>PDDL</vt:lpstr>
      <vt:lpstr>Representation of States</vt:lpstr>
      <vt:lpstr>Actions and Action Schemas</vt:lpstr>
      <vt:lpstr>Action Schema</vt:lpstr>
      <vt:lpstr>Applying Action</vt:lpstr>
      <vt:lpstr>Planning Domain and Problem Definition</vt:lpstr>
      <vt:lpstr>Goal Satisfaction</vt:lpstr>
      <vt:lpstr>PDDL of Air Cargo Transportation Problem</vt:lpstr>
      <vt:lpstr>The Blocks World</vt:lpstr>
      <vt:lpstr>PowerPoint Presentation</vt:lpstr>
      <vt:lpstr>PDDL for Blocks World</vt:lpstr>
      <vt:lpstr>Planning as Search</vt:lpstr>
      <vt:lpstr>Overview of Planning Algorithms</vt:lpstr>
      <vt:lpstr>Forward (Progression) Search</vt:lpstr>
      <vt:lpstr>Backward (Regression) Search</vt:lpstr>
      <vt:lpstr>Forward vs Backward</vt:lpstr>
      <vt:lpstr>Heuristics for Planning</vt:lpstr>
      <vt:lpstr>Relaxed Problem Heuristics</vt:lpstr>
      <vt:lpstr>Ignore Preconditions Heuristics</vt:lpstr>
      <vt:lpstr>Ignore Delete Lists Heuristics</vt:lpstr>
      <vt:lpstr>State Abstraction</vt:lpstr>
      <vt:lpstr>Decomposition and Subgoal Independence</vt:lpstr>
      <vt:lpstr>FF (FastForward) Planner</vt:lpstr>
      <vt:lpstr>Motivation for Planning Graphs</vt:lpstr>
      <vt:lpstr>Planning Graph</vt:lpstr>
      <vt:lpstr>Structure of a Planning Graph</vt:lpstr>
      <vt:lpstr>Mutual Exclusion (Mutex)</vt:lpstr>
      <vt:lpstr>The “Have Cake and Eat Cake” Problem</vt:lpstr>
      <vt:lpstr>Heuristic Estimation with Planning Graphs</vt:lpstr>
      <vt:lpstr>The GraphPlan Algorithm</vt:lpstr>
      <vt:lpstr>Inside GraphPlan</vt:lpstr>
      <vt:lpstr>Termination and Properties</vt:lpstr>
      <vt:lpstr>Impact and Competitions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Classical Planning</dc:title>
  <dc:creator>Md Mehrab Hossain Opi</dc:creator>
  <cp:lastModifiedBy>Md Mehrab Hossain Opi</cp:lastModifiedBy>
  <cp:revision>116</cp:revision>
  <dcterms:created xsi:type="dcterms:W3CDTF">2025-07-29T06:51:35Z</dcterms:created>
  <dcterms:modified xsi:type="dcterms:W3CDTF">2025-10-29T01:53:30Z</dcterms:modified>
</cp:coreProperties>
</file>