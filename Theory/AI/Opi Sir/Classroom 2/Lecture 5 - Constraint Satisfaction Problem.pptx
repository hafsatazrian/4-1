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354" r:id="rId3"/>
    <p:sldId id="308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55" r:id="rId14"/>
    <p:sldId id="340" r:id="rId15"/>
    <p:sldId id="349" r:id="rId16"/>
    <p:sldId id="350" r:id="rId17"/>
    <p:sldId id="351" r:id="rId18"/>
    <p:sldId id="352" r:id="rId19"/>
    <p:sldId id="353" r:id="rId20"/>
    <p:sldId id="341" r:id="rId21"/>
    <p:sldId id="342" r:id="rId22"/>
    <p:sldId id="343" r:id="rId23"/>
    <p:sldId id="344" r:id="rId24"/>
    <p:sldId id="356" r:id="rId25"/>
    <p:sldId id="357" r:id="rId26"/>
    <p:sldId id="345" r:id="rId27"/>
    <p:sldId id="358" r:id="rId28"/>
    <p:sldId id="377" r:id="rId29"/>
    <p:sldId id="346" r:id="rId30"/>
    <p:sldId id="347" r:id="rId31"/>
    <p:sldId id="34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3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9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Constraint Satisfaction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D11B-C6B9-4274-2766-A1BC12E0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2030-6956-DE89-E9F4-8B596D38B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traditional search we treated each state as black box with no internal structure.</a:t>
            </a:r>
          </a:p>
          <a:p>
            <a:pPr lvl="1"/>
            <a:r>
              <a:rPr lang="en-GB" dirty="0"/>
              <a:t>Each state was atomic or indivisible.</a:t>
            </a:r>
          </a:p>
          <a:p>
            <a:r>
              <a:rPr lang="en-GB" dirty="0"/>
              <a:t>Today we will use a factored representation for each state.</a:t>
            </a:r>
          </a:p>
          <a:p>
            <a:pPr lvl="1"/>
            <a:r>
              <a:rPr lang="en-GB" dirty="0"/>
              <a:t>A set of variables, each of which has a value.</a:t>
            </a:r>
          </a:p>
          <a:p>
            <a:r>
              <a:rPr lang="en-GB" dirty="0"/>
              <a:t>A problem is solved when each variable has a value that satisfies all the constraints on the variable.</a:t>
            </a:r>
          </a:p>
          <a:p>
            <a:r>
              <a:rPr lang="en-GB" dirty="0"/>
              <a:t>A problem described this way is called a constraint satisfaction problem or CSP.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70EAE-30E0-C1E0-D9D3-551E8086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6BA5B-E646-BC12-F4FD-16C8BC40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6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F2880-EDE3-4501-094C-1D2A3F634D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A constraint satisfaction problem consists of three components.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is a set of variables,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is a set of domains,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a set of constraints that specify allowable combinations of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F2880-EDE3-4501-094C-1D2A3F634D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79B9-C4C0-AF70-C773-BB962CD2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FDBF4-2719-5F39-4956-AF9CA3769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consists of a set of allowable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for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.</a:t>
                </a:r>
              </a:p>
              <a:p>
                <a:endParaRPr lang="en-US" b="0" dirty="0"/>
              </a:p>
              <a:p>
                <a:r>
                  <a:rPr lang="en-US" dirty="0"/>
                  <a:t>Each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consists of a pair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𝑠𝑐𝑜𝑝𝑒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𝑠𝑐𝑜𝑝𝑒</m:t>
                    </m:r>
                  </m:oMath>
                </a14:m>
                <a:r>
                  <a:rPr lang="en-US" b="0" dirty="0"/>
                  <a:t> is a tuple of variables that participate in the constraint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𝑟𝑒𝑙</m:t>
                    </m:r>
                  </m:oMath>
                </a14:m>
                <a:r>
                  <a:rPr lang="en-US" b="0" dirty="0"/>
                  <a:t> is a relation that defines the values that those variables can take on.</a:t>
                </a:r>
              </a:p>
              <a:p>
                <a:endParaRPr lang="en-US" dirty="0"/>
              </a:p>
              <a:p>
                <a:r>
                  <a:rPr lang="en-US" b="0" dirty="0"/>
                  <a:t>A relation can be represented as an explicit list of all tuples of values that satisfy the constraint.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FDBF4-2719-5F39-4956-AF9CA3769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0FEFF-B4FC-794E-46AB-115C5874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8231F-091D-D854-E37C-444FAB32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40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89A0-49A3-8515-4094-B3A86BF9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0FFCBB-7CCE-9591-5027-20C14F5FC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9832"/>
                <a:ext cx="10515600" cy="47171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To solve a CSP, we need to define a state space and the notion of a solution.</a:t>
                </a:r>
              </a:p>
              <a:p>
                <a:r>
                  <a:rPr lang="en-US" dirty="0"/>
                  <a:t>Each state in a CSP is defined by an </a:t>
                </a:r>
                <a:r>
                  <a:rPr lang="en-US" b="1" dirty="0"/>
                  <a:t>assignment</a:t>
                </a:r>
                <a:r>
                  <a:rPr lang="en-US" dirty="0"/>
                  <a:t> of values to some or all of the variables,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 assignment that does not violate any constraints is called a </a:t>
                </a:r>
                <a:r>
                  <a:rPr lang="en-US" b="1" i="1" dirty="0"/>
                  <a:t>consistent or legal assignment</a:t>
                </a:r>
                <a:r>
                  <a:rPr lang="en-US" b="1" dirty="0"/>
                  <a:t>.</a:t>
                </a:r>
              </a:p>
              <a:p>
                <a:r>
                  <a:rPr lang="en-US" dirty="0"/>
                  <a:t>A </a:t>
                </a:r>
                <a:r>
                  <a:rPr lang="en-US" b="1" i="1" dirty="0"/>
                  <a:t>complete assignment </a:t>
                </a:r>
                <a:r>
                  <a:rPr lang="en-US" dirty="0"/>
                  <a:t>is one in which every variable is assigned.</a:t>
                </a:r>
              </a:p>
              <a:p>
                <a:r>
                  <a:rPr lang="en-US" dirty="0"/>
                  <a:t>A solution to a CSP is a </a:t>
                </a:r>
                <a:r>
                  <a:rPr lang="en-US" b="1" i="1" dirty="0"/>
                  <a:t>consistent, complete assignment</a:t>
                </a:r>
                <a:r>
                  <a:rPr lang="en-US" i="1" dirty="0"/>
                  <a:t>.</a:t>
                </a:r>
              </a:p>
              <a:p>
                <a:r>
                  <a:rPr lang="en-US" dirty="0"/>
                  <a:t>A partial assignment is one that assigns values to only some of the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0FFCBB-7CCE-9591-5027-20C14F5FC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9832"/>
                <a:ext cx="10515600" cy="4717131"/>
              </a:xfrm>
              <a:blipFill>
                <a:blip r:embed="rId2"/>
                <a:stretch>
                  <a:fillRect l="-1043" t="-3101" r="-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B1C6A-87B7-EF7A-F5E5-C7F593CD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39175-4E4A-82C7-BD39-E8D8A13B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23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ED5A-69DD-D902-24CE-CB9AA4CD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526E-CA80-F659-6029-E260F8504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map</a:t>
            </a:r>
          </a:p>
          <a:p>
            <a:r>
              <a:rPr lang="en-US" dirty="0"/>
              <a:t>We need to color each region either </a:t>
            </a:r>
            <a:br>
              <a:rPr lang="en-US" dirty="0"/>
            </a:br>
            <a:r>
              <a:rPr lang="en-US" i="1" dirty="0"/>
              <a:t>red, green, or blue </a:t>
            </a:r>
            <a:r>
              <a:rPr lang="en-US" dirty="0"/>
              <a:t>in such a way</a:t>
            </a:r>
            <a:br>
              <a:rPr lang="en-US" dirty="0"/>
            </a:br>
            <a:r>
              <a:rPr lang="en-US" dirty="0"/>
              <a:t>that no neighboring regions have </a:t>
            </a:r>
            <a:br>
              <a:rPr lang="en-US" dirty="0"/>
            </a:br>
            <a:r>
              <a:rPr lang="en-US" dirty="0"/>
              <a:t>the same color.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74EED-A38E-43BD-E641-21134F52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26DE4-E58C-F073-99A6-26EF12B3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C138A-0D21-0438-EF7F-787643B8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328" y="1825625"/>
            <a:ext cx="4688823" cy="39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3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DCBF-40F8-E6F1-EAF3-FD1E807E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1DEE-AAA8-CA14-1FE9-C2A38A3C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42553-BE21-D59A-6B83-1037082D78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formulate this as a CSP, we </a:t>
                </a:r>
                <a:br>
                  <a:rPr lang="en-US" dirty="0"/>
                </a:br>
                <a:r>
                  <a:rPr lang="en-US" dirty="0"/>
                  <a:t>define the variables to be the </a:t>
                </a:r>
                <a:br>
                  <a:rPr lang="en-US" dirty="0"/>
                </a:br>
                <a:r>
                  <a:rPr lang="en-US" dirty="0"/>
                  <a:t>region.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𝑁𝑆𝑊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domain of each variable is</a:t>
                </a:r>
                <a:br>
                  <a:rPr lang="en-US" dirty="0"/>
                </a:br>
                <a:r>
                  <a:rPr lang="en-US" dirty="0"/>
                  <a:t>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42553-BE21-D59A-6B83-1037082D7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20D1-5BC3-E6D5-E729-4F538292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9CE21-4EB3-879C-F580-F22D48FE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48E9B-CC80-3FE2-9749-90826AB7F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177" y="1870075"/>
            <a:ext cx="4688823" cy="39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5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1D91-B409-04CF-EDA5-96F149B1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2371-E152-5317-BE5C-9EE1B922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4A86-9900-5424-243C-01810E938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constraints require neighboring</a:t>
            </a:r>
            <a:br>
              <a:rPr lang="en-US" dirty="0"/>
            </a:br>
            <a:r>
              <a:rPr lang="en-US" dirty="0"/>
              <a:t>regions to have distinct colors.</a:t>
            </a:r>
          </a:p>
          <a:p>
            <a:r>
              <a:rPr lang="en-US" b="0" dirty="0"/>
              <a:t>There are nine places where regions</a:t>
            </a:r>
            <a:br>
              <a:rPr lang="en-US" b="0" dirty="0"/>
            </a:br>
            <a:r>
              <a:rPr lang="en-US" b="0" dirty="0"/>
              <a:t> border.</a:t>
            </a:r>
          </a:p>
          <a:p>
            <a:r>
              <a:rPr lang="en-US" dirty="0"/>
              <a:t>We get nine constraints.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432AF-565D-9040-F4AD-FA12F651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49FD6-6094-69BC-027D-9352B831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D433A-3C55-CAF6-43D4-AE97B0E32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795" y="1870075"/>
            <a:ext cx="4511644" cy="380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2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F0EF-550F-3950-C301-52F38F78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9E417-EE11-8F15-87A6-2551C0D7BD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9E417-EE11-8F15-87A6-2551C0D7B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9F1C-EEDA-41F2-EFC2-11EC897B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956CB-C80E-F5E8-14D9-0080AA41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7A993-1DC6-369A-05DD-16F80F53E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87819"/>
            <a:ext cx="7376160" cy="31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CADF-CB3E-4E6A-05BB-F9C8E8EB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9908-3555-0B93-38F1-AD41E487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8DA2A-97CF-FC38-4A19-2E71EFE52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𝑊𝐴</m:t>
                    </m:r>
                  </m:oMath>
                </a14:m>
                <a:r>
                  <a:rPr lang="en-GB" dirty="0"/>
                  <a:t> is the shortcut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⟨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𝑊𝐴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8DA2A-97CF-FC38-4A19-2E71EFE52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12504-B748-B03B-9718-BAA9246D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7180E-7C0A-A7B7-29EB-8EEBF09D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8CE10E-2CA0-CC94-611D-366450192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87819"/>
            <a:ext cx="7376160" cy="31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3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0390-CCCC-E338-7C2B-CA2461424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E229-6BE6-BAE0-338C-E5C214E9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FBB74D-3503-F88B-B4C7-725B385BA2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One possible solution is 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𝑊𝐴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𝑏𝑙𝑢𝑒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FBB74D-3503-F88B-B4C7-725B385BA2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B0176-4DFE-689B-C29D-E8C8BFC7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B5EC6-FE9B-EA0E-A737-0AB55620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4B3E2F-14F5-7EFB-C3DF-C454767C0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87819"/>
            <a:ext cx="7376160" cy="31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1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81C2-D623-79B3-C14B-68AE065F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CDDC-68FD-E464-2329-08294FD9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4340-8231-CB86-5A25-5130A7EE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visualize a CSP as a constraint graph.</a:t>
            </a:r>
          </a:p>
          <a:p>
            <a:pPr marL="0" indent="0">
              <a:buNone/>
            </a:pPr>
            <a:r>
              <a:rPr lang="en-GB" sz="2000" dirty="0"/>
              <a:t>The nodes correspond to variables.</a:t>
            </a:r>
          </a:p>
          <a:p>
            <a:pPr marL="0" indent="0">
              <a:buNone/>
            </a:pPr>
            <a:r>
              <a:rPr lang="en-GB" sz="2000" dirty="0"/>
              <a:t>The edges connects any two variable that </a:t>
            </a:r>
          </a:p>
          <a:p>
            <a:pPr marL="0" indent="0">
              <a:buNone/>
            </a:pPr>
            <a:r>
              <a:rPr lang="en-GB" sz="2000" dirty="0"/>
              <a:t>participate in a constraint.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05862-FB11-CF6D-7154-D8E99FC6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97EB5-FE50-C23E-8563-04A325AF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E55A4-10E3-51EB-495C-87F06394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110" y="2395728"/>
            <a:ext cx="4198852" cy="35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7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85F3-9FA7-8385-0E04-15220760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CSP?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3088D-BBD8-6621-2D66-4CC25257F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772400" cy="4351338"/>
              </a:xfrm>
            </p:spPr>
            <p:txBody>
              <a:bodyPr/>
              <a:lstStyle/>
              <a:p>
                <a:r>
                  <a:rPr lang="en-GB" dirty="0"/>
                  <a:t>Faster than state-space searchers.</a:t>
                </a:r>
              </a:p>
              <a:p>
                <a:r>
                  <a:rPr lang="en-GB" dirty="0"/>
                  <a:t>Quickly eliminates a large portion of search space.</a:t>
                </a:r>
              </a:p>
              <a:p>
                <a:r>
                  <a:rPr lang="en-GB" dirty="0"/>
                  <a:t>For example,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𝑏𝑙𝑢𝑒</m:t>
                    </m:r>
                  </m:oMath>
                </a14:m>
                <a:r>
                  <a:rPr lang="en-GB" dirty="0"/>
                  <a:t>, then all 5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𝑛𝑒𝑖𝑔h𝑏𝑜𝑟𝑠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𝑏𝑙𝑢𝑒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Without constraint propagation: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3⁵ = 243 </m:t>
                    </m:r>
                  </m:oMath>
                </a14:m>
                <a:r>
                  <a:rPr lang="en-GB" dirty="0"/>
                  <a:t>possibilities.</a:t>
                </a:r>
              </a:p>
              <a:p>
                <a:r>
                  <a:rPr lang="en-GB" dirty="0"/>
                  <a:t>With propagation (no blue allowed):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2⁵ = 32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87% fewer assignments.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3088D-BBD8-6621-2D66-4CC25257F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772400" cy="4351338"/>
              </a:xfrm>
              <a:blipFill>
                <a:blip r:embed="rId2"/>
                <a:stretch>
                  <a:fillRect l="-1412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8ABDA-2EB8-B0B1-5852-DFAA8ED2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4D0F1-086B-A435-B7FF-3C4E2CF9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26573D-0549-B6F2-DA67-7934E7D15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592" y="2240280"/>
            <a:ext cx="3319215" cy="27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6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4D71-6E70-83F7-C881-B8E3F6D0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107F4-55ED-FE16-9A3B-16887736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the problem of scheduling the assembly of a car.</a:t>
            </a:r>
          </a:p>
          <a:p>
            <a:r>
              <a:rPr lang="en-GB" dirty="0"/>
              <a:t>The whole job is composed of tasks.</a:t>
            </a:r>
          </a:p>
          <a:p>
            <a:r>
              <a:rPr lang="en-GB" dirty="0"/>
              <a:t>We can model each task as a variable.</a:t>
            </a:r>
          </a:p>
          <a:p>
            <a:r>
              <a:rPr lang="en-GB" dirty="0"/>
              <a:t>Value of each variable is the time that  the task starts.</a:t>
            </a:r>
          </a:p>
          <a:p>
            <a:pPr lvl="1"/>
            <a:r>
              <a:rPr lang="en-GB" dirty="0"/>
              <a:t>Expressed as an integer number of minutes.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F2E62-72D6-5D09-DC85-06957FE6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64C97-C361-2924-C89A-2290E649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06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2BE67-7327-4C1D-C9BD-80129933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BEEF-029F-3344-E68C-529DD67D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3D8B-43BC-A3EC-F2EF-7C9B17AA1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Constraints can assert that one task must occur before another.</a:t>
            </a:r>
          </a:p>
          <a:p>
            <a:r>
              <a:rPr lang="en-GB" dirty="0"/>
              <a:t>Only so many tasks can go on at once.</a:t>
            </a:r>
          </a:p>
          <a:p>
            <a:r>
              <a:rPr lang="en-GB" dirty="0"/>
              <a:t>Also specify that a task takes a certain amount of time to complete.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548C0-F455-0B5D-EFF4-A3AEBE2A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6FA96-BBBE-B9E0-322C-FA3D41A9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40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04D6-B097-B5FC-ECEB-2F8CD9E5A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7458-14F1-FA55-1DB3-1645BC6602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Consider a small part of the car assembly.</a:t>
                </a:r>
              </a:p>
              <a:p>
                <a:r>
                  <a:rPr lang="en-GB" dirty="0"/>
                  <a:t>Consists of 15 task.</a:t>
                </a:r>
              </a:p>
              <a:p>
                <a:pPr lvl="1"/>
                <a:r>
                  <a:rPr lang="en-GB" dirty="0"/>
                  <a:t>Install axles (front and back)</a:t>
                </a:r>
              </a:p>
              <a:p>
                <a:pPr lvl="1"/>
                <a:r>
                  <a:rPr lang="en-GB" dirty="0"/>
                  <a:t>Affix all four wheels (right and left, front and back)</a:t>
                </a:r>
              </a:p>
              <a:p>
                <a:pPr lvl="1"/>
                <a:r>
                  <a:rPr lang="en-GB" dirty="0"/>
                  <a:t>Tighten nuts for each wheel</a:t>
                </a:r>
              </a:p>
              <a:p>
                <a:pPr lvl="1"/>
                <a:r>
                  <a:rPr lang="en-GB" dirty="0"/>
                  <a:t>Affix hubcaps</a:t>
                </a:r>
              </a:p>
              <a:p>
                <a:pPr lvl="1"/>
                <a:r>
                  <a:rPr lang="en-GB" dirty="0"/>
                  <a:t>Inspect the final assembly.</a:t>
                </a:r>
              </a:p>
              <a:p>
                <a:r>
                  <a:rPr lang="en-GB" dirty="0"/>
                  <a:t>Using variables: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𝐼𝑛𝑠𝑝𝑒𝑐𝑡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7458-14F1-FA55-1DB3-1645BC660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254D5-DC2A-2919-E754-FE4E6E01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645F4-5576-F70E-4348-8F2704A7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3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9FF9-F0F7-EE93-3174-C290992B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6EEB4-1E1D-772B-2C18-59531EA02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Value of each variable is the time that the task starts.</a:t>
                </a:r>
              </a:p>
              <a:p>
                <a:r>
                  <a:rPr lang="en-GB" dirty="0"/>
                  <a:t>Now we can add precedence constraints.</a:t>
                </a:r>
              </a:p>
              <a:p>
                <a:r>
                  <a:rPr lang="en-GB" dirty="0"/>
                  <a:t>Whenever a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must occur before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/>
                  <a:t> and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takes duration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to complete, we add an arithmetic constraint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6EEB4-1E1D-772B-2C18-59531EA02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2ACEE-4623-1F54-F2C6-58E55EFD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ED03-0F8D-DF4C-5C44-B54FE87A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99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CC42-2CBF-64F2-D816-8734C8D1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78B9EF-8329-48C5-F346-64E0D9A32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Suppose we have four workers to install wheels, but they have to share one tool that helps put the axle in place.</a:t>
                </a:r>
              </a:p>
              <a:p>
                <a:endParaRPr lang="en-GB" dirty="0"/>
              </a:p>
              <a:p>
                <a:r>
                  <a:rPr lang="en-GB" dirty="0"/>
                  <a:t>We need a disjunctive constraints to say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𝐴𝑥𝑙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𝐴𝑥𝑙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GB" dirty="0"/>
                  <a:t> must not overlap in time; either one comes first or the other does: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𝐴𝑥𝑙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+10≤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𝐴𝑥𝑙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+10≤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- Combines logic and arithmetic.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78B9EF-8329-48C5-F346-64E0D9A32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72A5D-3922-33EA-C58F-C8042CED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A1552-9B9C-99DD-84FD-B224EE43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85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E445-1B3D-D196-6F48-9B6C0667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BD681-5059-2823-F9A3-8F44B96179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also say that inspection comes last and takes 3 minutes.</a:t>
                </a:r>
              </a:p>
              <a:p>
                <a:r>
                  <a:rPr lang="en-GB" dirty="0"/>
                  <a:t>For every variable except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𝐼𝑛𝑠𝑝𝑒𝑐𝑡</m:t>
                    </m:r>
                  </m:oMath>
                </a14:m>
                <a:r>
                  <a:rPr lang="en-GB" dirty="0"/>
                  <a:t> we add a constraint of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𝐼𝑛𝑠𝑝𝑒𝑐𝑡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Finally, suppose there is a requirement to get the whole assembly done in 30 minutes.</a:t>
                </a:r>
              </a:p>
              <a:p>
                <a:r>
                  <a:rPr lang="en-GB" dirty="0"/>
                  <a:t>We can limit the domain of all variables to: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={1, 2, 3, …, 27}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Our target is to assign a value to each variable to satisfy all these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BD681-5059-2823-F9A3-8F44B9617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539EC-22AD-812B-6875-FE58B5BB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C04DA-43DC-5BCB-E39F-2720272A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35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8E92-5220-D6E2-E5D3-F3E2AAE5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in CSP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35B9D-CFE1-281C-509E-DB8E88BB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regular state-space search, an algorithm can do only one thing. – </a:t>
            </a:r>
            <a:r>
              <a:rPr lang="en-GB" b="1" dirty="0"/>
              <a:t>search</a:t>
            </a:r>
            <a:r>
              <a:rPr lang="en-GB" dirty="0"/>
              <a:t>.</a:t>
            </a:r>
          </a:p>
          <a:p>
            <a:r>
              <a:rPr lang="en-GB" dirty="0"/>
              <a:t>In CSP there is a choice.</a:t>
            </a:r>
          </a:p>
          <a:p>
            <a:pPr lvl="1"/>
            <a:r>
              <a:rPr lang="en-GB" dirty="0"/>
              <a:t>Search.</a:t>
            </a:r>
          </a:p>
          <a:p>
            <a:pPr lvl="2"/>
            <a:r>
              <a:rPr lang="en-GB" dirty="0"/>
              <a:t>Choose a new variable assignment from several possibilities.</a:t>
            </a:r>
          </a:p>
          <a:p>
            <a:pPr lvl="1"/>
            <a:r>
              <a:rPr lang="en-GB" dirty="0"/>
              <a:t>Do a specific type of inference called </a:t>
            </a:r>
            <a:r>
              <a:rPr lang="en-GB" b="1" dirty="0"/>
              <a:t>constraint propagation</a:t>
            </a:r>
            <a:r>
              <a:rPr lang="en-GB" dirty="0"/>
              <a:t>.</a:t>
            </a:r>
          </a:p>
          <a:p>
            <a:r>
              <a:rPr lang="en-GB" dirty="0"/>
              <a:t>Constraint propagation can run before or during search.</a:t>
            </a:r>
          </a:p>
          <a:p>
            <a:r>
              <a:rPr lang="en-GB" dirty="0"/>
              <a:t>Sometimes it even solves the problem entirely.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BD36F-3A12-7AB2-95B2-C8BA0C75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A4D1A-B0C7-F0B2-ADD7-95F9D9B7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50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C635-25DE-EC0F-C474-CDBED128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217B-C88B-41C5-AD8C-BE1139054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Local consistency prunes inconsistent values from the graph.</a:t>
            </a:r>
          </a:p>
          <a:p>
            <a:r>
              <a:rPr lang="en-GB" dirty="0"/>
              <a:t>Variables are represented as nodes, and binary constraints as arcs.</a:t>
            </a:r>
          </a:p>
          <a:p>
            <a:r>
              <a:rPr lang="en-GB" dirty="0"/>
              <a:t>Enforcing consistency checks each part of the graph to eliminate invalid values.</a:t>
            </a:r>
          </a:p>
          <a:p>
            <a:r>
              <a:rPr lang="en-GB" dirty="0"/>
              <a:t>There are different types of local consistency, like node, arc, and path consistency.</a:t>
            </a:r>
          </a:p>
          <a:p>
            <a:r>
              <a:rPr lang="en-GB" dirty="0"/>
              <a:t>This process reduces the search space, sometimes dramatically.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6066-B57D-2A65-89A8-4C3D7310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62C02-7FBD-1FD8-0CEB-595029C9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7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55C4-417E-0031-172E-4FB7D7BD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9D42D-1D14-16CF-756C-629456F70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variable is node-consistent if all its values satisfy unary constraints.</a:t>
            </a:r>
          </a:p>
          <a:p>
            <a:r>
              <a:rPr lang="en-GB" dirty="0"/>
              <a:t>Example: SA = {red, green, blue}, </a:t>
            </a:r>
          </a:p>
          <a:p>
            <a:r>
              <a:rPr lang="en-GB" dirty="0"/>
              <a:t>But SA dislikes green → reduced to {red, blue}.</a:t>
            </a:r>
          </a:p>
          <a:p>
            <a:r>
              <a:rPr lang="en-GB" dirty="0"/>
              <a:t>A network is node-consistent if every variable is node-consistent.</a:t>
            </a:r>
          </a:p>
          <a:p>
            <a:r>
              <a:rPr lang="en-GB" dirty="0"/>
              <a:t>Running node consistency eliminates all unary constraints.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E0F50-9817-2863-3E15-10F7D3A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ACAB-8059-14B2-F740-C791FD0C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0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5A91-FE31-CFD8-06C1-173DD388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CB737-8E6A-7458-02CC-A47A6C0B8B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</a:t>
                </a:r>
                <a:r>
                  <a:rPr lang="en-GB" b="1" dirty="0"/>
                  <a:t>arc-consistent</a:t>
                </a:r>
                <a:r>
                  <a:rPr lang="en-GB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if every value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’s domain has a matching value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’s domain satisfying the binary constraint.</a:t>
                </a:r>
              </a:p>
              <a:p>
                <a:r>
                  <a:rPr lang="en-GB" dirty="0"/>
                  <a:t>A network is arc-consistent if all variables are arc-consistent with their </a:t>
                </a:r>
                <a:r>
                  <a:rPr lang="en-GB" dirty="0" err="1"/>
                  <a:t>neighbors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Example: Constraint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GB" dirty="0"/>
                  <a:t>, domains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{0,1,2,3,4,9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After arc consistency: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→ {0,1,2,3},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→ {0,1,4,9}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Some problems (like map-</a:t>
                </a:r>
                <a:r>
                  <a:rPr lang="en-GB" dirty="0" err="1"/>
                  <a:t>coloring</a:t>
                </a:r>
                <a:r>
                  <a:rPr lang="en-GB" dirty="0"/>
                  <a:t>) may see </a:t>
                </a:r>
                <a:r>
                  <a:rPr lang="en-GB" b="1" dirty="0"/>
                  <a:t>no domain reduction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CB737-8E6A-7458-02CC-A47A6C0B8B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6E51-84E4-40C6-E1EA-3E414FC8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DB413-BA56-9861-D97D-00704F69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61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DA5A-071A-6A60-7476-48220A417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8459"/>
          </a:xfrm>
        </p:spPr>
        <p:txBody>
          <a:bodyPr/>
          <a:lstStyle/>
          <a:p>
            <a:r>
              <a:rPr lang="en-GB" dirty="0"/>
              <a:t>Arc Consistency – AC-3 Algorithm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73238D-1E2A-5D48-9228-DE4E61A49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247" y="1325880"/>
            <a:ext cx="8653923" cy="516699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52272-AD51-F699-5F07-50538C63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9595B-B927-5D3E-B7DB-A407D3D37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478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D5D-5F9F-6356-EE66-57333667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 Consistency – AC-3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740F8-E1C7-C725-B343-6F6E6D2338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Assume a CSP with n variables, each with domain size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dirty="0"/>
                  <a:t>and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binary constraints (arcs).</a:t>
                </a:r>
              </a:p>
              <a:p>
                <a:r>
                  <a:rPr lang="en-GB" dirty="0"/>
                  <a:t>Each arc can be inserted in the queue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times.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has at most d values to delete.</a:t>
                </a:r>
              </a:p>
              <a:p>
                <a:r>
                  <a:rPr lang="en-GB" dirty="0"/>
                  <a:t>Checking consistency can be done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time.</a:t>
                </a:r>
              </a:p>
              <a:p>
                <a:r>
                  <a:rPr lang="en-GB" dirty="0"/>
                  <a:t>Hence, we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total worst-case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740F8-E1C7-C725-B343-6F6E6D2338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2EF1B-5092-5B74-A0F9-A78E0B34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846CB-4247-5514-784D-67FA5ACC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21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C66A-0EF2-4F45-329D-82FEF913F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8454"/>
          </a:xfrm>
        </p:spPr>
        <p:txBody>
          <a:bodyPr/>
          <a:lstStyle/>
          <a:p>
            <a:r>
              <a:rPr lang="en-GB" dirty="0"/>
              <a:t>Path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97C0-E89D-A367-6477-F2A57401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211"/>
            <a:ext cx="10515600" cy="4572752"/>
          </a:xfrm>
        </p:spPr>
        <p:txBody>
          <a:bodyPr>
            <a:normAutofit/>
          </a:bodyPr>
          <a:lstStyle/>
          <a:p>
            <a:r>
              <a:rPr lang="en-US" dirty="0"/>
              <a:t>Arc consistency reduces domains and can sometimes:</a:t>
            </a:r>
          </a:p>
          <a:p>
            <a:pPr lvl="1"/>
            <a:r>
              <a:rPr lang="en-US" dirty="0"/>
              <a:t>Solve the CSP (all domains size 1)</a:t>
            </a:r>
          </a:p>
          <a:p>
            <a:pPr lvl="1"/>
            <a:r>
              <a:rPr lang="en-US" dirty="0"/>
              <a:t>Detect failure (some domain size 0)</a:t>
            </a:r>
          </a:p>
          <a:p>
            <a:r>
              <a:rPr lang="en-US" dirty="0"/>
              <a:t>Some networks remain unresolved:</a:t>
            </a:r>
          </a:p>
          <a:p>
            <a:pPr lvl="1"/>
            <a:r>
              <a:rPr lang="en-US" dirty="0"/>
              <a:t>Australia map-coloring with 2 colors</a:t>
            </a:r>
          </a:p>
          <a:p>
            <a:pPr lvl="1"/>
            <a:r>
              <a:rPr lang="en-US" dirty="0"/>
              <a:t>Every variable is already arc-consistent</a:t>
            </a:r>
          </a:p>
          <a:p>
            <a:pPr lvl="1"/>
            <a:r>
              <a:rPr lang="en-US" dirty="0"/>
              <a:t>WA, NT, SA all touch → need ≥3 colors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770A3-CEFD-4E99-CBDE-E6B53CED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01E59-2DCD-21E6-C288-9E0AA14C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10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D297-813C-04FE-CABE-0BDFDE4B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Path Consistency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A6E5D-EF67-0168-899C-00183B4630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Arc consistency uses binary constraints; path consistency uses triples of variables.</a:t>
                </a:r>
              </a:p>
              <a:p>
                <a:r>
                  <a:rPr lang="en-US" dirty="0"/>
                  <a:t>A pair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is path-consistent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if:</a:t>
                </a:r>
              </a:p>
              <a:p>
                <a:pPr lvl="1"/>
                <a:r>
                  <a:rPr lang="en-US" dirty="0"/>
                  <a:t>For every consistent assignment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there exists a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satisfying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constraints.</a:t>
                </a:r>
              </a:p>
              <a:p>
                <a:r>
                  <a:rPr lang="en-US" dirty="0"/>
                  <a:t>Think of it as looking at a “path”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tighten domains further.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A6E5D-EF67-0168-899C-00183B463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97F08-33AA-C428-2A5A-AD30FF0D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1D752-71E7-6FD4-3C7C-F68C82B9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92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E200-40EC-FD50-A5BF-53FB32CF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Path Consistency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03ADA-48FD-D502-FDEB-7E8F295A81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78642" cy="4351338"/>
              </a:xfrm>
            </p:spPr>
            <p:txBody>
              <a:bodyPr/>
              <a:lstStyle/>
              <a:p>
                <a:r>
                  <a:rPr lang="en-US" dirty="0"/>
                  <a:t>We will make the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path consistent w.r.t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Consider there are only two colors: red, blue.</a:t>
                </a:r>
              </a:p>
              <a:p>
                <a:r>
                  <a:rPr lang="en-US" dirty="0"/>
                  <a:t>So there are two valid arc: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blue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red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Using two colors there are no valid assignment left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𝑁𝑇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03ADA-48FD-D502-FDEB-7E8F295A81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78642" cy="4351338"/>
              </a:xfrm>
              <a:blipFill>
                <a:blip r:embed="rId2"/>
                <a:stretch>
                  <a:fillRect l="-196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3533C-E6DD-D2BA-50F7-83059331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A7CD4-7562-5A0E-D7D5-CCA25FE5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895AF-FB0A-9902-C6F7-34B66B92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941" y="1825625"/>
            <a:ext cx="4198852" cy="35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0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1838-4CBE-5961-CA27-8DF5C222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0F5C98-964B-3AF5-8ECE-C6F4B8DB0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 CSP is k-consistent if, for any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variables and for any consistent assignment to those variables, a consistent value can always be assigned to any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𝑘𝑡h</m:t>
                    </m:r>
                  </m:oMath>
                </a14:m>
                <a:r>
                  <a:rPr lang="en-GB" dirty="0"/>
                  <a:t> variable.</a:t>
                </a:r>
              </a:p>
              <a:p>
                <a:r>
                  <a:rPr lang="en-GB" dirty="0"/>
                  <a:t>1-consistency – node consistency.</a:t>
                </a:r>
              </a:p>
              <a:p>
                <a:r>
                  <a:rPr lang="en-GB" dirty="0"/>
                  <a:t>2-consistency – arc consistency.</a:t>
                </a:r>
              </a:p>
              <a:p>
                <a:r>
                  <a:rPr lang="en-GB" dirty="0"/>
                  <a:t>3-consistency – path consistency.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0F5C98-964B-3AF5-8ECE-C6F4B8DB0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B11A-C068-6716-1998-6D9C6659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72D07-AF6C-175C-9794-092F7AA7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49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FF84-6DCB-2650-1935-64D2E6EA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58468-6688-CF4F-AFCB-90225FD1C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A CSP is strongly k-consistent if it is k-consistent and is also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GB" dirty="0"/>
                  <a:t> consistent,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dirty="0"/>
                  <a:t>-consistent, … and all the way down to 1-consistent.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58468-6688-CF4F-AFCB-90225FD1C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A231F-F0B3-F7C0-766D-08BEEC07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AD1C7-EF2E-BFFD-EB3F-B77BACD3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829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8342-6118-6C89-CE31-79736B3D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8673A-DC5D-10C3-F6BE-90D468ED0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Global constraint is one involving an arbitrary number of variables.</a:t>
                </a:r>
              </a:p>
              <a:p>
                <a:pPr lvl="1"/>
                <a:r>
                  <a:rPr lang="en-GB" dirty="0"/>
                  <a:t>Not necessarily all variables.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</m:oMath>
                </a14:m>
                <a:r>
                  <a:rPr lang="en-GB" dirty="0"/>
                  <a:t> constraint says that all the variables involved must have distinct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8673A-DC5D-10C3-F6BE-90D468ED0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76403-94C5-6CEA-CC68-7B04D000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C61E3-089C-BDBF-57E7-CFB3AF5C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1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B10E-C65F-74D6-177D-ADBE04A9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546D5-50EF-3D6F-2676-CE96554CF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28360" cy="4351338"/>
              </a:xfrm>
            </p:spPr>
            <p:txBody>
              <a:bodyPr/>
              <a:lstStyle/>
              <a:p>
                <a:r>
                  <a:rPr lang="en-GB" dirty="0"/>
                  <a:t>A sudoku board consists of 81 squares.</a:t>
                </a:r>
              </a:p>
              <a:p>
                <a:r>
                  <a:rPr lang="en-GB" dirty="0"/>
                  <a:t>Initially some squares are filled with digits from 1 to 9.</a:t>
                </a:r>
              </a:p>
              <a:p>
                <a:r>
                  <a:rPr lang="en-GB" dirty="0"/>
                  <a:t>You need to fill in all the remaining squares such that no digit appears twice in any row, column,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GB" dirty="0"/>
                  <a:t> box.</a:t>
                </a:r>
              </a:p>
              <a:p>
                <a:r>
                  <a:rPr lang="en-GB" dirty="0"/>
                  <a:t>How can you formulate this problem in CSP?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546D5-50EF-3D6F-2676-CE96554CF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28360" cy="4351338"/>
              </a:xfrm>
              <a:blipFill>
                <a:blip r:embed="rId2"/>
                <a:stretch>
                  <a:fillRect l="-1852" t="-2381" r="-617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FFE9-9159-5014-6A27-799A3C51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8B37E-150E-3DC9-D764-6291E566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6D20EA-38FB-BA14-2F5C-A11A43B6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074" y="1825625"/>
            <a:ext cx="4782217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DE6F-8F94-EF55-73BB-8CBB00FB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24769-C6F8-7DCE-6949-6D81EB1E80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There are 81 variables – one for each square.</a:t>
                </a:r>
              </a:p>
              <a:p>
                <a:r>
                  <a:rPr lang="en-GB" dirty="0"/>
                  <a:t>We use the variable names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…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Domain of each empty squares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1, 2, 3, 4, 5, 6, 7, 8, 9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Prefilled squares have a domain consisting of a single value.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24769-C6F8-7DCE-6949-6D81EB1E8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76F5-2D85-63EF-6666-62D709EA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A7D9B-EEAA-05A9-29CB-46F12A83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31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AEFF-0286-4073-D079-61B969D3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342173-4F99-82DF-60C1-47ABEF73A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83" y="1622884"/>
            <a:ext cx="4782217" cy="4801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155AB0-B7E3-515C-1E07-ABE08B26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DBB1-7422-0B68-2870-FBDDF5509F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</p:spPr>
            <p:txBody>
              <a:bodyPr/>
              <a:lstStyle/>
              <a:p>
                <a:r>
                  <a:rPr lang="en-GB" dirty="0"/>
                  <a:t>There are 27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𝐴𝑙𝑙𝐷𝑖𝑓𝑓</m:t>
                    </m:r>
                  </m:oMath>
                </a14:m>
                <a:r>
                  <a:rPr lang="en-GB" dirty="0"/>
                  <a:t> constraints: one for each row, column and box of 9 squares.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DBB1-7422-0B68-2870-FBDDF5509F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  <a:blipFill>
                <a:blip r:embed="rId3"/>
                <a:stretch>
                  <a:fillRect l="-16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26EA3-6300-0F82-7BF9-3C2F151E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4FCC7-32F4-305D-3696-C797D94A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18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8FB5-C9F9-5686-FBDD-CD207F34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3790EC-39E1-0815-5750-62006ADF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154" y="1622884"/>
            <a:ext cx="4782217" cy="4801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34466B-9CD0-D4D2-7B54-1C9B16B3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09439-375D-8438-F21E-EA994C5C6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</p:spPr>
            <p:txBody>
              <a:bodyPr/>
              <a:lstStyle/>
              <a:p>
                <a:r>
                  <a:rPr lang="en-GB" dirty="0"/>
                  <a:t>We can convert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</m:oMath>
                </a14:m>
                <a:r>
                  <a:rPr lang="en-GB" dirty="0"/>
                  <a:t> constraints into binary constraints.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Then we can apply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Using box constraint remove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1, 2, 7, 8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Using column constraint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{5 ,6, 9, 3}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So, we get only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{4}</m:t>
                    </m:r>
                  </m:oMath>
                </a14:m>
                <a:r>
                  <a:rPr lang="en-GB" dirty="0"/>
                  <a:t> – the answer.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09439-375D-8438-F21E-EA994C5C6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  <a:blipFill>
                <a:blip r:embed="rId3"/>
                <a:stretch>
                  <a:fillRect l="-16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BDE43-030C-46BE-712F-A749D64D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B774E-0AF1-2EB5-F4F5-C9FEA4AA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35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22142D-A83B-9558-B752-7CCF4AF704CB}"/>
              </a:ext>
            </a:extLst>
          </p:cNvPr>
          <p:cNvSpPr/>
          <p:nvPr/>
        </p:nvSpPr>
        <p:spPr>
          <a:xfrm>
            <a:off x="10076688" y="3867912"/>
            <a:ext cx="502920" cy="5303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14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DBAD-B953-A0E9-F8F9-F6909B4C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F6B5FD-6CAF-7ADD-F6C2-4F47484DA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83" y="1622884"/>
            <a:ext cx="4782217" cy="4801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C9755B-63CD-1681-053F-C120C6E9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D9E68-963C-EF1B-35F6-455539965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34784" cy="4351338"/>
              </a:xfrm>
            </p:spPr>
            <p:txBody>
              <a:bodyPr/>
              <a:lstStyle/>
              <a:p>
                <a:r>
                  <a:rPr lang="en-GB" dirty="0"/>
                  <a:t>Now 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We can remove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2, 3, 4, 5, 6, 8, 9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b="0" dirty="0"/>
                  <a:t> using column constraint.</a:t>
                </a:r>
              </a:p>
              <a:p>
                <a:pPr lvl="2"/>
                <a:r>
                  <a:rPr lang="en-GB" dirty="0"/>
                  <a:t>We already solved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6.</m:t>
                    </m:r>
                  </m:oMath>
                </a14:m>
                <a:endParaRPr lang="en-GB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GB" b="0" dirty="0"/>
                  <a:t>box/row constraint.</a:t>
                </a:r>
              </a:p>
              <a:p>
                <a:r>
                  <a:rPr lang="en-GB" dirty="0"/>
                  <a:t>We get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GB" b="0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GB" b="0" dirty="0"/>
                  <a:t> – the answer.</a:t>
                </a:r>
              </a:p>
              <a:p>
                <a:r>
                  <a:rPr lang="en-GB" dirty="0"/>
                  <a:t>From arc consistency we get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6=1.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Inference continues and can solve this puzzle without any search algorithm.</a:t>
                </a:r>
                <a:endParaRPr lang="en-GB" b="0" dirty="0"/>
              </a:p>
              <a:p>
                <a:endParaRPr lang="en-GB" b="0" dirty="0"/>
              </a:p>
              <a:p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D9E68-963C-EF1B-35F6-455539965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34784" cy="4351338"/>
              </a:xfrm>
              <a:blipFill>
                <a:blip r:embed="rId3"/>
                <a:stretch>
                  <a:fillRect l="-1560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808C-40CB-8EF5-5F83-802B4771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C452D-D9B4-D365-BF51-2AE87ACE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36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5C09A-5ABA-A4E7-010A-73CEEBA0AF3F}"/>
              </a:ext>
            </a:extLst>
          </p:cNvPr>
          <p:cNvSpPr/>
          <p:nvPr/>
        </p:nvSpPr>
        <p:spPr>
          <a:xfrm>
            <a:off x="10158984" y="5777287"/>
            <a:ext cx="502920" cy="5303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75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B752-7346-4C27-3629-20DA0615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07D0-595B-6BA7-EF67-DF73431E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D9869-1217-B405-7ECC-479B9FC1B9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GB" dirty="0"/>
                  <a:t>Of course, not all sudoku example can be solved using arc consistency.</a:t>
                </a:r>
              </a:p>
              <a:p>
                <a:r>
                  <a:rPr lang="en-GB" dirty="0"/>
                  <a:t>Slightly harder ones can be solved 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b="0" dirty="0"/>
                  <a:t>.</a:t>
                </a:r>
              </a:p>
              <a:p>
                <a:r>
                  <a:rPr lang="en-GB" dirty="0"/>
                  <a:t>To solve the hardest, we need better strategy.</a:t>
                </a:r>
                <a:endParaRPr lang="en-GB" b="0" dirty="0"/>
              </a:p>
              <a:p>
                <a:endParaRPr lang="en-GB" b="0" dirty="0"/>
              </a:p>
              <a:p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D9869-1217-B405-7ECC-479B9FC1B9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CDAE9-ABD1-762C-C1CE-364533A8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7EA72-20D8-42CA-E6FD-F6E0D985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54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9D52-B26A-2975-2DB4-D3F97097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Backtracking Search for CSPs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CF25D-FB3D-17CC-B247-C911709E4E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can apply standard DFS.</a:t>
                </a:r>
              </a:p>
              <a:p>
                <a:r>
                  <a:rPr lang="en-GB" dirty="0"/>
                  <a:t>A state would be a partial assignment.</a:t>
                </a:r>
              </a:p>
              <a:p>
                <a:r>
                  <a:rPr lang="en-GB" dirty="0"/>
                  <a:t>An action would be adding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GB" dirty="0"/>
                  <a:t> to the assignment.</a:t>
                </a:r>
              </a:p>
              <a:p>
                <a:r>
                  <a:rPr lang="en-GB" dirty="0"/>
                  <a:t>At each step we will consider only a single variable.</a:t>
                </a:r>
              </a:p>
              <a:p>
                <a:pPr lvl="1"/>
                <a:r>
                  <a:rPr lang="en-GB" dirty="0"/>
                  <a:t>Why?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CF25D-FB3D-17CC-B247-C911709E4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7CD84-5E48-76FC-C788-54DDB82A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2BB46-A6E0-D789-F4AD-190CED68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39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BD04-A558-8A56-D856-58E27245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r>
              <a:rPr lang="en-GB" dirty="0"/>
              <a:t>Backtracking Search for CSPs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81573B-321F-4F40-7132-26B7F7FBE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889" y="1344953"/>
            <a:ext cx="7624576" cy="49008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94CED-13BB-5030-381C-E107C7A6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4763C-7000-8F07-57BE-102C6BFA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036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3A41-2DE1-57B5-EE09-BA0DCD5F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Backtracking Search for CSPs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1AEFD-17C2-D612-0BEF-B23D12BD6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Earlier we used heuristic functions derived from our knowledge.</a:t>
            </a:r>
          </a:p>
          <a:p>
            <a:r>
              <a:rPr lang="en-GB" dirty="0"/>
              <a:t>We can solve CSPs efficiently without such domain-specific knowledge.</a:t>
            </a:r>
          </a:p>
          <a:p>
            <a:r>
              <a:rPr lang="en-GB" dirty="0"/>
              <a:t>Instead, we can add some sophistication to the unspecified functions.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AD815-97F8-AA1C-B579-4CFE2192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8DD61-E157-4553-8343-430E2BEA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682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92B3-ED0B-6DD7-E102-9540FE68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1B4E-82E7-A405-2A6A-BA6A2E23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r>
              <a:rPr lang="en-GB" dirty="0"/>
              <a:t>Backtracking Search for CSPs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E741B7-301B-E5AB-F10A-1DF995BF3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889" y="1344953"/>
            <a:ext cx="7624576" cy="49008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0E33-D0C6-CA7B-E943-2222DB60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17995-36FD-360D-57CD-53895F91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41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649B6-6700-F7F4-6DCC-C54895C5FD7D}"/>
              </a:ext>
            </a:extLst>
          </p:cNvPr>
          <p:cNvSpPr/>
          <p:nvPr/>
        </p:nvSpPr>
        <p:spPr>
          <a:xfrm>
            <a:off x="3581400" y="2679192"/>
            <a:ext cx="4053840" cy="3200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3AC843-3C0D-D4A7-C6AB-0E402A7B3088}"/>
              </a:ext>
            </a:extLst>
          </p:cNvPr>
          <p:cNvSpPr/>
          <p:nvPr/>
        </p:nvSpPr>
        <p:spPr>
          <a:xfrm>
            <a:off x="4629910" y="2975633"/>
            <a:ext cx="4953001" cy="3200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637E43-74E9-2D58-9583-271604139890}"/>
              </a:ext>
            </a:extLst>
          </p:cNvPr>
          <p:cNvSpPr/>
          <p:nvPr/>
        </p:nvSpPr>
        <p:spPr>
          <a:xfrm>
            <a:off x="4977384" y="3795395"/>
            <a:ext cx="2868168" cy="3200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38985-EE6C-2214-5CDC-DB0E29DE44AA}"/>
              </a:ext>
            </a:extLst>
          </p:cNvPr>
          <p:cNvSpPr txBox="1"/>
          <p:nvPr/>
        </p:nvSpPr>
        <p:spPr>
          <a:xfrm>
            <a:off x="7193280" y="5143715"/>
            <a:ext cx="348916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How to Avoid Repeated Failure?</a:t>
            </a:r>
          </a:p>
        </p:txBody>
      </p:sp>
    </p:spTree>
    <p:extLst>
      <p:ext uri="{BB962C8B-B14F-4D97-AF65-F5344CB8AC3E}">
        <p14:creationId xmlns:p14="http://schemas.microsoft.com/office/powerpoint/2010/main" val="2255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B2FD-E506-F0B6-8AE0-CD7D986C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r>
              <a:rPr lang="en-GB" dirty="0"/>
              <a:t>Variable and Value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D4D219-4814-E722-567C-B92CA22CC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𝑆𝐸𝐿𝐸𝐶𝑇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𝑈𝑁𝐴𝑆𝑆𝐼𝐺𝑁𝐸𝐷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𝑉𝐴𝑅𝐼𝐴𝐵𝐿𝐸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𝑐𝑠𝑝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Simplest strategy is to select the next unassigned variable in order,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GB" b="0" dirty="0"/>
              </a:p>
              <a:p>
                <a:pPr lvl="1"/>
                <a:r>
                  <a:rPr lang="en-GB" dirty="0"/>
                  <a:t>Seldomly produces efficient search.</a:t>
                </a:r>
              </a:p>
              <a:p>
                <a:r>
                  <a:rPr lang="en-GB" b="0" dirty="0"/>
                  <a:t>Another option is to choose the variable with the fewest legal values.</a:t>
                </a:r>
              </a:p>
              <a:p>
                <a:pPr lvl="1"/>
                <a:r>
                  <a:rPr lang="en-GB" dirty="0"/>
                  <a:t>Minimum Remaining Values (MRV) heuristic.</a:t>
                </a:r>
              </a:p>
              <a:p>
                <a:pPr lvl="1"/>
                <a:r>
                  <a:rPr lang="en-GB" b="0" dirty="0"/>
                  <a:t>Also called “most constrained variable”</a:t>
                </a:r>
                <a:r>
                  <a:rPr lang="en-GB" dirty="0"/>
                  <a:t> or “fail-first” heuristic.</a:t>
                </a:r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D4D219-4814-E722-567C-B92CA22CC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518C9-668C-3543-101F-97931DBF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9FA38-0EBD-92D4-9DC0-298FB1D4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04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6A9A-ABD5-36C4-4682-00600901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FF43-3923-532F-F1AB-19DAA655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r>
              <a:rPr lang="en-GB" dirty="0"/>
              <a:t>Variable and Value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2D5D5-7253-B9E7-C5D9-226CC17AEB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𝑆𝐸𝐿𝐸𝐶𝑇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𝑈𝑁𝐴𝑆𝑆𝐼𝐺𝑁𝐸𝐷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𝑉𝐴𝑅𝐼𝐴𝐵𝐿𝐸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𝑐𝑠𝑝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how do we select the first variable?</a:t>
                </a:r>
              </a:p>
              <a:p>
                <a:r>
                  <a:rPr lang="en-GB" b="0" dirty="0"/>
                  <a:t>We can use the degree heuristic.</a:t>
                </a:r>
              </a:p>
              <a:p>
                <a:r>
                  <a:rPr lang="en-GB" dirty="0"/>
                  <a:t>Select the variable that is involved in the largest number of constraints on other unassigned variable.</a:t>
                </a:r>
              </a:p>
              <a:p>
                <a:r>
                  <a:rPr lang="en-GB" b="0" dirty="0"/>
                  <a:t>Degree heuristic i</a:t>
                </a:r>
                <a:r>
                  <a:rPr lang="en-GB" dirty="0"/>
                  <a:t>s normally used as tie-breaker.</a:t>
                </a:r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2D5D5-7253-B9E7-C5D9-226CC17AE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DF242-D638-61A4-D515-0514B1C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B0C53-E39A-FFB1-A1C4-C9E03B40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23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3BD0-6EC3-D669-7681-A8FAF45CF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and Value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15F00-5AE3-F702-B69A-2D983E2C9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a variable is chosen, we need to select the order of value to assign.</a:t>
            </a:r>
          </a:p>
          <a:p>
            <a:r>
              <a:rPr lang="en-GB" dirty="0"/>
              <a:t>We can use the least-constraining –value heuristic.</a:t>
            </a:r>
          </a:p>
          <a:p>
            <a:pPr lvl="1"/>
            <a:r>
              <a:rPr lang="en-GB" dirty="0"/>
              <a:t>Use the value that rules out the fewest choices for neighbouring variables.</a:t>
            </a:r>
          </a:p>
          <a:p>
            <a:pPr lvl="1"/>
            <a:endParaRPr lang="en-GB" dirty="0"/>
          </a:p>
          <a:p>
            <a:r>
              <a:rPr lang="en-GB" dirty="0"/>
              <a:t>Why should variable selection be fail-first, but value selection be fail-last?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D5296-C831-79F7-914D-2F45645F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2FFD5-987D-1B36-B8D3-410B4E30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00DB-77D6-098F-0B45-B9359E40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Interleaving search and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D1073-AFEC-76FF-5390-D0F404A13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of the simplest forms of inference in called </a:t>
            </a:r>
            <a:r>
              <a:rPr lang="en-GB" b="1" dirty="0"/>
              <a:t>forward checking.</a:t>
            </a:r>
          </a:p>
          <a:p>
            <a:r>
              <a:rPr lang="en-GB" dirty="0"/>
              <a:t>Whenever a variable X is assigned, the forward-checking process establishes arc consistency for it.</a:t>
            </a:r>
          </a:p>
          <a:p>
            <a:pPr lvl="1"/>
            <a:r>
              <a:rPr lang="en-GB" dirty="0"/>
              <a:t>For any node Y connected with node X, delete from Y’s domain any value that is inconsistent with the value chosen for X.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29A2D-6C33-E2AB-C45B-12DC3B7A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546C4-D84A-3810-A3FA-8D104205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30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63FF-CC62-FCC8-7668-FCAC0BDB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Interleaving search and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FBA86-B1F5-D950-1062-EA4DBEF5F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Although forward checking detects many inconsistencies, it does not detect all of them.</a:t>
                </a:r>
              </a:p>
              <a:p>
                <a:pPr lvl="1"/>
                <a:r>
                  <a:rPr lang="en-GB" dirty="0"/>
                  <a:t>It only makes the current variable arc consistent but not all of them.</a:t>
                </a:r>
              </a:p>
              <a:p>
                <a:r>
                  <a:rPr lang="en-GB" dirty="0"/>
                  <a:t>Maintaining Arc Consistency (MAC) detects this inconsistency.</a:t>
                </a:r>
              </a:p>
              <a:p>
                <a:r>
                  <a:rPr lang="en-GB" dirty="0"/>
                  <a:t>After 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assigned a value, the INFERENCE procedure calls AC-3.</a:t>
                </a:r>
              </a:p>
              <a:p>
                <a:pPr lvl="1"/>
                <a:r>
                  <a:rPr lang="en-GB" dirty="0"/>
                  <a:t>Instead of a queue of all arcs in the CSP, we start with only the arcs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that are unassigned variables that are neighbours of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FBA86-B1F5-D950-1062-EA4DBEF5F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1315-C7DC-D8FF-85C5-B1FE86FA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C16A5-73B0-1B46-6886-A88BD267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22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C675-5521-5E63-EFD7-64FA27D1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Intelligent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3B418-EFEA-93EB-188D-08619A654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algorithm we have learned, whenever a branch failed we backed up to the preceding variable and tried a different value for it.</a:t>
            </a:r>
          </a:p>
          <a:p>
            <a:r>
              <a:rPr lang="en-GB" dirty="0"/>
              <a:t>This is called </a:t>
            </a:r>
            <a:r>
              <a:rPr lang="en-GB" b="1" dirty="0"/>
              <a:t>chronological backtracking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717C9-64C2-D046-A556-90D9168A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4BD69-0D9F-AEA9-8B74-1B065605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45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FF67-3142-71DB-129C-D911EADA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1F34-3CA8-7EFF-8B71-3FE62DA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Intelligent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38AD2-3CAA-B554-2781-FCB6A4D1B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more intelligent approach is to backtrack to a variable that might fix the problem.</a:t>
            </a:r>
          </a:p>
          <a:p>
            <a:pPr lvl="1"/>
            <a:r>
              <a:rPr lang="en-GB" dirty="0"/>
              <a:t>A variable that was responsible.</a:t>
            </a:r>
          </a:p>
          <a:p>
            <a:r>
              <a:rPr lang="en-GB" dirty="0"/>
              <a:t>We will keep track of a set of assignments.</a:t>
            </a:r>
          </a:p>
          <a:p>
            <a:r>
              <a:rPr lang="en-GB" dirty="0"/>
              <a:t>The </a:t>
            </a:r>
            <a:r>
              <a:rPr lang="en-GB" dirty="0" err="1"/>
              <a:t>backjumping</a:t>
            </a:r>
            <a:r>
              <a:rPr lang="en-GB" dirty="0"/>
              <a:t> method backtracks to the most recent assignment in the conflict set.</a:t>
            </a:r>
          </a:p>
          <a:p>
            <a:r>
              <a:rPr lang="en-GB" dirty="0"/>
              <a:t>How do we get this set?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A1060-ACD3-5AFE-F5A9-F80C087C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4F9A7-99D0-DFB8-D4A3-A36F10DB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15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613D-B635-D5F2-2B4B-938E44C8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Intelligent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A831-6A63-810C-B678-16B40E3D3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don’t need extra works to get the set.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D596F-EEBE-46B7-810A-935FF84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8FB1-B664-03B1-D4A9-586BE565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142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50ADDE-D69D-3863-15FD-77E6AC46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4633C-8DDB-B789-C7AE-C5FEF36D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22/11/2025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6C99D-9B29-E586-E542-CE29B3E5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92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6213</TotalTime>
  <Words>2574</Words>
  <Application>Microsoft Macintosh PowerPoint</Application>
  <PresentationFormat>Widescreen</PresentationFormat>
  <Paragraphs>344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Arial</vt:lpstr>
      <vt:lpstr>Cambria Math</vt:lpstr>
      <vt:lpstr>Verdana</vt:lpstr>
      <vt:lpstr>Office Theme</vt:lpstr>
      <vt:lpstr>Constraint Satisfaction Problem</vt:lpstr>
      <vt:lpstr>Introduction</vt:lpstr>
      <vt:lpstr>Definition</vt:lpstr>
      <vt:lpstr>Definition</vt:lpstr>
      <vt:lpstr>Definition</vt:lpstr>
      <vt:lpstr>Map Coloring Problem</vt:lpstr>
      <vt:lpstr>Map Coloring Problem</vt:lpstr>
      <vt:lpstr>Map Coloring Problem</vt:lpstr>
      <vt:lpstr>Map Coloring Problem</vt:lpstr>
      <vt:lpstr>Map Coloring Problem</vt:lpstr>
      <vt:lpstr>Map Coloring Problem</vt:lpstr>
      <vt:lpstr>Map Coloring Problem</vt:lpstr>
      <vt:lpstr>Why CSP?</vt:lpstr>
      <vt:lpstr>Job-shop Scheduling</vt:lpstr>
      <vt:lpstr>Job-shop Scheduling</vt:lpstr>
      <vt:lpstr>Job-shop Scheduling</vt:lpstr>
      <vt:lpstr>Job-shop Scheduling</vt:lpstr>
      <vt:lpstr>Job-shop Scheduling</vt:lpstr>
      <vt:lpstr>Job-Shop Scheduling</vt:lpstr>
      <vt:lpstr>Inference in CSP</vt:lpstr>
      <vt:lpstr>Local Consistency</vt:lpstr>
      <vt:lpstr>Node Consistency</vt:lpstr>
      <vt:lpstr>Arc Consistency</vt:lpstr>
      <vt:lpstr>Arc Consistency – AC-3 Algorithm</vt:lpstr>
      <vt:lpstr>Arc Consistency – AC-3 Algorithm</vt:lpstr>
      <vt:lpstr>Path Consistency</vt:lpstr>
      <vt:lpstr>Path Consistency</vt:lpstr>
      <vt:lpstr>Path Consistency</vt:lpstr>
      <vt:lpstr>K-consistency</vt:lpstr>
      <vt:lpstr>K-consistency</vt:lpstr>
      <vt:lpstr>Global Constraints</vt:lpstr>
      <vt:lpstr>Sudoku Example</vt:lpstr>
      <vt:lpstr>Sudoku Example</vt:lpstr>
      <vt:lpstr>Sudoku Example</vt:lpstr>
      <vt:lpstr>Sudoku Example</vt:lpstr>
      <vt:lpstr>Sudoku Example</vt:lpstr>
      <vt:lpstr>Sudoku Example</vt:lpstr>
      <vt:lpstr>Backtracking Search for CSPs</vt:lpstr>
      <vt:lpstr>Backtracking Search for CSPs</vt:lpstr>
      <vt:lpstr>Backtracking Search for CSPs</vt:lpstr>
      <vt:lpstr>Backtracking Search for CSPs</vt:lpstr>
      <vt:lpstr>Variable and Value Ordering</vt:lpstr>
      <vt:lpstr>Variable and Value Ordering</vt:lpstr>
      <vt:lpstr>Variable and Value Ordering</vt:lpstr>
      <vt:lpstr>Interleaving search and inference</vt:lpstr>
      <vt:lpstr>Interleaving search and inference</vt:lpstr>
      <vt:lpstr>Intelligent Backtracking</vt:lpstr>
      <vt:lpstr>Intelligent Backtracking</vt:lpstr>
      <vt:lpstr>Intelligent Backtracking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Hafsa</cp:lastModifiedBy>
  <cp:revision>92</cp:revision>
  <dcterms:created xsi:type="dcterms:W3CDTF">2025-07-29T06:51:35Z</dcterms:created>
  <dcterms:modified xsi:type="dcterms:W3CDTF">2025-11-24T10:37:29Z</dcterms:modified>
</cp:coreProperties>
</file>