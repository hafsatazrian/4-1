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84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7" r:id="rId14"/>
    <p:sldId id="306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8" r:id="rId36"/>
    <p:sldId id="329" r:id="rId37"/>
    <p:sldId id="330" r:id="rId38"/>
    <p:sldId id="29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410ECDD-8D64-4728-8AFF-D44FD3AB49B7}">
          <p14:sldIdLst>
            <p14:sldId id="256"/>
            <p14:sldId id="284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7"/>
            <p14:sldId id="306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B314B-7EAC-4F02-B2F7-56698ECFD4EE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6CE54-0F6A-46A6-8597-A6CCFBA9F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9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6CE54-0F6A-46A6-8597-A6CCFBA9F5F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763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Chess Playing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6CE54-0F6A-46A6-8597-A6CCFBA9F5FC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575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F577-7B9C-892D-9964-9929FF526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EA8C3-2AA8-921F-2DEB-872AE59F0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EC2A-AA40-72AE-0C2A-2D45907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3ECC-5CAF-4F14-A242-B702E2784D37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3F04-680A-E525-59CE-1C918888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63BB-9188-96BC-E6BC-7E236F67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63D-921B-1FE5-D959-28ED8C7F8CE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689356 w 10515600"/>
              <a:gd name="connsiteY1" fmla="*/ 0 h 1325563"/>
              <a:gd name="connsiteX2" fmla="*/ 1168400 w 10515600"/>
              <a:gd name="connsiteY2" fmla="*/ 0 h 1325563"/>
              <a:gd name="connsiteX3" fmla="*/ 1647444 w 10515600"/>
              <a:gd name="connsiteY3" fmla="*/ 0 h 1325563"/>
              <a:gd name="connsiteX4" fmla="*/ 2126488 w 10515600"/>
              <a:gd name="connsiteY4" fmla="*/ 0 h 1325563"/>
              <a:gd name="connsiteX5" fmla="*/ 2710688 w 10515600"/>
              <a:gd name="connsiteY5" fmla="*/ 0 h 1325563"/>
              <a:gd name="connsiteX6" fmla="*/ 3084576 w 10515600"/>
              <a:gd name="connsiteY6" fmla="*/ 0 h 1325563"/>
              <a:gd name="connsiteX7" fmla="*/ 3668776 w 10515600"/>
              <a:gd name="connsiteY7" fmla="*/ 0 h 1325563"/>
              <a:gd name="connsiteX8" fmla="*/ 4042664 w 10515600"/>
              <a:gd name="connsiteY8" fmla="*/ 0 h 1325563"/>
              <a:gd name="connsiteX9" fmla="*/ 4626864 w 10515600"/>
              <a:gd name="connsiteY9" fmla="*/ 0 h 1325563"/>
              <a:gd name="connsiteX10" fmla="*/ 5000752 w 10515600"/>
              <a:gd name="connsiteY10" fmla="*/ 0 h 1325563"/>
              <a:gd name="connsiteX11" fmla="*/ 5479796 w 10515600"/>
              <a:gd name="connsiteY11" fmla="*/ 0 h 1325563"/>
              <a:gd name="connsiteX12" fmla="*/ 6274308 w 10515600"/>
              <a:gd name="connsiteY12" fmla="*/ 0 h 1325563"/>
              <a:gd name="connsiteX13" fmla="*/ 6543040 w 10515600"/>
              <a:gd name="connsiteY13" fmla="*/ 0 h 1325563"/>
              <a:gd name="connsiteX14" fmla="*/ 7127240 w 10515600"/>
              <a:gd name="connsiteY14" fmla="*/ 0 h 1325563"/>
              <a:gd name="connsiteX15" fmla="*/ 7921752 w 10515600"/>
              <a:gd name="connsiteY15" fmla="*/ 0 h 1325563"/>
              <a:gd name="connsiteX16" fmla="*/ 8611108 w 10515600"/>
              <a:gd name="connsiteY16" fmla="*/ 0 h 1325563"/>
              <a:gd name="connsiteX17" fmla="*/ 9300464 w 10515600"/>
              <a:gd name="connsiteY17" fmla="*/ 0 h 1325563"/>
              <a:gd name="connsiteX18" fmla="*/ 9779508 w 10515600"/>
              <a:gd name="connsiteY18" fmla="*/ 0 h 1325563"/>
              <a:gd name="connsiteX19" fmla="*/ 10515600 w 10515600"/>
              <a:gd name="connsiteY19" fmla="*/ 0 h 1325563"/>
              <a:gd name="connsiteX20" fmla="*/ 10515600 w 10515600"/>
              <a:gd name="connsiteY20" fmla="*/ 455110 h 1325563"/>
              <a:gd name="connsiteX21" fmla="*/ 10515600 w 10515600"/>
              <a:gd name="connsiteY21" fmla="*/ 870453 h 1325563"/>
              <a:gd name="connsiteX22" fmla="*/ 10515600 w 10515600"/>
              <a:gd name="connsiteY22" fmla="*/ 1325563 h 1325563"/>
              <a:gd name="connsiteX23" fmla="*/ 10036556 w 10515600"/>
              <a:gd name="connsiteY23" fmla="*/ 1325563 h 1325563"/>
              <a:gd name="connsiteX24" fmla="*/ 9452356 w 10515600"/>
              <a:gd name="connsiteY24" fmla="*/ 1325563 h 1325563"/>
              <a:gd name="connsiteX25" fmla="*/ 8657844 w 10515600"/>
              <a:gd name="connsiteY25" fmla="*/ 1325563 h 1325563"/>
              <a:gd name="connsiteX26" fmla="*/ 8389112 w 10515600"/>
              <a:gd name="connsiteY26" fmla="*/ 1325563 h 1325563"/>
              <a:gd name="connsiteX27" fmla="*/ 8015224 w 10515600"/>
              <a:gd name="connsiteY27" fmla="*/ 1325563 h 1325563"/>
              <a:gd name="connsiteX28" fmla="*/ 7746492 w 10515600"/>
              <a:gd name="connsiteY28" fmla="*/ 1325563 h 1325563"/>
              <a:gd name="connsiteX29" fmla="*/ 7057136 w 10515600"/>
              <a:gd name="connsiteY29" fmla="*/ 1325563 h 1325563"/>
              <a:gd name="connsiteX30" fmla="*/ 6788404 w 10515600"/>
              <a:gd name="connsiteY30" fmla="*/ 1325563 h 1325563"/>
              <a:gd name="connsiteX31" fmla="*/ 6099048 w 10515600"/>
              <a:gd name="connsiteY31" fmla="*/ 1325563 h 1325563"/>
              <a:gd name="connsiteX32" fmla="*/ 5304536 w 10515600"/>
              <a:gd name="connsiteY32" fmla="*/ 1325563 h 1325563"/>
              <a:gd name="connsiteX33" fmla="*/ 5035804 w 10515600"/>
              <a:gd name="connsiteY33" fmla="*/ 1325563 h 1325563"/>
              <a:gd name="connsiteX34" fmla="*/ 4451604 w 10515600"/>
              <a:gd name="connsiteY34" fmla="*/ 1325563 h 1325563"/>
              <a:gd name="connsiteX35" fmla="*/ 3972560 w 10515600"/>
              <a:gd name="connsiteY35" fmla="*/ 1325563 h 1325563"/>
              <a:gd name="connsiteX36" fmla="*/ 3388360 w 10515600"/>
              <a:gd name="connsiteY36" fmla="*/ 1325563 h 1325563"/>
              <a:gd name="connsiteX37" fmla="*/ 2804160 w 10515600"/>
              <a:gd name="connsiteY37" fmla="*/ 1325563 h 1325563"/>
              <a:gd name="connsiteX38" fmla="*/ 2325116 w 10515600"/>
              <a:gd name="connsiteY38" fmla="*/ 1325563 h 1325563"/>
              <a:gd name="connsiteX39" fmla="*/ 1530604 w 10515600"/>
              <a:gd name="connsiteY39" fmla="*/ 1325563 h 1325563"/>
              <a:gd name="connsiteX40" fmla="*/ 1261872 w 10515600"/>
              <a:gd name="connsiteY40" fmla="*/ 1325563 h 1325563"/>
              <a:gd name="connsiteX41" fmla="*/ 572516 w 10515600"/>
              <a:gd name="connsiteY41" fmla="*/ 1325563 h 1325563"/>
              <a:gd name="connsiteX42" fmla="*/ 0 w 10515600"/>
              <a:gd name="connsiteY42" fmla="*/ 1325563 h 1325563"/>
              <a:gd name="connsiteX43" fmla="*/ 0 w 10515600"/>
              <a:gd name="connsiteY43" fmla="*/ 857197 h 1325563"/>
              <a:gd name="connsiteX44" fmla="*/ 0 w 10515600"/>
              <a:gd name="connsiteY44" fmla="*/ 441854 h 1325563"/>
              <a:gd name="connsiteX45" fmla="*/ 0 w 10515600"/>
              <a:gd name="connsiteY45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53838" y="-18819"/>
                  <a:pt x="351414" y="62000"/>
                  <a:pt x="689356" y="0"/>
                </a:cubicBezTo>
                <a:cubicBezTo>
                  <a:pt x="1027298" y="-62000"/>
                  <a:pt x="1020961" y="21931"/>
                  <a:pt x="1168400" y="0"/>
                </a:cubicBezTo>
                <a:cubicBezTo>
                  <a:pt x="1315839" y="-21931"/>
                  <a:pt x="1474707" y="29733"/>
                  <a:pt x="1647444" y="0"/>
                </a:cubicBezTo>
                <a:cubicBezTo>
                  <a:pt x="1820181" y="-29733"/>
                  <a:pt x="1905353" y="35773"/>
                  <a:pt x="2126488" y="0"/>
                </a:cubicBezTo>
                <a:cubicBezTo>
                  <a:pt x="2347623" y="-35773"/>
                  <a:pt x="2474840" y="26931"/>
                  <a:pt x="2710688" y="0"/>
                </a:cubicBezTo>
                <a:cubicBezTo>
                  <a:pt x="2946536" y="-26931"/>
                  <a:pt x="2901208" y="25700"/>
                  <a:pt x="3084576" y="0"/>
                </a:cubicBezTo>
                <a:cubicBezTo>
                  <a:pt x="3267944" y="-25700"/>
                  <a:pt x="3504545" y="40785"/>
                  <a:pt x="3668776" y="0"/>
                </a:cubicBezTo>
                <a:cubicBezTo>
                  <a:pt x="3833007" y="-40785"/>
                  <a:pt x="3895124" y="1762"/>
                  <a:pt x="4042664" y="0"/>
                </a:cubicBezTo>
                <a:cubicBezTo>
                  <a:pt x="4190204" y="-1762"/>
                  <a:pt x="4477573" y="6051"/>
                  <a:pt x="4626864" y="0"/>
                </a:cubicBezTo>
                <a:cubicBezTo>
                  <a:pt x="4776155" y="-6051"/>
                  <a:pt x="4876670" y="35233"/>
                  <a:pt x="5000752" y="0"/>
                </a:cubicBezTo>
                <a:cubicBezTo>
                  <a:pt x="5124834" y="-35233"/>
                  <a:pt x="5320007" y="6376"/>
                  <a:pt x="5479796" y="0"/>
                </a:cubicBezTo>
                <a:cubicBezTo>
                  <a:pt x="5639585" y="-6376"/>
                  <a:pt x="5987388" y="89120"/>
                  <a:pt x="6274308" y="0"/>
                </a:cubicBezTo>
                <a:cubicBezTo>
                  <a:pt x="6561228" y="-89120"/>
                  <a:pt x="6469549" y="14711"/>
                  <a:pt x="6543040" y="0"/>
                </a:cubicBezTo>
                <a:cubicBezTo>
                  <a:pt x="6616531" y="-14711"/>
                  <a:pt x="6880894" y="24867"/>
                  <a:pt x="7127240" y="0"/>
                </a:cubicBezTo>
                <a:cubicBezTo>
                  <a:pt x="7373586" y="-24867"/>
                  <a:pt x="7703353" y="29232"/>
                  <a:pt x="7921752" y="0"/>
                </a:cubicBezTo>
                <a:cubicBezTo>
                  <a:pt x="8140151" y="-29232"/>
                  <a:pt x="8436992" y="15020"/>
                  <a:pt x="8611108" y="0"/>
                </a:cubicBezTo>
                <a:cubicBezTo>
                  <a:pt x="8785224" y="-15020"/>
                  <a:pt x="9086613" y="81581"/>
                  <a:pt x="9300464" y="0"/>
                </a:cubicBezTo>
                <a:cubicBezTo>
                  <a:pt x="9514315" y="-81581"/>
                  <a:pt x="9623261" y="50401"/>
                  <a:pt x="9779508" y="0"/>
                </a:cubicBezTo>
                <a:cubicBezTo>
                  <a:pt x="9935755" y="-50401"/>
                  <a:pt x="10305332" y="31654"/>
                  <a:pt x="10515600" y="0"/>
                </a:cubicBezTo>
                <a:cubicBezTo>
                  <a:pt x="10546853" y="191382"/>
                  <a:pt x="10469454" y="308968"/>
                  <a:pt x="10515600" y="455110"/>
                </a:cubicBezTo>
                <a:cubicBezTo>
                  <a:pt x="10561746" y="601252"/>
                  <a:pt x="10509168" y="742830"/>
                  <a:pt x="10515600" y="870453"/>
                </a:cubicBezTo>
                <a:cubicBezTo>
                  <a:pt x="10522032" y="998076"/>
                  <a:pt x="10471646" y="1208229"/>
                  <a:pt x="10515600" y="1325563"/>
                </a:cubicBezTo>
                <a:cubicBezTo>
                  <a:pt x="10314459" y="1339219"/>
                  <a:pt x="10239166" y="1311799"/>
                  <a:pt x="10036556" y="1325563"/>
                </a:cubicBezTo>
                <a:cubicBezTo>
                  <a:pt x="9833946" y="1339327"/>
                  <a:pt x="9709123" y="1307965"/>
                  <a:pt x="9452356" y="1325563"/>
                </a:cubicBezTo>
                <a:cubicBezTo>
                  <a:pt x="9195589" y="1343161"/>
                  <a:pt x="8994962" y="1306787"/>
                  <a:pt x="8657844" y="1325563"/>
                </a:cubicBezTo>
                <a:cubicBezTo>
                  <a:pt x="8320726" y="1344339"/>
                  <a:pt x="8518055" y="1302532"/>
                  <a:pt x="8389112" y="1325563"/>
                </a:cubicBezTo>
                <a:cubicBezTo>
                  <a:pt x="8260169" y="1348594"/>
                  <a:pt x="8193007" y="1316196"/>
                  <a:pt x="8015224" y="1325563"/>
                </a:cubicBezTo>
                <a:cubicBezTo>
                  <a:pt x="7837441" y="1334930"/>
                  <a:pt x="7849788" y="1324348"/>
                  <a:pt x="7746492" y="1325563"/>
                </a:cubicBezTo>
                <a:cubicBezTo>
                  <a:pt x="7643196" y="1326778"/>
                  <a:pt x="7232373" y="1285719"/>
                  <a:pt x="7057136" y="1325563"/>
                </a:cubicBezTo>
                <a:cubicBezTo>
                  <a:pt x="6881899" y="1365407"/>
                  <a:pt x="6919216" y="1307755"/>
                  <a:pt x="6788404" y="1325563"/>
                </a:cubicBezTo>
                <a:cubicBezTo>
                  <a:pt x="6657592" y="1343371"/>
                  <a:pt x="6278085" y="1271576"/>
                  <a:pt x="6099048" y="1325563"/>
                </a:cubicBezTo>
                <a:cubicBezTo>
                  <a:pt x="5920011" y="1379550"/>
                  <a:pt x="5508657" y="1311185"/>
                  <a:pt x="5304536" y="1325563"/>
                </a:cubicBezTo>
                <a:cubicBezTo>
                  <a:pt x="5100415" y="1339941"/>
                  <a:pt x="5108664" y="1325272"/>
                  <a:pt x="5035804" y="1325563"/>
                </a:cubicBezTo>
                <a:cubicBezTo>
                  <a:pt x="4962944" y="1325854"/>
                  <a:pt x="4711907" y="1259348"/>
                  <a:pt x="4451604" y="1325563"/>
                </a:cubicBezTo>
                <a:cubicBezTo>
                  <a:pt x="4191301" y="1391778"/>
                  <a:pt x="4112922" y="1274610"/>
                  <a:pt x="3972560" y="1325563"/>
                </a:cubicBezTo>
                <a:cubicBezTo>
                  <a:pt x="3832198" y="1376516"/>
                  <a:pt x="3671072" y="1290382"/>
                  <a:pt x="3388360" y="1325563"/>
                </a:cubicBezTo>
                <a:cubicBezTo>
                  <a:pt x="3105648" y="1360744"/>
                  <a:pt x="2958255" y="1258146"/>
                  <a:pt x="2804160" y="1325563"/>
                </a:cubicBezTo>
                <a:cubicBezTo>
                  <a:pt x="2650065" y="1392980"/>
                  <a:pt x="2499275" y="1316491"/>
                  <a:pt x="2325116" y="1325563"/>
                </a:cubicBezTo>
                <a:cubicBezTo>
                  <a:pt x="2150957" y="1334635"/>
                  <a:pt x="1851726" y="1245043"/>
                  <a:pt x="1530604" y="1325563"/>
                </a:cubicBezTo>
                <a:cubicBezTo>
                  <a:pt x="1209482" y="1406083"/>
                  <a:pt x="1376466" y="1302836"/>
                  <a:pt x="1261872" y="1325563"/>
                </a:cubicBezTo>
                <a:cubicBezTo>
                  <a:pt x="1147278" y="1348290"/>
                  <a:pt x="909434" y="1251726"/>
                  <a:pt x="572516" y="1325563"/>
                </a:cubicBezTo>
                <a:cubicBezTo>
                  <a:pt x="235598" y="1399400"/>
                  <a:pt x="227600" y="1323263"/>
                  <a:pt x="0" y="1325563"/>
                </a:cubicBezTo>
                <a:cubicBezTo>
                  <a:pt x="-836" y="1164828"/>
                  <a:pt x="53582" y="1051078"/>
                  <a:pt x="0" y="857197"/>
                </a:cubicBezTo>
                <a:cubicBezTo>
                  <a:pt x="-53582" y="663316"/>
                  <a:pt x="48368" y="606188"/>
                  <a:pt x="0" y="441854"/>
                </a:cubicBezTo>
                <a:cubicBezTo>
                  <a:pt x="-48368" y="277520"/>
                  <a:pt x="14050" y="14676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92178" y="-21222"/>
                  <a:pt x="264011" y="11084"/>
                  <a:pt x="373888" y="0"/>
                </a:cubicBezTo>
                <a:cubicBezTo>
                  <a:pt x="483765" y="-11084"/>
                  <a:pt x="744959" y="34565"/>
                  <a:pt x="852932" y="0"/>
                </a:cubicBezTo>
                <a:cubicBezTo>
                  <a:pt x="960905" y="-34565"/>
                  <a:pt x="1117522" y="45939"/>
                  <a:pt x="1331976" y="0"/>
                </a:cubicBezTo>
                <a:cubicBezTo>
                  <a:pt x="1546430" y="-45939"/>
                  <a:pt x="1819161" y="31205"/>
                  <a:pt x="2021332" y="0"/>
                </a:cubicBezTo>
                <a:cubicBezTo>
                  <a:pt x="2223503" y="-31205"/>
                  <a:pt x="2374427" y="16088"/>
                  <a:pt x="2710688" y="0"/>
                </a:cubicBezTo>
                <a:cubicBezTo>
                  <a:pt x="3046949" y="-16088"/>
                  <a:pt x="3188751" y="11240"/>
                  <a:pt x="3400044" y="0"/>
                </a:cubicBezTo>
                <a:cubicBezTo>
                  <a:pt x="3611337" y="-11240"/>
                  <a:pt x="3729003" y="24882"/>
                  <a:pt x="3984244" y="0"/>
                </a:cubicBezTo>
                <a:cubicBezTo>
                  <a:pt x="4239485" y="-24882"/>
                  <a:pt x="4248661" y="16847"/>
                  <a:pt x="4358132" y="0"/>
                </a:cubicBezTo>
                <a:cubicBezTo>
                  <a:pt x="4467603" y="-16847"/>
                  <a:pt x="4704277" y="78533"/>
                  <a:pt x="5047488" y="0"/>
                </a:cubicBezTo>
                <a:cubicBezTo>
                  <a:pt x="5390699" y="-78533"/>
                  <a:pt x="5478617" y="32801"/>
                  <a:pt x="5631688" y="0"/>
                </a:cubicBezTo>
                <a:cubicBezTo>
                  <a:pt x="5784759" y="-32801"/>
                  <a:pt x="5981634" y="25702"/>
                  <a:pt x="6215888" y="0"/>
                </a:cubicBezTo>
                <a:cubicBezTo>
                  <a:pt x="6450142" y="-25702"/>
                  <a:pt x="6736604" y="19690"/>
                  <a:pt x="6905244" y="0"/>
                </a:cubicBezTo>
                <a:cubicBezTo>
                  <a:pt x="7073884" y="-19690"/>
                  <a:pt x="7286882" y="54355"/>
                  <a:pt x="7384288" y="0"/>
                </a:cubicBezTo>
                <a:cubicBezTo>
                  <a:pt x="7481694" y="-54355"/>
                  <a:pt x="7569919" y="19084"/>
                  <a:pt x="7653020" y="0"/>
                </a:cubicBezTo>
                <a:cubicBezTo>
                  <a:pt x="7736121" y="-19084"/>
                  <a:pt x="8028971" y="7172"/>
                  <a:pt x="8342376" y="0"/>
                </a:cubicBezTo>
                <a:cubicBezTo>
                  <a:pt x="8655781" y="-7172"/>
                  <a:pt x="8513400" y="26567"/>
                  <a:pt x="8611108" y="0"/>
                </a:cubicBezTo>
                <a:cubicBezTo>
                  <a:pt x="8708816" y="-26567"/>
                  <a:pt x="8765519" y="8311"/>
                  <a:pt x="8879840" y="0"/>
                </a:cubicBezTo>
                <a:cubicBezTo>
                  <a:pt x="8994161" y="-8311"/>
                  <a:pt x="9094252" y="11307"/>
                  <a:pt x="9253728" y="0"/>
                </a:cubicBezTo>
                <a:cubicBezTo>
                  <a:pt x="9413204" y="-11307"/>
                  <a:pt x="9611384" y="21739"/>
                  <a:pt x="9732772" y="0"/>
                </a:cubicBezTo>
                <a:cubicBezTo>
                  <a:pt x="9854160" y="-21739"/>
                  <a:pt x="10260773" y="2376"/>
                  <a:pt x="10515600" y="0"/>
                </a:cubicBezTo>
                <a:cubicBezTo>
                  <a:pt x="10547807" y="96027"/>
                  <a:pt x="10502213" y="250485"/>
                  <a:pt x="10515600" y="441854"/>
                </a:cubicBezTo>
                <a:cubicBezTo>
                  <a:pt x="10528987" y="633223"/>
                  <a:pt x="10500953" y="689669"/>
                  <a:pt x="10515600" y="843942"/>
                </a:cubicBezTo>
                <a:cubicBezTo>
                  <a:pt x="10530247" y="998215"/>
                  <a:pt x="10471267" y="1208650"/>
                  <a:pt x="10515600" y="1325563"/>
                </a:cubicBezTo>
                <a:cubicBezTo>
                  <a:pt x="10408911" y="1343606"/>
                  <a:pt x="10186565" y="1311187"/>
                  <a:pt x="10036556" y="1325563"/>
                </a:cubicBezTo>
                <a:cubicBezTo>
                  <a:pt x="9886547" y="1339939"/>
                  <a:pt x="9538345" y="1281053"/>
                  <a:pt x="9347200" y="1325563"/>
                </a:cubicBezTo>
                <a:cubicBezTo>
                  <a:pt x="9156055" y="1370073"/>
                  <a:pt x="9003166" y="1299112"/>
                  <a:pt x="8763000" y="1325563"/>
                </a:cubicBezTo>
                <a:cubicBezTo>
                  <a:pt x="8522834" y="1352014"/>
                  <a:pt x="8471849" y="1310553"/>
                  <a:pt x="8283956" y="1325563"/>
                </a:cubicBezTo>
                <a:cubicBezTo>
                  <a:pt x="8096063" y="1340573"/>
                  <a:pt x="8141020" y="1320966"/>
                  <a:pt x="8015224" y="1325563"/>
                </a:cubicBezTo>
                <a:cubicBezTo>
                  <a:pt x="7889428" y="1330160"/>
                  <a:pt x="7402689" y="1296549"/>
                  <a:pt x="7220712" y="1325563"/>
                </a:cubicBezTo>
                <a:cubicBezTo>
                  <a:pt x="7038735" y="1354577"/>
                  <a:pt x="6860564" y="1290552"/>
                  <a:pt x="6636512" y="1325563"/>
                </a:cubicBezTo>
                <a:cubicBezTo>
                  <a:pt x="6412460" y="1360574"/>
                  <a:pt x="6317643" y="1317756"/>
                  <a:pt x="6052312" y="1325563"/>
                </a:cubicBezTo>
                <a:cubicBezTo>
                  <a:pt x="5786981" y="1333370"/>
                  <a:pt x="5763881" y="1287197"/>
                  <a:pt x="5678424" y="1325563"/>
                </a:cubicBezTo>
                <a:cubicBezTo>
                  <a:pt x="5592967" y="1363929"/>
                  <a:pt x="5399248" y="1312349"/>
                  <a:pt x="5199380" y="1325563"/>
                </a:cubicBezTo>
                <a:cubicBezTo>
                  <a:pt x="4999512" y="1338777"/>
                  <a:pt x="4987883" y="1284423"/>
                  <a:pt x="4825492" y="1325563"/>
                </a:cubicBezTo>
                <a:cubicBezTo>
                  <a:pt x="4663101" y="1366703"/>
                  <a:pt x="4380555" y="1308688"/>
                  <a:pt x="4241292" y="1325563"/>
                </a:cubicBezTo>
                <a:cubicBezTo>
                  <a:pt x="4102029" y="1342438"/>
                  <a:pt x="3778341" y="1285171"/>
                  <a:pt x="3446780" y="1325563"/>
                </a:cubicBezTo>
                <a:cubicBezTo>
                  <a:pt x="3115219" y="1365955"/>
                  <a:pt x="3099173" y="1290652"/>
                  <a:pt x="2757424" y="1325563"/>
                </a:cubicBezTo>
                <a:cubicBezTo>
                  <a:pt x="2415675" y="1360474"/>
                  <a:pt x="2510972" y="1310466"/>
                  <a:pt x="2278380" y="1325563"/>
                </a:cubicBezTo>
                <a:cubicBezTo>
                  <a:pt x="2045788" y="1340660"/>
                  <a:pt x="1716210" y="1317992"/>
                  <a:pt x="1483868" y="1325563"/>
                </a:cubicBezTo>
                <a:cubicBezTo>
                  <a:pt x="1251526" y="1333134"/>
                  <a:pt x="972052" y="1254362"/>
                  <a:pt x="689356" y="1325563"/>
                </a:cubicBezTo>
                <a:cubicBezTo>
                  <a:pt x="406660" y="1396764"/>
                  <a:pt x="201106" y="1320070"/>
                  <a:pt x="0" y="1325563"/>
                </a:cubicBezTo>
                <a:cubicBezTo>
                  <a:pt x="-31617" y="1137567"/>
                  <a:pt x="37158" y="1000617"/>
                  <a:pt x="0" y="896964"/>
                </a:cubicBezTo>
                <a:cubicBezTo>
                  <a:pt x="-37158" y="793311"/>
                  <a:pt x="17420" y="591636"/>
                  <a:pt x="0" y="428599"/>
                </a:cubicBezTo>
                <a:cubicBezTo>
                  <a:pt x="-17420" y="265562"/>
                  <a:pt x="47044" y="122437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576319421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 algn="ctr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9D4A-6B08-C144-AFE3-77A01A5A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066A-E572-A277-D369-78396D58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EF30-4002-714D-0670-A49096DB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FF20-6D76-29F2-418E-8864E01F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03FF-F52F-4E38-0A2E-9DA1C60D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E876-7455-9295-91BF-4F641EF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7266-3916-28B3-A555-7FB1D3D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012B-55DA-34F4-808B-189EA4C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D8DC9-36B0-31D0-B5F2-FC0C84BD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2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EA8A-FF95-E0BD-7238-CF02B00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9762-D796-DC09-14A4-5AD190D82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5D70-A3AC-50F5-06B7-9CE9CF50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C517-D127-635A-B264-F649FC8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DE66-4F81-4974-88C3-7164F909D911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902A-670D-5ED9-8D4D-F35167B0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85025-5D85-AC22-6D8F-3E6EE503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0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F54F-E990-F487-57E9-D0FAA74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E450-926E-F984-8F71-955FA0FEC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BA968-AC90-BAC3-F9C8-6F8478B7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AA182-DAAF-6A22-82E6-4D09269F1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F3F09-93B2-51FA-9088-7D9BCEBC6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812B9-38A2-5B54-1BDB-7B50AFC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D5EC-0436-4D1A-B807-42CAECB52F3A}" type="datetime1">
              <a:rPr lang="en-GB" smtClean="0"/>
              <a:t>02/09/2025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CC307-A30C-C6CE-E36C-F3056121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CABA7-3B6D-774C-73DB-AC25CE1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20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5C2-AC71-5CD4-56A8-CA28E159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798A5-3197-07D3-6CD1-2A6563AF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3ADE-44B1-4EF3-919C-3E8C2EF5A85F}" type="datetime1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AD66C-1B15-DB67-7702-F791D23B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D6D4E-F44E-AEA5-1EB9-E5D5B3B5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7971-EA51-1E5E-FABA-79A35091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F570B-75EC-43EA-ABF4-4059CC25C5DE}" type="datetime1">
              <a:rPr lang="en-GB" smtClean="0"/>
              <a:t>02/09/2025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D9B04-D7D8-9928-C4F7-04945D1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0B3C4-33CC-72BA-889F-986C21D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08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A411-0235-0168-189D-927979B3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01DE-2ACF-2FCE-308A-BFFDD68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C266-6F22-04FB-4D09-0BC53C109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3AA6-3A77-7ABB-8CE0-53336682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2AE1-6EC0-47B6-9286-227F6CC4BE37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BDD05-C09C-3554-C58E-1FD10B16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CC2B-34F8-346A-1D83-2FA177A6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82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B5CA-54DD-FAF3-9B07-FA2AE2C1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44D3F-4214-F3D0-4E40-C3D7AC72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9081-4537-48AB-E691-80D9C313E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768B4-1148-4864-A694-4E4A62F9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18897-E1BD-4D4D-B0B7-CDDDCC6D391E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F3E4C-A1EA-4FA4-37E9-D4BDEC8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227AC-5B9C-43D9-35DB-94115AA5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32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51ED-3800-0D94-43C0-4DC9006B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EAF76-2B38-92CE-1645-607F15BB6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DE2D-65A0-9797-96FC-951FC7CD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AAC1-57D9-4D00-AB02-0520E4D4A784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EA3A-A9E6-9867-EFD1-11A0DDEF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DA0E-F08D-D2E9-D34C-4BE6FAC4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64FED-6CB9-AF94-F333-C88F49B07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D8B65-A0C8-2F43-0A6D-1E466060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72CA-C602-AC11-0A41-83CDB61E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E15E-9DEF-4BA1-88F2-D1C0C031F929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94C6-4E92-45EE-14C2-7582DA46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E9AD-4D06-455A-43CC-97EF29F8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35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396CC-AE2A-8FCF-9294-1636AE5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C19C-91AE-C626-CCEE-59A83424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53CA-04EB-8130-D6AB-D4E0B71E0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A207B-7DFC-4FD1-8A21-6A6CCCD46F9E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C1FF-20C6-4F46-C58B-266E55AA3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F486-2A3E-BC10-5284-9B45A2F5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7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8DFA-AB5E-A717-8846-2B007F75C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Adversarial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BA92-8188-0147-A078-4FF601FBF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Md Mehrab Hossain Opi</a:t>
            </a:r>
          </a:p>
          <a:p>
            <a:r>
              <a:rPr lang="en-GB" dirty="0"/>
              <a:t>CSE 4109: Artificial Intelligence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96BA-E98B-0C90-A688-7E62AA8D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F5BA6-E035-4879-AB7D-175221F8FC7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7201-96C6-F5CA-638B-7D3FB18C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31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106F-34CB-EC67-C3E6-E172D5E9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Adversarial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F2880-EDE3-4501-094C-1D2A3F63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Adversarial Search refers to a type of search algorithm used in </a:t>
            </a:r>
            <a:r>
              <a:rPr lang="en-GB" b="1" dirty="0"/>
              <a:t>multi-agent</a:t>
            </a:r>
            <a:r>
              <a:rPr lang="en-GB" dirty="0"/>
              <a:t> environments, where agents (players) compete against each other.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 Unlike simple search algorithms that assume a single agent optimizing for one goal, adversarial search considers an opponent who tries to hinder the agent’s success.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091A-E5A0-0A67-A508-3E5163D5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B40A5-1884-D747-8FD1-15C15BB0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86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9239-2051-F68C-F12D-B4D0CF5C5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Tic-Tac-Toe Game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16C0BEC-6C33-73AD-2678-DF160D029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839979"/>
              </p:ext>
            </p:extLst>
          </p:nvPr>
        </p:nvGraphicFramePr>
        <p:xfrm>
          <a:off x="8956200" y="2145664"/>
          <a:ext cx="2052000" cy="20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684000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8FDA4-747A-B20E-508B-08A10778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15019-DE67-2BD5-E1BE-4046A4B5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B0C54-FBE8-BDBA-7932-6D91418A8453}"/>
              </a:ext>
            </a:extLst>
          </p:cNvPr>
          <p:cNvSpPr txBox="1"/>
          <p:nvPr/>
        </p:nvSpPr>
        <p:spPr>
          <a:xfrm>
            <a:off x="524543" y="1955145"/>
            <a:ext cx="819166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🎮 Tic-Tac-Toe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Players</a:t>
            </a:r>
            <a:r>
              <a:rPr lang="en-GB" sz="2000" dirty="0"/>
              <a:t>:</a:t>
            </a:r>
          </a:p>
          <a:p>
            <a:pPr lvl="1"/>
            <a:r>
              <a:rPr lang="en-GB" sz="2000" dirty="0"/>
              <a:t>Two players: </a:t>
            </a:r>
            <a:r>
              <a:rPr lang="en-GB" sz="2000" b="1" dirty="0"/>
              <a:t>X</a:t>
            </a:r>
            <a:r>
              <a:rPr lang="en-GB" sz="2000" dirty="0"/>
              <a:t> and </a:t>
            </a:r>
            <a:r>
              <a:rPr lang="en-GB" sz="2000" b="1" dirty="0"/>
              <a:t>O</a:t>
            </a:r>
            <a:endParaRPr lang="en-GB" sz="2000" dirty="0"/>
          </a:p>
          <a:p>
            <a:pPr lvl="1"/>
            <a:r>
              <a:rPr lang="en-GB" sz="2000" dirty="0"/>
              <a:t>X always goes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Board</a:t>
            </a:r>
            <a:r>
              <a:rPr lang="en-GB" sz="2000" dirty="0"/>
              <a:t>:</a:t>
            </a:r>
          </a:p>
          <a:p>
            <a:pPr lvl="1"/>
            <a:r>
              <a:rPr lang="en-GB" sz="2000" dirty="0"/>
              <a:t>A </a:t>
            </a:r>
            <a:r>
              <a:rPr lang="en-GB" sz="2000" b="1" dirty="0"/>
              <a:t>3 × 3 grid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Turns</a:t>
            </a:r>
            <a:r>
              <a:rPr lang="en-GB" sz="2000" dirty="0"/>
              <a:t>:</a:t>
            </a:r>
          </a:p>
          <a:p>
            <a:pPr lvl="1"/>
            <a:r>
              <a:rPr lang="en-GB" sz="2000" dirty="0"/>
              <a:t>Players alternate placing their mark (</a:t>
            </a:r>
            <a:r>
              <a:rPr lang="en-GB" sz="2000" b="1" dirty="0"/>
              <a:t>X or O</a:t>
            </a:r>
            <a:r>
              <a:rPr lang="en-GB" sz="2000" dirty="0"/>
              <a:t>) on an </a:t>
            </a:r>
            <a:r>
              <a:rPr lang="en-GB" sz="2000" b="1" dirty="0"/>
              <a:t>empty square.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Winning Condition</a:t>
            </a:r>
            <a:r>
              <a:rPr lang="en-GB" sz="2000" dirty="0"/>
              <a:t>:</a:t>
            </a:r>
          </a:p>
          <a:p>
            <a:pPr lvl="1"/>
            <a:r>
              <a:rPr lang="en-GB" sz="2000" dirty="0"/>
              <a:t>First player to get </a:t>
            </a:r>
            <a:r>
              <a:rPr lang="en-GB" sz="2000" b="1" dirty="0"/>
              <a:t>3 in a row</a:t>
            </a:r>
            <a:r>
              <a:rPr lang="en-GB" sz="2000" dirty="0"/>
              <a:t> (horizontal, vertical, or diagonal) wins.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Draw Condition</a:t>
            </a:r>
            <a:r>
              <a:rPr lang="en-GB" sz="2000" dirty="0"/>
              <a:t>:</a:t>
            </a:r>
          </a:p>
          <a:p>
            <a:pPr lvl="1"/>
            <a:r>
              <a:rPr lang="en-GB" sz="2000" dirty="0"/>
              <a:t>If all 9 squares are filled and no winner, the game ends in a </a:t>
            </a:r>
            <a:r>
              <a:rPr lang="en-GB" sz="2000" b="1" dirty="0"/>
              <a:t>draw.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0715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71C84-9A46-DBD1-35F7-0E1FDB36E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0BB61-CC04-412B-D7B3-6E8220B20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Tic-Tac-Toe Game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B0B52C2-8D71-CB2B-8FF8-DD179B2FA0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114796"/>
              </p:ext>
            </p:extLst>
          </p:nvPr>
        </p:nvGraphicFramePr>
        <p:xfrm>
          <a:off x="8610600" y="2220546"/>
          <a:ext cx="2397600" cy="2416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00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799200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799200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4427E-67D7-54A7-84D7-78201A33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430E3-56CD-114F-35EC-A149B4CC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E03314-063F-4D4C-6CEC-2B61FEBA5E0A}"/>
              </a:ext>
            </a:extLst>
          </p:cNvPr>
          <p:cNvSpPr txBox="1"/>
          <p:nvPr/>
        </p:nvSpPr>
        <p:spPr>
          <a:xfrm>
            <a:off x="132617" y="1955145"/>
            <a:ext cx="772933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Now consider two agents playing Tic-Tac-Toe.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Both are trying to win the game.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How does one agent decide its next move?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 traditional search, we only thought about finding a path or solution.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But in games, the other player is also making moves to stop 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So, we must anticipate the opponent’s actions when deciding.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This need to plan against an opponent leads to Adversarial Search.</a:t>
            </a:r>
          </a:p>
        </p:txBody>
      </p:sp>
    </p:spTree>
    <p:extLst>
      <p:ext uri="{BB962C8B-B14F-4D97-AF65-F5344CB8AC3E}">
        <p14:creationId xmlns:p14="http://schemas.microsoft.com/office/powerpoint/2010/main" val="90657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ECD84-3343-E32D-0624-66EE060AD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C0CF-FE20-2A44-9A4E-8E7EAA10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Tic-Tac-Toe Game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9F0B2A6-D91A-E8DD-C42D-FF1BBD32BD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610600" y="2220546"/>
          <a:ext cx="2397600" cy="2416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00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799200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799200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2230C-3A9A-14F0-E11E-3C651DB2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752E2B-623F-E0F5-7665-32DD4A37C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18C58-F3BA-317C-B169-10F2DA3B9C53}"/>
              </a:ext>
            </a:extLst>
          </p:cNvPr>
          <p:cNvSpPr txBox="1"/>
          <p:nvPr/>
        </p:nvSpPr>
        <p:spPr>
          <a:xfrm>
            <a:off x="132617" y="1955145"/>
            <a:ext cx="77293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Computer doesn’t understand the notion of winning or losing.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It only understands numeric value.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Concept of bigger and smaller.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So, what we will try to do is give each possible outcome a number.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How many outcomes are possible?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9118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172B4-8A0B-4A53-197B-4E5141C05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8EF18-6AB1-0498-E0DA-2418DC22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Tic-Tac-Toe Game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B0863C8-0679-351C-55A4-853E40B25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254387"/>
              </p:ext>
            </p:extLst>
          </p:nvPr>
        </p:nvGraphicFramePr>
        <p:xfrm>
          <a:off x="8956200" y="2416810"/>
          <a:ext cx="2397600" cy="2416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00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799200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799200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DE96-7F4F-88FE-EE1B-3DB87B69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3EFE6-1B40-D9B8-6905-4715BD516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02006453-A393-196F-3A6B-76035C55CE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6036775"/>
              </p:ext>
            </p:extLst>
          </p:nvPr>
        </p:nvGraphicFramePr>
        <p:xfrm>
          <a:off x="4692048" y="2416810"/>
          <a:ext cx="2397600" cy="2416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00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799200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799200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DEEE5E99-5F79-6711-502D-5FA19E7F13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4850584"/>
              </p:ext>
            </p:extLst>
          </p:nvPr>
        </p:nvGraphicFramePr>
        <p:xfrm>
          <a:off x="427896" y="2416810"/>
          <a:ext cx="2397600" cy="2416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00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799200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799200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805636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BD579A6-FA64-28A5-EBF4-6BB5F36DFB0B}"/>
              </a:ext>
            </a:extLst>
          </p:cNvPr>
          <p:cNvSpPr txBox="1"/>
          <p:nvPr/>
        </p:nvSpPr>
        <p:spPr>
          <a:xfrm>
            <a:off x="1226586" y="5098175"/>
            <a:ext cx="8002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-1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29CBC-7368-9779-4FEF-462F3910318E}"/>
              </a:ext>
            </a:extLst>
          </p:cNvPr>
          <p:cNvSpPr txBox="1"/>
          <p:nvPr/>
        </p:nvSpPr>
        <p:spPr>
          <a:xfrm>
            <a:off x="5606154" y="5098175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055A8-26E7-F6E0-9D58-64A33227CF90}"/>
              </a:ext>
            </a:extLst>
          </p:cNvPr>
          <p:cNvSpPr txBox="1"/>
          <p:nvPr/>
        </p:nvSpPr>
        <p:spPr>
          <a:xfrm>
            <a:off x="9870306" y="5098175"/>
            <a:ext cx="569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5209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8E114-78D6-38CF-B981-447132D1A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Tic-Tac-Toe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B78BB-B0E0-86B5-F8C1-3AB6C0801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Player X always try to get maximum score possible.</a:t>
            </a:r>
          </a:p>
          <a:p>
            <a:pPr lvl="1"/>
            <a:r>
              <a:rPr lang="en-GB" dirty="0"/>
              <a:t>Win = 1.</a:t>
            </a:r>
          </a:p>
          <a:p>
            <a:pPr lvl="1"/>
            <a:r>
              <a:rPr lang="en-GB" dirty="0"/>
              <a:t>If can’t win draw = 0.</a:t>
            </a:r>
          </a:p>
          <a:p>
            <a:r>
              <a:rPr lang="en-GB" dirty="0"/>
              <a:t>Player O always try to get the minimum score possible.</a:t>
            </a:r>
          </a:p>
          <a:p>
            <a:pPr lvl="1"/>
            <a:r>
              <a:rPr lang="en-GB" dirty="0"/>
              <a:t>Win = -1, draw = 0.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F8743-8F4A-048A-40B8-A5FB4B29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B50AE-5A8F-17EA-CFAE-9B7AFF66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01A8A33-E4C3-4A75-24BD-03CB0B923D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2331324"/>
              </p:ext>
            </p:extLst>
          </p:nvPr>
        </p:nvGraphicFramePr>
        <p:xfrm>
          <a:off x="6754368" y="1885188"/>
          <a:ext cx="129456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1520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431520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431520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C768A01F-CECC-10EE-993D-7B6D250CED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0339971"/>
              </p:ext>
            </p:extLst>
          </p:nvPr>
        </p:nvGraphicFramePr>
        <p:xfrm>
          <a:off x="4950128" y="1885188"/>
          <a:ext cx="1382601" cy="1391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0867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460867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460867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463998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463998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463998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152FDC6-BAC8-F0B2-D7B5-139991AEAE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2051717"/>
              </p:ext>
            </p:extLst>
          </p:nvPr>
        </p:nvGraphicFramePr>
        <p:xfrm>
          <a:off x="2926080" y="1885188"/>
          <a:ext cx="147828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760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492760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492760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41131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41131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41131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059DED6-62F7-C314-CEA9-37E581D43451}"/>
              </a:ext>
            </a:extLst>
          </p:cNvPr>
          <p:cNvSpPr txBox="1"/>
          <p:nvPr/>
        </p:nvSpPr>
        <p:spPr>
          <a:xfrm>
            <a:off x="3459127" y="3277182"/>
            <a:ext cx="555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1F8131-59BA-ED5C-112F-088A343BF7CA}"/>
              </a:ext>
            </a:extLst>
          </p:cNvPr>
          <p:cNvSpPr txBox="1"/>
          <p:nvPr/>
        </p:nvSpPr>
        <p:spPr>
          <a:xfrm>
            <a:off x="5451858" y="3297576"/>
            <a:ext cx="39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3C066B-3901-56BF-48E9-A846C8A07167}"/>
              </a:ext>
            </a:extLst>
          </p:cNvPr>
          <p:cNvSpPr txBox="1"/>
          <p:nvPr/>
        </p:nvSpPr>
        <p:spPr>
          <a:xfrm>
            <a:off x="7204038" y="3297576"/>
            <a:ext cx="39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138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70F7F-67F3-DC5E-AEAC-5C83B4054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AB12-7AD2-91CC-32CE-693DEAA8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Tic-Tac-Toe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05AEA-ED03-AB2F-FBC1-9A4B891BF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We will call X the </a:t>
            </a:r>
            <a:r>
              <a:rPr lang="en-GB" b="1" dirty="0"/>
              <a:t>MAX</a:t>
            </a:r>
            <a:r>
              <a:rPr lang="en-GB" dirty="0"/>
              <a:t> player.</a:t>
            </a:r>
          </a:p>
          <a:p>
            <a:r>
              <a:rPr lang="en-GB" dirty="0"/>
              <a:t>And O will be called the </a:t>
            </a:r>
            <a:r>
              <a:rPr lang="en-GB" b="1" dirty="0"/>
              <a:t>MIN</a:t>
            </a:r>
            <a:r>
              <a:rPr lang="en-GB" dirty="0"/>
              <a:t> player.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F1DF4-03CA-9E47-940B-6A6B8E92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DFDD2-65BC-494D-918B-F9D56825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8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815B369-BBE6-84D8-5AD3-13D9A5E42CF8}"/>
              </a:ext>
            </a:extLst>
          </p:cNvPr>
          <p:cNvGraphicFramePr>
            <a:graphicFrameLocks/>
          </p:cNvGraphicFramePr>
          <p:nvPr/>
        </p:nvGraphicFramePr>
        <p:xfrm>
          <a:off x="6754368" y="1885188"/>
          <a:ext cx="129456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1520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431520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431520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56CCE2D2-AB6B-1EEF-BCD9-CCBE5D9A2B6C}"/>
              </a:ext>
            </a:extLst>
          </p:cNvPr>
          <p:cNvGraphicFramePr>
            <a:graphicFrameLocks/>
          </p:cNvGraphicFramePr>
          <p:nvPr/>
        </p:nvGraphicFramePr>
        <p:xfrm>
          <a:off x="4950128" y="1885188"/>
          <a:ext cx="1382601" cy="1391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0867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460867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460867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463998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463998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463998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27A502F0-9D6B-0A86-99B9-47053A6F255A}"/>
              </a:ext>
            </a:extLst>
          </p:cNvPr>
          <p:cNvGraphicFramePr>
            <a:graphicFrameLocks/>
          </p:cNvGraphicFramePr>
          <p:nvPr/>
        </p:nvGraphicFramePr>
        <p:xfrm>
          <a:off x="2926080" y="1885188"/>
          <a:ext cx="147828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760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492760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492760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41131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41131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411314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17D6288-EFC9-4C98-3F1E-F034B77F6EEB}"/>
              </a:ext>
            </a:extLst>
          </p:cNvPr>
          <p:cNvSpPr txBox="1"/>
          <p:nvPr/>
        </p:nvSpPr>
        <p:spPr>
          <a:xfrm>
            <a:off x="3459127" y="3277182"/>
            <a:ext cx="555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C05983-D796-56D9-098D-BD4EC0F9F61D}"/>
              </a:ext>
            </a:extLst>
          </p:cNvPr>
          <p:cNvSpPr txBox="1"/>
          <p:nvPr/>
        </p:nvSpPr>
        <p:spPr>
          <a:xfrm>
            <a:off x="5451858" y="3297576"/>
            <a:ext cx="39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28976A-0646-D4F2-4DDC-C16480F34D89}"/>
              </a:ext>
            </a:extLst>
          </p:cNvPr>
          <p:cNvSpPr txBox="1"/>
          <p:nvPr/>
        </p:nvSpPr>
        <p:spPr>
          <a:xfrm>
            <a:off x="7204038" y="3297576"/>
            <a:ext cx="39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4060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59996-003A-E9D2-2ACF-C5611858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Game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B23620-CF53-C3D9-48AC-462413B43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4904" y="1825625"/>
                <a:ext cx="11091672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GB" sz="3200" dirty="0"/>
                  <a:t> Initial state.</a:t>
                </a:r>
              </a:p>
              <a:p>
                <a:r>
                  <a:rPr lang="en-GB" sz="3200" dirty="0"/>
                  <a:t>PLAYER(s): returns which player to move in state s.</a:t>
                </a:r>
              </a:p>
              <a:p>
                <a:r>
                  <a:rPr lang="en-GB" sz="3200" dirty="0"/>
                  <a:t>ACTIONS(s): returns legal moves in state s.</a:t>
                </a:r>
              </a:p>
              <a:p>
                <a:r>
                  <a:rPr lang="en-GB" sz="3200" dirty="0"/>
                  <a:t>RESULT(</a:t>
                </a:r>
                <a:r>
                  <a:rPr lang="en-GB" sz="3200" dirty="0" err="1"/>
                  <a:t>s,a</a:t>
                </a:r>
                <a:r>
                  <a:rPr lang="en-GB" sz="3200" dirty="0"/>
                  <a:t>): returns a state after action a taken in state s.</a:t>
                </a:r>
              </a:p>
              <a:p>
                <a:r>
                  <a:rPr lang="en-GB" sz="3200" dirty="0"/>
                  <a:t>TERMINAL(s): checks if state s is a terminal state.</a:t>
                </a:r>
              </a:p>
              <a:p>
                <a:r>
                  <a:rPr lang="en-GB" sz="3200" dirty="0"/>
                  <a:t>UTILITY(s): final numerical value for terminal state 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B23620-CF53-C3D9-48AC-462413B43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4904" y="1825625"/>
                <a:ext cx="11091672" cy="4351338"/>
              </a:xfrm>
              <a:blipFill>
                <a:blip r:embed="rId2"/>
                <a:stretch>
                  <a:fillRect l="-1264" t="-2941" r="-8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323AB-4E8E-D7DA-8F13-B08C38CCB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4DE6A-3F1A-C826-8817-4211BC78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88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0F268-ADD2-1CBB-69AF-0C390016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E203-73C0-90E2-5FEA-0756EEC0C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State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3ED4E97-FC92-1F79-6473-042246E359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219198"/>
              </p:ext>
            </p:extLst>
          </p:nvPr>
        </p:nvGraphicFramePr>
        <p:xfrm>
          <a:off x="3936000" y="1863519"/>
          <a:ext cx="4320000" cy="43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9F6F8-6FC1-CB7D-808C-92CC570D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B1057-A2D3-F325-FC3B-A4E88B63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38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2BDA-4B68-3BA1-483F-9DD2E0B9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PLAYER(s)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70DA6-E4A6-B0EA-1CF1-4AAD6CFCD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PLAYER(                        ) = X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PLAYER(                        ) = 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775BA-AB94-2EFC-BC69-82E69796E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F4E16-6D98-CE95-BBD9-13934A17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11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DDEE242-033C-2D91-D63B-DF40035176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5569154"/>
              </p:ext>
            </p:extLst>
          </p:nvPr>
        </p:nvGraphicFramePr>
        <p:xfrm>
          <a:off x="2501400" y="2110407"/>
          <a:ext cx="2160000" cy="183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9517B2AC-EE39-5E6C-0362-F9C45766AA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637809"/>
              </p:ext>
            </p:extLst>
          </p:nvPr>
        </p:nvGraphicFramePr>
        <p:xfrm>
          <a:off x="2501400" y="4378912"/>
          <a:ext cx="2160000" cy="183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48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2ABB-0DB9-9C79-94AA-FA03244B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ACTIONS(s)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40156-CFC9-5A5E-5A75-49B34AF7D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ACTIONS(                             ) = {                        ,                         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697C0-CEC4-2DCF-0F29-CBB527E5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0D4E7-A7C5-2C64-C76A-F9C33ABC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12</a:t>
            </a:fld>
            <a:endParaRPr lang="en-GB"/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55A439D2-EE15-C901-1DE0-878907DB49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9674822"/>
              </p:ext>
            </p:extLst>
          </p:nvPr>
        </p:nvGraphicFramePr>
        <p:xfrm>
          <a:off x="2719848" y="2028111"/>
          <a:ext cx="2700000" cy="27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16903E94-ECAF-8128-B8BB-96EDDD6551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2674593"/>
              </p:ext>
            </p:extLst>
          </p:nvPr>
        </p:nvGraphicFramePr>
        <p:xfrm>
          <a:off x="6255528" y="2365431"/>
          <a:ext cx="2160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14E25661-1746-1D48-F2C1-0AB1F797BD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5218711"/>
              </p:ext>
            </p:extLst>
          </p:nvPr>
        </p:nvGraphicFramePr>
        <p:xfrm>
          <a:off x="8804664" y="2349000"/>
          <a:ext cx="2160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243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AB2BC-012A-4E01-03B5-8FE2E8D2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934A-B3FE-FFEE-2EFD-43BF660C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RESULTS(s, 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4B8AC-014C-0FFE-A091-25E3A0F96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RESULT(                            ,                       )   =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F7B16-635B-8E7A-52B0-626B2102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9F444-5219-CD9E-8974-6D69E228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13</a:t>
            </a:fld>
            <a:endParaRPr lang="en-GB"/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60B5A1C3-5A32-5677-CE83-492970D9AC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2656488"/>
              </p:ext>
            </p:extLst>
          </p:nvPr>
        </p:nvGraphicFramePr>
        <p:xfrm>
          <a:off x="2482104" y="1991535"/>
          <a:ext cx="2700000" cy="27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2F9BB01B-45E7-9309-17FB-F20E6D2592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1195008"/>
              </p:ext>
            </p:extLst>
          </p:nvPr>
        </p:nvGraphicFramePr>
        <p:xfrm>
          <a:off x="5359416" y="2349000"/>
          <a:ext cx="2160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BB41C8A-A3A4-DE5A-730A-790D34D542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8568406"/>
              </p:ext>
            </p:extLst>
          </p:nvPr>
        </p:nvGraphicFramePr>
        <p:xfrm>
          <a:off x="8359896" y="2079000"/>
          <a:ext cx="2700000" cy="27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49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02A22-D677-B4FF-6367-A3A10236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TERMINAL(s)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B4142-0272-BD5D-0A42-084FD2983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TERMINAL(                         ) = false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TERMINAL(                         ) = true</a:t>
            </a:r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2ACC0-8C59-B2FA-8C73-837E003F3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34897-E9F5-B678-43F0-DC4F5D3A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14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80B38A-6401-F99B-7238-ED497C02E9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4775574"/>
              </p:ext>
            </p:extLst>
          </p:nvPr>
        </p:nvGraphicFramePr>
        <p:xfrm>
          <a:off x="5325888" y="1926209"/>
          <a:ext cx="2160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1C623575-A183-3ADB-6679-5DC645F6E8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7405158"/>
              </p:ext>
            </p:extLst>
          </p:nvPr>
        </p:nvGraphicFramePr>
        <p:xfrm>
          <a:off x="5325888" y="4196350"/>
          <a:ext cx="2160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001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22D8-82E1-51EF-A4FC-ADD846D9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UTILITY(s)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58DA3-3B17-B113-4390-DED905CE9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UTILITY(                       ) = -1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UTILITY(                       ) =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6859B-7C5F-A71F-6D3A-6DD94267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D3772-D30C-A730-E642-3B833652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15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9B1F2CD-0A4D-1E77-AD87-9F72F02998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1231741"/>
              </p:ext>
            </p:extLst>
          </p:nvPr>
        </p:nvGraphicFramePr>
        <p:xfrm>
          <a:off x="2382600" y="1825625"/>
          <a:ext cx="2160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C043DABD-9CD6-B12E-59A2-C7BD69D172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639810"/>
              </p:ext>
            </p:extLst>
          </p:nvPr>
        </p:nvGraphicFramePr>
        <p:xfrm>
          <a:off x="2382600" y="4196350"/>
          <a:ext cx="2160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57292656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2040896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1606118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3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2566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10253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962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4E47-171C-AAB3-683F-3776955B2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UTILITY(s)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30D29-DAC5-4A7F-6440-47E53F015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UTLITY(                       ) = ?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E6F98-72C0-8DE1-DF33-311F3B771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AB84D-247B-758D-83B5-F3417984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16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A19459B-597A-CD09-BC4A-34AA6BF9E4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1649195"/>
              </p:ext>
            </p:extLst>
          </p:nvPr>
        </p:nvGraphicFramePr>
        <p:xfrm>
          <a:off x="5316744" y="3026657"/>
          <a:ext cx="2160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4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9ECE280-15B4-12C4-54B5-AFDDB1DC1555}"/>
              </a:ext>
            </a:extLst>
          </p:cNvPr>
          <p:cNvSpPr txBox="1"/>
          <p:nvPr/>
        </p:nvSpPr>
        <p:spPr>
          <a:xfrm>
            <a:off x="7612431" y="4709603"/>
            <a:ext cx="4342857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GB" sz="2800" dirty="0"/>
              <a:t>This is where the Minimax</a:t>
            </a:r>
            <a:br>
              <a:rPr lang="en-GB" sz="2800" dirty="0"/>
            </a:br>
            <a:r>
              <a:rPr lang="en-GB" sz="2800" dirty="0"/>
              <a:t>algorithm comes in.</a:t>
            </a:r>
          </a:p>
        </p:txBody>
      </p:sp>
    </p:spTree>
    <p:extLst>
      <p:ext uri="{BB962C8B-B14F-4D97-AF65-F5344CB8AC3E}">
        <p14:creationId xmlns:p14="http://schemas.microsoft.com/office/powerpoint/2010/main" val="414856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853A4-3BA6-2DD2-B970-2CBA3207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A5FD-D4A3-3166-FF82-16C6D2FE3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072"/>
            <a:ext cx="10515600" cy="767860"/>
          </a:xfrm>
        </p:spPr>
        <p:txBody>
          <a:bodyPr/>
          <a:lstStyle/>
          <a:p>
            <a:r>
              <a:rPr lang="en-GB" dirty="0"/>
              <a:t>UTILITY(s)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574AA-BAFE-70B3-476E-CD20F75EA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A88CA-68D9-28C0-8056-B855F43A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D54BB-AF0F-6895-7464-067D9AB4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17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61868D-AA0A-EF01-8D85-E4036B798A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5729152"/>
              </p:ext>
            </p:extLst>
          </p:nvPr>
        </p:nvGraphicFramePr>
        <p:xfrm>
          <a:off x="5106432" y="920588"/>
          <a:ext cx="1620000" cy="16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E71B930-363C-9E7F-7EDB-DA48AE23B4DB}"/>
              </a:ext>
            </a:extLst>
          </p:cNvPr>
          <p:cNvSpPr txBox="1"/>
          <p:nvPr/>
        </p:nvSpPr>
        <p:spPr>
          <a:xfrm>
            <a:off x="-1" y="1235153"/>
            <a:ext cx="2324291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2400" dirty="0"/>
              <a:t>PLAYER(s) = O</a:t>
            </a:r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4676FC10-BF0A-3211-A82E-078BD2B88E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92028"/>
              </p:ext>
            </p:extLst>
          </p:nvPr>
        </p:nvGraphicFramePr>
        <p:xfrm>
          <a:off x="2655084" y="2751679"/>
          <a:ext cx="1620000" cy="16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8C077F66-45BD-0C64-FF65-80B5A111E4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4677476"/>
              </p:ext>
            </p:extLst>
          </p:nvPr>
        </p:nvGraphicFramePr>
        <p:xfrm>
          <a:off x="7567680" y="2759091"/>
          <a:ext cx="1620000" cy="16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en-GB" sz="28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11" name="Content Placeholder 5">
            <a:extLst>
              <a:ext uri="{FF2B5EF4-FFF2-40B4-BE49-F238E27FC236}">
                <a16:creationId xmlns:a16="http://schemas.microsoft.com/office/drawing/2014/main" id="{3DD50ADE-1F24-92CB-F6EB-95848D309E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1945571"/>
              </p:ext>
            </p:extLst>
          </p:nvPr>
        </p:nvGraphicFramePr>
        <p:xfrm>
          <a:off x="2655084" y="4768054"/>
          <a:ext cx="1620000" cy="16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BF41CA7D-1EAE-C29B-AA0F-24E4562F33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6364610"/>
              </p:ext>
            </p:extLst>
          </p:nvPr>
        </p:nvGraphicFramePr>
        <p:xfrm>
          <a:off x="7567680" y="4730813"/>
          <a:ext cx="1620000" cy="16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FB5FD7-74BF-B85F-2603-83D56FC0FF44}"/>
              </a:ext>
            </a:extLst>
          </p:cNvPr>
          <p:cNvCxnSpPr>
            <a:cxnSpLocks/>
            <a:stCxn id="6" idx="1"/>
            <a:endCxn id="9" idx="0"/>
          </p:cNvCxnSpPr>
          <p:nvPr/>
        </p:nvCxnSpPr>
        <p:spPr>
          <a:xfrm flipH="1">
            <a:off x="3465084" y="1730588"/>
            <a:ext cx="1641348" cy="1021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7F32B3-59A2-2A2E-23F1-1EF1395E4FB2}"/>
              </a:ext>
            </a:extLst>
          </p:cNvPr>
          <p:cNvCxnSpPr>
            <a:cxnSpLocks/>
            <a:stCxn id="6" idx="3"/>
            <a:endCxn id="10" idx="0"/>
          </p:cNvCxnSpPr>
          <p:nvPr/>
        </p:nvCxnSpPr>
        <p:spPr>
          <a:xfrm>
            <a:off x="6726432" y="1730588"/>
            <a:ext cx="1651248" cy="1028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55726A-9048-FB21-0F67-97491983BA55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3465084" y="4371679"/>
            <a:ext cx="0" cy="396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1264C72-EA6E-CC08-A3B9-8383D6384B6A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8377680" y="4379091"/>
            <a:ext cx="0" cy="351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3FFDB89-F885-6730-3877-416F0B2022A1}"/>
              </a:ext>
            </a:extLst>
          </p:cNvPr>
          <p:cNvSpPr txBox="1"/>
          <p:nvPr/>
        </p:nvSpPr>
        <p:spPr>
          <a:xfrm>
            <a:off x="1463897" y="5363013"/>
            <a:ext cx="1013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Value: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351994-5E79-CBF4-2F71-2FF5DD27CD1F}"/>
              </a:ext>
            </a:extLst>
          </p:cNvPr>
          <p:cNvSpPr txBox="1"/>
          <p:nvPr/>
        </p:nvSpPr>
        <p:spPr>
          <a:xfrm>
            <a:off x="9256808" y="5356147"/>
            <a:ext cx="1013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Value: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04003E-6BED-338F-DC89-07C38F1C0D93}"/>
              </a:ext>
            </a:extLst>
          </p:cNvPr>
          <p:cNvSpPr txBox="1"/>
          <p:nvPr/>
        </p:nvSpPr>
        <p:spPr>
          <a:xfrm>
            <a:off x="0" y="2967335"/>
            <a:ext cx="2290627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2400" dirty="0"/>
              <a:t>PLAYER(s) = 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47E09B-411B-8739-8F88-4F2D329FF0F4}"/>
              </a:ext>
            </a:extLst>
          </p:cNvPr>
          <p:cNvSpPr txBox="1"/>
          <p:nvPr/>
        </p:nvSpPr>
        <p:spPr>
          <a:xfrm>
            <a:off x="1145313" y="3590886"/>
            <a:ext cx="1526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Max-Value: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40130B-6C32-288D-DFF9-F679A1715450}"/>
              </a:ext>
            </a:extLst>
          </p:cNvPr>
          <p:cNvSpPr txBox="1"/>
          <p:nvPr/>
        </p:nvSpPr>
        <p:spPr>
          <a:xfrm>
            <a:off x="9256808" y="3406220"/>
            <a:ext cx="1526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Max-Value: 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9BA0DB-045F-5BF2-3046-18C603717372}"/>
              </a:ext>
            </a:extLst>
          </p:cNvPr>
          <p:cNvSpPr txBox="1"/>
          <p:nvPr/>
        </p:nvSpPr>
        <p:spPr>
          <a:xfrm>
            <a:off x="3543697" y="1212501"/>
            <a:ext cx="1462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Min-Value: 0</a:t>
            </a:r>
          </a:p>
        </p:txBody>
      </p:sp>
    </p:spTree>
    <p:extLst>
      <p:ext uri="{BB962C8B-B14F-4D97-AF65-F5344CB8AC3E}">
        <p14:creationId xmlns:p14="http://schemas.microsoft.com/office/powerpoint/2010/main" val="287170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5" grpId="0"/>
      <p:bldP spid="26" grpId="0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AA478-A9D0-A1DD-9BEE-0102F113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ECBAF-F5D2-2DEF-6011-D03293933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072"/>
            <a:ext cx="10515600" cy="767860"/>
          </a:xfrm>
        </p:spPr>
        <p:txBody>
          <a:bodyPr/>
          <a:lstStyle/>
          <a:p>
            <a:r>
              <a:rPr lang="en-GB" dirty="0"/>
              <a:t>UTILITY(s)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29FA7-8159-7739-8880-17508ADC0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A699F-F6D3-66EA-C058-7753D3ED02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74576"/>
            <a:ext cx="2743200" cy="365125"/>
          </a:xfrm>
        </p:spPr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A1098-CF49-EA0C-B9CE-73004F1B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18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D37B95D-B2EF-14F8-BA4C-026D0C2273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7289346"/>
              </p:ext>
            </p:extLst>
          </p:nvPr>
        </p:nvGraphicFramePr>
        <p:xfrm>
          <a:off x="4502928" y="974739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830526A0-193B-4C35-4BA7-96591294AD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8736099"/>
              </p:ext>
            </p:extLst>
          </p:nvPr>
        </p:nvGraphicFramePr>
        <p:xfrm>
          <a:off x="1187206" y="2188091"/>
          <a:ext cx="118800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solidFill>
                          <a:schemeClr val="accent5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ABE6CCD2-4B14-A6FD-3E6E-4048B37254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9613184"/>
              </p:ext>
            </p:extLst>
          </p:nvPr>
        </p:nvGraphicFramePr>
        <p:xfrm>
          <a:off x="6973680" y="2141704"/>
          <a:ext cx="118800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solidFill>
                          <a:schemeClr val="accent5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11" name="Content Placeholder 5">
            <a:extLst>
              <a:ext uri="{FF2B5EF4-FFF2-40B4-BE49-F238E27FC236}">
                <a16:creationId xmlns:a16="http://schemas.microsoft.com/office/drawing/2014/main" id="{6CAE4CD8-8152-2F26-CDAE-CD22544829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7901449"/>
              </p:ext>
            </p:extLst>
          </p:nvPr>
        </p:nvGraphicFramePr>
        <p:xfrm>
          <a:off x="140484" y="3739277"/>
          <a:ext cx="1188000" cy="11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dirty="0">
                        <a:solidFill>
                          <a:schemeClr val="accent5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8C32A8-DD00-831E-F2EE-02815B8793A9}"/>
              </a:ext>
            </a:extLst>
          </p:cNvPr>
          <p:cNvCxnSpPr>
            <a:cxnSpLocks/>
            <a:stCxn id="6" idx="1"/>
            <a:endCxn id="9" idx="0"/>
          </p:cNvCxnSpPr>
          <p:nvPr/>
        </p:nvCxnSpPr>
        <p:spPr>
          <a:xfrm flipH="1">
            <a:off x="1781206" y="1660539"/>
            <a:ext cx="2721722" cy="527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983988-72F1-715C-C3C6-8FCB97499111}"/>
              </a:ext>
            </a:extLst>
          </p:cNvPr>
          <p:cNvCxnSpPr>
            <a:cxnSpLocks/>
            <a:stCxn id="6" idx="3"/>
            <a:endCxn id="10" idx="0"/>
          </p:cNvCxnSpPr>
          <p:nvPr/>
        </p:nvCxnSpPr>
        <p:spPr>
          <a:xfrm>
            <a:off x="5874528" y="1660539"/>
            <a:ext cx="1693152" cy="481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A112E6-179C-0797-0636-8BA2EFF98D18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734484" y="3376811"/>
            <a:ext cx="1046722" cy="362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5">
            <a:extLst>
              <a:ext uri="{FF2B5EF4-FFF2-40B4-BE49-F238E27FC236}">
                <a16:creationId xmlns:a16="http://schemas.microsoft.com/office/drawing/2014/main" id="{0E2EB2A4-FF05-A3ED-73A2-6AC46B4ED6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316354"/>
              </p:ext>
            </p:extLst>
          </p:nvPr>
        </p:nvGraphicFramePr>
        <p:xfrm>
          <a:off x="9398402" y="2188091"/>
          <a:ext cx="118800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solidFill>
                          <a:schemeClr val="accent5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3A49845-4B82-B5AA-7FDE-7CD0167F712C}"/>
              </a:ext>
            </a:extLst>
          </p:cNvPr>
          <p:cNvCxnSpPr>
            <a:cxnSpLocks/>
            <a:stCxn id="6" idx="3"/>
            <a:endCxn id="21" idx="0"/>
          </p:cNvCxnSpPr>
          <p:nvPr/>
        </p:nvCxnSpPr>
        <p:spPr>
          <a:xfrm>
            <a:off x="5874528" y="1660539"/>
            <a:ext cx="4117874" cy="527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5">
            <a:extLst>
              <a:ext uri="{FF2B5EF4-FFF2-40B4-BE49-F238E27FC236}">
                <a16:creationId xmlns:a16="http://schemas.microsoft.com/office/drawing/2014/main" id="{BF5AEA8C-8C6E-0A2C-0A9B-FFCC5535DD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0962131"/>
              </p:ext>
            </p:extLst>
          </p:nvPr>
        </p:nvGraphicFramePr>
        <p:xfrm>
          <a:off x="2548067" y="3739277"/>
          <a:ext cx="1188000" cy="11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en-GB" sz="18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41" name="Content Placeholder 5">
            <a:extLst>
              <a:ext uri="{FF2B5EF4-FFF2-40B4-BE49-F238E27FC236}">
                <a16:creationId xmlns:a16="http://schemas.microsoft.com/office/drawing/2014/main" id="{48AF4336-F368-4B09-39C0-151947C45F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6525508"/>
              </p:ext>
            </p:extLst>
          </p:nvPr>
        </p:nvGraphicFramePr>
        <p:xfrm>
          <a:off x="140484" y="5239855"/>
          <a:ext cx="1188000" cy="11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42" name="Content Placeholder 5">
            <a:extLst>
              <a:ext uri="{FF2B5EF4-FFF2-40B4-BE49-F238E27FC236}">
                <a16:creationId xmlns:a16="http://schemas.microsoft.com/office/drawing/2014/main" id="{AFE7FB15-2609-374A-4163-4AA92BDEB6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2385654"/>
              </p:ext>
            </p:extLst>
          </p:nvPr>
        </p:nvGraphicFramePr>
        <p:xfrm>
          <a:off x="2548067" y="5243742"/>
          <a:ext cx="1188000" cy="11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43" name="Content Placeholder 5">
            <a:extLst>
              <a:ext uri="{FF2B5EF4-FFF2-40B4-BE49-F238E27FC236}">
                <a16:creationId xmlns:a16="http://schemas.microsoft.com/office/drawing/2014/main" id="{9D21D6D1-7FA5-B383-9815-C8F9ECE6C3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2746388"/>
              </p:ext>
            </p:extLst>
          </p:nvPr>
        </p:nvGraphicFramePr>
        <p:xfrm>
          <a:off x="5520781" y="3738557"/>
          <a:ext cx="118800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solidFill>
                          <a:schemeClr val="accent5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44" name="Content Placeholder 5">
            <a:extLst>
              <a:ext uri="{FF2B5EF4-FFF2-40B4-BE49-F238E27FC236}">
                <a16:creationId xmlns:a16="http://schemas.microsoft.com/office/drawing/2014/main" id="{34FC1791-BE0E-B4D0-CA37-86F335D23F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5749177"/>
              </p:ext>
            </p:extLst>
          </p:nvPr>
        </p:nvGraphicFramePr>
        <p:xfrm>
          <a:off x="8323944" y="3738557"/>
          <a:ext cx="118800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latin typeface="Comic Sans MS" panose="030F0702030302020204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graphicFrame>
        <p:nvGraphicFramePr>
          <p:cNvPr id="45" name="Content Placeholder 5">
            <a:extLst>
              <a:ext uri="{FF2B5EF4-FFF2-40B4-BE49-F238E27FC236}">
                <a16:creationId xmlns:a16="http://schemas.microsoft.com/office/drawing/2014/main" id="{C264BFF2-D1DC-5643-86EA-C5D2A02C16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4255728"/>
              </p:ext>
            </p:extLst>
          </p:nvPr>
        </p:nvGraphicFramePr>
        <p:xfrm>
          <a:off x="8323944" y="5289023"/>
          <a:ext cx="118800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59843777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5127276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641470846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8404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accent5"/>
                          </a:solidFill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542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X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mic Sans MS" panose="030F0702030302020204" pitchFamily="66" charset="0"/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83054"/>
                  </a:ext>
                </a:extLst>
              </a:tr>
            </a:tbl>
          </a:graphicData>
        </a:graphic>
      </p:graphicFrame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2502FB-66EB-5192-CBE2-39C6AC5891EF}"/>
              </a:ext>
            </a:extLst>
          </p:cNvPr>
          <p:cNvCxnSpPr>
            <a:cxnSpLocks/>
            <a:stCxn id="9" idx="2"/>
            <a:endCxn id="40" idx="0"/>
          </p:cNvCxnSpPr>
          <p:nvPr/>
        </p:nvCxnSpPr>
        <p:spPr>
          <a:xfrm>
            <a:off x="1781206" y="3376811"/>
            <a:ext cx="1360861" cy="362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95B4E9-EC00-311A-FD0C-31C6EE808F9E}"/>
              </a:ext>
            </a:extLst>
          </p:cNvPr>
          <p:cNvCxnSpPr>
            <a:cxnSpLocks/>
            <a:stCxn id="11" idx="2"/>
            <a:endCxn id="41" idx="0"/>
          </p:cNvCxnSpPr>
          <p:nvPr/>
        </p:nvCxnSpPr>
        <p:spPr>
          <a:xfrm>
            <a:off x="734484" y="4927277"/>
            <a:ext cx="0" cy="312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D7005B-0E1E-D1C8-3515-750F25E8C1DC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>
            <a:off x="3142067" y="4927277"/>
            <a:ext cx="0" cy="316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70F6CF5-6371-FBB1-9195-6B976A7C4C30}"/>
              </a:ext>
            </a:extLst>
          </p:cNvPr>
          <p:cNvCxnSpPr>
            <a:cxnSpLocks/>
            <a:stCxn id="10" idx="2"/>
            <a:endCxn id="43" idx="0"/>
          </p:cNvCxnSpPr>
          <p:nvPr/>
        </p:nvCxnSpPr>
        <p:spPr>
          <a:xfrm flipH="1">
            <a:off x="6114781" y="3330424"/>
            <a:ext cx="1452899" cy="408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2373E36-A425-CC07-7985-736C7552F445}"/>
              </a:ext>
            </a:extLst>
          </p:cNvPr>
          <p:cNvCxnSpPr>
            <a:cxnSpLocks/>
            <a:stCxn id="10" idx="2"/>
            <a:endCxn id="44" idx="0"/>
          </p:cNvCxnSpPr>
          <p:nvPr/>
        </p:nvCxnSpPr>
        <p:spPr>
          <a:xfrm>
            <a:off x="7567680" y="3330424"/>
            <a:ext cx="1350264" cy="408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3B83A3B-F462-196D-9676-ED4A8D67CDC0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8917944" y="4927277"/>
            <a:ext cx="0" cy="361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019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C97AF-2942-720A-D19C-8A27430E2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4451"/>
          </a:xfrm>
        </p:spPr>
        <p:txBody>
          <a:bodyPr/>
          <a:lstStyle/>
          <a:p>
            <a:r>
              <a:rPr lang="en-GB" dirty="0"/>
              <a:t>Minimax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42914-9595-A76E-AAB3-D4591249C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144"/>
            <a:ext cx="10515600" cy="502481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function MAX-VALUE(state) returns a utility value </a:t>
            </a:r>
          </a:p>
          <a:p>
            <a:pPr marL="0" indent="0">
              <a:buNone/>
            </a:pPr>
            <a:r>
              <a:rPr lang="en-GB" dirty="0"/>
              <a:t>	if TERMINAL-TEST(state) then </a:t>
            </a:r>
          </a:p>
          <a:p>
            <a:pPr marL="0" indent="0">
              <a:buNone/>
            </a:pPr>
            <a:r>
              <a:rPr lang="en-GB" dirty="0"/>
              <a:t>		return UTILITY(state) </a:t>
            </a:r>
          </a:p>
          <a:p>
            <a:pPr marL="0" indent="0">
              <a:buNone/>
            </a:pPr>
            <a:r>
              <a:rPr lang="en-GB" dirty="0"/>
              <a:t>	v ←−∞ </a:t>
            </a:r>
          </a:p>
          <a:p>
            <a:pPr marL="0" indent="0">
              <a:buNone/>
            </a:pPr>
            <a:r>
              <a:rPr lang="en-GB" dirty="0"/>
              <a:t>	for each a in ACTIONS(state) do </a:t>
            </a:r>
          </a:p>
          <a:p>
            <a:pPr marL="0" indent="0">
              <a:buNone/>
            </a:pPr>
            <a:r>
              <a:rPr lang="en-GB" dirty="0"/>
              <a:t>		v ←MAX(</a:t>
            </a:r>
            <a:r>
              <a:rPr lang="en-GB" dirty="0" err="1"/>
              <a:t>v,MIN</a:t>
            </a:r>
            <a:r>
              <a:rPr lang="en-GB" dirty="0"/>
              <a:t>-VALUE(RESULT(s, a))) </a:t>
            </a:r>
          </a:p>
          <a:p>
            <a:pPr marL="0" indent="0">
              <a:buNone/>
            </a:pPr>
            <a:r>
              <a:rPr lang="en-GB" dirty="0"/>
              <a:t>	return 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224C8-08D6-871E-3071-D7034F01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696EF-04D7-14C7-CDC0-F6D4538C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810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B986F-F8D3-9BB1-451E-D49913D22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15D5-F554-2FD2-BA5E-1E729D65E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4451"/>
          </a:xfrm>
        </p:spPr>
        <p:txBody>
          <a:bodyPr/>
          <a:lstStyle/>
          <a:p>
            <a:r>
              <a:rPr lang="en-GB" dirty="0"/>
              <a:t>Minimax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EF785-AA29-1098-57A0-4E3FFC552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144"/>
            <a:ext cx="10515600" cy="502481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function MIN-VALUE(state) returns a utility value </a:t>
            </a:r>
          </a:p>
          <a:p>
            <a:pPr marL="0" indent="0">
              <a:buNone/>
            </a:pPr>
            <a:r>
              <a:rPr lang="en-GB" dirty="0"/>
              <a:t>	if TERMINAL-TEST(state) then </a:t>
            </a:r>
          </a:p>
          <a:p>
            <a:pPr marL="0" indent="0">
              <a:buNone/>
            </a:pPr>
            <a:r>
              <a:rPr lang="en-GB" dirty="0"/>
              <a:t>	return UTILITY(state) </a:t>
            </a:r>
          </a:p>
          <a:p>
            <a:pPr marL="0" indent="0">
              <a:buNone/>
            </a:pPr>
            <a:r>
              <a:rPr lang="en-GB" dirty="0"/>
              <a:t>	v ←∞ </a:t>
            </a:r>
          </a:p>
          <a:p>
            <a:pPr marL="0" indent="0">
              <a:buNone/>
            </a:pPr>
            <a:r>
              <a:rPr lang="en-GB" dirty="0"/>
              <a:t>	for each a in ACTIONS(state) do </a:t>
            </a:r>
          </a:p>
          <a:p>
            <a:pPr marL="0" indent="0">
              <a:buNone/>
            </a:pPr>
            <a:r>
              <a:rPr lang="en-GB" dirty="0"/>
              <a:t>		v ←MIN(</a:t>
            </a:r>
            <a:r>
              <a:rPr lang="en-GB" dirty="0" err="1"/>
              <a:t>v,MAX</a:t>
            </a:r>
            <a:r>
              <a:rPr lang="en-GB" dirty="0"/>
              <a:t>-VALUE(RESULT(s, a))) </a:t>
            </a:r>
          </a:p>
          <a:p>
            <a:pPr marL="0" indent="0">
              <a:buNone/>
            </a:pPr>
            <a:r>
              <a:rPr lang="en-GB" dirty="0"/>
              <a:t>	return 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FCE55-CE36-A0AE-C3C3-080DD35A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2E7FB-46AE-2BC8-3CD8-FF5AA6CF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657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41B64-8D3C-510E-C73C-15BFD979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BC98-3883-BE28-F12C-59B0BC7D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4451"/>
          </a:xfrm>
        </p:spPr>
        <p:txBody>
          <a:bodyPr/>
          <a:lstStyle/>
          <a:p>
            <a:r>
              <a:rPr lang="en-GB" dirty="0"/>
              <a:t>Minimax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FE41EF-91FF-379D-7767-0AB3BEB67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52145"/>
                <a:ext cx="10515600" cy="112471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function MINIMAX-DECISION(state) returns an action</a:t>
                </a:r>
              </a:p>
              <a:p>
                <a:pPr marL="0" indent="0">
                  <a:buNone/>
                </a:pPr>
                <a:r>
                  <a:rPr lang="en-GB" dirty="0"/>
                  <a:t>	return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𝐴𝐶𝑇𝐼𝑂𝑁𝑆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b>
                    </m:sSub>
                  </m:oMath>
                </a14:m>
                <a:r>
                  <a:rPr lang="en-GB" dirty="0"/>
                  <a:t>MIN-VALUE(RESULT(</a:t>
                </a:r>
                <a:r>
                  <a:rPr lang="en-GB" dirty="0" err="1"/>
                  <a:t>state,a</a:t>
                </a:r>
                <a:r>
                  <a:rPr lang="en-GB" dirty="0"/>
                  <a:t>))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FE41EF-91FF-379D-7767-0AB3BEB67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52145"/>
                <a:ext cx="10515600" cy="1124712"/>
              </a:xfrm>
              <a:blipFill>
                <a:blip r:embed="rId2"/>
                <a:stretch>
                  <a:fillRect l="-1217" t="-9189" b="-27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5CFD8-7D76-E6B5-A83E-E31F875B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BFB50-7658-A6C5-D9E4-E1FBFEF69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21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90ABCD-75F9-E78A-9896-B81812608725}"/>
              </a:ext>
            </a:extLst>
          </p:cNvPr>
          <p:cNvSpPr txBox="1"/>
          <p:nvPr/>
        </p:nvSpPr>
        <p:spPr>
          <a:xfrm>
            <a:off x="3447288" y="2478026"/>
            <a:ext cx="5827236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Assuming the player wants to minimize the utility value.</a:t>
            </a:r>
          </a:p>
        </p:txBody>
      </p:sp>
    </p:spTree>
    <p:extLst>
      <p:ext uri="{BB962C8B-B14F-4D97-AF65-F5344CB8AC3E}">
        <p14:creationId xmlns:p14="http://schemas.microsoft.com/office/powerpoint/2010/main" val="832566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D8B03-C0F5-0250-4A22-B6060DFC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2D60-6EF2-DADE-1D25-46EEEF228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4451"/>
          </a:xfrm>
        </p:spPr>
        <p:txBody>
          <a:bodyPr/>
          <a:lstStyle/>
          <a:p>
            <a:r>
              <a:rPr lang="en-GB" dirty="0"/>
              <a:t>Minimax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05E31C-D13C-16A5-2822-4F862D989D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52144"/>
                <a:ext cx="10515600" cy="52943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function MAX-VALUE(state) returns a utility value </a:t>
                </a:r>
              </a:p>
              <a:p>
                <a:pPr marL="0" indent="0">
                  <a:buNone/>
                </a:pPr>
                <a:r>
                  <a:rPr lang="en-GB" sz="1800" dirty="0"/>
                  <a:t>	if TERMINAL-TEST(state) then return UTILITY(state) </a:t>
                </a:r>
              </a:p>
              <a:p>
                <a:pPr marL="0" indent="0">
                  <a:buNone/>
                </a:pPr>
                <a:r>
                  <a:rPr lang="en-GB" sz="1800" dirty="0"/>
                  <a:t>	v ←−∞ </a:t>
                </a:r>
              </a:p>
              <a:p>
                <a:pPr marL="0" indent="0">
                  <a:buNone/>
                </a:pPr>
                <a:r>
                  <a:rPr lang="en-GB" sz="1800" dirty="0"/>
                  <a:t>	for each a in ACTIONS(state) do </a:t>
                </a:r>
              </a:p>
              <a:p>
                <a:pPr marL="0" indent="0">
                  <a:buNone/>
                </a:pPr>
                <a:r>
                  <a:rPr lang="en-GB" sz="1800" dirty="0"/>
                  <a:t>		v ←MAX(</a:t>
                </a:r>
                <a:r>
                  <a:rPr lang="en-GB" sz="1800" dirty="0" err="1"/>
                  <a:t>v,MIN</a:t>
                </a:r>
                <a:r>
                  <a:rPr lang="en-GB" sz="1800" dirty="0"/>
                  <a:t>-VALUE(RESULT(s, a))) </a:t>
                </a:r>
              </a:p>
              <a:p>
                <a:pPr marL="0" indent="0">
                  <a:buNone/>
                </a:pPr>
                <a:r>
                  <a:rPr lang="en-GB" sz="1800" dirty="0"/>
                  <a:t>	return v</a:t>
                </a:r>
              </a:p>
              <a:p>
                <a:pPr marL="0" indent="0">
                  <a:buNone/>
                </a:pPr>
                <a:r>
                  <a:rPr lang="en-GB" sz="1800" dirty="0"/>
                  <a:t>function MIN-VALUE(state) returns a utility value </a:t>
                </a:r>
              </a:p>
              <a:p>
                <a:pPr marL="0" indent="0">
                  <a:buNone/>
                </a:pPr>
                <a:r>
                  <a:rPr lang="en-GB" sz="1800" dirty="0"/>
                  <a:t>	if TERMINAL-TEST(state) then  return UTILITY(state) </a:t>
                </a:r>
              </a:p>
              <a:p>
                <a:pPr marL="0" indent="0">
                  <a:buNone/>
                </a:pPr>
                <a:r>
                  <a:rPr lang="en-GB" sz="1800" dirty="0"/>
                  <a:t>	v ←∞ </a:t>
                </a:r>
              </a:p>
              <a:p>
                <a:pPr marL="0" indent="0">
                  <a:buNone/>
                </a:pPr>
                <a:r>
                  <a:rPr lang="en-GB" sz="1800" dirty="0"/>
                  <a:t>	for each a in ACTIONS(state) do </a:t>
                </a:r>
              </a:p>
              <a:p>
                <a:pPr marL="0" indent="0">
                  <a:buNone/>
                </a:pPr>
                <a:r>
                  <a:rPr lang="en-GB" sz="1800" dirty="0"/>
                  <a:t>		v ←MIN(</a:t>
                </a:r>
                <a:r>
                  <a:rPr lang="en-GB" sz="1800" dirty="0" err="1"/>
                  <a:t>v,MAX</a:t>
                </a:r>
                <a:r>
                  <a:rPr lang="en-GB" sz="1800" dirty="0"/>
                  <a:t>-VALUE(RESULT(s, a))) </a:t>
                </a:r>
              </a:p>
              <a:p>
                <a:pPr marL="0" indent="0">
                  <a:buNone/>
                </a:pPr>
                <a:r>
                  <a:rPr lang="en-GB" sz="1800" dirty="0"/>
                  <a:t>	return v</a:t>
                </a:r>
              </a:p>
              <a:p>
                <a:pPr marL="0" indent="0">
                  <a:buNone/>
                </a:pPr>
                <a:r>
                  <a:rPr lang="en-GB" sz="1800" dirty="0"/>
                  <a:t>function MINIMAX-DECISION(state) returns an action</a:t>
                </a:r>
              </a:p>
              <a:p>
                <a:pPr marL="0" indent="0">
                  <a:buNone/>
                </a:pPr>
                <a:r>
                  <a:rPr lang="en-GB" sz="1800" dirty="0"/>
                  <a:t>	return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𝐴𝐶𝑇𝐼𝑂𝑁𝑆</m:t>
                        </m:r>
                        <m:d>
                          <m:d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b>
                    </m:sSub>
                  </m:oMath>
                </a14:m>
                <a:r>
                  <a:rPr lang="en-GB" sz="1800" dirty="0"/>
                  <a:t>MIN-VALUE(RESULT(</a:t>
                </a:r>
                <a:r>
                  <a:rPr lang="en-GB" sz="1800" dirty="0" err="1"/>
                  <a:t>state,a</a:t>
                </a:r>
                <a:r>
                  <a:rPr lang="en-GB" sz="1800" dirty="0"/>
                  <a:t>))</a:t>
                </a:r>
              </a:p>
              <a:p>
                <a:pPr marL="0" indent="0">
                  <a:buNone/>
                </a:pPr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05E31C-D13C-16A5-2822-4F862D989D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52144"/>
                <a:ext cx="10515600" cy="5294376"/>
              </a:xfrm>
              <a:blipFill>
                <a:blip r:embed="rId2"/>
                <a:stretch>
                  <a:fillRect l="-522" t="-1036" b="-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2DB87-207D-FDBF-113E-85BCE12B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8FC4A-4BC7-C9FD-70EB-55F968995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22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8D19F9-49B6-8ECA-F67B-60C267C79FCC}"/>
              </a:ext>
            </a:extLst>
          </p:cNvPr>
          <p:cNvCxnSpPr/>
          <p:nvPr/>
        </p:nvCxnSpPr>
        <p:spPr>
          <a:xfrm>
            <a:off x="941832" y="3328416"/>
            <a:ext cx="104119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082868-5975-5526-AE18-6DA6F34566D2}"/>
              </a:ext>
            </a:extLst>
          </p:cNvPr>
          <p:cNvCxnSpPr/>
          <p:nvPr/>
        </p:nvCxnSpPr>
        <p:spPr>
          <a:xfrm>
            <a:off x="941832" y="5629656"/>
            <a:ext cx="104119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43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37A0-CB7B-4133-46C2-6EF3EE2E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Alpha-Beta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99B97-B498-26D8-EA4F-878DC864E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Number of game states that needs to be examined is exponential in the depth of the tree.</a:t>
            </a:r>
          </a:p>
          <a:p>
            <a:r>
              <a:rPr lang="en-GB" dirty="0"/>
              <a:t>We can’t remove the exponent part but can effectively cut it in half.</a:t>
            </a:r>
          </a:p>
          <a:p>
            <a:r>
              <a:rPr lang="en-GB" dirty="0"/>
              <a:t>The trick is, it is possible to compute the correct minimax decision without looking at every node in the game tree.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67809-FB51-72F9-62DD-333FE05FD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1C219-171F-2B39-6D5B-721D70EC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33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432D-8B3F-DB2C-F2EA-E3DAD4982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Alpha-Beta Pruning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175045-B628-B42C-DACA-C36CF83B09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1053" y="1837943"/>
            <a:ext cx="9589894" cy="42475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ED552-AD96-994A-C935-30609A566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73D77-A0CB-8EB8-BE77-747ACA04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585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98E20-3AA0-169A-28A4-0D5D9B075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AB6F-E906-05CA-CB6E-1A9E8622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Alpha-Beta Pruning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72C50-B84D-20C9-A565-66D20A837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DCD8B-4C4F-A1C0-604D-B3B47FC3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25</a:t>
            </a:fld>
            <a:endParaRPr lang="en-GB"/>
          </a:p>
        </p:txBody>
      </p:sp>
      <p:pic>
        <p:nvPicPr>
          <p:cNvPr id="17" name="Picture 16" descr="A diagram of a graph&#10;&#10;AI-generated content may be incorrect.">
            <a:extLst>
              <a:ext uri="{FF2B5EF4-FFF2-40B4-BE49-F238E27FC236}">
                <a16:creationId xmlns:a16="http://schemas.microsoft.com/office/drawing/2014/main" id="{7FBBF790-7294-DC4A-C7D7-C55253227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443" y="2262187"/>
            <a:ext cx="5200650" cy="2333625"/>
          </a:xfrm>
          <a:prstGeom prst="rect">
            <a:avLst/>
          </a:prstGeom>
        </p:spPr>
      </p:pic>
      <p:pic>
        <p:nvPicPr>
          <p:cNvPr id="19" name="Picture 18" descr="A diagram of a tree&#10;&#10;AI-generated content may be incorrect.">
            <a:extLst>
              <a:ext uri="{FF2B5EF4-FFF2-40B4-BE49-F238E27FC236}">
                <a16:creationId xmlns:a16="http://schemas.microsoft.com/office/drawing/2014/main" id="{07FBA540-756E-B379-A0E2-212120DC6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912" y="2262187"/>
            <a:ext cx="5210175" cy="2324100"/>
          </a:xfrm>
          <a:prstGeom prst="rect">
            <a:avLst/>
          </a:prstGeom>
        </p:spPr>
      </p:pic>
      <p:pic>
        <p:nvPicPr>
          <p:cNvPr id="21" name="Picture 20" descr="A diagram of a tree&#10;&#10;AI-generated content may be incorrect.">
            <a:extLst>
              <a:ext uri="{FF2B5EF4-FFF2-40B4-BE49-F238E27FC236}">
                <a16:creationId xmlns:a16="http://schemas.microsoft.com/office/drawing/2014/main" id="{4DC118A9-2D6B-D2F1-9037-20985E0F3E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299" y="2266950"/>
            <a:ext cx="5200650" cy="2324100"/>
          </a:xfrm>
          <a:prstGeom prst="rect">
            <a:avLst/>
          </a:prstGeom>
        </p:spPr>
      </p:pic>
      <p:pic>
        <p:nvPicPr>
          <p:cNvPr id="23" name="Picture 22" descr="A diagram of a graph&#10;&#10;AI-generated content may be incorrect.">
            <a:extLst>
              <a:ext uri="{FF2B5EF4-FFF2-40B4-BE49-F238E27FC236}">
                <a16:creationId xmlns:a16="http://schemas.microsoft.com/office/drawing/2014/main" id="{D629B33B-8D31-CD70-2888-043A6CDBC3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912" y="2266950"/>
            <a:ext cx="5210175" cy="2324100"/>
          </a:xfrm>
          <a:prstGeom prst="rect">
            <a:avLst/>
          </a:prstGeom>
        </p:spPr>
      </p:pic>
      <p:pic>
        <p:nvPicPr>
          <p:cNvPr id="25" name="Picture 24" descr="A diagram of a triangle&#10;&#10;AI-generated content may be incorrect.">
            <a:extLst>
              <a:ext uri="{FF2B5EF4-FFF2-40B4-BE49-F238E27FC236}">
                <a16:creationId xmlns:a16="http://schemas.microsoft.com/office/drawing/2014/main" id="{BF877AAD-8D54-0047-7377-844064FB22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443" y="2266950"/>
            <a:ext cx="5200650" cy="2324100"/>
          </a:xfrm>
          <a:prstGeom prst="rect">
            <a:avLst/>
          </a:prstGeom>
        </p:spPr>
      </p:pic>
      <p:pic>
        <p:nvPicPr>
          <p:cNvPr id="27" name="Picture 26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F179E666-5052-A56F-F9B2-E1BDDC2A68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912" y="2262187"/>
            <a:ext cx="521017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9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80010-5D93-7963-E1F6-9A453AFE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Alpha-Beta Pruning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CA3FCB-23BA-79F7-C608-33322E4BBD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35752" cy="4351338"/>
              </a:xfrm>
            </p:spPr>
            <p:txBody>
              <a:bodyPr/>
              <a:lstStyle/>
              <a:p>
                <a:r>
                  <a:rPr lang="en-GB" dirty="0"/>
                  <a:t>Pruning Can be applied in any depth.</a:t>
                </a:r>
              </a:p>
              <a:p>
                <a:r>
                  <a:rPr lang="en-GB" dirty="0"/>
                  <a:t>Consider a node n, such that player has a choice of moving to that node.</a:t>
                </a:r>
              </a:p>
              <a:p>
                <a:r>
                  <a:rPr lang="en-GB" dirty="0"/>
                  <a:t>If player has a better choice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either at the parent node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or at any point further up, 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will never be reached in actual play.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CA3FCB-23BA-79F7-C608-33322E4BBD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35752" cy="4351338"/>
              </a:xfrm>
              <a:blipFill>
                <a:blip r:embed="rId2"/>
                <a:stretch>
                  <a:fillRect l="-1948" t="-2381" r="-19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224EF-FB70-0B4C-1198-6DF25C5CC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AEE30-1A26-9EF2-D2D9-EB23C8FA7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887B53-91EB-7707-EFAE-F038DADEB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583" y="1825625"/>
            <a:ext cx="4420217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0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75531-887F-90E2-8A03-563447A00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Alpha-Beta Pruning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70ED8F-E519-92B3-56E0-D861DC6E45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name comes from two parameters.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dirty="0"/>
                  <a:t>the value of the best choice we have found so far at any choice point along the path for MAX.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GB" dirty="0"/>
                  <a:t>the value of the best choice we have found so far at any choice point along the path for MIN.</a:t>
                </a:r>
              </a:p>
              <a:p>
                <a:r>
                  <a:rPr lang="en-GB" dirty="0"/>
                  <a:t>Search updates the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as it goes along and prunes the remaining branches at a node as soon as the value of the current node is known to be worse than the current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value.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70ED8F-E519-92B3-56E0-D861DC6E45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25640-511F-CE20-3D4F-02750D84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EFCC1-D06A-CB00-F19B-08E10CB6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34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5A06-EBF7-7DA3-D5B1-79600482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290"/>
          </a:xfrm>
        </p:spPr>
        <p:txBody>
          <a:bodyPr>
            <a:normAutofit fontScale="90000"/>
          </a:bodyPr>
          <a:lstStyle/>
          <a:p>
            <a:r>
              <a:rPr lang="en-GB" dirty="0"/>
              <a:t>Alpha-Beta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BD548-DC96-C861-61CE-EA4AF74E4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613"/>
            <a:ext cx="10515600" cy="1600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 </a:t>
            </a:r>
            <a:r>
              <a:rPr lang="en-GB" sz="2400" b="1" dirty="0"/>
              <a:t>function</a:t>
            </a:r>
            <a:r>
              <a:rPr lang="en-GB" sz="2400" dirty="0"/>
              <a:t> ALPHA-BETA-SEARCH(state) </a:t>
            </a:r>
            <a:r>
              <a:rPr lang="en-GB" sz="2400" b="1" dirty="0"/>
              <a:t>returns</a:t>
            </a:r>
            <a:r>
              <a:rPr lang="en-GB" sz="2400" dirty="0"/>
              <a:t> an action</a:t>
            </a:r>
          </a:p>
          <a:p>
            <a:pPr marL="0" indent="0">
              <a:buNone/>
            </a:pPr>
            <a:r>
              <a:rPr lang="en-GB" sz="2400" dirty="0"/>
              <a:t> 	v ←MAX-VALUE(state,−∞,+∞)</a:t>
            </a:r>
          </a:p>
          <a:p>
            <a:pPr marL="0" indent="0">
              <a:buNone/>
            </a:pPr>
            <a:r>
              <a:rPr lang="en-GB" sz="2400" dirty="0"/>
              <a:t>	</a:t>
            </a:r>
            <a:r>
              <a:rPr lang="en-GB" sz="2400" b="1" dirty="0"/>
              <a:t>return</a:t>
            </a:r>
            <a:r>
              <a:rPr lang="en-GB" sz="2400" dirty="0"/>
              <a:t> the action in ACTIONS(state) with value 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55821-2345-5BF0-1585-C2B7F0CB3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B522B-9398-D0EC-36FA-95067048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28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26360-F49D-878E-98C7-FAF9C662DFC0}"/>
              </a:ext>
            </a:extLst>
          </p:cNvPr>
          <p:cNvSpPr txBox="1"/>
          <p:nvPr/>
        </p:nvSpPr>
        <p:spPr>
          <a:xfrm>
            <a:off x="250617" y="3367420"/>
            <a:ext cx="5845383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 </a:t>
            </a:r>
            <a:r>
              <a:rPr lang="en-GB" b="1" dirty="0"/>
              <a:t>function</a:t>
            </a:r>
            <a:r>
              <a:rPr lang="en-GB" dirty="0"/>
              <a:t> MAX-VALUE(state,α,β) </a:t>
            </a:r>
            <a:r>
              <a:rPr lang="en-GB" b="1" dirty="0"/>
              <a:t>returns</a:t>
            </a:r>
            <a:r>
              <a:rPr lang="en-GB" dirty="0"/>
              <a:t> a utility value</a:t>
            </a:r>
          </a:p>
          <a:p>
            <a:r>
              <a:rPr lang="en-GB" dirty="0"/>
              <a:t>     </a:t>
            </a:r>
            <a:r>
              <a:rPr lang="en-GB" b="1" dirty="0"/>
              <a:t>if</a:t>
            </a:r>
            <a:r>
              <a:rPr lang="en-GB" dirty="0"/>
              <a:t> TERMINAL-TEST(state) </a:t>
            </a:r>
            <a:r>
              <a:rPr lang="en-GB" b="1" dirty="0"/>
              <a:t>then</a:t>
            </a:r>
            <a:r>
              <a:rPr lang="en-GB" dirty="0"/>
              <a:t> </a:t>
            </a:r>
          </a:p>
          <a:p>
            <a:r>
              <a:rPr lang="en-GB" b="1" dirty="0"/>
              <a:t>	return</a:t>
            </a:r>
            <a:r>
              <a:rPr lang="en-GB" dirty="0"/>
              <a:t> UTILITY(state)</a:t>
            </a:r>
          </a:p>
          <a:p>
            <a:r>
              <a:rPr lang="en-GB" dirty="0"/>
              <a:t>     v ←−∞</a:t>
            </a:r>
          </a:p>
          <a:p>
            <a:r>
              <a:rPr lang="en-GB" dirty="0"/>
              <a:t>    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each</a:t>
            </a:r>
            <a:r>
              <a:rPr lang="en-GB" dirty="0"/>
              <a:t> a </a:t>
            </a:r>
            <a:r>
              <a:rPr lang="en-GB" b="1" dirty="0"/>
              <a:t>in</a:t>
            </a:r>
            <a:r>
              <a:rPr lang="en-GB" dirty="0"/>
              <a:t> ACTIONS(state) </a:t>
            </a:r>
            <a:r>
              <a:rPr lang="en-GB" b="1" dirty="0"/>
              <a:t>do</a:t>
            </a:r>
          </a:p>
          <a:p>
            <a:r>
              <a:rPr lang="en-GB" dirty="0"/>
              <a:t>	v ←MAX(v, MIN-VALUE(RESULT(s, a), α, β))</a:t>
            </a:r>
          </a:p>
          <a:p>
            <a:r>
              <a:rPr lang="en-GB" dirty="0"/>
              <a:t> 	if v ≥ β </a:t>
            </a:r>
            <a:r>
              <a:rPr lang="en-GB" b="1" dirty="0"/>
              <a:t>then</a:t>
            </a:r>
            <a:r>
              <a:rPr lang="en-GB" dirty="0"/>
              <a:t> </a:t>
            </a:r>
            <a:r>
              <a:rPr lang="en-GB" b="1" dirty="0"/>
              <a:t>return</a:t>
            </a:r>
            <a:r>
              <a:rPr lang="en-GB" dirty="0"/>
              <a:t> v</a:t>
            </a:r>
          </a:p>
          <a:p>
            <a:r>
              <a:rPr lang="en-GB" dirty="0"/>
              <a:t>	α←MAX(α,v)</a:t>
            </a:r>
          </a:p>
          <a:p>
            <a:r>
              <a:rPr lang="en-GB" dirty="0"/>
              <a:t> </a:t>
            </a:r>
            <a:r>
              <a:rPr lang="en-GB" b="1" dirty="0"/>
              <a:t>return</a:t>
            </a:r>
            <a:r>
              <a:rPr lang="en-GB" dirty="0"/>
              <a:t> v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5B1F3-D2AD-5A0A-2138-FFE908825200}"/>
              </a:ext>
            </a:extLst>
          </p:cNvPr>
          <p:cNvSpPr txBox="1"/>
          <p:nvPr/>
        </p:nvSpPr>
        <p:spPr>
          <a:xfrm>
            <a:off x="6096000" y="3367420"/>
            <a:ext cx="5768439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 </a:t>
            </a:r>
            <a:r>
              <a:rPr lang="en-GB" b="1" dirty="0"/>
              <a:t>function</a:t>
            </a:r>
            <a:r>
              <a:rPr lang="en-GB" dirty="0"/>
              <a:t> MIN-VALUE(state,α,β) </a:t>
            </a:r>
            <a:r>
              <a:rPr lang="en-GB" b="1" dirty="0"/>
              <a:t>returns</a:t>
            </a:r>
            <a:r>
              <a:rPr lang="en-GB" dirty="0"/>
              <a:t> a utility value</a:t>
            </a:r>
          </a:p>
          <a:p>
            <a:r>
              <a:rPr lang="en-GB" dirty="0"/>
              <a:t>    if TERMINAL-TEST(state) </a:t>
            </a:r>
            <a:r>
              <a:rPr lang="en-GB" b="1" dirty="0"/>
              <a:t>then</a:t>
            </a:r>
            <a:r>
              <a:rPr lang="en-GB" dirty="0"/>
              <a:t> </a:t>
            </a:r>
          </a:p>
          <a:p>
            <a:r>
              <a:rPr lang="en-GB" b="1" dirty="0"/>
              <a:t>		return</a:t>
            </a:r>
            <a:r>
              <a:rPr lang="en-GB" dirty="0"/>
              <a:t> UTILITY(state)</a:t>
            </a:r>
          </a:p>
          <a:p>
            <a:r>
              <a:rPr lang="en-GB" dirty="0"/>
              <a:t>    v ←+∞</a:t>
            </a:r>
          </a:p>
          <a:p>
            <a:r>
              <a:rPr lang="en-GB" b="1" dirty="0"/>
              <a:t>    for</a:t>
            </a:r>
            <a:r>
              <a:rPr lang="en-GB" dirty="0"/>
              <a:t> </a:t>
            </a:r>
            <a:r>
              <a:rPr lang="en-GB" b="1" dirty="0"/>
              <a:t>each</a:t>
            </a:r>
            <a:r>
              <a:rPr lang="en-GB" dirty="0"/>
              <a:t> a in ACTIONS(state) </a:t>
            </a:r>
            <a:r>
              <a:rPr lang="en-GB" b="1" dirty="0"/>
              <a:t>do</a:t>
            </a:r>
          </a:p>
          <a:p>
            <a:r>
              <a:rPr lang="en-GB" dirty="0"/>
              <a:t>	v ←MIN(v, MAX-VALUE(RESULT(s, a), α, β))</a:t>
            </a:r>
          </a:p>
          <a:p>
            <a:r>
              <a:rPr lang="en-GB" dirty="0"/>
              <a:t> 	if v ≤ α </a:t>
            </a:r>
            <a:r>
              <a:rPr lang="en-GB" b="1" dirty="0"/>
              <a:t>then</a:t>
            </a:r>
            <a:r>
              <a:rPr lang="en-GB" dirty="0"/>
              <a:t> </a:t>
            </a:r>
            <a:r>
              <a:rPr lang="en-GB" b="1" dirty="0"/>
              <a:t>return</a:t>
            </a:r>
            <a:r>
              <a:rPr lang="en-GB" dirty="0"/>
              <a:t> v</a:t>
            </a:r>
          </a:p>
          <a:p>
            <a:r>
              <a:rPr lang="en-GB" dirty="0"/>
              <a:t>	β←MIN(β, v)</a:t>
            </a:r>
          </a:p>
          <a:p>
            <a:r>
              <a:rPr lang="en-GB" dirty="0"/>
              <a:t> return v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621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DEAA3-790A-3AAB-1802-7C77A5A7A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Imperfect Real-Time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CFCFF-A7BE-DB11-874C-69DA4B5BF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Minimax has to search all the way to terminal state.</a:t>
            </a:r>
          </a:p>
          <a:p>
            <a:pPr lvl="1"/>
            <a:r>
              <a:rPr lang="en-GB" dirty="0"/>
              <a:t>Even for pruning.</a:t>
            </a:r>
          </a:p>
          <a:p>
            <a:r>
              <a:rPr lang="en-GB" dirty="0"/>
              <a:t>Depth is usually not practical.</a:t>
            </a:r>
          </a:p>
          <a:p>
            <a:r>
              <a:rPr lang="en-GB" dirty="0"/>
              <a:t>Instead of going to terminal state we will cut off the search earlier.</a:t>
            </a:r>
          </a:p>
          <a:p>
            <a:r>
              <a:rPr lang="en-GB" dirty="0"/>
              <a:t>How can we assign value to a node without seeing a terminal state?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2E141-84A9-8591-6150-44B0253A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854F9-017E-808E-4F9C-EA58D64A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636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346F-55BC-1093-D471-630C29E3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Imperfect Real-Time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8737F-1289-44B3-3282-4729CE342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will apply a heuristic evaluation function to states in the search.</a:t>
            </a:r>
          </a:p>
          <a:p>
            <a:pPr lvl="1"/>
            <a:r>
              <a:rPr lang="en-GB" dirty="0"/>
              <a:t>The UTILITY function will be replaced.</a:t>
            </a:r>
          </a:p>
          <a:p>
            <a:r>
              <a:rPr lang="en-GB" dirty="0"/>
              <a:t>Also, instead of TERMINAL function we will use a cutoff test.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61C31-CD24-812D-C697-D68726C83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014F9-DB04-7873-42E1-164FB201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45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3744-A259-E258-68AB-C6FED2473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Imperfect Real-Time Decision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500742E-7765-120B-6EBE-25DA83D7A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4703" y="2728621"/>
            <a:ext cx="9802593" cy="190526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F0EB-A943-33C4-4D8C-F2401773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04A8B-0E20-9C1A-920D-C0045218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31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33804F-D9F7-4F1A-0589-4E92D7B5AC1C}"/>
                  </a:ext>
                </a:extLst>
              </p:cNvPr>
              <p:cNvSpPr txBox="1"/>
              <p:nvPr/>
            </p:nvSpPr>
            <p:spPr>
              <a:xfrm>
                <a:off x="1194703" y="1897624"/>
                <a:ext cx="680827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That gives us the following for heuristic minimax </a:t>
                </a:r>
              </a:p>
              <a:p>
                <a:r>
                  <a:rPr lang="en-GB" sz="2400" dirty="0"/>
                  <a:t>for state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2400" dirty="0"/>
                  <a:t> and maximum depth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33804F-D9F7-4F1A-0589-4E92D7B5A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703" y="1897624"/>
                <a:ext cx="6808274" cy="830997"/>
              </a:xfrm>
              <a:prstGeom prst="rect">
                <a:avLst/>
              </a:prstGeom>
              <a:blipFill>
                <a:blip r:embed="rId3"/>
                <a:stretch>
                  <a:fillRect l="-1432" t="-5109" r="-358" b="-16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53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6A4F-7D24-C72A-8EB6-9A6D82EC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753B1-DA27-3283-75B9-DA036F0EF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Evaluation function returns an estimate of the expected utility of the game from a given position.</a:t>
            </a:r>
          </a:p>
          <a:p>
            <a:r>
              <a:rPr lang="en-GB" dirty="0"/>
              <a:t>The performance of a game playing program depends on the quality of its evaluation function.</a:t>
            </a:r>
          </a:p>
          <a:p>
            <a:r>
              <a:rPr lang="en-GB" dirty="0"/>
              <a:t>How exactly do we design good evaluation functions?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601E9-BDF3-40ED-7F71-E1B812BC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2BD44-675F-C54C-6391-AEE6D4E2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72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8D7E-8B54-B569-B92A-5653FA8E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171BC-32EB-4C38-3570-34B31B705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function should order the terminal states in the same way as the true utility function.</a:t>
            </a:r>
          </a:p>
          <a:p>
            <a:pPr lvl="1"/>
            <a:r>
              <a:rPr lang="en-GB" dirty="0"/>
              <a:t>State that wins must evaluate better than draws.</a:t>
            </a:r>
          </a:p>
          <a:p>
            <a:r>
              <a:rPr lang="en-GB" dirty="0"/>
              <a:t>The computation must not take too long.</a:t>
            </a:r>
          </a:p>
          <a:p>
            <a:r>
              <a:rPr lang="en-GB" dirty="0"/>
              <a:t>For non-terminal states, the evaluation function should be strongly correlated with the actual chances of winning.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67290-07CF-E44A-DAEA-0CD440C0F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D1F06A-3BA8-AA7C-3A77-85C11F7D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135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613A0-AABB-56F8-87CB-AA919D46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78D89-64EA-37BE-1C75-62B85C09D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Most evaluation function work by calculating various features of the state.</a:t>
            </a:r>
          </a:p>
          <a:p>
            <a:r>
              <a:rPr lang="en-GB" dirty="0"/>
              <a:t>Features define different categories or equivalence class of states.</a:t>
            </a:r>
          </a:p>
          <a:p>
            <a:r>
              <a:rPr lang="en-GB" dirty="0"/>
              <a:t>An expected value is determined for each category.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064AC-B1D9-81BD-7E4A-C4D6504C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3E784-202B-EB3E-DFE4-D1860FC0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948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92AD5-FC52-235D-1C52-0755583F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46C11-2383-DC10-6570-7C86C366A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practice, this kind of analysis requires too many categories and hence too much experience to estimate all the probabilities of winning.</a:t>
            </a:r>
          </a:p>
          <a:p>
            <a:r>
              <a:rPr lang="en-GB" dirty="0"/>
              <a:t>Most functions compute separate numerical contribution from each feature and then combine them to find total value.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D26D0-85E9-9503-AFB0-CB526C7D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26A11-2555-F094-39B3-1E897CF2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38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05A2-3BFA-616F-22E0-D68F7BF8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6CDDD4-4F39-53B9-FFB0-7F9F8E4A66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can also use a weighted linear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𝐸𝑉𝐴𝐿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GB" b="0" dirty="0"/>
              </a:p>
              <a:p>
                <a:r>
                  <a:rPr lang="en-GB" b="0" dirty="0"/>
                  <a:t>The function assumes each feature is independent.</a:t>
                </a:r>
              </a:p>
              <a:p>
                <a:pPr lvl="1"/>
                <a:r>
                  <a:rPr lang="en-GB" dirty="0"/>
                  <a:t>This is not always the case.</a:t>
                </a:r>
              </a:p>
              <a:p>
                <a:pPr lvl="1"/>
                <a:r>
                  <a:rPr lang="en-GB" b="0" dirty="0"/>
                  <a:t>We often use non-linear function.</a:t>
                </a:r>
              </a:p>
              <a:p>
                <a:pPr lvl="1"/>
                <a:r>
                  <a:rPr lang="en-GB" dirty="0"/>
                  <a:t>Features might be learned using ML.</a:t>
                </a: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6CDDD4-4F39-53B9-FFB0-7F9F8E4A66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55140-5F31-5981-3DBE-66C7C8DA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01982-4D8F-3299-6DCF-7E7251CB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99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D2EEB-602E-371C-81BC-3187407E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Cutting of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A811C-252D-733C-C754-C7F3F6308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Self Study. (Section 5.4.2)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AA158-5F97-0A2E-DB6D-1110B604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EEB06-0343-778A-6150-155C84F5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0610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A1379-4B2D-6B2C-D909-6CF459BD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Thank You.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411C-93DD-796A-8ED6-89E8C118D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D8F06-0E10-1555-46A7-A8CAF922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132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4909</TotalTime>
  <Words>1944</Words>
  <Application>Microsoft Office PowerPoint</Application>
  <PresentationFormat>Widescreen</PresentationFormat>
  <Paragraphs>598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Cambria Math</vt:lpstr>
      <vt:lpstr>Comic Sans MS</vt:lpstr>
      <vt:lpstr>Verdana</vt:lpstr>
      <vt:lpstr>Office Theme</vt:lpstr>
      <vt:lpstr>Adversarial Search</vt:lpstr>
      <vt:lpstr>Adversarial Search</vt:lpstr>
      <vt:lpstr>Tic-Tac-Toe Game</vt:lpstr>
      <vt:lpstr>Tic-Tac-Toe Game</vt:lpstr>
      <vt:lpstr>Tic-Tac-Toe Game</vt:lpstr>
      <vt:lpstr>Tic-Tac-Toe Game</vt:lpstr>
      <vt:lpstr>Tic-Tac-Toe Game</vt:lpstr>
      <vt:lpstr>Tic-Tac-Toe Game</vt:lpstr>
      <vt:lpstr>Game Definition</vt:lpstr>
      <vt:lpstr>Initial State</vt:lpstr>
      <vt:lpstr>PLAYER(s)</vt:lpstr>
      <vt:lpstr>ACTIONS(s)</vt:lpstr>
      <vt:lpstr>RESULTS(s, a)</vt:lpstr>
      <vt:lpstr>TERMINAL(s)</vt:lpstr>
      <vt:lpstr>UTILITY(s)</vt:lpstr>
      <vt:lpstr>UTILITY(s)</vt:lpstr>
      <vt:lpstr>UTILITY(s)</vt:lpstr>
      <vt:lpstr>UTILITY(s)</vt:lpstr>
      <vt:lpstr>Minimax Algorithm</vt:lpstr>
      <vt:lpstr>Minimax Algorithm</vt:lpstr>
      <vt:lpstr>Minimax Algorithm</vt:lpstr>
      <vt:lpstr>Minimax Algorithm</vt:lpstr>
      <vt:lpstr>Alpha-Beta Pruning</vt:lpstr>
      <vt:lpstr>Alpha-Beta Pruning</vt:lpstr>
      <vt:lpstr>Alpha-Beta Pruning</vt:lpstr>
      <vt:lpstr>Alpha-Beta Pruning</vt:lpstr>
      <vt:lpstr>Alpha-Beta Pruning</vt:lpstr>
      <vt:lpstr>Alpha-Beta Pruning</vt:lpstr>
      <vt:lpstr>Imperfect Real-Time Decision</vt:lpstr>
      <vt:lpstr>Imperfect Real-Time Decision</vt:lpstr>
      <vt:lpstr>Imperfect Real-Time Decision</vt:lpstr>
      <vt:lpstr>Evaluation Function</vt:lpstr>
      <vt:lpstr>Evaluation Function</vt:lpstr>
      <vt:lpstr>Evaluation Function</vt:lpstr>
      <vt:lpstr>Evaluation Function</vt:lpstr>
      <vt:lpstr>Evaluation Function</vt:lpstr>
      <vt:lpstr>Cutting of Search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Mehrab Hossain Opi</dc:creator>
  <cp:lastModifiedBy>Md Mehrab Hossain Opi</cp:lastModifiedBy>
  <cp:revision>55</cp:revision>
  <dcterms:created xsi:type="dcterms:W3CDTF">2025-07-29T06:51:35Z</dcterms:created>
  <dcterms:modified xsi:type="dcterms:W3CDTF">2025-09-02T11:04:53Z</dcterms:modified>
</cp:coreProperties>
</file>