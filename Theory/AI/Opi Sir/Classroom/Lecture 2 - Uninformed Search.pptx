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283" r:id="rId3"/>
    <p:sldId id="284" r:id="rId4"/>
    <p:sldId id="290" r:id="rId5"/>
    <p:sldId id="291" r:id="rId6"/>
    <p:sldId id="292" r:id="rId7"/>
    <p:sldId id="293" r:id="rId8"/>
    <p:sldId id="294" r:id="rId9"/>
    <p:sldId id="285" r:id="rId10"/>
    <p:sldId id="295" r:id="rId11"/>
    <p:sldId id="296" r:id="rId12"/>
    <p:sldId id="299" r:id="rId13"/>
    <p:sldId id="286" r:id="rId14"/>
    <p:sldId id="300" r:id="rId15"/>
    <p:sldId id="297" r:id="rId16"/>
    <p:sldId id="287" r:id="rId17"/>
    <p:sldId id="298" r:id="rId18"/>
    <p:sldId id="288" r:id="rId19"/>
    <p:sldId id="327" r:id="rId20"/>
    <p:sldId id="301" r:id="rId21"/>
    <p:sldId id="302" r:id="rId22"/>
    <p:sldId id="303" r:id="rId23"/>
    <p:sldId id="289" r:id="rId24"/>
    <p:sldId id="304" r:id="rId25"/>
    <p:sldId id="305" r:id="rId26"/>
    <p:sldId id="306" r:id="rId27"/>
    <p:sldId id="328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EB314B-7EAC-4F02-B2F7-56698ECFD4EE}" type="datetimeFigureOut">
              <a:rPr lang="en-GB" smtClean="0"/>
              <a:t>02/09/2025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26CE54-0F6A-46A6-8597-A6CCFBA9F5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1693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GB" dirty="0"/>
              <a:t>Only if the path cost is a non-decreasing function of the depth of the node.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26CE54-0F6A-46A6-8597-A6CCFBA9F5FC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90853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Goal test is done when selected for expansion, test of better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26CE54-0F6A-46A6-8597-A6CCFBA9F5FC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02745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3F577-7B9C-892D-9964-9929FF5266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8EA8C3-2AA8-921F-2DEB-872AE59F0F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0FEC2A-AA40-72AE-0C2A-2D45907F5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A3ECC-5CAF-4F14-A242-B702E2784D37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C73F04-680A-E525-59CE-1C9188886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E663BB-9188-96BC-E6BC-7E236F67D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7635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D363D-921B-1FE5-D959-28ED8C7F8CE5}"/>
              </a:ext>
            </a:extLst>
          </p:cNvPr>
          <p:cNvSpPr>
            <a:spLocks noGrp="1"/>
          </p:cNvSpPr>
          <p:nvPr>
            <p:ph type="title"/>
          </p:nvPr>
        </p:nvSpPr>
        <p:spPr>
          <a:custGeom>
            <a:avLst/>
            <a:gdLst>
              <a:gd name="connsiteX0" fmla="*/ 0 w 10515600"/>
              <a:gd name="connsiteY0" fmla="*/ 0 h 1325563"/>
              <a:gd name="connsiteX1" fmla="*/ 689356 w 10515600"/>
              <a:gd name="connsiteY1" fmla="*/ 0 h 1325563"/>
              <a:gd name="connsiteX2" fmla="*/ 1168400 w 10515600"/>
              <a:gd name="connsiteY2" fmla="*/ 0 h 1325563"/>
              <a:gd name="connsiteX3" fmla="*/ 1647444 w 10515600"/>
              <a:gd name="connsiteY3" fmla="*/ 0 h 1325563"/>
              <a:gd name="connsiteX4" fmla="*/ 2126488 w 10515600"/>
              <a:gd name="connsiteY4" fmla="*/ 0 h 1325563"/>
              <a:gd name="connsiteX5" fmla="*/ 2710688 w 10515600"/>
              <a:gd name="connsiteY5" fmla="*/ 0 h 1325563"/>
              <a:gd name="connsiteX6" fmla="*/ 3084576 w 10515600"/>
              <a:gd name="connsiteY6" fmla="*/ 0 h 1325563"/>
              <a:gd name="connsiteX7" fmla="*/ 3668776 w 10515600"/>
              <a:gd name="connsiteY7" fmla="*/ 0 h 1325563"/>
              <a:gd name="connsiteX8" fmla="*/ 4042664 w 10515600"/>
              <a:gd name="connsiteY8" fmla="*/ 0 h 1325563"/>
              <a:gd name="connsiteX9" fmla="*/ 4626864 w 10515600"/>
              <a:gd name="connsiteY9" fmla="*/ 0 h 1325563"/>
              <a:gd name="connsiteX10" fmla="*/ 5000752 w 10515600"/>
              <a:gd name="connsiteY10" fmla="*/ 0 h 1325563"/>
              <a:gd name="connsiteX11" fmla="*/ 5479796 w 10515600"/>
              <a:gd name="connsiteY11" fmla="*/ 0 h 1325563"/>
              <a:gd name="connsiteX12" fmla="*/ 6274308 w 10515600"/>
              <a:gd name="connsiteY12" fmla="*/ 0 h 1325563"/>
              <a:gd name="connsiteX13" fmla="*/ 6543040 w 10515600"/>
              <a:gd name="connsiteY13" fmla="*/ 0 h 1325563"/>
              <a:gd name="connsiteX14" fmla="*/ 7127240 w 10515600"/>
              <a:gd name="connsiteY14" fmla="*/ 0 h 1325563"/>
              <a:gd name="connsiteX15" fmla="*/ 7921752 w 10515600"/>
              <a:gd name="connsiteY15" fmla="*/ 0 h 1325563"/>
              <a:gd name="connsiteX16" fmla="*/ 8611108 w 10515600"/>
              <a:gd name="connsiteY16" fmla="*/ 0 h 1325563"/>
              <a:gd name="connsiteX17" fmla="*/ 9300464 w 10515600"/>
              <a:gd name="connsiteY17" fmla="*/ 0 h 1325563"/>
              <a:gd name="connsiteX18" fmla="*/ 9779508 w 10515600"/>
              <a:gd name="connsiteY18" fmla="*/ 0 h 1325563"/>
              <a:gd name="connsiteX19" fmla="*/ 10515600 w 10515600"/>
              <a:gd name="connsiteY19" fmla="*/ 0 h 1325563"/>
              <a:gd name="connsiteX20" fmla="*/ 10515600 w 10515600"/>
              <a:gd name="connsiteY20" fmla="*/ 455110 h 1325563"/>
              <a:gd name="connsiteX21" fmla="*/ 10515600 w 10515600"/>
              <a:gd name="connsiteY21" fmla="*/ 870453 h 1325563"/>
              <a:gd name="connsiteX22" fmla="*/ 10515600 w 10515600"/>
              <a:gd name="connsiteY22" fmla="*/ 1325563 h 1325563"/>
              <a:gd name="connsiteX23" fmla="*/ 10036556 w 10515600"/>
              <a:gd name="connsiteY23" fmla="*/ 1325563 h 1325563"/>
              <a:gd name="connsiteX24" fmla="*/ 9452356 w 10515600"/>
              <a:gd name="connsiteY24" fmla="*/ 1325563 h 1325563"/>
              <a:gd name="connsiteX25" fmla="*/ 8657844 w 10515600"/>
              <a:gd name="connsiteY25" fmla="*/ 1325563 h 1325563"/>
              <a:gd name="connsiteX26" fmla="*/ 8389112 w 10515600"/>
              <a:gd name="connsiteY26" fmla="*/ 1325563 h 1325563"/>
              <a:gd name="connsiteX27" fmla="*/ 8015224 w 10515600"/>
              <a:gd name="connsiteY27" fmla="*/ 1325563 h 1325563"/>
              <a:gd name="connsiteX28" fmla="*/ 7746492 w 10515600"/>
              <a:gd name="connsiteY28" fmla="*/ 1325563 h 1325563"/>
              <a:gd name="connsiteX29" fmla="*/ 7057136 w 10515600"/>
              <a:gd name="connsiteY29" fmla="*/ 1325563 h 1325563"/>
              <a:gd name="connsiteX30" fmla="*/ 6788404 w 10515600"/>
              <a:gd name="connsiteY30" fmla="*/ 1325563 h 1325563"/>
              <a:gd name="connsiteX31" fmla="*/ 6099048 w 10515600"/>
              <a:gd name="connsiteY31" fmla="*/ 1325563 h 1325563"/>
              <a:gd name="connsiteX32" fmla="*/ 5304536 w 10515600"/>
              <a:gd name="connsiteY32" fmla="*/ 1325563 h 1325563"/>
              <a:gd name="connsiteX33" fmla="*/ 5035804 w 10515600"/>
              <a:gd name="connsiteY33" fmla="*/ 1325563 h 1325563"/>
              <a:gd name="connsiteX34" fmla="*/ 4451604 w 10515600"/>
              <a:gd name="connsiteY34" fmla="*/ 1325563 h 1325563"/>
              <a:gd name="connsiteX35" fmla="*/ 3972560 w 10515600"/>
              <a:gd name="connsiteY35" fmla="*/ 1325563 h 1325563"/>
              <a:gd name="connsiteX36" fmla="*/ 3388360 w 10515600"/>
              <a:gd name="connsiteY36" fmla="*/ 1325563 h 1325563"/>
              <a:gd name="connsiteX37" fmla="*/ 2804160 w 10515600"/>
              <a:gd name="connsiteY37" fmla="*/ 1325563 h 1325563"/>
              <a:gd name="connsiteX38" fmla="*/ 2325116 w 10515600"/>
              <a:gd name="connsiteY38" fmla="*/ 1325563 h 1325563"/>
              <a:gd name="connsiteX39" fmla="*/ 1530604 w 10515600"/>
              <a:gd name="connsiteY39" fmla="*/ 1325563 h 1325563"/>
              <a:gd name="connsiteX40" fmla="*/ 1261872 w 10515600"/>
              <a:gd name="connsiteY40" fmla="*/ 1325563 h 1325563"/>
              <a:gd name="connsiteX41" fmla="*/ 572516 w 10515600"/>
              <a:gd name="connsiteY41" fmla="*/ 1325563 h 1325563"/>
              <a:gd name="connsiteX42" fmla="*/ 0 w 10515600"/>
              <a:gd name="connsiteY42" fmla="*/ 1325563 h 1325563"/>
              <a:gd name="connsiteX43" fmla="*/ 0 w 10515600"/>
              <a:gd name="connsiteY43" fmla="*/ 857197 h 1325563"/>
              <a:gd name="connsiteX44" fmla="*/ 0 w 10515600"/>
              <a:gd name="connsiteY44" fmla="*/ 441854 h 1325563"/>
              <a:gd name="connsiteX45" fmla="*/ 0 w 10515600"/>
              <a:gd name="connsiteY45" fmla="*/ 0 h 1325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10515600" h="1325563" fill="none" extrusionOk="0">
                <a:moveTo>
                  <a:pt x="0" y="0"/>
                </a:moveTo>
                <a:cubicBezTo>
                  <a:pt x="253838" y="-18819"/>
                  <a:pt x="351414" y="62000"/>
                  <a:pt x="689356" y="0"/>
                </a:cubicBezTo>
                <a:cubicBezTo>
                  <a:pt x="1027298" y="-62000"/>
                  <a:pt x="1020961" y="21931"/>
                  <a:pt x="1168400" y="0"/>
                </a:cubicBezTo>
                <a:cubicBezTo>
                  <a:pt x="1315839" y="-21931"/>
                  <a:pt x="1474707" y="29733"/>
                  <a:pt x="1647444" y="0"/>
                </a:cubicBezTo>
                <a:cubicBezTo>
                  <a:pt x="1820181" y="-29733"/>
                  <a:pt x="1905353" y="35773"/>
                  <a:pt x="2126488" y="0"/>
                </a:cubicBezTo>
                <a:cubicBezTo>
                  <a:pt x="2347623" y="-35773"/>
                  <a:pt x="2474840" y="26931"/>
                  <a:pt x="2710688" y="0"/>
                </a:cubicBezTo>
                <a:cubicBezTo>
                  <a:pt x="2946536" y="-26931"/>
                  <a:pt x="2901208" y="25700"/>
                  <a:pt x="3084576" y="0"/>
                </a:cubicBezTo>
                <a:cubicBezTo>
                  <a:pt x="3267944" y="-25700"/>
                  <a:pt x="3504545" y="40785"/>
                  <a:pt x="3668776" y="0"/>
                </a:cubicBezTo>
                <a:cubicBezTo>
                  <a:pt x="3833007" y="-40785"/>
                  <a:pt x="3895124" y="1762"/>
                  <a:pt x="4042664" y="0"/>
                </a:cubicBezTo>
                <a:cubicBezTo>
                  <a:pt x="4190204" y="-1762"/>
                  <a:pt x="4477573" y="6051"/>
                  <a:pt x="4626864" y="0"/>
                </a:cubicBezTo>
                <a:cubicBezTo>
                  <a:pt x="4776155" y="-6051"/>
                  <a:pt x="4876670" y="35233"/>
                  <a:pt x="5000752" y="0"/>
                </a:cubicBezTo>
                <a:cubicBezTo>
                  <a:pt x="5124834" y="-35233"/>
                  <a:pt x="5320007" y="6376"/>
                  <a:pt x="5479796" y="0"/>
                </a:cubicBezTo>
                <a:cubicBezTo>
                  <a:pt x="5639585" y="-6376"/>
                  <a:pt x="5987388" y="89120"/>
                  <a:pt x="6274308" y="0"/>
                </a:cubicBezTo>
                <a:cubicBezTo>
                  <a:pt x="6561228" y="-89120"/>
                  <a:pt x="6469549" y="14711"/>
                  <a:pt x="6543040" y="0"/>
                </a:cubicBezTo>
                <a:cubicBezTo>
                  <a:pt x="6616531" y="-14711"/>
                  <a:pt x="6880894" y="24867"/>
                  <a:pt x="7127240" y="0"/>
                </a:cubicBezTo>
                <a:cubicBezTo>
                  <a:pt x="7373586" y="-24867"/>
                  <a:pt x="7703353" y="29232"/>
                  <a:pt x="7921752" y="0"/>
                </a:cubicBezTo>
                <a:cubicBezTo>
                  <a:pt x="8140151" y="-29232"/>
                  <a:pt x="8436992" y="15020"/>
                  <a:pt x="8611108" y="0"/>
                </a:cubicBezTo>
                <a:cubicBezTo>
                  <a:pt x="8785224" y="-15020"/>
                  <a:pt x="9086613" y="81581"/>
                  <a:pt x="9300464" y="0"/>
                </a:cubicBezTo>
                <a:cubicBezTo>
                  <a:pt x="9514315" y="-81581"/>
                  <a:pt x="9623261" y="50401"/>
                  <a:pt x="9779508" y="0"/>
                </a:cubicBezTo>
                <a:cubicBezTo>
                  <a:pt x="9935755" y="-50401"/>
                  <a:pt x="10305332" y="31654"/>
                  <a:pt x="10515600" y="0"/>
                </a:cubicBezTo>
                <a:cubicBezTo>
                  <a:pt x="10546853" y="191382"/>
                  <a:pt x="10469454" y="308968"/>
                  <a:pt x="10515600" y="455110"/>
                </a:cubicBezTo>
                <a:cubicBezTo>
                  <a:pt x="10561746" y="601252"/>
                  <a:pt x="10509168" y="742830"/>
                  <a:pt x="10515600" y="870453"/>
                </a:cubicBezTo>
                <a:cubicBezTo>
                  <a:pt x="10522032" y="998076"/>
                  <a:pt x="10471646" y="1208229"/>
                  <a:pt x="10515600" y="1325563"/>
                </a:cubicBezTo>
                <a:cubicBezTo>
                  <a:pt x="10314459" y="1339219"/>
                  <a:pt x="10239166" y="1311799"/>
                  <a:pt x="10036556" y="1325563"/>
                </a:cubicBezTo>
                <a:cubicBezTo>
                  <a:pt x="9833946" y="1339327"/>
                  <a:pt x="9709123" y="1307965"/>
                  <a:pt x="9452356" y="1325563"/>
                </a:cubicBezTo>
                <a:cubicBezTo>
                  <a:pt x="9195589" y="1343161"/>
                  <a:pt x="8994962" y="1306787"/>
                  <a:pt x="8657844" y="1325563"/>
                </a:cubicBezTo>
                <a:cubicBezTo>
                  <a:pt x="8320726" y="1344339"/>
                  <a:pt x="8518055" y="1302532"/>
                  <a:pt x="8389112" y="1325563"/>
                </a:cubicBezTo>
                <a:cubicBezTo>
                  <a:pt x="8260169" y="1348594"/>
                  <a:pt x="8193007" y="1316196"/>
                  <a:pt x="8015224" y="1325563"/>
                </a:cubicBezTo>
                <a:cubicBezTo>
                  <a:pt x="7837441" y="1334930"/>
                  <a:pt x="7849788" y="1324348"/>
                  <a:pt x="7746492" y="1325563"/>
                </a:cubicBezTo>
                <a:cubicBezTo>
                  <a:pt x="7643196" y="1326778"/>
                  <a:pt x="7232373" y="1285719"/>
                  <a:pt x="7057136" y="1325563"/>
                </a:cubicBezTo>
                <a:cubicBezTo>
                  <a:pt x="6881899" y="1365407"/>
                  <a:pt x="6919216" y="1307755"/>
                  <a:pt x="6788404" y="1325563"/>
                </a:cubicBezTo>
                <a:cubicBezTo>
                  <a:pt x="6657592" y="1343371"/>
                  <a:pt x="6278085" y="1271576"/>
                  <a:pt x="6099048" y="1325563"/>
                </a:cubicBezTo>
                <a:cubicBezTo>
                  <a:pt x="5920011" y="1379550"/>
                  <a:pt x="5508657" y="1311185"/>
                  <a:pt x="5304536" y="1325563"/>
                </a:cubicBezTo>
                <a:cubicBezTo>
                  <a:pt x="5100415" y="1339941"/>
                  <a:pt x="5108664" y="1325272"/>
                  <a:pt x="5035804" y="1325563"/>
                </a:cubicBezTo>
                <a:cubicBezTo>
                  <a:pt x="4962944" y="1325854"/>
                  <a:pt x="4711907" y="1259348"/>
                  <a:pt x="4451604" y="1325563"/>
                </a:cubicBezTo>
                <a:cubicBezTo>
                  <a:pt x="4191301" y="1391778"/>
                  <a:pt x="4112922" y="1274610"/>
                  <a:pt x="3972560" y="1325563"/>
                </a:cubicBezTo>
                <a:cubicBezTo>
                  <a:pt x="3832198" y="1376516"/>
                  <a:pt x="3671072" y="1290382"/>
                  <a:pt x="3388360" y="1325563"/>
                </a:cubicBezTo>
                <a:cubicBezTo>
                  <a:pt x="3105648" y="1360744"/>
                  <a:pt x="2958255" y="1258146"/>
                  <a:pt x="2804160" y="1325563"/>
                </a:cubicBezTo>
                <a:cubicBezTo>
                  <a:pt x="2650065" y="1392980"/>
                  <a:pt x="2499275" y="1316491"/>
                  <a:pt x="2325116" y="1325563"/>
                </a:cubicBezTo>
                <a:cubicBezTo>
                  <a:pt x="2150957" y="1334635"/>
                  <a:pt x="1851726" y="1245043"/>
                  <a:pt x="1530604" y="1325563"/>
                </a:cubicBezTo>
                <a:cubicBezTo>
                  <a:pt x="1209482" y="1406083"/>
                  <a:pt x="1376466" y="1302836"/>
                  <a:pt x="1261872" y="1325563"/>
                </a:cubicBezTo>
                <a:cubicBezTo>
                  <a:pt x="1147278" y="1348290"/>
                  <a:pt x="909434" y="1251726"/>
                  <a:pt x="572516" y="1325563"/>
                </a:cubicBezTo>
                <a:cubicBezTo>
                  <a:pt x="235598" y="1399400"/>
                  <a:pt x="227600" y="1323263"/>
                  <a:pt x="0" y="1325563"/>
                </a:cubicBezTo>
                <a:cubicBezTo>
                  <a:pt x="-836" y="1164828"/>
                  <a:pt x="53582" y="1051078"/>
                  <a:pt x="0" y="857197"/>
                </a:cubicBezTo>
                <a:cubicBezTo>
                  <a:pt x="-53582" y="663316"/>
                  <a:pt x="48368" y="606188"/>
                  <a:pt x="0" y="441854"/>
                </a:cubicBezTo>
                <a:cubicBezTo>
                  <a:pt x="-48368" y="277520"/>
                  <a:pt x="14050" y="146763"/>
                  <a:pt x="0" y="0"/>
                </a:cubicBezTo>
                <a:close/>
              </a:path>
              <a:path w="10515600" h="1325563" stroke="0" extrusionOk="0">
                <a:moveTo>
                  <a:pt x="0" y="0"/>
                </a:moveTo>
                <a:cubicBezTo>
                  <a:pt x="92178" y="-21222"/>
                  <a:pt x="264011" y="11084"/>
                  <a:pt x="373888" y="0"/>
                </a:cubicBezTo>
                <a:cubicBezTo>
                  <a:pt x="483765" y="-11084"/>
                  <a:pt x="744959" y="34565"/>
                  <a:pt x="852932" y="0"/>
                </a:cubicBezTo>
                <a:cubicBezTo>
                  <a:pt x="960905" y="-34565"/>
                  <a:pt x="1117522" y="45939"/>
                  <a:pt x="1331976" y="0"/>
                </a:cubicBezTo>
                <a:cubicBezTo>
                  <a:pt x="1546430" y="-45939"/>
                  <a:pt x="1819161" y="31205"/>
                  <a:pt x="2021332" y="0"/>
                </a:cubicBezTo>
                <a:cubicBezTo>
                  <a:pt x="2223503" y="-31205"/>
                  <a:pt x="2374427" y="16088"/>
                  <a:pt x="2710688" y="0"/>
                </a:cubicBezTo>
                <a:cubicBezTo>
                  <a:pt x="3046949" y="-16088"/>
                  <a:pt x="3188751" y="11240"/>
                  <a:pt x="3400044" y="0"/>
                </a:cubicBezTo>
                <a:cubicBezTo>
                  <a:pt x="3611337" y="-11240"/>
                  <a:pt x="3729003" y="24882"/>
                  <a:pt x="3984244" y="0"/>
                </a:cubicBezTo>
                <a:cubicBezTo>
                  <a:pt x="4239485" y="-24882"/>
                  <a:pt x="4248661" y="16847"/>
                  <a:pt x="4358132" y="0"/>
                </a:cubicBezTo>
                <a:cubicBezTo>
                  <a:pt x="4467603" y="-16847"/>
                  <a:pt x="4704277" y="78533"/>
                  <a:pt x="5047488" y="0"/>
                </a:cubicBezTo>
                <a:cubicBezTo>
                  <a:pt x="5390699" y="-78533"/>
                  <a:pt x="5478617" y="32801"/>
                  <a:pt x="5631688" y="0"/>
                </a:cubicBezTo>
                <a:cubicBezTo>
                  <a:pt x="5784759" y="-32801"/>
                  <a:pt x="5981634" y="25702"/>
                  <a:pt x="6215888" y="0"/>
                </a:cubicBezTo>
                <a:cubicBezTo>
                  <a:pt x="6450142" y="-25702"/>
                  <a:pt x="6736604" y="19690"/>
                  <a:pt x="6905244" y="0"/>
                </a:cubicBezTo>
                <a:cubicBezTo>
                  <a:pt x="7073884" y="-19690"/>
                  <a:pt x="7286882" y="54355"/>
                  <a:pt x="7384288" y="0"/>
                </a:cubicBezTo>
                <a:cubicBezTo>
                  <a:pt x="7481694" y="-54355"/>
                  <a:pt x="7569919" y="19084"/>
                  <a:pt x="7653020" y="0"/>
                </a:cubicBezTo>
                <a:cubicBezTo>
                  <a:pt x="7736121" y="-19084"/>
                  <a:pt x="8028971" y="7172"/>
                  <a:pt x="8342376" y="0"/>
                </a:cubicBezTo>
                <a:cubicBezTo>
                  <a:pt x="8655781" y="-7172"/>
                  <a:pt x="8513400" y="26567"/>
                  <a:pt x="8611108" y="0"/>
                </a:cubicBezTo>
                <a:cubicBezTo>
                  <a:pt x="8708816" y="-26567"/>
                  <a:pt x="8765519" y="8311"/>
                  <a:pt x="8879840" y="0"/>
                </a:cubicBezTo>
                <a:cubicBezTo>
                  <a:pt x="8994161" y="-8311"/>
                  <a:pt x="9094252" y="11307"/>
                  <a:pt x="9253728" y="0"/>
                </a:cubicBezTo>
                <a:cubicBezTo>
                  <a:pt x="9413204" y="-11307"/>
                  <a:pt x="9611384" y="21739"/>
                  <a:pt x="9732772" y="0"/>
                </a:cubicBezTo>
                <a:cubicBezTo>
                  <a:pt x="9854160" y="-21739"/>
                  <a:pt x="10260773" y="2376"/>
                  <a:pt x="10515600" y="0"/>
                </a:cubicBezTo>
                <a:cubicBezTo>
                  <a:pt x="10547807" y="96027"/>
                  <a:pt x="10502213" y="250485"/>
                  <a:pt x="10515600" y="441854"/>
                </a:cubicBezTo>
                <a:cubicBezTo>
                  <a:pt x="10528987" y="633223"/>
                  <a:pt x="10500953" y="689669"/>
                  <a:pt x="10515600" y="843942"/>
                </a:cubicBezTo>
                <a:cubicBezTo>
                  <a:pt x="10530247" y="998215"/>
                  <a:pt x="10471267" y="1208650"/>
                  <a:pt x="10515600" y="1325563"/>
                </a:cubicBezTo>
                <a:cubicBezTo>
                  <a:pt x="10408911" y="1343606"/>
                  <a:pt x="10186565" y="1311187"/>
                  <a:pt x="10036556" y="1325563"/>
                </a:cubicBezTo>
                <a:cubicBezTo>
                  <a:pt x="9886547" y="1339939"/>
                  <a:pt x="9538345" y="1281053"/>
                  <a:pt x="9347200" y="1325563"/>
                </a:cubicBezTo>
                <a:cubicBezTo>
                  <a:pt x="9156055" y="1370073"/>
                  <a:pt x="9003166" y="1299112"/>
                  <a:pt x="8763000" y="1325563"/>
                </a:cubicBezTo>
                <a:cubicBezTo>
                  <a:pt x="8522834" y="1352014"/>
                  <a:pt x="8471849" y="1310553"/>
                  <a:pt x="8283956" y="1325563"/>
                </a:cubicBezTo>
                <a:cubicBezTo>
                  <a:pt x="8096063" y="1340573"/>
                  <a:pt x="8141020" y="1320966"/>
                  <a:pt x="8015224" y="1325563"/>
                </a:cubicBezTo>
                <a:cubicBezTo>
                  <a:pt x="7889428" y="1330160"/>
                  <a:pt x="7402689" y="1296549"/>
                  <a:pt x="7220712" y="1325563"/>
                </a:cubicBezTo>
                <a:cubicBezTo>
                  <a:pt x="7038735" y="1354577"/>
                  <a:pt x="6860564" y="1290552"/>
                  <a:pt x="6636512" y="1325563"/>
                </a:cubicBezTo>
                <a:cubicBezTo>
                  <a:pt x="6412460" y="1360574"/>
                  <a:pt x="6317643" y="1317756"/>
                  <a:pt x="6052312" y="1325563"/>
                </a:cubicBezTo>
                <a:cubicBezTo>
                  <a:pt x="5786981" y="1333370"/>
                  <a:pt x="5763881" y="1287197"/>
                  <a:pt x="5678424" y="1325563"/>
                </a:cubicBezTo>
                <a:cubicBezTo>
                  <a:pt x="5592967" y="1363929"/>
                  <a:pt x="5399248" y="1312349"/>
                  <a:pt x="5199380" y="1325563"/>
                </a:cubicBezTo>
                <a:cubicBezTo>
                  <a:pt x="4999512" y="1338777"/>
                  <a:pt x="4987883" y="1284423"/>
                  <a:pt x="4825492" y="1325563"/>
                </a:cubicBezTo>
                <a:cubicBezTo>
                  <a:pt x="4663101" y="1366703"/>
                  <a:pt x="4380555" y="1308688"/>
                  <a:pt x="4241292" y="1325563"/>
                </a:cubicBezTo>
                <a:cubicBezTo>
                  <a:pt x="4102029" y="1342438"/>
                  <a:pt x="3778341" y="1285171"/>
                  <a:pt x="3446780" y="1325563"/>
                </a:cubicBezTo>
                <a:cubicBezTo>
                  <a:pt x="3115219" y="1365955"/>
                  <a:pt x="3099173" y="1290652"/>
                  <a:pt x="2757424" y="1325563"/>
                </a:cubicBezTo>
                <a:cubicBezTo>
                  <a:pt x="2415675" y="1360474"/>
                  <a:pt x="2510972" y="1310466"/>
                  <a:pt x="2278380" y="1325563"/>
                </a:cubicBezTo>
                <a:cubicBezTo>
                  <a:pt x="2045788" y="1340660"/>
                  <a:pt x="1716210" y="1317992"/>
                  <a:pt x="1483868" y="1325563"/>
                </a:cubicBezTo>
                <a:cubicBezTo>
                  <a:pt x="1251526" y="1333134"/>
                  <a:pt x="972052" y="1254362"/>
                  <a:pt x="689356" y="1325563"/>
                </a:cubicBezTo>
                <a:cubicBezTo>
                  <a:pt x="406660" y="1396764"/>
                  <a:pt x="201106" y="1320070"/>
                  <a:pt x="0" y="1325563"/>
                </a:cubicBezTo>
                <a:cubicBezTo>
                  <a:pt x="-31617" y="1137567"/>
                  <a:pt x="37158" y="1000617"/>
                  <a:pt x="0" y="896964"/>
                </a:cubicBezTo>
                <a:cubicBezTo>
                  <a:pt x="-37158" y="793311"/>
                  <a:pt x="17420" y="591636"/>
                  <a:pt x="0" y="428599"/>
                </a:cubicBezTo>
                <a:cubicBezTo>
                  <a:pt x="-17420" y="265562"/>
                  <a:pt x="47044" y="122437"/>
                  <a:pt x="0" y="0"/>
                </a:cubicBezTo>
                <a:close/>
              </a:path>
            </a:pathLst>
          </a:custGeom>
          <a:ln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576319421">
                  <ask:type>
                    <ask:lineSketchScribble/>
                  </ask:type>
                </ask:lineSketchStyleProps>
              </a:ext>
            </a:extLst>
          </a:ln>
        </p:spPr>
        <p:txBody>
          <a:bodyPr/>
          <a:lstStyle>
            <a:lvl1pPr algn="ctr">
              <a:defRPr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499D4A-6B08-C144-AFE3-77A01A5AD3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8C066A-E572-A277-D369-78396D584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EAEF30-4002-714D-0670-A49096DB8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A5FF20-6D76-29F2-418E-8864E01FE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0808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003FF-F52F-4E38-0A2E-9DA1C60DA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53E876-7455-9295-91BF-4F641EF553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47266-3916-28B3-A555-7FB1D3D8E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E68EB-F701-4E7C-8A1B-AAB143967A5F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C7012B-55DA-34F4-808B-189EA4C3C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8D8DC9-36B0-31D0-B5F2-FC0C84BD9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0228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9EA8A-FF95-E0BD-7238-CF02B00FD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989762-D796-DC09-14A4-5AD190D825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6F5D70-A3AC-50F5-06B7-9CE9CF5074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DFC517-D127-635A-B264-F649FC869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1DE66-4F81-4974-88C3-7164F909D911}" type="datetime1">
              <a:rPr lang="en-GB" smtClean="0"/>
              <a:t>02/09/2025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BF902A-670D-5ED9-8D4D-F35167B04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D85025-5D85-AC22-6D8F-3E6EE503D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6600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7F54F-E990-F487-57E9-D0FAA742D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A5E450-926E-F984-8F71-955FA0FEC1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0BA968-AC90-BAC3-F9C8-6F8478B719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6AA182-DAAF-6A22-82E6-4D09269F14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AF3F09-93B2-51FA-9088-7D9BCEBC6D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0812B9-38A2-5B54-1BDB-7B50AFC36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1D5EC-0436-4D1A-B807-42CAECB52F3A}" type="datetime1">
              <a:rPr lang="en-GB" smtClean="0"/>
              <a:t>02/09/2025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2CC307-A30C-C6CE-E36C-F30561210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4CABA7-3B6D-774C-73DB-AC25CE1AD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1209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385C2-AC71-5CD4-56A8-CA28E1598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A798A5-3197-07D3-6CD1-2A6563AF5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A3ADE-44B1-4EF3-919C-3E8C2EF5A85F}" type="datetime1">
              <a:rPr lang="en-GB" smtClean="0"/>
              <a:t>02/09/2025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1AD66C-1B15-DB67-7702-F791D23B5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DD6D4E-F44E-AEA5-1EB9-E5D5B3B5F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7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117971-EA51-1E5E-FABA-79A350912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F570B-75EC-43EA-ABF4-4059CC25C5DE}" type="datetime1">
              <a:rPr lang="en-GB" smtClean="0"/>
              <a:t>02/09/2025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AD9B04-D7D8-9928-C4F7-04945D125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D0B3C4-33CC-72BA-889F-986C21D06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1085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2A411-0235-0168-189D-927979B3F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9C01DE-2ACF-2FCE-308A-BFFDD6898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8CC266-6F22-04FB-4D09-0BC53C1093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AF3AA6-3A77-7ABB-8CE0-53336682B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A2AE1-6EC0-47B6-9286-227F6CC4BE37}" type="datetime1">
              <a:rPr lang="en-GB" smtClean="0"/>
              <a:t>02/09/2025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BBDD05-C09C-3554-C58E-1FD10B16C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CACC2B-34F8-346A-1D83-2FA177A62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1826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FB5CA-54DD-FAF3-9B07-FA2AE2C13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044D3F-4214-F3D0-4E40-C3D7AC72D2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659081-4537-48AB-E691-80D9C313E9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4768B4-1148-4864-A694-4E4A62F90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18897-E1BD-4D4D-B0B7-CDDDCC6D391E}" type="datetime1">
              <a:rPr lang="en-GB" smtClean="0"/>
              <a:t>02/09/2025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6F3E4C-A1EA-4FA4-37E9-D4BDEC853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A227AC-5B9C-43D9-35DB-94115AA5D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0327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A51ED-3800-0D94-43C0-4DC9006B3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6EAF76-2B38-92CE-1645-607F15BB64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1DE2D-65A0-9797-96FC-951FC7CDF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5AAC1-57D9-4D00-AB02-0520E4D4A784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9EEA3A-A9E6-9867-EFD1-11A0DDEFE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6EDA0E-F08D-D2E9-D34C-4BE6FAC46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3485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964FED-6CB9-AF94-F333-C88F49B078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ED8B65-A0C8-2F43-0A6D-1E466060B8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C972CA-C602-AC11-0A41-83CDB61E6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FE15E-9DEF-4BA1-88F2-D1C0C031F929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3A94C6-4E92-45EE-14C2-7582DA461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3FE9AD-4D06-455A-43CC-97EF29F85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3353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7396CC-AE2A-8FCF-9294-1636AE519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DDC19C-91AE-C626-CCEE-59A834248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9453CA-04EB-8130-D6AB-D4E0B71E0E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EA207B-7DFC-4FD1-8A21-6A6CCCD46F9E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0AC1FF-20C6-4F46-C58B-266E55AA37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5F486-2A3E-BC10-5284-9B45A2F58D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679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78DFA-AB5E-A717-8846-2B007F75CA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Uninformed Search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6CBA92-8188-0147-A078-4FF601FBF7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Md Mehrab Hossain Opi</a:t>
            </a:r>
          </a:p>
          <a:p>
            <a:r>
              <a:rPr lang="en-GB" dirty="0"/>
              <a:t>CSE 4109: Artificial Intelligence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5296BA-E98B-0C90-A688-7E62AA8D0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F5BA6-E035-4879-AB7D-175221F8FC75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897201-96C6-F5CA-638B-7D3FB18C9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8312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98532-44A2-C33C-6956-CFBF02226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Uninformed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6E4265-4D2A-0109-2A99-807A766275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GB" dirty="0"/>
              <a:t>Strategies that have </a:t>
            </a:r>
            <a:r>
              <a:rPr lang="en-GB" b="1" dirty="0"/>
              <a:t>no additional information </a:t>
            </a:r>
            <a:r>
              <a:rPr lang="en-GB" dirty="0"/>
              <a:t>about states beyond that provided in the problem definition. </a:t>
            </a:r>
          </a:p>
          <a:p>
            <a:r>
              <a:rPr lang="en-GB" dirty="0"/>
              <a:t>Only know</a:t>
            </a:r>
          </a:p>
          <a:p>
            <a:pPr lvl="1"/>
            <a:r>
              <a:rPr lang="en-GB" dirty="0"/>
              <a:t>Problem definition.</a:t>
            </a:r>
          </a:p>
          <a:p>
            <a:pPr lvl="1"/>
            <a:r>
              <a:rPr lang="en-GB" dirty="0"/>
              <a:t>How to generate successor.</a:t>
            </a:r>
          </a:p>
          <a:p>
            <a:pPr lvl="1"/>
            <a:r>
              <a:rPr lang="en-GB" dirty="0"/>
              <a:t>How to recognize a goal state.</a:t>
            </a:r>
          </a:p>
          <a:p>
            <a:pPr lvl="1"/>
            <a:endParaRPr lang="en-GB" dirty="0"/>
          </a:p>
          <a:p>
            <a:r>
              <a:rPr lang="en-GB" dirty="0"/>
              <a:t>Strategies only differ in the </a:t>
            </a:r>
            <a:r>
              <a:rPr lang="en-GB" b="1" dirty="0"/>
              <a:t>order they expand nodes</a:t>
            </a:r>
            <a:r>
              <a:rPr lang="en-GB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941C05-90AC-3502-9220-D9815E2DA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AF565F-F16B-EE8E-C73A-A85BAA2DC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8567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A19CD-5207-6D10-3CF9-16CB665AA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Breadth-First 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BF2E0-ABAE-E922-4DB7-033147AD48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shallowest unexpanded node is chosen for expansion.</a:t>
            </a:r>
          </a:p>
          <a:p>
            <a:r>
              <a:rPr lang="en-GB" dirty="0"/>
              <a:t>Achieved by using a </a:t>
            </a:r>
            <a:r>
              <a:rPr lang="en-GB" b="1" dirty="0"/>
              <a:t>FIFO queue </a:t>
            </a:r>
            <a:r>
              <a:rPr lang="en-GB" dirty="0"/>
              <a:t>as frontier.</a:t>
            </a:r>
          </a:p>
          <a:p>
            <a:pPr lvl="1"/>
            <a:r>
              <a:rPr lang="en-GB" dirty="0"/>
              <a:t>New nodes go the back; old nodes are expanded first.</a:t>
            </a:r>
          </a:p>
          <a:p>
            <a:pPr lvl="1"/>
            <a:endParaRPr lang="en-GB" dirty="0"/>
          </a:p>
          <a:p>
            <a:r>
              <a:rPr lang="en-GB" b="1" dirty="0"/>
              <a:t>General approach is slightly changed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Goal test is applied during generation of node.</a:t>
            </a:r>
          </a:p>
          <a:p>
            <a:endParaRPr lang="en-GB" dirty="0"/>
          </a:p>
          <a:p>
            <a:r>
              <a:rPr lang="en-GB" dirty="0"/>
              <a:t>Always finds the shallowest path to any node.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29182C-B773-1445-3014-6587B5464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ACE9BC-BF5D-0CEA-D58F-DDF7B082C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0940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1CA6A-2CF4-9A2C-1337-37EA72D06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F19A4-33EC-B7CC-319D-6CBDC80B0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3283"/>
          </a:xfrm>
        </p:spPr>
        <p:txBody>
          <a:bodyPr>
            <a:normAutofit/>
          </a:bodyPr>
          <a:lstStyle/>
          <a:p>
            <a:r>
              <a:rPr lang="en-GB" sz="3600" dirty="0"/>
              <a:t>Breadth-First 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8D73CB-E22A-C896-1FCB-5258570305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4712"/>
            <a:ext cx="10515600" cy="53681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000" dirty="0"/>
              <a:t>function BREADTH-FIRST-SEARCH(problem) returns a solution, or failure</a:t>
            </a:r>
          </a:p>
          <a:p>
            <a:pPr marL="0" indent="0">
              <a:buNone/>
            </a:pPr>
            <a:r>
              <a:rPr lang="en-GB" sz="2000" dirty="0"/>
              <a:t> node ←a node with STATE = </a:t>
            </a:r>
            <a:r>
              <a:rPr lang="en-GB" sz="2000" dirty="0" err="1"/>
              <a:t>problem.INITIAL</a:t>
            </a:r>
            <a:r>
              <a:rPr lang="en-GB" sz="2000" dirty="0"/>
              <a:t>-STATE,PATH-COST =0</a:t>
            </a:r>
          </a:p>
          <a:p>
            <a:pPr marL="0" indent="0">
              <a:buNone/>
            </a:pPr>
            <a:r>
              <a:rPr lang="en-GB" sz="2000" dirty="0"/>
              <a:t> if </a:t>
            </a:r>
            <a:r>
              <a:rPr lang="en-GB" sz="2000" dirty="0" err="1"/>
              <a:t>problem.GOAL</a:t>
            </a:r>
            <a:r>
              <a:rPr lang="en-GB" sz="2000" dirty="0"/>
              <a:t>-TEST(</a:t>
            </a:r>
            <a:r>
              <a:rPr lang="en-GB" sz="2000" dirty="0" err="1"/>
              <a:t>node.STATE</a:t>
            </a:r>
            <a:r>
              <a:rPr lang="en-GB" sz="2000" dirty="0"/>
              <a:t>) then return SOLUTION(node)</a:t>
            </a:r>
          </a:p>
          <a:p>
            <a:pPr marL="0" indent="0">
              <a:buNone/>
            </a:pPr>
            <a:r>
              <a:rPr lang="en-GB" sz="2000" dirty="0"/>
              <a:t> frontier ←a FIFO queue with node as the only element</a:t>
            </a:r>
          </a:p>
          <a:p>
            <a:pPr marL="0" indent="0">
              <a:buNone/>
            </a:pPr>
            <a:r>
              <a:rPr lang="en-GB" sz="2000" dirty="0"/>
              <a:t> explored ←an empty set</a:t>
            </a:r>
          </a:p>
          <a:p>
            <a:pPr marL="0" indent="0">
              <a:buNone/>
            </a:pPr>
            <a:r>
              <a:rPr lang="en-GB" sz="2000" dirty="0"/>
              <a:t> loop do</a:t>
            </a:r>
          </a:p>
          <a:p>
            <a:pPr marL="0" indent="0">
              <a:buNone/>
            </a:pPr>
            <a:r>
              <a:rPr lang="en-GB" sz="2000" dirty="0"/>
              <a:t> 	if EMPTY?(frontier) then return failure</a:t>
            </a:r>
          </a:p>
          <a:p>
            <a:pPr marL="0" indent="0">
              <a:buNone/>
            </a:pPr>
            <a:r>
              <a:rPr lang="en-GB" sz="2000" dirty="0"/>
              <a:t>	node ←POP(frontier) /* chooses the shallowest node in frontier */</a:t>
            </a:r>
          </a:p>
          <a:p>
            <a:pPr marL="0" indent="0">
              <a:buNone/>
            </a:pPr>
            <a:r>
              <a:rPr lang="en-GB" sz="2000" dirty="0"/>
              <a:t> 	add </a:t>
            </a:r>
            <a:r>
              <a:rPr lang="en-GB" sz="2000" dirty="0" err="1"/>
              <a:t>node.STATE</a:t>
            </a:r>
            <a:r>
              <a:rPr lang="en-GB" sz="2000" dirty="0"/>
              <a:t> to explored</a:t>
            </a:r>
          </a:p>
          <a:p>
            <a:pPr marL="0" indent="0">
              <a:buNone/>
            </a:pPr>
            <a:r>
              <a:rPr lang="en-GB" sz="2000" dirty="0"/>
              <a:t> 	for each action in </a:t>
            </a:r>
            <a:r>
              <a:rPr lang="en-GB" sz="2000" dirty="0" err="1"/>
              <a:t>problem.ACTIONS</a:t>
            </a:r>
            <a:r>
              <a:rPr lang="en-GB" sz="2000" dirty="0"/>
              <a:t>(</a:t>
            </a:r>
            <a:r>
              <a:rPr lang="en-GB" sz="2000" dirty="0" err="1"/>
              <a:t>node.STATE</a:t>
            </a:r>
            <a:r>
              <a:rPr lang="en-GB" sz="2000" dirty="0"/>
              <a:t>) do</a:t>
            </a:r>
          </a:p>
          <a:p>
            <a:pPr marL="0" indent="0">
              <a:buNone/>
            </a:pPr>
            <a:r>
              <a:rPr lang="en-GB" sz="2000" dirty="0"/>
              <a:t> 		child ←CHILD-NODE(</a:t>
            </a:r>
            <a:r>
              <a:rPr lang="en-GB" sz="2000" dirty="0" err="1"/>
              <a:t>problem,node,action</a:t>
            </a:r>
            <a:r>
              <a:rPr lang="en-GB" sz="2000" dirty="0"/>
              <a:t>)</a:t>
            </a:r>
          </a:p>
          <a:p>
            <a:pPr marL="0" indent="0">
              <a:buNone/>
            </a:pPr>
            <a:r>
              <a:rPr lang="en-GB" sz="2000" dirty="0"/>
              <a:t> 		if </a:t>
            </a:r>
            <a:r>
              <a:rPr lang="en-GB" sz="2000" dirty="0" err="1"/>
              <a:t>child.STATE</a:t>
            </a:r>
            <a:r>
              <a:rPr lang="en-GB" sz="2000" dirty="0"/>
              <a:t> is not in explored or frontier then</a:t>
            </a:r>
          </a:p>
          <a:p>
            <a:pPr marL="0" indent="0">
              <a:buNone/>
            </a:pPr>
            <a:r>
              <a:rPr lang="en-GB" sz="2000" dirty="0"/>
              <a:t> 			if </a:t>
            </a:r>
            <a:r>
              <a:rPr lang="en-GB" sz="2000" dirty="0" err="1"/>
              <a:t>problem.GOAL</a:t>
            </a:r>
            <a:r>
              <a:rPr lang="en-GB" sz="2000" dirty="0"/>
              <a:t>-TEST(</a:t>
            </a:r>
            <a:r>
              <a:rPr lang="en-GB" sz="2000" dirty="0" err="1"/>
              <a:t>child.STATE</a:t>
            </a:r>
            <a:r>
              <a:rPr lang="en-GB" sz="2000" dirty="0"/>
              <a:t>) then return SOLUTION(child)</a:t>
            </a:r>
          </a:p>
          <a:p>
            <a:pPr marL="0" indent="0">
              <a:buNone/>
            </a:pPr>
            <a:r>
              <a:rPr lang="en-GB" sz="2000" dirty="0"/>
              <a:t> 			frontier ←INSERT(</a:t>
            </a:r>
            <a:r>
              <a:rPr lang="en-GB" sz="2000" dirty="0" err="1"/>
              <a:t>child,frontier</a:t>
            </a:r>
            <a:r>
              <a:rPr lang="en-GB" sz="2000" dirty="0"/>
              <a:t>)</a:t>
            </a:r>
          </a:p>
          <a:p>
            <a:pPr marL="0" indent="0">
              <a:buNone/>
            </a:pPr>
            <a:endParaRPr lang="en-GB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326480-2554-63DD-F0C6-A0D20A927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62714F-8339-4AD0-117B-3BE12A014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0788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F1E46-C66A-B433-2A91-44E956FC2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BFS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AC4D64-417E-5BBD-8FAE-68EE974701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GB" sz="3600" dirty="0"/>
              <a:t>Is it Complete?</a:t>
            </a:r>
          </a:p>
          <a:p>
            <a:pPr marL="0" indent="0" algn="ctr">
              <a:buNone/>
            </a:pPr>
            <a:endParaRPr lang="en-GB" sz="3600" dirty="0"/>
          </a:p>
          <a:p>
            <a:pPr marL="0" indent="0" algn="ctr">
              <a:buNone/>
            </a:pPr>
            <a:r>
              <a:rPr lang="en-GB" sz="3600" dirty="0"/>
              <a:t>Is it Optimal?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F87612-0A5B-05F7-DE59-8A0F84E3D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03DC6D-CB44-9C92-942F-B95C6D668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9026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50B07-854D-A399-71F8-00691D3C6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BFS Performance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01D8E1C-3D6C-3BDC-BA20-3AF8C86A6C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What about time complexity?</a:t>
                </a:r>
              </a:p>
              <a:p>
                <a:r>
                  <a:rPr lang="en-GB" dirty="0"/>
                  <a:t>We are not talking about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dirty="0"/>
                  <a:t>Think about branching factor and depth.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01D8E1C-3D6C-3BDC-BA20-3AF8C86A6C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9C3D92-5C73-8056-0369-8F91F1ECB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AC28F6-EA42-4D80-8E7B-AE6933B3A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0305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13FCF-708B-FEC8-B1C4-579985892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90AF4-526B-747A-A8DD-C9A3C35C4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BFS Performance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CF9864-BA00-6E5F-2ACE-6DC7CF9672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GB" dirty="0"/>
                  <a:t>Consider searching a uniform tree.</a:t>
                </a:r>
              </a:p>
              <a:p>
                <a:pPr lvl="1"/>
                <a:r>
                  <a:rPr lang="en-GB" dirty="0"/>
                  <a:t>Every state has b successor.</a:t>
                </a:r>
              </a:p>
              <a:p>
                <a:pPr lvl="1"/>
                <a:r>
                  <a:rPr lang="en-GB" dirty="0"/>
                  <a:t>Like complete binary tree.(b=2)</a:t>
                </a:r>
              </a:p>
              <a:p>
                <a:r>
                  <a:rPr lang="en-GB" dirty="0"/>
                  <a:t>At each level number of states is multiplied by b.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,…, 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endParaRPr lang="en-GB" dirty="0"/>
              </a:p>
              <a:p>
                <a:r>
                  <a:rPr lang="en-GB" dirty="0"/>
                  <a:t>In worst case, the solution is the last node of depth d.</a:t>
                </a:r>
              </a:p>
              <a:p>
                <a:r>
                  <a:rPr lang="en-GB" dirty="0"/>
                  <a:t>Then total number of node generated is</a:t>
                </a:r>
                <a:br>
                  <a:rPr lang="en-GB" dirty="0"/>
                </a:b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+…+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</m:e>
                    </m:d>
                  </m:oMath>
                </a14:m>
                <a:endParaRPr lang="en-GB" b="0" dirty="0"/>
              </a:p>
              <a:p>
                <a:r>
                  <a:rPr lang="en-GB" dirty="0"/>
                  <a:t>What would happen if we didn’t test goal node during generation?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CF9864-BA00-6E5F-2ACE-6DC7CF9672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3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EF4155-D2E6-0E19-831F-E2252438A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7766ED-9E23-1CA5-CDFD-392A339E7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2800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9D8AE-068C-852A-480D-0742658F5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BFS Performance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15A9B4-79BC-3F81-0878-0CF9F022C9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How about space complexity?</a:t>
                </a:r>
              </a:p>
              <a:p>
                <a:r>
                  <a:rPr lang="en-GB" dirty="0"/>
                  <a:t>Every node generated remains in the memory.</a:t>
                </a:r>
              </a:p>
              <a:p>
                <a:pPr lvl="1"/>
                <a:r>
                  <a:rPr lang="en-GB" dirty="0"/>
                  <a:t>Either in frontier, or in the explored set.</a:t>
                </a:r>
              </a:p>
              <a:p>
                <a:pPr lvl="1"/>
                <a:r>
                  <a:rPr lang="en-GB" dirty="0"/>
                  <a:t>Hence,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15A9B4-79BC-3F81-0878-0CF9F022C9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995667-5151-4C61-DB0B-9C551F77D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124C63-1827-64FA-3B36-318B7C59A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5101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0E08E-4CDD-781E-A8AA-48DC684BD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Uniform-cost Search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4A31A2-0A3D-2349-1688-B5E6997FDD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BFS is optimal when step-costs are equal.</a:t>
                </a:r>
              </a:p>
              <a:p>
                <a:r>
                  <a:rPr lang="en-GB" dirty="0"/>
                  <a:t>With a simple extension, we can find an algorithm that is optimal with any step-cost function.</a:t>
                </a:r>
              </a:p>
              <a:p>
                <a:pPr lvl="1"/>
                <a:r>
                  <a:rPr lang="en-GB" dirty="0"/>
                  <a:t>Dijkstra?</a:t>
                </a:r>
              </a:p>
              <a:p>
                <a:r>
                  <a:rPr lang="en-GB" dirty="0"/>
                  <a:t>Instead of expanding the shallowest node, Uniform-Cost Search expands the node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dirty="0"/>
                  <a:t> with the </a:t>
                </a:r>
                <a:r>
                  <a:rPr lang="en-GB" b="1" dirty="0"/>
                  <a:t>lowest path cost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b="1" dirty="0"/>
                  <a:t>.</a:t>
                </a:r>
              </a:p>
              <a:p>
                <a:r>
                  <a:rPr lang="en-GB" dirty="0"/>
                  <a:t>Done by storing the frontier as a </a:t>
                </a:r>
                <a:r>
                  <a:rPr lang="en-GB" b="1" dirty="0"/>
                  <a:t>priority queue </a:t>
                </a:r>
                <a:r>
                  <a:rPr lang="en-GB" dirty="0"/>
                  <a:t>ordered by g.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4A31A2-0A3D-2349-1688-B5E6997FDD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1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F99617-069A-E29B-A0B2-20CF8F66D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5BE56D-C843-ABC9-6615-F3346FF71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77842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5A072-26CF-A108-0F41-8D95A8CE3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16BE0-0605-478F-95AB-1F82682DA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715"/>
          </a:xfrm>
        </p:spPr>
        <p:txBody>
          <a:bodyPr>
            <a:normAutofit/>
          </a:bodyPr>
          <a:lstStyle/>
          <a:p>
            <a:r>
              <a:rPr lang="en-GB" sz="3600" dirty="0"/>
              <a:t>Uniform-cost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866062-1A41-5496-AF8B-9810625CBF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06424"/>
            <a:ext cx="10515600" cy="5070539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GB" dirty="0"/>
              <a:t> function UNIFORM-COST-SEARCH(problem) returns a solution, or failure</a:t>
            </a:r>
          </a:p>
          <a:p>
            <a:pPr marL="0" indent="0">
              <a:buNone/>
            </a:pPr>
            <a:r>
              <a:rPr lang="en-GB" dirty="0"/>
              <a:t> 	node ←a node with STATE = </a:t>
            </a:r>
            <a:r>
              <a:rPr lang="en-GB" dirty="0" err="1"/>
              <a:t>problem.INITIAL</a:t>
            </a:r>
            <a:r>
              <a:rPr lang="en-GB" dirty="0"/>
              <a:t>-STATE, PATH-COST =0</a:t>
            </a:r>
          </a:p>
          <a:p>
            <a:pPr marL="0" indent="0">
              <a:buNone/>
            </a:pPr>
            <a:r>
              <a:rPr lang="en-GB" dirty="0"/>
              <a:t> 	frontier ←a </a:t>
            </a:r>
            <a:r>
              <a:rPr lang="en-GB" b="1" dirty="0"/>
              <a:t>priority queue </a:t>
            </a:r>
            <a:r>
              <a:rPr lang="en-GB" dirty="0"/>
              <a:t>ordered by PATH-COST, with node as the only element</a:t>
            </a:r>
          </a:p>
          <a:p>
            <a:pPr marL="0" indent="0">
              <a:buNone/>
            </a:pPr>
            <a:r>
              <a:rPr lang="en-GB" dirty="0"/>
              <a:t> 	explored ←an empty set</a:t>
            </a:r>
          </a:p>
          <a:p>
            <a:pPr marL="0" indent="0">
              <a:buNone/>
            </a:pPr>
            <a:r>
              <a:rPr lang="en-GB" dirty="0"/>
              <a:t>	 loop do</a:t>
            </a:r>
          </a:p>
          <a:p>
            <a:pPr marL="0" indent="0">
              <a:buNone/>
            </a:pPr>
            <a:r>
              <a:rPr lang="en-GB" dirty="0"/>
              <a:t>		 if EMPTY?(frontier) then return failure</a:t>
            </a:r>
          </a:p>
          <a:p>
            <a:pPr marL="0" indent="0">
              <a:buNone/>
            </a:pPr>
            <a:r>
              <a:rPr lang="en-GB" dirty="0"/>
              <a:t> 		node ←POP(frontier) /* chooses the lowest-cost node in frontier */</a:t>
            </a:r>
          </a:p>
          <a:p>
            <a:pPr marL="0" indent="0">
              <a:buNone/>
            </a:pPr>
            <a:r>
              <a:rPr lang="en-GB" dirty="0"/>
              <a:t>		 if </a:t>
            </a:r>
            <a:r>
              <a:rPr lang="en-GB" dirty="0" err="1"/>
              <a:t>problem.GOAL</a:t>
            </a:r>
            <a:r>
              <a:rPr lang="en-GB" dirty="0"/>
              <a:t>-TEST(</a:t>
            </a:r>
            <a:r>
              <a:rPr lang="en-GB" dirty="0" err="1"/>
              <a:t>node.STATE</a:t>
            </a:r>
            <a:r>
              <a:rPr lang="en-GB" dirty="0"/>
              <a:t>) then return SOLUTION(node)</a:t>
            </a:r>
          </a:p>
          <a:p>
            <a:pPr marL="0" indent="0">
              <a:buNone/>
            </a:pPr>
            <a:r>
              <a:rPr lang="en-GB" dirty="0"/>
              <a:t> 			add </a:t>
            </a:r>
            <a:r>
              <a:rPr lang="en-GB" dirty="0" err="1"/>
              <a:t>node.STATE</a:t>
            </a:r>
            <a:r>
              <a:rPr lang="en-GB" dirty="0"/>
              <a:t> to explored</a:t>
            </a:r>
          </a:p>
          <a:p>
            <a:pPr marL="0" indent="0">
              <a:buNone/>
            </a:pPr>
            <a:r>
              <a:rPr lang="en-GB" dirty="0"/>
              <a:t> 		for each action in </a:t>
            </a:r>
            <a:r>
              <a:rPr lang="en-GB" dirty="0" err="1"/>
              <a:t>problem.ACTIONS</a:t>
            </a:r>
            <a:r>
              <a:rPr lang="en-GB" dirty="0"/>
              <a:t>(</a:t>
            </a:r>
            <a:r>
              <a:rPr lang="en-GB" dirty="0" err="1"/>
              <a:t>node.STATE</a:t>
            </a:r>
            <a:r>
              <a:rPr lang="en-GB" dirty="0"/>
              <a:t>) do</a:t>
            </a:r>
          </a:p>
          <a:p>
            <a:pPr marL="0" indent="0">
              <a:buNone/>
            </a:pPr>
            <a:r>
              <a:rPr lang="en-GB" dirty="0"/>
              <a:t>			child ←CHILD-NODE(</a:t>
            </a:r>
            <a:r>
              <a:rPr lang="en-GB" dirty="0" err="1"/>
              <a:t>problem,node,action</a:t>
            </a:r>
            <a:r>
              <a:rPr lang="en-GB" dirty="0"/>
              <a:t>)</a:t>
            </a:r>
          </a:p>
          <a:p>
            <a:pPr marL="0" indent="0">
              <a:buNone/>
            </a:pPr>
            <a:r>
              <a:rPr lang="en-GB" dirty="0"/>
              <a:t>			if </a:t>
            </a:r>
            <a:r>
              <a:rPr lang="en-GB" dirty="0" err="1"/>
              <a:t>child.STATE</a:t>
            </a:r>
            <a:r>
              <a:rPr lang="en-GB" dirty="0"/>
              <a:t> is not in explored or frontier then</a:t>
            </a:r>
          </a:p>
          <a:p>
            <a:pPr marL="0" indent="0">
              <a:buNone/>
            </a:pPr>
            <a:r>
              <a:rPr lang="en-GB" dirty="0"/>
              <a:t>			 	frontier ←INSERT(</a:t>
            </a:r>
            <a:r>
              <a:rPr lang="en-GB" dirty="0" err="1"/>
              <a:t>child,frontier</a:t>
            </a:r>
            <a:r>
              <a:rPr lang="en-GB" dirty="0"/>
              <a:t>)</a:t>
            </a:r>
          </a:p>
          <a:p>
            <a:pPr marL="0" indent="0">
              <a:buNone/>
            </a:pPr>
            <a:r>
              <a:rPr lang="en-GB" dirty="0"/>
              <a:t> 			else if </a:t>
            </a:r>
            <a:r>
              <a:rPr lang="en-GB" dirty="0" err="1"/>
              <a:t>child.STATE</a:t>
            </a:r>
            <a:r>
              <a:rPr lang="en-GB" dirty="0"/>
              <a:t> is in frontier with higher PATH-COST then</a:t>
            </a:r>
          </a:p>
          <a:p>
            <a:pPr marL="0" indent="0">
              <a:buNone/>
            </a:pPr>
            <a:r>
              <a:rPr lang="en-GB" dirty="0"/>
              <a:t>				replace that frontier node with child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A39CB1-89C5-F920-9595-D4EE54D02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2C1AC8-2A0C-8949-7A81-A2EA8C0E4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6841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42F59-9FFC-F63B-3068-17C4265A4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Performance of Uniform-cost Search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2315B08-FD57-5E54-F0D6-70FF52FA2C2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47344" y="1825625"/>
                <a:ext cx="10515600" cy="4351338"/>
              </a:xfrm>
            </p:spPr>
            <p:txBody>
              <a:bodyPr>
                <a:normAutofit fontScale="92500"/>
              </a:bodyPr>
              <a:lstStyle/>
              <a:p>
                <a:r>
                  <a:rPr lang="en-GB" dirty="0"/>
                  <a:t>Is it complete?</a:t>
                </a:r>
              </a:p>
              <a:p>
                <a:r>
                  <a:rPr lang="en-GB" dirty="0"/>
                  <a:t>Is it optimal?</a:t>
                </a:r>
              </a:p>
              <a:p>
                <a:r>
                  <a:rPr lang="en-GB" dirty="0"/>
                  <a:t>What about complexity?</a:t>
                </a:r>
              </a:p>
              <a:p>
                <a:r>
                  <a:rPr lang="en-GB" dirty="0"/>
                  <a:t>Does not care about number of step, but only about the total path.</a:t>
                </a:r>
              </a:p>
              <a:p>
                <a:pPr lvl="1"/>
                <a:r>
                  <a:rPr lang="en-GB" dirty="0"/>
                  <a:t>Complexity is complex, doesn’t consider b or d.</a:t>
                </a:r>
              </a:p>
              <a:p>
                <a:r>
                  <a:rPr lang="en-GB" dirty="0"/>
                  <a:t>Let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GB" dirty="0"/>
                  <a:t> be  the cost of the optimal solution.</a:t>
                </a:r>
              </a:p>
              <a:p>
                <a:r>
                  <a:rPr lang="en-GB" dirty="0"/>
                  <a:t>Assume every action costs at least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dirty="0"/>
                  <a:t>Then algorithm’s worst-case time and space complexity is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d>
                          <m:dPr>
                            <m:begChr m:val="⌊"/>
                            <m:endChr m:val="]"/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p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</m:den>
                            </m:f>
                          </m:e>
                        </m:d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2315B08-FD57-5E54-F0D6-70FF52FA2C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47344" y="1825625"/>
                <a:ext cx="10515600" cy="4351338"/>
              </a:xfrm>
              <a:blipFill>
                <a:blip r:embed="rId2"/>
                <a:stretch>
                  <a:fillRect l="-870" t="-2241" r="-58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1C8D38-4D03-116C-7F2E-5163D5BD6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05B104-5F98-9EF4-CFE6-58360CE45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4521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0869F-3503-91D2-82FB-9DD5A945E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A1EAC-982B-B385-9F51-4B7CF5F8E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Performance of Uniform-cost Search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95AD70-734E-FB66-2323-979F63EC6F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47344" y="1825625"/>
                <a:ext cx="10515600" cy="4351338"/>
              </a:xfrm>
            </p:spPr>
            <p:txBody>
              <a:bodyPr>
                <a:normAutofit/>
              </a:bodyPr>
              <a:lstStyle/>
              <a:p>
                <a:r>
                  <a:rPr lang="en-GB" dirty="0"/>
                  <a:t>Does not care about number of step, but only about the total path.</a:t>
                </a:r>
              </a:p>
              <a:p>
                <a:pPr lvl="1"/>
                <a:r>
                  <a:rPr lang="en-GB" dirty="0"/>
                  <a:t>Complexity is complex, doesn’t consider b or d.</a:t>
                </a:r>
              </a:p>
              <a:p>
                <a:r>
                  <a:rPr lang="en-GB" dirty="0"/>
                  <a:t>Let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GB" dirty="0"/>
                  <a:t> be  the cost of the optimal solution.</a:t>
                </a:r>
              </a:p>
              <a:p>
                <a:r>
                  <a:rPr lang="en-GB" dirty="0"/>
                  <a:t>Assume every action costs at least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dirty="0"/>
                  <a:t>Then algorithm’s worst-case time and space complexity is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d>
                          <m:dPr>
                            <m:begChr m:val="⌊"/>
                            <m:endChr m:val="]"/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p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</m:den>
                            </m:f>
                          </m:e>
                        </m:d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95AD70-734E-FB66-2323-979F63EC6F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47344" y="1825625"/>
                <a:ext cx="10515600" cy="4351338"/>
              </a:xfrm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7EE236-88D7-F09B-DFD0-8FEFDF664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1249FB-6BFD-0E64-459B-F0687B0A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528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7B8AC-C825-2326-515B-AD28E7D84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Depth-First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C7A526-E4F2-C082-1929-C8A9E08B9F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Expands the </a:t>
            </a:r>
            <a:r>
              <a:rPr lang="en-GB" b="1" dirty="0"/>
              <a:t>deepest node </a:t>
            </a:r>
            <a:r>
              <a:rPr lang="en-GB" dirty="0"/>
              <a:t>in the current frontier.</a:t>
            </a:r>
          </a:p>
          <a:p>
            <a:r>
              <a:rPr lang="en-GB" dirty="0"/>
              <a:t>Uses a </a:t>
            </a:r>
            <a:r>
              <a:rPr lang="en-GB" b="1" dirty="0"/>
              <a:t>LIFO</a:t>
            </a:r>
            <a:r>
              <a:rPr lang="en-GB" dirty="0"/>
              <a:t> queue.</a:t>
            </a:r>
          </a:p>
          <a:p>
            <a:pPr lvl="1"/>
            <a:r>
              <a:rPr lang="en-GB" dirty="0"/>
              <a:t>Stack.</a:t>
            </a:r>
          </a:p>
          <a:p>
            <a:r>
              <a:rPr lang="en-GB" dirty="0"/>
              <a:t>Most recently generated node is chosen for expansion.</a:t>
            </a:r>
          </a:p>
          <a:p>
            <a:pPr lvl="1"/>
            <a:r>
              <a:rPr lang="en-GB" dirty="0"/>
              <a:t>Often implemented in </a:t>
            </a:r>
            <a:r>
              <a:rPr lang="en-GB" b="1" dirty="0"/>
              <a:t>recursive manner.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011959-E529-FE87-02BD-019012641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975711-9BB5-0742-53E1-74B1DBF0D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3410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39F12-9154-C645-2493-A871D69A8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7B218-728F-0BE1-5230-BEAAE71BF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Depth-First Search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0A1D9E-B14E-2DD6-BA45-4848406C578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How about the performance?</a:t>
                </a:r>
              </a:p>
              <a:p>
                <a:pPr lvl="1"/>
                <a:r>
                  <a:rPr lang="en-GB" dirty="0"/>
                  <a:t>Optimal?</a:t>
                </a:r>
              </a:p>
              <a:p>
                <a:pPr lvl="1"/>
                <a:r>
                  <a:rPr lang="en-GB" dirty="0"/>
                  <a:t>Complete?</a:t>
                </a:r>
              </a:p>
              <a:p>
                <a:r>
                  <a:rPr lang="en-GB" dirty="0"/>
                  <a:t>How about complexity?</a:t>
                </a:r>
              </a:p>
              <a:p>
                <a:pPr lvl="1"/>
                <a:r>
                  <a:rPr lang="en-GB" dirty="0"/>
                  <a:t>Time Complexity?</a:t>
                </a:r>
              </a:p>
              <a:p>
                <a:pPr lvl="1"/>
                <a:r>
                  <a:rPr lang="en-GB" dirty="0"/>
                  <a:t>Space Complexity?</a:t>
                </a:r>
              </a:p>
              <a:p>
                <a:pPr lvl="1"/>
                <a:endParaRPr lang="en-GB" dirty="0"/>
              </a:p>
              <a:p>
                <a:r>
                  <a:rPr lang="en-GB" dirty="0"/>
                  <a:t>May generate all of the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nodes in the search tree.</a:t>
                </a:r>
              </a:p>
              <a:p>
                <a:pPr lvl="1"/>
                <a:r>
                  <a:rPr lang="en-GB" dirty="0"/>
                  <a:t>m is the maximum depth of any node.</a:t>
                </a:r>
              </a:p>
              <a:p>
                <a:pPr lvl="1"/>
                <a:r>
                  <a:rPr lang="en-GB" dirty="0"/>
                  <a:t>Can be infinite.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0A1D9E-B14E-2DD6-BA45-4848406C57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b="-8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F71116-03F3-7D7A-35A0-C2D64B7B9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764EED-BA7F-F0A7-6A90-F60013480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3177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02460-D9AC-E3D0-7DC6-C8F2FCFE2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Depth-First Search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6B3DA8-3A63-2468-1D32-443C616052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So why do we need DFS?</a:t>
                </a:r>
              </a:p>
              <a:p>
                <a:r>
                  <a:rPr lang="en-GB" dirty="0"/>
                  <a:t>Space complexity!</a:t>
                </a:r>
              </a:p>
              <a:p>
                <a:r>
                  <a:rPr lang="en-GB" dirty="0"/>
                  <a:t>On a graph?</a:t>
                </a:r>
              </a:p>
              <a:p>
                <a:r>
                  <a:rPr lang="en-GB" dirty="0"/>
                  <a:t>On a tree?</a:t>
                </a:r>
              </a:p>
              <a:p>
                <a:r>
                  <a:rPr lang="en-GB" dirty="0"/>
                  <a:t>For a state space with branching factor b and maximum depth m, DFS  requires storage of only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𝑏𝑚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.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6B3DA8-3A63-2468-1D32-443C616052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BCF232-F84E-C9F7-F53C-5F5679D6E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17DA4F-98DF-6AC1-2AA3-F2F364987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714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96E52-E5DD-A981-802C-442860991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Depth-Limited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4EC6C0-25DB-7E48-C17C-E9006592D6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DFS fails in infinite state space.</a:t>
            </a:r>
          </a:p>
          <a:p>
            <a:r>
              <a:rPr lang="en-GB" dirty="0"/>
              <a:t>This is solved by depth-limited search.</a:t>
            </a:r>
          </a:p>
          <a:p>
            <a:r>
              <a:rPr lang="en-GB" dirty="0"/>
              <a:t>A predetermined depth limit (l) is selected first.</a:t>
            </a:r>
          </a:p>
          <a:p>
            <a:r>
              <a:rPr lang="en-GB" dirty="0"/>
              <a:t>DFS treats the nodes at level l as leaf.</a:t>
            </a:r>
          </a:p>
          <a:p>
            <a:pPr lvl="1"/>
            <a:r>
              <a:rPr lang="en-GB" dirty="0"/>
              <a:t>The successors of level l+1 are ignored.</a:t>
            </a:r>
          </a:p>
          <a:p>
            <a:pPr lvl="1"/>
            <a:endParaRPr lang="en-GB" dirty="0"/>
          </a:p>
          <a:p>
            <a:r>
              <a:rPr lang="en-GB" dirty="0"/>
              <a:t>Is it complete?</a:t>
            </a:r>
          </a:p>
          <a:p>
            <a:r>
              <a:rPr lang="en-GB" dirty="0"/>
              <a:t>Is it optimal?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3E8871-3D7E-DC4B-C96A-12AB86BB4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13E6CD-4399-402E-08DD-99D192673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4126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39E53-9B25-83D4-C223-3C5D11F4D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4723"/>
          </a:xfrm>
        </p:spPr>
        <p:txBody>
          <a:bodyPr>
            <a:normAutofit/>
          </a:bodyPr>
          <a:lstStyle/>
          <a:p>
            <a:r>
              <a:rPr lang="en-GB" sz="3600" dirty="0"/>
              <a:t>Depth-Limited Search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908D7E-B6E5-55F5-936C-1CDDA08247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7008"/>
            <a:ext cx="10515600" cy="496995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 </a:t>
            </a:r>
            <a:r>
              <a:rPr lang="en-US" sz="2200" dirty="0"/>
              <a:t>function DEPTH-LIMITED-SEARCH(</a:t>
            </a:r>
            <a:r>
              <a:rPr lang="en-US" sz="2200" dirty="0" err="1"/>
              <a:t>problem,limit</a:t>
            </a:r>
            <a:r>
              <a:rPr lang="en-US" sz="2200" dirty="0"/>
              <a:t>) returns a solution, or failure/cutoff</a:t>
            </a:r>
          </a:p>
          <a:p>
            <a:pPr marL="0" indent="0">
              <a:buNone/>
            </a:pPr>
            <a:r>
              <a:rPr lang="en-US" sz="2200" dirty="0"/>
              <a:t> 	return RECURSIVE-DLS(MAKE-NODE(</a:t>
            </a:r>
            <a:r>
              <a:rPr lang="en-US" sz="2200" dirty="0" err="1"/>
              <a:t>problem.INITIAL</a:t>
            </a:r>
            <a:r>
              <a:rPr lang="en-US" sz="2200" dirty="0"/>
              <a:t>-STATE),</a:t>
            </a:r>
            <a:r>
              <a:rPr lang="en-US" sz="2200" dirty="0" err="1"/>
              <a:t>problem,limit</a:t>
            </a:r>
            <a:r>
              <a:rPr lang="en-US" sz="2200" dirty="0"/>
              <a:t>)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dirty="0"/>
              <a:t> function RECURSIVE-DLS(</a:t>
            </a:r>
            <a:r>
              <a:rPr lang="en-US" sz="2200" dirty="0" err="1"/>
              <a:t>node,problem,limit</a:t>
            </a:r>
            <a:r>
              <a:rPr lang="en-US" sz="2200" dirty="0"/>
              <a:t>) returns a solution, or failure/cutoff</a:t>
            </a:r>
          </a:p>
          <a:p>
            <a:pPr marL="0" indent="0">
              <a:buNone/>
            </a:pPr>
            <a:r>
              <a:rPr lang="en-US" sz="2200" dirty="0"/>
              <a:t>	if </a:t>
            </a:r>
            <a:r>
              <a:rPr lang="en-US" sz="2200" dirty="0" err="1"/>
              <a:t>problem.GOAL</a:t>
            </a:r>
            <a:r>
              <a:rPr lang="en-US" sz="2200" dirty="0"/>
              <a:t>-TEST(</a:t>
            </a:r>
            <a:r>
              <a:rPr lang="en-US" sz="2200" dirty="0" err="1"/>
              <a:t>node.STATE</a:t>
            </a:r>
            <a:r>
              <a:rPr lang="en-US" sz="2200" dirty="0"/>
              <a:t>) then return SOLUTION(node)</a:t>
            </a:r>
          </a:p>
          <a:p>
            <a:pPr marL="0" indent="0">
              <a:buNone/>
            </a:pPr>
            <a:r>
              <a:rPr lang="en-US" sz="2200" dirty="0"/>
              <a:t>	else if limit =0 then return cutoff</a:t>
            </a:r>
          </a:p>
          <a:p>
            <a:pPr marL="0" indent="0">
              <a:buNone/>
            </a:pPr>
            <a:r>
              <a:rPr lang="en-US" sz="2200" dirty="0"/>
              <a:t>	else</a:t>
            </a:r>
          </a:p>
          <a:p>
            <a:pPr marL="0" indent="0">
              <a:buNone/>
            </a:pPr>
            <a:r>
              <a:rPr lang="en-US" sz="2200" dirty="0"/>
              <a:t>		cutoff occurred?←false</a:t>
            </a:r>
          </a:p>
          <a:p>
            <a:pPr marL="0" indent="0">
              <a:buNone/>
            </a:pPr>
            <a:r>
              <a:rPr lang="en-US" sz="2200" dirty="0"/>
              <a:t>		for each action in </a:t>
            </a:r>
            <a:r>
              <a:rPr lang="en-US" sz="2200" dirty="0" err="1"/>
              <a:t>problem.ACTIONS</a:t>
            </a:r>
            <a:r>
              <a:rPr lang="en-US" sz="2200" dirty="0"/>
              <a:t>(</a:t>
            </a:r>
            <a:r>
              <a:rPr lang="en-US" sz="2200" dirty="0" err="1"/>
              <a:t>node.STATE</a:t>
            </a:r>
            <a:r>
              <a:rPr lang="en-US" sz="2200" dirty="0"/>
              <a:t>) do</a:t>
            </a:r>
          </a:p>
          <a:p>
            <a:pPr marL="0" indent="0">
              <a:buNone/>
            </a:pPr>
            <a:r>
              <a:rPr lang="en-US" sz="2200" dirty="0"/>
              <a:t>			child ←CHILD-NODE(</a:t>
            </a:r>
            <a:r>
              <a:rPr lang="en-US" sz="2200" dirty="0" err="1"/>
              <a:t>problem,node,action</a:t>
            </a:r>
            <a:r>
              <a:rPr lang="en-US" sz="2200" dirty="0"/>
              <a:t>)</a:t>
            </a:r>
          </a:p>
          <a:p>
            <a:pPr marL="0" indent="0">
              <a:buNone/>
            </a:pPr>
            <a:r>
              <a:rPr lang="en-US" sz="2200" dirty="0"/>
              <a:t>			result ←RECURSIVE-DLS(</a:t>
            </a:r>
            <a:r>
              <a:rPr lang="en-US" sz="2200" dirty="0" err="1"/>
              <a:t>child,problem,limit</a:t>
            </a:r>
            <a:r>
              <a:rPr lang="en-US" sz="2200" dirty="0"/>
              <a:t> − 1)</a:t>
            </a:r>
          </a:p>
          <a:p>
            <a:pPr marL="0" indent="0">
              <a:buNone/>
            </a:pPr>
            <a:r>
              <a:rPr lang="en-US" sz="2200" dirty="0"/>
              <a:t>			if result = cutoff then cutoff occurred?←true</a:t>
            </a:r>
          </a:p>
          <a:p>
            <a:pPr marL="0" indent="0">
              <a:buNone/>
            </a:pPr>
            <a:r>
              <a:rPr lang="en-US" sz="2200" dirty="0"/>
              <a:t>			else if result= failure then return result</a:t>
            </a:r>
          </a:p>
          <a:p>
            <a:pPr marL="0" indent="0">
              <a:buNone/>
            </a:pPr>
            <a:r>
              <a:rPr lang="en-US" sz="2200" dirty="0"/>
              <a:t>		if cutoff occurred? then return cutoff else return failure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F34D9E-D46B-0835-101C-5E9CE7D83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DA0E2D-F3B7-D09C-12A9-CCA5D19C0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3261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9F21B-149D-69A6-235A-9D1E097CC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Iterative Deepening DFS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723918-BC61-453D-8F12-5A9B961526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IDS gradually increases the depth limit, until the goal is found.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A3DA44-111D-84B5-2BEA-EC5A0B001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FC0830-EC53-46FE-9141-5083983A7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18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E45C9A3-DAF5-83F7-FCA6-8AC701D50844}"/>
                  </a:ext>
                </a:extLst>
              </p:cNvPr>
              <p:cNvSpPr txBox="1"/>
              <p:nvPr/>
            </p:nvSpPr>
            <p:spPr>
              <a:xfrm>
                <a:off x="1207008" y="2676727"/>
                <a:ext cx="9930384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dirty="0">
                    <a:latin typeface="Consolas" panose="020B0609020204030204" pitchFamily="49" charset="0"/>
                  </a:rPr>
                  <a:t>Function ITERATIVE-DEEPENING-SEARCH(problem) returns a </a:t>
                </a:r>
                <a:r>
                  <a:rPr lang="en-GB" dirty="0" err="1">
                    <a:latin typeface="Consolas" panose="020B0609020204030204" pitchFamily="49" charset="0"/>
                  </a:rPr>
                  <a:t>solution,or</a:t>
                </a:r>
                <a:r>
                  <a:rPr lang="en-GB" dirty="0">
                    <a:latin typeface="Consolas" panose="020B0609020204030204" pitchFamily="49" charset="0"/>
                  </a:rPr>
                  <a:t> failure 	for depth = 0 to ∞ </a:t>
                </a:r>
              </a:p>
              <a:p>
                <a:r>
                  <a:rPr lang="en-GB" dirty="0">
                    <a:latin typeface="Consolas" panose="020B0609020204030204" pitchFamily="49" charset="0"/>
                  </a:rPr>
                  <a:t>		do result ← DEPTH-LIMITED-SEARCH(</a:t>
                </a:r>
                <a:r>
                  <a:rPr lang="en-GB" dirty="0" err="1">
                    <a:latin typeface="Consolas" panose="020B0609020204030204" pitchFamily="49" charset="0"/>
                  </a:rPr>
                  <a:t>problem,depth</a:t>
                </a:r>
                <a:r>
                  <a:rPr lang="en-GB" dirty="0">
                    <a:latin typeface="Consolas" panose="020B0609020204030204" pitchFamily="49" charset="0"/>
                  </a:rPr>
                  <a:t>)</a:t>
                </a:r>
              </a:p>
              <a:p>
                <a:r>
                  <a:rPr lang="en-GB" dirty="0">
                    <a:latin typeface="Consolas" panose="020B0609020204030204" pitchFamily="49" charset="0"/>
                  </a:rPr>
                  <a:t>		if result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GB" dirty="0">
                    <a:latin typeface="Consolas" panose="020B0609020204030204" pitchFamily="49" charset="0"/>
                  </a:rPr>
                  <a:t> cutoff then return result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E45C9A3-DAF5-83F7-FCA6-8AC701D508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7008" y="2676727"/>
                <a:ext cx="9930384" cy="1200329"/>
              </a:xfrm>
              <a:prstGeom prst="rect">
                <a:avLst/>
              </a:prstGeom>
              <a:blipFill>
                <a:blip r:embed="rId2"/>
                <a:stretch>
                  <a:fillRect l="-491" t="-2538" b="-710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9937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A68BF-1800-505E-7F8D-60BEFE568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Iterative Deepening DFS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0BB270-89C0-8EC7-0D22-9D5E61B4C1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Combines the benefit of both BFS and DFS.</a:t>
            </a:r>
          </a:p>
          <a:p>
            <a:r>
              <a:rPr lang="en-GB" dirty="0"/>
              <a:t>Memory complexity?</a:t>
            </a:r>
          </a:p>
          <a:p>
            <a:pPr lvl="1"/>
            <a:r>
              <a:rPr lang="en-GB" dirty="0"/>
              <a:t>O(bd)</a:t>
            </a:r>
          </a:p>
          <a:p>
            <a:r>
              <a:rPr lang="en-GB" dirty="0"/>
              <a:t>Complete?</a:t>
            </a:r>
          </a:p>
          <a:p>
            <a:r>
              <a:rPr lang="en-GB" dirty="0"/>
              <a:t>How about time complexity?</a:t>
            </a:r>
          </a:p>
          <a:p>
            <a:r>
              <a:rPr lang="en-GB" dirty="0"/>
              <a:t>Aren’t we generating same node multiple times?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03A1DF-BD25-BC57-9C67-40F29346F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16E59E-F9ED-4BAC-A07D-3E3043F0A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5728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6B255-C98D-FEBB-DF8A-C69CF4B96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ADF90-4D77-20D2-6B74-FEAA958C9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Iterative Deepening DFS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2102A8-A252-A0FC-12E0-D52CFFB83F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Turns out it’s not that costly.</a:t>
            </a:r>
          </a:p>
          <a:p>
            <a:r>
              <a:rPr lang="en-GB" dirty="0"/>
              <a:t>Most of the nodes are in the bottom level.</a:t>
            </a:r>
          </a:p>
          <a:p>
            <a:r>
              <a:rPr lang="en-GB" dirty="0"/>
              <a:t>How does it compare with BFS?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A842DC-0506-9AFB-DC08-15E4B2BB5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E2C3EF-8D8D-A989-BC97-BA8CF60A9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4814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EFCC4-F91B-5634-915C-83E7AB788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Iterative Deepening DFS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0F31D8-194E-2A04-9DA5-8CA4502E305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Suppose the goal node is at level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dirty="0"/>
                  <a:t>Then we will generate the tree d times.</a:t>
                </a:r>
              </a:p>
              <a:p>
                <a:r>
                  <a:rPr lang="en-GB" dirty="0"/>
                  <a:t>How many time each level will be generated?</a:t>
                </a:r>
              </a:p>
              <a:p>
                <a:r>
                  <a:rPr lang="en-GB" dirty="0"/>
                  <a:t>The last level will be generated only once.</a:t>
                </a:r>
              </a:p>
              <a:p>
                <a:r>
                  <a:rPr lang="en-GB" dirty="0"/>
                  <a:t>The first level will be generated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GB" dirty="0"/>
                  <a:t> times.</a:t>
                </a:r>
              </a:p>
              <a:p>
                <a:r>
                  <a:rPr lang="en-GB" dirty="0"/>
                  <a:t>In the worst-case total number of generated nodes is: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𝐼𝐷𝑆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+…+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endParaRPr lang="en-GB" b="0" dirty="0"/>
              </a:p>
              <a:p>
                <a:r>
                  <a:rPr lang="en-GB" b="0" dirty="0"/>
                  <a:t>Asymptotically, this is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b="0" dirty="0"/>
                  <a:t> similar to BFS.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0F31D8-194E-2A04-9DA5-8CA4502E30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63D37-03E4-1B38-7B0D-FDF37EF64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E340D9-A2C4-8B7B-79AB-5655589D4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6087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8B076-3614-22EA-B3EE-1926D7CE0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Iterative Deepening DFS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8ADD5E-407C-8DFE-69F2-CDD6297EA0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Let,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=5.</m:t>
                    </m:r>
                  </m:oMath>
                </a14:m>
                <a:endParaRPr lang="en-GB" b="0" dirty="0"/>
              </a:p>
              <a:p>
                <a:r>
                  <a:rPr lang="en-GB" dirty="0"/>
                  <a:t>Then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𝐼𝐷𝑆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=50+400+3,000+20,000+100,000=123450.</m:t>
                    </m:r>
                  </m:oMath>
                </a14:m>
                <a:endParaRPr lang="en-GB" b="0" dirty="0"/>
              </a:p>
              <a:p>
                <a:r>
                  <a:rPr lang="en-GB" dirty="0"/>
                  <a:t>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𝐵𝐹𝑆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=10+100+1,000+10,000+100,000=111110.</m:t>
                    </m:r>
                  </m:oMath>
                </a14:m>
                <a:endParaRPr lang="en-GB" b="0" dirty="0"/>
              </a:p>
              <a:p>
                <a:r>
                  <a:rPr lang="en-GB" dirty="0"/>
                  <a:t>IDS is the preferred uninformed search method when the search space is </a:t>
                </a:r>
                <a:r>
                  <a:rPr lang="en-GB" b="1" dirty="0"/>
                  <a:t>large</a:t>
                </a:r>
                <a:r>
                  <a:rPr lang="en-GB" dirty="0"/>
                  <a:t> and the depth of the solution is unknown.</a:t>
                </a:r>
              </a:p>
              <a:p>
                <a:endParaRPr lang="en-GB" dirty="0"/>
              </a:p>
              <a:p>
                <a:r>
                  <a:rPr lang="en-GB" dirty="0"/>
                  <a:t>Also see iterative </a:t>
                </a:r>
                <a:r>
                  <a:rPr lang="en-GB" b="1" dirty="0"/>
                  <a:t>lengthening search</a:t>
                </a:r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8ADD5E-407C-8DFE-69F2-CDD6297EA0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CF6D79-D634-2B92-3B50-22FF4E4EB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9C30DF-51A5-8332-ECF3-C655AEDE4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4667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DD3FC-A0F6-841C-F8F8-82CA1F708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Bidirectional Search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23EBC2-654A-CDB5-2E91-3D798A299B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The main idea is to run two simultaneous searches.</a:t>
                </a:r>
              </a:p>
              <a:p>
                <a:r>
                  <a:rPr lang="en-GB" dirty="0"/>
                  <a:t>One forward from the initial state.</a:t>
                </a:r>
              </a:p>
              <a:p>
                <a:r>
                  <a:rPr lang="en-GB" dirty="0"/>
                  <a:t>The other backward from the goal.</a:t>
                </a:r>
              </a:p>
              <a:p>
                <a:pPr lvl="1"/>
                <a:r>
                  <a:rPr lang="en-GB" dirty="0"/>
                  <a:t>Hoping the two searches meet in the middle.</a:t>
                </a:r>
              </a:p>
              <a:p>
                <a:r>
                  <a:rPr lang="en-GB" dirty="0"/>
                  <a:t>The motivation is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+2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+2</m:t>
                        </m:r>
                      </m:sup>
                    </m:sSup>
                  </m:oMath>
                </a14:m>
                <a:r>
                  <a:rPr lang="en-GB" dirty="0"/>
                  <a:t> is much less than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23EBC2-654A-CDB5-2E91-3D798A299B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A93541-AA5D-441F-CB25-17E87981B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39BA26-B3E4-EB84-F38F-0F9AE449B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9216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8A0D8-651C-FE37-BC6F-8724B0834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Bidirectional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0CE9-3CAD-6266-7F12-9C583A2255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Goal test is replaced with a check to see whether the frontiers of the two searches intersect.</a:t>
            </a:r>
          </a:p>
          <a:p>
            <a:pPr lvl="1"/>
            <a:r>
              <a:rPr lang="en-GB" dirty="0"/>
              <a:t>If they do a solution is found.</a:t>
            </a:r>
          </a:p>
          <a:p>
            <a:pPr lvl="1"/>
            <a:r>
              <a:rPr lang="en-GB" dirty="0"/>
              <a:t>Now this solution might not be the optimal one.</a:t>
            </a:r>
          </a:p>
          <a:p>
            <a:endParaRPr lang="en-GB" dirty="0"/>
          </a:p>
          <a:p>
            <a:r>
              <a:rPr lang="en-GB" dirty="0"/>
              <a:t>The check can be done when each node is generated or selected for expansion and, with a hash table, will take constant time.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E0D1-0B85-D7E6-1CDB-B1CB15101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43881F-B26F-8276-C7A1-C5209D20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5969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4F5A2-49A8-F848-E23C-4A36583D0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Bidirectional Search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CC88A3-BFC8-EBBF-9D00-FD4F7DD6262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Suppose, depth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dirty="0"/>
                  <a:t>Each direction runs BFS one node at a time.</a:t>
                </a:r>
              </a:p>
              <a:p>
                <a:r>
                  <a:rPr lang="en-GB" dirty="0"/>
                  <a:t>In the worst case two searches meet when they have generated all of the nodes at depth 3.</a:t>
                </a:r>
              </a:p>
              <a:p>
                <a:r>
                  <a:rPr lang="en-GB" dirty="0"/>
                  <a:t>For b = 10, total of 2220 nodes are generated compared to 1,111,110 for a standard BFS.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CC88A3-BFC8-EBBF-9D00-FD4F7DD626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185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97C0E-F52D-A686-8FEE-AFD16C791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493EA6-F8B4-E5C2-6918-E0E337E77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3938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2019D-2B9B-F63F-5257-EA77807E7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Comparing Uninformed Search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Content Placeholder 5">
                <a:extLst>
                  <a:ext uri="{FF2B5EF4-FFF2-40B4-BE49-F238E27FC236}">
                    <a16:creationId xmlns:a16="http://schemas.microsoft.com/office/drawing/2014/main" id="{1FC66DCD-3C6A-2658-3EFE-E49422509F62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586931767"/>
                  </p:ext>
                </p:extLst>
              </p:nvPr>
            </p:nvGraphicFramePr>
            <p:xfrm>
              <a:off x="411480" y="2291969"/>
              <a:ext cx="11228833" cy="2743582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467886">
                      <a:extLst>
                        <a:ext uri="{9D8B030D-6E8A-4147-A177-3AD203B41FA5}">
                          <a16:colId xmlns:a16="http://schemas.microsoft.com/office/drawing/2014/main" val="2580296644"/>
                        </a:ext>
                      </a:extLst>
                    </a:gridCol>
                    <a:gridCol w="1740352">
                      <a:extLst>
                        <a:ext uri="{9D8B030D-6E8A-4147-A177-3AD203B41FA5}">
                          <a16:colId xmlns:a16="http://schemas.microsoft.com/office/drawing/2014/main" val="1833752564"/>
                        </a:ext>
                      </a:extLst>
                    </a:gridCol>
                    <a:gridCol w="1604119">
                      <a:extLst>
                        <a:ext uri="{9D8B030D-6E8A-4147-A177-3AD203B41FA5}">
                          <a16:colId xmlns:a16="http://schemas.microsoft.com/office/drawing/2014/main" val="238968485"/>
                        </a:ext>
                      </a:extLst>
                    </a:gridCol>
                    <a:gridCol w="1604119">
                      <a:extLst>
                        <a:ext uri="{9D8B030D-6E8A-4147-A177-3AD203B41FA5}">
                          <a16:colId xmlns:a16="http://schemas.microsoft.com/office/drawing/2014/main" val="3107514110"/>
                        </a:ext>
                      </a:extLst>
                    </a:gridCol>
                    <a:gridCol w="1604119">
                      <a:extLst>
                        <a:ext uri="{9D8B030D-6E8A-4147-A177-3AD203B41FA5}">
                          <a16:colId xmlns:a16="http://schemas.microsoft.com/office/drawing/2014/main" val="598044552"/>
                        </a:ext>
                      </a:extLst>
                    </a:gridCol>
                    <a:gridCol w="1604119">
                      <a:extLst>
                        <a:ext uri="{9D8B030D-6E8A-4147-A177-3AD203B41FA5}">
                          <a16:colId xmlns:a16="http://schemas.microsoft.com/office/drawing/2014/main" val="3861253896"/>
                        </a:ext>
                      </a:extLst>
                    </a:gridCol>
                    <a:gridCol w="1604119">
                      <a:extLst>
                        <a:ext uri="{9D8B030D-6E8A-4147-A177-3AD203B41FA5}">
                          <a16:colId xmlns:a16="http://schemas.microsoft.com/office/drawing/2014/main" val="128568650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Criterion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BFS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Uniform-Cost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DFS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Depth-Limited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Iterative Deepening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Bidirectional(if applicable)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830208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Complete?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No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No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Yes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3654662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Time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sup>
                                </m:sSup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d>
                                      <m:dPr>
                                        <m:begChr m:val="⌊"/>
                                        <m:endChr m:val="⌋"/>
                                        <m:ctrlPr>
                                          <a:rPr lang="en-GB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GB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sSup>
                                              <m:sSupPr>
                                                <m:ctrlPr>
                                                  <a:rPr lang="en-GB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GB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𝐶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GB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∗</m:t>
                                                </m:r>
                                              </m:sup>
                                            </m:sSup>
                                          </m:num>
                                          <m:den>
                                            <m:r>
                                              <a:rPr lang="en-GB" b="0" i="1" smtClean="0">
                                                <a:latin typeface="Cambria Math" panose="02040503050406030204" pitchFamily="18" charset="0"/>
                                              </a:rPr>
                                              <m:t>∈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sup>
                                </m:sSup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GB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GB" b="0" i="1" smtClean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p>
                                        <m:r>
                                          <a:rPr lang="en-GB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GB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GB" b="0" i="1" smtClean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p>
                                        <m:r>
                                          <a:rPr lang="en-GB" b="0" i="1" smtClean="0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sup>
                                </m:sSup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/2</m:t>
                                    </m:r>
                                  </m:sup>
                                </m:sSup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438249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Space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sup>
                                </m:sSup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d>
                                      <m:dPr>
                                        <m:begChr m:val="⌊"/>
                                        <m:endChr m:val="⌋"/>
                                        <m:ctrlPr>
                                          <a:rPr lang="en-GB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GB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sSup>
                                              <m:sSupPr>
                                                <m:ctrlPr>
                                                  <a:rPr lang="en-GB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GB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𝐶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GB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∗</m:t>
                                                </m:r>
                                              </m:sup>
                                            </m:sSup>
                                          </m:num>
                                          <m:den>
                                            <m:r>
                                              <a:rPr lang="en-GB" b="0" i="1" smtClean="0">
                                                <a:latin typeface="Cambria Math" panose="02040503050406030204" pitchFamily="18" charset="0"/>
                                              </a:rPr>
                                              <m:t>∈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sup>
                                </m:sSup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𝑏𝑚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𝑏𝑙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𝑏𝑑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/2</m:t>
                                    </m:r>
                                  </m:sup>
                                </m:sSup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6381618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Optimal?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No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No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Yes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1718981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Content Placeholder 5">
                <a:extLst>
                  <a:ext uri="{FF2B5EF4-FFF2-40B4-BE49-F238E27FC236}">
                    <a16:creationId xmlns:a16="http://schemas.microsoft.com/office/drawing/2014/main" id="{1FC66DCD-3C6A-2658-3EFE-E49422509F62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586931767"/>
                  </p:ext>
                </p:extLst>
              </p:nvPr>
            </p:nvGraphicFramePr>
            <p:xfrm>
              <a:off x="411480" y="2291969"/>
              <a:ext cx="11228833" cy="2743582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467886">
                      <a:extLst>
                        <a:ext uri="{9D8B030D-6E8A-4147-A177-3AD203B41FA5}">
                          <a16:colId xmlns:a16="http://schemas.microsoft.com/office/drawing/2014/main" val="2580296644"/>
                        </a:ext>
                      </a:extLst>
                    </a:gridCol>
                    <a:gridCol w="1740352">
                      <a:extLst>
                        <a:ext uri="{9D8B030D-6E8A-4147-A177-3AD203B41FA5}">
                          <a16:colId xmlns:a16="http://schemas.microsoft.com/office/drawing/2014/main" val="1833752564"/>
                        </a:ext>
                      </a:extLst>
                    </a:gridCol>
                    <a:gridCol w="1604119">
                      <a:extLst>
                        <a:ext uri="{9D8B030D-6E8A-4147-A177-3AD203B41FA5}">
                          <a16:colId xmlns:a16="http://schemas.microsoft.com/office/drawing/2014/main" val="238968485"/>
                        </a:ext>
                      </a:extLst>
                    </a:gridCol>
                    <a:gridCol w="1604119">
                      <a:extLst>
                        <a:ext uri="{9D8B030D-6E8A-4147-A177-3AD203B41FA5}">
                          <a16:colId xmlns:a16="http://schemas.microsoft.com/office/drawing/2014/main" val="3107514110"/>
                        </a:ext>
                      </a:extLst>
                    </a:gridCol>
                    <a:gridCol w="1604119">
                      <a:extLst>
                        <a:ext uri="{9D8B030D-6E8A-4147-A177-3AD203B41FA5}">
                          <a16:colId xmlns:a16="http://schemas.microsoft.com/office/drawing/2014/main" val="598044552"/>
                        </a:ext>
                      </a:extLst>
                    </a:gridCol>
                    <a:gridCol w="1604119">
                      <a:extLst>
                        <a:ext uri="{9D8B030D-6E8A-4147-A177-3AD203B41FA5}">
                          <a16:colId xmlns:a16="http://schemas.microsoft.com/office/drawing/2014/main" val="3861253896"/>
                        </a:ext>
                      </a:extLst>
                    </a:gridCol>
                    <a:gridCol w="1604119">
                      <a:extLst>
                        <a:ext uri="{9D8B030D-6E8A-4147-A177-3AD203B41FA5}">
                          <a16:colId xmlns:a16="http://schemas.microsoft.com/office/drawing/2014/main" val="1285686500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Criterion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BFS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Uniform-Cost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DFS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Depth-Limited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Iterative Deepening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Bidirectional(if applicable)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830208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Complete?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No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No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Yes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36546622"/>
                      </a:ext>
                    </a:extLst>
                  </a:tr>
                  <a:tr h="5437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Time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84615" t="-243820" r="-461538" b="-1853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760" t="-243820" r="-401901" b="-1853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760" t="-243820" r="-301901" b="-1853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0760" t="-243820" r="-201901" b="-1853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98864" t="-243820" r="-101136" b="-1853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601141" t="-243820" r="-1521" b="-18539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43824981"/>
                      </a:ext>
                    </a:extLst>
                  </a:tr>
                  <a:tr h="5437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Space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84615" t="-340000" r="-461538" b="-8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760" t="-340000" r="-401901" b="-8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760" t="-340000" r="-301901" b="-8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0760" t="-340000" r="-201901" b="-8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98864" t="-340000" r="-101136" b="-8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601141" t="-340000" r="-1521" b="-8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6381618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Optimal?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No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No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Yes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1718981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AEC747-84E5-94F3-669F-A6A97BD45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B80B8F-0445-F057-A29E-63ED80C0E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8927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CEDD0FF-C7AE-AF41-2FDF-9AA50EA21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Thank You.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8129A1-3D70-F153-390D-254E8F176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16CD3C-ADCB-5A5C-D52F-F9008F859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80034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2001</TotalTime>
  <Words>1755</Words>
  <Application>Microsoft Office PowerPoint</Application>
  <PresentationFormat>Widescreen</PresentationFormat>
  <Paragraphs>285</Paragraphs>
  <Slides>27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Aptos</vt:lpstr>
      <vt:lpstr>Arial</vt:lpstr>
      <vt:lpstr>Cambria Math</vt:lpstr>
      <vt:lpstr>Consolas</vt:lpstr>
      <vt:lpstr>Verdana</vt:lpstr>
      <vt:lpstr>Office Theme</vt:lpstr>
      <vt:lpstr>Uninformed Search</vt:lpstr>
      <vt:lpstr>Uninformed Search</vt:lpstr>
      <vt:lpstr>Breadth-First  Search</vt:lpstr>
      <vt:lpstr>Breadth-First  Search</vt:lpstr>
      <vt:lpstr>BFS Performance</vt:lpstr>
      <vt:lpstr>BFS Performance</vt:lpstr>
      <vt:lpstr>BFS Performance</vt:lpstr>
      <vt:lpstr>BFS Performance</vt:lpstr>
      <vt:lpstr>Uniform-cost Search</vt:lpstr>
      <vt:lpstr>Uniform-cost Search</vt:lpstr>
      <vt:lpstr>Performance of Uniform-cost Search</vt:lpstr>
      <vt:lpstr>Performance of Uniform-cost Search</vt:lpstr>
      <vt:lpstr>Depth-First Search</vt:lpstr>
      <vt:lpstr>Depth-First Search</vt:lpstr>
      <vt:lpstr>Depth-First Search</vt:lpstr>
      <vt:lpstr>Depth-Limited Search</vt:lpstr>
      <vt:lpstr>Depth-Limited Search</vt:lpstr>
      <vt:lpstr>Iterative Deepening DFS</vt:lpstr>
      <vt:lpstr>Iterative Deepening DFS</vt:lpstr>
      <vt:lpstr>Iterative Deepening DFS</vt:lpstr>
      <vt:lpstr>Iterative Deepening DFS</vt:lpstr>
      <vt:lpstr>Iterative Deepening DFS</vt:lpstr>
      <vt:lpstr>Bidirectional Search</vt:lpstr>
      <vt:lpstr>Bidirectional Search</vt:lpstr>
      <vt:lpstr>Bidirectional Search</vt:lpstr>
      <vt:lpstr>Comparing Uninformed Search</vt:lpstr>
      <vt:lpstr>Thank You.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Md Mehrab Hossain Opi</dc:creator>
  <cp:lastModifiedBy>Md Mehrab Hossain Opi</cp:lastModifiedBy>
  <cp:revision>49</cp:revision>
  <dcterms:created xsi:type="dcterms:W3CDTF">2025-07-29T06:51:35Z</dcterms:created>
  <dcterms:modified xsi:type="dcterms:W3CDTF">2025-09-02T10:28:57Z</dcterms:modified>
</cp:coreProperties>
</file>