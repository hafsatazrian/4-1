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08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1" r:id="rId13"/>
    <p:sldId id="342" r:id="rId14"/>
    <p:sldId id="340" r:id="rId15"/>
    <p:sldId id="343" r:id="rId16"/>
    <p:sldId id="344" r:id="rId17"/>
    <p:sldId id="345" r:id="rId18"/>
    <p:sldId id="346" r:id="rId19"/>
    <p:sldId id="348" r:id="rId20"/>
    <p:sldId id="347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5" r:id="rId37"/>
    <p:sldId id="364" r:id="rId38"/>
    <p:sldId id="366" r:id="rId39"/>
    <p:sldId id="367" r:id="rId40"/>
    <p:sldId id="368" r:id="rId41"/>
    <p:sldId id="369" r:id="rId42"/>
    <p:sldId id="370" r:id="rId43"/>
    <p:sldId id="371" r:id="rId44"/>
    <p:sldId id="382" r:id="rId45"/>
    <p:sldId id="383" r:id="rId46"/>
    <p:sldId id="372" r:id="rId47"/>
    <p:sldId id="373" r:id="rId48"/>
    <p:sldId id="374" r:id="rId49"/>
    <p:sldId id="375" r:id="rId50"/>
    <p:sldId id="376" r:id="rId51"/>
    <p:sldId id="377" r:id="rId52"/>
    <p:sldId id="378" r:id="rId53"/>
    <p:sldId id="379" r:id="rId54"/>
    <p:sldId id="380" r:id="rId55"/>
    <p:sldId id="381" r:id="rId56"/>
    <p:sldId id="330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A6121A-E9B4-4AAB-AFDB-3507960D5B16}">
          <p14:sldIdLst>
            <p14:sldId id="256"/>
            <p14:sldId id="308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1"/>
            <p14:sldId id="342"/>
            <p14:sldId id="340"/>
            <p14:sldId id="343"/>
            <p14:sldId id="344"/>
            <p14:sldId id="345"/>
            <p14:sldId id="346"/>
            <p14:sldId id="348"/>
            <p14:sldId id="347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5"/>
            <p14:sldId id="364"/>
            <p14:sldId id="366"/>
            <p14:sldId id="367"/>
            <p14:sldId id="368"/>
            <p14:sldId id="369"/>
            <p14:sldId id="370"/>
            <p14:sldId id="371"/>
            <p14:sldId id="382"/>
            <p14:sldId id="383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23/09/2025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Logical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880-EDE3-4501-094C-1D2A3F63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Problem-solving agents know only limited information about states and actions. </a:t>
            </a:r>
          </a:p>
          <a:p>
            <a:r>
              <a:rPr lang="en-GB" dirty="0"/>
              <a:t>They perform poorly in complex, dynamic real-world environments where unexpected situations can arise.</a:t>
            </a:r>
          </a:p>
          <a:p>
            <a:r>
              <a:rPr lang="en-GB" dirty="0"/>
              <a:t>We need knowledge-based agents that can represent facts about the world, reason with them, and adapt their actions to new situations.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2B3C-7295-8FF5-2BB2-0000DE7B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Knowledge-based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FFCC6-F924-A1BE-5395-F02D03F70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 knowledge-based agent is an intelligent system that uses a </a:t>
            </a:r>
            <a:r>
              <a:rPr lang="en-GB" b="1" dirty="0"/>
              <a:t>knowledge base </a:t>
            </a:r>
            <a:r>
              <a:rPr lang="en-GB" dirty="0"/>
              <a:t>of facts and rules, together with an </a:t>
            </a:r>
            <a:r>
              <a:rPr lang="en-GB" b="1" dirty="0"/>
              <a:t>inference mechanism</a:t>
            </a:r>
            <a:r>
              <a:rPr lang="en-GB" dirty="0"/>
              <a:t>, to </a:t>
            </a:r>
            <a:r>
              <a:rPr lang="en-GB" b="1" dirty="0"/>
              <a:t>reason</a:t>
            </a:r>
            <a:r>
              <a:rPr lang="en-GB" dirty="0"/>
              <a:t> about the world and decide on appropriate actions.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86F5E-4DA2-80E9-C49F-1228902E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799C2-2588-3062-907A-08CBCA5E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60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0C45-88BC-18D2-2209-FD7B688D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Knowledge-based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6AB68-AEBB-A84B-64F8-598957B4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Imagine a robot delivery agent.</a:t>
            </a:r>
          </a:p>
          <a:p>
            <a:r>
              <a:rPr lang="en-GB" dirty="0"/>
              <a:t>Consider the sentences it knows</a:t>
            </a:r>
          </a:p>
          <a:p>
            <a:pPr lvl="1"/>
            <a:r>
              <a:rPr lang="en-GB" dirty="0"/>
              <a:t>If it rains, the ground will be wet.</a:t>
            </a:r>
          </a:p>
          <a:p>
            <a:pPr lvl="1"/>
            <a:r>
              <a:rPr lang="en-GB" dirty="0"/>
              <a:t>If the garden is wet, avoid the garden path.</a:t>
            </a:r>
          </a:p>
          <a:p>
            <a:pPr lvl="1"/>
            <a:r>
              <a:rPr lang="en-GB" dirty="0"/>
              <a:t>The garden path is the shortest route.</a:t>
            </a:r>
          </a:p>
          <a:p>
            <a:r>
              <a:rPr lang="en-GB" dirty="0"/>
              <a:t>During delivery robot perceives that it is raining.</a:t>
            </a:r>
          </a:p>
          <a:p>
            <a:r>
              <a:rPr lang="en-GB" dirty="0"/>
              <a:t>It will infer that ground will be wet and it should be avoided.</a:t>
            </a:r>
          </a:p>
          <a:p>
            <a:r>
              <a:rPr lang="en-GB" dirty="0"/>
              <a:t>Hence, it will take the longer road around.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69E2F-E9E1-B826-470D-EAC0B4F2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07E90-E0B6-0453-2FD5-1833F776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3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575E-8DB7-30A8-1448-7AAAEBF3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30E01-CB76-1DCF-B198-E1607CD1D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central component of a knowledge-based agent.</a:t>
            </a:r>
          </a:p>
          <a:p>
            <a:r>
              <a:rPr lang="en-GB" dirty="0"/>
              <a:t>A KB is a set of sentences.</a:t>
            </a:r>
          </a:p>
          <a:p>
            <a:pPr lvl="1"/>
            <a:r>
              <a:rPr lang="en-GB" dirty="0"/>
              <a:t>Not traditional English sentence.</a:t>
            </a:r>
          </a:p>
          <a:p>
            <a:pPr lvl="1"/>
            <a:r>
              <a:rPr lang="en-GB" dirty="0"/>
              <a:t>Expressed with knowledge representation language.</a:t>
            </a:r>
          </a:p>
          <a:p>
            <a:r>
              <a:rPr lang="en-GB" dirty="0"/>
              <a:t>An </a:t>
            </a:r>
            <a:r>
              <a:rPr lang="en-GB" b="1" dirty="0"/>
              <a:t>axiom </a:t>
            </a:r>
            <a:r>
              <a:rPr lang="en-GB" dirty="0"/>
              <a:t>is a sentence that is not derived from other sentences.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5A0EB-D015-6683-E970-50126577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1874C-9592-A2B8-7527-521EDF71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88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A7E4-5444-0438-B730-1B157D97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Generic Knowledge-based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97F27-AE41-9975-0D58-C059B1E52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8EF13-9C7B-F1E6-AC56-C8EC544A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B7341-6820-57ED-9384-1101F2A1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36B50-CBBE-D90B-0D3C-C0E431D4A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825625"/>
            <a:ext cx="8777184" cy="41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0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AA63-9AE6-9945-59C3-A8F660F5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87E9-8763-C406-7B39-6E66EF66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Generic Knowledge-based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9E8E-7F3A-AFB8-74C8-365746F8B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Each time the agent is called</a:t>
            </a:r>
          </a:p>
          <a:p>
            <a:r>
              <a:rPr lang="en-GB" dirty="0"/>
              <a:t>It TELLS the knowledge base</a:t>
            </a:r>
            <a:br>
              <a:rPr lang="en-GB" dirty="0"/>
            </a:br>
            <a:r>
              <a:rPr lang="en-GB" dirty="0"/>
              <a:t>what it perceives.</a:t>
            </a:r>
          </a:p>
          <a:p>
            <a:r>
              <a:rPr lang="en-GB" dirty="0"/>
              <a:t>It ASKS the kb what action it</a:t>
            </a:r>
            <a:br>
              <a:rPr lang="en-GB" dirty="0"/>
            </a:br>
            <a:r>
              <a:rPr lang="en-GB" dirty="0"/>
              <a:t>should perform.</a:t>
            </a:r>
          </a:p>
          <a:p>
            <a:r>
              <a:rPr lang="en-GB" dirty="0"/>
              <a:t>It TELLS the kb which action was</a:t>
            </a:r>
            <a:br>
              <a:rPr lang="en-GB" dirty="0"/>
            </a:br>
            <a:r>
              <a:rPr lang="en-GB" dirty="0"/>
              <a:t>chosen and the agent executes the action.</a:t>
            </a:r>
          </a:p>
          <a:p>
            <a:endParaRPr lang="en-GB" dirty="0"/>
          </a:p>
          <a:p>
            <a:r>
              <a:rPr lang="en-GB" dirty="0"/>
              <a:t>Details of the inference system are hidden inside TELL &amp; ASK.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95015-6957-FE1E-5BC5-86E97A93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BA171-BEBD-D081-AB53-E2CB7B6D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A1F18-C440-7E91-3D98-73FF2BAA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756209"/>
            <a:ext cx="5302463" cy="253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6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CB880-729E-28A6-1ABB-7F7DC0FD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2C35-4ACA-8B9E-F6C7-59DA80D17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Let’s see an environment where the knowledge-based agents can show their worth.</a:t>
            </a:r>
          </a:p>
          <a:p>
            <a:r>
              <a:rPr lang="en-GB" dirty="0"/>
              <a:t>The Wumpus world is a cave consisting</a:t>
            </a:r>
            <a:br>
              <a:rPr lang="en-GB" dirty="0"/>
            </a:br>
            <a:r>
              <a:rPr lang="en-GB" dirty="0"/>
              <a:t>of rooms connected by passageways.</a:t>
            </a:r>
          </a:p>
          <a:p>
            <a:r>
              <a:rPr lang="en-GB" dirty="0"/>
              <a:t>A Wumpus lives somewhere in the cave.</a:t>
            </a:r>
          </a:p>
          <a:p>
            <a:pPr lvl="1"/>
            <a:r>
              <a:rPr lang="en-GB" dirty="0"/>
              <a:t>It eats anyone who enter its room.</a:t>
            </a:r>
          </a:p>
          <a:p>
            <a:r>
              <a:rPr lang="en-GB" dirty="0"/>
              <a:t>The agent can kill the beast.</a:t>
            </a:r>
          </a:p>
          <a:p>
            <a:pPr lvl="1"/>
            <a:r>
              <a:rPr lang="en-GB" dirty="0"/>
              <a:t>But it has only one arrow.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8ECC-F366-8E81-5386-73A05ADD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CD450-98C1-B05C-6326-25D2421F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F7D10-C5AB-B004-9883-DD91C1893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2323823"/>
            <a:ext cx="4012006" cy="403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7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ED84C-5677-DDEA-A633-133CD608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0030-6B45-0022-0E24-D5E9625A0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6CAA-FEC0-D9C0-7C9B-11FDBA216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rooms contain bottomless pits.</a:t>
            </a:r>
          </a:p>
          <a:p>
            <a:pPr lvl="1"/>
            <a:r>
              <a:rPr lang="en-GB" dirty="0"/>
              <a:t>Agent dies by falling if it enters the room.</a:t>
            </a:r>
          </a:p>
          <a:p>
            <a:pPr lvl="1"/>
            <a:r>
              <a:rPr lang="en-GB" dirty="0"/>
              <a:t>The Wumpus won’t die though.</a:t>
            </a:r>
          </a:p>
          <a:p>
            <a:r>
              <a:rPr lang="en-GB" dirty="0"/>
              <a:t>The only good thing about this cave is</a:t>
            </a:r>
            <a:br>
              <a:rPr lang="en-GB" dirty="0"/>
            </a:br>
            <a:r>
              <a:rPr lang="en-GB" dirty="0"/>
              <a:t>the treasure hidden inside.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88436-C536-BB05-954D-7083D621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85F0B-1B38-3B72-2CA0-7F2F9A19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9C006-1998-B0C8-C68A-522778245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2323823"/>
            <a:ext cx="4012006" cy="403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3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EFBF9-3DBD-2FD8-5167-12D60FED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A5D1-42A3-3DA8-21C2-0A7BFFAE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F0F4-BE45-0EFB-CC82-254A9190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Let’s define the PEAS now.</a:t>
            </a:r>
          </a:p>
          <a:p>
            <a:r>
              <a:rPr lang="en-GB" dirty="0"/>
              <a:t>Performance Measure</a:t>
            </a:r>
          </a:p>
          <a:p>
            <a:pPr lvl="1"/>
            <a:r>
              <a:rPr lang="en-GB" dirty="0"/>
              <a:t>+1000 for climbing out of the cave with the gold.</a:t>
            </a:r>
          </a:p>
          <a:p>
            <a:pPr lvl="1"/>
            <a:r>
              <a:rPr lang="en-GB" dirty="0"/>
              <a:t>-1000 for dying.</a:t>
            </a:r>
          </a:p>
          <a:p>
            <a:pPr lvl="1"/>
            <a:r>
              <a:rPr lang="en-GB" dirty="0"/>
              <a:t>-1 for each action taken.</a:t>
            </a:r>
          </a:p>
          <a:p>
            <a:pPr lvl="1"/>
            <a:r>
              <a:rPr lang="en-GB" dirty="0"/>
              <a:t>-10 for using up the arrow.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734FB-39A8-94B6-4495-0600F4D5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D63FE-734F-87D5-4E3C-36EA76BA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46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D55C-2479-B812-BA27-53A46F08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432E-496C-5DF6-7926-630CB191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9AE652-D54F-93B3-D4D8-77D639AB3E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Let’s define the PEAS now.</a:t>
                </a:r>
              </a:p>
              <a:p>
                <a:r>
                  <a:rPr lang="en-GB" dirty="0"/>
                  <a:t>Environment</a:t>
                </a:r>
              </a:p>
              <a:p>
                <a:pPr lvl="1"/>
                <a:r>
                  <a:rPr lang="en-GB" dirty="0"/>
                  <a:t>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en-GB" dirty="0"/>
                  <a:t> grid of rooms.</a:t>
                </a:r>
              </a:p>
              <a:p>
                <a:pPr lvl="1"/>
                <a:r>
                  <a:rPr lang="en-GB" dirty="0"/>
                  <a:t>Agent starts from [1,1](1 indexed) facing to the right.</a:t>
                </a:r>
              </a:p>
              <a:p>
                <a:pPr lvl="1"/>
                <a:r>
                  <a:rPr lang="en-GB" dirty="0"/>
                  <a:t>Location of gold and Wumpus are chosen randomly.</a:t>
                </a:r>
              </a:p>
              <a:p>
                <a:pPr lvl="1"/>
                <a:r>
                  <a:rPr lang="en-GB" dirty="0"/>
                  <a:t>Probability of each square to be a pit is 0.2.</a:t>
                </a:r>
              </a:p>
              <a:p>
                <a:pPr lvl="1"/>
                <a:r>
                  <a:rPr lang="en-GB" dirty="0"/>
                  <a:t>The starting square can’t contain Wumpus, pit or gold.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9AE652-D54F-93B3-D4D8-77D639AB3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83FDB-92CE-A6B6-A7EA-75402E08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3E77F-C46F-93FD-C305-D019C627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EF7C-A90C-D053-A8AA-91C8080A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FFB4-1004-AEAE-10BE-69B0FDB6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7D2CF-ACEC-22E9-4ECA-7A9B4B796B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Let’s define the PEAS now.</a:t>
                </a:r>
              </a:p>
              <a:p>
                <a:r>
                  <a:rPr lang="en-GB" dirty="0"/>
                  <a:t>Actuators</a:t>
                </a:r>
              </a:p>
              <a:p>
                <a:pPr lvl="1"/>
                <a:r>
                  <a:rPr lang="en-GB" dirty="0"/>
                  <a:t>Agent can move forward.</a:t>
                </a:r>
              </a:p>
              <a:p>
                <a:pPr lvl="1"/>
                <a:r>
                  <a:rPr lang="en-GB" dirty="0"/>
                  <a:t>Turn left or right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Dies if it enters a square containing a pit or a live Wumpus.</a:t>
                </a:r>
              </a:p>
              <a:p>
                <a:pPr lvl="1"/>
                <a:r>
                  <a:rPr lang="en-GB" dirty="0"/>
                  <a:t>Grab action picks up the gold.</a:t>
                </a:r>
              </a:p>
              <a:p>
                <a:pPr lvl="2"/>
                <a:r>
                  <a:rPr lang="en-GB" dirty="0"/>
                  <a:t>Works if agent in the square containing the gold.</a:t>
                </a:r>
              </a:p>
              <a:p>
                <a:pPr lvl="1"/>
                <a:r>
                  <a:rPr lang="en-GB" dirty="0"/>
                  <a:t>Shoot action shoots the arrow in the direction the agent is facing.</a:t>
                </a:r>
              </a:p>
              <a:p>
                <a:pPr lvl="2"/>
                <a:r>
                  <a:rPr lang="en-GB" dirty="0"/>
                  <a:t>Arrow continues until it either hits the Wumpus or a wall.</a:t>
                </a:r>
              </a:p>
              <a:p>
                <a:pPr lvl="2"/>
                <a:r>
                  <a:rPr lang="en-GB" dirty="0"/>
                  <a:t>Works only once.</a:t>
                </a:r>
              </a:p>
              <a:p>
                <a:pPr lvl="1"/>
                <a:r>
                  <a:rPr lang="en-GB" dirty="0"/>
                  <a:t>Climb can be used to climb out of the cave.</a:t>
                </a:r>
              </a:p>
              <a:p>
                <a:pPr lvl="2"/>
                <a:r>
                  <a:rPr lang="en-GB" dirty="0"/>
                  <a:t>Only works in square [1,1].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7D2CF-ACEC-22E9-4ECA-7A9B4B796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1043" t="-31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A99F5-303C-AACB-B4BD-2DB0CE31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28592-CF23-DD53-F4A3-8D203175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09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6DAB-6855-665D-4F5F-B1AE0CB5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1E86-613C-2EC3-2ADC-0F0A4E14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A8B-5B6C-BC6A-D3B9-E15B6041E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GB" dirty="0"/>
              <a:t>Let’s define the PEAS now.</a:t>
            </a:r>
          </a:p>
          <a:p>
            <a:r>
              <a:rPr lang="en-GB" dirty="0"/>
              <a:t>Sensors</a:t>
            </a:r>
          </a:p>
          <a:p>
            <a:pPr lvl="1"/>
            <a:r>
              <a:rPr lang="en-GB" dirty="0"/>
              <a:t>The agent has 5 sensors.</a:t>
            </a:r>
          </a:p>
          <a:p>
            <a:pPr lvl="1"/>
            <a:r>
              <a:rPr lang="en-GB" dirty="0"/>
              <a:t>The square containing the Wumpus and in the directly adjacent(not diagonally) squares, the agent will perceive a Stench.</a:t>
            </a:r>
          </a:p>
          <a:p>
            <a:pPr lvl="1"/>
            <a:r>
              <a:rPr lang="en-GB" dirty="0"/>
              <a:t>In the square directly adjacent to a pit, the agent will perceive a Breeze.</a:t>
            </a:r>
          </a:p>
          <a:p>
            <a:pPr lvl="1"/>
            <a:r>
              <a:rPr lang="en-GB" dirty="0"/>
              <a:t>In the square where the gold is, the agent will perceive a Glitter.</a:t>
            </a:r>
          </a:p>
          <a:p>
            <a:pPr lvl="1"/>
            <a:r>
              <a:rPr lang="en-GB" dirty="0"/>
              <a:t>When an agent bumps into a wall, it will perceive a Bump.</a:t>
            </a:r>
          </a:p>
          <a:p>
            <a:pPr lvl="1"/>
            <a:r>
              <a:rPr lang="en-GB" dirty="0"/>
              <a:t>When the Wumpus is killed, it emits a woeful Scream that can be perceived from anywhere in the cave.</a:t>
            </a:r>
          </a:p>
          <a:p>
            <a:r>
              <a:rPr lang="en-GB" dirty="0"/>
              <a:t>The </a:t>
            </a:r>
            <a:r>
              <a:rPr lang="en-GB" dirty="0" err="1"/>
              <a:t>Percepts</a:t>
            </a:r>
            <a:r>
              <a:rPr lang="en-GB" dirty="0"/>
              <a:t> will be given in the form of a list of five symbols.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96A17-6C36-62F8-C4C3-65F6C2F8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B784B-1E2D-4CD4-528A-779E9BAA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61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9AEF-0477-1272-16CA-FFAF7C32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2180-39FE-22C0-8BD0-8CF278371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let’s see how a knowledge-based agent can work in this world.</a:t>
            </a:r>
          </a:p>
          <a:p>
            <a:r>
              <a:rPr lang="en-GB" dirty="0"/>
              <a:t>We will use an informal knowledge representation.</a:t>
            </a:r>
          </a:p>
          <a:p>
            <a:pPr lvl="1"/>
            <a:r>
              <a:rPr lang="en-GB" dirty="0"/>
              <a:t>Writing down symbols in a grid.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E1E83-C1C3-AF76-60CD-ACA9BE797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8A4B6-7518-EF21-4D92-2B6D6C06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503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0CF6-3E67-13A0-ED16-47B25F43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CFD6-1D65-8383-5F91-82B615A1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314ABB-C856-22B9-A9D2-74BEE6B8F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8278" y="1825625"/>
            <a:ext cx="755544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111FD-E694-2842-8EC3-52EFE806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771B2-9C1C-12BE-AAB7-80BD3FE6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6F323-6931-F7FD-D4D3-FECD84739FEE}"/>
              </a:ext>
            </a:extLst>
          </p:cNvPr>
          <p:cNvSpPr/>
          <p:nvPr/>
        </p:nvSpPr>
        <p:spPr>
          <a:xfrm>
            <a:off x="6748271" y="1906650"/>
            <a:ext cx="3061442" cy="3296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40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A039-A81A-E737-4708-7A417A31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80F3-48BC-7F81-601E-D6433FD0F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Wumpus World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F6556-C1B2-9470-7F3D-44CBB08B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0D049B-C636-50C6-1156-EA396AED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27A093-A378-52E5-CCDA-1FBD1875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702" y="1889621"/>
            <a:ext cx="9314115" cy="37762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1740043-7B47-4E20-CF88-460EB20DD6AD}"/>
              </a:ext>
            </a:extLst>
          </p:cNvPr>
          <p:cNvSpPr/>
          <p:nvPr/>
        </p:nvSpPr>
        <p:spPr>
          <a:xfrm>
            <a:off x="6920757" y="1889621"/>
            <a:ext cx="3760059" cy="377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51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2BCE-1643-5B5C-DA66-E3971C8B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EAF727-BEC5-D432-A000-837505618F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will use the term “Model” in place of possible world.</a:t>
                </a:r>
              </a:p>
              <a:p>
                <a:r>
                  <a:rPr lang="en-GB" dirty="0"/>
                  <a:t>Consider x men and y women are sitting on a table.</a:t>
                </a:r>
              </a:p>
              <a:p>
                <a:r>
                  <a:rPr lang="en-GB" dirty="0"/>
                  <a:t>The sentence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 is true when there are four people.</a:t>
                </a:r>
              </a:p>
              <a:p>
                <a:r>
                  <a:rPr lang="en-GB" dirty="0"/>
                  <a:t>Possible models are all possible assignments to x and y.</a:t>
                </a:r>
              </a:p>
              <a:p>
                <a:r>
                  <a:rPr lang="en-GB" dirty="0"/>
                  <a:t>If a sentence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is true in model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, we say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satisfies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or sometimes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is a model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EAF727-BEC5-D432-A000-837505618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B0DDC-732F-306A-F121-E0F4F909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B78A2-A872-DBBC-6A41-9AFEDCC5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49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B02B-01B2-96A2-8336-E65212C5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Entailment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E9451F-57B8-380F-D719-06B121866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to mean that the sentence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entails the sentence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In every model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is true,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is also true.</a:t>
                </a:r>
              </a:p>
              <a:p>
                <a:r>
                  <a:rPr lang="en-GB" dirty="0"/>
                  <a:t>We can say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𝑖𝑓𝑓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E9451F-57B8-380F-D719-06B121866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A2756-E4BB-F0C8-3078-367D2606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C4573-6445-2ECA-EC21-56B17FF4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04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CD56E-CDED-8108-1A60-6BE85E96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29FD-CA3F-2FB3-E29A-96F74FAB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Entailment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CADC8-460E-35E5-8BA8-D6D3F61E6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Remember the Wumpus World?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2DE5A-A4DB-69BB-B9B7-B0049DB3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869CC-F57F-CA0D-C260-D9C1FB65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353E1-2DA9-BB61-8DA2-245206BB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59" y="2403485"/>
            <a:ext cx="3558777" cy="355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16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D3EE2-1A16-6532-3B41-5D9B7BC7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0211"/>
          </a:xfrm>
        </p:spPr>
        <p:txBody>
          <a:bodyPr/>
          <a:lstStyle/>
          <a:p>
            <a:r>
              <a:rPr lang="en-GB" dirty="0"/>
              <a:t>Entailment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2C2868-F342-3072-59A5-742B739F7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39" y="1690688"/>
            <a:ext cx="8411961" cy="48958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52DBA-4EC2-964E-D701-28C7601B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C1425-9598-A4DE-B4CA-C580E9A6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70DCCE-C9A1-E655-F413-B033E4621CB6}"/>
                  </a:ext>
                </a:extLst>
              </p:cNvPr>
              <p:cNvSpPr txBox="1"/>
              <p:nvPr/>
            </p:nvSpPr>
            <p:spPr>
              <a:xfrm>
                <a:off x="9043416" y="2359152"/>
                <a:ext cx="20777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dirty="0"/>
                  <a:t>No pit in [1,2]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dirty="0"/>
                  <a:t>No pit in [2,2]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70DCCE-C9A1-E655-F413-B033E462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416" y="2359152"/>
                <a:ext cx="2077748" cy="646331"/>
              </a:xfrm>
              <a:prstGeom prst="rect">
                <a:avLst/>
              </a:prstGeom>
              <a:blipFill>
                <a:blip r:embed="rId3"/>
                <a:stretch>
                  <a:fillRect t="-4717" r="-2353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673AC7-A825-53C2-0BC5-BD6D602B70CE}"/>
                  </a:ext>
                </a:extLst>
              </p:cNvPr>
              <p:cNvSpPr txBox="1"/>
              <p:nvPr/>
            </p:nvSpPr>
            <p:spPr>
              <a:xfrm>
                <a:off x="9134856" y="3377187"/>
                <a:ext cx="23492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⊭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673AC7-A825-53C2-0BC5-BD6D602B7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856" y="3377187"/>
                <a:ext cx="2349297" cy="646331"/>
              </a:xfrm>
              <a:prstGeom prst="rect">
                <a:avLst/>
              </a:prstGeom>
              <a:blipFill>
                <a:blip r:embed="rId4"/>
                <a:stretch>
                  <a:fillRect t="-5660" r="-3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67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8469-42B8-90AA-FF43-1B61EE8AD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Propositional Logic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6C9F57-3B33-3460-3B0E-13571890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B1D55-9F55-4047-4F17-CD0BB53DA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8C517-A5E6-B6E1-79C9-2147F8E4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998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9CF0-1BFE-182F-726A-A33560C3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202DA-653A-E8DB-7D25-3E18E4345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Syntax defines the allowable sentences.</a:t>
                </a:r>
              </a:p>
              <a:p>
                <a:r>
                  <a:rPr lang="en-GB" dirty="0"/>
                  <a:t>Atomic sentence consists of a single proposition symbol.</a:t>
                </a:r>
              </a:p>
              <a:p>
                <a:r>
                  <a:rPr lang="en-GB" dirty="0"/>
                  <a:t>Each such symbol stands for a proposition that can be true or false. </a:t>
                </a:r>
              </a:p>
              <a:p>
                <a:r>
                  <a:rPr lang="en-GB" dirty="0"/>
                  <a:t>Symbols can be uppercase letter and may contain other letters or subscripts, for example: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𝑁𝑜𝑟𝑡h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202DA-653A-E8DB-7D25-3E18E4345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C0F20-7DC3-3765-31C2-155AF5394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8C2BE-7F50-6913-D1EE-9FDA7958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31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C52D-7F93-651D-1EED-FFBE07F3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1AE57-5746-C167-9FA8-0464B5299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two proposition symbols with fixed meanings: </a:t>
            </a:r>
          </a:p>
          <a:p>
            <a:pPr lvl="1"/>
            <a:r>
              <a:rPr lang="en-GB" dirty="0"/>
              <a:t>True is the always-true proposition and </a:t>
            </a:r>
          </a:p>
          <a:p>
            <a:pPr lvl="1"/>
            <a:r>
              <a:rPr lang="en-GB" dirty="0"/>
              <a:t>False is the always-false proposition.</a:t>
            </a:r>
          </a:p>
          <a:p>
            <a:r>
              <a:rPr lang="en-GB" dirty="0"/>
              <a:t>Complex sentences are constructed from simpler sentences, using </a:t>
            </a:r>
            <a:r>
              <a:rPr lang="en-GB" b="1" dirty="0"/>
              <a:t>parentheses</a:t>
            </a:r>
            <a:r>
              <a:rPr lang="en-GB" dirty="0"/>
              <a:t> and </a:t>
            </a:r>
            <a:r>
              <a:rPr lang="en-GB" b="1" dirty="0"/>
              <a:t>logical connectives</a:t>
            </a:r>
            <a:r>
              <a:rPr lang="en-GB" dirty="0"/>
              <a:t>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D2CE1-8650-89E7-609D-C537017B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AEE55-B12C-6F06-3ADB-0C80056A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96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129F-6597-0B07-2290-0E0F36DC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7DA3-01B8-8190-B8AA-69998FE15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GB" dirty="0"/>
                  <a:t>(not)</a:t>
                </a:r>
              </a:p>
              <a:p>
                <a:pPr marL="971550" lvl="1" indent="-514350">
                  <a:buAutoNum type="arabicPeriod"/>
                </a:pPr>
                <a:r>
                  <a:rPr lang="en-GB" dirty="0"/>
                  <a:t>A literal is either an atomic sentence or a negated atomic sentence.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GB" dirty="0"/>
                  <a:t> (and)</a:t>
                </a:r>
              </a:p>
              <a:p>
                <a:pPr marL="971550" lvl="1" indent="-514350">
                  <a:buAutoNum type="arabicPeriod"/>
                </a:pPr>
                <a:r>
                  <a:rPr lang="en-GB" dirty="0"/>
                  <a:t>A sentence whose main connectives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GB" dirty="0"/>
                  <a:t> is called a conjunction; its parts are the conjuncts.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</m:oMath>
                </a14:m>
                <a:r>
                  <a:rPr lang="en-GB" dirty="0"/>
                  <a:t> (or)</a:t>
                </a:r>
              </a:p>
              <a:p>
                <a:pPr marL="971550" lvl="1" indent="-514350">
                  <a:buAutoNum type="arabicPeriod"/>
                </a:pPr>
                <a:r>
                  <a:rPr lang="en-GB" dirty="0"/>
                  <a:t>A sentence whose main connectives is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</m:oMath>
                </a14:m>
                <a:r>
                  <a:rPr lang="en-GB" dirty="0"/>
                  <a:t> is called a disjunction; its parts are the disjuncts.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7DA3-01B8-8190-B8AA-69998FE15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2C31D-7B3B-AC36-D56F-9678FAE1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0607C-1A70-445E-885F-0F06C3D8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20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E001-9D44-5ABF-718C-1367E358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79EB8-59D2-55BB-A494-F1CEF8B79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(implies)</a:t>
                </a:r>
              </a:p>
              <a:p>
                <a:pPr marL="971550" lvl="1" indent="-514350">
                  <a:buAutoNum type="arabicPeriod"/>
                </a:pPr>
                <a:r>
                  <a:rPr lang="en-GB" dirty="0"/>
                  <a:t>A sentence such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3,1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 ⇒¬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called an implication (or conditional). Its </a:t>
                </a:r>
                <a:r>
                  <a:rPr lang="en-GB" b="1" dirty="0"/>
                  <a:t>premise</a:t>
                </a:r>
                <a:r>
                  <a:rPr lang="en-GB" dirty="0"/>
                  <a:t> or </a:t>
                </a:r>
                <a:r>
                  <a:rPr lang="en-GB" b="1" dirty="0"/>
                  <a:t>antecedent</a:t>
                </a:r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3,1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, and its conclusion or consequent is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. Implications are also known as </a:t>
                </a:r>
                <a:r>
                  <a:rPr lang="en-GB" b="1" dirty="0"/>
                  <a:t>rules</a:t>
                </a:r>
                <a:r>
                  <a:rPr lang="en-GB" dirty="0"/>
                  <a:t> or </a:t>
                </a:r>
                <a:r>
                  <a:rPr lang="en-GB" b="1" dirty="0"/>
                  <a:t>if–then </a:t>
                </a:r>
                <a:r>
                  <a:rPr lang="en-GB" dirty="0"/>
                  <a:t>statements.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GB" dirty="0"/>
                  <a:t> (if and only if)</a:t>
                </a:r>
              </a:p>
              <a:p>
                <a:pPr marL="971550" lvl="1" indent="-514350">
                  <a:buAutoNum type="arabicPeriod"/>
                </a:pPr>
                <a:r>
                  <a:rPr lang="en-GB" dirty="0"/>
                  <a:t>The sentence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⇔¬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 biconditional.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79EB8-59D2-55BB-A494-F1CEF8B79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73F48-6CCB-0210-1BF3-5449EA7C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91EF9-60E5-2760-9FFC-4C8DFE5C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98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AC6D-079B-17FA-F34F-16D9CAAD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Grammar of Sentences in Propositional Logic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EDDA37-3A0B-5E73-62ED-FA5F0F9B9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864" y="1865376"/>
            <a:ext cx="9768875" cy="42838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CFA85-987F-38C2-D71B-7ADB1A37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C4422-6D50-B80E-8941-F1E6440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137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E186-FD8D-286C-C117-73627F9C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F2149-62D3-97C0-8A49-FF24301B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Semantics defines the rules for determining the truth of a sentence with respect to a particular model.</a:t>
            </a:r>
          </a:p>
          <a:p>
            <a:r>
              <a:rPr lang="en-GB" dirty="0"/>
              <a:t>Must specify how to compute the truth value of any sentence, given a model.</a:t>
            </a:r>
          </a:p>
          <a:p>
            <a:pPr lvl="1"/>
            <a:r>
              <a:rPr lang="en-GB" dirty="0"/>
              <a:t>Done recursively.</a:t>
            </a:r>
          </a:p>
          <a:p>
            <a:endParaRPr lang="en-GB" dirty="0"/>
          </a:p>
          <a:p>
            <a:r>
              <a:rPr lang="en-GB" dirty="0"/>
              <a:t>We need to specify how to compute the truth of atomic sentences and how to compute the truth of sentences formed with each of the five connectives.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C79D9-AC3C-0B1B-AF91-41663897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0EA3-DB8B-AEC7-BBE5-7F504FFB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3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23C6-FC80-6C51-A6B9-FA8907DA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8E980-02D4-7A03-E6E5-682E3571E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Atomic sentences are easy: </a:t>
            </a:r>
          </a:p>
          <a:p>
            <a:pPr lvl="1"/>
            <a:r>
              <a:rPr lang="en-GB" dirty="0"/>
              <a:t>True is true in every model and False is false in every model. </a:t>
            </a:r>
          </a:p>
          <a:p>
            <a:pPr lvl="1"/>
            <a:r>
              <a:rPr lang="en-GB" dirty="0"/>
              <a:t> The truth value of every other proposition symbol must be specified directly in the model.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E9734-52FF-51AC-9AC4-A9E246FA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0D5E6-B4AD-B4FC-B4C4-504ED522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65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145FE-BDC0-B3E2-531D-0AA628C9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84ABD-0924-6CA8-7167-38205DA2E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For complex sentences, we have five rules, which hold for any subsentences P and Q in any model m :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is true </a:t>
                </a:r>
                <a:r>
                  <a:rPr lang="en-GB" dirty="0" err="1"/>
                  <a:t>iff</a:t>
                </a:r>
                <a:r>
                  <a:rPr lang="en-GB" dirty="0"/>
                  <a:t> P is false in m. 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true </a:t>
                </a:r>
                <a:r>
                  <a:rPr lang="en-GB" dirty="0" err="1"/>
                  <a:t>iff</a:t>
                </a:r>
                <a:r>
                  <a:rPr lang="en-GB" dirty="0"/>
                  <a:t> both P and Q are true in m. 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true </a:t>
                </a:r>
                <a:r>
                  <a:rPr lang="en-GB" dirty="0" err="1"/>
                  <a:t>iff</a:t>
                </a:r>
                <a:r>
                  <a:rPr lang="en-GB" dirty="0"/>
                  <a:t> either P or Q is true in m.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⇒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true unless P is true and Q is false in m.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⇔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true </a:t>
                </a:r>
                <a:r>
                  <a:rPr lang="en-GB" dirty="0" err="1"/>
                  <a:t>iff</a:t>
                </a:r>
                <a:r>
                  <a:rPr lang="en-GB" dirty="0"/>
                  <a:t> P and Q are both true or both false in 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84ABD-0924-6CA8-7167-38205DA2E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876C7-8A9A-517B-920C-1C717EBD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2F8EA-6602-3F9B-5514-94EC268C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07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7691-7294-187D-BD96-45FE8041F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F0F7F-B379-2342-820A-F2D1C60FE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rules can also be expressed with truth tables.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0D2B3-9A47-1008-A613-73CB2084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6B0C9-BE74-CFCD-D253-948B0E00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7D0E0-4126-5686-940A-3F0048B90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19" y="2510856"/>
            <a:ext cx="11016162" cy="215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71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05FC-4C54-EE2A-31C8-E47809C7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Knowledge 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D4D9EF-2DAF-662E-5196-9F6CA6ABD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For now, we need the following symbols for each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dirty="0"/>
                  <a:t> location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 is true if there is a pit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dirty="0"/>
                  <a:t>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 is true if there is a </a:t>
                </a:r>
                <a:r>
                  <a:rPr lang="en-GB" dirty="0" err="1"/>
                  <a:t>wumpus</a:t>
                </a:r>
                <a:r>
                  <a:rPr lang="en-GB" dirty="0"/>
                  <a:t>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dirty="0"/>
                  <a:t>, dead or alive.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 is true if the agent perceives a breeze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dirty="0"/>
                  <a:t>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 is true if the agent perceives a stench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D4D9EF-2DAF-662E-5196-9F6CA6ABD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ED8D-DC12-82D1-B22E-52E27E35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80CCC-EF3F-F97D-DAB9-830A737A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43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5E3F-5DD3-2673-D145-FE70D90F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Knowledge 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E7606D-654A-7613-9DE7-87B9F21CB8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There is no pit in [1,1]: </a:t>
                </a: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A square is breezy if and only if there is a pit in a </a:t>
                </a:r>
                <a:r>
                  <a:rPr lang="en-GB" dirty="0" err="1"/>
                  <a:t>neighboring</a:t>
                </a:r>
                <a:r>
                  <a:rPr lang="en-GB" dirty="0"/>
                  <a:t> square.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⋁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e>
                    </m:d>
                  </m:oMath>
                </a14:m>
                <a:br>
                  <a:rPr lang="en-GB" b="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⋁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⋁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The preceding sentences are true in all </a:t>
                </a:r>
                <a:r>
                  <a:rPr lang="en-GB" dirty="0" err="1"/>
                  <a:t>wumpus</a:t>
                </a:r>
                <a:r>
                  <a:rPr lang="en-GB" dirty="0"/>
                  <a:t> worlds. </a:t>
                </a:r>
              </a:p>
              <a:p>
                <a:r>
                  <a:rPr lang="en-GB" dirty="0"/>
                  <a:t>Including the </a:t>
                </a:r>
                <a:r>
                  <a:rPr lang="en-GB" dirty="0" err="1"/>
                  <a:t>percepts</a:t>
                </a:r>
                <a:r>
                  <a:rPr lang="en-GB" dirty="0"/>
                  <a:t> for the first two squares visited we get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E7606D-654A-7613-9DE7-87B9F21CB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3B1EB-92FE-E825-0477-D5EF3BE0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9FA78-D72D-ED3E-965B-9934372D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25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9A29-C02D-0270-945F-764985B1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Inference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743EE-B524-7804-71BC-E6295B6698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Our goal now is to decide whether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some sentence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GB" dirty="0"/>
                  <a:t> entailed by our KB?</a:t>
                </a:r>
              </a:p>
              <a:p>
                <a:r>
                  <a:rPr lang="en-GB" dirty="0"/>
                  <a:t>Model-checking approach</a:t>
                </a:r>
              </a:p>
              <a:p>
                <a:pPr lvl="1"/>
                <a:r>
                  <a:rPr lang="en-GB" dirty="0"/>
                  <a:t>Direct implementation of the definition of entailment: </a:t>
                </a:r>
              </a:p>
              <a:p>
                <a:pPr lvl="1"/>
                <a:r>
                  <a:rPr lang="en-GB" dirty="0"/>
                  <a:t>Enumerate the models, and check that α is true in every model in which KB is true.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743EE-B524-7804-71BC-E6295B669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B7F86-1681-59CD-B0E0-04DBDB61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883F0-3C7D-60FD-6B91-C85A5946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757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C083D-F530-1F0E-6D18-77258499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Inference Procedure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0608C5-3CFF-5EB6-994F-2E5687B9C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37279"/>
            <a:ext cx="9097645" cy="39724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071DF-FA94-81A0-C0AC-0E8B9730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5A26E-CF51-1946-FBB6-2F95C668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B3AD0-EAAA-A495-16E1-4456E62C6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645" y="2463831"/>
            <a:ext cx="3103500" cy="311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13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9251-A301-F5C0-E3FE-1585E940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Inference Procedure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754DFB-57DB-A896-BA3E-1B52D71A6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938" y="1847850"/>
            <a:ext cx="799412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090A6-BC01-D80A-E4E4-5550F88E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BAA0F-9AB1-7558-9787-C955F72E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198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8B549-C222-736F-4EF5-A14186A8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Propositional Theorem Proving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8A1FF-D0C4-A854-B06F-4C12DC9DBE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Logical equivalence:</a:t>
                </a:r>
              </a:p>
              <a:p>
                <a:pPr lvl="1"/>
                <a:r>
                  <a:rPr lang="en-GB" dirty="0"/>
                  <a:t>two sentences α and β are logically equivalent if they are true in the same set of models. </a:t>
                </a:r>
              </a:p>
              <a:p>
                <a:pPr lvl="1"/>
                <a:r>
                  <a:rPr lang="en-GB" dirty="0"/>
                  <a:t>We write this as α ≡ β. </a:t>
                </a:r>
              </a:p>
              <a:p>
                <a:r>
                  <a:rPr lang="en-GB" dirty="0"/>
                  <a:t>Any two sentences α and β are equivalent only if each of them entails the other: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if and only 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8A1FF-D0C4-A854-B06F-4C12DC9DBE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09F2D-8996-6893-6E2F-332B45BF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D056F-8E4A-A2B1-B1BA-AD6E396B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3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7E71-2CA2-357C-859D-42005025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Equivalence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18205D-244D-2096-DFF0-0E5B1E5B4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072" y="2038870"/>
            <a:ext cx="9173855" cy="392484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43D6A-150E-9B69-D335-5C3F5B3E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9A7F4-6A6D-9BB6-9315-45096ECB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038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CF83-3DCF-C6D9-E9E5-B7E65B7DE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Propositional Theorem Proving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B66E4-9A4D-5F65-5553-F0B82DE98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Validity:</a:t>
                </a:r>
              </a:p>
              <a:p>
                <a:pPr lvl="1"/>
                <a:r>
                  <a:rPr lang="en-GB" dirty="0"/>
                  <a:t> A sentence is valid if it is true in all models.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∨¬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is valid. </a:t>
                </a:r>
              </a:p>
              <a:p>
                <a:pPr lvl="1"/>
                <a:r>
                  <a:rPr lang="en-GB" dirty="0"/>
                  <a:t>Also known as </a:t>
                </a:r>
                <a:r>
                  <a:rPr lang="en-GB" b="1" dirty="0"/>
                  <a:t>tautologies</a:t>
                </a:r>
                <a:r>
                  <a:rPr lang="en-GB" dirty="0"/>
                  <a:t>—they are necessarily true. </a:t>
                </a:r>
              </a:p>
              <a:p>
                <a:pPr lvl="1"/>
                <a:r>
                  <a:rPr lang="en-GB" dirty="0"/>
                  <a:t>Because the sentence True is true in all models, every valid sentence is logically equivalent to True. </a:t>
                </a:r>
              </a:p>
              <a:p>
                <a:endParaRPr lang="en-GB" dirty="0"/>
              </a:p>
              <a:p>
                <a:r>
                  <a:rPr lang="en-GB" dirty="0"/>
                  <a:t>For any sentences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if and only if the sentence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⇒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valid. (Deduction Theorem)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B66E4-9A4D-5F65-5553-F0B82DE98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B6751-2C55-FD6A-F2D2-3A191DAF1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F5DD0-9D75-1780-4C18-584AB9AB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12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8DBF-E378-C801-ADC8-1B263A53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Propositional Theorem Proving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C0AAD-610E-905F-760A-7BF560D418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b="1" dirty="0"/>
                  <a:t>Satisfiability</a:t>
                </a:r>
              </a:p>
              <a:p>
                <a:r>
                  <a:rPr lang="en-GB" dirty="0"/>
                  <a:t>A sentence is satisfiable if it is true in, or satisfied by, some model. </a:t>
                </a:r>
              </a:p>
              <a:p>
                <a:r>
                  <a:rPr lang="en-GB" dirty="0"/>
                  <a:t>The knowledge base given earlier,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∧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∧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∧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∧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is satisfiable because there are three models in which it is true,</a:t>
                </a:r>
              </a:p>
              <a:p>
                <a:endParaRPr lang="en-GB" dirty="0"/>
              </a:p>
              <a:p>
                <a:r>
                  <a:rPr lang="en-GB" dirty="0"/>
                  <a:t>Satisfiability can be checked by enumerating the possible models until one is found that satisfies the sentence.</a:t>
                </a:r>
              </a:p>
              <a:p>
                <a:r>
                  <a:rPr lang="en-GB" dirty="0"/>
                  <a:t>First problem proved to be NP-complete.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C0AAD-610E-905F-760A-7BF560D418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1B238-7F61-4EBA-AE18-0F2BC90A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7841D-2A30-52AC-8D69-B3DF6FE7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45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D9E5-E12E-EA2D-4870-7A37EA96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Propositional Theorem 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C1C45-D067-9540-4C50-C887BE7D7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Validity and satisfiability are of course connected: </a:t>
            </a:r>
          </a:p>
          <a:p>
            <a:pPr lvl="1"/>
            <a:r>
              <a:rPr lang="en-GB" dirty="0"/>
              <a:t>α is valid </a:t>
            </a:r>
            <a:r>
              <a:rPr lang="en-GB" dirty="0" err="1"/>
              <a:t>iff</a:t>
            </a:r>
            <a:r>
              <a:rPr lang="en-GB" dirty="0"/>
              <a:t> ¬α is unsatisfiable; </a:t>
            </a:r>
            <a:r>
              <a:rPr lang="en-GB" dirty="0" err="1"/>
              <a:t>contrapositively</a:t>
            </a:r>
            <a:r>
              <a:rPr lang="en-GB" dirty="0"/>
              <a:t>, α is satisfiable </a:t>
            </a:r>
            <a:r>
              <a:rPr lang="en-GB" dirty="0" err="1"/>
              <a:t>iff</a:t>
            </a:r>
            <a:r>
              <a:rPr lang="en-GB" dirty="0"/>
              <a:t> ¬α is not valid. </a:t>
            </a:r>
          </a:p>
          <a:p>
            <a:r>
              <a:rPr lang="en-GB" dirty="0"/>
              <a:t>We also have the following useful result: </a:t>
            </a:r>
            <a:br>
              <a:rPr lang="en-GB" dirty="0"/>
            </a:br>
            <a:r>
              <a:rPr lang="en-GB" dirty="0"/>
              <a:t>α |= β if and only if the sentence (α ∧¬β) is unsatisfiable.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4FFCF-FC9E-B044-CABF-AA223158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7168F-9E67-94A5-C1D1-227D53C4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45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EB04-C7B8-4D21-BF91-ECFADF6E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412365-C042-558F-06B9-BE10144C9E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Modus Ponens (mode that affirms)</a:t>
                </a:r>
                <a:br>
                  <a:rPr lang="en-GB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   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Whenever any sentences of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are given, then the sentence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can be inferred.</a:t>
                </a:r>
              </a:p>
              <a:p>
                <a:pPr lvl="1"/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𝑊𝑢𝑚𝑝𝑢𝑠𝐴h𝑒𝑎𝑑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𝑊𝑢𝑚𝑝𝑢𝑠𝐴𝑙𝑖𝑣𝑒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 ⇒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𝑆h𝑜𝑜𝑡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𝑊𝑢𝑚𝑝𝑢𝑠𝐴h𝑒𝑎𝑑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𝑊𝑢𝑚𝑝𝑢𝑠𝐴𝑙𝑖𝑣𝑒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are given, then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𝑆h𝑜𝑜𝑡</m:t>
                    </m:r>
                  </m:oMath>
                </a14:m>
                <a:r>
                  <a:rPr lang="en-GB" dirty="0"/>
                  <a:t> can be inferred.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412365-C042-558F-06B9-BE10144C9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25B54-1579-122E-2CCB-D94D0D36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57D74-79A8-3278-2905-78101ADF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DBE5-7D09-21B7-196B-1BABFE68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8839B-9C30-AE49-7691-065FEECA5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And-Elimination</a:t>
                </a:r>
                <a:br>
                  <a:rPr lang="en-GB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⋀"/>
                            <m:subHide m:val="on"/>
                            <m:sup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From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𝑊𝑢𝑚𝑝𝑢𝑠𝐴h𝑒𝑎𝑑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∧ 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𝑊𝑢𝑚𝑝𝑢𝑠𝐴𝑙𝑖𝑣𝑒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𝑊𝑢𝑚𝑝𝑢𝑠𝐴𝑙𝑖𝑣𝑒</m:t>
                    </m:r>
                  </m:oMath>
                </a14:m>
                <a:r>
                  <a:rPr lang="en-GB" dirty="0"/>
                  <a:t> can be inferred.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8839B-9C30-AE49-7691-065FEECA5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9A9E7-A6F4-573E-56D8-B4DF3B51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7141A-AC90-E8CB-0F2A-2C999D70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47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B187-E690-1E92-3371-65E1BDFB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Rules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7D461-E236-0C36-5119-FC5165F9E6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All the logical equivalence rules can be used as inference rules.</a:t>
                </a:r>
                <a:br>
                  <a:rPr lang="en-GB" dirty="0"/>
                </a:br>
                <a:br>
                  <a:rPr lang="en-GB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⇔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nary>
                          <m:naryPr>
                            <m:chr m:val="⋀"/>
                            <m:subHide m:val="on"/>
                            <m:sup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𝑎𝑛𝑑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nary>
                          <m:naryPr>
                            <m:chr m:val="⋀"/>
                            <m:subHide m:val="on"/>
                            <m:sup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⇔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7D461-E236-0C36-5119-FC5165F9E6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05E1-678B-202C-7F64-ABE65959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BCD9A-B967-9D4A-2E31-3080302E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0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6EB12-70E2-140E-CB31-792E0BBF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Rules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6D85D7-ED7E-B073-3496-73DD89456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Let us see how these inference rules and equivalences can be used in the </a:t>
                </a:r>
                <a:r>
                  <a:rPr lang="en-GB" dirty="0" err="1"/>
                  <a:t>wumpus</a:t>
                </a:r>
                <a:r>
                  <a:rPr lang="en-GB" dirty="0"/>
                  <a:t> world.</a:t>
                </a:r>
              </a:p>
              <a:p>
                <a:r>
                  <a:rPr lang="en-GB" dirty="0"/>
                  <a:t>Apply biconditional elimination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6: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∨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2,1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 ∧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∨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2,1</m:t>
                                </m:r>
                              </m:sub>
                            </m:sSub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Apply and elimination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∨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2,1</m:t>
                                </m:r>
                              </m:sub>
                            </m:sSub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Logical equivalence for contrapositive gives: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⇒¬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∨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2,1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6D85D7-ED7E-B073-3496-73DD89456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05A42-A292-484C-C6CA-9FCE31F2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676D-2279-1350-4DD4-1C0DF80F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57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9C0D-38CD-25B7-F928-561890E7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Rules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6D9AB7-E6C3-79F0-584E-5262D4ABE2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Apply Modus Ponens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GB" dirty="0"/>
                  <a:t> and the percept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:¬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Finally, we apply De Morgan’s rule, giving the conclusion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∨¬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6D9AB7-E6C3-79F0-584E-5262D4ABE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1FD2F-FFEF-562A-3B1F-080CB63D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5A410-0DD4-10B1-0729-45EE3A9B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05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219A-C367-F174-3BB4-FF48A000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06AE6-1190-56A1-CA8C-E49D556B1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apply search algorithms to find a sequence of steps that constitutes a proof.</a:t>
            </a:r>
          </a:p>
          <a:p>
            <a:pPr lvl="1"/>
            <a:r>
              <a:rPr lang="en-GB" dirty="0"/>
              <a:t>INITIAL STATE: the initial knowledge base. </a:t>
            </a:r>
          </a:p>
          <a:p>
            <a:pPr lvl="1"/>
            <a:r>
              <a:rPr lang="en-GB" dirty="0"/>
              <a:t>ACTIONS: the set of actions consists of all the inference rules applied to all the sentences that match the top half of the inference rule.</a:t>
            </a:r>
          </a:p>
          <a:p>
            <a:pPr lvl="1"/>
            <a:r>
              <a:rPr lang="en-GB" dirty="0"/>
              <a:t>RESULT: the result of an action is to add the sentence in the bottom half of the inference rule. </a:t>
            </a:r>
          </a:p>
          <a:p>
            <a:pPr lvl="1"/>
            <a:r>
              <a:rPr lang="en-GB" dirty="0"/>
              <a:t>GOAL: the goal is a state that contains the sentence we are trying to prove.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6F031-BAC9-0A04-E265-708D4A8D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35B5A-F1B6-EE86-2D75-EAF93042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97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4B27A-7D88-D3D9-6C80-EA51DCD7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6DCD2-D6F3-C664-28AF-A41CC98B8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Monotonicity</a:t>
            </a:r>
          </a:p>
          <a:p>
            <a:pPr lvl="1"/>
            <a:r>
              <a:rPr lang="en-GB" dirty="0"/>
              <a:t>The set of entailed sentences </a:t>
            </a:r>
            <a:r>
              <a:rPr lang="en-GB" b="1" dirty="0"/>
              <a:t>can only increase </a:t>
            </a:r>
            <a:r>
              <a:rPr lang="en-GB" dirty="0"/>
              <a:t>as information is added to the knowledge base.</a:t>
            </a:r>
          </a:p>
          <a:p>
            <a:pPr lvl="1"/>
            <a:r>
              <a:rPr lang="en-GB" dirty="0"/>
              <a:t>For any sentences α and β, if KB |= α then KB ∧β |=α.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1D515-AB46-8B88-9804-921CC647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96409-8D48-52D0-B645-17070A8A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80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FDBF-770D-E4AC-5532-21EA1965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by Resolution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851908-FEEF-F561-B0D9-14668A7B8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Let us consider the steps leading: the agent returns from [2,1] to [1,1] and then goes to [1,2], where it perceives a stench, but no breeze. </a:t>
                </a:r>
              </a:p>
              <a:p>
                <a:r>
                  <a:rPr lang="en-GB" dirty="0"/>
                  <a:t>We add the following facts to the knowledge base: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We can now derive the absence of pits in [2,2] and [1,3] 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</m:oMath>
                </a14:m>
                <a:br>
                  <a:rPr lang="en-GB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851908-FEEF-F561-B0D9-14668A7B8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0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3B17B-E64F-4908-A064-71D78350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1B6B6-35C8-B55E-4A8C-C3B9C609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835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6087-66A1-5785-28E2-6FF3FEF0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by Resolution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3C782-0918-E82B-EE93-FB81AEE46B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can also apply biconditional elimination to R3, followed by Modus Ponens with R5, to obtain the fact that there is a pit in [1,1], [2,2], or [3,1]: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3,1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literal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</m:oMath>
                </a14:m>
                <a:r>
                  <a:rPr lang="en-GB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lang="en-GB" dirty="0"/>
                  <a:t> resolves with the literal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</m:oMath>
                </a14:m>
                <a:r>
                  <a:rPr lang="en-GB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GB" dirty="0"/>
                  <a:t> to give the resolvent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3,1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3C782-0918-E82B-EE93-FB81AEE46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D6309-4D46-0185-ADC8-D92A4C4A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5E657-84F4-1B35-A581-EE2F15C0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098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9E5A-74CF-4DDF-942E-F601F6E2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by Resolution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C5D53-B2AA-A900-42FC-949452D09F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Similarly, the literal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resolves with the literal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GB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GB" dirty="0"/>
                  <a:t> to give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3,1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dirty="0"/>
                  <a:t>These are unit resolution inference rule:</a:t>
                </a:r>
                <a:br>
                  <a:rPr lang="en-GB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∨…∨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∨…∨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∨…∨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are complementary literal.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CC5D53-B2AA-A900-42FC-949452D09F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2E147-10E8-9C90-89C7-C9CFD026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743D9-59A5-20A6-EDBE-5E33BC55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9427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974F-41D6-3075-D4E0-2EBDC7F5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by Resolution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926DE4-C5E8-3665-D23C-0015B1A8F6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unit resolution rule takes a clause—a disjunction of literals—and a literal and produces a new clause.</a:t>
                </a:r>
              </a:p>
              <a:p>
                <a:endParaRPr lang="en-GB" dirty="0"/>
              </a:p>
              <a:p>
                <a:r>
                  <a:rPr lang="en-GB" dirty="0"/>
                  <a:t>The unit resolution rule can be generalized to the full resolution rule,</a:t>
                </a:r>
                <a:br>
                  <a:rPr lang="en-GB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∨…∨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   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∨…∨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∨…∨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∨…∨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∨…∨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br>
                  <a:rPr lang="en-GB" dirty="0"/>
                </a:br>
                <a:r>
                  <a:rPr lang="en-GB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are complementary literals.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926DE4-C5E8-3665-D23C-0015B1A8F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A9866-D080-5E5A-0F74-4C030442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55922-A7B0-1664-6BA8-3DC40EB4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1174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D54A-DF34-AAA8-3D8C-E8548711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by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C0A6-10F6-F891-A63E-B3CAF087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Factoring</a:t>
            </a:r>
          </a:p>
          <a:p>
            <a:r>
              <a:rPr lang="en-GB" dirty="0"/>
              <a:t>The resulting clause should contain only one copy of each literal.</a:t>
            </a:r>
          </a:p>
          <a:p>
            <a:r>
              <a:rPr lang="en-GB" dirty="0"/>
              <a:t>The removal of multiple copies of literal is called factoring.</a:t>
            </a:r>
          </a:p>
          <a:p>
            <a:r>
              <a:rPr lang="en-GB" dirty="0"/>
              <a:t>We resolve (A ∨ B) with (A ∨¬B), we obtain (A∨A), which is reduced to just A.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40EBF-B4DB-52EE-8A8E-6ABD5C13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BC1E9-5D22-6C12-1FC2-EA375C857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32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0A9F-ACA0-AA51-E889-996C1823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Conjunctive Normal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90E4-B488-EF14-62DD-8ECB38C89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resolution rule applies only to clauses. (Disjunctions and Literals)</a:t>
            </a:r>
          </a:p>
          <a:p>
            <a:r>
              <a:rPr lang="en-GB" dirty="0"/>
              <a:t>Every sentence of propositional logic is equivalent to a conjunction of clauses.</a:t>
            </a:r>
          </a:p>
          <a:p>
            <a:endParaRPr lang="en-GB" dirty="0"/>
          </a:p>
          <a:p>
            <a:r>
              <a:rPr lang="en-GB" dirty="0"/>
              <a:t>A sentence expressed as a conjunction of clauses is said to be in conjunctive normal form or CNF.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A6FDE-D54E-6DEE-817C-B1F3F807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4EDD6-3C31-06B1-B11D-9BD9E010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19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0AE8-5EC6-E01F-738B-316919A9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Conjunctive Normal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D17C2-0266-E9A9-5CC0-FAE665B87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now describe a procedure for converting to CNF.</a:t>
                </a:r>
              </a:p>
              <a:p>
                <a:r>
                  <a:rPr lang="en-GB" dirty="0"/>
                  <a:t>Eliminate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⇔,</m:t>
                    </m:r>
                  </m:oMath>
                </a14:m>
                <a:r>
                  <a:rPr lang="en-GB" dirty="0"/>
                  <a:t> replacing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Eliminate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⇒,</m:t>
                    </m:r>
                  </m:oMath>
                </a14:m>
                <a:r>
                  <a:rPr lang="en-GB" dirty="0"/>
                  <a:t> replacing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CNF requires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GB" dirty="0"/>
                  <a:t> to appear only in literals, so we move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GB" dirty="0"/>
                  <a:t> inwards using the following: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(double negation elimination)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≡(¬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(De Morgan)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GB" dirty="0"/>
                  <a:t>(De Morgan)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D17C2-0266-E9A9-5CC0-FAE665B87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FB167-530E-0697-F917-71B82EE79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DEE63-9439-AC02-273F-196A9CAC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66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2A7B-2ED8-4899-965D-ADB8203C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Conjunctive Normal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074C6-7768-C552-6457-360E948DA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⇔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1,2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2,1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074C6-7768-C552-6457-360E948DA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B6EFF-05D6-2D1F-C1A1-5F2D41F0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4C76F-F6E9-2394-0770-C8D7151B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5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50ADDE-D69D-3863-15FD-77E6AC46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4633C-8DDB-B789-C7AE-C5FEF36D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6C99D-9B29-E586-E542-CE29B3E5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92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2654</TotalTime>
  <Words>2733</Words>
  <Application>Microsoft Office PowerPoint</Application>
  <PresentationFormat>Widescreen</PresentationFormat>
  <Paragraphs>370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Aptos</vt:lpstr>
      <vt:lpstr>Arial</vt:lpstr>
      <vt:lpstr>Cambria Math</vt:lpstr>
      <vt:lpstr>Verdana</vt:lpstr>
      <vt:lpstr>Office Theme</vt:lpstr>
      <vt:lpstr>Logical Agents</vt:lpstr>
      <vt:lpstr>Introduction</vt:lpstr>
      <vt:lpstr>Knowledge-based Agent</vt:lpstr>
      <vt:lpstr>Knowledge-based Agent</vt:lpstr>
      <vt:lpstr>Knowledge Base</vt:lpstr>
      <vt:lpstr>A Generic Knowledge-based Agent</vt:lpstr>
      <vt:lpstr>A Generic Knowledge-based Agent</vt:lpstr>
      <vt:lpstr>The Wumpus World</vt:lpstr>
      <vt:lpstr>The Wumpus World</vt:lpstr>
      <vt:lpstr>The Wumpus World</vt:lpstr>
      <vt:lpstr>The Wumpus World</vt:lpstr>
      <vt:lpstr>The Wumpus World</vt:lpstr>
      <vt:lpstr>The Wumpus World</vt:lpstr>
      <vt:lpstr>The Wumpus World</vt:lpstr>
      <vt:lpstr>The Wumpus World</vt:lpstr>
      <vt:lpstr>The Wumpus World</vt:lpstr>
      <vt:lpstr>Logic</vt:lpstr>
      <vt:lpstr>Entailment</vt:lpstr>
      <vt:lpstr>Entailment</vt:lpstr>
      <vt:lpstr>Entailment</vt:lpstr>
      <vt:lpstr>Propositional Logic</vt:lpstr>
      <vt:lpstr>Syntax</vt:lpstr>
      <vt:lpstr>Syntax</vt:lpstr>
      <vt:lpstr>Common Connectives</vt:lpstr>
      <vt:lpstr>PowerPoint Presentation</vt:lpstr>
      <vt:lpstr>Grammar of Sentences in Propositional Logic</vt:lpstr>
      <vt:lpstr>Semantics</vt:lpstr>
      <vt:lpstr>Semantics</vt:lpstr>
      <vt:lpstr>Semantics</vt:lpstr>
      <vt:lpstr>Semantics</vt:lpstr>
      <vt:lpstr>A simple Knowledge Base</vt:lpstr>
      <vt:lpstr>A simple Knowledge Base</vt:lpstr>
      <vt:lpstr>A Simple Inference Procedure</vt:lpstr>
      <vt:lpstr>A Simple Inference Procedure</vt:lpstr>
      <vt:lpstr>A Simple Inference Procedure</vt:lpstr>
      <vt:lpstr>Propositional Theorem Proving</vt:lpstr>
      <vt:lpstr>Logical Equivalence</vt:lpstr>
      <vt:lpstr>Propositional Theorem Proving</vt:lpstr>
      <vt:lpstr>Propositional Theorem Proving</vt:lpstr>
      <vt:lpstr>Propositional Theorem Proving</vt:lpstr>
      <vt:lpstr>Inference Rules</vt:lpstr>
      <vt:lpstr>Inference Rules</vt:lpstr>
      <vt:lpstr>Inference Rules</vt:lpstr>
      <vt:lpstr>Inference Rules</vt:lpstr>
      <vt:lpstr>Inference Rules</vt:lpstr>
      <vt:lpstr>Inference Rules</vt:lpstr>
      <vt:lpstr>Inference Rules</vt:lpstr>
      <vt:lpstr>Proof by Resolution</vt:lpstr>
      <vt:lpstr>Proof by Resolution</vt:lpstr>
      <vt:lpstr>Proof by Resolution</vt:lpstr>
      <vt:lpstr>Proof by Resolution</vt:lpstr>
      <vt:lpstr>Proof by Resolution</vt:lpstr>
      <vt:lpstr>Conjunctive Normal Form</vt:lpstr>
      <vt:lpstr>Conjunctive Normal Form</vt:lpstr>
      <vt:lpstr>Conjunctive Normal Form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106</cp:revision>
  <dcterms:created xsi:type="dcterms:W3CDTF">2025-07-29T06:51:35Z</dcterms:created>
  <dcterms:modified xsi:type="dcterms:W3CDTF">2025-09-23T02:56:45Z</dcterms:modified>
</cp:coreProperties>
</file>