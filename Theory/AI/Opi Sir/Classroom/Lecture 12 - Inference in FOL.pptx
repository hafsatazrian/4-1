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9"/>
  </p:notesMasterIdLst>
  <p:sldIdLst>
    <p:sldId id="256" r:id="rId2"/>
    <p:sldId id="378" r:id="rId3"/>
    <p:sldId id="331" r:id="rId4"/>
    <p:sldId id="379" r:id="rId5"/>
    <p:sldId id="408" r:id="rId6"/>
    <p:sldId id="376" r:id="rId7"/>
    <p:sldId id="377" r:id="rId8"/>
    <p:sldId id="380" r:id="rId9"/>
    <p:sldId id="381" r:id="rId10"/>
    <p:sldId id="382" r:id="rId11"/>
    <p:sldId id="383" r:id="rId12"/>
    <p:sldId id="385" r:id="rId13"/>
    <p:sldId id="355" r:id="rId14"/>
    <p:sldId id="409" r:id="rId15"/>
    <p:sldId id="384" r:id="rId16"/>
    <p:sldId id="386" r:id="rId17"/>
    <p:sldId id="387" r:id="rId18"/>
    <p:sldId id="410" r:id="rId19"/>
    <p:sldId id="388" r:id="rId20"/>
    <p:sldId id="389" r:id="rId21"/>
    <p:sldId id="390" r:id="rId22"/>
    <p:sldId id="391" r:id="rId23"/>
    <p:sldId id="392" r:id="rId24"/>
    <p:sldId id="393" r:id="rId25"/>
    <p:sldId id="394" r:id="rId26"/>
    <p:sldId id="396" r:id="rId27"/>
    <p:sldId id="397" r:id="rId28"/>
    <p:sldId id="398" r:id="rId29"/>
    <p:sldId id="399" r:id="rId30"/>
    <p:sldId id="400" r:id="rId31"/>
    <p:sldId id="401" r:id="rId32"/>
    <p:sldId id="403" r:id="rId33"/>
    <p:sldId id="402" r:id="rId34"/>
    <p:sldId id="404" r:id="rId35"/>
    <p:sldId id="405" r:id="rId36"/>
    <p:sldId id="406" r:id="rId37"/>
    <p:sldId id="407" r:id="rId38"/>
    <p:sldId id="411" r:id="rId39"/>
    <p:sldId id="436" r:id="rId40"/>
    <p:sldId id="412" r:id="rId41"/>
    <p:sldId id="437" r:id="rId42"/>
    <p:sldId id="438" r:id="rId43"/>
    <p:sldId id="413" r:id="rId44"/>
    <p:sldId id="414" r:id="rId45"/>
    <p:sldId id="415" r:id="rId46"/>
    <p:sldId id="416" r:id="rId47"/>
    <p:sldId id="417" r:id="rId48"/>
    <p:sldId id="418" r:id="rId49"/>
    <p:sldId id="419" r:id="rId50"/>
    <p:sldId id="420" r:id="rId51"/>
    <p:sldId id="421" r:id="rId52"/>
    <p:sldId id="422" r:id="rId53"/>
    <p:sldId id="423" r:id="rId54"/>
    <p:sldId id="424" r:id="rId55"/>
    <p:sldId id="425" r:id="rId56"/>
    <p:sldId id="426" r:id="rId57"/>
    <p:sldId id="427" r:id="rId58"/>
    <p:sldId id="428" r:id="rId59"/>
    <p:sldId id="439" r:id="rId60"/>
    <p:sldId id="429" r:id="rId61"/>
    <p:sldId id="430" r:id="rId62"/>
    <p:sldId id="431" r:id="rId63"/>
    <p:sldId id="432" r:id="rId64"/>
    <p:sldId id="433" r:id="rId65"/>
    <p:sldId id="434" r:id="rId66"/>
    <p:sldId id="435" r:id="rId67"/>
    <p:sldId id="440" r:id="rId6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C410ECDD-8D64-4728-8AFF-D44FD3AB49B7}">
          <p14:sldIdLst>
            <p14:sldId id="256"/>
            <p14:sldId id="378"/>
            <p14:sldId id="331"/>
            <p14:sldId id="379"/>
            <p14:sldId id="408"/>
            <p14:sldId id="376"/>
            <p14:sldId id="377"/>
            <p14:sldId id="380"/>
            <p14:sldId id="381"/>
            <p14:sldId id="382"/>
            <p14:sldId id="383"/>
            <p14:sldId id="385"/>
            <p14:sldId id="355"/>
            <p14:sldId id="409"/>
            <p14:sldId id="384"/>
            <p14:sldId id="386"/>
            <p14:sldId id="387"/>
            <p14:sldId id="410"/>
            <p14:sldId id="388"/>
            <p14:sldId id="389"/>
            <p14:sldId id="390"/>
            <p14:sldId id="391"/>
            <p14:sldId id="392"/>
            <p14:sldId id="393"/>
            <p14:sldId id="394"/>
            <p14:sldId id="396"/>
            <p14:sldId id="397"/>
            <p14:sldId id="398"/>
            <p14:sldId id="399"/>
            <p14:sldId id="400"/>
            <p14:sldId id="401"/>
            <p14:sldId id="403"/>
            <p14:sldId id="402"/>
            <p14:sldId id="404"/>
            <p14:sldId id="405"/>
            <p14:sldId id="406"/>
            <p14:sldId id="407"/>
            <p14:sldId id="411"/>
            <p14:sldId id="436"/>
            <p14:sldId id="412"/>
            <p14:sldId id="437"/>
            <p14:sldId id="438"/>
            <p14:sldId id="413"/>
            <p14:sldId id="414"/>
            <p14:sldId id="415"/>
            <p14:sldId id="416"/>
            <p14:sldId id="417"/>
            <p14:sldId id="418"/>
            <p14:sldId id="419"/>
            <p14:sldId id="420"/>
            <p14:sldId id="421"/>
            <p14:sldId id="422"/>
            <p14:sldId id="423"/>
            <p14:sldId id="424"/>
            <p14:sldId id="425"/>
            <p14:sldId id="426"/>
            <p14:sldId id="427"/>
            <p14:sldId id="428"/>
            <p14:sldId id="439"/>
            <p14:sldId id="429"/>
            <p14:sldId id="430"/>
            <p14:sldId id="431"/>
            <p14:sldId id="432"/>
            <p14:sldId id="433"/>
            <p14:sldId id="434"/>
            <p14:sldId id="435"/>
            <p14:sldId id="44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240"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CEB314B-7EAC-4F02-B2F7-56698ECFD4EE}" type="datetimeFigureOut">
              <a:rPr lang="en-GB" smtClean="0"/>
              <a:t>20/10/2025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726CE54-0F6A-46A6-8597-A6CCFBA9F5FC}" type="slidenum">
              <a:rPr lang="en-GB" smtClean="0"/>
              <a:t>‹#›</a:t>
            </a:fld>
            <a:endParaRPr lang="en-GB"/>
          </a:p>
        </p:txBody>
      </p:sp>
    </p:spTree>
    <p:extLst>
      <p:ext uri="{BB962C8B-B14F-4D97-AF65-F5344CB8AC3E}">
        <p14:creationId xmlns:p14="http://schemas.microsoft.com/office/powerpoint/2010/main" val="27116939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F3F577-7B9C-892D-9964-9929FF5266E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8D8EA8C3-2AA8-921F-2DEB-872AE59F0F6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B50FEC2A-AA40-72AE-0C2A-2D45907F5326}"/>
              </a:ext>
            </a:extLst>
          </p:cNvPr>
          <p:cNvSpPr>
            <a:spLocks noGrp="1"/>
          </p:cNvSpPr>
          <p:nvPr>
            <p:ph type="dt" sz="half" idx="10"/>
          </p:nvPr>
        </p:nvSpPr>
        <p:spPr/>
        <p:txBody>
          <a:bodyPr/>
          <a:lstStyle/>
          <a:p>
            <a:fld id="{CDDA3ECC-5CAF-4F14-A242-B702E2784D37}" type="datetime1">
              <a:rPr lang="en-GB" smtClean="0"/>
              <a:t>20/10/2025</a:t>
            </a:fld>
            <a:endParaRPr lang="en-GB"/>
          </a:p>
        </p:txBody>
      </p:sp>
      <p:sp>
        <p:nvSpPr>
          <p:cNvPr id="5" name="Footer Placeholder 4">
            <a:extLst>
              <a:ext uri="{FF2B5EF4-FFF2-40B4-BE49-F238E27FC236}">
                <a16:creationId xmlns:a16="http://schemas.microsoft.com/office/drawing/2014/main" id="{16C73F04-680A-E525-59CE-1C9188886C7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EE663BB-9188-96BC-E6BC-7E236F67DE49}"/>
              </a:ext>
            </a:extLst>
          </p:cNvPr>
          <p:cNvSpPr>
            <a:spLocks noGrp="1"/>
          </p:cNvSpPr>
          <p:nvPr>
            <p:ph type="sldNum" sz="quarter" idx="12"/>
          </p:nvPr>
        </p:nvSpPr>
        <p:spPr/>
        <p:txBody>
          <a:bodyPr/>
          <a:lstStyle/>
          <a:p>
            <a:fld id="{9EB268CF-8001-41B5-ADCD-92A7738D3D9B}" type="slidenum">
              <a:rPr lang="en-GB" smtClean="0"/>
              <a:t>‹#›</a:t>
            </a:fld>
            <a:endParaRPr lang="en-GB"/>
          </a:p>
        </p:txBody>
      </p:sp>
    </p:spTree>
    <p:extLst>
      <p:ext uri="{BB962C8B-B14F-4D97-AF65-F5344CB8AC3E}">
        <p14:creationId xmlns:p14="http://schemas.microsoft.com/office/powerpoint/2010/main" val="2737635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2D363D-921B-1FE5-D959-28ED8C7F8CE5}"/>
              </a:ext>
            </a:extLst>
          </p:cNvPr>
          <p:cNvSpPr>
            <a:spLocks noGrp="1"/>
          </p:cNvSpPr>
          <p:nvPr>
            <p:ph type="title"/>
          </p:nvPr>
        </p:nvSpPr>
        <p:spPr>
          <a:custGeom>
            <a:avLst/>
            <a:gdLst>
              <a:gd name="connsiteX0" fmla="*/ 0 w 10515600"/>
              <a:gd name="connsiteY0" fmla="*/ 0 h 1325563"/>
              <a:gd name="connsiteX1" fmla="*/ 689356 w 10515600"/>
              <a:gd name="connsiteY1" fmla="*/ 0 h 1325563"/>
              <a:gd name="connsiteX2" fmla="*/ 1168400 w 10515600"/>
              <a:gd name="connsiteY2" fmla="*/ 0 h 1325563"/>
              <a:gd name="connsiteX3" fmla="*/ 1647444 w 10515600"/>
              <a:gd name="connsiteY3" fmla="*/ 0 h 1325563"/>
              <a:gd name="connsiteX4" fmla="*/ 2126488 w 10515600"/>
              <a:gd name="connsiteY4" fmla="*/ 0 h 1325563"/>
              <a:gd name="connsiteX5" fmla="*/ 2710688 w 10515600"/>
              <a:gd name="connsiteY5" fmla="*/ 0 h 1325563"/>
              <a:gd name="connsiteX6" fmla="*/ 3084576 w 10515600"/>
              <a:gd name="connsiteY6" fmla="*/ 0 h 1325563"/>
              <a:gd name="connsiteX7" fmla="*/ 3668776 w 10515600"/>
              <a:gd name="connsiteY7" fmla="*/ 0 h 1325563"/>
              <a:gd name="connsiteX8" fmla="*/ 4042664 w 10515600"/>
              <a:gd name="connsiteY8" fmla="*/ 0 h 1325563"/>
              <a:gd name="connsiteX9" fmla="*/ 4626864 w 10515600"/>
              <a:gd name="connsiteY9" fmla="*/ 0 h 1325563"/>
              <a:gd name="connsiteX10" fmla="*/ 5000752 w 10515600"/>
              <a:gd name="connsiteY10" fmla="*/ 0 h 1325563"/>
              <a:gd name="connsiteX11" fmla="*/ 5479796 w 10515600"/>
              <a:gd name="connsiteY11" fmla="*/ 0 h 1325563"/>
              <a:gd name="connsiteX12" fmla="*/ 6274308 w 10515600"/>
              <a:gd name="connsiteY12" fmla="*/ 0 h 1325563"/>
              <a:gd name="connsiteX13" fmla="*/ 6543040 w 10515600"/>
              <a:gd name="connsiteY13" fmla="*/ 0 h 1325563"/>
              <a:gd name="connsiteX14" fmla="*/ 7127240 w 10515600"/>
              <a:gd name="connsiteY14" fmla="*/ 0 h 1325563"/>
              <a:gd name="connsiteX15" fmla="*/ 7921752 w 10515600"/>
              <a:gd name="connsiteY15" fmla="*/ 0 h 1325563"/>
              <a:gd name="connsiteX16" fmla="*/ 8611108 w 10515600"/>
              <a:gd name="connsiteY16" fmla="*/ 0 h 1325563"/>
              <a:gd name="connsiteX17" fmla="*/ 9300464 w 10515600"/>
              <a:gd name="connsiteY17" fmla="*/ 0 h 1325563"/>
              <a:gd name="connsiteX18" fmla="*/ 9779508 w 10515600"/>
              <a:gd name="connsiteY18" fmla="*/ 0 h 1325563"/>
              <a:gd name="connsiteX19" fmla="*/ 10515600 w 10515600"/>
              <a:gd name="connsiteY19" fmla="*/ 0 h 1325563"/>
              <a:gd name="connsiteX20" fmla="*/ 10515600 w 10515600"/>
              <a:gd name="connsiteY20" fmla="*/ 455110 h 1325563"/>
              <a:gd name="connsiteX21" fmla="*/ 10515600 w 10515600"/>
              <a:gd name="connsiteY21" fmla="*/ 870453 h 1325563"/>
              <a:gd name="connsiteX22" fmla="*/ 10515600 w 10515600"/>
              <a:gd name="connsiteY22" fmla="*/ 1325563 h 1325563"/>
              <a:gd name="connsiteX23" fmla="*/ 10036556 w 10515600"/>
              <a:gd name="connsiteY23" fmla="*/ 1325563 h 1325563"/>
              <a:gd name="connsiteX24" fmla="*/ 9452356 w 10515600"/>
              <a:gd name="connsiteY24" fmla="*/ 1325563 h 1325563"/>
              <a:gd name="connsiteX25" fmla="*/ 8657844 w 10515600"/>
              <a:gd name="connsiteY25" fmla="*/ 1325563 h 1325563"/>
              <a:gd name="connsiteX26" fmla="*/ 8389112 w 10515600"/>
              <a:gd name="connsiteY26" fmla="*/ 1325563 h 1325563"/>
              <a:gd name="connsiteX27" fmla="*/ 8015224 w 10515600"/>
              <a:gd name="connsiteY27" fmla="*/ 1325563 h 1325563"/>
              <a:gd name="connsiteX28" fmla="*/ 7746492 w 10515600"/>
              <a:gd name="connsiteY28" fmla="*/ 1325563 h 1325563"/>
              <a:gd name="connsiteX29" fmla="*/ 7057136 w 10515600"/>
              <a:gd name="connsiteY29" fmla="*/ 1325563 h 1325563"/>
              <a:gd name="connsiteX30" fmla="*/ 6788404 w 10515600"/>
              <a:gd name="connsiteY30" fmla="*/ 1325563 h 1325563"/>
              <a:gd name="connsiteX31" fmla="*/ 6099048 w 10515600"/>
              <a:gd name="connsiteY31" fmla="*/ 1325563 h 1325563"/>
              <a:gd name="connsiteX32" fmla="*/ 5304536 w 10515600"/>
              <a:gd name="connsiteY32" fmla="*/ 1325563 h 1325563"/>
              <a:gd name="connsiteX33" fmla="*/ 5035804 w 10515600"/>
              <a:gd name="connsiteY33" fmla="*/ 1325563 h 1325563"/>
              <a:gd name="connsiteX34" fmla="*/ 4451604 w 10515600"/>
              <a:gd name="connsiteY34" fmla="*/ 1325563 h 1325563"/>
              <a:gd name="connsiteX35" fmla="*/ 3972560 w 10515600"/>
              <a:gd name="connsiteY35" fmla="*/ 1325563 h 1325563"/>
              <a:gd name="connsiteX36" fmla="*/ 3388360 w 10515600"/>
              <a:gd name="connsiteY36" fmla="*/ 1325563 h 1325563"/>
              <a:gd name="connsiteX37" fmla="*/ 2804160 w 10515600"/>
              <a:gd name="connsiteY37" fmla="*/ 1325563 h 1325563"/>
              <a:gd name="connsiteX38" fmla="*/ 2325116 w 10515600"/>
              <a:gd name="connsiteY38" fmla="*/ 1325563 h 1325563"/>
              <a:gd name="connsiteX39" fmla="*/ 1530604 w 10515600"/>
              <a:gd name="connsiteY39" fmla="*/ 1325563 h 1325563"/>
              <a:gd name="connsiteX40" fmla="*/ 1261872 w 10515600"/>
              <a:gd name="connsiteY40" fmla="*/ 1325563 h 1325563"/>
              <a:gd name="connsiteX41" fmla="*/ 572516 w 10515600"/>
              <a:gd name="connsiteY41" fmla="*/ 1325563 h 1325563"/>
              <a:gd name="connsiteX42" fmla="*/ 0 w 10515600"/>
              <a:gd name="connsiteY42" fmla="*/ 1325563 h 1325563"/>
              <a:gd name="connsiteX43" fmla="*/ 0 w 10515600"/>
              <a:gd name="connsiteY43" fmla="*/ 857197 h 1325563"/>
              <a:gd name="connsiteX44" fmla="*/ 0 w 10515600"/>
              <a:gd name="connsiteY44" fmla="*/ 441854 h 1325563"/>
              <a:gd name="connsiteX45" fmla="*/ 0 w 10515600"/>
              <a:gd name="connsiteY45" fmla="*/ 0 h 1325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10515600" h="1325563" fill="none" extrusionOk="0">
                <a:moveTo>
                  <a:pt x="0" y="0"/>
                </a:moveTo>
                <a:cubicBezTo>
                  <a:pt x="253838" y="-18819"/>
                  <a:pt x="351414" y="62000"/>
                  <a:pt x="689356" y="0"/>
                </a:cubicBezTo>
                <a:cubicBezTo>
                  <a:pt x="1027298" y="-62000"/>
                  <a:pt x="1020961" y="21931"/>
                  <a:pt x="1168400" y="0"/>
                </a:cubicBezTo>
                <a:cubicBezTo>
                  <a:pt x="1315839" y="-21931"/>
                  <a:pt x="1474707" y="29733"/>
                  <a:pt x="1647444" y="0"/>
                </a:cubicBezTo>
                <a:cubicBezTo>
                  <a:pt x="1820181" y="-29733"/>
                  <a:pt x="1905353" y="35773"/>
                  <a:pt x="2126488" y="0"/>
                </a:cubicBezTo>
                <a:cubicBezTo>
                  <a:pt x="2347623" y="-35773"/>
                  <a:pt x="2474840" y="26931"/>
                  <a:pt x="2710688" y="0"/>
                </a:cubicBezTo>
                <a:cubicBezTo>
                  <a:pt x="2946536" y="-26931"/>
                  <a:pt x="2901208" y="25700"/>
                  <a:pt x="3084576" y="0"/>
                </a:cubicBezTo>
                <a:cubicBezTo>
                  <a:pt x="3267944" y="-25700"/>
                  <a:pt x="3504545" y="40785"/>
                  <a:pt x="3668776" y="0"/>
                </a:cubicBezTo>
                <a:cubicBezTo>
                  <a:pt x="3833007" y="-40785"/>
                  <a:pt x="3895124" y="1762"/>
                  <a:pt x="4042664" y="0"/>
                </a:cubicBezTo>
                <a:cubicBezTo>
                  <a:pt x="4190204" y="-1762"/>
                  <a:pt x="4477573" y="6051"/>
                  <a:pt x="4626864" y="0"/>
                </a:cubicBezTo>
                <a:cubicBezTo>
                  <a:pt x="4776155" y="-6051"/>
                  <a:pt x="4876670" y="35233"/>
                  <a:pt x="5000752" y="0"/>
                </a:cubicBezTo>
                <a:cubicBezTo>
                  <a:pt x="5124834" y="-35233"/>
                  <a:pt x="5320007" y="6376"/>
                  <a:pt x="5479796" y="0"/>
                </a:cubicBezTo>
                <a:cubicBezTo>
                  <a:pt x="5639585" y="-6376"/>
                  <a:pt x="5987388" y="89120"/>
                  <a:pt x="6274308" y="0"/>
                </a:cubicBezTo>
                <a:cubicBezTo>
                  <a:pt x="6561228" y="-89120"/>
                  <a:pt x="6469549" y="14711"/>
                  <a:pt x="6543040" y="0"/>
                </a:cubicBezTo>
                <a:cubicBezTo>
                  <a:pt x="6616531" y="-14711"/>
                  <a:pt x="6880894" y="24867"/>
                  <a:pt x="7127240" y="0"/>
                </a:cubicBezTo>
                <a:cubicBezTo>
                  <a:pt x="7373586" y="-24867"/>
                  <a:pt x="7703353" y="29232"/>
                  <a:pt x="7921752" y="0"/>
                </a:cubicBezTo>
                <a:cubicBezTo>
                  <a:pt x="8140151" y="-29232"/>
                  <a:pt x="8436992" y="15020"/>
                  <a:pt x="8611108" y="0"/>
                </a:cubicBezTo>
                <a:cubicBezTo>
                  <a:pt x="8785224" y="-15020"/>
                  <a:pt x="9086613" y="81581"/>
                  <a:pt x="9300464" y="0"/>
                </a:cubicBezTo>
                <a:cubicBezTo>
                  <a:pt x="9514315" y="-81581"/>
                  <a:pt x="9623261" y="50401"/>
                  <a:pt x="9779508" y="0"/>
                </a:cubicBezTo>
                <a:cubicBezTo>
                  <a:pt x="9935755" y="-50401"/>
                  <a:pt x="10305332" y="31654"/>
                  <a:pt x="10515600" y="0"/>
                </a:cubicBezTo>
                <a:cubicBezTo>
                  <a:pt x="10546853" y="191382"/>
                  <a:pt x="10469454" y="308968"/>
                  <a:pt x="10515600" y="455110"/>
                </a:cubicBezTo>
                <a:cubicBezTo>
                  <a:pt x="10561746" y="601252"/>
                  <a:pt x="10509168" y="742830"/>
                  <a:pt x="10515600" y="870453"/>
                </a:cubicBezTo>
                <a:cubicBezTo>
                  <a:pt x="10522032" y="998076"/>
                  <a:pt x="10471646" y="1208229"/>
                  <a:pt x="10515600" y="1325563"/>
                </a:cubicBezTo>
                <a:cubicBezTo>
                  <a:pt x="10314459" y="1339219"/>
                  <a:pt x="10239166" y="1311799"/>
                  <a:pt x="10036556" y="1325563"/>
                </a:cubicBezTo>
                <a:cubicBezTo>
                  <a:pt x="9833946" y="1339327"/>
                  <a:pt x="9709123" y="1307965"/>
                  <a:pt x="9452356" y="1325563"/>
                </a:cubicBezTo>
                <a:cubicBezTo>
                  <a:pt x="9195589" y="1343161"/>
                  <a:pt x="8994962" y="1306787"/>
                  <a:pt x="8657844" y="1325563"/>
                </a:cubicBezTo>
                <a:cubicBezTo>
                  <a:pt x="8320726" y="1344339"/>
                  <a:pt x="8518055" y="1302532"/>
                  <a:pt x="8389112" y="1325563"/>
                </a:cubicBezTo>
                <a:cubicBezTo>
                  <a:pt x="8260169" y="1348594"/>
                  <a:pt x="8193007" y="1316196"/>
                  <a:pt x="8015224" y="1325563"/>
                </a:cubicBezTo>
                <a:cubicBezTo>
                  <a:pt x="7837441" y="1334930"/>
                  <a:pt x="7849788" y="1324348"/>
                  <a:pt x="7746492" y="1325563"/>
                </a:cubicBezTo>
                <a:cubicBezTo>
                  <a:pt x="7643196" y="1326778"/>
                  <a:pt x="7232373" y="1285719"/>
                  <a:pt x="7057136" y="1325563"/>
                </a:cubicBezTo>
                <a:cubicBezTo>
                  <a:pt x="6881899" y="1365407"/>
                  <a:pt x="6919216" y="1307755"/>
                  <a:pt x="6788404" y="1325563"/>
                </a:cubicBezTo>
                <a:cubicBezTo>
                  <a:pt x="6657592" y="1343371"/>
                  <a:pt x="6278085" y="1271576"/>
                  <a:pt x="6099048" y="1325563"/>
                </a:cubicBezTo>
                <a:cubicBezTo>
                  <a:pt x="5920011" y="1379550"/>
                  <a:pt x="5508657" y="1311185"/>
                  <a:pt x="5304536" y="1325563"/>
                </a:cubicBezTo>
                <a:cubicBezTo>
                  <a:pt x="5100415" y="1339941"/>
                  <a:pt x="5108664" y="1325272"/>
                  <a:pt x="5035804" y="1325563"/>
                </a:cubicBezTo>
                <a:cubicBezTo>
                  <a:pt x="4962944" y="1325854"/>
                  <a:pt x="4711907" y="1259348"/>
                  <a:pt x="4451604" y="1325563"/>
                </a:cubicBezTo>
                <a:cubicBezTo>
                  <a:pt x="4191301" y="1391778"/>
                  <a:pt x="4112922" y="1274610"/>
                  <a:pt x="3972560" y="1325563"/>
                </a:cubicBezTo>
                <a:cubicBezTo>
                  <a:pt x="3832198" y="1376516"/>
                  <a:pt x="3671072" y="1290382"/>
                  <a:pt x="3388360" y="1325563"/>
                </a:cubicBezTo>
                <a:cubicBezTo>
                  <a:pt x="3105648" y="1360744"/>
                  <a:pt x="2958255" y="1258146"/>
                  <a:pt x="2804160" y="1325563"/>
                </a:cubicBezTo>
                <a:cubicBezTo>
                  <a:pt x="2650065" y="1392980"/>
                  <a:pt x="2499275" y="1316491"/>
                  <a:pt x="2325116" y="1325563"/>
                </a:cubicBezTo>
                <a:cubicBezTo>
                  <a:pt x="2150957" y="1334635"/>
                  <a:pt x="1851726" y="1245043"/>
                  <a:pt x="1530604" y="1325563"/>
                </a:cubicBezTo>
                <a:cubicBezTo>
                  <a:pt x="1209482" y="1406083"/>
                  <a:pt x="1376466" y="1302836"/>
                  <a:pt x="1261872" y="1325563"/>
                </a:cubicBezTo>
                <a:cubicBezTo>
                  <a:pt x="1147278" y="1348290"/>
                  <a:pt x="909434" y="1251726"/>
                  <a:pt x="572516" y="1325563"/>
                </a:cubicBezTo>
                <a:cubicBezTo>
                  <a:pt x="235598" y="1399400"/>
                  <a:pt x="227600" y="1323263"/>
                  <a:pt x="0" y="1325563"/>
                </a:cubicBezTo>
                <a:cubicBezTo>
                  <a:pt x="-836" y="1164828"/>
                  <a:pt x="53582" y="1051078"/>
                  <a:pt x="0" y="857197"/>
                </a:cubicBezTo>
                <a:cubicBezTo>
                  <a:pt x="-53582" y="663316"/>
                  <a:pt x="48368" y="606188"/>
                  <a:pt x="0" y="441854"/>
                </a:cubicBezTo>
                <a:cubicBezTo>
                  <a:pt x="-48368" y="277520"/>
                  <a:pt x="14050" y="146763"/>
                  <a:pt x="0" y="0"/>
                </a:cubicBezTo>
                <a:close/>
              </a:path>
              <a:path w="10515600" h="1325563" stroke="0" extrusionOk="0">
                <a:moveTo>
                  <a:pt x="0" y="0"/>
                </a:moveTo>
                <a:cubicBezTo>
                  <a:pt x="92178" y="-21222"/>
                  <a:pt x="264011" y="11084"/>
                  <a:pt x="373888" y="0"/>
                </a:cubicBezTo>
                <a:cubicBezTo>
                  <a:pt x="483765" y="-11084"/>
                  <a:pt x="744959" y="34565"/>
                  <a:pt x="852932" y="0"/>
                </a:cubicBezTo>
                <a:cubicBezTo>
                  <a:pt x="960905" y="-34565"/>
                  <a:pt x="1117522" y="45939"/>
                  <a:pt x="1331976" y="0"/>
                </a:cubicBezTo>
                <a:cubicBezTo>
                  <a:pt x="1546430" y="-45939"/>
                  <a:pt x="1819161" y="31205"/>
                  <a:pt x="2021332" y="0"/>
                </a:cubicBezTo>
                <a:cubicBezTo>
                  <a:pt x="2223503" y="-31205"/>
                  <a:pt x="2374427" y="16088"/>
                  <a:pt x="2710688" y="0"/>
                </a:cubicBezTo>
                <a:cubicBezTo>
                  <a:pt x="3046949" y="-16088"/>
                  <a:pt x="3188751" y="11240"/>
                  <a:pt x="3400044" y="0"/>
                </a:cubicBezTo>
                <a:cubicBezTo>
                  <a:pt x="3611337" y="-11240"/>
                  <a:pt x="3729003" y="24882"/>
                  <a:pt x="3984244" y="0"/>
                </a:cubicBezTo>
                <a:cubicBezTo>
                  <a:pt x="4239485" y="-24882"/>
                  <a:pt x="4248661" y="16847"/>
                  <a:pt x="4358132" y="0"/>
                </a:cubicBezTo>
                <a:cubicBezTo>
                  <a:pt x="4467603" y="-16847"/>
                  <a:pt x="4704277" y="78533"/>
                  <a:pt x="5047488" y="0"/>
                </a:cubicBezTo>
                <a:cubicBezTo>
                  <a:pt x="5390699" y="-78533"/>
                  <a:pt x="5478617" y="32801"/>
                  <a:pt x="5631688" y="0"/>
                </a:cubicBezTo>
                <a:cubicBezTo>
                  <a:pt x="5784759" y="-32801"/>
                  <a:pt x="5981634" y="25702"/>
                  <a:pt x="6215888" y="0"/>
                </a:cubicBezTo>
                <a:cubicBezTo>
                  <a:pt x="6450142" y="-25702"/>
                  <a:pt x="6736604" y="19690"/>
                  <a:pt x="6905244" y="0"/>
                </a:cubicBezTo>
                <a:cubicBezTo>
                  <a:pt x="7073884" y="-19690"/>
                  <a:pt x="7286882" y="54355"/>
                  <a:pt x="7384288" y="0"/>
                </a:cubicBezTo>
                <a:cubicBezTo>
                  <a:pt x="7481694" y="-54355"/>
                  <a:pt x="7569919" y="19084"/>
                  <a:pt x="7653020" y="0"/>
                </a:cubicBezTo>
                <a:cubicBezTo>
                  <a:pt x="7736121" y="-19084"/>
                  <a:pt x="8028971" y="7172"/>
                  <a:pt x="8342376" y="0"/>
                </a:cubicBezTo>
                <a:cubicBezTo>
                  <a:pt x="8655781" y="-7172"/>
                  <a:pt x="8513400" y="26567"/>
                  <a:pt x="8611108" y="0"/>
                </a:cubicBezTo>
                <a:cubicBezTo>
                  <a:pt x="8708816" y="-26567"/>
                  <a:pt x="8765519" y="8311"/>
                  <a:pt x="8879840" y="0"/>
                </a:cubicBezTo>
                <a:cubicBezTo>
                  <a:pt x="8994161" y="-8311"/>
                  <a:pt x="9094252" y="11307"/>
                  <a:pt x="9253728" y="0"/>
                </a:cubicBezTo>
                <a:cubicBezTo>
                  <a:pt x="9413204" y="-11307"/>
                  <a:pt x="9611384" y="21739"/>
                  <a:pt x="9732772" y="0"/>
                </a:cubicBezTo>
                <a:cubicBezTo>
                  <a:pt x="9854160" y="-21739"/>
                  <a:pt x="10260773" y="2376"/>
                  <a:pt x="10515600" y="0"/>
                </a:cubicBezTo>
                <a:cubicBezTo>
                  <a:pt x="10547807" y="96027"/>
                  <a:pt x="10502213" y="250485"/>
                  <a:pt x="10515600" y="441854"/>
                </a:cubicBezTo>
                <a:cubicBezTo>
                  <a:pt x="10528987" y="633223"/>
                  <a:pt x="10500953" y="689669"/>
                  <a:pt x="10515600" y="843942"/>
                </a:cubicBezTo>
                <a:cubicBezTo>
                  <a:pt x="10530247" y="998215"/>
                  <a:pt x="10471267" y="1208650"/>
                  <a:pt x="10515600" y="1325563"/>
                </a:cubicBezTo>
                <a:cubicBezTo>
                  <a:pt x="10408911" y="1343606"/>
                  <a:pt x="10186565" y="1311187"/>
                  <a:pt x="10036556" y="1325563"/>
                </a:cubicBezTo>
                <a:cubicBezTo>
                  <a:pt x="9886547" y="1339939"/>
                  <a:pt x="9538345" y="1281053"/>
                  <a:pt x="9347200" y="1325563"/>
                </a:cubicBezTo>
                <a:cubicBezTo>
                  <a:pt x="9156055" y="1370073"/>
                  <a:pt x="9003166" y="1299112"/>
                  <a:pt x="8763000" y="1325563"/>
                </a:cubicBezTo>
                <a:cubicBezTo>
                  <a:pt x="8522834" y="1352014"/>
                  <a:pt x="8471849" y="1310553"/>
                  <a:pt x="8283956" y="1325563"/>
                </a:cubicBezTo>
                <a:cubicBezTo>
                  <a:pt x="8096063" y="1340573"/>
                  <a:pt x="8141020" y="1320966"/>
                  <a:pt x="8015224" y="1325563"/>
                </a:cubicBezTo>
                <a:cubicBezTo>
                  <a:pt x="7889428" y="1330160"/>
                  <a:pt x="7402689" y="1296549"/>
                  <a:pt x="7220712" y="1325563"/>
                </a:cubicBezTo>
                <a:cubicBezTo>
                  <a:pt x="7038735" y="1354577"/>
                  <a:pt x="6860564" y="1290552"/>
                  <a:pt x="6636512" y="1325563"/>
                </a:cubicBezTo>
                <a:cubicBezTo>
                  <a:pt x="6412460" y="1360574"/>
                  <a:pt x="6317643" y="1317756"/>
                  <a:pt x="6052312" y="1325563"/>
                </a:cubicBezTo>
                <a:cubicBezTo>
                  <a:pt x="5786981" y="1333370"/>
                  <a:pt x="5763881" y="1287197"/>
                  <a:pt x="5678424" y="1325563"/>
                </a:cubicBezTo>
                <a:cubicBezTo>
                  <a:pt x="5592967" y="1363929"/>
                  <a:pt x="5399248" y="1312349"/>
                  <a:pt x="5199380" y="1325563"/>
                </a:cubicBezTo>
                <a:cubicBezTo>
                  <a:pt x="4999512" y="1338777"/>
                  <a:pt x="4987883" y="1284423"/>
                  <a:pt x="4825492" y="1325563"/>
                </a:cubicBezTo>
                <a:cubicBezTo>
                  <a:pt x="4663101" y="1366703"/>
                  <a:pt x="4380555" y="1308688"/>
                  <a:pt x="4241292" y="1325563"/>
                </a:cubicBezTo>
                <a:cubicBezTo>
                  <a:pt x="4102029" y="1342438"/>
                  <a:pt x="3778341" y="1285171"/>
                  <a:pt x="3446780" y="1325563"/>
                </a:cubicBezTo>
                <a:cubicBezTo>
                  <a:pt x="3115219" y="1365955"/>
                  <a:pt x="3099173" y="1290652"/>
                  <a:pt x="2757424" y="1325563"/>
                </a:cubicBezTo>
                <a:cubicBezTo>
                  <a:pt x="2415675" y="1360474"/>
                  <a:pt x="2510972" y="1310466"/>
                  <a:pt x="2278380" y="1325563"/>
                </a:cubicBezTo>
                <a:cubicBezTo>
                  <a:pt x="2045788" y="1340660"/>
                  <a:pt x="1716210" y="1317992"/>
                  <a:pt x="1483868" y="1325563"/>
                </a:cubicBezTo>
                <a:cubicBezTo>
                  <a:pt x="1251526" y="1333134"/>
                  <a:pt x="972052" y="1254362"/>
                  <a:pt x="689356" y="1325563"/>
                </a:cubicBezTo>
                <a:cubicBezTo>
                  <a:pt x="406660" y="1396764"/>
                  <a:pt x="201106" y="1320070"/>
                  <a:pt x="0" y="1325563"/>
                </a:cubicBezTo>
                <a:cubicBezTo>
                  <a:pt x="-31617" y="1137567"/>
                  <a:pt x="37158" y="1000617"/>
                  <a:pt x="0" y="896964"/>
                </a:cubicBezTo>
                <a:cubicBezTo>
                  <a:pt x="-37158" y="793311"/>
                  <a:pt x="17420" y="591636"/>
                  <a:pt x="0" y="428599"/>
                </a:cubicBezTo>
                <a:cubicBezTo>
                  <a:pt x="-17420" y="265562"/>
                  <a:pt x="47044" y="122437"/>
                  <a:pt x="0" y="0"/>
                </a:cubicBezTo>
                <a:close/>
              </a:path>
            </a:pathLst>
          </a:custGeom>
          <a:ln>
            <a:solidFill>
              <a:schemeClr val="accent1"/>
            </a:solidFill>
            <a:extLst>
              <a:ext uri="{C807C97D-BFC1-408E-A445-0C87EB9F89A2}">
                <ask:lineSketchStyleProps xmlns:ask="http://schemas.microsoft.com/office/drawing/2018/sketchyshapes" sd="576319421">
                  <ask:type>
                    <ask:lineSketchScribble/>
                  </ask:type>
                </ask:lineSketchStyleProps>
              </a:ext>
            </a:extLst>
          </a:ln>
        </p:spPr>
        <p:txBody>
          <a:bodyPr/>
          <a:lstStyle>
            <a:lvl1pPr algn="ctr">
              <a:defRPr>
                <a:latin typeface="Verdana" panose="020B0604030504040204" pitchFamily="34" charset="0"/>
                <a:ea typeface="Verdana" panose="020B0604030504040204" pitchFamily="34" charset="0"/>
              </a:defRPr>
            </a:lvl1pPr>
          </a:lstStyle>
          <a:p>
            <a:r>
              <a:rPr lang="en-US" dirty="0"/>
              <a:t>Click to edit Master title style</a:t>
            </a:r>
            <a:endParaRPr lang="en-GB" dirty="0"/>
          </a:p>
        </p:txBody>
      </p:sp>
      <p:sp>
        <p:nvSpPr>
          <p:cNvPr id="3" name="Content Placeholder 2">
            <a:extLst>
              <a:ext uri="{FF2B5EF4-FFF2-40B4-BE49-F238E27FC236}">
                <a16:creationId xmlns:a16="http://schemas.microsoft.com/office/drawing/2014/main" id="{E8499D4A-6B08-C144-AFE3-77A01A5AD3F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3B8C066A-E572-A277-D369-78396D5843ED}"/>
              </a:ext>
            </a:extLst>
          </p:cNvPr>
          <p:cNvSpPr>
            <a:spLocks noGrp="1"/>
          </p:cNvSpPr>
          <p:nvPr>
            <p:ph type="dt" sz="half" idx="10"/>
          </p:nvPr>
        </p:nvSpPr>
        <p:spPr/>
        <p:txBody>
          <a:bodyPr/>
          <a:lstStyle/>
          <a:p>
            <a:fld id="{1332600A-A7B8-4674-AAE3-A37177B883E5}" type="datetime1">
              <a:rPr lang="en-GB" smtClean="0"/>
              <a:t>20/10/2025</a:t>
            </a:fld>
            <a:endParaRPr lang="en-GB"/>
          </a:p>
        </p:txBody>
      </p:sp>
      <p:sp>
        <p:nvSpPr>
          <p:cNvPr id="5" name="Footer Placeholder 4">
            <a:extLst>
              <a:ext uri="{FF2B5EF4-FFF2-40B4-BE49-F238E27FC236}">
                <a16:creationId xmlns:a16="http://schemas.microsoft.com/office/drawing/2014/main" id="{A5EAEF30-4002-714D-0670-A49096DB8FC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5A5FF20-6D76-29F2-418E-8864E01FE720}"/>
              </a:ext>
            </a:extLst>
          </p:cNvPr>
          <p:cNvSpPr>
            <a:spLocks noGrp="1"/>
          </p:cNvSpPr>
          <p:nvPr>
            <p:ph type="sldNum" sz="quarter" idx="12"/>
          </p:nvPr>
        </p:nvSpPr>
        <p:spPr/>
        <p:txBody>
          <a:bodyPr/>
          <a:lstStyle/>
          <a:p>
            <a:fld id="{9EB268CF-8001-41B5-ADCD-92A7738D3D9B}" type="slidenum">
              <a:rPr lang="en-GB" smtClean="0"/>
              <a:t>‹#›</a:t>
            </a:fld>
            <a:endParaRPr lang="en-GB"/>
          </a:p>
        </p:txBody>
      </p:sp>
    </p:spTree>
    <p:extLst>
      <p:ext uri="{BB962C8B-B14F-4D97-AF65-F5344CB8AC3E}">
        <p14:creationId xmlns:p14="http://schemas.microsoft.com/office/powerpoint/2010/main" val="750808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6003FF-F52F-4E38-0A2E-9DA1C60DA8D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3F53E876-7455-9295-91BF-4F641EF5532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C347266-3916-28B3-A555-7FB1D3D8E2E8}"/>
              </a:ext>
            </a:extLst>
          </p:cNvPr>
          <p:cNvSpPr>
            <a:spLocks noGrp="1"/>
          </p:cNvSpPr>
          <p:nvPr>
            <p:ph type="dt" sz="half" idx="10"/>
          </p:nvPr>
        </p:nvSpPr>
        <p:spPr/>
        <p:txBody>
          <a:bodyPr/>
          <a:lstStyle/>
          <a:p>
            <a:fld id="{85EE68EB-F701-4E7C-8A1B-AAB143967A5F}" type="datetime1">
              <a:rPr lang="en-GB" smtClean="0"/>
              <a:t>20/10/2025</a:t>
            </a:fld>
            <a:endParaRPr lang="en-GB"/>
          </a:p>
        </p:txBody>
      </p:sp>
      <p:sp>
        <p:nvSpPr>
          <p:cNvPr id="5" name="Footer Placeholder 4">
            <a:extLst>
              <a:ext uri="{FF2B5EF4-FFF2-40B4-BE49-F238E27FC236}">
                <a16:creationId xmlns:a16="http://schemas.microsoft.com/office/drawing/2014/main" id="{66C7012B-55DA-34F4-808B-189EA4C3C4C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C8D8DC9-36B0-31D0-B5F2-FC0C84BD9036}"/>
              </a:ext>
            </a:extLst>
          </p:cNvPr>
          <p:cNvSpPr>
            <a:spLocks noGrp="1"/>
          </p:cNvSpPr>
          <p:nvPr>
            <p:ph type="sldNum" sz="quarter" idx="12"/>
          </p:nvPr>
        </p:nvSpPr>
        <p:spPr/>
        <p:txBody>
          <a:bodyPr/>
          <a:lstStyle/>
          <a:p>
            <a:fld id="{9EB268CF-8001-41B5-ADCD-92A7738D3D9B}" type="slidenum">
              <a:rPr lang="en-GB" smtClean="0"/>
              <a:t>‹#›</a:t>
            </a:fld>
            <a:endParaRPr lang="en-GB"/>
          </a:p>
        </p:txBody>
      </p:sp>
    </p:spTree>
    <p:extLst>
      <p:ext uri="{BB962C8B-B14F-4D97-AF65-F5344CB8AC3E}">
        <p14:creationId xmlns:p14="http://schemas.microsoft.com/office/powerpoint/2010/main" val="14102285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9EA8A-FF95-E0BD-7238-CF02B00FDE2F}"/>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37989762-D796-DC09-14A4-5AD190D8255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296F5D70-A3AC-50F5-06B7-9CE9CF5074A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99DFC517-D127-635A-B264-F649FC8697A4}"/>
              </a:ext>
            </a:extLst>
          </p:cNvPr>
          <p:cNvSpPr>
            <a:spLocks noGrp="1"/>
          </p:cNvSpPr>
          <p:nvPr>
            <p:ph type="dt" sz="half" idx="10"/>
          </p:nvPr>
        </p:nvSpPr>
        <p:spPr/>
        <p:txBody>
          <a:bodyPr/>
          <a:lstStyle/>
          <a:p>
            <a:fld id="{8411DE66-4F81-4974-88C3-7164F909D911}" type="datetime1">
              <a:rPr lang="en-GB" smtClean="0"/>
              <a:t>20/10/2025</a:t>
            </a:fld>
            <a:endParaRPr lang="en-GB"/>
          </a:p>
        </p:txBody>
      </p:sp>
      <p:sp>
        <p:nvSpPr>
          <p:cNvPr id="6" name="Footer Placeholder 5">
            <a:extLst>
              <a:ext uri="{FF2B5EF4-FFF2-40B4-BE49-F238E27FC236}">
                <a16:creationId xmlns:a16="http://schemas.microsoft.com/office/drawing/2014/main" id="{0DBF902A-670D-5ED9-8D4D-F35167B04B75}"/>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68D85025-5D85-AC22-6D8F-3E6EE503DA96}"/>
              </a:ext>
            </a:extLst>
          </p:cNvPr>
          <p:cNvSpPr>
            <a:spLocks noGrp="1"/>
          </p:cNvSpPr>
          <p:nvPr>
            <p:ph type="sldNum" sz="quarter" idx="12"/>
          </p:nvPr>
        </p:nvSpPr>
        <p:spPr/>
        <p:txBody>
          <a:bodyPr/>
          <a:lstStyle/>
          <a:p>
            <a:fld id="{9EB268CF-8001-41B5-ADCD-92A7738D3D9B}" type="slidenum">
              <a:rPr lang="en-GB" smtClean="0"/>
              <a:t>‹#›</a:t>
            </a:fld>
            <a:endParaRPr lang="en-GB"/>
          </a:p>
        </p:txBody>
      </p:sp>
    </p:spTree>
    <p:extLst>
      <p:ext uri="{BB962C8B-B14F-4D97-AF65-F5344CB8AC3E}">
        <p14:creationId xmlns:p14="http://schemas.microsoft.com/office/powerpoint/2010/main" val="33766002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07F54F-E990-F487-57E9-D0FAA742DF30}"/>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A2A5E450-926E-F984-8F71-955FA0FEC13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40BA968-AC90-BAC3-F9C8-6F8478B719E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896AA182-DAAF-6A22-82E6-4D09269F149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1AF3F09-93B2-51FA-9088-7D9BCEBC6D6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990812B9-38A2-5B54-1BDB-7B50AFC3617A}"/>
              </a:ext>
            </a:extLst>
          </p:cNvPr>
          <p:cNvSpPr>
            <a:spLocks noGrp="1"/>
          </p:cNvSpPr>
          <p:nvPr>
            <p:ph type="dt" sz="half" idx="10"/>
          </p:nvPr>
        </p:nvSpPr>
        <p:spPr/>
        <p:txBody>
          <a:bodyPr/>
          <a:lstStyle/>
          <a:p>
            <a:fld id="{9521D5EC-0436-4D1A-B807-42CAECB52F3A}" type="datetime1">
              <a:rPr lang="en-GB" smtClean="0"/>
              <a:t>20/10/2025</a:t>
            </a:fld>
            <a:endParaRPr lang="en-GB"/>
          </a:p>
        </p:txBody>
      </p:sp>
      <p:sp>
        <p:nvSpPr>
          <p:cNvPr id="8" name="Footer Placeholder 7">
            <a:extLst>
              <a:ext uri="{FF2B5EF4-FFF2-40B4-BE49-F238E27FC236}">
                <a16:creationId xmlns:a16="http://schemas.microsoft.com/office/drawing/2014/main" id="{3D2CC307-A30C-C6CE-E36C-F30561210658}"/>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A44CABA7-3B6D-774C-73DB-AC25CE1AD86B}"/>
              </a:ext>
            </a:extLst>
          </p:cNvPr>
          <p:cNvSpPr>
            <a:spLocks noGrp="1"/>
          </p:cNvSpPr>
          <p:nvPr>
            <p:ph type="sldNum" sz="quarter" idx="12"/>
          </p:nvPr>
        </p:nvSpPr>
        <p:spPr/>
        <p:txBody>
          <a:bodyPr/>
          <a:lstStyle/>
          <a:p>
            <a:fld id="{9EB268CF-8001-41B5-ADCD-92A7738D3D9B}" type="slidenum">
              <a:rPr lang="en-GB" smtClean="0"/>
              <a:t>‹#›</a:t>
            </a:fld>
            <a:endParaRPr lang="en-GB"/>
          </a:p>
        </p:txBody>
      </p:sp>
    </p:spTree>
    <p:extLst>
      <p:ext uri="{BB962C8B-B14F-4D97-AF65-F5344CB8AC3E}">
        <p14:creationId xmlns:p14="http://schemas.microsoft.com/office/powerpoint/2010/main" val="34812097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5385C2-AC71-5CD4-56A8-CA28E1598C54}"/>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D0A798A5-3197-07D3-6CD1-2A6563AF5BBD}"/>
              </a:ext>
            </a:extLst>
          </p:cNvPr>
          <p:cNvSpPr>
            <a:spLocks noGrp="1"/>
          </p:cNvSpPr>
          <p:nvPr>
            <p:ph type="dt" sz="half" idx="10"/>
          </p:nvPr>
        </p:nvSpPr>
        <p:spPr/>
        <p:txBody>
          <a:bodyPr/>
          <a:lstStyle/>
          <a:p>
            <a:fld id="{5EFA3ADE-44B1-4EF3-919C-3E8C2EF5A85F}" type="datetime1">
              <a:rPr lang="en-GB" smtClean="0"/>
              <a:t>20/10/2025</a:t>
            </a:fld>
            <a:endParaRPr lang="en-GB"/>
          </a:p>
        </p:txBody>
      </p:sp>
      <p:sp>
        <p:nvSpPr>
          <p:cNvPr id="4" name="Footer Placeholder 3">
            <a:extLst>
              <a:ext uri="{FF2B5EF4-FFF2-40B4-BE49-F238E27FC236}">
                <a16:creationId xmlns:a16="http://schemas.microsoft.com/office/drawing/2014/main" id="{281AD66C-1B15-DB67-7702-F791D23B5E01}"/>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95DD6D4E-F44E-AEA5-1EB9-E5D5B3B5FEE8}"/>
              </a:ext>
            </a:extLst>
          </p:cNvPr>
          <p:cNvSpPr>
            <a:spLocks noGrp="1"/>
          </p:cNvSpPr>
          <p:nvPr>
            <p:ph type="sldNum" sz="quarter" idx="12"/>
          </p:nvPr>
        </p:nvSpPr>
        <p:spPr/>
        <p:txBody>
          <a:bodyPr/>
          <a:lstStyle/>
          <a:p>
            <a:fld id="{9EB268CF-8001-41B5-ADCD-92A7738D3D9B}" type="slidenum">
              <a:rPr lang="en-GB" smtClean="0"/>
              <a:t>‹#›</a:t>
            </a:fld>
            <a:endParaRPr lang="en-GB"/>
          </a:p>
        </p:txBody>
      </p:sp>
    </p:spTree>
    <p:extLst>
      <p:ext uri="{BB962C8B-B14F-4D97-AF65-F5344CB8AC3E}">
        <p14:creationId xmlns:p14="http://schemas.microsoft.com/office/powerpoint/2010/main" val="143176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6117971-EA51-1E5E-FABA-79A350912289}"/>
              </a:ext>
            </a:extLst>
          </p:cNvPr>
          <p:cNvSpPr>
            <a:spLocks noGrp="1"/>
          </p:cNvSpPr>
          <p:nvPr>
            <p:ph type="dt" sz="half" idx="10"/>
          </p:nvPr>
        </p:nvSpPr>
        <p:spPr/>
        <p:txBody>
          <a:bodyPr/>
          <a:lstStyle/>
          <a:p>
            <a:fld id="{E71F570B-75EC-43EA-ABF4-4059CC25C5DE}" type="datetime1">
              <a:rPr lang="en-GB" smtClean="0"/>
              <a:t>20/10/2025</a:t>
            </a:fld>
            <a:endParaRPr lang="en-GB"/>
          </a:p>
        </p:txBody>
      </p:sp>
      <p:sp>
        <p:nvSpPr>
          <p:cNvPr id="3" name="Footer Placeholder 2">
            <a:extLst>
              <a:ext uri="{FF2B5EF4-FFF2-40B4-BE49-F238E27FC236}">
                <a16:creationId xmlns:a16="http://schemas.microsoft.com/office/drawing/2014/main" id="{0FAD9B04-D7D8-9928-C4F7-04945D1258AD}"/>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E1D0B3C4-33CC-72BA-889F-986C21D06027}"/>
              </a:ext>
            </a:extLst>
          </p:cNvPr>
          <p:cNvSpPr>
            <a:spLocks noGrp="1"/>
          </p:cNvSpPr>
          <p:nvPr>
            <p:ph type="sldNum" sz="quarter" idx="12"/>
          </p:nvPr>
        </p:nvSpPr>
        <p:spPr/>
        <p:txBody>
          <a:bodyPr/>
          <a:lstStyle/>
          <a:p>
            <a:fld id="{9EB268CF-8001-41B5-ADCD-92A7738D3D9B}" type="slidenum">
              <a:rPr lang="en-GB" smtClean="0"/>
              <a:t>‹#›</a:t>
            </a:fld>
            <a:endParaRPr lang="en-GB"/>
          </a:p>
        </p:txBody>
      </p:sp>
    </p:spTree>
    <p:extLst>
      <p:ext uri="{BB962C8B-B14F-4D97-AF65-F5344CB8AC3E}">
        <p14:creationId xmlns:p14="http://schemas.microsoft.com/office/powerpoint/2010/main" val="31510852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E2A411-0235-0168-189D-927979B3FD6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489C01DE-2ACF-2FCE-308A-BFFDD68984A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1B8CC266-6F22-04FB-4D09-0BC53C10934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7AF3AA6-3A77-7ABB-8CE0-53336682BA3D}"/>
              </a:ext>
            </a:extLst>
          </p:cNvPr>
          <p:cNvSpPr>
            <a:spLocks noGrp="1"/>
          </p:cNvSpPr>
          <p:nvPr>
            <p:ph type="dt" sz="half" idx="10"/>
          </p:nvPr>
        </p:nvSpPr>
        <p:spPr/>
        <p:txBody>
          <a:bodyPr/>
          <a:lstStyle/>
          <a:p>
            <a:fld id="{D61A2AE1-6EC0-47B6-9286-227F6CC4BE37}" type="datetime1">
              <a:rPr lang="en-GB" smtClean="0"/>
              <a:t>20/10/2025</a:t>
            </a:fld>
            <a:endParaRPr lang="en-GB"/>
          </a:p>
        </p:txBody>
      </p:sp>
      <p:sp>
        <p:nvSpPr>
          <p:cNvPr id="6" name="Footer Placeholder 5">
            <a:extLst>
              <a:ext uri="{FF2B5EF4-FFF2-40B4-BE49-F238E27FC236}">
                <a16:creationId xmlns:a16="http://schemas.microsoft.com/office/drawing/2014/main" id="{16BBDD05-C09C-3554-C58E-1FD10B16CB0A}"/>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ECACC2B-34F8-346A-1D83-2FA177A623D0}"/>
              </a:ext>
            </a:extLst>
          </p:cNvPr>
          <p:cNvSpPr>
            <a:spLocks noGrp="1"/>
          </p:cNvSpPr>
          <p:nvPr>
            <p:ph type="sldNum" sz="quarter" idx="12"/>
          </p:nvPr>
        </p:nvSpPr>
        <p:spPr/>
        <p:txBody>
          <a:bodyPr/>
          <a:lstStyle/>
          <a:p>
            <a:fld id="{9EB268CF-8001-41B5-ADCD-92A7738D3D9B}" type="slidenum">
              <a:rPr lang="en-GB" smtClean="0"/>
              <a:t>‹#›</a:t>
            </a:fld>
            <a:endParaRPr lang="en-GB"/>
          </a:p>
        </p:txBody>
      </p:sp>
    </p:spTree>
    <p:extLst>
      <p:ext uri="{BB962C8B-B14F-4D97-AF65-F5344CB8AC3E}">
        <p14:creationId xmlns:p14="http://schemas.microsoft.com/office/powerpoint/2010/main" val="28718268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6FB5CA-54DD-FAF3-9B07-FA2AE2C137F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B6044D3F-4214-F3D0-4E40-C3D7AC72D29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B0659081-4537-48AB-E691-80D9C313E98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F4768B4-1148-4864-A694-4E4A62F9017E}"/>
              </a:ext>
            </a:extLst>
          </p:cNvPr>
          <p:cNvSpPr>
            <a:spLocks noGrp="1"/>
          </p:cNvSpPr>
          <p:nvPr>
            <p:ph type="dt" sz="half" idx="10"/>
          </p:nvPr>
        </p:nvSpPr>
        <p:spPr/>
        <p:txBody>
          <a:bodyPr/>
          <a:lstStyle/>
          <a:p>
            <a:fld id="{44518897-E1BD-4D4D-B0B7-CDDDCC6D391E}" type="datetime1">
              <a:rPr lang="en-GB" smtClean="0"/>
              <a:t>20/10/2025</a:t>
            </a:fld>
            <a:endParaRPr lang="en-GB"/>
          </a:p>
        </p:txBody>
      </p:sp>
      <p:sp>
        <p:nvSpPr>
          <p:cNvPr id="6" name="Footer Placeholder 5">
            <a:extLst>
              <a:ext uri="{FF2B5EF4-FFF2-40B4-BE49-F238E27FC236}">
                <a16:creationId xmlns:a16="http://schemas.microsoft.com/office/drawing/2014/main" id="{1D6F3E4C-A1EA-4FA4-37E9-D4BDEC853204}"/>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51A227AC-5B9C-43D9-35DB-94115AA5DB3F}"/>
              </a:ext>
            </a:extLst>
          </p:cNvPr>
          <p:cNvSpPr>
            <a:spLocks noGrp="1"/>
          </p:cNvSpPr>
          <p:nvPr>
            <p:ph type="sldNum" sz="quarter" idx="12"/>
          </p:nvPr>
        </p:nvSpPr>
        <p:spPr/>
        <p:txBody>
          <a:bodyPr/>
          <a:lstStyle/>
          <a:p>
            <a:fld id="{9EB268CF-8001-41B5-ADCD-92A7738D3D9B}" type="slidenum">
              <a:rPr lang="en-GB" smtClean="0"/>
              <a:t>‹#›</a:t>
            </a:fld>
            <a:endParaRPr lang="en-GB"/>
          </a:p>
        </p:txBody>
      </p:sp>
    </p:spTree>
    <p:extLst>
      <p:ext uri="{BB962C8B-B14F-4D97-AF65-F5344CB8AC3E}">
        <p14:creationId xmlns:p14="http://schemas.microsoft.com/office/powerpoint/2010/main" val="31503273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7A51ED-3800-0D94-43C0-4DC9006B32F4}"/>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9A6EAF76-2B38-92CE-1645-607F15BB647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C291DE2D-65A0-9797-96FC-951FC7CDF996}"/>
              </a:ext>
            </a:extLst>
          </p:cNvPr>
          <p:cNvSpPr>
            <a:spLocks noGrp="1"/>
          </p:cNvSpPr>
          <p:nvPr>
            <p:ph type="dt" sz="half" idx="10"/>
          </p:nvPr>
        </p:nvSpPr>
        <p:spPr/>
        <p:txBody>
          <a:bodyPr/>
          <a:lstStyle/>
          <a:p>
            <a:fld id="{2045AAC1-57D9-4D00-AB02-0520E4D4A784}" type="datetime1">
              <a:rPr lang="en-GB" smtClean="0"/>
              <a:t>20/10/2025</a:t>
            </a:fld>
            <a:endParaRPr lang="en-GB"/>
          </a:p>
        </p:txBody>
      </p:sp>
      <p:sp>
        <p:nvSpPr>
          <p:cNvPr id="5" name="Footer Placeholder 4">
            <a:extLst>
              <a:ext uri="{FF2B5EF4-FFF2-40B4-BE49-F238E27FC236}">
                <a16:creationId xmlns:a16="http://schemas.microsoft.com/office/drawing/2014/main" id="{259EEA3A-A9E6-9867-EFD1-11A0DDEFEB9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06EDA0E-F08D-D2E9-D34C-4BE6FAC46A9A}"/>
              </a:ext>
            </a:extLst>
          </p:cNvPr>
          <p:cNvSpPr>
            <a:spLocks noGrp="1"/>
          </p:cNvSpPr>
          <p:nvPr>
            <p:ph type="sldNum" sz="quarter" idx="12"/>
          </p:nvPr>
        </p:nvSpPr>
        <p:spPr/>
        <p:txBody>
          <a:bodyPr/>
          <a:lstStyle/>
          <a:p>
            <a:fld id="{9EB268CF-8001-41B5-ADCD-92A7738D3D9B}" type="slidenum">
              <a:rPr lang="en-GB" smtClean="0"/>
              <a:t>‹#›</a:t>
            </a:fld>
            <a:endParaRPr lang="en-GB"/>
          </a:p>
        </p:txBody>
      </p:sp>
    </p:spTree>
    <p:extLst>
      <p:ext uri="{BB962C8B-B14F-4D97-AF65-F5344CB8AC3E}">
        <p14:creationId xmlns:p14="http://schemas.microsoft.com/office/powerpoint/2010/main" val="42734855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6964FED-6CB9-AF94-F333-C88F49B0784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09ED8B65-A0C8-2F43-0A6D-1E466060B89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3C972CA-C602-AC11-0A41-83CDB61E6094}"/>
              </a:ext>
            </a:extLst>
          </p:cNvPr>
          <p:cNvSpPr>
            <a:spLocks noGrp="1"/>
          </p:cNvSpPr>
          <p:nvPr>
            <p:ph type="dt" sz="half" idx="10"/>
          </p:nvPr>
        </p:nvSpPr>
        <p:spPr/>
        <p:txBody>
          <a:bodyPr/>
          <a:lstStyle/>
          <a:p>
            <a:fld id="{ECFFE15E-9DEF-4BA1-88F2-D1C0C031F929}" type="datetime1">
              <a:rPr lang="en-GB" smtClean="0"/>
              <a:t>20/10/2025</a:t>
            </a:fld>
            <a:endParaRPr lang="en-GB"/>
          </a:p>
        </p:txBody>
      </p:sp>
      <p:sp>
        <p:nvSpPr>
          <p:cNvPr id="5" name="Footer Placeholder 4">
            <a:extLst>
              <a:ext uri="{FF2B5EF4-FFF2-40B4-BE49-F238E27FC236}">
                <a16:creationId xmlns:a16="http://schemas.microsoft.com/office/drawing/2014/main" id="{9D3A94C6-4E92-45EE-14C2-7582DA4611A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73FE9AD-4D06-455A-43CC-97EF29F8594C}"/>
              </a:ext>
            </a:extLst>
          </p:cNvPr>
          <p:cNvSpPr>
            <a:spLocks noGrp="1"/>
          </p:cNvSpPr>
          <p:nvPr>
            <p:ph type="sldNum" sz="quarter" idx="12"/>
          </p:nvPr>
        </p:nvSpPr>
        <p:spPr/>
        <p:txBody>
          <a:bodyPr/>
          <a:lstStyle/>
          <a:p>
            <a:fld id="{9EB268CF-8001-41B5-ADCD-92A7738D3D9B}" type="slidenum">
              <a:rPr lang="en-GB" smtClean="0"/>
              <a:t>‹#›</a:t>
            </a:fld>
            <a:endParaRPr lang="en-GB"/>
          </a:p>
        </p:txBody>
      </p:sp>
    </p:spTree>
    <p:extLst>
      <p:ext uri="{BB962C8B-B14F-4D97-AF65-F5344CB8AC3E}">
        <p14:creationId xmlns:p14="http://schemas.microsoft.com/office/powerpoint/2010/main" val="28133539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67396CC-AE2A-8FCF-9294-1636AE519C7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26DDC19C-91AE-C626-CCEE-59A834248ED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49453CA-04EB-8130-D6AB-D4E0B71E0E8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6EA207B-7DFC-4FD1-8A21-6A6CCCD46F9E}" type="datetime1">
              <a:rPr lang="en-GB" smtClean="0"/>
              <a:t>20/10/2025</a:t>
            </a:fld>
            <a:endParaRPr lang="en-GB"/>
          </a:p>
        </p:txBody>
      </p:sp>
      <p:sp>
        <p:nvSpPr>
          <p:cNvPr id="5" name="Footer Placeholder 4">
            <a:extLst>
              <a:ext uri="{FF2B5EF4-FFF2-40B4-BE49-F238E27FC236}">
                <a16:creationId xmlns:a16="http://schemas.microsoft.com/office/drawing/2014/main" id="{560AC1FF-20C6-4F46-C58B-266E55AA379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6935F486-2A3E-BC10-5284-9B45A2F58DB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EB268CF-8001-41B5-ADCD-92A7738D3D9B}" type="slidenum">
              <a:rPr lang="en-GB" smtClean="0"/>
              <a:t>‹#›</a:t>
            </a:fld>
            <a:endParaRPr lang="en-GB"/>
          </a:p>
        </p:txBody>
      </p:sp>
    </p:spTree>
    <p:extLst>
      <p:ext uri="{BB962C8B-B14F-4D97-AF65-F5344CB8AC3E}">
        <p14:creationId xmlns:p14="http://schemas.microsoft.com/office/powerpoint/2010/main" val="1826796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image" Target="../media/image28.png"/><Relationship Id="rId1" Type="http://schemas.openxmlformats.org/officeDocument/2006/relationships/slideLayout" Target="../slideLayouts/slideLayout2.xml"/><Relationship Id="rId6" Type="http://schemas.openxmlformats.org/officeDocument/2006/relationships/image" Target="../media/image32.png"/><Relationship Id="rId11" Type="http://schemas.openxmlformats.org/officeDocument/2006/relationships/image" Target="../media/image37.png"/><Relationship Id="rId5" Type="http://schemas.openxmlformats.org/officeDocument/2006/relationships/image" Target="../media/image31.png"/><Relationship Id="rId10" Type="http://schemas.openxmlformats.org/officeDocument/2006/relationships/image" Target="../media/image36.png"/><Relationship Id="rId4" Type="http://schemas.openxmlformats.org/officeDocument/2006/relationships/image" Target="../media/image30.png"/><Relationship Id="rId9" Type="http://schemas.openxmlformats.org/officeDocument/2006/relationships/image" Target="../media/image35.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70.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80.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90.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10.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20.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30.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340.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8" Type="http://schemas.openxmlformats.org/officeDocument/2006/relationships/image" Target="../media/image420.png"/><Relationship Id="rId13" Type="http://schemas.openxmlformats.org/officeDocument/2006/relationships/image" Target="../media/image47.png"/><Relationship Id="rId18" Type="http://schemas.openxmlformats.org/officeDocument/2006/relationships/image" Target="../media/image52.png"/><Relationship Id="rId3" Type="http://schemas.openxmlformats.org/officeDocument/2006/relationships/image" Target="../media/image41.png"/><Relationship Id="rId7" Type="http://schemas.openxmlformats.org/officeDocument/2006/relationships/image" Target="../media/image410.png"/><Relationship Id="rId12" Type="http://schemas.openxmlformats.org/officeDocument/2006/relationships/image" Target="../media/image46.png"/><Relationship Id="rId17" Type="http://schemas.openxmlformats.org/officeDocument/2006/relationships/image" Target="../media/image51.png"/><Relationship Id="rId2" Type="http://schemas.openxmlformats.org/officeDocument/2006/relationships/image" Target="../media/image350.png"/><Relationship Id="rId16" Type="http://schemas.openxmlformats.org/officeDocument/2006/relationships/image" Target="../media/image50.png"/><Relationship Id="rId1" Type="http://schemas.openxmlformats.org/officeDocument/2006/relationships/slideLayout" Target="../slideLayouts/slideLayout2.xml"/><Relationship Id="rId6" Type="http://schemas.openxmlformats.org/officeDocument/2006/relationships/image" Target="../media/image44.png"/><Relationship Id="rId11" Type="http://schemas.openxmlformats.org/officeDocument/2006/relationships/image" Target="../media/image45.png"/><Relationship Id="rId5" Type="http://schemas.openxmlformats.org/officeDocument/2006/relationships/image" Target="../media/image43.png"/><Relationship Id="rId15" Type="http://schemas.openxmlformats.org/officeDocument/2006/relationships/image" Target="../media/image49.png"/><Relationship Id="rId10" Type="http://schemas.openxmlformats.org/officeDocument/2006/relationships/image" Target="../media/image440.png"/><Relationship Id="rId19" Type="http://schemas.openxmlformats.org/officeDocument/2006/relationships/image" Target="../media/image53.png"/><Relationship Id="rId4" Type="http://schemas.openxmlformats.org/officeDocument/2006/relationships/image" Target="../media/image42.png"/><Relationship Id="rId9" Type="http://schemas.openxmlformats.org/officeDocument/2006/relationships/image" Target="../media/image430.png"/><Relationship Id="rId14" Type="http://schemas.openxmlformats.org/officeDocument/2006/relationships/image" Target="../media/image48.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8" Type="http://schemas.openxmlformats.org/officeDocument/2006/relationships/image" Target="../media/image60.png"/><Relationship Id="rId13" Type="http://schemas.openxmlformats.org/officeDocument/2006/relationships/image" Target="../media/image65.png"/><Relationship Id="rId3" Type="http://schemas.openxmlformats.org/officeDocument/2006/relationships/image" Target="../media/image55.png"/><Relationship Id="rId7" Type="http://schemas.openxmlformats.org/officeDocument/2006/relationships/image" Target="../media/image59.png"/><Relationship Id="rId12" Type="http://schemas.openxmlformats.org/officeDocument/2006/relationships/image" Target="../media/image64.png"/><Relationship Id="rId2" Type="http://schemas.openxmlformats.org/officeDocument/2006/relationships/image" Target="../media/image54.png"/><Relationship Id="rId1" Type="http://schemas.openxmlformats.org/officeDocument/2006/relationships/slideLayout" Target="../slideLayouts/slideLayout2.xml"/><Relationship Id="rId6" Type="http://schemas.openxmlformats.org/officeDocument/2006/relationships/image" Target="../media/image58.png"/><Relationship Id="rId11" Type="http://schemas.openxmlformats.org/officeDocument/2006/relationships/image" Target="../media/image63.png"/><Relationship Id="rId5" Type="http://schemas.openxmlformats.org/officeDocument/2006/relationships/image" Target="../media/image57.png"/><Relationship Id="rId15" Type="http://schemas.openxmlformats.org/officeDocument/2006/relationships/image" Target="../media/image67.png"/><Relationship Id="rId10" Type="http://schemas.openxmlformats.org/officeDocument/2006/relationships/image" Target="../media/image62.png"/><Relationship Id="rId4" Type="http://schemas.openxmlformats.org/officeDocument/2006/relationships/image" Target="../media/image56.png"/><Relationship Id="rId9" Type="http://schemas.openxmlformats.org/officeDocument/2006/relationships/image" Target="../media/image61.png"/><Relationship Id="rId14" Type="http://schemas.openxmlformats.org/officeDocument/2006/relationships/image" Target="../media/image66.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540.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550.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560.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C78DFA-AB5E-A717-8846-2B007F75CA64}"/>
              </a:ext>
            </a:extLst>
          </p:cNvPr>
          <p:cNvSpPr>
            <a:spLocks noGrp="1"/>
          </p:cNvSpPr>
          <p:nvPr>
            <p:ph type="ctrTitle"/>
          </p:nvPr>
        </p:nvSpPr>
        <p:spPr/>
        <p:txBody>
          <a:bodyPr/>
          <a:lstStyle/>
          <a:p>
            <a:r>
              <a:rPr lang="en-GB" dirty="0"/>
              <a:t>Inference in </a:t>
            </a:r>
            <a:br>
              <a:rPr lang="en-GB" dirty="0"/>
            </a:br>
            <a:r>
              <a:rPr lang="en-GB" dirty="0"/>
              <a:t>First Order Logic</a:t>
            </a:r>
          </a:p>
        </p:txBody>
      </p:sp>
      <p:sp>
        <p:nvSpPr>
          <p:cNvPr id="3" name="Subtitle 2">
            <a:extLst>
              <a:ext uri="{FF2B5EF4-FFF2-40B4-BE49-F238E27FC236}">
                <a16:creationId xmlns:a16="http://schemas.microsoft.com/office/drawing/2014/main" id="{A56CBA92-8188-0147-A078-4FF601FBF79E}"/>
              </a:ext>
            </a:extLst>
          </p:cNvPr>
          <p:cNvSpPr>
            <a:spLocks noGrp="1"/>
          </p:cNvSpPr>
          <p:nvPr>
            <p:ph type="subTitle" idx="1"/>
          </p:nvPr>
        </p:nvSpPr>
        <p:spPr/>
        <p:txBody>
          <a:bodyPr/>
          <a:lstStyle/>
          <a:p>
            <a:r>
              <a:rPr lang="en-GB" dirty="0"/>
              <a:t>Md Mehrab Hossain Opi</a:t>
            </a:r>
          </a:p>
          <a:p>
            <a:r>
              <a:rPr lang="en-GB" dirty="0"/>
              <a:t>CSE 4109: Artificial Intelligence</a:t>
            </a:r>
          </a:p>
        </p:txBody>
      </p:sp>
      <p:sp>
        <p:nvSpPr>
          <p:cNvPr id="4" name="Date Placeholder 3">
            <a:extLst>
              <a:ext uri="{FF2B5EF4-FFF2-40B4-BE49-F238E27FC236}">
                <a16:creationId xmlns:a16="http://schemas.microsoft.com/office/drawing/2014/main" id="{8E5296BA-E98B-0C90-A688-7E62AA8D0734}"/>
              </a:ext>
            </a:extLst>
          </p:cNvPr>
          <p:cNvSpPr>
            <a:spLocks noGrp="1"/>
          </p:cNvSpPr>
          <p:nvPr>
            <p:ph type="dt" sz="half" idx="10"/>
          </p:nvPr>
        </p:nvSpPr>
        <p:spPr/>
        <p:txBody>
          <a:bodyPr/>
          <a:lstStyle/>
          <a:p>
            <a:fld id="{515F5BA6-E035-4879-AB7D-175221F8FC75}" type="datetime1">
              <a:rPr lang="en-GB" smtClean="0"/>
              <a:t>20/10/2025</a:t>
            </a:fld>
            <a:endParaRPr lang="en-GB"/>
          </a:p>
        </p:txBody>
      </p:sp>
      <p:sp>
        <p:nvSpPr>
          <p:cNvPr id="5" name="Slide Number Placeholder 4">
            <a:extLst>
              <a:ext uri="{FF2B5EF4-FFF2-40B4-BE49-F238E27FC236}">
                <a16:creationId xmlns:a16="http://schemas.microsoft.com/office/drawing/2014/main" id="{33897201-96C6-F5CA-638B-7D3FB18C94BE}"/>
              </a:ext>
            </a:extLst>
          </p:cNvPr>
          <p:cNvSpPr>
            <a:spLocks noGrp="1"/>
          </p:cNvSpPr>
          <p:nvPr>
            <p:ph type="sldNum" sz="quarter" idx="12"/>
          </p:nvPr>
        </p:nvSpPr>
        <p:spPr/>
        <p:txBody>
          <a:bodyPr/>
          <a:lstStyle/>
          <a:p>
            <a:fld id="{9EB268CF-8001-41B5-ADCD-92A7738D3D9B}" type="slidenum">
              <a:rPr lang="en-GB" smtClean="0"/>
              <a:t>1</a:t>
            </a:fld>
            <a:endParaRPr lang="en-GB"/>
          </a:p>
        </p:txBody>
      </p:sp>
    </p:spTree>
    <p:extLst>
      <p:ext uri="{BB962C8B-B14F-4D97-AF65-F5344CB8AC3E}">
        <p14:creationId xmlns:p14="http://schemas.microsoft.com/office/powerpoint/2010/main" val="25483124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2CC946-FD83-5D53-7894-1946EC06DEA5}"/>
              </a:ext>
            </a:extLst>
          </p:cNvPr>
          <p:cNvSpPr>
            <a:spLocks noGrp="1"/>
          </p:cNvSpPr>
          <p:nvPr>
            <p:ph type="title"/>
          </p:nvPr>
        </p:nvSpPr>
        <p:spPr/>
        <p:txBody>
          <a:bodyPr/>
          <a:lstStyle/>
          <a:p>
            <a:r>
              <a:rPr lang="en-US" dirty="0"/>
              <a:t>Propositional vs FOL Inference</a:t>
            </a:r>
          </a:p>
        </p:txBody>
      </p:sp>
      <p:sp>
        <p:nvSpPr>
          <p:cNvPr id="3" name="Content Placeholder 2">
            <a:extLst>
              <a:ext uri="{FF2B5EF4-FFF2-40B4-BE49-F238E27FC236}">
                <a16:creationId xmlns:a16="http://schemas.microsoft.com/office/drawing/2014/main" id="{92D38693-6741-4DAC-56B2-9CE526FF321C}"/>
              </a:ext>
            </a:extLst>
          </p:cNvPr>
          <p:cNvSpPr>
            <a:spLocks noGrp="1"/>
          </p:cNvSpPr>
          <p:nvPr>
            <p:ph idx="1"/>
          </p:nvPr>
        </p:nvSpPr>
        <p:spPr/>
        <p:txBody>
          <a:bodyPr/>
          <a:lstStyle/>
          <a:p>
            <a:pPr marL="0" indent="0" algn="ctr">
              <a:buNone/>
            </a:pPr>
            <a:r>
              <a:rPr lang="en-US" dirty="0"/>
              <a:t>First order inference can be done by </a:t>
            </a:r>
            <a:r>
              <a:rPr lang="en-US" b="1" dirty="0"/>
              <a:t>converting</a:t>
            </a:r>
            <a:r>
              <a:rPr lang="en-US" dirty="0"/>
              <a:t> the knowledge base to propositional logic and using propositional inference.</a:t>
            </a:r>
          </a:p>
        </p:txBody>
      </p:sp>
      <p:sp>
        <p:nvSpPr>
          <p:cNvPr id="4" name="Date Placeholder 3">
            <a:extLst>
              <a:ext uri="{FF2B5EF4-FFF2-40B4-BE49-F238E27FC236}">
                <a16:creationId xmlns:a16="http://schemas.microsoft.com/office/drawing/2014/main" id="{A547309C-D06C-FFEC-C6A9-135252789F1A}"/>
              </a:ext>
            </a:extLst>
          </p:cNvPr>
          <p:cNvSpPr>
            <a:spLocks noGrp="1"/>
          </p:cNvSpPr>
          <p:nvPr>
            <p:ph type="dt" sz="half" idx="10"/>
          </p:nvPr>
        </p:nvSpPr>
        <p:spPr/>
        <p:txBody>
          <a:bodyPr/>
          <a:lstStyle/>
          <a:p>
            <a:fld id="{1332600A-A7B8-4674-AAE3-A37177B883E5}" type="datetime1">
              <a:rPr lang="en-GB" smtClean="0"/>
              <a:t>20/10/2025</a:t>
            </a:fld>
            <a:endParaRPr lang="en-GB"/>
          </a:p>
        </p:txBody>
      </p:sp>
      <p:sp>
        <p:nvSpPr>
          <p:cNvPr id="5" name="Slide Number Placeholder 4">
            <a:extLst>
              <a:ext uri="{FF2B5EF4-FFF2-40B4-BE49-F238E27FC236}">
                <a16:creationId xmlns:a16="http://schemas.microsoft.com/office/drawing/2014/main" id="{9917F203-935F-3D52-DBE2-8605F6AFBD53}"/>
              </a:ext>
            </a:extLst>
          </p:cNvPr>
          <p:cNvSpPr>
            <a:spLocks noGrp="1"/>
          </p:cNvSpPr>
          <p:nvPr>
            <p:ph type="sldNum" sz="quarter" idx="12"/>
          </p:nvPr>
        </p:nvSpPr>
        <p:spPr/>
        <p:txBody>
          <a:bodyPr/>
          <a:lstStyle/>
          <a:p>
            <a:fld id="{9EB268CF-8001-41B5-ADCD-92A7738D3D9B}" type="slidenum">
              <a:rPr lang="en-GB" smtClean="0"/>
              <a:t>2</a:t>
            </a:fld>
            <a:endParaRPr lang="en-GB"/>
          </a:p>
        </p:txBody>
      </p:sp>
    </p:spTree>
    <p:extLst>
      <p:ext uri="{BB962C8B-B14F-4D97-AF65-F5344CB8AC3E}">
        <p14:creationId xmlns:p14="http://schemas.microsoft.com/office/powerpoint/2010/main" val="10645829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10054-F1E3-C780-C32C-99CD74C208B7}"/>
              </a:ext>
            </a:extLst>
          </p:cNvPr>
          <p:cNvSpPr>
            <a:spLocks noGrp="1"/>
          </p:cNvSpPr>
          <p:nvPr>
            <p:ph type="title"/>
          </p:nvPr>
        </p:nvSpPr>
        <p:spPr/>
        <p:txBody>
          <a:bodyPr/>
          <a:lstStyle/>
          <a:p>
            <a:r>
              <a:rPr lang="en-GB" dirty="0"/>
              <a:t>Inference Rule for Quantifiers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031EA81-C2FA-4F48-5300-A1641760D908}"/>
                  </a:ext>
                </a:extLst>
              </p:cNvPr>
              <p:cNvSpPr>
                <a:spLocks noGrp="1"/>
              </p:cNvSpPr>
              <p:nvPr>
                <p:ph idx="1"/>
              </p:nvPr>
            </p:nvSpPr>
            <p:spPr/>
            <p:txBody>
              <a:bodyPr>
                <a:normAutofit/>
              </a:bodyPr>
              <a:lstStyle/>
              <a:p>
                <a:r>
                  <a:rPr lang="en-GB" dirty="0"/>
                  <a:t>Suppose the KB contains the following:</a:t>
                </a:r>
              </a:p>
              <a:p>
                <a:pPr marL="0" indent="0">
                  <a:buNone/>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m:t>
                      </m:r>
                      <m:r>
                        <a:rPr lang="en-US" i="1" dirty="0" smtClean="0">
                          <a:latin typeface="Cambria Math" panose="02040503050406030204" pitchFamily="18" charset="0"/>
                        </a:rPr>
                        <m:t>𝑥</m:t>
                      </m:r>
                      <m:r>
                        <a:rPr lang="en-US" i="1" dirty="0" smtClean="0">
                          <a:latin typeface="Cambria Math" panose="02040503050406030204" pitchFamily="18" charset="0"/>
                        </a:rPr>
                        <m:t> </m:t>
                      </m:r>
                      <m:r>
                        <a:rPr lang="en-US" i="1" dirty="0" smtClean="0">
                          <a:latin typeface="Cambria Math" panose="02040503050406030204" pitchFamily="18" charset="0"/>
                        </a:rPr>
                        <m:t>𝐾𝑖𝑛𝑔</m:t>
                      </m:r>
                      <m:r>
                        <a:rPr lang="en-US" i="1" dirty="0" smtClean="0">
                          <a:latin typeface="Cambria Math" panose="02040503050406030204" pitchFamily="18" charset="0"/>
                        </a:rPr>
                        <m:t>(</m:t>
                      </m:r>
                      <m:r>
                        <a:rPr lang="en-US" i="1" dirty="0" smtClean="0">
                          <a:latin typeface="Cambria Math" panose="02040503050406030204" pitchFamily="18" charset="0"/>
                        </a:rPr>
                        <m:t>𝑥</m:t>
                      </m:r>
                      <m:r>
                        <a:rPr lang="en-US" i="1" dirty="0" smtClean="0">
                          <a:latin typeface="Cambria Math" panose="02040503050406030204" pitchFamily="18" charset="0"/>
                        </a:rPr>
                        <m:t>)∧</m:t>
                      </m:r>
                      <m:r>
                        <a:rPr lang="en-US" i="1" dirty="0" smtClean="0">
                          <a:latin typeface="Cambria Math" panose="02040503050406030204" pitchFamily="18" charset="0"/>
                        </a:rPr>
                        <m:t>𝐺𝑟𝑒𝑒𝑑𝑦</m:t>
                      </m:r>
                      <m:r>
                        <a:rPr lang="en-US" i="1" dirty="0" smtClean="0">
                          <a:latin typeface="Cambria Math" panose="02040503050406030204" pitchFamily="18" charset="0"/>
                        </a:rPr>
                        <m:t>(</m:t>
                      </m:r>
                      <m:r>
                        <a:rPr lang="en-US" i="1" dirty="0" smtClean="0">
                          <a:latin typeface="Cambria Math" panose="02040503050406030204" pitchFamily="18" charset="0"/>
                        </a:rPr>
                        <m:t>𝑥</m:t>
                      </m:r>
                      <m:r>
                        <a:rPr lang="en-US" i="1" dirty="0" smtClean="0">
                          <a:latin typeface="Cambria Math" panose="02040503050406030204" pitchFamily="18" charset="0"/>
                        </a:rPr>
                        <m:t>) ⇒ </m:t>
                      </m:r>
                      <m:r>
                        <a:rPr lang="en-US" i="1" dirty="0" smtClean="0">
                          <a:latin typeface="Cambria Math" panose="02040503050406030204" pitchFamily="18" charset="0"/>
                        </a:rPr>
                        <m:t>𝐸𝑣𝑖𝑙</m:t>
                      </m:r>
                      <m:r>
                        <a:rPr lang="en-US" i="1" dirty="0" smtClean="0">
                          <a:latin typeface="Cambria Math" panose="02040503050406030204" pitchFamily="18" charset="0"/>
                        </a:rPr>
                        <m:t>(</m:t>
                      </m:r>
                      <m:r>
                        <a:rPr lang="en-US" i="1" dirty="0" smtClean="0">
                          <a:latin typeface="Cambria Math" panose="02040503050406030204" pitchFamily="18" charset="0"/>
                        </a:rPr>
                        <m:t>𝑥</m:t>
                      </m:r>
                      <m:r>
                        <a:rPr lang="en-US" i="1" dirty="0" smtClean="0">
                          <a:latin typeface="Cambria Math" panose="02040503050406030204" pitchFamily="18" charset="0"/>
                        </a:rPr>
                        <m:t>)</m:t>
                      </m:r>
                    </m:oMath>
                  </m:oMathPara>
                </a14:m>
                <a:endParaRPr lang="en-GB" dirty="0"/>
              </a:p>
              <a:p>
                <a:r>
                  <a:rPr lang="en-GB" dirty="0"/>
                  <a:t>It seems reasonable to write:</a:t>
                </a:r>
              </a:p>
              <a:p>
                <a:pPr marL="0" indent="0">
                  <a:buNone/>
                </a:pPr>
                <a14:m>
                  <m:oMathPara xmlns:m="http://schemas.openxmlformats.org/officeDocument/2006/math">
                    <m:oMathParaPr>
                      <m:jc m:val="centerGroup"/>
                    </m:oMathParaPr>
                    <m:oMath xmlns:m="http://schemas.openxmlformats.org/officeDocument/2006/math">
                      <m:r>
                        <a:rPr lang="en-US" sz="2400" i="1" dirty="0" smtClean="0">
                          <a:latin typeface="Cambria Math" panose="02040503050406030204" pitchFamily="18" charset="0"/>
                        </a:rPr>
                        <m:t>𝐾𝑖𝑛𝑔</m:t>
                      </m:r>
                      <m:d>
                        <m:dPr>
                          <m:ctrlPr>
                            <a:rPr lang="en-US" sz="2400" i="1" dirty="0" smtClean="0">
                              <a:latin typeface="Cambria Math" panose="02040503050406030204" pitchFamily="18" charset="0"/>
                            </a:rPr>
                          </m:ctrlPr>
                        </m:dPr>
                        <m:e>
                          <m:r>
                            <a:rPr lang="en-US" sz="2400" i="1" dirty="0" smtClean="0">
                              <a:latin typeface="Cambria Math" panose="02040503050406030204" pitchFamily="18" charset="0"/>
                            </a:rPr>
                            <m:t>𝐽𝑜</m:t>
                          </m:r>
                          <m:r>
                            <a:rPr lang="en-US" sz="2400" i="1" dirty="0" smtClean="0">
                              <a:latin typeface="Cambria Math" panose="02040503050406030204" pitchFamily="18" charset="0"/>
                            </a:rPr>
                            <m:t>h</m:t>
                          </m:r>
                          <m:r>
                            <a:rPr lang="en-US" sz="2400" i="1" dirty="0" smtClean="0">
                              <a:latin typeface="Cambria Math" panose="02040503050406030204" pitchFamily="18" charset="0"/>
                            </a:rPr>
                            <m:t>𝑛</m:t>
                          </m:r>
                        </m:e>
                      </m:d>
                      <m:r>
                        <a:rPr lang="en-US" sz="2400" i="1" dirty="0" smtClean="0">
                          <a:latin typeface="Cambria Math" panose="02040503050406030204" pitchFamily="18" charset="0"/>
                        </a:rPr>
                        <m:t>∧</m:t>
                      </m:r>
                      <m:r>
                        <a:rPr lang="en-US" sz="2400" i="1" dirty="0" smtClean="0">
                          <a:latin typeface="Cambria Math" panose="02040503050406030204" pitchFamily="18" charset="0"/>
                        </a:rPr>
                        <m:t>𝐺𝑟𝑒𝑒𝑑𝑦</m:t>
                      </m:r>
                      <m:d>
                        <m:dPr>
                          <m:ctrlPr>
                            <a:rPr lang="en-US" sz="2400" i="1" dirty="0" smtClean="0">
                              <a:latin typeface="Cambria Math" panose="02040503050406030204" pitchFamily="18" charset="0"/>
                            </a:rPr>
                          </m:ctrlPr>
                        </m:dPr>
                        <m:e>
                          <m:r>
                            <a:rPr lang="en-US" sz="2400" i="1" dirty="0" smtClean="0">
                              <a:latin typeface="Cambria Math" panose="02040503050406030204" pitchFamily="18" charset="0"/>
                            </a:rPr>
                            <m:t>𝐽𝑜</m:t>
                          </m:r>
                          <m:r>
                            <a:rPr lang="en-US" sz="2400" i="1" dirty="0" smtClean="0">
                              <a:latin typeface="Cambria Math" panose="02040503050406030204" pitchFamily="18" charset="0"/>
                            </a:rPr>
                            <m:t>h</m:t>
                          </m:r>
                          <m:r>
                            <a:rPr lang="en-US" sz="2400" i="1" dirty="0" smtClean="0">
                              <a:latin typeface="Cambria Math" panose="02040503050406030204" pitchFamily="18" charset="0"/>
                            </a:rPr>
                            <m:t>𝑛</m:t>
                          </m:r>
                        </m:e>
                      </m:d>
                      <m:r>
                        <a:rPr lang="en-US" sz="2400" i="1" dirty="0" smtClean="0">
                          <a:latin typeface="Cambria Math" panose="02040503050406030204" pitchFamily="18" charset="0"/>
                        </a:rPr>
                        <m:t>⇒ </m:t>
                      </m:r>
                      <m:r>
                        <a:rPr lang="en-US" sz="2400" i="1" dirty="0" smtClean="0">
                          <a:latin typeface="Cambria Math" panose="02040503050406030204" pitchFamily="18" charset="0"/>
                        </a:rPr>
                        <m:t>𝐸𝑣𝑖𝑙</m:t>
                      </m:r>
                      <m:d>
                        <m:dPr>
                          <m:ctrlPr>
                            <a:rPr lang="en-US" sz="2400" i="1" dirty="0" smtClean="0">
                              <a:latin typeface="Cambria Math" panose="02040503050406030204" pitchFamily="18" charset="0"/>
                            </a:rPr>
                          </m:ctrlPr>
                        </m:dPr>
                        <m:e>
                          <m:r>
                            <a:rPr lang="en-US" sz="2400" i="1" dirty="0" smtClean="0">
                              <a:latin typeface="Cambria Math" panose="02040503050406030204" pitchFamily="18" charset="0"/>
                            </a:rPr>
                            <m:t>𝐽𝑜</m:t>
                          </m:r>
                          <m:r>
                            <a:rPr lang="en-US" sz="2400" i="1" dirty="0" smtClean="0">
                              <a:latin typeface="Cambria Math" panose="02040503050406030204" pitchFamily="18" charset="0"/>
                            </a:rPr>
                            <m:t>h</m:t>
                          </m:r>
                          <m:r>
                            <a:rPr lang="en-US" sz="2400" i="1" dirty="0" smtClean="0">
                              <a:latin typeface="Cambria Math" panose="02040503050406030204" pitchFamily="18" charset="0"/>
                            </a:rPr>
                            <m:t>𝑛</m:t>
                          </m:r>
                        </m:e>
                      </m:d>
                    </m:oMath>
                  </m:oMathPara>
                </a14:m>
                <a:endParaRPr lang="en-US" sz="240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sz="2400" i="1" dirty="0" smtClean="0">
                          <a:latin typeface="Cambria Math" panose="02040503050406030204" pitchFamily="18" charset="0"/>
                        </a:rPr>
                        <m:t>𝐾𝑖𝑛𝑔</m:t>
                      </m:r>
                      <m:d>
                        <m:dPr>
                          <m:ctrlPr>
                            <a:rPr lang="en-US" sz="2400" i="1" dirty="0" smtClean="0">
                              <a:latin typeface="Cambria Math" panose="02040503050406030204" pitchFamily="18" charset="0"/>
                            </a:rPr>
                          </m:ctrlPr>
                        </m:dPr>
                        <m:e>
                          <m:r>
                            <a:rPr lang="en-US" sz="2400" i="1" dirty="0" smtClean="0">
                              <a:latin typeface="Cambria Math" panose="02040503050406030204" pitchFamily="18" charset="0"/>
                            </a:rPr>
                            <m:t>𝑅𝑖𝑐</m:t>
                          </m:r>
                          <m:r>
                            <a:rPr lang="en-US" sz="2400" i="1" dirty="0" smtClean="0">
                              <a:latin typeface="Cambria Math" panose="02040503050406030204" pitchFamily="18" charset="0"/>
                            </a:rPr>
                            <m:t>h</m:t>
                          </m:r>
                          <m:r>
                            <a:rPr lang="en-US" sz="2400" i="1" dirty="0" smtClean="0">
                              <a:latin typeface="Cambria Math" panose="02040503050406030204" pitchFamily="18" charset="0"/>
                            </a:rPr>
                            <m:t>𝑎𝑟𝑑</m:t>
                          </m:r>
                        </m:e>
                      </m:d>
                      <m:r>
                        <a:rPr lang="en-US" sz="2400" i="1" dirty="0" smtClean="0">
                          <a:latin typeface="Cambria Math" panose="02040503050406030204" pitchFamily="18" charset="0"/>
                        </a:rPr>
                        <m:t>∧ </m:t>
                      </m:r>
                      <m:r>
                        <a:rPr lang="en-US" sz="2400" i="1" dirty="0" smtClean="0">
                          <a:latin typeface="Cambria Math" panose="02040503050406030204" pitchFamily="18" charset="0"/>
                        </a:rPr>
                        <m:t>𝐺𝑟𝑒𝑒𝑑𝑦</m:t>
                      </m:r>
                      <m:d>
                        <m:dPr>
                          <m:ctrlPr>
                            <a:rPr lang="en-US" sz="2400" i="1" dirty="0" smtClean="0">
                              <a:latin typeface="Cambria Math" panose="02040503050406030204" pitchFamily="18" charset="0"/>
                            </a:rPr>
                          </m:ctrlPr>
                        </m:dPr>
                        <m:e>
                          <m:r>
                            <a:rPr lang="en-US" sz="2400" i="1" dirty="0" smtClean="0">
                              <a:latin typeface="Cambria Math" panose="02040503050406030204" pitchFamily="18" charset="0"/>
                            </a:rPr>
                            <m:t>𝑅𝑖𝑐</m:t>
                          </m:r>
                          <m:r>
                            <a:rPr lang="en-US" sz="2400" i="1" dirty="0" smtClean="0">
                              <a:latin typeface="Cambria Math" panose="02040503050406030204" pitchFamily="18" charset="0"/>
                            </a:rPr>
                            <m:t>h</m:t>
                          </m:r>
                          <m:r>
                            <a:rPr lang="en-US" sz="2400" i="1" dirty="0" smtClean="0">
                              <a:latin typeface="Cambria Math" panose="02040503050406030204" pitchFamily="18" charset="0"/>
                            </a:rPr>
                            <m:t>𝑎𝑟𝑑</m:t>
                          </m:r>
                        </m:e>
                      </m:d>
                      <m:r>
                        <a:rPr lang="en-US" sz="2400" i="1" dirty="0" smtClean="0">
                          <a:latin typeface="Cambria Math" panose="02040503050406030204" pitchFamily="18" charset="0"/>
                        </a:rPr>
                        <m:t>⇒ </m:t>
                      </m:r>
                      <m:r>
                        <a:rPr lang="en-US" sz="2400" i="1" dirty="0" smtClean="0">
                          <a:latin typeface="Cambria Math" panose="02040503050406030204" pitchFamily="18" charset="0"/>
                        </a:rPr>
                        <m:t>𝐸𝑣𝑖𝑙</m:t>
                      </m:r>
                      <m:d>
                        <m:dPr>
                          <m:ctrlPr>
                            <a:rPr lang="en-US" sz="2400" i="1" dirty="0" smtClean="0">
                              <a:latin typeface="Cambria Math" panose="02040503050406030204" pitchFamily="18" charset="0"/>
                            </a:rPr>
                          </m:ctrlPr>
                        </m:dPr>
                        <m:e>
                          <m:r>
                            <a:rPr lang="en-US" sz="2400" i="1" dirty="0" smtClean="0">
                              <a:latin typeface="Cambria Math" panose="02040503050406030204" pitchFamily="18" charset="0"/>
                            </a:rPr>
                            <m:t>𝑅𝑖𝑐</m:t>
                          </m:r>
                          <m:r>
                            <a:rPr lang="en-US" sz="2400" i="1" dirty="0" smtClean="0">
                              <a:latin typeface="Cambria Math" panose="02040503050406030204" pitchFamily="18" charset="0"/>
                            </a:rPr>
                            <m:t>h</m:t>
                          </m:r>
                          <m:r>
                            <a:rPr lang="en-US" sz="2400" i="1" dirty="0" smtClean="0">
                              <a:latin typeface="Cambria Math" panose="02040503050406030204" pitchFamily="18" charset="0"/>
                            </a:rPr>
                            <m:t>𝑎𝑟𝑑</m:t>
                          </m:r>
                        </m:e>
                      </m:d>
                    </m:oMath>
                  </m:oMathPara>
                </a14:m>
                <a:endParaRPr lang="en-US" sz="240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sz="2400" i="1" dirty="0" smtClean="0">
                          <a:latin typeface="Cambria Math" panose="02040503050406030204" pitchFamily="18" charset="0"/>
                        </a:rPr>
                        <m:t>𝐾𝑖𝑛𝑔</m:t>
                      </m:r>
                      <m:r>
                        <a:rPr lang="en-US" sz="2400" i="1" dirty="0" smtClean="0">
                          <a:latin typeface="Cambria Math" panose="02040503050406030204" pitchFamily="18" charset="0"/>
                        </a:rPr>
                        <m:t>(</m:t>
                      </m:r>
                      <m:r>
                        <a:rPr lang="en-US" sz="2400" i="1" dirty="0" smtClean="0">
                          <a:latin typeface="Cambria Math" panose="02040503050406030204" pitchFamily="18" charset="0"/>
                        </a:rPr>
                        <m:t>𝐹𝑎𝑡</m:t>
                      </m:r>
                      <m:r>
                        <a:rPr lang="en-US" sz="2400" i="1" dirty="0" smtClean="0">
                          <a:latin typeface="Cambria Math" panose="02040503050406030204" pitchFamily="18" charset="0"/>
                        </a:rPr>
                        <m:t>h</m:t>
                      </m:r>
                      <m:r>
                        <a:rPr lang="en-US" sz="2400" i="1" dirty="0" smtClean="0">
                          <a:latin typeface="Cambria Math" panose="02040503050406030204" pitchFamily="18" charset="0"/>
                        </a:rPr>
                        <m:t>𝑒𝑟</m:t>
                      </m:r>
                      <m:r>
                        <a:rPr lang="en-US" sz="2400" i="1" dirty="0" smtClean="0">
                          <a:latin typeface="Cambria Math" panose="02040503050406030204" pitchFamily="18" charset="0"/>
                        </a:rPr>
                        <m:t> (</m:t>
                      </m:r>
                      <m:r>
                        <a:rPr lang="en-US" sz="2400" i="1" dirty="0" smtClean="0">
                          <a:latin typeface="Cambria Math" panose="02040503050406030204" pitchFamily="18" charset="0"/>
                        </a:rPr>
                        <m:t>𝐽𝑜</m:t>
                      </m:r>
                      <m:r>
                        <a:rPr lang="en-US" sz="2400" i="1" dirty="0" smtClean="0">
                          <a:latin typeface="Cambria Math" panose="02040503050406030204" pitchFamily="18" charset="0"/>
                        </a:rPr>
                        <m:t>h</m:t>
                      </m:r>
                      <m:r>
                        <a:rPr lang="en-US" sz="2400" i="1" dirty="0" smtClean="0">
                          <a:latin typeface="Cambria Math" panose="02040503050406030204" pitchFamily="18" charset="0"/>
                        </a:rPr>
                        <m:t>𝑛</m:t>
                      </m:r>
                      <m:r>
                        <a:rPr lang="en-US" sz="2400" i="1" dirty="0" smtClean="0">
                          <a:latin typeface="Cambria Math" panose="02040503050406030204" pitchFamily="18" charset="0"/>
                        </a:rPr>
                        <m:t>)) ∧ </m:t>
                      </m:r>
                      <m:r>
                        <a:rPr lang="en-US" sz="2400" i="1" dirty="0" smtClean="0">
                          <a:latin typeface="Cambria Math" panose="02040503050406030204" pitchFamily="18" charset="0"/>
                        </a:rPr>
                        <m:t>𝐺𝑟𝑒𝑒𝑑𝑦</m:t>
                      </m:r>
                      <m:r>
                        <a:rPr lang="en-US" sz="2400" i="1" dirty="0" smtClean="0">
                          <a:latin typeface="Cambria Math" panose="02040503050406030204" pitchFamily="18" charset="0"/>
                        </a:rPr>
                        <m:t>(</m:t>
                      </m:r>
                      <m:r>
                        <a:rPr lang="en-US" sz="2400" i="1" dirty="0" smtClean="0">
                          <a:latin typeface="Cambria Math" panose="02040503050406030204" pitchFamily="18" charset="0"/>
                        </a:rPr>
                        <m:t>𝐹𝑎𝑡</m:t>
                      </m:r>
                      <m:r>
                        <a:rPr lang="en-US" sz="2400" i="1" dirty="0" smtClean="0">
                          <a:latin typeface="Cambria Math" panose="02040503050406030204" pitchFamily="18" charset="0"/>
                        </a:rPr>
                        <m:t>h</m:t>
                      </m:r>
                      <m:r>
                        <a:rPr lang="en-US" sz="2400" i="1" dirty="0" smtClean="0">
                          <a:latin typeface="Cambria Math" panose="02040503050406030204" pitchFamily="18" charset="0"/>
                        </a:rPr>
                        <m:t>𝑒𝑟</m:t>
                      </m:r>
                      <m:r>
                        <a:rPr lang="en-US" sz="2400" i="1" dirty="0" smtClean="0">
                          <a:latin typeface="Cambria Math" panose="02040503050406030204" pitchFamily="18" charset="0"/>
                        </a:rPr>
                        <m:t>(</m:t>
                      </m:r>
                      <m:r>
                        <a:rPr lang="en-US" sz="2400" i="1" dirty="0" smtClean="0">
                          <a:latin typeface="Cambria Math" panose="02040503050406030204" pitchFamily="18" charset="0"/>
                        </a:rPr>
                        <m:t>𝐽𝑜</m:t>
                      </m:r>
                      <m:r>
                        <a:rPr lang="en-US" sz="2400" i="1" dirty="0" smtClean="0">
                          <a:latin typeface="Cambria Math" panose="02040503050406030204" pitchFamily="18" charset="0"/>
                        </a:rPr>
                        <m:t>h</m:t>
                      </m:r>
                      <m:r>
                        <a:rPr lang="en-US" sz="2400" i="1" dirty="0" smtClean="0">
                          <a:latin typeface="Cambria Math" panose="02040503050406030204" pitchFamily="18" charset="0"/>
                        </a:rPr>
                        <m:t>𝑛</m:t>
                      </m:r>
                      <m:r>
                        <a:rPr lang="en-US" sz="2400" i="1" dirty="0" smtClean="0">
                          <a:latin typeface="Cambria Math" panose="02040503050406030204" pitchFamily="18" charset="0"/>
                        </a:rPr>
                        <m:t>)) ⇒ </m:t>
                      </m:r>
                      <m:r>
                        <a:rPr lang="en-US" sz="2400" i="1" dirty="0" smtClean="0">
                          <a:latin typeface="Cambria Math" panose="02040503050406030204" pitchFamily="18" charset="0"/>
                        </a:rPr>
                        <m:t>𝐸𝑣𝑖𝑙</m:t>
                      </m:r>
                      <m:r>
                        <a:rPr lang="en-US" sz="2400" i="1" dirty="0" smtClean="0">
                          <a:latin typeface="Cambria Math" panose="02040503050406030204" pitchFamily="18" charset="0"/>
                        </a:rPr>
                        <m:t>(</m:t>
                      </m:r>
                      <m:r>
                        <a:rPr lang="en-US" sz="2400" i="1" dirty="0" smtClean="0">
                          <a:latin typeface="Cambria Math" panose="02040503050406030204" pitchFamily="18" charset="0"/>
                        </a:rPr>
                        <m:t>𝐹𝑎𝑡</m:t>
                      </m:r>
                      <m:r>
                        <a:rPr lang="en-US" sz="2400" i="1" dirty="0" smtClean="0">
                          <a:latin typeface="Cambria Math" panose="02040503050406030204" pitchFamily="18" charset="0"/>
                        </a:rPr>
                        <m:t>h</m:t>
                      </m:r>
                      <m:r>
                        <a:rPr lang="en-US" sz="2400" i="1" dirty="0" smtClean="0">
                          <a:latin typeface="Cambria Math" panose="02040503050406030204" pitchFamily="18" charset="0"/>
                        </a:rPr>
                        <m:t>𝑒𝑟</m:t>
                      </m:r>
                      <m:r>
                        <a:rPr lang="en-US" sz="2400" i="1" dirty="0" smtClean="0">
                          <a:latin typeface="Cambria Math" panose="02040503050406030204" pitchFamily="18" charset="0"/>
                        </a:rPr>
                        <m:t> (</m:t>
                      </m:r>
                      <m:r>
                        <a:rPr lang="en-US" sz="2400" i="1" dirty="0" smtClean="0">
                          <a:latin typeface="Cambria Math" panose="02040503050406030204" pitchFamily="18" charset="0"/>
                        </a:rPr>
                        <m:t>𝐽𝑜</m:t>
                      </m:r>
                      <m:r>
                        <a:rPr lang="en-US" sz="2400" i="1" dirty="0" smtClean="0">
                          <a:latin typeface="Cambria Math" panose="02040503050406030204" pitchFamily="18" charset="0"/>
                        </a:rPr>
                        <m:t>h</m:t>
                      </m:r>
                      <m:r>
                        <a:rPr lang="en-US" sz="2400" i="1" dirty="0" smtClean="0">
                          <a:latin typeface="Cambria Math" panose="02040503050406030204" pitchFamily="18" charset="0"/>
                        </a:rPr>
                        <m:t>𝑛</m:t>
                      </m:r>
                      <m:r>
                        <a:rPr lang="en-US" sz="2400" i="1" dirty="0" smtClean="0">
                          <a:latin typeface="Cambria Math" panose="02040503050406030204" pitchFamily="18" charset="0"/>
                        </a:rPr>
                        <m:t>))</m:t>
                      </m:r>
                    </m:oMath>
                  </m:oMathPara>
                </a14:m>
                <a:endParaRPr lang="en-US" sz="2400" dirty="0"/>
              </a:p>
              <a:p>
                <a:endParaRPr lang="en-GB" dirty="0"/>
              </a:p>
            </p:txBody>
          </p:sp>
        </mc:Choice>
        <mc:Fallback xmlns="">
          <p:sp>
            <p:nvSpPr>
              <p:cNvPr id="3" name="Content Placeholder 2">
                <a:extLst>
                  <a:ext uri="{FF2B5EF4-FFF2-40B4-BE49-F238E27FC236}">
                    <a16:creationId xmlns:a16="http://schemas.microsoft.com/office/drawing/2014/main" id="{7031EA81-C2FA-4F48-5300-A1641760D908}"/>
                  </a:ext>
                </a:extLst>
              </p:cNvPr>
              <p:cNvSpPr>
                <a:spLocks noGrp="1" noRot="1" noChangeAspect="1" noMove="1" noResize="1" noEditPoints="1" noAdjustHandles="1" noChangeArrowheads="1" noChangeShapeType="1" noTextEdit="1"/>
              </p:cNvSpPr>
              <p:nvPr>
                <p:ph idx="1"/>
              </p:nvPr>
            </p:nvSpPr>
            <p:spPr>
              <a:blipFill>
                <a:blip r:embed="rId2"/>
                <a:stretch>
                  <a:fillRect l="-1043" t="-2381"/>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67646423-7925-1E0A-8BCE-8CCBEF731232}"/>
              </a:ext>
            </a:extLst>
          </p:cNvPr>
          <p:cNvSpPr>
            <a:spLocks noGrp="1"/>
          </p:cNvSpPr>
          <p:nvPr>
            <p:ph type="dt" sz="half" idx="10"/>
          </p:nvPr>
        </p:nvSpPr>
        <p:spPr/>
        <p:txBody>
          <a:bodyPr/>
          <a:lstStyle/>
          <a:p>
            <a:fld id="{1332600A-A7B8-4674-AAE3-A37177B883E5}" type="datetime1">
              <a:rPr lang="en-GB" smtClean="0"/>
              <a:t>20/10/2025</a:t>
            </a:fld>
            <a:endParaRPr lang="en-GB"/>
          </a:p>
        </p:txBody>
      </p:sp>
      <p:sp>
        <p:nvSpPr>
          <p:cNvPr id="5" name="Slide Number Placeholder 4">
            <a:extLst>
              <a:ext uri="{FF2B5EF4-FFF2-40B4-BE49-F238E27FC236}">
                <a16:creationId xmlns:a16="http://schemas.microsoft.com/office/drawing/2014/main" id="{C8B66F3E-086A-1AFA-6A1E-493147B67DE4}"/>
              </a:ext>
            </a:extLst>
          </p:cNvPr>
          <p:cNvSpPr>
            <a:spLocks noGrp="1"/>
          </p:cNvSpPr>
          <p:nvPr>
            <p:ph type="sldNum" sz="quarter" idx="12"/>
          </p:nvPr>
        </p:nvSpPr>
        <p:spPr/>
        <p:txBody>
          <a:bodyPr/>
          <a:lstStyle/>
          <a:p>
            <a:fld id="{9EB268CF-8001-41B5-ADCD-92A7738D3D9B}" type="slidenum">
              <a:rPr lang="en-GB" smtClean="0"/>
              <a:t>3</a:t>
            </a:fld>
            <a:endParaRPr lang="en-GB"/>
          </a:p>
        </p:txBody>
      </p:sp>
    </p:spTree>
    <p:extLst>
      <p:ext uri="{BB962C8B-B14F-4D97-AF65-F5344CB8AC3E}">
        <p14:creationId xmlns:p14="http://schemas.microsoft.com/office/powerpoint/2010/main" val="16650116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fade">
                                      <p:cBhvr>
                                        <p:cTn id="25" dur="500"/>
                                        <p:tgtEl>
                                          <p:spTgt spid="3">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3">
                                            <p:txEl>
                                              <p:pRg st="5" end="5"/>
                                            </p:txEl>
                                          </p:spTgt>
                                        </p:tgtEl>
                                        <p:attrNameLst>
                                          <p:attrName>style.visibility</p:attrName>
                                        </p:attrNameLst>
                                      </p:cBhvr>
                                      <p:to>
                                        <p:strVal val="visible"/>
                                      </p:to>
                                    </p:set>
                                    <p:animEffect transition="in" filter="fade">
                                      <p:cBhvr>
                                        <p:cTn id="30"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519AF4-D419-67E7-C37E-19B4BCBBF700}"/>
              </a:ext>
            </a:extLst>
          </p:cNvPr>
          <p:cNvSpPr>
            <a:spLocks noGrp="1"/>
          </p:cNvSpPr>
          <p:nvPr>
            <p:ph type="title"/>
          </p:nvPr>
        </p:nvSpPr>
        <p:spPr/>
        <p:txBody>
          <a:bodyPr/>
          <a:lstStyle/>
          <a:p>
            <a:r>
              <a:rPr lang="en-US" dirty="0"/>
              <a:t>Universal Instantiation (UI)</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F655CB1-931C-E391-B6C7-B2EC6C903D71}"/>
                  </a:ext>
                </a:extLst>
              </p:cNvPr>
              <p:cNvSpPr>
                <a:spLocks noGrp="1"/>
              </p:cNvSpPr>
              <p:nvPr>
                <p:ph idx="1"/>
              </p:nvPr>
            </p:nvSpPr>
            <p:spPr/>
            <p:txBody>
              <a:bodyPr/>
              <a:lstStyle/>
              <a:p>
                <a:r>
                  <a:rPr lang="en-GB" dirty="0"/>
                  <a:t>UI says that we can infer any sentence obtained by substituting a ground term for the variable.</a:t>
                </a:r>
              </a:p>
              <a:p>
                <a:r>
                  <a:rPr lang="en-GB" dirty="0"/>
                  <a:t>Let </a:t>
                </a:r>
                <a14:m>
                  <m:oMath xmlns:m="http://schemas.openxmlformats.org/officeDocument/2006/math">
                    <m:r>
                      <a:rPr lang="en-US" i="1">
                        <a:latin typeface="Cambria Math" panose="02040503050406030204" pitchFamily="18" charset="0"/>
                      </a:rPr>
                      <m:t>𝑆𝑈𝐵𝑆𝑇</m:t>
                    </m:r>
                    <m:r>
                      <a:rPr lang="en-US" i="1">
                        <a:latin typeface="Cambria Math" panose="02040503050406030204" pitchFamily="18" charset="0"/>
                      </a:rPr>
                      <m:t>(</m:t>
                    </m:r>
                    <m:r>
                      <a:rPr lang="en-US" i="1">
                        <a:latin typeface="Cambria Math" panose="02040503050406030204" pitchFamily="18" charset="0"/>
                      </a:rPr>
                      <m:t>𝜃</m:t>
                    </m:r>
                    <m:r>
                      <a:rPr lang="en-US" i="1">
                        <a:latin typeface="Cambria Math" panose="02040503050406030204" pitchFamily="18" charset="0"/>
                      </a:rPr>
                      <m:t>, </m:t>
                    </m:r>
                    <m:r>
                      <a:rPr lang="en-US" i="1">
                        <a:latin typeface="Cambria Math" panose="02040503050406030204" pitchFamily="18" charset="0"/>
                      </a:rPr>
                      <m:t>𝛼</m:t>
                    </m:r>
                    <m:r>
                      <a:rPr lang="en-US" i="1">
                        <a:latin typeface="Cambria Math" panose="02040503050406030204" pitchFamily="18" charset="0"/>
                      </a:rPr>
                      <m:t>)</m:t>
                    </m:r>
                  </m:oMath>
                </a14:m>
                <a:r>
                  <a:rPr lang="en-GB" dirty="0"/>
                  <a:t> denote the result of applying the substitution </a:t>
                </a:r>
                <a14:m>
                  <m:oMath xmlns:m="http://schemas.openxmlformats.org/officeDocument/2006/math">
                    <m:r>
                      <a:rPr lang="en-US" i="1">
                        <a:latin typeface="Cambria Math" panose="02040503050406030204" pitchFamily="18" charset="0"/>
                      </a:rPr>
                      <m:t>𝜃</m:t>
                    </m:r>
                  </m:oMath>
                </a14:m>
                <a:r>
                  <a:rPr lang="en-GB" dirty="0"/>
                  <a:t> to sentence </a:t>
                </a:r>
                <a14:m>
                  <m:oMath xmlns:m="http://schemas.openxmlformats.org/officeDocument/2006/math">
                    <m:r>
                      <a:rPr lang="en-US" i="1">
                        <a:latin typeface="Cambria Math" panose="02040503050406030204" pitchFamily="18" charset="0"/>
                      </a:rPr>
                      <m:t>𝛼</m:t>
                    </m:r>
                  </m:oMath>
                </a14:m>
                <a:r>
                  <a:rPr lang="en-GB" dirty="0"/>
                  <a:t>.</a:t>
                </a:r>
                <a:br>
                  <a:rPr lang="en-GB" dirty="0"/>
                </a:br>
                <a14:m>
                  <m:oMath xmlns:m="http://schemas.openxmlformats.org/officeDocument/2006/math">
                    <m:f>
                      <m:fPr>
                        <m:ctrlPr>
                          <a:rPr lang="en-US" i="1">
                            <a:latin typeface="Cambria Math" panose="02040503050406030204" pitchFamily="18" charset="0"/>
                          </a:rPr>
                        </m:ctrlPr>
                      </m:fPr>
                      <m:num>
                        <m:d>
                          <m:dPr>
                            <m:ctrlPr>
                              <a:rPr lang="en-US" i="1">
                                <a:latin typeface="Cambria Math" panose="02040503050406030204" pitchFamily="18" charset="0"/>
                              </a:rPr>
                            </m:ctrlPr>
                          </m:dPr>
                          <m:e>
                            <m:r>
                              <a:rPr lang="en-US" i="1">
                                <a:latin typeface="Cambria Math" panose="02040503050406030204" pitchFamily="18" charset="0"/>
                              </a:rPr>
                              <m:t>∀</m:t>
                            </m:r>
                            <m:r>
                              <a:rPr lang="en-US" i="1">
                                <a:latin typeface="Cambria Math" panose="02040503050406030204" pitchFamily="18" charset="0"/>
                              </a:rPr>
                              <m:t>𝑣</m:t>
                            </m:r>
                            <m:r>
                              <a:rPr lang="en-US" i="1">
                                <a:latin typeface="Cambria Math" panose="02040503050406030204" pitchFamily="18" charset="0"/>
                              </a:rPr>
                              <m:t>  </m:t>
                            </m:r>
                            <m:r>
                              <a:rPr lang="en-US" i="1">
                                <a:latin typeface="Cambria Math" panose="02040503050406030204" pitchFamily="18" charset="0"/>
                              </a:rPr>
                              <m:t>𝛼</m:t>
                            </m:r>
                          </m:e>
                        </m:d>
                      </m:num>
                      <m:den>
                        <m:r>
                          <a:rPr lang="en-US" i="1">
                            <a:latin typeface="Cambria Math" panose="02040503050406030204" pitchFamily="18" charset="0"/>
                          </a:rPr>
                          <m:t>𝑆𝑈𝐵𝑆𝑇</m:t>
                        </m:r>
                        <m:d>
                          <m:dPr>
                            <m:ctrlPr>
                              <a:rPr lang="en-US" i="1">
                                <a:latin typeface="Cambria Math" panose="02040503050406030204" pitchFamily="18" charset="0"/>
                              </a:rPr>
                            </m:ctrlPr>
                          </m:dPr>
                          <m:e>
                            <m:r>
                              <a:rPr lang="en-US" i="1">
                                <a:latin typeface="Cambria Math" panose="02040503050406030204" pitchFamily="18" charset="0"/>
                              </a:rPr>
                              <m:t>{</m:t>
                            </m:r>
                            <m:r>
                              <a:rPr lang="en-US" i="1">
                                <a:latin typeface="Cambria Math" panose="02040503050406030204" pitchFamily="18" charset="0"/>
                              </a:rPr>
                              <m:t>𝑣</m:t>
                            </m:r>
                            <m:r>
                              <m:rPr>
                                <m:lit/>
                              </m:rPr>
                              <a:rPr lang="en-US" i="1">
                                <a:latin typeface="Cambria Math" panose="02040503050406030204" pitchFamily="18" charset="0"/>
                              </a:rPr>
                              <m:t>/</m:t>
                            </m:r>
                            <m:r>
                              <a:rPr lang="en-US" i="1">
                                <a:latin typeface="Cambria Math" panose="02040503050406030204" pitchFamily="18" charset="0"/>
                              </a:rPr>
                              <m:t>𝑔</m:t>
                            </m:r>
                            <m:r>
                              <a:rPr lang="en-US" i="1">
                                <a:latin typeface="Cambria Math" panose="02040503050406030204" pitchFamily="18" charset="0"/>
                              </a:rPr>
                              <m:t>},</m:t>
                            </m:r>
                            <m:r>
                              <a:rPr lang="en-US" i="1">
                                <a:latin typeface="Cambria Math" panose="02040503050406030204" pitchFamily="18" charset="0"/>
                              </a:rPr>
                              <m:t>𝛼</m:t>
                            </m:r>
                          </m:e>
                        </m:d>
                      </m:den>
                    </m:f>
                  </m:oMath>
                </a14:m>
                <a:endParaRPr lang="en-US" dirty="0"/>
              </a:p>
              <a:p>
                <a:r>
                  <a:rPr lang="en-US" dirty="0"/>
                  <a:t>Earlier ones are obtained with the substitutions </a:t>
                </a:r>
              </a:p>
              <a:p>
                <a:pPr marL="0" indent="0">
                  <a:buNone/>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m:t>
                      </m:r>
                      <m:r>
                        <a:rPr lang="en-US" i="1" dirty="0">
                          <a:latin typeface="Cambria Math" panose="02040503050406030204" pitchFamily="18" charset="0"/>
                        </a:rPr>
                        <m:t>𝑥</m:t>
                      </m:r>
                      <m:r>
                        <a:rPr lang="en-US" i="1" dirty="0">
                          <a:latin typeface="Cambria Math" panose="02040503050406030204" pitchFamily="18" charset="0"/>
                        </a:rPr>
                        <m:t>/</m:t>
                      </m:r>
                      <m:r>
                        <a:rPr lang="en-US" i="1" dirty="0">
                          <a:latin typeface="Cambria Math" panose="02040503050406030204" pitchFamily="18" charset="0"/>
                        </a:rPr>
                        <m:t>𝐽𝑜h𝑛</m:t>
                      </m:r>
                      <m:r>
                        <a:rPr lang="en-US" i="1" dirty="0">
                          <a:latin typeface="Cambria Math" panose="02040503050406030204" pitchFamily="18" charset="0"/>
                        </a:rPr>
                        <m:t>}, {</m:t>
                      </m:r>
                      <m:r>
                        <a:rPr lang="en-US" i="1" dirty="0">
                          <a:latin typeface="Cambria Math" panose="02040503050406030204" pitchFamily="18" charset="0"/>
                        </a:rPr>
                        <m:t>𝑥</m:t>
                      </m:r>
                      <m:r>
                        <a:rPr lang="en-US" i="1" dirty="0">
                          <a:latin typeface="Cambria Math" panose="02040503050406030204" pitchFamily="18" charset="0"/>
                        </a:rPr>
                        <m:t>/</m:t>
                      </m:r>
                      <m:r>
                        <a:rPr lang="en-US" i="1" dirty="0">
                          <a:latin typeface="Cambria Math" panose="02040503050406030204" pitchFamily="18" charset="0"/>
                        </a:rPr>
                        <m:t>𝑅𝑖𝑐h𝑎𝑟𝑑</m:t>
                      </m:r>
                      <m:r>
                        <a:rPr lang="en-US" i="1" dirty="0">
                          <a:latin typeface="Cambria Math" panose="02040503050406030204" pitchFamily="18" charset="0"/>
                        </a:rPr>
                        <m:t>},</m:t>
                      </m:r>
                      <m:r>
                        <a:rPr lang="en-US" i="1" dirty="0">
                          <a:latin typeface="Cambria Math" panose="02040503050406030204" pitchFamily="18" charset="0"/>
                        </a:rPr>
                        <m:t>𝑎𝑛𝑑</m:t>
                      </m:r>
                      <m:r>
                        <a:rPr lang="en-US" i="1" dirty="0">
                          <a:latin typeface="Cambria Math" panose="02040503050406030204" pitchFamily="18" charset="0"/>
                        </a:rPr>
                        <m:t>{</m:t>
                      </m:r>
                      <m:r>
                        <a:rPr lang="en-US" i="1" dirty="0">
                          <a:latin typeface="Cambria Math" panose="02040503050406030204" pitchFamily="18" charset="0"/>
                        </a:rPr>
                        <m:t>𝑥</m:t>
                      </m:r>
                      <m:r>
                        <a:rPr lang="en-US" i="1" dirty="0">
                          <a:latin typeface="Cambria Math" panose="02040503050406030204" pitchFamily="18" charset="0"/>
                        </a:rPr>
                        <m:t>/</m:t>
                      </m:r>
                      <m:r>
                        <a:rPr lang="en-US" i="1" dirty="0">
                          <a:latin typeface="Cambria Math" panose="02040503050406030204" pitchFamily="18" charset="0"/>
                        </a:rPr>
                        <m:t>𝐹𝑎𝑡h𝑒𝑟</m:t>
                      </m:r>
                      <m:r>
                        <a:rPr lang="en-US" i="1" dirty="0">
                          <a:latin typeface="Cambria Math" panose="02040503050406030204" pitchFamily="18" charset="0"/>
                        </a:rPr>
                        <m:t> (</m:t>
                      </m:r>
                      <m:r>
                        <a:rPr lang="en-US" i="1" dirty="0">
                          <a:latin typeface="Cambria Math" panose="02040503050406030204" pitchFamily="18" charset="0"/>
                        </a:rPr>
                        <m:t>𝐽𝑜h𝑛</m:t>
                      </m:r>
                      <m:r>
                        <a:rPr lang="en-US" i="1" dirty="0">
                          <a:latin typeface="Cambria Math" panose="02040503050406030204" pitchFamily="18" charset="0"/>
                        </a:rPr>
                        <m:t>)}</m:t>
                      </m:r>
                    </m:oMath>
                  </m:oMathPara>
                </a14:m>
                <a:endParaRPr lang="en-US" dirty="0"/>
              </a:p>
            </p:txBody>
          </p:sp>
        </mc:Choice>
        <mc:Fallback xmlns="">
          <p:sp>
            <p:nvSpPr>
              <p:cNvPr id="3" name="Content Placeholder 2">
                <a:extLst>
                  <a:ext uri="{FF2B5EF4-FFF2-40B4-BE49-F238E27FC236}">
                    <a16:creationId xmlns:a16="http://schemas.microsoft.com/office/drawing/2014/main" id="{AF655CB1-931C-E391-B6C7-B2EC6C903D71}"/>
                  </a:ext>
                </a:extLst>
              </p:cNvPr>
              <p:cNvSpPr>
                <a:spLocks noGrp="1" noRot="1" noChangeAspect="1" noMove="1" noResize="1" noEditPoints="1" noAdjustHandles="1" noChangeArrowheads="1" noChangeShapeType="1" noTextEdit="1"/>
              </p:cNvSpPr>
              <p:nvPr>
                <p:ph idx="1"/>
              </p:nvPr>
            </p:nvSpPr>
            <p:spPr>
              <a:blipFill>
                <a:blip r:embed="rId2"/>
                <a:stretch>
                  <a:fillRect l="-1043" t="-2381" r="-696"/>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6CE3A916-3008-2548-6F24-5FF7B2A137DE}"/>
              </a:ext>
            </a:extLst>
          </p:cNvPr>
          <p:cNvSpPr>
            <a:spLocks noGrp="1"/>
          </p:cNvSpPr>
          <p:nvPr>
            <p:ph type="dt" sz="half" idx="10"/>
          </p:nvPr>
        </p:nvSpPr>
        <p:spPr/>
        <p:txBody>
          <a:bodyPr/>
          <a:lstStyle/>
          <a:p>
            <a:fld id="{1332600A-A7B8-4674-AAE3-A37177B883E5}" type="datetime1">
              <a:rPr lang="en-GB" smtClean="0"/>
              <a:t>20/10/2025</a:t>
            </a:fld>
            <a:endParaRPr lang="en-GB"/>
          </a:p>
        </p:txBody>
      </p:sp>
      <p:sp>
        <p:nvSpPr>
          <p:cNvPr id="5" name="Slide Number Placeholder 4">
            <a:extLst>
              <a:ext uri="{FF2B5EF4-FFF2-40B4-BE49-F238E27FC236}">
                <a16:creationId xmlns:a16="http://schemas.microsoft.com/office/drawing/2014/main" id="{28E811B1-1FC6-F8D9-D7E5-E1C09113492D}"/>
              </a:ext>
            </a:extLst>
          </p:cNvPr>
          <p:cNvSpPr>
            <a:spLocks noGrp="1"/>
          </p:cNvSpPr>
          <p:nvPr>
            <p:ph type="sldNum" sz="quarter" idx="12"/>
          </p:nvPr>
        </p:nvSpPr>
        <p:spPr/>
        <p:txBody>
          <a:bodyPr/>
          <a:lstStyle/>
          <a:p>
            <a:fld id="{9EB268CF-8001-41B5-ADCD-92A7738D3D9B}" type="slidenum">
              <a:rPr lang="en-GB" smtClean="0"/>
              <a:t>4</a:t>
            </a:fld>
            <a:endParaRPr lang="en-GB"/>
          </a:p>
        </p:txBody>
      </p:sp>
      <p:sp>
        <p:nvSpPr>
          <p:cNvPr id="6" name="TextBox 5">
            <a:extLst>
              <a:ext uri="{FF2B5EF4-FFF2-40B4-BE49-F238E27FC236}">
                <a16:creationId xmlns:a16="http://schemas.microsoft.com/office/drawing/2014/main" id="{895672F4-B76D-C273-A5A2-754D9C9BC4D6}"/>
              </a:ext>
            </a:extLst>
          </p:cNvPr>
          <p:cNvSpPr txBox="1"/>
          <p:nvPr/>
        </p:nvSpPr>
        <p:spPr>
          <a:xfrm>
            <a:off x="7708392" y="3730752"/>
            <a:ext cx="3018775" cy="646331"/>
          </a:xfrm>
          <a:prstGeom prst="rect">
            <a:avLst/>
          </a:prstGeom>
        </p:spPr>
        <p:style>
          <a:lnRef idx="2">
            <a:schemeClr val="accent2"/>
          </a:lnRef>
          <a:fillRef idx="1">
            <a:schemeClr val="lt1"/>
          </a:fillRef>
          <a:effectRef idx="0">
            <a:schemeClr val="accent2"/>
          </a:effectRef>
          <a:fontRef idx="minor">
            <a:schemeClr val="dk1"/>
          </a:fontRef>
        </p:style>
        <p:txBody>
          <a:bodyPr wrap="none" rtlCol="0">
            <a:spAutoFit/>
          </a:bodyPr>
          <a:lstStyle/>
          <a:p>
            <a:pPr algn="ctr"/>
            <a:r>
              <a:rPr lang="en-US" dirty="0"/>
              <a:t>Apply the substitution </a:t>
            </a:r>
            <a:r>
              <a:rPr lang="en-US" b="1" dirty="0"/>
              <a:t>{v/g}</a:t>
            </a:r>
            <a:r>
              <a:rPr lang="en-US" dirty="0"/>
              <a:t> </a:t>
            </a:r>
          </a:p>
          <a:p>
            <a:pPr algn="ctr"/>
            <a:r>
              <a:rPr lang="en-US" dirty="0"/>
              <a:t>to the expression </a:t>
            </a:r>
            <a:r>
              <a:rPr lang="en-US" b="1" dirty="0"/>
              <a:t>α</a:t>
            </a:r>
            <a:endParaRPr lang="en-US" dirty="0"/>
          </a:p>
        </p:txBody>
      </p:sp>
    </p:spTree>
    <p:extLst>
      <p:ext uri="{BB962C8B-B14F-4D97-AF65-F5344CB8AC3E}">
        <p14:creationId xmlns:p14="http://schemas.microsoft.com/office/powerpoint/2010/main" val="23681404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fade">
                                      <p:cBhvr>
                                        <p:cTn id="2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6"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35F42-10D7-C81D-F746-7276FFE821A6}"/>
              </a:ext>
            </a:extLst>
          </p:cNvPr>
          <p:cNvSpPr>
            <a:spLocks noGrp="1"/>
          </p:cNvSpPr>
          <p:nvPr>
            <p:ph type="title"/>
          </p:nvPr>
        </p:nvSpPr>
        <p:spPr/>
        <p:txBody>
          <a:bodyPr/>
          <a:lstStyle/>
          <a:p>
            <a:r>
              <a:rPr lang="en-US" dirty="0"/>
              <a:t>Universal Instantiation (UI)</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3A5424E-1716-9D0D-08CA-D798B9AAB49F}"/>
                  </a:ext>
                </a:extLst>
              </p:cNvPr>
              <p:cNvSpPr>
                <a:spLocks noGrp="1"/>
              </p:cNvSpPr>
              <p:nvPr>
                <p:ph idx="1"/>
              </p:nvPr>
            </p:nvSpPr>
            <p:spPr/>
            <p:txBody>
              <a:bodyPr/>
              <a:lstStyle/>
              <a:p>
                <a:r>
                  <a:rPr lang="en-US" dirty="0"/>
                  <a:t>Let</a:t>
                </a:r>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𝛼</m:t>
                      </m:r>
                      <m:r>
                        <a:rPr lang="en-US">
                          <a:latin typeface="Cambria Math" panose="02040503050406030204" pitchFamily="18" charset="0"/>
                        </a:rPr>
                        <m:t>=</m:t>
                      </m:r>
                      <m:r>
                        <a:rPr lang="en-US" i="1">
                          <a:latin typeface="Cambria Math" panose="02040503050406030204" pitchFamily="18" charset="0"/>
                        </a:rPr>
                        <m:t>𝐿𝑜𝑣𝑒𝑠</m:t>
                      </m:r>
                      <m:r>
                        <a:rPr lang="en-US" i="1" smtClean="0">
                          <a:latin typeface="Cambria Math" panose="02040503050406030204" pitchFamily="18" charset="0"/>
                        </a:rPr>
                        <m:t>(</m:t>
                      </m:r>
                      <m:r>
                        <a:rPr lang="en-US" b="0" i="1" smtClean="0">
                          <a:latin typeface="Cambria Math" panose="02040503050406030204" pitchFamily="18" charset="0"/>
                        </a:rPr>
                        <m:t>𝑣</m:t>
                      </m:r>
                      <m:r>
                        <a:rPr lang="en-US" b="0" i="1" smtClean="0">
                          <a:latin typeface="Cambria Math" panose="02040503050406030204" pitchFamily="18" charset="0"/>
                        </a:rPr>
                        <m:t>, </m:t>
                      </m:r>
                      <m:r>
                        <a:rPr lang="en-US" b="0" i="1" smtClean="0">
                          <a:latin typeface="Cambria Math" panose="02040503050406030204" pitchFamily="18" charset="0"/>
                        </a:rPr>
                        <m:t>𝑀𝑎𝑟𝑦</m:t>
                      </m:r>
                      <m:r>
                        <a:rPr lang="en-US" b="0" i="1" smtClean="0">
                          <a:latin typeface="Cambria Math" panose="02040503050406030204" pitchFamily="18" charset="0"/>
                        </a:rPr>
                        <m:t>)</m:t>
                      </m:r>
                    </m:oMath>
                  </m:oMathPara>
                </a14:m>
                <a:endParaRPr lang="ar-AE" dirty="0"/>
              </a:p>
              <a:p>
                <a:r>
                  <a:rPr lang="en-US" dirty="0"/>
                  <a:t>and substitution</a:t>
                </a:r>
              </a:p>
              <a:p>
                <a:pPr marL="0" indent="0">
                  <a:buNone/>
                </a:pPr>
                <a14:m>
                  <m:oMathPara xmlns:m="http://schemas.openxmlformats.org/officeDocument/2006/math">
                    <m:oMathParaPr>
                      <m:jc m:val="centerGroup"/>
                    </m:oMathParaPr>
                    <m:oMath xmlns:m="http://schemas.openxmlformats.org/officeDocument/2006/math">
                      <m:d>
                        <m:dPr>
                          <m:begChr m:val="{"/>
                          <m:endChr m:val="}"/>
                          <m:ctrlPr>
                            <a:rPr lang="ar-AE" i="1">
                              <a:latin typeface="Cambria Math" panose="02040503050406030204" pitchFamily="18" charset="0"/>
                            </a:rPr>
                          </m:ctrlPr>
                        </m:dPr>
                        <m:e>
                          <m:r>
                            <a:rPr lang="ar-AE" i="1">
                              <a:latin typeface="Cambria Math" panose="02040503050406030204" pitchFamily="18" charset="0"/>
                            </a:rPr>
                            <m:t>𝑣</m:t>
                          </m:r>
                          <m:r>
                            <a:rPr lang="ar-AE">
                              <a:latin typeface="Cambria Math" panose="02040503050406030204" pitchFamily="18" charset="0"/>
                            </a:rPr>
                            <m:t>/</m:t>
                          </m:r>
                          <m:r>
                            <a:rPr lang="ar-AE" i="1">
                              <a:latin typeface="Cambria Math" panose="02040503050406030204" pitchFamily="18" charset="0"/>
                            </a:rPr>
                            <m:t>𝑔</m:t>
                          </m:r>
                        </m:e>
                      </m:d>
                      <m:r>
                        <a:rPr lang="ar-AE">
                          <a:latin typeface="Cambria Math" panose="02040503050406030204" pitchFamily="18" charset="0"/>
                        </a:rPr>
                        <m:t>=</m:t>
                      </m:r>
                      <m:d>
                        <m:dPr>
                          <m:begChr m:val="{"/>
                          <m:endChr m:val="}"/>
                          <m:ctrlPr>
                            <a:rPr lang="ar-AE" i="1">
                              <a:latin typeface="Cambria Math" panose="02040503050406030204" pitchFamily="18" charset="0"/>
                            </a:rPr>
                          </m:ctrlPr>
                        </m:dPr>
                        <m:e>
                          <m:r>
                            <a:rPr lang="ar-AE" i="1">
                              <a:latin typeface="Cambria Math" panose="02040503050406030204" pitchFamily="18" charset="0"/>
                            </a:rPr>
                            <m:t>𝑣</m:t>
                          </m:r>
                          <m:r>
                            <a:rPr lang="ar-AE">
                              <a:latin typeface="Cambria Math" panose="02040503050406030204" pitchFamily="18" charset="0"/>
                            </a:rPr>
                            <m:t>/</m:t>
                          </m:r>
                          <m:r>
                            <a:rPr lang="ar-AE" i="1">
                              <a:latin typeface="Cambria Math" panose="02040503050406030204" pitchFamily="18" charset="0"/>
                            </a:rPr>
                            <m:t>𝐽𝑜</m:t>
                          </m:r>
                          <m:r>
                            <a:rPr lang="ar-AE" i="1">
                              <a:latin typeface="Cambria Math" panose="02040503050406030204" pitchFamily="18" charset="0"/>
                            </a:rPr>
                            <m:t>h</m:t>
                          </m:r>
                          <m:r>
                            <a:rPr lang="ar-AE" i="1">
                              <a:latin typeface="Cambria Math" panose="02040503050406030204" pitchFamily="18" charset="0"/>
                            </a:rPr>
                            <m:t>𝑛</m:t>
                          </m:r>
                        </m:e>
                      </m:d>
                    </m:oMath>
                  </m:oMathPara>
                </a14:m>
                <a:endParaRPr lang="ar-AE" dirty="0"/>
              </a:p>
              <a:p>
                <a:r>
                  <a:rPr lang="en-US" dirty="0"/>
                  <a:t>Then:</a:t>
                </a:r>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𝑆𝑈𝐵𝑆𝑇</m:t>
                      </m:r>
                      <m:d>
                        <m:dPr>
                          <m:sepChr m:val=","/>
                          <m:ctrlPr>
                            <a:rPr lang="ar-AE" i="1">
                              <a:latin typeface="Cambria Math" panose="02040503050406030204" pitchFamily="18" charset="0"/>
                            </a:rPr>
                          </m:ctrlPr>
                        </m:dPr>
                        <m:e>
                          <m:d>
                            <m:dPr>
                              <m:begChr m:val="{"/>
                              <m:endChr m:val="}"/>
                              <m:ctrlPr>
                                <a:rPr lang="ar-AE" i="1">
                                  <a:latin typeface="Cambria Math" panose="02040503050406030204" pitchFamily="18" charset="0"/>
                                </a:rPr>
                              </m:ctrlPr>
                            </m:dPr>
                            <m:e>
                              <m:r>
                                <a:rPr lang="ar-AE" i="1">
                                  <a:latin typeface="Cambria Math" panose="02040503050406030204" pitchFamily="18" charset="0"/>
                                </a:rPr>
                                <m:t>𝑣</m:t>
                              </m:r>
                              <m:r>
                                <a:rPr lang="ar-AE">
                                  <a:latin typeface="Cambria Math" panose="02040503050406030204" pitchFamily="18" charset="0"/>
                                </a:rPr>
                                <m:t>/</m:t>
                              </m:r>
                              <m:r>
                                <a:rPr lang="ar-AE" i="1">
                                  <a:latin typeface="Cambria Math" panose="02040503050406030204" pitchFamily="18" charset="0"/>
                                </a:rPr>
                                <m:t>𝐽𝑜</m:t>
                              </m:r>
                              <m:r>
                                <a:rPr lang="ar-AE" i="1">
                                  <a:latin typeface="Cambria Math" panose="02040503050406030204" pitchFamily="18" charset="0"/>
                                </a:rPr>
                                <m:t>h</m:t>
                              </m:r>
                              <m:r>
                                <a:rPr lang="ar-AE" i="1">
                                  <a:latin typeface="Cambria Math" panose="02040503050406030204" pitchFamily="18" charset="0"/>
                                </a:rPr>
                                <m:t>𝑛</m:t>
                              </m:r>
                            </m:e>
                          </m:d>
                        </m:e>
                        <m:e>
                          <m:r>
                            <a:rPr lang="en-US" i="1">
                              <a:latin typeface="Cambria Math" panose="02040503050406030204" pitchFamily="18" charset="0"/>
                            </a:rPr>
                            <m:t>𝐿𝑜𝑣𝑒𝑠</m:t>
                          </m:r>
                          <m:r>
                            <a:rPr lang="en-US" i="1">
                              <a:latin typeface="Cambria Math" panose="02040503050406030204" pitchFamily="18" charset="0"/>
                            </a:rPr>
                            <m:t>(</m:t>
                          </m:r>
                          <m:r>
                            <a:rPr lang="en-US" i="1">
                              <a:latin typeface="Cambria Math" panose="02040503050406030204" pitchFamily="18" charset="0"/>
                            </a:rPr>
                            <m:t>𝑣</m:t>
                          </m:r>
                          <m:r>
                            <a:rPr lang="en-US" i="1">
                              <a:latin typeface="Cambria Math" panose="02040503050406030204" pitchFamily="18" charset="0"/>
                            </a:rPr>
                            <m:t>, </m:t>
                          </m:r>
                          <m:r>
                            <a:rPr lang="en-US" i="1">
                              <a:latin typeface="Cambria Math" panose="02040503050406030204" pitchFamily="18" charset="0"/>
                            </a:rPr>
                            <m:t>𝑀𝑎𝑟𝑦</m:t>
                          </m:r>
                          <m:r>
                            <a:rPr lang="en-US" i="1">
                              <a:latin typeface="Cambria Math" panose="02040503050406030204" pitchFamily="18" charset="0"/>
                            </a:rPr>
                            <m:t>)</m:t>
                          </m:r>
                          <m:r>
                            <m:rPr>
                              <m:nor/>
                            </m:rPr>
                            <a:rPr lang="ar-AE" dirty="0"/>
                            <m:t> </m:t>
                          </m:r>
                        </m:e>
                      </m:d>
                      <m:r>
                        <a:rPr lang="ar-AE">
                          <a:latin typeface="Cambria Math" panose="02040503050406030204" pitchFamily="18" charset="0"/>
                        </a:rPr>
                        <m:t>=</m:t>
                      </m:r>
                      <m:r>
                        <a:rPr lang="ar-AE" i="1">
                          <a:latin typeface="Cambria Math" panose="02040503050406030204" pitchFamily="18" charset="0"/>
                        </a:rPr>
                        <m:t>𝐿𝑜𝑣𝑒𝑠</m:t>
                      </m:r>
                      <m:r>
                        <a:rPr lang="en-US" b="0" i="1" smtClean="0">
                          <a:latin typeface="Cambria Math" panose="02040503050406030204" pitchFamily="18" charset="0"/>
                        </a:rPr>
                        <m:t>(</m:t>
                      </m:r>
                      <m:r>
                        <a:rPr lang="en-US" b="0" i="1" smtClean="0">
                          <a:latin typeface="Cambria Math" panose="02040503050406030204" pitchFamily="18" charset="0"/>
                        </a:rPr>
                        <m:t>𝐽𝑜</m:t>
                      </m:r>
                      <m:r>
                        <a:rPr lang="en-US" b="0" i="1" smtClean="0">
                          <a:latin typeface="Cambria Math" panose="02040503050406030204" pitchFamily="18" charset="0"/>
                        </a:rPr>
                        <m:t>h</m:t>
                      </m:r>
                      <m:r>
                        <a:rPr lang="en-US" b="0" i="1" smtClean="0">
                          <a:latin typeface="Cambria Math" panose="02040503050406030204" pitchFamily="18" charset="0"/>
                        </a:rPr>
                        <m:t>𝑛</m:t>
                      </m:r>
                      <m:r>
                        <a:rPr lang="en-US" b="0" i="1" smtClean="0">
                          <a:latin typeface="Cambria Math" panose="02040503050406030204" pitchFamily="18" charset="0"/>
                        </a:rPr>
                        <m:t>, </m:t>
                      </m:r>
                      <m:r>
                        <a:rPr lang="en-US" b="0" i="1" smtClean="0">
                          <a:latin typeface="Cambria Math" panose="02040503050406030204" pitchFamily="18" charset="0"/>
                        </a:rPr>
                        <m:t>𝑀𝑎𝑟𝑦</m:t>
                      </m:r>
                      <m:r>
                        <a:rPr lang="en-US" b="0" i="1" smtClean="0">
                          <a:latin typeface="Cambria Math" panose="02040503050406030204" pitchFamily="18" charset="0"/>
                        </a:rPr>
                        <m:t>)</m:t>
                      </m:r>
                    </m:oMath>
                  </m:oMathPara>
                </a14:m>
                <a:endParaRPr lang="ar-AE" dirty="0"/>
              </a:p>
              <a:p>
                <a:r>
                  <a:rPr lang="en-US" dirty="0"/>
                  <a:t>We replaced </a:t>
                </a:r>
                <a:r>
                  <a:rPr lang="en-US" b="1" dirty="0"/>
                  <a:t>v</a:t>
                </a:r>
                <a:r>
                  <a:rPr lang="en-US" dirty="0"/>
                  <a:t> by </a:t>
                </a:r>
                <a:r>
                  <a:rPr lang="en-US" b="1" dirty="0"/>
                  <a:t>John</a:t>
                </a:r>
                <a:r>
                  <a:rPr lang="en-US" dirty="0"/>
                  <a:t> in </a:t>
                </a:r>
                <a:r>
                  <a:rPr lang="el-GR" b="1" dirty="0"/>
                  <a:t>α</a:t>
                </a:r>
                <a:r>
                  <a:rPr lang="el-GR" dirty="0"/>
                  <a:t>.</a:t>
                </a:r>
              </a:p>
              <a:p>
                <a:endParaRPr lang="en-US" dirty="0"/>
              </a:p>
            </p:txBody>
          </p:sp>
        </mc:Choice>
        <mc:Fallback xmlns="">
          <p:sp>
            <p:nvSpPr>
              <p:cNvPr id="3" name="Content Placeholder 2">
                <a:extLst>
                  <a:ext uri="{FF2B5EF4-FFF2-40B4-BE49-F238E27FC236}">
                    <a16:creationId xmlns:a16="http://schemas.microsoft.com/office/drawing/2014/main" id="{53A5424E-1716-9D0D-08CA-D798B9AAB49F}"/>
                  </a:ext>
                </a:extLst>
              </p:cNvPr>
              <p:cNvSpPr>
                <a:spLocks noGrp="1" noRot="1" noChangeAspect="1" noMove="1" noResize="1" noEditPoints="1" noAdjustHandles="1" noChangeArrowheads="1" noChangeShapeType="1" noTextEdit="1"/>
              </p:cNvSpPr>
              <p:nvPr>
                <p:ph idx="1"/>
              </p:nvPr>
            </p:nvSpPr>
            <p:spPr>
              <a:blipFill>
                <a:blip r:embed="rId2"/>
                <a:stretch>
                  <a:fillRect l="-1043" t="-2381"/>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7B64D2AD-9BA5-E046-BEE4-26283E0CE719}"/>
              </a:ext>
            </a:extLst>
          </p:cNvPr>
          <p:cNvSpPr>
            <a:spLocks noGrp="1"/>
          </p:cNvSpPr>
          <p:nvPr>
            <p:ph type="dt" sz="half" idx="10"/>
          </p:nvPr>
        </p:nvSpPr>
        <p:spPr/>
        <p:txBody>
          <a:bodyPr/>
          <a:lstStyle/>
          <a:p>
            <a:fld id="{1332600A-A7B8-4674-AAE3-A37177B883E5}" type="datetime1">
              <a:rPr lang="en-GB" smtClean="0"/>
              <a:t>20/10/2025</a:t>
            </a:fld>
            <a:endParaRPr lang="en-GB"/>
          </a:p>
        </p:txBody>
      </p:sp>
      <p:sp>
        <p:nvSpPr>
          <p:cNvPr id="5" name="Slide Number Placeholder 4">
            <a:extLst>
              <a:ext uri="{FF2B5EF4-FFF2-40B4-BE49-F238E27FC236}">
                <a16:creationId xmlns:a16="http://schemas.microsoft.com/office/drawing/2014/main" id="{6D176D34-4A4A-8E7D-7626-063FDCEC6704}"/>
              </a:ext>
            </a:extLst>
          </p:cNvPr>
          <p:cNvSpPr>
            <a:spLocks noGrp="1"/>
          </p:cNvSpPr>
          <p:nvPr>
            <p:ph type="sldNum" sz="quarter" idx="12"/>
          </p:nvPr>
        </p:nvSpPr>
        <p:spPr/>
        <p:txBody>
          <a:bodyPr/>
          <a:lstStyle/>
          <a:p>
            <a:fld id="{9EB268CF-8001-41B5-ADCD-92A7738D3D9B}" type="slidenum">
              <a:rPr lang="en-GB" smtClean="0"/>
              <a:t>5</a:t>
            </a:fld>
            <a:endParaRPr lang="en-GB"/>
          </a:p>
        </p:txBody>
      </p:sp>
    </p:spTree>
    <p:extLst>
      <p:ext uri="{BB962C8B-B14F-4D97-AF65-F5344CB8AC3E}">
        <p14:creationId xmlns:p14="http://schemas.microsoft.com/office/powerpoint/2010/main" val="14150829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4DE28A-F6E0-CE42-1804-52017FB4835B}"/>
              </a:ext>
            </a:extLst>
          </p:cNvPr>
          <p:cNvSpPr>
            <a:spLocks noGrp="1"/>
          </p:cNvSpPr>
          <p:nvPr>
            <p:ph type="title"/>
          </p:nvPr>
        </p:nvSpPr>
        <p:spPr/>
        <p:txBody>
          <a:bodyPr/>
          <a:lstStyle/>
          <a:p>
            <a:r>
              <a:rPr lang="en-US" dirty="0"/>
              <a:t>Existential Instantiation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38316B3-60A4-6665-A710-2EAC34145D15}"/>
                  </a:ext>
                </a:extLst>
              </p:cNvPr>
              <p:cNvSpPr>
                <a:spLocks noGrp="1"/>
              </p:cNvSpPr>
              <p:nvPr>
                <p:ph idx="1"/>
              </p:nvPr>
            </p:nvSpPr>
            <p:spPr/>
            <p:txBody>
              <a:bodyPr/>
              <a:lstStyle/>
              <a:p>
                <a:r>
                  <a:rPr lang="en-US" dirty="0"/>
                  <a:t>The variable is replaced by a single new constant symbol.</a:t>
                </a:r>
                <a:br>
                  <a:rPr lang="en-US" dirty="0"/>
                </a:br>
                <a14:m>
                  <m:oMath xmlns:m="http://schemas.openxmlformats.org/officeDocument/2006/math">
                    <m:f>
                      <m:fPr>
                        <m:ctrlPr>
                          <a:rPr lang="en-US" i="1">
                            <a:latin typeface="Cambria Math" panose="02040503050406030204" pitchFamily="18" charset="0"/>
                          </a:rPr>
                        </m:ctrlPr>
                      </m:fPr>
                      <m:num>
                        <m:d>
                          <m:dPr>
                            <m:ctrlPr>
                              <a:rPr lang="en-US" i="1">
                                <a:latin typeface="Cambria Math" panose="02040503050406030204" pitchFamily="18" charset="0"/>
                              </a:rPr>
                            </m:ctrlPr>
                          </m:dPr>
                          <m:e>
                            <m:r>
                              <a:rPr lang="en-US" b="0" i="1" smtClean="0">
                                <a:latin typeface="Cambria Math" panose="02040503050406030204" pitchFamily="18" charset="0"/>
                              </a:rPr>
                              <m:t>∃</m:t>
                            </m:r>
                            <m:r>
                              <a:rPr lang="en-US" i="1">
                                <a:latin typeface="Cambria Math" panose="02040503050406030204" pitchFamily="18" charset="0"/>
                              </a:rPr>
                              <m:t>𝑣</m:t>
                            </m:r>
                            <m:r>
                              <a:rPr lang="en-US" i="1">
                                <a:latin typeface="Cambria Math" panose="02040503050406030204" pitchFamily="18" charset="0"/>
                              </a:rPr>
                              <m:t>  </m:t>
                            </m:r>
                            <m:r>
                              <a:rPr lang="en-US" i="1">
                                <a:latin typeface="Cambria Math" panose="02040503050406030204" pitchFamily="18" charset="0"/>
                              </a:rPr>
                              <m:t>𝛼</m:t>
                            </m:r>
                          </m:e>
                        </m:d>
                      </m:num>
                      <m:den>
                        <m:r>
                          <a:rPr lang="en-US" i="1">
                            <a:latin typeface="Cambria Math" panose="02040503050406030204" pitchFamily="18" charset="0"/>
                          </a:rPr>
                          <m:t>𝑆𝑈𝐵𝑆𝑇</m:t>
                        </m:r>
                        <m:d>
                          <m:dPr>
                            <m:ctrlPr>
                              <a:rPr lang="en-US" i="1">
                                <a:latin typeface="Cambria Math" panose="02040503050406030204" pitchFamily="18" charset="0"/>
                              </a:rPr>
                            </m:ctrlPr>
                          </m:dPr>
                          <m:e>
                            <m:r>
                              <a:rPr lang="en-US" i="1">
                                <a:latin typeface="Cambria Math" panose="02040503050406030204" pitchFamily="18" charset="0"/>
                              </a:rPr>
                              <m:t>{</m:t>
                            </m:r>
                            <m:r>
                              <a:rPr lang="en-US" i="1">
                                <a:latin typeface="Cambria Math" panose="02040503050406030204" pitchFamily="18" charset="0"/>
                              </a:rPr>
                              <m:t>𝑣</m:t>
                            </m:r>
                            <m:r>
                              <m:rPr>
                                <m:lit/>
                              </m:rPr>
                              <a:rPr lang="en-US" i="1">
                                <a:latin typeface="Cambria Math" panose="02040503050406030204" pitchFamily="18" charset="0"/>
                              </a:rPr>
                              <m:t>/</m:t>
                            </m:r>
                            <m:r>
                              <a:rPr lang="en-US" b="0" i="1" smtClean="0">
                                <a:latin typeface="Cambria Math" panose="02040503050406030204" pitchFamily="18" charset="0"/>
                              </a:rPr>
                              <m:t>𝑘</m:t>
                            </m:r>
                            <m:r>
                              <a:rPr lang="en-US" i="1">
                                <a:latin typeface="Cambria Math" panose="02040503050406030204" pitchFamily="18" charset="0"/>
                              </a:rPr>
                              <m:t>},</m:t>
                            </m:r>
                            <m:r>
                              <a:rPr lang="en-US" i="1">
                                <a:latin typeface="Cambria Math" panose="02040503050406030204" pitchFamily="18" charset="0"/>
                              </a:rPr>
                              <m:t>𝛼</m:t>
                            </m:r>
                          </m:e>
                        </m:d>
                      </m:den>
                    </m:f>
                  </m:oMath>
                </a14:m>
                <a:endParaRPr lang="en-US" dirty="0"/>
              </a:p>
              <a:p>
                <a:r>
                  <a:rPr lang="en-US" dirty="0"/>
                  <a:t>Symbol </a:t>
                </a:r>
                <a14:m>
                  <m:oMath xmlns:m="http://schemas.openxmlformats.org/officeDocument/2006/math">
                    <m:r>
                      <a:rPr lang="en-US" b="0" i="1" smtClean="0">
                        <a:latin typeface="Cambria Math" panose="02040503050406030204" pitchFamily="18" charset="0"/>
                      </a:rPr>
                      <m:t>𝑘</m:t>
                    </m:r>
                  </m:oMath>
                </a14:m>
                <a:r>
                  <a:rPr lang="en-US" dirty="0"/>
                  <a:t> does not appear anywhere else in the knowledge base.</a:t>
                </a:r>
              </a:p>
              <a:p>
                <a:r>
                  <a:rPr lang="en-US" dirty="0"/>
                  <a:t>From the sentence </a:t>
                </a:r>
              </a:p>
              <a:p>
                <a:pPr marL="0" indent="0">
                  <a:buNone/>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m:t>
                      </m:r>
                      <m:r>
                        <a:rPr lang="en-US" i="1" dirty="0">
                          <a:latin typeface="Cambria Math" panose="02040503050406030204" pitchFamily="18" charset="0"/>
                        </a:rPr>
                        <m:t>𝑥</m:t>
                      </m:r>
                      <m:r>
                        <a:rPr lang="en-US" i="1" dirty="0">
                          <a:latin typeface="Cambria Math" panose="02040503050406030204" pitchFamily="18" charset="0"/>
                        </a:rPr>
                        <m:t> </m:t>
                      </m:r>
                      <m:r>
                        <a:rPr lang="en-US" i="1" dirty="0">
                          <a:latin typeface="Cambria Math" panose="02040503050406030204" pitchFamily="18" charset="0"/>
                        </a:rPr>
                        <m:t>𝐶𝑟𝑜𝑤𝑛</m:t>
                      </m:r>
                      <m:r>
                        <a:rPr lang="en-US" i="1" dirty="0">
                          <a:latin typeface="Cambria Math" panose="02040503050406030204" pitchFamily="18" charset="0"/>
                        </a:rPr>
                        <m:t>(</m:t>
                      </m:r>
                      <m:r>
                        <a:rPr lang="en-US" i="1" dirty="0">
                          <a:latin typeface="Cambria Math" panose="02040503050406030204" pitchFamily="18" charset="0"/>
                        </a:rPr>
                        <m:t>𝑥</m:t>
                      </m:r>
                      <m:r>
                        <a:rPr lang="en-US" i="1" dirty="0">
                          <a:latin typeface="Cambria Math" panose="02040503050406030204" pitchFamily="18" charset="0"/>
                        </a:rPr>
                        <m:t>)∧</m:t>
                      </m:r>
                      <m:r>
                        <a:rPr lang="en-US" i="1" dirty="0" err="1">
                          <a:latin typeface="Cambria Math" panose="02040503050406030204" pitchFamily="18" charset="0"/>
                        </a:rPr>
                        <m:t>𝑂𝑛𝐻𝑒𝑎𝑑</m:t>
                      </m:r>
                      <m:r>
                        <a:rPr lang="en-US" i="1" dirty="0">
                          <a:latin typeface="Cambria Math" panose="02040503050406030204" pitchFamily="18" charset="0"/>
                        </a:rPr>
                        <m:t>(</m:t>
                      </m:r>
                      <m:r>
                        <a:rPr lang="en-US" i="1" dirty="0" err="1">
                          <a:latin typeface="Cambria Math" panose="02040503050406030204" pitchFamily="18" charset="0"/>
                        </a:rPr>
                        <m:t>𝑥</m:t>
                      </m:r>
                      <m:r>
                        <a:rPr lang="en-US" i="1" dirty="0" err="1">
                          <a:latin typeface="Cambria Math" panose="02040503050406030204" pitchFamily="18" charset="0"/>
                        </a:rPr>
                        <m:t>,</m:t>
                      </m:r>
                      <m:r>
                        <a:rPr lang="en-US" i="1" dirty="0" err="1">
                          <a:latin typeface="Cambria Math" panose="02040503050406030204" pitchFamily="18" charset="0"/>
                        </a:rPr>
                        <m:t>𝐽𝑜</m:t>
                      </m:r>
                      <m:r>
                        <a:rPr lang="en-US" i="1" dirty="0" err="1">
                          <a:latin typeface="Cambria Math" panose="02040503050406030204" pitchFamily="18" charset="0"/>
                        </a:rPr>
                        <m:t>h</m:t>
                      </m:r>
                      <m:r>
                        <a:rPr lang="en-US" i="1" dirty="0" err="1">
                          <a:latin typeface="Cambria Math" panose="02040503050406030204" pitchFamily="18" charset="0"/>
                        </a:rPr>
                        <m:t>𝑛</m:t>
                      </m:r>
                      <m:r>
                        <a:rPr lang="en-US" i="1" dirty="0">
                          <a:latin typeface="Cambria Math" panose="02040503050406030204" pitchFamily="18" charset="0"/>
                        </a:rPr>
                        <m:t>) </m:t>
                      </m:r>
                    </m:oMath>
                  </m:oMathPara>
                </a14:m>
                <a:endParaRPr lang="en-US" dirty="0"/>
              </a:p>
              <a:p>
                <a:r>
                  <a:rPr lang="en-US" dirty="0"/>
                  <a:t>we can infer</a:t>
                </a:r>
              </a:p>
              <a:p>
                <a:pPr marL="0" indent="0">
                  <a:buNone/>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𝐶𝑟𝑜𝑤𝑛</m:t>
                      </m:r>
                      <m:r>
                        <a:rPr lang="en-US" i="1" dirty="0">
                          <a:latin typeface="Cambria Math" panose="02040503050406030204" pitchFamily="18" charset="0"/>
                        </a:rPr>
                        <m:t>(</m:t>
                      </m:r>
                      <m:r>
                        <a:rPr lang="en-US" i="1" dirty="0">
                          <a:latin typeface="Cambria Math" panose="02040503050406030204" pitchFamily="18" charset="0"/>
                        </a:rPr>
                        <m:t>𝐶</m:t>
                      </m:r>
                      <m:r>
                        <a:rPr lang="en-US" i="1" dirty="0">
                          <a:latin typeface="Cambria Math" panose="02040503050406030204" pitchFamily="18" charset="0"/>
                        </a:rPr>
                        <m:t>1</m:t>
                      </m:r>
                      <m:r>
                        <a:rPr lang="en-US" i="1" dirty="0">
                          <a:latin typeface="Cambria Math" panose="02040503050406030204" pitchFamily="18" charset="0"/>
                        </a:rPr>
                        <m:t>) ∧</m:t>
                      </m:r>
                      <m:r>
                        <a:rPr lang="en-US" i="1" dirty="0" err="1">
                          <a:latin typeface="Cambria Math" panose="02040503050406030204" pitchFamily="18" charset="0"/>
                        </a:rPr>
                        <m:t>𝑂𝑛𝐻𝑒𝑎𝑑</m:t>
                      </m:r>
                      <m:r>
                        <a:rPr lang="en-US" i="1" dirty="0">
                          <a:latin typeface="Cambria Math" panose="02040503050406030204" pitchFamily="18" charset="0"/>
                        </a:rPr>
                        <m:t>(</m:t>
                      </m:r>
                      <m:r>
                        <a:rPr lang="en-US" i="1" dirty="0">
                          <a:latin typeface="Cambria Math" panose="02040503050406030204" pitchFamily="18" charset="0"/>
                        </a:rPr>
                        <m:t>𝐶</m:t>
                      </m:r>
                      <m:r>
                        <a:rPr lang="en-US" i="1" dirty="0">
                          <a:latin typeface="Cambria Math" panose="02040503050406030204" pitchFamily="18" charset="0"/>
                        </a:rPr>
                        <m:t>1</m:t>
                      </m:r>
                      <m:r>
                        <a:rPr lang="en-US" i="1" dirty="0">
                          <a:latin typeface="Cambria Math" panose="02040503050406030204" pitchFamily="18" charset="0"/>
                        </a:rPr>
                        <m:t>,</m:t>
                      </m:r>
                      <m:r>
                        <a:rPr lang="en-US" i="1" dirty="0">
                          <a:latin typeface="Cambria Math" panose="02040503050406030204" pitchFamily="18" charset="0"/>
                        </a:rPr>
                        <m:t>𝐽𝑜</m:t>
                      </m:r>
                      <m:r>
                        <a:rPr lang="en-US" i="1" dirty="0">
                          <a:latin typeface="Cambria Math" panose="02040503050406030204" pitchFamily="18" charset="0"/>
                        </a:rPr>
                        <m:t>h</m:t>
                      </m:r>
                      <m:r>
                        <a:rPr lang="en-US" i="1" dirty="0">
                          <a:latin typeface="Cambria Math" panose="02040503050406030204" pitchFamily="18" charset="0"/>
                        </a:rPr>
                        <m:t>𝑛</m:t>
                      </m:r>
                      <m:r>
                        <a:rPr lang="en-US" i="1" dirty="0">
                          <a:latin typeface="Cambria Math" panose="02040503050406030204" pitchFamily="18" charset="0"/>
                        </a:rPr>
                        <m:t>)</m:t>
                      </m:r>
                    </m:oMath>
                  </m:oMathPara>
                </a14:m>
                <a:endParaRPr lang="en-US" dirty="0"/>
              </a:p>
            </p:txBody>
          </p:sp>
        </mc:Choice>
        <mc:Fallback xmlns="">
          <p:sp>
            <p:nvSpPr>
              <p:cNvPr id="3" name="Content Placeholder 2">
                <a:extLst>
                  <a:ext uri="{FF2B5EF4-FFF2-40B4-BE49-F238E27FC236}">
                    <a16:creationId xmlns:a16="http://schemas.microsoft.com/office/drawing/2014/main" id="{E38316B3-60A4-6665-A710-2EAC34145D15}"/>
                  </a:ext>
                </a:extLst>
              </p:cNvPr>
              <p:cNvSpPr>
                <a:spLocks noGrp="1" noRot="1" noChangeAspect="1" noMove="1" noResize="1" noEditPoints="1" noAdjustHandles="1" noChangeArrowheads="1" noChangeShapeType="1" noTextEdit="1"/>
              </p:cNvSpPr>
              <p:nvPr>
                <p:ph idx="1"/>
              </p:nvPr>
            </p:nvSpPr>
            <p:spPr>
              <a:blipFill>
                <a:blip r:embed="rId2"/>
                <a:stretch>
                  <a:fillRect l="-1043" t="-2381"/>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4B26D5BE-027C-A345-8E71-A067FDF2CBB7}"/>
              </a:ext>
            </a:extLst>
          </p:cNvPr>
          <p:cNvSpPr>
            <a:spLocks noGrp="1"/>
          </p:cNvSpPr>
          <p:nvPr>
            <p:ph type="dt" sz="half" idx="10"/>
          </p:nvPr>
        </p:nvSpPr>
        <p:spPr/>
        <p:txBody>
          <a:bodyPr/>
          <a:lstStyle/>
          <a:p>
            <a:fld id="{1332600A-A7B8-4674-AAE3-A37177B883E5}" type="datetime1">
              <a:rPr lang="en-GB" smtClean="0"/>
              <a:t>20/10/2025</a:t>
            </a:fld>
            <a:endParaRPr lang="en-GB"/>
          </a:p>
        </p:txBody>
      </p:sp>
      <p:sp>
        <p:nvSpPr>
          <p:cNvPr id="5" name="Slide Number Placeholder 4">
            <a:extLst>
              <a:ext uri="{FF2B5EF4-FFF2-40B4-BE49-F238E27FC236}">
                <a16:creationId xmlns:a16="http://schemas.microsoft.com/office/drawing/2014/main" id="{9E292091-6820-DC13-F4EE-1D9749830398}"/>
              </a:ext>
            </a:extLst>
          </p:cNvPr>
          <p:cNvSpPr>
            <a:spLocks noGrp="1"/>
          </p:cNvSpPr>
          <p:nvPr>
            <p:ph type="sldNum" sz="quarter" idx="12"/>
          </p:nvPr>
        </p:nvSpPr>
        <p:spPr/>
        <p:txBody>
          <a:bodyPr/>
          <a:lstStyle/>
          <a:p>
            <a:fld id="{9EB268CF-8001-41B5-ADCD-92A7738D3D9B}" type="slidenum">
              <a:rPr lang="en-GB" smtClean="0"/>
              <a:t>6</a:t>
            </a:fld>
            <a:endParaRPr lang="en-GB"/>
          </a:p>
        </p:txBody>
      </p:sp>
    </p:spTree>
    <p:extLst>
      <p:ext uri="{BB962C8B-B14F-4D97-AF65-F5344CB8AC3E}">
        <p14:creationId xmlns:p14="http://schemas.microsoft.com/office/powerpoint/2010/main" val="10942614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4BD276-F56F-086E-DF25-71DBB2075946}"/>
              </a:ext>
            </a:extLst>
          </p:cNvPr>
          <p:cNvSpPr>
            <a:spLocks noGrp="1"/>
          </p:cNvSpPr>
          <p:nvPr>
            <p:ph type="title"/>
          </p:nvPr>
        </p:nvSpPr>
        <p:spPr/>
        <p:txBody>
          <a:bodyPr/>
          <a:lstStyle/>
          <a:p>
            <a:r>
              <a:rPr lang="en-US" dirty="0"/>
              <a:t>Reduction to Propositional Inference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C8D8035-14AC-96FF-1362-E024923F8557}"/>
                  </a:ext>
                </a:extLst>
              </p:cNvPr>
              <p:cNvSpPr>
                <a:spLocks noGrp="1"/>
              </p:cNvSpPr>
              <p:nvPr>
                <p:ph idx="1"/>
              </p:nvPr>
            </p:nvSpPr>
            <p:spPr/>
            <p:txBody>
              <a:bodyPr/>
              <a:lstStyle/>
              <a:p>
                <a:r>
                  <a:rPr lang="en-US" dirty="0"/>
                  <a:t>A universally quantified sentence can be replaced by the set of all possible instantiations.</a:t>
                </a:r>
              </a:p>
              <a:p>
                <a:pPr lvl="1"/>
                <a:r>
                  <a:rPr lang="en-US" dirty="0"/>
                  <a:t>The quantifier is discarded then.</a:t>
                </a:r>
              </a:p>
              <a:p>
                <a:r>
                  <a:rPr lang="en-US" dirty="0"/>
                  <a:t>Suppose our knowledge base contains just the sentences </a:t>
                </a:r>
                <a:br>
                  <a:rPr lang="en-US" dirty="0"/>
                </a:br>
                <a14:m>
                  <m:oMath xmlns:m="http://schemas.openxmlformats.org/officeDocument/2006/math">
                    <m:r>
                      <a:rPr lang="en-US" i="1" dirty="0" smtClean="0">
                        <a:latin typeface="Cambria Math" panose="02040503050406030204" pitchFamily="18" charset="0"/>
                      </a:rPr>
                      <m:t>∀</m:t>
                    </m:r>
                    <m:r>
                      <a:rPr lang="en-US" i="1" dirty="0">
                        <a:latin typeface="Cambria Math" panose="02040503050406030204" pitchFamily="18" charset="0"/>
                      </a:rPr>
                      <m:t>𝑥</m:t>
                    </m:r>
                    <m:r>
                      <a:rPr lang="en-US" i="1" dirty="0">
                        <a:latin typeface="Cambria Math" panose="02040503050406030204" pitchFamily="18" charset="0"/>
                      </a:rPr>
                      <m:t> </m:t>
                    </m:r>
                    <m:r>
                      <a:rPr lang="en-US" i="1" dirty="0">
                        <a:latin typeface="Cambria Math" panose="02040503050406030204" pitchFamily="18" charset="0"/>
                      </a:rPr>
                      <m:t>𝐾𝑖𝑛𝑔</m:t>
                    </m:r>
                    <m:r>
                      <a:rPr lang="en-US" i="1" dirty="0">
                        <a:latin typeface="Cambria Math" panose="02040503050406030204" pitchFamily="18" charset="0"/>
                      </a:rPr>
                      <m:t>(</m:t>
                    </m:r>
                    <m:r>
                      <a:rPr lang="en-US" i="1" dirty="0">
                        <a:latin typeface="Cambria Math" panose="02040503050406030204" pitchFamily="18" charset="0"/>
                      </a:rPr>
                      <m:t>𝑥</m:t>
                    </m:r>
                    <m:r>
                      <a:rPr lang="en-US" i="1" dirty="0">
                        <a:latin typeface="Cambria Math" panose="02040503050406030204" pitchFamily="18" charset="0"/>
                      </a:rPr>
                      <m:t>)∧</m:t>
                    </m:r>
                    <m:r>
                      <a:rPr lang="en-US" i="1" dirty="0">
                        <a:latin typeface="Cambria Math" panose="02040503050406030204" pitchFamily="18" charset="0"/>
                      </a:rPr>
                      <m:t>𝐺𝑟𝑒𝑒𝑑𝑦</m:t>
                    </m:r>
                    <m:r>
                      <a:rPr lang="en-US" i="1" dirty="0">
                        <a:latin typeface="Cambria Math" panose="02040503050406030204" pitchFamily="18" charset="0"/>
                      </a:rPr>
                      <m:t>(</m:t>
                    </m:r>
                    <m:r>
                      <a:rPr lang="en-US" i="1" dirty="0">
                        <a:latin typeface="Cambria Math" panose="02040503050406030204" pitchFamily="18" charset="0"/>
                      </a:rPr>
                      <m:t>𝑥</m:t>
                    </m:r>
                    <m:r>
                      <a:rPr lang="en-US" i="1" dirty="0">
                        <a:latin typeface="Cambria Math" panose="02040503050406030204" pitchFamily="18" charset="0"/>
                      </a:rPr>
                      <m:t>) ⇒ </m:t>
                    </m:r>
                    <m:r>
                      <a:rPr lang="en-US" i="1" dirty="0">
                        <a:latin typeface="Cambria Math" panose="02040503050406030204" pitchFamily="18" charset="0"/>
                      </a:rPr>
                      <m:t>𝐸𝑣𝑖𝑙</m:t>
                    </m:r>
                    <m:r>
                      <a:rPr lang="en-US" i="1" dirty="0">
                        <a:latin typeface="Cambria Math" panose="02040503050406030204" pitchFamily="18" charset="0"/>
                      </a:rPr>
                      <m:t>(</m:t>
                    </m:r>
                    <m:r>
                      <a:rPr lang="en-US" i="1" dirty="0">
                        <a:latin typeface="Cambria Math" panose="02040503050406030204" pitchFamily="18" charset="0"/>
                      </a:rPr>
                      <m:t>𝑥</m:t>
                    </m:r>
                    <m:r>
                      <a:rPr lang="en-US" i="1" dirty="0">
                        <a:latin typeface="Cambria Math" panose="02040503050406030204" pitchFamily="18" charset="0"/>
                      </a:rPr>
                      <m:t>) </m:t>
                    </m:r>
                  </m:oMath>
                </a14:m>
                <a:br>
                  <a:rPr lang="en-US" dirty="0"/>
                </a:br>
                <a14:m>
                  <m:oMath xmlns:m="http://schemas.openxmlformats.org/officeDocument/2006/math">
                    <m:r>
                      <a:rPr lang="en-US" i="1" dirty="0" smtClean="0">
                        <a:latin typeface="Cambria Math" panose="02040503050406030204" pitchFamily="18" charset="0"/>
                      </a:rPr>
                      <m:t>𝐾𝑖𝑛𝑔</m:t>
                    </m:r>
                    <m:r>
                      <a:rPr lang="en-US" i="1" dirty="0">
                        <a:latin typeface="Cambria Math" panose="02040503050406030204" pitchFamily="18" charset="0"/>
                      </a:rPr>
                      <m:t>(</m:t>
                    </m:r>
                    <m:r>
                      <a:rPr lang="en-US" i="1" dirty="0">
                        <a:latin typeface="Cambria Math" panose="02040503050406030204" pitchFamily="18" charset="0"/>
                      </a:rPr>
                      <m:t>𝐽𝑜h𝑛</m:t>
                    </m:r>
                    <m:r>
                      <a:rPr lang="en-US" i="1" dirty="0">
                        <a:latin typeface="Cambria Math" panose="02040503050406030204" pitchFamily="18" charset="0"/>
                      </a:rPr>
                      <m:t>) </m:t>
                    </m:r>
                  </m:oMath>
                </a14:m>
                <a:br>
                  <a:rPr lang="en-US" dirty="0"/>
                </a:br>
                <a14:m>
                  <m:oMath xmlns:m="http://schemas.openxmlformats.org/officeDocument/2006/math">
                    <m:r>
                      <a:rPr lang="en-US" i="1" dirty="0" smtClean="0">
                        <a:latin typeface="Cambria Math" panose="02040503050406030204" pitchFamily="18" charset="0"/>
                      </a:rPr>
                      <m:t>𝐺𝑟𝑒𝑒𝑑𝑦</m:t>
                    </m:r>
                    <m:r>
                      <a:rPr lang="en-US" i="1" dirty="0">
                        <a:latin typeface="Cambria Math" panose="02040503050406030204" pitchFamily="18" charset="0"/>
                      </a:rPr>
                      <m:t>(</m:t>
                    </m:r>
                    <m:r>
                      <a:rPr lang="en-US" i="1" dirty="0">
                        <a:latin typeface="Cambria Math" panose="02040503050406030204" pitchFamily="18" charset="0"/>
                      </a:rPr>
                      <m:t>𝐽𝑜h𝑛</m:t>
                    </m:r>
                    <m:r>
                      <a:rPr lang="en-US" i="1" dirty="0">
                        <a:latin typeface="Cambria Math" panose="02040503050406030204" pitchFamily="18" charset="0"/>
                      </a:rPr>
                      <m:t>) </m:t>
                    </m:r>
                  </m:oMath>
                </a14:m>
                <a:br>
                  <a:rPr lang="en-US" dirty="0"/>
                </a:br>
                <a14:m>
                  <m:oMath xmlns:m="http://schemas.openxmlformats.org/officeDocument/2006/math">
                    <m:r>
                      <a:rPr lang="en-US" i="1" dirty="0" smtClean="0">
                        <a:latin typeface="Cambria Math" panose="02040503050406030204" pitchFamily="18" charset="0"/>
                      </a:rPr>
                      <m:t>𝐵𝑟𝑜𝑡h𝑒𝑟</m:t>
                    </m:r>
                    <m:r>
                      <a:rPr lang="en-US" i="1" dirty="0">
                        <a:latin typeface="Cambria Math" panose="02040503050406030204" pitchFamily="18" charset="0"/>
                      </a:rPr>
                      <m:t>(</m:t>
                    </m:r>
                    <m:r>
                      <a:rPr lang="en-US" i="1" dirty="0" err="1">
                        <a:latin typeface="Cambria Math" panose="02040503050406030204" pitchFamily="18" charset="0"/>
                      </a:rPr>
                      <m:t>𝑅𝑖𝑐h𝑎𝑟𝑑</m:t>
                    </m:r>
                    <m:r>
                      <a:rPr lang="en-US" i="1" dirty="0" err="1">
                        <a:latin typeface="Cambria Math" panose="02040503050406030204" pitchFamily="18" charset="0"/>
                      </a:rPr>
                      <m:t>,</m:t>
                    </m:r>
                    <m:r>
                      <a:rPr lang="en-US" i="1" dirty="0" err="1">
                        <a:latin typeface="Cambria Math" panose="02040503050406030204" pitchFamily="18" charset="0"/>
                      </a:rPr>
                      <m:t>𝐽𝑜h𝑛</m:t>
                    </m:r>
                    <m:r>
                      <a:rPr lang="en-US" i="1" dirty="0">
                        <a:latin typeface="Cambria Math" panose="02040503050406030204" pitchFamily="18" charset="0"/>
                      </a:rPr>
                      <m:t>) </m:t>
                    </m:r>
                  </m:oMath>
                </a14:m>
                <a:endParaRPr lang="en-US" dirty="0"/>
              </a:p>
              <a:p>
                <a:endParaRPr lang="en-US" dirty="0"/>
              </a:p>
            </p:txBody>
          </p:sp>
        </mc:Choice>
        <mc:Fallback xmlns="">
          <p:sp>
            <p:nvSpPr>
              <p:cNvPr id="3" name="Content Placeholder 2">
                <a:extLst>
                  <a:ext uri="{FF2B5EF4-FFF2-40B4-BE49-F238E27FC236}">
                    <a16:creationId xmlns:a16="http://schemas.microsoft.com/office/drawing/2014/main" id="{7C8D8035-14AC-96FF-1362-E024923F8557}"/>
                  </a:ext>
                </a:extLst>
              </p:cNvPr>
              <p:cNvSpPr>
                <a:spLocks noGrp="1" noRot="1" noChangeAspect="1" noMove="1" noResize="1" noEditPoints="1" noAdjustHandles="1" noChangeArrowheads="1" noChangeShapeType="1" noTextEdit="1"/>
              </p:cNvSpPr>
              <p:nvPr>
                <p:ph idx="1"/>
              </p:nvPr>
            </p:nvSpPr>
            <p:spPr>
              <a:blipFill>
                <a:blip r:embed="rId2"/>
                <a:stretch>
                  <a:fillRect l="-1043" t="-2381"/>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B85B0EAD-B064-34EB-7DB6-6101B64021C1}"/>
              </a:ext>
            </a:extLst>
          </p:cNvPr>
          <p:cNvSpPr>
            <a:spLocks noGrp="1"/>
          </p:cNvSpPr>
          <p:nvPr>
            <p:ph type="dt" sz="half" idx="10"/>
          </p:nvPr>
        </p:nvSpPr>
        <p:spPr/>
        <p:txBody>
          <a:bodyPr/>
          <a:lstStyle/>
          <a:p>
            <a:fld id="{1332600A-A7B8-4674-AAE3-A37177B883E5}" type="datetime1">
              <a:rPr lang="en-GB" smtClean="0"/>
              <a:t>20/10/2025</a:t>
            </a:fld>
            <a:endParaRPr lang="en-GB"/>
          </a:p>
        </p:txBody>
      </p:sp>
      <p:sp>
        <p:nvSpPr>
          <p:cNvPr id="5" name="Slide Number Placeholder 4">
            <a:extLst>
              <a:ext uri="{FF2B5EF4-FFF2-40B4-BE49-F238E27FC236}">
                <a16:creationId xmlns:a16="http://schemas.microsoft.com/office/drawing/2014/main" id="{643A9C26-7FFE-A093-E81B-538C8FCD67C3}"/>
              </a:ext>
            </a:extLst>
          </p:cNvPr>
          <p:cNvSpPr>
            <a:spLocks noGrp="1"/>
          </p:cNvSpPr>
          <p:nvPr>
            <p:ph type="sldNum" sz="quarter" idx="12"/>
          </p:nvPr>
        </p:nvSpPr>
        <p:spPr/>
        <p:txBody>
          <a:bodyPr/>
          <a:lstStyle/>
          <a:p>
            <a:fld id="{9EB268CF-8001-41B5-ADCD-92A7738D3D9B}" type="slidenum">
              <a:rPr lang="en-GB" smtClean="0"/>
              <a:t>7</a:t>
            </a:fld>
            <a:endParaRPr lang="en-GB"/>
          </a:p>
        </p:txBody>
      </p:sp>
    </p:spTree>
    <p:extLst>
      <p:ext uri="{BB962C8B-B14F-4D97-AF65-F5344CB8AC3E}">
        <p14:creationId xmlns:p14="http://schemas.microsoft.com/office/powerpoint/2010/main" val="18559164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3D93F-1BF9-BDE8-66FF-3F3CBE37641E}"/>
              </a:ext>
            </a:extLst>
          </p:cNvPr>
          <p:cNvSpPr>
            <a:spLocks noGrp="1"/>
          </p:cNvSpPr>
          <p:nvPr>
            <p:ph type="title"/>
          </p:nvPr>
        </p:nvSpPr>
        <p:spPr/>
        <p:txBody>
          <a:bodyPr/>
          <a:lstStyle/>
          <a:p>
            <a:r>
              <a:rPr lang="en-US" dirty="0"/>
              <a:t>Reduction to Propositional Inference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6BE07DE-139D-8E35-12C1-707893E51D6A}"/>
                  </a:ext>
                </a:extLst>
              </p:cNvPr>
              <p:cNvSpPr>
                <a:spLocks noGrp="1"/>
              </p:cNvSpPr>
              <p:nvPr>
                <p:ph idx="1"/>
              </p:nvPr>
            </p:nvSpPr>
            <p:spPr/>
            <p:txBody>
              <a:bodyPr>
                <a:normAutofit lnSpcReduction="10000"/>
              </a:bodyPr>
              <a:lstStyle/>
              <a:p>
                <a:r>
                  <a:rPr lang="en-US" dirty="0"/>
                  <a:t>We apply UI to the first sentence using all possible ground-term substitutions from the vocabulary.</a:t>
                </a:r>
              </a:p>
              <a:p>
                <a:r>
                  <a:rPr lang="en-US" dirty="0"/>
                  <a:t>We obtain </a:t>
                </a:r>
                <a:br>
                  <a:rPr lang="en-US" dirty="0"/>
                </a:br>
                <a14:m>
                  <m:oMath xmlns:m="http://schemas.openxmlformats.org/officeDocument/2006/math">
                    <m:r>
                      <a:rPr lang="en-US" i="1" dirty="0" smtClean="0">
                        <a:latin typeface="Cambria Math" panose="02040503050406030204" pitchFamily="18" charset="0"/>
                      </a:rPr>
                      <m:t>𝐾𝑖𝑛𝑔</m:t>
                    </m:r>
                    <m:r>
                      <a:rPr lang="en-US" i="1" dirty="0">
                        <a:latin typeface="Cambria Math" panose="02040503050406030204" pitchFamily="18" charset="0"/>
                      </a:rPr>
                      <m:t>(</m:t>
                    </m:r>
                    <m:r>
                      <a:rPr lang="en-US" i="1" dirty="0">
                        <a:latin typeface="Cambria Math" panose="02040503050406030204" pitchFamily="18" charset="0"/>
                      </a:rPr>
                      <m:t>𝐽𝑜</m:t>
                    </m:r>
                    <m:r>
                      <a:rPr lang="en-US" i="1" dirty="0">
                        <a:latin typeface="Cambria Math" panose="02040503050406030204" pitchFamily="18" charset="0"/>
                      </a:rPr>
                      <m:t>h</m:t>
                    </m:r>
                    <m:r>
                      <a:rPr lang="en-US" i="1" dirty="0">
                        <a:latin typeface="Cambria Math" panose="02040503050406030204" pitchFamily="18" charset="0"/>
                      </a:rPr>
                      <m:t>𝑛</m:t>
                    </m:r>
                    <m:r>
                      <a:rPr lang="en-US" i="1" dirty="0">
                        <a:latin typeface="Cambria Math" panose="02040503050406030204" pitchFamily="18" charset="0"/>
                      </a:rPr>
                      <m:t>) ∧</m:t>
                    </m:r>
                    <m:r>
                      <a:rPr lang="en-US" i="1" dirty="0">
                        <a:latin typeface="Cambria Math" panose="02040503050406030204" pitchFamily="18" charset="0"/>
                      </a:rPr>
                      <m:t>𝐺𝑟𝑒𝑒𝑑𝑦</m:t>
                    </m:r>
                    <m:r>
                      <a:rPr lang="en-US" i="1" dirty="0">
                        <a:latin typeface="Cambria Math" panose="02040503050406030204" pitchFamily="18" charset="0"/>
                      </a:rPr>
                      <m:t>(</m:t>
                    </m:r>
                    <m:r>
                      <a:rPr lang="en-US" i="1" dirty="0">
                        <a:latin typeface="Cambria Math" panose="02040503050406030204" pitchFamily="18" charset="0"/>
                      </a:rPr>
                      <m:t>𝐽𝑜</m:t>
                    </m:r>
                    <m:r>
                      <a:rPr lang="en-US" i="1" dirty="0">
                        <a:latin typeface="Cambria Math" panose="02040503050406030204" pitchFamily="18" charset="0"/>
                      </a:rPr>
                      <m:t>h</m:t>
                    </m:r>
                    <m:r>
                      <a:rPr lang="en-US" i="1" dirty="0">
                        <a:latin typeface="Cambria Math" panose="02040503050406030204" pitchFamily="18" charset="0"/>
                      </a:rPr>
                      <m:t>𝑛</m:t>
                    </m:r>
                    <m:r>
                      <a:rPr lang="en-US" i="1" dirty="0">
                        <a:latin typeface="Cambria Math" panose="02040503050406030204" pitchFamily="18" charset="0"/>
                      </a:rPr>
                      <m:t>) ⇒ </m:t>
                    </m:r>
                    <m:r>
                      <a:rPr lang="en-US" i="1" dirty="0">
                        <a:latin typeface="Cambria Math" panose="02040503050406030204" pitchFamily="18" charset="0"/>
                      </a:rPr>
                      <m:t>𝐸𝑣𝑖𝑙</m:t>
                    </m:r>
                    <m:r>
                      <a:rPr lang="en-US" i="1" dirty="0">
                        <a:latin typeface="Cambria Math" panose="02040503050406030204" pitchFamily="18" charset="0"/>
                      </a:rPr>
                      <m:t>(</m:t>
                    </m:r>
                    <m:r>
                      <a:rPr lang="en-US" i="1" dirty="0">
                        <a:latin typeface="Cambria Math" panose="02040503050406030204" pitchFamily="18" charset="0"/>
                      </a:rPr>
                      <m:t>𝐽𝑜</m:t>
                    </m:r>
                    <m:r>
                      <a:rPr lang="en-US" i="1" dirty="0">
                        <a:latin typeface="Cambria Math" panose="02040503050406030204" pitchFamily="18" charset="0"/>
                      </a:rPr>
                      <m:t>h</m:t>
                    </m:r>
                    <m:r>
                      <a:rPr lang="en-US" i="1" dirty="0">
                        <a:latin typeface="Cambria Math" panose="02040503050406030204" pitchFamily="18" charset="0"/>
                      </a:rPr>
                      <m:t>𝑛</m:t>
                    </m:r>
                    <m:r>
                      <a:rPr lang="en-US" i="1" dirty="0">
                        <a:latin typeface="Cambria Math" panose="02040503050406030204" pitchFamily="18" charset="0"/>
                      </a:rPr>
                      <m:t>) </m:t>
                    </m:r>
                  </m:oMath>
                </a14:m>
                <a:br>
                  <a:rPr lang="en-US" dirty="0"/>
                </a:br>
                <a14:m>
                  <m:oMath xmlns:m="http://schemas.openxmlformats.org/officeDocument/2006/math">
                    <m:r>
                      <a:rPr lang="en-US" i="1" dirty="0" smtClean="0">
                        <a:latin typeface="Cambria Math" panose="02040503050406030204" pitchFamily="18" charset="0"/>
                      </a:rPr>
                      <m:t>𝐾𝑖𝑛𝑔</m:t>
                    </m:r>
                    <m:r>
                      <a:rPr lang="en-US" i="1" dirty="0">
                        <a:latin typeface="Cambria Math" panose="02040503050406030204" pitchFamily="18" charset="0"/>
                      </a:rPr>
                      <m:t>(</m:t>
                    </m:r>
                    <m:r>
                      <a:rPr lang="en-US" i="1" dirty="0">
                        <a:latin typeface="Cambria Math" panose="02040503050406030204" pitchFamily="18" charset="0"/>
                      </a:rPr>
                      <m:t>𝑅𝑖𝑐</m:t>
                    </m:r>
                    <m:r>
                      <a:rPr lang="en-US" i="1" dirty="0">
                        <a:latin typeface="Cambria Math" panose="02040503050406030204" pitchFamily="18" charset="0"/>
                      </a:rPr>
                      <m:t>h</m:t>
                    </m:r>
                    <m:r>
                      <a:rPr lang="en-US" i="1" dirty="0">
                        <a:latin typeface="Cambria Math" panose="02040503050406030204" pitchFamily="18" charset="0"/>
                      </a:rPr>
                      <m:t>𝑎𝑟𝑑</m:t>
                    </m:r>
                    <m:r>
                      <a:rPr lang="en-US" i="1" dirty="0">
                        <a:latin typeface="Cambria Math" panose="02040503050406030204" pitchFamily="18" charset="0"/>
                      </a:rPr>
                      <m:t>) ∧ </m:t>
                    </m:r>
                    <m:r>
                      <a:rPr lang="en-US" i="1" dirty="0">
                        <a:latin typeface="Cambria Math" panose="02040503050406030204" pitchFamily="18" charset="0"/>
                      </a:rPr>
                      <m:t>𝐺𝑟𝑒𝑒𝑑𝑦</m:t>
                    </m:r>
                    <m:r>
                      <a:rPr lang="en-US" i="1" dirty="0">
                        <a:latin typeface="Cambria Math" panose="02040503050406030204" pitchFamily="18" charset="0"/>
                      </a:rPr>
                      <m:t>(</m:t>
                    </m:r>
                    <m:r>
                      <a:rPr lang="en-US" i="1" dirty="0">
                        <a:latin typeface="Cambria Math" panose="02040503050406030204" pitchFamily="18" charset="0"/>
                      </a:rPr>
                      <m:t>𝑅𝑖𝑐</m:t>
                    </m:r>
                    <m:r>
                      <a:rPr lang="en-US" i="1" dirty="0">
                        <a:latin typeface="Cambria Math" panose="02040503050406030204" pitchFamily="18" charset="0"/>
                      </a:rPr>
                      <m:t>h</m:t>
                    </m:r>
                    <m:r>
                      <a:rPr lang="en-US" i="1" dirty="0">
                        <a:latin typeface="Cambria Math" panose="02040503050406030204" pitchFamily="18" charset="0"/>
                      </a:rPr>
                      <m:t>𝑎𝑟𝑑</m:t>
                    </m:r>
                    <m:r>
                      <a:rPr lang="en-US" i="1" dirty="0">
                        <a:latin typeface="Cambria Math" panose="02040503050406030204" pitchFamily="18" charset="0"/>
                      </a:rPr>
                      <m:t>) ⇒ </m:t>
                    </m:r>
                    <m:r>
                      <a:rPr lang="en-US" i="1" dirty="0">
                        <a:latin typeface="Cambria Math" panose="02040503050406030204" pitchFamily="18" charset="0"/>
                      </a:rPr>
                      <m:t>𝐸𝑣𝑖𝑙</m:t>
                    </m:r>
                    <m:r>
                      <a:rPr lang="en-US" i="1" dirty="0">
                        <a:latin typeface="Cambria Math" panose="02040503050406030204" pitchFamily="18" charset="0"/>
                      </a:rPr>
                      <m:t>(</m:t>
                    </m:r>
                    <m:r>
                      <a:rPr lang="en-US" i="1" dirty="0">
                        <a:latin typeface="Cambria Math" panose="02040503050406030204" pitchFamily="18" charset="0"/>
                      </a:rPr>
                      <m:t>𝑅𝑖𝑐</m:t>
                    </m:r>
                    <m:r>
                      <a:rPr lang="en-US" i="1" dirty="0">
                        <a:latin typeface="Cambria Math" panose="02040503050406030204" pitchFamily="18" charset="0"/>
                      </a:rPr>
                      <m:t>h</m:t>
                    </m:r>
                    <m:r>
                      <a:rPr lang="en-US" i="1" dirty="0">
                        <a:latin typeface="Cambria Math" panose="02040503050406030204" pitchFamily="18" charset="0"/>
                      </a:rPr>
                      <m:t>𝑎𝑟𝑑</m:t>
                    </m:r>
                    <m:r>
                      <a:rPr lang="en-US" i="1" dirty="0">
                        <a:latin typeface="Cambria Math" panose="02040503050406030204" pitchFamily="18" charset="0"/>
                      </a:rPr>
                      <m:t>)</m:t>
                    </m:r>
                  </m:oMath>
                </a14:m>
                <a:endParaRPr lang="en-US" dirty="0"/>
              </a:p>
              <a:p>
                <a:r>
                  <a:rPr lang="en-US" dirty="0"/>
                  <a:t>And we discard the universally quantified sentence.</a:t>
                </a:r>
              </a:p>
              <a:p>
                <a:r>
                  <a:rPr lang="en-US" dirty="0"/>
                  <a:t>Now, the knowledge base is essentially </a:t>
                </a:r>
                <a:r>
                  <a:rPr lang="en-US" b="1" dirty="0"/>
                  <a:t>propositional</a:t>
                </a:r>
                <a:r>
                  <a:rPr lang="en-US" dirty="0"/>
                  <a:t>.</a:t>
                </a:r>
              </a:p>
              <a:p>
                <a:pPr lvl="1"/>
                <a:r>
                  <a:rPr lang="en-US" dirty="0"/>
                  <a:t> if we view the ground atomic sentences—King(John), Greedy(John), and so on—as proposition symbols.</a:t>
                </a:r>
              </a:p>
              <a:p>
                <a:r>
                  <a:rPr lang="en-US" dirty="0"/>
                  <a:t>Called</a:t>
                </a:r>
                <a:r>
                  <a:rPr lang="en-US" b="1" dirty="0"/>
                  <a:t> </a:t>
                </a:r>
                <a:r>
                  <a:rPr lang="en-US" b="1" dirty="0" err="1"/>
                  <a:t>propositionalization</a:t>
                </a:r>
                <a:r>
                  <a:rPr lang="en-US" dirty="0"/>
                  <a:t>.</a:t>
                </a:r>
              </a:p>
            </p:txBody>
          </p:sp>
        </mc:Choice>
        <mc:Fallback xmlns="">
          <p:sp>
            <p:nvSpPr>
              <p:cNvPr id="3" name="Content Placeholder 2">
                <a:extLst>
                  <a:ext uri="{FF2B5EF4-FFF2-40B4-BE49-F238E27FC236}">
                    <a16:creationId xmlns:a16="http://schemas.microsoft.com/office/drawing/2014/main" id="{F6BE07DE-139D-8E35-12C1-707893E51D6A}"/>
                  </a:ext>
                </a:extLst>
              </p:cNvPr>
              <p:cNvSpPr>
                <a:spLocks noGrp="1" noRot="1" noChangeAspect="1" noMove="1" noResize="1" noEditPoints="1" noAdjustHandles="1" noChangeArrowheads="1" noChangeShapeType="1" noTextEdit="1"/>
              </p:cNvSpPr>
              <p:nvPr>
                <p:ph idx="1"/>
              </p:nvPr>
            </p:nvSpPr>
            <p:spPr>
              <a:blipFill>
                <a:blip r:embed="rId2"/>
                <a:stretch>
                  <a:fillRect l="-1043" t="-3361" r="-1043"/>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53A11966-C700-47A6-09BD-A2C40A369377}"/>
              </a:ext>
            </a:extLst>
          </p:cNvPr>
          <p:cNvSpPr>
            <a:spLocks noGrp="1"/>
          </p:cNvSpPr>
          <p:nvPr>
            <p:ph type="dt" sz="half" idx="10"/>
          </p:nvPr>
        </p:nvSpPr>
        <p:spPr/>
        <p:txBody>
          <a:bodyPr/>
          <a:lstStyle/>
          <a:p>
            <a:fld id="{1332600A-A7B8-4674-AAE3-A37177B883E5}" type="datetime1">
              <a:rPr lang="en-GB" smtClean="0"/>
              <a:t>20/10/2025</a:t>
            </a:fld>
            <a:endParaRPr lang="en-GB"/>
          </a:p>
        </p:txBody>
      </p:sp>
      <p:sp>
        <p:nvSpPr>
          <p:cNvPr id="5" name="Slide Number Placeholder 4">
            <a:extLst>
              <a:ext uri="{FF2B5EF4-FFF2-40B4-BE49-F238E27FC236}">
                <a16:creationId xmlns:a16="http://schemas.microsoft.com/office/drawing/2014/main" id="{07B9CFC5-3D0D-B56B-D6C1-DE95CD75794B}"/>
              </a:ext>
            </a:extLst>
          </p:cNvPr>
          <p:cNvSpPr>
            <a:spLocks noGrp="1"/>
          </p:cNvSpPr>
          <p:nvPr>
            <p:ph type="sldNum" sz="quarter" idx="12"/>
          </p:nvPr>
        </p:nvSpPr>
        <p:spPr/>
        <p:txBody>
          <a:bodyPr/>
          <a:lstStyle/>
          <a:p>
            <a:fld id="{9EB268CF-8001-41B5-ADCD-92A7738D3D9B}" type="slidenum">
              <a:rPr lang="en-GB" smtClean="0"/>
              <a:t>8</a:t>
            </a:fld>
            <a:endParaRPr lang="en-GB"/>
          </a:p>
        </p:txBody>
      </p:sp>
    </p:spTree>
    <p:extLst>
      <p:ext uri="{BB962C8B-B14F-4D97-AF65-F5344CB8AC3E}">
        <p14:creationId xmlns:p14="http://schemas.microsoft.com/office/powerpoint/2010/main" val="29257112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fade">
                                      <p:cBhvr>
                                        <p:cTn id="25" dur="500"/>
                                        <p:tgtEl>
                                          <p:spTgt spid="3">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3">
                                            <p:txEl>
                                              <p:pRg st="5" end="5"/>
                                            </p:txEl>
                                          </p:spTgt>
                                        </p:tgtEl>
                                        <p:attrNameLst>
                                          <p:attrName>style.visibility</p:attrName>
                                        </p:attrNameLst>
                                      </p:cBhvr>
                                      <p:to>
                                        <p:strVal val="visible"/>
                                      </p:to>
                                    </p:set>
                                    <p:animEffect transition="in" filter="fade">
                                      <p:cBhvr>
                                        <p:cTn id="30"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A1D01-AC69-67B8-A940-D05CCFA35958}"/>
              </a:ext>
            </a:extLst>
          </p:cNvPr>
          <p:cNvSpPr>
            <a:spLocks noGrp="1"/>
          </p:cNvSpPr>
          <p:nvPr>
            <p:ph type="title"/>
          </p:nvPr>
        </p:nvSpPr>
        <p:spPr/>
        <p:txBody>
          <a:bodyPr/>
          <a:lstStyle/>
          <a:p>
            <a:r>
              <a:rPr lang="en-US" dirty="0"/>
              <a:t>Reduction to Propositional Inference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D6A2701-A7E4-C1E2-94D8-D146D8A72013}"/>
                  </a:ext>
                </a:extLst>
              </p:cNvPr>
              <p:cNvSpPr>
                <a:spLocks noGrp="1"/>
              </p:cNvSpPr>
              <p:nvPr>
                <p:ph idx="1"/>
              </p:nvPr>
            </p:nvSpPr>
            <p:spPr/>
            <p:txBody>
              <a:bodyPr/>
              <a:lstStyle/>
              <a:p>
                <a:r>
                  <a:rPr lang="en-US" b="1" dirty="0"/>
                  <a:t>Problem</a:t>
                </a:r>
              </a:p>
              <a:p>
                <a:r>
                  <a:rPr lang="en-US" dirty="0"/>
                  <a:t>When the knowledge base includes a function symbol, the set of possible ground-term substitutions is infinite! </a:t>
                </a:r>
              </a:p>
              <a:p>
                <a:r>
                  <a:rPr lang="en-US" dirty="0"/>
                  <a:t>Consider the symbol Father.</a:t>
                </a:r>
              </a:p>
              <a:p>
                <a:r>
                  <a:rPr lang="en-US" dirty="0"/>
                  <a:t>We can construct </a:t>
                </a:r>
                <a14:m>
                  <m:oMath xmlns:m="http://schemas.openxmlformats.org/officeDocument/2006/math">
                    <m:r>
                      <a:rPr lang="en-US" i="1" dirty="0" smtClean="0">
                        <a:latin typeface="Cambria Math" panose="02040503050406030204" pitchFamily="18" charset="0"/>
                      </a:rPr>
                      <m:t>𝐹𝑎𝑡</m:t>
                    </m:r>
                    <m:r>
                      <a:rPr lang="en-US" i="1" dirty="0" smtClean="0">
                        <a:latin typeface="Cambria Math" panose="02040503050406030204" pitchFamily="18" charset="0"/>
                      </a:rPr>
                      <m:t>h</m:t>
                    </m:r>
                    <m:r>
                      <a:rPr lang="en-US" i="1" dirty="0" smtClean="0">
                        <a:latin typeface="Cambria Math" panose="02040503050406030204" pitchFamily="18" charset="0"/>
                      </a:rPr>
                      <m:t>𝑒𝑟</m:t>
                    </m:r>
                    <m:r>
                      <a:rPr lang="en-US" i="1" dirty="0" smtClean="0">
                        <a:latin typeface="Cambria Math" panose="02040503050406030204" pitchFamily="18" charset="0"/>
                      </a:rPr>
                      <m:t>(</m:t>
                    </m:r>
                    <m:r>
                      <a:rPr lang="en-US" i="1" dirty="0" smtClean="0">
                        <a:latin typeface="Cambria Math" panose="02040503050406030204" pitchFamily="18" charset="0"/>
                      </a:rPr>
                      <m:t>𝐹𝑎𝑡</m:t>
                    </m:r>
                    <m:r>
                      <a:rPr lang="en-US" i="1" dirty="0" smtClean="0">
                        <a:latin typeface="Cambria Math" panose="02040503050406030204" pitchFamily="18" charset="0"/>
                      </a:rPr>
                      <m:t>h</m:t>
                    </m:r>
                    <m:r>
                      <a:rPr lang="en-US" i="1" dirty="0" smtClean="0">
                        <a:latin typeface="Cambria Math" panose="02040503050406030204" pitchFamily="18" charset="0"/>
                      </a:rPr>
                      <m:t>𝑒𝑟</m:t>
                    </m:r>
                    <m:r>
                      <a:rPr lang="en-US" i="1" dirty="0" smtClean="0">
                        <a:latin typeface="Cambria Math" panose="02040503050406030204" pitchFamily="18" charset="0"/>
                      </a:rPr>
                      <m:t>(….(</m:t>
                    </m:r>
                    <m:r>
                      <a:rPr lang="en-US" i="1" dirty="0" smtClean="0">
                        <a:latin typeface="Cambria Math" panose="02040503050406030204" pitchFamily="18" charset="0"/>
                      </a:rPr>
                      <m:t>𝐹𝑎𝑡</m:t>
                    </m:r>
                    <m:r>
                      <a:rPr lang="en-US" i="1" dirty="0" smtClean="0">
                        <a:latin typeface="Cambria Math" panose="02040503050406030204" pitchFamily="18" charset="0"/>
                      </a:rPr>
                      <m:t>h</m:t>
                    </m:r>
                    <m:r>
                      <a:rPr lang="en-US" i="1" dirty="0" smtClean="0">
                        <a:latin typeface="Cambria Math" panose="02040503050406030204" pitchFamily="18" charset="0"/>
                      </a:rPr>
                      <m:t>𝑒𝑟</m:t>
                    </m:r>
                    <m:r>
                      <a:rPr lang="en-US" i="1" dirty="0" smtClean="0">
                        <a:latin typeface="Cambria Math" panose="02040503050406030204" pitchFamily="18" charset="0"/>
                      </a:rPr>
                      <m:t>(</m:t>
                    </m:r>
                    <m:r>
                      <a:rPr lang="en-US" i="1" dirty="0" smtClean="0">
                        <a:latin typeface="Cambria Math" panose="02040503050406030204" pitchFamily="18" charset="0"/>
                      </a:rPr>
                      <m:t>𝐽𝑜</m:t>
                    </m:r>
                    <m:r>
                      <a:rPr lang="en-US" i="1" dirty="0" smtClean="0">
                        <a:latin typeface="Cambria Math" panose="02040503050406030204" pitchFamily="18" charset="0"/>
                      </a:rPr>
                      <m:t>h</m:t>
                    </m:r>
                    <m:r>
                      <a:rPr lang="en-US" i="1" dirty="0" smtClean="0">
                        <a:latin typeface="Cambria Math" panose="02040503050406030204" pitchFamily="18" charset="0"/>
                      </a:rPr>
                      <m:t>𝑛</m:t>
                    </m:r>
                    <m:r>
                      <a:rPr lang="en-US" i="1" dirty="0" smtClean="0">
                        <a:latin typeface="Cambria Math" panose="02040503050406030204" pitchFamily="18" charset="0"/>
                      </a:rPr>
                      <m:t>)…)).</m:t>
                    </m:r>
                  </m:oMath>
                </a14:m>
                <a:endParaRPr lang="en-US" dirty="0"/>
              </a:p>
            </p:txBody>
          </p:sp>
        </mc:Choice>
        <mc:Fallback xmlns="">
          <p:sp>
            <p:nvSpPr>
              <p:cNvPr id="3" name="Content Placeholder 2">
                <a:extLst>
                  <a:ext uri="{FF2B5EF4-FFF2-40B4-BE49-F238E27FC236}">
                    <a16:creationId xmlns:a16="http://schemas.microsoft.com/office/drawing/2014/main" id="{4D6A2701-A7E4-C1E2-94D8-D146D8A72013}"/>
                  </a:ext>
                </a:extLst>
              </p:cNvPr>
              <p:cNvSpPr>
                <a:spLocks noGrp="1" noRot="1" noChangeAspect="1" noMove="1" noResize="1" noEditPoints="1" noAdjustHandles="1" noChangeArrowheads="1" noChangeShapeType="1" noTextEdit="1"/>
              </p:cNvSpPr>
              <p:nvPr>
                <p:ph idx="1"/>
              </p:nvPr>
            </p:nvSpPr>
            <p:spPr>
              <a:blipFill>
                <a:blip r:embed="rId2"/>
                <a:stretch>
                  <a:fillRect l="-1043" t="-2381"/>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EF56875C-3FCA-9CDE-DE08-F174417AE8DE}"/>
              </a:ext>
            </a:extLst>
          </p:cNvPr>
          <p:cNvSpPr>
            <a:spLocks noGrp="1"/>
          </p:cNvSpPr>
          <p:nvPr>
            <p:ph type="dt" sz="half" idx="10"/>
          </p:nvPr>
        </p:nvSpPr>
        <p:spPr/>
        <p:txBody>
          <a:bodyPr/>
          <a:lstStyle/>
          <a:p>
            <a:fld id="{1332600A-A7B8-4674-AAE3-A37177B883E5}" type="datetime1">
              <a:rPr lang="en-GB" smtClean="0"/>
              <a:t>20/10/2025</a:t>
            </a:fld>
            <a:endParaRPr lang="en-GB"/>
          </a:p>
        </p:txBody>
      </p:sp>
      <p:sp>
        <p:nvSpPr>
          <p:cNvPr id="5" name="Slide Number Placeholder 4">
            <a:extLst>
              <a:ext uri="{FF2B5EF4-FFF2-40B4-BE49-F238E27FC236}">
                <a16:creationId xmlns:a16="http://schemas.microsoft.com/office/drawing/2014/main" id="{6BF9AA77-3B0E-6083-6583-9E3DD443C836}"/>
              </a:ext>
            </a:extLst>
          </p:cNvPr>
          <p:cNvSpPr>
            <a:spLocks noGrp="1"/>
          </p:cNvSpPr>
          <p:nvPr>
            <p:ph type="sldNum" sz="quarter" idx="12"/>
          </p:nvPr>
        </p:nvSpPr>
        <p:spPr/>
        <p:txBody>
          <a:bodyPr/>
          <a:lstStyle/>
          <a:p>
            <a:fld id="{9EB268CF-8001-41B5-ADCD-92A7738D3D9B}" type="slidenum">
              <a:rPr lang="en-GB" smtClean="0"/>
              <a:t>9</a:t>
            </a:fld>
            <a:endParaRPr lang="en-GB"/>
          </a:p>
        </p:txBody>
      </p:sp>
    </p:spTree>
    <p:extLst>
      <p:ext uri="{BB962C8B-B14F-4D97-AF65-F5344CB8AC3E}">
        <p14:creationId xmlns:p14="http://schemas.microsoft.com/office/powerpoint/2010/main" val="14717655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3CF5A1-75E0-B819-774A-D4508562DFF9}"/>
              </a:ext>
            </a:extLst>
          </p:cNvPr>
          <p:cNvSpPr>
            <a:spLocks noGrp="1"/>
          </p:cNvSpPr>
          <p:nvPr>
            <p:ph type="title"/>
          </p:nvPr>
        </p:nvSpPr>
        <p:spPr/>
        <p:txBody>
          <a:bodyPr/>
          <a:lstStyle/>
          <a:p>
            <a:r>
              <a:rPr lang="en-US" dirty="0"/>
              <a:t>Reduction to Propositional Inference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D1F0F04-CF46-5276-2C0E-A1406272A54A}"/>
                  </a:ext>
                </a:extLst>
              </p:cNvPr>
              <p:cNvSpPr>
                <a:spLocks noGrp="1"/>
              </p:cNvSpPr>
              <p:nvPr>
                <p:ph idx="1"/>
              </p:nvPr>
            </p:nvSpPr>
            <p:spPr/>
            <p:txBody>
              <a:bodyPr/>
              <a:lstStyle/>
              <a:p>
                <a:r>
                  <a:rPr lang="en-US" b="1" dirty="0"/>
                  <a:t>Solution</a:t>
                </a:r>
              </a:p>
              <a:p>
                <a:r>
                  <a:rPr lang="en-US" dirty="0"/>
                  <a:t>Find the subset by first generating all the instantiations with constant symbols </a:t>
                </a:r>
                <a14:m>
                  <m:oMath xmlns:m="http://schemas.openxmlformats.org/officeDocument/2006/math">
                    <m:r>
                      <a:rPr lang="en-US" i="1" dirty="0" smtClean="0">
                        <a:latin typeface="Cambria Math" panose="02040503050406030204" pitchFamily="18" charset="0"/>
                      </a:rPr>
                      <m:t>(</m:t>
                    </m:r>
                    <m:r>
                      <a:rPr lang="en-US" i="1" dirty="0" smtClean="0">
                        <a:latin typeface="Cambria Math" panose="02040503050406030204" pitchFamily="18" charset="0"/>
                      </a:rPr>
                      <m:t>𝑅𝑖𝑐</m:t>
                    </m:r>
                    <m:r>
                      <a:rPr lang="en-US" i="1" dirty="0" smtClean="0">
                        <a:latin typeface="Cambria Math" panose="02040503050406030204" pitchFamily="18" charset="0"/>
                      </a:rPr>
                      <m:t>h</m:t>
                    </m:r>
                    <m:r>
                      <a:rPr lang="en-US" i="1" dirty="0" smtClean="0">
                        <a:latin typeface="Cambria Math" panose="02040503050406030204" pitchFamily="18" charset="0"/>
                      </a:rPr>
                      <m:t>𝑎𝑟𝑑</m:t>
                    </m:r>
                    <m:r>
                      <a:rPr lang="en-US" i="1" dirty="0" smtClean="0">
                        <a:latin typeface="Cambria Math" panose="02040503050406030204" pitchFamily="18" charset="0"/>
                      </a:rPr>
                      <m:t> </m:t>
                    </m:r>
                    <m:r>
                      <a:rPr lang="en-US" i="1" dirty="0" smtClean="0">
                        <a:latin typeface="Cambria Math" panose="02040503050406030204" pitchFamily="18" charset="0"/>
                      </a:rPr>
                      <m:t>𝑎𝑛𝑑</m:t>
                    </m:r>
                    <m:r>
                      <a:rPr lang="en-US" i="1" dirty="0" smtClean="0">
                        <a:latin typeface="Cambria Math" panose="02040503050406030204" pitchFamily="18" charset="0"/>
                      </a:rPr>
                      <m:t> </m:t>
                    </m:r>
                    <m:r>
                      <a:rPr lang="en-US" i="1" dirty="0" smtClean="0">
                        <a:latin typeface="Cambria Math" panose="02040503050406030204" pitchFamily="18" charset="0"/>
                      </a:rPr>
                      <m:t>𝐽𝑜</m:t>
                    </m:r>
                    <m:r>
                      <a:rPr lang="en-US" i="1" dirty="0" smtClean="0">
                        <a:latin typeface="Cambria Math" panose="02040503050406030204" pitchFamily="18" charset="0"/>
                      </a:rPr>
                      <m:t>h</m:t>
                    </m:r>
                    <m:r>
                      <a:rPr lang="en-US" i="1" dirty="0" smtClean="0">
                        <a:latin typeface="Cambria Math" panose="02040503050406030204" pitchFamily="18" charset="0"/>
                      </a:rPr>
                      <m:t>𝑛</m:t>
                    </m:r>
                    <m:r>
                      <a:rPr lang="en-US" i="1" dirty="0" smtClean="0">
                        <a:latin typeface="Cambria Math" panose="02040503050406030204" pitchFamily="18" charset="0"/>
                      </a:rPr>
                      <m:t>).</m:t>
                    </m:r>
                  </m:oMath>
                </a14:m>
                <a:endParaRPr lang="en-US" dirty="0"/>
              </a:p>
              <a:p>
                <a:r>
                  <a:rPr lang="en-US" dirty="0"/>
                  <a:t>Then all terms of depth 1 </a:t>
                </a:r>
                <a14:m>
                  <m:oMath xmlns:m="http://schemas.openxmlformats.org/officeDocument/2006/math">
                    <m:r>
                      <a:rPr lang="en-US" i="1" dirty="0" smtClean="0">
                        <a:latin typeface="Cambria Math" panose="02040503050406030204" pitchFamily="18" charset="0"/>
                      </a:rPr>
                      <m:t>(</m:t>
                    </m:r>
                    <m:r>
                      <a:rPr lang="en-US" i="1" dirty="0" smtClean="0">
                        <a:latin typeface="Cambria Math" panose="02040503050406030204" pitchFamily="18" charset="0"/>
                      </a:rPr>
                      <m:t>𝐹𝑎𝑡</m:t>
                    </m:r>
                    <m:r>
                      <a:rPr lang="en-US" i="1" dirty="0" smtClean="0">
                        <a:latin typeface="Cambria Math" panose="02040503050406030204" pitchFamily="18" charset="0"/>
                      </a:rPr>
                      <m:t>h</m:t>
                    </m:r>
                    <m:r>
                      <a:rPr lang="en-US" i="1" dirty="0" smtClean="0">
                        <a:latin typeface="Cambria Math" panose="02040503050406030204" pitchFamily="18" charset="0"/>
                      </a:rPr>
                      <m:t>𝑒𝑟</m:t>
                    </m:r>
                    <m:r>
                      <a:rPr lang="en-US" i="1" dirty="0" smtClean="0">
                        <a:latin typeface="Cambria Math" panose="02040503050406030204" pitchFamily="18" charset="0"/>
                      </a:rPr>
                      <m:t> (</m:t>
                    </m:r>
                    <m:r>
                      <a:rPr lang="en-US" i="1" dirty="0" smtClean="0">
                        <a:latin typeface="Cambria Math" panose="02040503050406030204" pitchFamily="18" charset="0"/>
                      </a:rPr>
                      <m:t>𝑅𝑖𝑐</m:t>
                    </m:r>
                    <m:r>
                      <a:rPr lang="en-US" i="1" dirty="0" smtClean="0">
                        <a:latin typeface="Cambria Math" panose="02040503050406030204" pitchFamily="18" charset="0"/>
                      </a:rPr>
                      <m:t>h</m:t>
                    </m:r>
                    <m:r>
                      <a:rPr lang="en-US" i="1" dirty="0" smtClean="0">
                        <a:latin typeface="Cambria Math" panose="02040503050406030204" pitchFamily="18" charset="0"/>
                      </a:rPr>
                      <m:t>𝑎𝑟𝑑</m:t>
                    </m:r>
                    <m:r>
                      <a:rPr lang="en-US" i="1" dirty="0" smtClean="0">
                        <a:latin typeface="Cambria Math" panose="02040503050406030204" pitchFamily="18" charset="0"/>
                      </a:rPr>
                      <m:t>) </m:t>
                    </m:r>
                    <m:r>
                      <a:rPr lang="en-US" i="1" dirty="0" smtClean="0">
                        <a:latin typeface="Cambria Math" panose="02040503050406030204" pitchFamily="18" charset="0"/>
                      </a:rPr>
                      <m:t>𝑎𝑛𝑑</m:t>
                    </m:r>
                    <m:r>
                      <a:rPr lang="en-US" i="1" dirty="0" smtClean="0">
                        <a:latin typeface="Cambria Math" panose="02040503050406030204" pitchFamily="18" charset="0"/>
                      </a:rPr>
                      <m:t> </m:t>
                    </m:r>
                    <m:r>
                      <a:rPr lang="en-US" i="1" dirty="0" smtClean="0">
                        <a:latin typeface="Cambria Math" panose="02040503050406030204" pitchFamily="18" charset="0"/>
                      </a:rPr>
                      <m:t>𝐹𝑎𝑡</m:t>
                    </m:r>
                    <m:r>
                      <a:rPr lang="en-US" i="1" dirty="0" smtClean="0">
                        <a:latin typeface="Cambria Math" panose="02040503050406030204" pitchFamily="18" charset="0"/>
                      </a:rPr>
                      <m:t>h</m:t>
                    </m:r>
                    <m:r>
                      <a:rPr lang="en-US" i="1" dirty="0" smtClean="0">
                        <a:latin typeface="Cambria Math" panose="02040503050406030204" pitchFamily="18" charset="0"/>
                      </a:rPr>
                      <m:t>𝑒𝑟</m:t>
                    </m:r>
                    <m:r>
                      <a:rPr lang="en-US" i="1" dirty="0" smtClean="0">
                        <a:latin typeface="Cambria Math" panose="02040503050406030204" pitchFamily="18" charset="0"/>
                      </a:rPr>
                      <m:t> (</m:t>
                    </m:r>
                    <m:r>
                      <a:rPr lang="en-US" i="1" dirty="0" smtClean="0">
                        <a:latin typeface="Cambria Math" panose="02040503050406030204" pitchFamily="18" charset="0"/>
                      </a:rPr>
                      <m:t>𝐽𝑜</m:t>
                    </m:r>
                    <m:r>
                      <a:rPr lang="en-US" i="1" dirty="0" smtClean="0">
                        <a:latin typeface="Cambria Math" panose="02040503050406030204" pitchFamily="18" charset="0"/>
                      </a:rPr>
                      <m:t>h</m:t>
                    </m:r>
                    <m:r>
                      <a:rPr lang="en-US" i="1" dirty="0" smtClean="0">
                        <a:latin typeface="Cambria Math" panose="02040503050406030204" pitchFamily="18" charset="0"/>
                      </a:rPr>
                      <m:t>𝑛</m:t>
                    </m:r>
                    <m:r>
                      <a:rPr lang="en-US" i="1" dirty="0" smtClean="0">
                        <a:latin typeface="Cambria Math" panose="02040503050406030204" pitchFamily="18" charset="0"/>
                      </a:rPr>
                      <m:t>)).</m:t>
                    </m:r>
                  </m:oMath>
                </a14:m>
                <a:endParaRPr lang="en-US" dirty="0"/>
              </a:p>
              <a:p>
                <a:r>
                  <a:rPr lang="en-US" dirty="0"/>
                  <a:t>Then all terms of depth 2, and so on, until we are able to construct a propositional proof of the entailed sentence.</a:t>
                </a:r>
              </a:p>
            </p:txBody>
          </p:sp>
        </mc:Choice>
        <mc:Fallback xmlns="">
          <p:sp>
            <p:nvSpPr>
              <p:cNvPr id="3" name="Content Placeholder 2">
                <a:extLst>
                  <a:ext uri="{FF2B5EF4-FFF2-40B4-BE49-F238E27FC236}">
                    <a16:creationId xmlns:a16="http://schemas.microsoft.com/office/drawing/2014/main" id="{3D1F0F04-CF46-5276-2C0E-A1406272A54A}"/>
                  </a:ext>
                </a:extLst>
              </p:cNvPr>
              <p:cNvSpPr>
                <a:spLocks noGrp="1" noRot="1" noChangeAspect="1" noMove="1" noResize="1" noEditPoints="1" noAdjustHandles="1" noChangeArrowheads="1" noChangeShapeType="1" noTextEdit="1"/>
              </p:cNvSpPr>
              <p:nvPr>
                <p:ph idx="1"/>
              </p:nvPr>
            </p:nvSpPr>
            <p:spPr>
              <a:blipFill>
                <a:blip r:embed="rId2"/>
                <a:stretch>
                  <a:fillRect l="-1043" t="-2381"/>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FD62E598-3C10-6F77-6728-0A45F07268F5}"/>
              </a:ext>
            </a:extLst>
          </p:cNvPr>
          <p:cNvSpPr>
            <a:spLocks noGrp="1"/>
          </p:cNvSpPr>
          <p:nvPr>
            <p:ph type="dt" sz="half" idx="10"/>
          </p:nvPr>
        </p:nvSpPr>
        <p:spPr/>
        <p:txBody>
          <a:bodyPr/>
          <a:lstStyle/>
          <a:p>
            <a:fld id="{1332600A-A7B8-4674-AAE3-A37177B883E5}" type="datetime1">
              <a:rPr lang="en-GB" smtClean="0"/>
              <a:t>20/10/2025</a:t>
            </a:fld>
            <a:endParaRPr lang="en-GB"/>
          </a:p>
        </p:txBody>
      </p:sp>
      <p:sp>
        <p:nvSpPr>
          <p:cNvPr id="5" name="Slide Number Placeholder 4">
            <a:extLst>
              <a:ext uri="{FF2B5EF4-FFF2-40B4-BE49-F238E27FC236}">
                <a16:creationId xmlns:a16="http://schemas.microsoft.com/office/drawing/2014/main" id="{ED8C75D2-F677-98A7-D63A-A31E1CE569FA}"/>
              </a:ext>
            </a:extLst>
          </p:cNvPr>
          <p:cNvSpPr>
            <a:spLocks noGrp="1"/>
          </p:cNvSpPr>
          <p:nvPr>
            <p:ph type="sldNum" sz="quarter" idx="12"/>
          </p:nvPr>
        </p:nvSpPr>
        <p:spPr/>
        <p:txBody>
          <a:bodyPr/>
          <a:lstStyle/>
          <a:p>
            <a:fld id="{9EB268CF-8001-41B5-ADCD-92A7738D3D9B}" type="slidenum">
              <a:rPr lang="en-GB" smtClean="0"/>
              <a:t>10</a:t>
            </a:fld>
            <a:endParaRPr lang="en-GB"/>
          </a:p>
        </p:txBody>
      </p:sp>
    </p:spTree>
    <p:extLst>
      <p:ext uri="{BB962C8B-B14F-4D97-AF65-F5344CB8AC3E}">
        <p14:creationId xmlns:p14="http://schemas.microsoft.com/office/powerpoint/2010/main" val="18853877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0E8B5D-D7D9-E798-CECF-6FC86A684934}"/>
              </a:ext>
            </a:extLst>
          </p:cNvPr>
          <p:cNvSpPr>
            <a:spLocks noGrp="1"/>
          </p:cNvSpPr>
          <p:nvPr>
            <p:ph type="title"/>
          </p:nvPr>
        </p:nvSpPr>
        <p:spPr/>
        <p:txBody>
          <a:bodyPr/>
          <a:lstStyle/>
          <a:p>
            <a:r>
              <a:rPr lang="en-US" dirty="0"/>
              <a:t>Reduction to Propositional Inference</a:t>
            </a:r>
          </a:p>
        </p:txBody>
      </p:sp>
      <p:sp>
        <p:nvSpPr>
          <p:cNvPr id="3" name="Content Placeholder 2">
            <a:extLst>
              <a:ext uri="{FF2B5EF4-FFF2-40B4-BE49-F238E27FC236}">
                <a16:creationId xmlns:a16="http://schemas.microsoft.com/office/drawing/2014/main" id="{ADFBAA41-B095-385B-6CCD-7B6D2EE666EA}"/>
              </a:ext>
            </a:extLst>
          </p:cNvPr>
          <p:cNvSpPr>
            <a:spLocks noGrp="1"/>
          </p:cNvSpPr>
          <p:nvPr>
            <p:ph idx="1"/>
          </p:nvPr>
        </p:nvSpPr>
        <p:spPr/>
        <p:txBody>
          <a:bodyPr/>
          <a:lstStyle/>
          <a:p>
            <a:r>
              <a:rPr lang="en-US" dirty="0"/>
              <a:t>Any entailed sentence can be proved.</a:t>
            </a:r>
          </a:p>
          <a:p>
            <a:r>
              <a:rPr lang="en-US" dirty="0"/>
              <a:t>What happens when the sentence is not entailed?</a:t>
            </a:r>
          </a:p>
          <a:p>
            <a:pPr lvl="1"/>
            <a:r>
              <a:rPr lang="en-US" dirty="0"/>
              <a:t>Can we tell? </a:t>
            </a:r>
          </a:p>
          <a:p>
            <a:r>
              <a:rPr lang="en-US" dirty="0"/>
              <a:t>Well, for first-order logic, it turns out that we cannot.</a:t>
            </a:r>
          </a:p>
          <a:p>
            <a:r>
              <a:rPr lang="en-US" dirty="0"/>
              <a:t>The question of entailment for FOL is </a:t>
            </a:r>
            <a:r>
              <a:rPr lang="en-US" b="1" dirty="0" err="1"/>
              <a:t>semidecidable</a:t>
            </a:r>
            <a:r>
              <a:rPr lang="en-US" b="1" dirty="0"/>
              <a:t>.</a:t>
            </a:r>
          </a:p>
          <a:p>
            <a:pPr lvl="1"/>
            <a:r>
              <a:rPr lang="en-US" dirty="0"/>
              <a:t>Algorithms exist that say yes to every entailed sentence, but no algorithm exists that also says no to every non-entailed sentence.</a:t>
            </a:r>
          </a:p>
        </p:txBody>
      </p:sp>
      <p:sp>
        <p:nvSpPr>
          <p:cNvPr id="4" name="Date Placeholder 3">
            <a:extLst>
              <a:ext uri="{FF2B5EF4-FFF2-40B4-BE49-F238E27FC236}">
                <a16:creationId xmlns:a16="http://schemas.microsoft.com/office/drawing/2014/main" id="{F86486C3-03E7-7E4E-9B13-6EA9119528DF}"/>
              </a:ext>
            </a:extLst>
          </p:cNvPr>
          <p:cNvSpPr>
            <a:spLocks noGrp="1"/>
          </p:cNvSpPr>
          <p:nvPr>
            <p:ph type="dt" sz="half" idx="10"/>
          </p:nvPr>
        </p:nvSpPr>
        <p:spPr/>
        <p:txBody>
          <a:bodyPr/>
          <a:lstStyle/>
          <a:p>
            <a:fld id="{1332600A-A7B8-4674-AAE3-A37177B883E5}" type="datetime1">
              <a:rPr lang="en-GB" smtClean="0"/>
              <a:t>20/10/2025</a:t>
            </a:fld>
            <a:endParaRPr lang="en-GB"/>
          </a:p>
        </p:txBody>
      </p:sp>
      <p:sp>
        <p:nvSpPr>
          <p:cNvPr id="5" name="Slide Number Placeholder 4">
            <a:extLst>
              <a:ext uri="{FF2B5EF4-FFF2-40B4-BE49-F238E27FC236}">
                <a16:creationId xmlns:a16="http://schemas.microsoft.com/office/drawing/2014/main" id="{09F49553-E5F5-4A0F-1B8C-CEB5637FFF3E}"/>
              </a:ext>
            </a:extLst>
          </p:cNvPr>
          <p:cNvSpPr>
            <a:spLocks noGrp="1"/>
          </p:cNvSpPr>
          <p:nvPr>
            <p:ph type="sldNum" sz="quarter" idx="12"/>
          </p:nvPr>
        </p:nvSpPr>
        <p:spPr/>
        <p:txBody>
          <a:bodyPr/>
          <a:lstStyle/>
          <a:p>
            <a:fld id="{9EB268CF-8001-41B5-ADCD-92A7738D3D9B}" type="slidenum">
              <a:rPr lang="en-GB" smtClean="0"/>
              <a:t>11</a:t>
            </a:fld>
            <a:endParaRPr lang="en-GB"/>
          </a:p>
        </p:txBody>
      </p:sp>
    </p:spTree>
    <p:extLst>
      <p:ext uri="{BB962C8B-B14F-4D97-AF65-F5344CB8AC3E}">
        <p14:creationId xmlns:p14="http://schemas.microsoft.com/office/powerpoint/2010/main" val="33771171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fade">
                                      <p:cBhvr>
                                        <p:cTn id="25" dur="500"/>
                                        <p:tgtEl>
                                          <p:spTgt spid="3">
                                            <p:txEl>
                                              <p:pRg st="4" end="4"/>
                                            </p:txEl>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3">
                                            <p:txEl>
                                              <p:pRg st="5" end="5"/>
                                            </p:txEl>
                                          </p:spTgt>
                                        </p:tgtEl>
                                        <p:attrNameLst>
                                          <p:attrName>style.visibility</p:attrName>
                                        </p:attrNameLst>
                                      </p:cBhvr>
                                      <p:to>
                                        <p:strVal val="visible"/>
                                      </p:to>
                                    </p:set>
                                    <p:animEffect transition="in" filter="fade">
                                      <p:cBhvr>
                                        <p:cTn id="28"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E3D1EF-10F7-0A82-311F-ACE25905810D}"/>
              </a:ext>
            </a:extLst>
          </p:cNvPr>
          <p:cNvSpPr>
            <a:spLocks noGrp="1"/>
          </p:cNvSpPr>
          <p:nvPr>
            <p:ph type="title"/>
          </p:nvPr>
        </p:nvSpPr>
        <p:spPr/>
        <p:txBody>
          <a:bodyPr/>
          <a:lstStyle/>
          <a:p>
            <a:r>
              <a:rPr lang="en-GB" dirty="0"/>
              <a:t>Unification and Lifting</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CE8C910-D978-DE38-2014-5F34FFDDD9F3}"/>
                  </a:ext>
                </a:extLst>
              </p:cNvPr>
              <p:cNvSpPr>
                <a:spLocks noGrp="1"/>
              </p:cNvSpPr>
              <p:nvPr>
                <p:ph idx="1"/>
              </p:nvPr>
            </p:nvSpPr>
            <p:spPr/>
            <p:txBody>
              <a:bodyPr/>
              <a:lstStyle/>
              <a:p>
                <a:r>
                  <a:rPr lang="en-US" dirty="0"/>
                  <a:t>Consider the sentences:</a:t>
                </a:r>
                <a:br>
                  <a:rPr lang="en-US" dirty="0"/>
                </a:br>
                <a14:m>
                  <m:oMath xmlns:m="http://schemas.openxmlformats.org/officeDocument/2006/math">
                    <m:r>
                      <a:rPr lang="en-US" i="1" dirty="0" smtClean="0">
                        <a:latin typeface="Cambria Math" panose="02040503050406030204" pitchFamily="18" charset="0"/>
                      </a:rPr>
                      <m:t>∀ </m:t>
                    </m:r>
                    <m:r>
                      <a:rPr lang="en-US" i="1" dirty="0" smtClean="0">
                        <a:latin typeface="Cambria Math" panose="02040503050406030204" pitchFamily="18" charset="0"/>
                      </a:rPr>
                      <m:t>𝑥</m:t>
                    </m:r>
                    <m:r>
                      <a:rPr lang="en-US" i="1" dirty="0" smtClean="0">
                        <a:latin typeface="Cambria Math" panose="02040503050406030204" pitchFamily="18" charset="0"/>
                      </a:rPr>
                      <m:t> </m:t>
                    </m:r>
                    <m:r>
                      <a:rPr lang="en-US" i="1" dirty="0" smtClean="0">
                        <a:latin typeface="Cambria Math" panose="02040503050406030204" pitchFamily="18" charset="0"/>
                      </a:rPr>
                      <m:t>𝐾𝑖𝑛𝑔</m:t>
                    </m:r>
                    <m:r>
                      <a:rPr lang="en-US" i="1" dirty="0" smtClean="0">
                        <a:latin typeface="Cambria Math" panose="02040503050406030204" pitchFamily="18" charset="0"/>
                      </a:rPr>
                      <m:t>(</m:t>
                    </m:r>
                    <m:r>
                      <a:rPr lang="en-US" i="1" dirty="0" smtClean="0">
                        <a:latin typeface="Cambria Math" panose="02040503050406030204" pitchFamily="18" charset="0"/>
                      </a:rPr>
                      <m:t>𝑥</m:t>
                    </m:r>
                    <m:r>
                      <a:rPr lang="en-US" i="1" dirty="0" smtClean="0">
                        <a:latin typeface="Cambria Math" panose="02040503050406030204" pitchFamily="18" charset="0"/>
                      </a:rPr>
                      <m:t>) ∧ </m:t>
                    </m:r>
                    <m:r>
                      <a:rPr lang="en-US" i="1" dirty="0" smtClean="0">
                        <a:latin typeface="Cambria Math" panose="02040503050406030204" pitchFamily="18" charset="0"/>
                      </a:rPr>
                      <m:t>𝐺𝑟𝑒𝑒𝑑𝑦</m:t>
                    </m:r>
                    <m:r>
                      <a:rPr lang="en-US" i="1" dirty="0" smtClean="0">
                        <a:latin typeface="Cambria Math" panose="02040503050406030204" pitchFamily="18" charset="0"/>
                      </a:rPr>
                      <m:t> (</m:t>
                    </m:r>
                    <m:r>
                      <a:rPr lang="en-US" i="1" dirty="0" smtClean="0">
                        <a:latin typeface="Cambria Math" panose="02040503050406030204" pitchFamily="18" charset="0"/>
                      </a:rPr>
                      <m:t>𝑥</m:t>
                    </m:r>
                    <m:r>
                      <a:rPr lang="en-US" i="1" dirty="0" smtClean="0">
                        <a:latin typeface="Cambria Math" panose="02040503050406030204" pitchFamily="18" charset="0"/>
                      </a:rPr>
                      <m:t>) ⇒ </m:t>
                    </m:r>
                    <m:r>
                      <a:rPr lang="en-US" i="1" dirty="0" smtClean="0">
                        <a:latin typeface="Cambria Math" panose="02040503050406030204" pitchFamily="18" charset="0"/>
                      </a:rPr>
                      <m:t>𝐸𝑣𝑖𝑙</m:t>
                    </m:r>
                    <m:r>
                      <a:rPr lang="en-US" i="1" dirty="0" smtClean="0">
                        <a:latin typeface="Cambria Math" panose="02040503050406030204" pitchFamily="18" charset="0"/>
                      </a:rPr>
                      <m:t>(</m:t>
                    </m:r>
                    <m:r>
                      <a:rPr lang="en-US" i="1" dirty="0" smtClean="0">
                        <a:latin typeface="Cambria Math" panose="02040503050406030204" pitchFamily="18" charset="0"/>
                      </a:rPr>
                      <m:t>𝑥</m:t>
                    </m:r>
                    <m:r>
                      <a:rPr lang="en-US" i="1" dirty="0" smtClean="0">
                        <a:latin typeface="Cambria Math" panose="02040503050406030204" pitchFamily="18" charset="0"/>
                      </a:rPr>
                      <m:t>)</m:t>
                    </m:r>
                  </m:oMath>
                </a14:m>
                <a:endParaRPr lang="en-US" dirty="0"/>
              </a:p>
              <a:p>
                <a:pPr marL="0" indent="0">
                  <a:buNone/>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𝐾𝑖𝑛𝑔</m:t>
                      </m:r>
                      <m:d>
                        <m:dPr>
                          <m:ctrlPr>
                            <a:rPr lang="en-US" i="1" dirty="0" smtClean="0">
                              <a:latin typeface="Cambria Math" panose="02040503050406030204" pitchFamily="18" charset="0"/>
                            </a:rPr>
                          </m:ctrlPr>
                        </m:dPr>
                        <m:e>
                          <m:r>
                            <a:rPr lang="en-US" i="1" dirty="0">
                              <a:latin typeface="Cambria Math" panose="02040503050406030204" pitchFamily="18" charset="0"/>
                            </a:rPr>
                            <m:t>𝐽𝑜</m:t>
                          </m:r>
                          <m:r>
                            <a:rPr lang="en-US" i="1" dirty="0">
                              <a:latin typeface="Cambria Math" panose="02040503050406030204" pitchFamily="18" charset="0"/>
                            </a:rPr>
                            <m:t>h</m:t>
                          </m:r>
                          <m:r>
                            <a:rPr lang="en-US" i="1" dirty="0">
                              <a:latin typeface="Cambria Math" panose="02040503050406030204" pitchFamily="18" charset="0"/>
                            </a:rPr>
                            <m:t>𝑛</m:t>
                          </m:r>
                        </m:e>
                      </m:d>
                    </m:oMath>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𝑦</m:t>
                      </m:r>
                      <m:r>
                        <a:rPr lang="en-US" b="0" i="1" smtClean="0">
                          <a:latin typeface="Cambria Math" panose="02040503050406030204" pitchFamily="18" charset="0"/>
                        </a:rPr>
                        <m:t> </m:t>
                      </m:r>
                      <m:r>
                        <a:rPr lang="en-US" b="0" i="1" smtClean="0">
                          <a:latin typeface="Cambria Math" panose="02040503050406030204" pitchFamily="18" charset="0"/>
                        </a:rPr>
                        <m:t>𝐺𝑟𝑒𝑒𝑑𝑦</m:t>
                      </m:r>
                      <m:r>
                        <a:rPr lang="en-US" b="0" i="1" smtClean="0">
                          <a:latin typeface="Cambria Math" panose="02040503050406030204" pitchFamily="18" charset="0"/>
                        </a:rPr>
                        <m:t>(</m:t>
                      </m:r>
                      <m:r>
                        <a:rPr lang="en-US" b="0" i="1" smtClean="0">
                          <a:latin typeface="Cambria Math" panose="02040503050406030204" pitchFamily="18" charset="0"/>
                        </a:rPr>
                        <m:t>𝑦</m:t>
                      </m:r>
                      <m:r>
                        <a:rPr lang="en-US" b="0" i="1" smtClean="0">
                          <a:latin typeface="Cambria Math" panose="02040503050406030204" pitchFamily="18" charset="0"/>
                        </a:rPr>
                        <m:t>)</m:t>
                      </m:r>
                    </m:oMath>
                  </m:oMathPara>
                </a14:m>
                <a:endParaRPr lang="en-US" dirty="0"/>
              </a:p>
              <a:p>
                <a:pPr marL="0" indent="0">
                  <a:buNone/>
                </a:pPr>
                <a:r>
                  <a:rPr lang="en-US" dirty="0"/>
                  <a:t>How do you prove John is evil?</a:t>
                </a:r>
              </a:p>
            </p:txBody>
          </p:sp>
        </mc:Choice>
        <mc:Fallback xmlns="">
          <p:sp>
            <p:nvSpPr>
              <p:cNvPr id="3" name="Content Placeholder 2">
                <a:extLst>
                  <a:ext uri="{FF2B5EF4-FFF2-40B4-BE49-F238E27FC236}">
                    <a16:creationId xmlns:a16="http://schemas.microsoft.com/office/drawing/2014/main" id="{7CE8C910-D978-DE38-2014-5F34FFDDD9F3}"/>
                  </a:ext>
                </a:extLst>
              </p:cNvPr>
              <p:cNvSpPr>
                <a:spLocks noGrp="1" noRot="1" noChangeAspect="1" noMove="1" noResize="1" noEditPoints="1" noAdjustHandles="1" noChangeArrowheads="1" noChangeShapeType="1" noTextEdit="1"/>
              </p:cNvSpPr>
              <p:nvPr>
                <p:ph idx="1"/>
              </p:nvPr>
            </p:nvSpPr>
            <p:spPr>
              <a:blipFill>
                <a:blip r:embed="rId2"/>
                <a:stretch>
                  <a:fillRect l="-1217" t="-2381"/>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1906554A-0631-1B5F-2195-EA40F2EB2F3F}"/>
              </a:ext>
            </a:extLst>
          </p:cNvPr>
          <p:cNvSpPr>
            <a:spLocks noGrp="1"/>
          </p:cNvSpPr>
          <p:nvPr>
            <p:ph type="dt" sz="half" idx="10"/>
          </p:nvPr>
        </p:nvSpPr>
        <p:spPr/>
        <p:txBody>
          <a:bodyPr/>
          <a:lstStyle/>
          <a:p>
            <a:fld id="{1332600A-A7B8-4674-AAE3-A37177B883E5}" type="datetime1">
              <a:rPr lang="en-GB" smtClean="0"/>
              <a:t>20/10/2025</a:t>
            </a:fld>
            <a:endParaRPr lang="en-GB"/>
          </a:p>
        </p:txBody>
      </p:sp>
      <p:sp>
        <p:nvSpPr>
          <p:cNvPr id="5" name="Slide Number Placeholder 4">
            <a:extLst>
              <a:ext uri="{FF2B5EF4-FFF2-40B4-BE49-F238E27FC236}">
                <a16:creationId xmlns:a16="http://schemas.microsoft.com/office/drawing/2014/main" id="{C67A7AD0-2B5C-CB1E-B603-B71A8B9C438A}"/>
              </a:ext>
            </a:extLst>
          </p:cNvPr>
          <p:cNvSpPr>
            <a:spLocks noGrp="1"/>
          </p:cNvSpPr>
          <p:nvPr>
            <p:ph type="sldNum" sz="quarter" idx="12"/>
          </p:nvPr>
        </p:nvSpPr>
        <p:spPr/>
        <p:txBody>
          <a:bodyPr/>
          <a:lstStyle/>
          <a:p>
            <a:fld id="{9EB268CF-8001-41B5-ADCD-92A7738D3D9B}" type="slidenum">
              <a:rPr lang="en-GB" smtClean="0"/>
              <a:t>12</a:t>
            </a:fld>
            <a:endParaRPr lang="en-GB"/>
          </a:p>
        </p:txBody>
      </p:sp>
    </p:spTree>
    <p:extLst>
      <p:ext uri="{BB962C8B-B14F-4D97-AF65-F5344CB8AC3E}">
        <p14:creationId xmlns:p14="http://schemas.microsoft.com/office/powerpoint/2010/main" val="104001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575A92-9AC0-6499-90F6-A9BC19D133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8AB9FE-4B5C-C79E-B70F-BFA61BE0C742}"/>
              </a:ext>
            </a:extLst>
          </p:cNvPr>
          <p:cNvSpPr>
            <a:spLocks noGrp="1"/>
          </p:cNvSpPr>
          <p:nvPr>
            <p:ph type="title"/>
          </p:nvPr>
        </p:nvSpPr>
        <p:spPr/>
        <p:txBody>
          <a:bodyPr/>
          <a:lstStyle/>
          <a:p>
            <a:r>
              <a:rPr lang="en-GB" dirty="0"/>
              <a:t>Generalized Modus Ponens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0BB9FC1-6A54-8F50-F1EA-A8286423689C}"/>
                  </a:ext>
                </a:extLst>
              </p:cNvPr>
              <p:cNvSpPr>
                <a:spLocks noGrp="1"/>
              </p:cNvSpPr>
              <p:nvPr>
                <p:ph idx="1"/>
              </p:nvPr>
            </p:nvSpPr>
            <p:spPr/>
            <p:txBody>
              <a:bodyPr/>
              <a:lstStyle/>
              <a:p>
                <a:r>
                  <a:rPr lang="en-GB" dirty="0"/>
                  <a:t>For atomic sentences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𝑖</m:t>
                        </m:r>
                      </m:sub>
                    </m:sSub>
                    <m:r>
                      <a:rPr lang="en-US" b="0" i="1" smtClean="0">
                        <a:latin typeface="Cambria Math" panose="02040503050406030204" pitchFamily="18" charset="0"/>
                      </a:rPr>
                      <m:t>, </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𝑝</m:t>
                        </m:r>
                      </m:e>
                      <m:sub>
                        <m:r>
                          <a:rPr lang="en-US" b="0" i="1" smtClean="0">
                            <a:latin typeface="Cambria Math" panose="02040503050406030204" pitchFamily="18" charset="0"/>
                          </a:rPr>
                          <m:t>𝑖</m:t>
                        </m:r>
                      </m:sub>
                      <m:sup>
                        <m:r>
                          <a:rPr lang="en-US" b="0" i="1" smtClean="0">
                            <a:latin typeface="Cambria Math" panose="02040503050406030204" pitchFamily="18" charset="0"/>
                          </a:rPr>
                          <m:t>′</m:t>
                        </m:r>
                      </m:sup>
                    </m:sSubSup>
                    <m:r>
                      <a:rPr lang="en-US" b="0" i="1" smtClean="0">
                        <a:latin typeface="Cambria Math" panose="02040503050406030204" pitchFamily="18" charset="0"/>
                      </a:rPr>
                      <m:t>, </m:t>
                    </m:r>
                    <m:r>
                      <a:rPr lang="en-US" b="0" i="1" smtClean="0">
                        <a:latin typeface="Cambria Math" panose="02040503050406030204" pitchFamily="18" charset="0"/>
                      </a:rPr>
                      <m:t>𝑎𝑛𝑑</m:t>
                    </m:r>
                    <m:r>
                      <a:rPr lang="en-US" b="0" i="1" smtClean="0">
                        <a:latin typeface="Cambria Math" panose="02040503050406030204" pitchFamily="18" charset="0"/>
                      </a:rPr>
                      <m:t> </m:t>
                    </m:r>
                    <m:r>
                      <a:rPr lang="en-US" b="0" i="1" smtClean="0">
                        <a:latin typeface="Cambria Math" panose="02040503050406030204" pitchFamily="18" charset="0"/>
                      </a:rPr>
                      <m:t>𝑞</m:t>
                    </m:r>
                    <m:r>
                      <a:rPr lang="en-US" b="0" i="1" smtClean="0">
                        <a:latin typeface="Cambria Math" panose="02040503050406030204" pitchFamily="18" charset="0"/>
                      </a:rPr>
                      <m:t>,</m:t>
                    </m:r>
                  </m:oMath>
                </a14:m>
                <a:r>
                  <a:rPr lang="en-GB" dirty="0"/>
                  <a:t> where there is a substitution </a:t>
                </a:r>
                <a14:m>
                  <m:oMath xmlns:m="http://schemas.openxmlformats.org/officeDocument/2006/math">
                    <m:r>
                      <a:rPr lang="en-US" b="0" i="1" smtClean="0">
                        <a:latin typeface="Cambria Math" panose="02040503050406030204" pitchFamily="18" charset="0"/>
                      </a:rPr>
                      <m:t>𝜃</m:t>
                    </m:r>
                  </m:oMath>
                </a14:m>
                <a:r>
                  <a:rPr lang="en-GB" dirty="0"/>
                  <a:t> such that </a:t>
                </a:r>
                <a14:m>
                  <m:oMath xmlns:m="http://schemas.openxmlformats.org/officeDocument/2006/math">
                    <m:r>
                      <a:rPr lang="en-US" b="0" i="1" smtClean="0">
                        <a:latin typeface="Cambria Math" panose="02040503050406030204" pitchFamily="18" charset="0"/>
                      </a:rPr>
                      <m:t>𝑆𝑈𝐵𝑆𝑇</m:t>
                    </m:r>
                    <m:d>
                      <m:dPr>
                        <m:ctrlPr>
                          <a:rPr lang="en-US" b="0" i="1" smtClean="0">
                            <a:latin typeface="Cambria Math" panose="02040503050406030204" pitchFamily="18" charset="0"/>
                          </a:rPr>
                        </m:ctrlPr>
                      </m:dPr>
                      <m:e>
                        <m:r>
                          <a:rPr lang="en-US" b="0" i="1" smtClean="0">
                            <a:latin typeface="Cambria Math" panose="02040503050406030204" pitchFamily="18" charset="0"/>
                          </a:rPr>
                          <m:t>𝜃</m:t>
                        </m:r>
                        <m:r>
                          <a:rPr lang="en-US" b="0" i="1" smtClean="0">
                            <a:latin typeface="Cambria Math" panose="02040503050406030204" pitchFamily="18" charset="0"/>
                          </a:rPr>
                          <m:t>, </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𝑝</m:t>
                            </m:r>
                          </m:e>
                          <m:sub>
                            <m:r>
                              <a:rPr lang="en-US" b="0" i="1" smtClean="0">
                                <a:latin typeface="Cambria Math" panose="02040503050406030204" pitchFamily="18" charset="0"/>
                              </a:rPr>
                              <m:t>𝑖</m:t>
                            </m:r>
                          </m:sub>
                          <m:sup>
                            <m:r>
                              <a:rPr lang="en-US" b="0" i="1" smtClean="0">
                                <a:latin typeface="Cambria Math" panose="02040503050406030204" pitchFamily="18" charset="0"/>
                              </a:rPr>
                              <m:t>′</m:t>
                            </m:r>
                          </m:sup>
                        </m:sSubSup>
                      </m:e>
                    </m:d>
                    <m:r>
                      <a:rPr lang="en-US" b="0" i="1" smtClean="0">
                        <a:latin typeface="Cambria Math" panose="02040503050406030204" pitchFamily="18" charset="0"/>
                      </a:rPr>
                      <m:t>=</m:t>
                    </m:r>
                    <m:r>
                      <a:rPr lang="en-US" b="0" i="1" smtClean="0">
                        <a:latin typeface="Cambria Math" panose="02040503050406030204" pitchFamily="18" charset="0"/>
                      </a:rPr>
                      <m:t>𝑆𝑈𝐵𝑆𝑇</m:t>
                    </m:r>
                    <m:d>
                      <m:dPr>
                        <m:ctrlPr>
                          <a:rPr lang="en-US" b="0" i="1" smtClean="0">
                            <a:latin typeface="Cambria Math" panose="02040503050406030204" pitchFamily="18" charset="0"/>
                          </a:rPr>
                        </m:ctrlPr>
                      </m:dPr>
                      <m:e>
                        <m:r>
                          <a:rPr lang="en-US" b="0" i="1" smtClean="0">
                            <a:latin typeface="Cambria Math" panose="02040503050406030204" pitchFamily="18" charset="0"/>
                          </a:rPr>
                          <m:t>𝜃</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𝑖</m:t>
                            </m:r>
                          </m:sub>
                        </m:sSub>
                      </m:e>
                    </m:d>
                    <m:r>
                      <a:rPr lang="en-US" b="0" i="1" smtClean="0">
                        <a:latin typeface="Cambria Math" panose="02040503050406030204" pitchFamily="18" charset="0"/>
                      </a:rPr>
                      <m:t> </m:t>
                    </m:r>
                  </m:oMath>
                </a14:m>
                <a:r>
                  <a:rPr lang="en-GB" dirty="0"/>
                  <a:t>for all </a:t>
                </a:r>
                <a14:m>
                  <m:oMath xmlns:m="http://schemas.openxmlformats.org/officeDocument/2006/math">
                    <m:r>
                      <a:rPr lang="en-US" b="0" i="1" smtClean="0">
                        <a:latin typeface="Cambria Math" panose="02040503050406030204" pitchFamily="18" charset="0"/>
                      </a:rPr>
                      <m:t>𝑖</m:t>
                    </m:r>
                  </m:oMath>
                </a14:m>
                <a:r>
                  <a:rPr lang="en-GB" dirty="0"/>
                  <a:t>,</a:t>
                </a:r>
                <a:br>
                  <a:rPr lang="en-GB" dirty="0"/>
                </a:br>
                <a14:m>
                  <m:oMath xmlns:m="http://schemas.openxmlformats.org/officeDocument/2006/math">
                    <m:f>
                      <m:fPr>
                        <m:ctrlPr>
                          <a:rPr lang="en-US" b="0" i="1" smtClean="0">
                            <a:latin typeface="Cambria Math" panose="02040503050406030204" pitchFamily="18" charset="0"/>
                          </a:rPr>
                        </m:ctrlPr>
                      </m:fPr>
                      <m:num>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𝑝</m:t>
                            </m:r>
                          </m:e>
                          <m:sub>
                            <m:r>
                              <a:rPr lang="en-US" b="0" i="1" smtClean="0">
                                <a:latin typeface="Cambria Math" panose="02040503050406030204" pitchFamily="18" charset="0"/>
                              </a:rPr>
                              <m:t>1</m:t>
                            </m:r>
                          </m:sub>
                          <m:sup>
                            <m:r>
                              <a:rPr lang="en-US" b="0" i="1" smtClean="0">
                                <a:latin typeface="Cambria Math" panose="02040503050406030204" pitchFamily="18" charset="0"/>
                              </a:rPr>
                              <m:t>′</m:t>
                            </m:r>
                          </m:sup>
                        </m:sSubSup>
                        <m:r>
                          <a:rPr lang="en-US" b="0" i="1" smtClean="0">
                            <a:latin typeface="Cambria Math" panose="02040503050406030204" pitchFamily="18" charset="0"/>
                          </a:rPr>
                          <m:t>, </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𝑝</m:t>
                            </m:r>
                          </m:e>
                          <m:sub>
                            <m:r>
                              <a:rPr lang="en-US" b="0" i="1" smtClean="0">
                                <a:latin typeface="Cambria Math" panose="02040503050406030204" pitchFamily="18" charset="0"/>
                              </a:rPr>
                              <m:t>2</m:t>
                            </m:r>
                          </m:sub>
                          <m:sup>
                            <m:r>
                              <a:rPr lang="en-US" b="0" i="1" smtClean="0">
                                <a:latin typeface="Cambria Math" panose="02040503050406030204" pitchFamily="18" charset="0"/>
                              </a:rPr>
                              <m:t>′</m:t>
                            </m:r>
                          </m:sup>
                        </m:sSubSup>
                        <m:r>
                          <a:rPr lang="en-US" b="0" i="1" smtClean="0">
                            <a:latin typeface="Cambria Math" panose="02040503050406030204" pitchFamily="18" charset="0"/>
                          </a:rPr>
                          <m:t>,…, </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𝑝</m:t>
                            </m:r>
                          </m:e>
                          <m:sub>
                            <m:r>
                              <a:rPr lang="en-US" b="0" i="1" smtClean="0">
                                <a:latin typeface="Cambria Math" panose="02040503050406030204" pitchFamily="18" charset="0"/>
                              </a:rPr>
                              <m:t>𝑛</m:t>
                            </m:r>
                          </m:sub>
                          <m:sup>
                            <m:r>
                              <a:rPr lang="en-US" b="0" i="1" smtClean="0">
                                <a:latin typeface="Cambria Math" panose="02040503050406030204" pitchFamily="18" charset="0"/>
                              </a:rPr>
                              <m:t>′</m:t>
                            </m:r>
                          </m:sup>
                        </m:sSubSup>
                        <m:r>
                          <a:rPr lang="en-US" b="0" i="1" smtClean="0">
                            <a:latin typeface="Cambria Math" panose="02040503050406030204" pitchFamily="18" charset="0"/>
                          </a:rPr>
                          <m:t>,      </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𝑛</m:t>
                                </m:r>
                              </m:sub>
                            </m:sSub>
                            <m:r>
                              <a:rPr lang="en-US" b="0" i="1" smtClean="0">
                                <a:latin typeface="Cambria Math" panose="02040503050406030204" pitchFamily="18" charset="0"/>
                              </a:rPr>
                              <m:t>⇒</m:t>
                            </m:r>
                            <m:r>
                              <a:rPr lang="en-US" b="0" i="1" smtClean="0">
                                <a:latin typeface="Cambria Math" panose="02040503050406030204" pitchFamily="18" charset="0"/>
                              </a:rPr>
                              <m:t>𝑞</m:t>
                            </m:r>
                          </m:e>
                        </m:d>
                      </m:num>
                      <m:den>
                        <m:r>
                          <a:rPr lang="en-US" b="0" i="1" smtClean="0">
                            <a:latin typeface="Cambria Math" panose="02040503050406030204" pitchFamily="18" charset="0"/>
                          </a:rPr>
                          <m:t>𝑆𝑈𝐵𝑆𝑇</m:t>
                        </m:r>
                        <m:d>
                          <m:dPr>
                            <m:ctrlPr>
                              <a:rPr lang="en-US" b="0" i="1" smtClean="0">
                                <a:latin typeface="Cambria Math" panose="02040503050406030204" pitchFamily="18" charset="0"/>
                              </a:rPr>
                            </m:ctrlPr>
                          </m:dPr>
                          <m:e>
                            <m:r>
                              <a:rPr lang="en-US" b="0" i="1" smtClean="0">
                                <a:latin typeface="Cambria Math" panose="02040503050406030204" pitchFamily="18" charset="0"/>
                              </a:rPr>
                              <m:t>𝜃</m:t>
                            </m:r>
                            <m:r>
                              <a:rPr lang="en-US" b="0" i="1" smtClean="0">
                                <a:latin typeface="Cambria Math" panose="02040503050406030204" pitchFamily="18" charset="0"/>
                              </a:rPr>
                              <m:t>, </m:t>
                            </m:r>
                            <m:r>
                              <a:rPr lang="en-US" b="0" i="1" smtClean="0">
                                <a:latin typeface="Cambria Math" panose="02040503050406030204" pitchFamily="18" charset="0"/>
                              </a:rPr>
                              <m:t>𝑞</m:t>
                            </m:r>
                          </m:e>
                        </m:d>
                      </m:den>
                    </m:f>
                  </m:oMath>
                </a14:m>
                <a:endParaRPr lang="en-US" b="0" dirty="0"/>
              </a:p>
              <a:p>
                <a:pPr marL="0" indent="0">
                  <a:buNone/>
                </a:pPr>
                <a:endParaRPr lang="en-GB" dirty="0"/>
              </a:p>
              <a:p>
                <a:endParaRPr lang="en-GB" dirty="0"/>
              </a:p>
              <a:p>
                <a:endParaRPr lang="en-GB" dirty="0"/>
              </a:p>
              <a:p>
                <a:endParaRPr lang="en-GB" dirty="0"/>
              </a:p>
              <a:p>
                <a:endParaRPr lang="en-GB" dirty="0"/>
              </a:p>
            </p:txBody>
          </p:sp>
        </mc:Choice>
        <mc:Fallback xmlns="">
          <p:sp>
            <p:nvSpPr>
              <p:cNvPr id="3" name="Content Placeholder 2">
                <a:extLst>
                  <a:ext uri="{FF2B5EF4-FFF2-40B4-BE49-F238E27FC236}">
                    <a16:creationId xmlns:a16="http://schemas.microsoft.com/office/drawing/2014/main" id="{50BB9FC1-6A54-8F50-F1EA-A8286423689C}"/>
                  </a:ext>
                </a:extLst>
              </p:cNvPr>
              <p:cNvSpPr>
                <a:spLocks noGrp="1" noRot="1" noChangeAspect="1" noMove="1" noResize="1" noEditPoints="1" noAdjustHandles="1" noChangeArrowheads="1" noChangeShapeType="1" noTextEdit="1"/>
              </p:cNvSpPr>
              <p:nvPr>
                <p:ph idx="1"/>
              </p:nvPr>
            </p:nvSpPr>
            <p:spPr>
              <a:blipFill>
                <a:blip r:embed="rId2"/>
                <a:stretch>
                  <a:fillRect l="-1043" t="-2521" r="-116"/>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AA00D95E-6EBF-5B09-2DBA-127C1665B30E}"/>
              </a:ext>
            </a:extLst>
          </p:cNvPr>
          <p:cNvSpPr>
            <a:spLocks noGrp="1"/>
          </p:cNvSpPr>
          <p:nvPr>
            <p:ph type="dt" sz="half" idx="10"/>
          </p:nvPr>
        </p:nvSpPr>
        <p:spPr/>
        <p:txBody>
          <a:bodyPr/>
          <a:lstStyle/>
          <a:p>
            <a:fld id="{1332600A-A7B8-4674-AAE3-A37177B883E5}" type="datetime1">
              <a:rPr lang="en-GB" smtClean="0"/>
              <a:t>20/10/2025</a:t>
            </a:fld>
            <a:endParaRPr lang="en-GB"/>
          </a:p>
        </p:txBody>
      </p:sp>
      <p:sp>
        <p:nvSpPr>
          <p:cNvPr id="5" name="Slide Number Placeholder 4">
            <a:extLst>
              <a:ext uri="{FF2B5EF4-FFF2-40B4-BE49-F238E27FC236}">
                <a16:creationId xmlns:a16="http://schemas.microsoft.com/office/drawing/2014/main" id="{2DBFD840-711F-325D-AB9E-6EEABCD1D15D}"/>
              </a:ext>
            </a:extLst>
          </p:cNvPr>
          <p:cNvSpPr>
            <a:spLocks noGrp="1"/>
          </p:cNvSpPr>
          <p:nvPr>
            <p:ph type="sldNum" sz="quarter" idx="12"/>
          </p:nvPr>
        </p:nvSpPr>
        <p:spPr/>
        <p:txBody>
          <a:bodyPr/>
          <a:lstStyle/>
          <a:p>
            <a:fld id="{9EB268CF-8001-41B5-ADCD-92A7738D3D9B}" type="slidenum">
              <a:rPr lang="en-GB" smtClean="0"/>
              <a:t>13</a:t>
            </a:fld>
            <a:endParaRPr lang="en-GB"/>
          </a:p>
        </p:txBody>
      </p:sp>
    </p:spTree>
    <p:extLst>
      <p:ext uri="{BB962C8B-B14F-4D97-AF65-F5344CB8AC3E}">
        <p14:creationId xmlns:p14="http://schemas.microsoft.com/office/powerpoint/2010/main" val="37165957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AFF6C6-A3FE-80AD-9940-A7FD2EBF3D2B}"/>
              </a:ext>
            </a:extLst>
          </p:cNvPr>
          <p:cNvSpPr>
            <a:spLocks noGrp="1"/>
          </p:cNvSpPr>
          <p:nvPr>
            <p:ph type="title"/>
          </p:nvPr>
        </p:nvSpPr>
        <p:spPr/>
        <p:txBody>
          <a:bodyPr/>
          <a:lstStyle/>
          <a:p>
            <a:r>
              <a:rPr lang="en-GB" dirty="0"/>
              <a:t>Generalized Modus Ponens</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E43B382-70CC-CFDA-A326-408AAC143E8B}"/>
                  </a:ext>
                </a:extLst>
              </p:cNvPr>
              <p:cNvSpPr>
                <a:spLocks noGrp="1"/>
              </p:cNvSpPr>
              <p:nvPr>
                <p:ph idx="1"/>
              </p:nvPr>
            </p:nvSpPr>
            <p:spPr/>
            <p:txBody>
              <a:bodyPr/>
              <a:lstStyle/>
              <a:p>
                <a:r>
                  <a:rPr lang="en-US" b="1" dirty="0"/>
                  <a:t>What It Means</a:t>
                </a:r>
              </a:p>
              <a:p>
                <a:r>
                  <a:rPr lang="en-US" dirty="0"/>
                  <a:t>You have a </a:t>
                </a:r>
                <a:r>
                  <a:rPr lang="en-US" b="1" dirty="0"/>
                  <a:t>rule (implication)</a:t>
                </a:r>
                <a:r>
                  <a:rPr lang="en-US" dirty="0"/>
                  <a:t>:</a:t>
                </a:r>
              </a:p>
              <a:p>
                <a:pPr marL="0" indent="0">
                  <a:buNone/>
                </a:pPr>
                <a14:m>
                  <m:oMathPara xmlns:m="http://schemas.openxmlformats.org/officeDocument/2006/math">
                    <m:oMathParaPr>
                      <m:jc m:val="centerGroup"/>
                    </m:oMathParaPr>
                    <m:oMath xmlns:m="http://schemas.openxmlformats.org/officeDocument/2006/math">
                      <m:d>
                        <m:dPr>
                          <m:ctrlPr>
                            <a:rPr lang="ar-AE" i="1">
                              <a:latin typeface="Cambria Math" panose="02040503050406030204" pitchFamily="18" charset="0"/>
                            </a:rPr>
                          </m:ctrlPr>
                        </m:dPr>
                        <m:e>
                          <m:sSub>
                            <m:sSubPr>
                              <m:ctrlPr>
                                <a:rPr lang="ar-AE" i="1">
                                  <a:latin typeface="Cambria Math" panose="02040503050406030204" pitchFamily="18" charset="0"/>
                                </a:rPr>
                              </m:ctrlPr>
                            </m:sSubPr>
                            <m:e>
                              <m:r>
                                <a:rPr lang="ar-AE" i="1">
                                  <a:latin typeface="Cambria Math" panose="02040503050406030204" pitchFamily="18" charset="0"/>
                                </a:rPr>
                                <m:t>𝑝</m:t>
                              </m:r>
                            </m:e>
                            <m:sub>
                              <m:r>
                                <a:rPr lang="ar-AE">
                                  <a:latin typeface="Cambria Math" panose="02040503050406030204" pitchFamily="18" charset="0"/>
                                </a:rPr>
                                <m:t>1</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𝑝</m:t>
                              </m:r>
                            </m:e>
                            <m:sub>
                              <m:r>
                                <a:rPr lang="ar-AE">
                                  <a:latin typeface="Cambria Math" panose="02040503050406030204" pitchFamily="18" charset="0"/>
                                </a:rPr>
                                <m:t>2</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𝑝</m:t>
                              </m:r>
                            </m:e>
                            <m:sub>
                              <m:r>
                                <a:rPr lang="ar-AE" i="1">
                                  <a:latin typeface="Cambria Math" panose="02040503050406030204" pitchFamily="18" charset="0"/>
                                </a:rPr>
                                <m:t>𝑛</m:t>
                              </m:r>
                            </m:sub>
                          </m:sSub>
                        </m:e>
                      </m:d>
                      <m:r>
                        <a:rPr lang="ar-AE">
                          <a:latin typeface="Cambria Math" panose="02040503050406030204" pitchFamily="18" charset="0"/>
                        </a:rPr>
                        <m:t>⇒</m:t>
                      </m:r>
                      <m:r>
                        <a:rPr lang="ar-AE" i="1">
                          <a:latin typeface="Cambria Math" panose="02040503050406030204" pitchFamily="18" charset="0"/>
                        </a:rPr>
                        <m:t>𝑞</m:t>
                      </m:r>
                    </m:oMath>
                  </m:oMathPara>
                </a14:m>
                <a:endParaRPr lang="ar-AE" dirty="0"/>
              </a:p>
              <a:p>
                <a:r>
                  <a:rPr lang="en-US" dirty="0"/>
                  <a:t>You also have </a:t>
                </a:r>
                <a:r>
                  <a:rPr lang="en-US" b="1" dirty="0"/>
                  <a:t>facts (atomic sentences)</a:t>
                </a:r>
                <a:r>
                  <a:rPr lang="en-US" dirty="0"/>
                  <a:t> </a:t>
                </a:r>
                <a14:m>
                  <m:oMath xmlns:m="http://schemas.openxmlformats.org/officeDocument/2006/math">
                    <m:sSubSup>
                      <m:sSubSupPr>
                        <m:ctrlPr>
                          <a:rPr lang="ar-AE" i="1">
                            <a:latin typeface="Cambria Math" panose="02040503050406030204" pitchFamily="18" charset="0"/>
                          </a:rPr>
                        </m:ctrlPr>
                      </m:sSubSupPr>
                      <m:e>
                        <m:r>
                          <a:rPr lang="ar-AE" i="1">
                            <a:latin typeface="Cambria Math" panose="02040503050406030204" pitchFamily="18" charset="0"/>
                          </a:rPr>
                          <m:t>𝑝</m:t>
                        </m:r>
                      </m:e>
                      <m:sub>
                        <m:r>
                          <a:rPr lang="ar-AE">
                            <a:latin typeface="Cambria Math" panose="02040503050406030204" pitchFamily="18" charset="0"/>
                          </a:rPr>
                          <m:t>1</m:t>
                        </m:r>
                      </m:sub>
                      <m:sup>
                        <m:r>
                          <a:rPr lang="ar-AE">
                            <a:latin typeface="Cambria Math" panose="02040503050406030204" pitchFamily="18" charset="0"/>
                          </a:rPr>
                          <m:t>′</m:t>
                        </m:r>
                      </m:sup>
                    </m:sSubSup>
                    <m:r>
                      <a:rPr lang="ar-AE">
                        <a:latin typeface="Cambria Math" panose="02040503050406030204" pitchFamily="18" charset="0"/>
                      </a:rPr>
                      <m:t>,</m:t>
                    </m:r>
                    <m:sSubSup>
                      <m:sSubSupPr>
                        <m:ctrlPr>
                          <a:rPr lang="ar-AE" i="1">
                            <a:latin typeface="Cambria Math" panose="02040503050406030204" pitchFamily="18" charset="0"/>
                          </a:rPr>
                        </m:ctrlPr>
                      </m:sSubSupPr>
                      <m:e>
                        <m:r>
                          <a:rPr lang="ar-AE" i="1">
                            <a:latin typeface="Cambria Math" panose="02040503050406030204" pitchFamily="18" charset="0"/>
                          </a:rPr>
                          <m:t>𝑝</m:t>
                        </m:r>
                      </m:e>
                      <m:sub>
                        <m:r>
                          <a:rPr lang="ar-AE">
                            <a:latin typeface="Cambria Math" panose="02040503050406030204" pitchFamily="18" charset="0"/>
                          </a:rPr>
                          <m:t>2</m:t>
                        </m:r>
                      </m:sub>
                      <m:sup>
                        <m:r>
                          <a:rPr lang="ar-AE">
                            <a:latin typeface="Cambria Math" panose="02040503050406030204" pitchFamily="18" charset="0"/>
                          </a:rPr>
                          <m:t>′</m:t>
                        </m:r>
                      </m:sup>
                    </m:sSubSup>
                    <m:r>
                      <a:rPr lang="ar-AE">
                        <a:latin typeface="Cambria Math" panose="02040503050406030204" pitchFamily="18" charset="0"/>
                      </a:rPr>
                      <m:t>,...,</m:t>
                    </m:r>
                    <m:sSubSup>
                      <m:sSubSupPr>
                        <m:ctrlPr>
                          <a:rPr lang="ar-AE" i="1">
                            <a:latin typeface="Cambria Math" panose="02040503050406030204" pitchFamily="18" charset="0"/>
                          </a:rPr>
                        </m:ctrlPr>
                      </m:sSubSupPr>
                      <m:e>
                        <m:r>
                          <a:rPr lang="ar-AE" i="1">
                            <a:latin typeface="Cambria Math" panose="02040503050406030204" pitchFamily="18" charset="0"/>
                          </a:rPr>
                          <m:t>𝑝</m:t>
                        </m:r>
                      </m:e>
                      <m:sub>
                        <m:r>
                          <a:rPr lang="ar-AE" i="1">
                            <a:latin typeface="Cambria Math" panose="02040503050406030204" pitchFamily="18" charset="0"/>
                          </a:rPr>
                          <m:t>𝑛</m:t>
                        </m:r>
                      </m:sub>
                      <m:sup>
                        <m:r>
                          <a:rPr lang="ar-AE">
                            <a:latin typeface="Cambria Math" panose="02040503050406030204" pitchFamily="18" charset="0"/>
                          </a:rPr>
                          <m:t>′</m:t>
                        </m:r>
                      </m:sup>
                    </m:sSubSup>
                  </m:oMath>
                </a14:m>
                <a:r>
                  <a:rPr lang="ar-AE" dirty="0"/>
                  <a:t>.</a:t>
                </a:r>
              </a:p>
              <a:p>
                <a:r>
                  <a:rPr lang="en-US" dirty="0"/>
                  <a:t>If there exists a </a:t>
                </a:r>
                <a:r>
                  <a:rPr lang="en-US" b="1" dirty="0"/>
                  <a:t>substitution </a:t>
                </a:r>
                <a:r>
                  <a:rPr lang="el-GR" b="1" dirty="0"/>
                  <a:t>θ </a:t>
                </a:r>
                <a:r>
                  <a:rPr lang="en-US" dirty="0"/>
                  <a:t> that makes each </a:t>
                </a:r>
                <a14:m>
                  <m:oMath xmlns:m="http://schemas.openxmlformats.org/officeDocument/2006/math">
                    <m:sSubSup>
                      <m:sSubSupPr>
                        <m:ctrlPr>
                          <a:rPr lang="ar-AE" i="1">
                            <a:latin typeface="Cambria Math" panose="02040503050406030204" pitchFamily="18" charset="0"/>
                          </a:rPr>
                        </m:ctrlPr>
                      </m:sSubSupPr>
                      <m:e>
                        <m:r>
                          <a:rPr lang="ar-AE" i="1">
                            <a:latin typeface="Cambria Math" panose="02040503050406030204" pitchFamily="18" charset="0"/>
                          </a:rPr>
                          <m:t>𝑝</m:t>
                        </m:r>
                      </m:e>
                      <m:sub>
                        <m:r>
                          <a:rPr lang="ar-AE" i="1">
                            <a:latin typeface="Cambria Math" panose="02040503050406030204" pitchFamily="18" charset="0"/>
                          </a:rPr>
                          <m:t>𝑖</m:t>
                        </m:r>
                      </m:sub>
                      <m:sup>
                        <m:r>
                          <a:rPr lang="ar-AE">
                            <a:latin typeface="Cambria Math" panose="02040503050406030204" pitchFamily="18" charset="0"/>
                          </a:rPr>
                          <m:t>′</m:t>
                        </m:r>
                      </m:sup>
                    </m:sSubSup>
                  </m:oMath>
                </a14:m>
                <a:r>
                  <a:rPr lang="en-US" i="1" dirty="0"/>
                  <a:t> match</a:t>
                </a:r>
                <a:r>
                  <a:rPr lang="en-US" dirty="0"/>
                  <a:t> its corresponding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𝑝</m:t>
                        </m:r>
                      </m:e>
                      <m:sub>
                        <m:r>
                          <a:rPr lang="ar-AE" i="1">
                            <a:latin typeface="Cambria Math" panose="02040503050406030204" pitchFamily="18" charset="0"/>
                          </a:rPr>
                          <m:t>𝑖</m:t>
                        </m:r>
                      </m:sub>
                    </m:sSub>
                  </m:oMath>
                </a14:m>
                <a:r>
                  <a:rPr lang="en-US" dirty="0"/>
                  <a:t>in the rule,</a:t>
                </a:r>
                <a:br>
                  <a:rPr lang="en-US" dirty="0"/>
                </a:br>
                <a:r>
                  <a:rPr lang="en-US" dirty="0"/>
                  <a:t>then you can infer </a:t>
                </a:r>
                <a14:m>
                  <m:oMath xmlns:m="http://schemas.openxmlformats.org/officeDocument/2006/math">
                    <m:r>
                      <a:rPr lang="en-US" i="1">
                        <a:latin typeface="Cambria Math" panose="02040503050406030204" pitchFamily="18" charset="0"/>
                      </a:rPr>
                      <m:t>𝑞</m:t>
                    </m:r>
                    <m:r>
                      <a:rPr lang="en-US" b="0" i="1" smtClean="0">
                        <a:latin typeface="Cambria Math" panose="02040503050406030204" pitchFamily="18" charset="0"/>
                      </a:rPr>
                      <m:t> </m:t>
                    </m:r>
                  </m:oMath>
                </a14:m>
                <a:r>
                  <a:rPr lang="en-US" dirty="0"/>
                  <a:t>with the </a:t>
                </a:r>
                <a:r>
                  <a:rPr lang="en-US" i="1" dirty="0"/>
                  <a:t>same substitution </a:t>
                </a:r>
                <a:r>
                  <a:rPr lang="el-GR" i="1" dirty="0"/>
                  <a:t>θ</a:t>
                </a:r>
                <a:r>
                  <a:rPr lang="el-GR" dirty="0"/>
                  <a:t> </a:t>
                </a:r>
                <a:r>
                  <a:rPr lang="en-US" dirty="0"/>
                  <a:t>applied.</a:t>
                </a:r>
              </a:p>
              <a:p>
                <a:endParaRPr lang="en-US" dirty="0"/>
              </a:p>
            </p:txBody>
          </p:sp>
        </mc:Choice>
        <mc:Fallback xmlns="">
          <p:sp>
            <p:nvSpPr>
              <p:cNvPr id="3" name="Content Placeholder 2">
                <a:extLst>
                  <a:ext uri="{FF2B5EF4-FFF2-40B4-BE49-F238E27FC236}">
                    <a16:creationId xmlns:a16="http://schemas.microsoft.com/office/drawing/2014/main" id="{3E43B382-70CC-CFDA-A326-408AAC143E8B}"/>
                  </a:ext>
                </a:extLst>
              </p:cNvPr>
              <p:cNvSpPr>
                <a:spLocks noGrp="1" noRot="1" noChangeAspect="1" noMove="1" noResize="1" noEditPoints="1" noAdjustHandles="1" noChangeArrowheads="1" noChangeShapeType="1" noTextEdit="1"/>
              </p:cNvSpPr>
              <p:nvPr>
                <p:ph idx="1"/>
              </p:nvPr>
            </p:nvSpPr>
            <p:spPr>
              <a:blipFill>
                <a:blip r:embed="rId2"/>
                <a:stretch>
                  <a:fillRect l="-1043" t="-2381"/>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CB2323FB-DAC0-85DD-4213-4E51DB8639C2}"/>
              </a:ext>
            </a:extLst>
          </p:cNvPr>
          <p:cNvSpPr>
            <a:spLocks noGrp="1"/>
          </p:cNvSpPr>
          <p:nvPr>
            <p:ph type="dt" sz="half" idx="10"/>
          </p:nvPr>
        </p:nvSpPr>
        <p:spPr/>
        <p:txBody>
          <a:bodyPr/>
          <a:lstStyle/>
          <a:p>
            <a:fld id="{1332600A-A7B8-4674-AAE3-A37177B883E5}" type="datetime1">
              <a:rPr lang="en-GB" smtClean="0"/>
              <a:t>20/10/2025</a:t>
            </a:fld>
            <a:endParaRPr lang="en-GB"/>
          </a:p>
        </p:txBody>
      </p:sp>
      <p:sp>
        <p:nvSpPr>
          <p:cNvPr id="5" name="Slide Number Placeholder 4">
            <a:extLst>
              <a:ext uri="{FF2B5EF4-FFF2-40B4-BE49-F238E27FC236}">
                <a16:creationId xmlns:a16="http://schemas.microsoft.com/office/drawing/2014/main" id="{B48B83B7-C1A5-C858-3BF8-92213BDBB4B2}"/>
              </a:ext>
            </a:extLst>
          </p:cNvPr>
          <p:cNvSpPr>
            <a:spLocks noGrp="1"/>
          </p:cNvSpPr>
          <p:nvPr>
            <p:ph type="sldNum" sz="quarter" idx="12"/>
          </p:nvPr>
        </p:nvSpPr>
        <p:spPr/>
        <p:txBody>
          <a:bodyPr/>
          <a:lstStyle/>
          <a:p>
            <a:fld id="{9EB268CF-8001-41B5-ADCD-92A7738D3D9B}" type="slidenum">
              <a:rPr lang="en-GB" smtClean="0"/>
              <a:t>14</a:t>
            </a:fld>
            <a:endParaRPr lang="en-GB"/>
          </a:p>
        </p:txBody>
      </p:sp>
    </p:spTree>
    <p:extLst>
      <p:ext uri="{BB962C8B-B14F-4D97-AF65-F5344CB8AC3E}">
        <p14:creationId xmlns:p14="http://schemas.microsoft.com/office/powerpoint/2010/main" val="8665360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5365A-7E0B-6D5E-9F4F-29E89F1229FD}"/>
              </a:ext>
            </a:extLst>
          </p:cNvPr>
          <p:cNvSpPr>
            <a:spLocks noGrp="1"/>
          </p:cNvSpPr>
          <p:nvPr>
            <p:ph type="title"/>
          </p:nvPr>
        </p:nvSpPr>
        <p:spPr/>
        <p:txBody>
          <a:bodyPr/>
          <a:lstStyle/>
          <a:p>
            <a:r>
              <a:rPr lang="en-GB" dirty="0"/>
              <a:t>Unification and Lifting</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E178570-76B7-9578-2242-A1484EEE9DFC}"/>
                  </a:ext>
                </a:extLst>
              </p:cNvPr>
              <p:cNvSpPr>
                <a:spLocks noGrp="1"/>
              </p:cNvSpPr>
              <p:nvPr>
                <p:ph idx="1"/>
              </p:nvPr>
            </p:nvSpPr>
            <p:spPr/>
            <p:txBody>
              <a:bodyPr/>
              <a:lstStyle/>
              <a:p>
                <a:r>
                  <a:rPr lang="en-GB" b="1" dirty="0"/>
                  <a:t>From our example</a:t>
                </a:r>
              </a:p>
              <a:p>
                <a:pPr marL="0" indent="0">
                  <a:buNone/>
                </a:pPr>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𝑝</m:t>
                        </m:r>
                      </m:e>
                      <m:sub>
                        <m:r>
                          <a:rPr lang="en-US" b="0" i="1" smtClean="0">
                            <a:latin typeface="Cambria Math" panose="02040503050406030204" pitchFamily="18" charset="0"/>
                          </a:rPr>
                          <m:t>1</m:t>
                        </m:r>
                      </m:sub>
                      <m:sup>
                        <m:r>
                          <a:rPr lang="en-US" b="0" i="1" smtClean="0">
                            <a:latin typeface="Cambria Math" panose="02040503050406030204" pitchFamily="18" charset="0"/>
                          </a:rPr>
                          <m:t>′</m:t>
                        </m:r>
                      </m:sup>
                    </m:sSubSup>
                    <m:r>
                      <a:rPr lang="en-US" b="0" i="1" smtClean="0">
                        <a:latin typeface="Cambria Math" panose="02040503050406030204" pitchFamily="18" charset="0"/>
                      </a:rPr>
                      <m:t> </m:t>
                    </m:r>
                  </m:oMath>
                </a14:m>
                <a:r>
                  <a:rPr lang="en-GB" dirty="0"/>
                  <a:t>is </a:t>
                </a:r>
                <a14:m>
                  <m:oMath xmlns:m="http://schemas.openxmlformats.org/officeDocument/2006/math">
                    <m:r>
                      <a:rPr lang="en-US" b="0" i="1" smtClean="0">
                        <a:latin typeface="Cambria Math" panose="02040503050406030204" pitchFamily="18" charset="0"/>
                      </a:rPr>
                      <m:t>𝐾𝑖𝑛𝑔</m:t>
                    </m:r>
                    <m:r>
                      <a:rPr lang="en-US" b="0" i="1" smtClean="0">
                        <a:latin typeface="Cambria Math" panose="02040503050406030204" pitchFamily="18" charset="0"/>
                      </a:rPr>
                      <m:t>(</m:t>
                    </m:r>
                    <m:r>
                      <a:rPr lang="en-US" b="0" i="1" smtClean="0">
                        <a:latin typeface="Cambria Math" panose="02040503050406030204" pitchFamily="18" charset="0"/>
                      </a:rPr>
                      <m:t>𝐽𝑜</m:t>
                    </m:r>
                    <m:r>
                      <a:rPr lang="en-US" b="0" i="1" smtClean="0">
                        <a:latin typeface="Cambria Math" panose="02040503050406030204" pitchFamily="18" charset="0"/>
                      </a:rPr>
                      <m:t>h</m:t>
                    </m:r>
                    <m:r>
                      <a:rPr lang="en-US" b="0" i="1" smtClean="0">
                        <a:latin typeface="Cambria Math" panose="02040503050406030204" pitchFamily="18" charset="0"/>
                      </a:rPr>
                      <m:t>𝑛</m:t>
                    </m:r>
                    <m:r>
                      <a:rPr lang="en-US" b="0" i="1" smtClean="0">
                        <a:latin typeface="Cambria Math" panose="02040503050406030204" pitchFamily="18" charset="0"/>
                      </a:rPr>
                      <m:t>)</m:t>
                    </m:r>
                  </m:oMath>
                </a14:m>
                <a:r>
                  <a:rPr lang="en-GB" dirty="0"/>
                  <a:t>                  </a:t>
                </a:r>
                <a14:m>
                  <m:oMath xmlns:m="http://schemas.openxmlformats.org/officeDocument/2006/math">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𝑝</m:t>
                        </m:r>
                      </m:e>
                      <m:sub>
                        <m:r>
                          <a:rPr lang="en-US" b="0" i="1" dirty="0" smtClean="0">
                            <a:latin typeface="Cambria Math" panose="02040503050406030204" pitchFamily="18" charset="0"/>
                          </a:rPr>
                          <m:t>1</m:t>
                        </m:r>
                      </m:sub>
                    </m:sSub>
                  </m:oMath>
                </a14:m>
                <a:r>
                  <a:rPr lang="en-GB" dirty="0"/>
                  <a:t> is </a:t>
                </a:r>
                <a14:m>
                  <m:oMath xmlns:m="http://schemas.openxmlformats.org/officeDocument/2006/math">
                    <m:r>
                      <a:rPr lang="en-GB" i="1" dirty="0" smtClean="0">
                        <a:latin typeface="Cambria Math" panose="02040503050406030204" pitchFamily="18" charset="0"/>
                      </a:rPr>
                      <m:t>𝐾𝑖𝑛𝑔</m:t>
                    </m:r>
                    <m:r>
                      <a:rPr lang="en-GB" i="1" dirty="0" smtClean="0">
                        <a:latin typeface="Cambria Math" panose="02040503050406030204" pitchFamily="18" charset="0"/>
                      </a:rPr>
                      <m:t>(</m:t>
                    </m:r>
                    <m:r>
                      <a:rPr lang="en-GB" i="1" dirty="0" smtClean="0">
                        <a:latin typeface="Cambria Math" panose="02040503050406030204" pitchFamily="18" charset="0"/>
                      </a:rPr>
                      <m:t>𝑥</m:t>
                    </m:r>
                    <m:r>
                      <a:rPr lang="en-GB" i="1" dirty="0" smtClean="0">
                        <a:latin typeface="Cambria Math" panose="02040503050406030204" pitchFamily="18" charset="0"/>
                      </a:rPr>
                      <m:t>)</m:t>
                    </m:r>
                  </m:oMath>
                </a14:m>
                <a:endParaRPr lang="en-GB" dirty="0"/>
              </a:p>
              <a:p>
                <a:pPr marL="0" indent="0">
                  <a:buNone/>
                </a:pPr>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𝑝</m:t>
                        </m:r>
                      </m:e>
                      <m:sub>
                        <m:r>
                          <a:rPr lang="en-US" b="0" i="1" smtClean="0">
                            <a:latin typeface="Cambria Math" panose="02040503050406030204" pitchFamily="18" charset="0"/>
                          </a:rPr>
                          <m:t>2</m:t>
                        </m:r>
                      </m:sub>
                      <m:sup>
                        <m:r>
                          <a:rPr lang="en-US" b="0" i="1" smtClean="0">
                            <a:latin typeface="Cambria Math" panose="02040503050406030204" pitchFamily="18" charset="0"/>
                          </a:rPr>
                          <m:t>′</m:t>
                        </m:r>
                      </m:sup>
                    </m:sSubSup>
                  </m:oMath>
                </a14:m>
                <a:r>
                  <a:rPr lang="en-GB" dirty="0"/>
                  <a:t> is </a:t>
                </a:r>
                <a14:m>
                  <m:oMath xmlns:m="http://schemas.openxmlformats.org/officeDocument/2006/math">
                    <m:r>
                      <a:rPr lang="en-US" b="0" i="1" smtClean="0">
                        <a:latin typeface="Cambria Math" panose="02040503050406030204" pitchFamily="18" charset="0"/>
                      </a:rPr>
                      <m:t>𝐺𝑟𝑒𝑒𝑑𝑦</m:t>
                    </m:r>
                    <m:d>
                      <m:dPr>
                        <m:ctrlPr>
                          <a:rPr lang="en-US" b="0" i="1" smtClean="0">
                            <a:latin typeface="Cambria Math" panose="02040503050406030204" pitchFamily="18" charset="0"/>
                          </a:rPr>
                        </m:ctrlPr>
                      </m:dPr>
                      <m:e>
                        <m:r>
                          <a:rPr lang="en-US" b="0" i="1" smtClean="0">
                            <a:latin typeface="Cambria Math" panose="02040503050406030204" pitchFamily="18" charset="0"/>
                          </a:rPr>
                          <m:t>𝑦</m:t>
                        </m:r>
                      </m:e>
                    </m:d>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2</m:t>
                        </m:r>
                      </m:sub>
                    </m:sSub>
                  </m:oMath>
                </a14:m>
                <a:r>
                  <a:rPr lang="en-GB" dirty="0"/>
                  <a:t> is </a:t>
                </a:r>
                <a14:m>
                  <m:oMath xmlns:m="http://schemas.openxmlformats.org/officeDocument/2006/math">
                    <m:r>
                      <a:rPr lang="en-US" b="0" i="1" smtClean="0">
                        <a:latin typeface="Cambria Math" panose="02040503050406030204" pitchFamily="18" charset="0"/>
                      </a:rPr>
                      <m:t>𝐺𝑟𝑒𝑒𝑑𝑦</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oMath>
                </a14:m>
                <a:endParaRPr lang="en-GB" dirty="0"/>
              </a:p>
              <a:p>
                <a:pPr marL="0" indent="0">
                  <a:buNone/>
                </a:pPr>
                <a14:m>
                  <m:oMath xmlns:m="http://schemas.openxmlformats.org/officeDocument/2006/math">
                    <m:r>
                      <a:rPr lang="en-US" b="0" i="1" smtClean="0">
                        <a:latin typeface="Cambria Math" panose="02040503050406030204" pitchFamily="18" charset="0"/>
                      </a:rPr>
                      <m:t>𝜃</m:t>
                    </m:r>
                  </m:oMath>
                </a14:m>
                <a:r>
                  <a:rPr lang="en-GB" dirty="0"/>
                  <a:t> is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𝑥</m:t>
                        </m:r>
                        <m:r>
                          <m:rPr>
                            <m:lit/>
                          </m:rPr>
                          <a:rPr lang="en-US" b="0" i="1" smtClean="0">
                            <a:latin typeface="Cambria Math" panose="02040503050406030204" pitchFamily="18" charset="0"/>
                          </a:rPr>
                          <m:t>/</m:t>
                        </m:r>
                        <m:r>
                          <a:rPr lang="en-US" b="0" i="1" smtClean="0">
                            <a:latin typeface="Cambria Math" panose="02040503050406030204" pitchFamily="18" charset="0"/>
                          </a:rPr>
                          <m:t> </m:t>
                        </m:r>
                        <m:r>
                          <a:rPr lang="en-US" b="0" i="1" smtClean="0">
                            <a:latin typeface="Cambria Math" panose="02040503050406030204" pitchFamily="18" charset="0"/>
                          </a:rPr>
                          <m:t>𝐽𝑜</m:t>
                        </m:r>
                        <m:r>
                          <a:rPr lang="en-US" b="0" i="1" smtClean="0">
                            <a:latin typeface="Cambria Math" panose="02040503050406030204" pitchFamily="18" charset="0"/>
                          </a:rPr>
                          <m:t>h</m:t>
                        </m:r>
                        <m:r>
                          <a:rPr lang="en-US" b="0" i="1" smtClean="0">
                            <a:latin typeface="Cambria Math" panose="02040503050406030204" pitchFamily="18" charset="0"/>
                          </a:rPr>
                          <m:t>𝑛</m:t>
                        </m:r>
                        <m:r>
                          <a:rPr lang="en-US" b="0" i="1" smtClean="0">
                            <a:latin typeface="Cambria Math" panose="02040503050406030204" pitchFamily="18" charset="0"/>
                          </a:rPr>
                          <m:t>, </m:t>
                        </m:r>
                        <m:r>
                          <a:rPr lang="en-US" b="0" i="1" smtClean="0">
                            <a:latin typeface="Cambria Math" panose="02040503050406030204" pitchFamily="18" charset="0"/>
                          </a:rPr>
                          <m:t>𝑦</m:t>
                        </m:r>
                        <m:r>
                          <m:rPr>
                            <m:lit/>
                          </m:rPr>
                          <a:rPr lang="en-US" b="0" i="1" smtClean="0">
                            <a:latin typeface="Cambria Math" panose="02040503050406030204" pitchFamily="18" charset="0"/>
                          </a:rPr>
                          <m:t>/</m:t>
                        </m:r>
                        <m:r>
                          <a:rPr lang="en-US" b="0" i="1" smtClean="0">
                            <a:latin typeface="Cambria Math" panose="02040503050406030204" pitchFamily="18" charset="0"/>
                          </a:rPr>
                          <m:t> </m:t>
                        </m:r>
                        <m:r>
                          <a:rPr lang="en-US" b="0" i="1" smtClean="0">
                            <a:latin typeface="Cambria Math" panose="02040503050406030204" pitchFamily="18" charset="0"/>
                          </a:rPr>
                          <m:t>𝐽𝑜</m:t>
                        </m:r>
                        <m:r>
                          <a:rPr lang="en-US" b="0" i="1" smtClean="0">
                            <a:latin typeface="Cambria Math" panose="02040503050406030204" pitchFamily="18" charset="0"/>
                          </a:rPr>
                          <m:t>h</m:t>
                        </m:r>
                        <m:r>
                          <a:rPr lang="en-US" b="0" i="1" smtClean="0">
                            <a:latin typeface="Cambria Math" panose="02040503050406030204" pitchFamily="18" charset="0"/>
                          </a:rPr>
                          <m:t>𝑛</m:t>
                        </m:r>
                      </m:e>
                    </m:d>
                    <m:r>
                      <a:rPr lang="en-US" b="0" i="1" smtClean="0">
                        <a:latin typeface="Cambria Math" panose="02040503050406030204" pitchFamily="18" charset="0"/>
                      </a:rPr>
                      <m:t>            </m:t>
                    </m:r>
                    <m:r>
                      <a:rPr lang="en-US" b="0" i="1" smtClean="0">
                        <a:latin typeface="Cambria Math" panose="02040503050406030204" pitchFamily="18" charset="0"/>
                      </a:rPr>
                      <m:t>𝑞</m:t>
                    </m:r>
                  </m:oMath>
                </a14:m>
                <a:r>
                  <a:rPr lang="en-US" b="0" dirty="0"/>
                  <a:t> is </a:t>
                </a:r>
                <a14:m>
                  <m:oMath xmlns:m="http://schemas.openxmlformats.org/officeDocument/2006/math">
                    <m:r>
                      <a:rPr lang="en-US" b="0" i="1" smtClean="0">
                        <a:latin typeface="Cambria Math" panose="02040503050406030204" pitchFamily="18" charset="0"/>
                      </a:rPr>
                      <m:t>𝐸𝑣𝑖𝑙</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oMath>
                </a14:m>
                <a:endParaRPr lang="en-US" b="0" dirty="0"/>
              </a:p>
              <a:p>
                <a:pPr marL="0" indent="0">
                  <a:buNone/>
                </a:pPr>
                <a14:m>
                  <m:oMath xmlns:m="http://schemas.openxmlformats.org/officeDocument/2006/math">
                    <m:r>
                      <a:rPr lang="en-US" b="0" i="1" smtClean="0">
                        <a:latin typeface="Cambria Math" panose="02040503050406030204" pitchFamily="18" charset="0"/>
                      </a:rPr>
                      <m:t>𝑆𝑈𝐵𝑆𝑇</m:t>
                    </m:r>
                    <m:r>
                      <a:rPr lang="en-US" b="0" i="1" smtClean="0">
                        <a:latin typeface="Cambria Math" panose="02040503050406030204" pitchFamily="18" charset="0"/>
                      </a:rPr>
                      <m:t>(</m:t>
                    </m:r>
                    <m:r>
                      <a:rPr lang="en-US" b="0" i="1" smtClean="0">
                        <a:latin typeface="Cambria Math" panose="02040503050406030204" pitchFamily="18" charset="0"/>
                      </a:rPr>
                      <m:t>𝜃</m:t>
                    </m:r>
                    <m:r>
                      <a:rPr lang="en-US" b="0" i="1" smtClean="0">
                        <a:latin typeface="Cambria Math" panose="02040503050406030204" pitchFamily="18" charset="0"/>
                      </a:rPr>
                      <m:t>, </m:t>
                    </m:r>
                    <m:r>
                      <a:rPr lang="en-US" b="0" i="1" smtClean="0">
                        <a:latin typeface="Cambria Math" panose="02040503050406030204" pitchFamily="18" charset="0"/>
                      </a:rPr>
                      <m:t>𝑞</m:t>
                    </m:r>
                    <m:r>
                      <a:rPr lang="en-US" b="0" i="1" smtClean="0">
                        <a:latin typeface="Cambria Math" panose="02040503050406030204" pitchFamily="18" charset="0"/>
                      </a:rPr>
                      <m:t>)</m:t>
                    </m:r>
                  </m:oMath>
                </a14:m>
                <a:r>
                  <a:rPr lang="en-GB" dirty="0"/>
                  <a:t> is </a:t>
                </a:r>
                <a14:m>
                  <m:oMath xmlns:m="http://schemas.openxmlformats.org/officeDocument/2006/math">
                    <m:r>
                      <a:rPr lang="en-US" b="0" i="1" smtClean="0">
                        <a:latin typeface="Cambria Math" panose="02040503050406030204" pitchFamily="18" charset="0"/>
                      </a:rPr>
                      <m:t>𝐸𝑣𝑖𝑙</m:t>
                    </m:r>
                    <m:r>
                      <a:rPr lang="en-US" b="0" i="1" smtClean="0">
                        <a:latin typeface="Cambria Math" panose="02040503050406030204" pitchFamily="18" charset="0"/>
                      </a:rPr>
                      <m:t>(</m:t>
                    </m:r>
                    <m:r>
                      <a:rPr lang="en-US" b="0" i="1" smtClean="0">
                        <a:latin typeface="Cambria Math" panose="02040503050406030204" pitchFamily="18" charset="0"/>
                      </a:rPr>
                      <m:t>𝐽𝑜</m:t>
                    </m:r>
                    <m:r>
                      <a:rPr lang="en-US" b="0" i="1" smtClean="0">
                        <a:latin typeface="Cambria Math" panose="02040503050406030204" pitchFamily="18" charset="0"/>
                      </a:rPr>
                      <m:t>h</m:t>
                    </m:r>
                    <m:r>
                      <a:rPr lang="en-US" b="0" i="1" smtClean="0">
                        <a:latin typeface="Cambria Math" panose="02040503050406030204" pitchFamily="18" charset="0"/>
                      </a:rPr>
                      <m:t>𝑛</m:t>
                    </m:r>
                    <m:r>
                      <a:rPr lang="en-US" b="0" i="1" smtClean="0">
                        <a:latin typeface="Cambria Math" panose="02040503050406030204" pitchFamily="18" charset="0"/>
                      </a:rPr>
                      <m:t>)</m:t>
                    </m:r>
                  </m:oMath>
                </a14:m>
                <a:endParaRPr lang="en-GB" dirty="0"/>
              </a:p>
              <a:p>
                <a:endParaRPr lang="en-US" dirty="0"/>
              </a:p>
            </p:txBody>
          </p:sp>
        </mc:Choice>
        <mc:Fallback xmlns="">
          <p:sp>
            <p:nvSpPr>
              <p:cNvPr id="3" name="Content Placeholder 2">
                <a:extLst>
                  <a:ext uri="{FF2B5EF4-FFF2-40B4-BE49-F238E27FC236}">
                    <a16:creationId xmlns:a16="http://schemas.microsoft.com/office/drawing/2014/main" id="{6E178570-76B7-9578-2242-A1484EEE9DFC}"/>
                  </a:ext>
                </a:extLst>
              </p:cNvPr>
              <p:cNvSpPr>
                <a:spLocks noGrp="1" noRot="1" noChangeAspect="1" noMove="1" noResize="1" noEditPoints="1" noAdjustHandles="1" noChangeArrowheads="1" noChangeShapeType="1" noTextEdit="1"/>
              </p:cNvSpPr>
              <p:nvPr>
                <p:ph idx="1"/>
              </p:nvPr>
            </p:nvSpPr>
            <p:spPr>
              <a:blipFill>
                <a:blip r:embed="rId2"/>
                <a:stretch>
                  <a:fillRect l="-1043" t="-2381"/>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F6BA43AC-C043-F6B6-0E79-15502985002A}"/>
              </a:ext>
            </a:extLst>
          </p:cNvPr>
          <p:cNvSpPr>
            <a:spLocks noGrp="1"/>
          </p:cNvSpPr>
          <p:nvPr>
            <p:ph type="dt" sz="half" idx="10"/>
          </p:nvPr>
        </p:nvSpPr>
        <p:spPr/>
        <p:txBody>
          <a:bodyPr/>
          <a:lstStyle/>
          <a:p>
            <a:fld id="{1332600A-A7B8-4674-AAE3-A37177B883E5}" type="datetime1">
              <a:rPr lang="en-GB" smtClean="0"/>
              <a:t>20/10/2025</a:t>
            </a:fld>
            <a:endParaRPr lang="en-GB"/>
          </a:p>
        </p:txBody>
      </p:sp>
      <p:sp>
        <p:nvSpPr>
          <p:cNvPr id="5" name="Slide Number Placeholder 4">
            <a:extLst>
              <a:ext uri="{FF2B5EF4-FFF2-40B4-BE49-F238E27FC236}">
                <a16:creationId xmlns:a16="http://schemas.microsoft.com/office/drawing/2014/main" id="{8B1EC53F-8B78-8390-3F99-27986836FFB6}"/>
              </a:ext>
            </a:extLst>
          </p:cNvPr>
          <p:cNvSpPr>
            <a:spLocks noGrp="1"/>
          </p:cNvSpPr>
          <p:nvPr>
            <p:ph type="sldNum" sz="quarter" idx="12"/>
          </p:nvPr>
        </p:nvSpPr>
        <p:spPr/>
        <p:txBody>
          <a:bodyPr/>
          <a:lstStyle/>
          <a:p>
            <a:fld id="{9EB268CF-8001-41B5-ADCD-92A7738D3D9B}" type="slidenum">
              <a:rPr lang="en-GB" smtClean="0"/>
              <a:t>15</a:t>
            </a:fld>
            <a:endParaRPr lang="en-GB"/>
          </a:p>
        </p:txBody>
      </p:sp>
    </p:spTree>
    <p:extLst>
      <p:ext uri="{BB962C8B-B14F-4D97-AF65-F5344CB8AC3E}">
        <p14:creationId xmlns:p14="http://schemas.microsoft.com/office/powerpoint/2010/main" val="10593509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A5FD39-7A2E-3C01-711D-7A60A4E12CF1}"/>
              </a:ext>
            </a:extLst>
          </p:cNvPr>
          <p:cNvSpPr>
            <a:spLocks noGrp="1"/>
          </p:cNvSpPr>
          <p:nvPr>
            <p:ph type="title"/>
          </p:nvPr>
        </p:nvSpPr>
        <p:spPr/>
        <p:txBody>
          <a:bodyPr/>
          <a:lstStyle/>
          <a:p>
            <a:r>
              <a:rPr lang="en-US" dirty="0"/>
              <a:t>Unification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38F8B22-8F8E-73C2-E02D-EEF9739EAC8E}"/>
                  </a:ext>
                </a:extLst>
              </p:cNvPr>
              <p:cNvSpPr>
                <a:spLocks noGrp="1"/>
              </p:cNvSpPr>
              <p:nvPr>
                <p:ph idx="1"/>
              </p:nvPr>
            </p:nvSpPr>
            <p:spPr/>
            <p:txBody>
              <a:bodyPr>
                <a:normAutofit/>
              </a:bodyPr>
              <a:lstStyle/>
              <a:p>
                <a:r>
                  <a:rPr lang="en-US" dirty="0"/>
                  <a:t>Unification is the process of finding a substitution (a mapping of variables to terms) that makes two logical expressions identical.</a:t>
                </a:r>
              </a:p>
              <a:p>
                <a:r>
                  <a:rPr lang="en-US" dirty="0"/>
                  <a:t>The UNIFY algorithm takes two sentences and returns a unifier for them if one exists:</a:t>
                </a:r>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𝑈𝑁𝐼𝐹𝑌</m:t>
                      </m:r>
                      <m:r>
                        <a:rPr lang="en-US" i="1">
                          <a:latin typeface="Cambria Math" panose="02040503050406030204" pitchFamily="18" charset="0"/>
                        </a:rPr>
                        <m:t>(</m:t>
                      </m:r>
                      <m:r>
                        <a:rPr lang="en-US" i="1">
                          <a:latin typeface="Cambria Math" panose="02040503050406030204" pitchFamily="18" charset="0"/>
                        </a:rPr>
                        <m:t>𝑝</m:t>
                      </m:r>
                      <m:r>
                        <a:rPr lang="en-US" i="1">
                          <a:latin typeface="Cambria Math" panose="02040503050406030204" pitchFamily="18" charset="0"/>
                        </a:rPr>
                        <m:t>, </m:t>
                      </m:r>
                      <m:r>
                        <a:rPr lang="en-US" i="1">
                          <a:latin typeface="Cambria Math" panose="02040503050406030204" pitchFamily="18" charset="0"/>
                        </a:rPr>
                        <m:t>𝑞</m:t>
                      </m:r>
                      <m:r>
                        <a:rPr lang="en-US" i="1">
                          <a:latin typeface="Cambria Math" panose="02040503050406030204" pitchFamily="18" charset="0"/>
                        </a:rPr>
                        <m:t>) = </m:t>
                      </m:r>
                      <m:r>
                        <a:rPr lang="en-US" i="1">
                          <a:latin typeface="Cambria Math" panose="02040503050406030204" pitchFamily="18" charset="0"/>
                        </a:rPr>
                        <m:t>𝜃</m:t>
                      </m:r>
                      <m:r>
                        <a:rPr lang="en-US" i="1">
                          <a:latin typeface="Cambria Math" panose="02040503050406030204" pitchFamily="18" charset="0"/>
                        </a:rPr>
                        <m:t> </m:t>
                      </m:r>
                      <m:r>
                        <a:rPr lang="en-US" i="1">
                          <a:latin typeface="Cambria Math" panose="02040503050406030204" pitchFamily="18" charset="0"/>
                        </a:rPr>
                        <m:t>𝑤h𝑒𝑟𝑒</m:t>
                      </m:r>
                      <m:r>
                        <a:rPr lang="en-US" i="1">
                          <a:latin typeface="Cambria Math" panose="02040503050406030204" pitchFamily="18" charset="0"/>
                        </a:rPr>
                        <m:t> </m:t>
                      </m:r>
                      <m:r>
                        <a:rPr lang="en-US" i="1">
                          <a:latin typeface="Cambria Math" panose="02040503050406030204" pitchFamily="18" charset="0"/>
                        </a:rPr>
                        <m:t>𝑆</m:t>
                      </m:r>
                      <m:r>
                        <a:rPr lang="en-US" i="1">
                          <a:latin typeface="Cambria Math" panose="02040503050406030204" pitchFamily="18" charset="0"/>
                        </a:rPr>
                        <m:t> </m:t>
                      </m:r>
                      <m:r>
                        <a:rPr lang="en-US" i="1">
                          <a:latin typeface="Cambria Math" panose="02040503050406030204" pitchFamily="18" charset="0"/>
                        </a:rPr>
                        <m:t>𝑈𝐵𝑆𝑇</m:t>
                      </m:r>
                      <m:r>
                        <a:rPr lang="en-US" i="1">
                          <a:latin typeface="Cambria Math" panose="02040503050406030204" pitchFamily="18" charset="0"/>
                        </a:rPr>
                        <m:t>(</m:t>
                      </m:r>
                      <m:r>
                        <a:rPr lang="en-US" i="1">
                          <a:latin typeface="Cambria Math" panose="02040503050406030204" pitchFamily="18" charset="0"/>
                        </a:rPr>
                        <m:t>𝜃</m:t>
                      </m:r>
                      <m:r>
                        <a:rPr lang="en-US" i="1">
                          <a:latin typeface="Cambria Math" panose="02040503050406030204" pitchFamily="18" charset="0"/>
                        </a:rPr>
                        <m:t>, </m:t>
                      </m:r>
                      <m:r>
                        <a:rPr lang="en-US" i="1">
                          <a:latin typeface="Cambria Math" panose="02040503050406030204" pitchFamily="18" charset="0"/>
                        </a:rPr>
                        <m:t>𝑝</m:t>
                      </m:r>
                      <m:r>
                        <a:rPr lang="en-US" i="1">
                          <a:latin typeface="Cambria Math" panose="02040503050406030204" pitchFamily="18" charset="0"/>
                        </a:rPr>
                        <m:t>) = </m:t>
                      </m:r>
                      <m:r>
                        <a:rPr lang="en-US" i="1">
                          <a:latin typeface="Cambria Math" panose="02040503050406030204" pitchFamily="18" charset="0"/>
                        </a:rPr>
                        <m:t>𝑆𝑈𝐵𝑆𝑇</m:t>
                      </m:r>
                      <m:r>
                        <a:rPr lang="en-US" i="1">
                          <a:latin typeface="Cambria Math" panose="02040503050406030204" pitchFamily="18" charset="0"/>
                        </a:rPr>
                        <m:t>(</m:t>
                      </m:r>
                      <m:r>
                        <a:rPr lang="en-US" i="1">
                          <a:latin typeface="Cambria Math" panose="02040503050406030204" pitchFamily="18" charset="0"/>
                        </a:rPr>
                        <m:t>𝜃</m:t>
                      </m:r>
                      <m:r>
                        <a:rPr lang="en-US" i="1">
                          <a:latin typeface="Cambria Math" panose="02040503050406030204" pitchFamily="18" charset="0"/>
                        </a:rPr>
                        <m:t>, </m:t>
                      </m:r>
                      <m:r>
                        <a:rPr lang="en-US" i="1">
                          <a:latin typeface="Cambria Math" panose="02040503050406030204" pitchFamily="18" charset="0"/>
                        </a:rPr>
                        <m:t>𝑞</m:t>
                      </m:r>
                      <m:r>
                        <a:rPr lang="en-US" i="1">
                          <a:latin typeface="Cambria Math" panose="02040503050406030204" pitchFamily="18" charset="0"/>
                        </a:rPr>
                        <m:t>)</m:t>
                      </m:r>
                    </m:oMath>
                  </m:oMathPara>
                </a14:m>
                <a:endParaRPr lang="en-US" dirty="0"/>
              </a:p>
              <a:p>
                <a:r>
                  <a:rPr lang="en-US" dirty="0"/>
                  <a:t>Consider the followings:</a:t>
                </a:r>
                <a:br>
                  <a:rPr lang="en-US" dirty="0"/>
                </a:br>
                <a14:m>
                  <m:oMath xmlns:m="http://schemas.openxmlformats.org/officeDocument/2006/math">
                    <m:r>
                      <a:rPr lang="en-US" i="1" dirty="0" smtClean="0">
                        <a:latin typeface="Cambria Math" panose="02040503050406030204" pitchFamily="18" charset="0"/>
                      </a:rPr>
                      <m:t>𝑈𝑁𝐼𝐹𝑌</m:t>
                    </m:r>
                    <m:d>
                      <m:dPr>
                        <m:ctrlPr>
                          <a:rPr lang="en-US" i="1" dirty="0" smtClean="0">
                            <a:latin typeface="Cambria Math" panose="02040503050406030204" pitchFamily="18" charset="0"/>
                          </a:rPr>
                        </m:ctrlPr>
                      </m:dPr>
                      <m:e>
                        <m:r>
                          <a:rPr lang="en-US" i="1" dirty="0" smtClean="0">
                            <a:latin typeface="Cambria Math" panose="02040503050406030204" pitchFamily="18" charset="0"/>
                          </a:rPr>
                          <m:t>𝐾𝑛𝑜𝑤𝑠</m:t>
                        </m:r>
                        <m:d>
                          <m:dPr>
                            <m:ctrlPr>
                              <a:rPr lang="en-US" i="1" dirty="0" smtClean="0">
                                <a:latin typeface="Cambria Math" panose="02040503050406030204" pitchFamily="18" charset="0"/>
                              </a:rPr>
                            </m:ctrlPr>
                          </m:dPr>
                          <m:e>
                            <m:r>
                              <a:rPr lang="en-US" i="1" dirty="0" smtClean="0">
                                <a:latin typeface="Cambria Math" panose="02040503050406030204" pitchFamily="18" charset="0"/>
                              </a:rPr>
                              <m:t>𝐽𝑜h𝑛</m:t>
                            </m:r>
                            <m:r>
                              <a:rPr lang="en-US" i="1" dirty="0" smtClean="0">
                                <a:latin typeface="Cambria Math" panose="02040503050406030204" pitchFamily="18" charset="0"/>
                              </a:rPr>
                              <m:t>, </m:t>
                            </m:r>
                            <m:r>
                              <a:rPr lang="en-US" i="1" dirty="0" smtClean="0">
                                <a:latin typeface="Cambria Math" panose="02040503050406030204" pitchFamily="18" charset="0"/>
                              </a:rPr>
                              <m:t>𝑥</m:t>
                            </m:r>
                          </m:e>
                        </m:d>
                        <m:r>
                          <a:rPr lang="en-US" i="1" dirty="0" smtClean="0">
                            <a:latin typeface="Cambria Math" panose="02040503050406030204" pitchFamily="18" charset="0"/>
                          </a:rPr>
                          <m:t>, </m:t>
                        </m:r>
                        <m:r>
                          <a:rPr lang="en-US" i="1" dirty="0" smtClean="0">
                            <a:latin typeface="Cambria Math" panose="02040503050406030204" pitchFamily="18" charset="0"/>
                          </a:rPr>
                          <m:t>𝐾𝑛𝑜𝑤𝑠</m:t>
                        </m:r>
                        <m:d>
                          <m:dPr>
                            <m:ctrlPr>
                              <a:rPr lang="en-US" i="1" dirty="0" smtClean="0">
                                <a:latin typeface="Cambria Math" panose="02040503050406030204" pitchFamily="18" charset="0"/>
                              </a:rPr>
                            </m:ctrlPr>
                          </m:dPr>
                          <m:e>
                            <m:r>
                              <a:rPr lang="en-US" i="1" dirty="0" smtClean="0">
                                <a:latin typeface="Cambria Math" panose="02040503050406030204" pitchFamily="18" charset="0"/>
                              </a:rPr>
                              <m:t>𝐽𝑜h𝑛</m:t>
                            </m:r>
                            <m:r>
                              <a:rPr lang="en-US" i="1" dirty="0" smtClean="0">
                                <a:latin typeface="Cambria Math" panose="02040503050406030204" pitchFamily="18" charset="0"/>
                              </a:rPr>
                              <m:t>, </m:t>
                            </m:r>
                            <m:r>
                              <a:rPr lang="en-US" i="1" dirty="0" smtClean="0">
                                <a:latin typeface="Cambria Math" panose="02040503050406030204" pitchFamily="18" charset="0"/>
                              </a:rPr>
                              <m:t>𝐽𝑎𝑛𝑒</m:t>
                            </m:r>
                          </m:e>
                        </m:d>
                      </m:e>
                    </m:d>
                    <m:r>
                      <a:rPr lang="en-US" i="1" dirty="0" smtClean="0">
                        <a:latin typeface="Cambria Math" panose="02040503050406030204" pitchFamily="18" charset="0"/>
                      </a:rPr>
                      <m:t>= </m:t>
                    </m:r>
                    <m:d>
                      <m:dPr>
                        <m:begChr m:val="{"/>
                        <m:endChr m:val="}"/>
                        <m:ctrlPr>
                          <a:rPr lang="en-US" i="1" dirty="0" smtClean="0">
                            <a:latin typeface="Cambria Math" panose="02040503050406030204" pitchFamily="18" charset="0"/>
                          </a:rPr>
                        </m:ctrlPr>
                      </m:dPr>
                      <m:e>
                        <m:r>
                          <a:rPr lang="en-US" b="0" i="1" dirty="0" smtClean="0">
                            <a:latin typeface="Cambria Math" panose="02040503050406030204" pitchFamily="18" charset="0"/>
                          </a:rPr>
                          <m:t>𝑥</m:t>
                        </m:r>
                        <m:r>
                          <m:rPr>
                            <m:lit/>
                          </m:rPr>
                          <a:rPr lang="en-US" b="0" i="1" dirty="0" smtClean="0">
                            <a:latin typeface="Cambria Math" panose="02040503050406030204" pitchFamily="18" charset="0"/>
                          </a:rPr>
                          <m:t>/</m:t>
                        </m:r>
                        <m:r>
                          <a:rPr lang="en-US" b="0" i="1" dirty="0" smtClean="0">
                            <a:latin typeface="Cambria Math" panose="02040503050406030204" pitchFamily="18" charset="0"/>
                          </a:rPr>
                          <m:t> </m:t>
                        </m:r>
                        <m:r>
                          <a:rPr lang="en-US" b="0" i="1" dirty="0" smtClean="0">
                            <a:latin typeface="Cambria Math" panose="02040503050406030204" pitchFamily="18" charset="0"/>
                          </a:rPr>
                          <m:t>𝐽𝑎𝑛𝑒</m:t>
                        </m:r>
                      </m:e>
                    </m:d>
                  </m:oMath>
                </a14:m>
                <a:endParaRPr lang="en-US"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𝑈𝑁𝐼𝐹𝑌</m:t>
                      </m:r>
                      <m:d>
                        <m:dPr>
                          <m:ctrlPr>
                            <a:rPr lang="en-US" i="1" dirty="0" smtClean="0">
                              <a:latin typeface="Cambria Math" panose="02040503050406030204" pitchFamily="18" charset="0"/>
                            </a:rPr>
                          </m:ctrlPr>
                        </m:dPr>
                        <m:e>
                          <m:r>
                            <a:rPr lang="en-US" i="1" dirty="0" smtClean="0">
                              <a:latin typeface="Cambria Math" panose="02040503050406030204" pitchFamily="18" charset="0"/>
                            </a:rPr>
                            <m:t>𝐾𝑛𝑜𝑤𝑠</m:t>
                          </m:r>
                          <m:d>
                            <m:dPr>
                              <m:ctrlPr>
                                <a:rPr lang="en-US" i="1" dirty="0" smtClean="0">
                                  <a:latin typeface="Cambria Math" panose="02040503050406030204" pitchFamily="18" charset="0"/>
                                </a:rPr>
                              </m:ctrlPr>
                            </m:dPr>
                            <m:e>
                              <m:r>
                                <a:rPr lang="en-US" i="1" dirty="0" smtClean="0">
                                  <a:latin typeface="Cambria Math" panose="02040503050406030204" pitchFamily="18" charset="0"/>
                                </a:rPr>
                                <m:t>𝐽𝑜h𝑛</m:t>
                              </m:r>
                              <m:r>
                                <a:rPr lang="en-US" i="1" dirty="0" smtClean="0">
                                  <a:latin typeface="Cambria Math" panose="02040503050406030204" pitchFamily="18" charset="0"/>
                                </a:rPr>
                                <m:t>, </m:t>
                              </m:r>
                              <m:r>
                                <a:rPr lang="en-US" i="1" dirty="0" smtClean="0">
                                  <a:latin typeface="Cambria Math" panose="02040503050406030204" pitchFamily="18" charset="0"/>
                                </a:rPr>
                                <m:t>𝑥</m:t>
                              </m:r>
                            </m:e>
                          </m:d>
                          <m:r>
                            <a:rPr lang="en-US" i="1" dirty="0" smtClean="0">
                              <a:latin typeface="Cambria Math" panose="02040503050406030204" pitchFamily="18" charset="0"/>
                            </a:rPr>
                            <m:t>, </m:t>
                          </m:r>
                          <m:r>
                            <a:rPr lang="en-US" i="1" dirty="0" smtClean="0">
                              <a:latin typeface="Cambria Math" panose="02040503050406030204" pitchFamily="18" charset="0"/>
                            </a:rPr>
                            <m:t>𝐾𝑛𝑜𝑤𝑠</m:t>
                          </m:r>
                          <m:d>
                            <m:dPr>
                              <m:ctrlPr>
                                <a:rPr lang="en-US" i="1" dirty="0" smtClean="0">
                                  <a:latin typeface="Cambria Math" panose="02040503050406030204" pitchFamily="18" charset="0"/>
                                </a:rPr>
                              </m:ctrlPr>
                            </m:dPr>
                            <m:e>
                              <m:r>
                                <a:rPr lang="en-US" i="1" dirty="0" smtClean="0">
                                  <a:latin typeface="Cambria Math" panose="02040503050406030204" pitchFamily="18" charset="0"/>
                                </a:rPr>
                                <m:t>𝑦</m:t>
                              </m:r>
                              <m:r>
                                <a:rPr lang="en-US" i="1" dirty="0" smtClean="0">
                                  <a:latin typeface="Cambria Math" panose="02040503050406030204" pitchFamily="18" charset="0"/>
                                </a:rPr>
                                <m:t>, </m:t>
                              </m:r>
                              <m:r>
                                <a:rPr lang="en-US" i="1" dirty="0" smtClean="0">
                                  <a:latin typeface="Cambria Math" panose="02040503050406030204" pitchFamily="18" charset="0"/>
                                </a:rPr>
                                <m:t>𝐵𝑖𝑙𝑙</m:t>
                              </m:r>
                              <m:r>
                                <a:rPr lang="en-US" i="1" dirty="0" smtClean="0">
                                  <a:latin typeface="Cambria Math" panose="02040503050406030204" pitchFamily="18" charset="0"/>
                                </a:rPr>
                                <m:t> </m:t>
                              </m:r>
                            </m:e>
                          </m:d>
                        </m:e>
                      </m:d>
                      <m:r>
                        <a:rPr lang="en-US" i="1" dirty="0" smtClean="0">
                          <a:latin typeface="Cambria Math" panose="02040503050406030204" pitchFamily="18" charset="0"/>
                        </a:rPr>
                        <m:t>= </m:t>
                      </m:r>
                      <m:d>
                        <m:dPr>
                          <m:begChr m:val="{"/>
                          <m:endChr m:val="}"/>
                          <m:ctrlPr>
                            <a:rPr lang="en-US" i="1" dirty="0" smtClean="0">
                              <a:latin typeface="Cambria Math" panose="02040503050406030204" pitchFamily="18" charset="0"/>
                            </a:rPr>
                          </m:ctrlPr>
                        </m:dPr>
                        <m:e>
                          <m:r>
                            <a:rPr lang="en-US" b="0" i="1" dirty="0" smtClean="0">
                              <a:latin typeface="Cambria Math" panose="02040503050406030204" pitchFamily="18" charset="0"/>
                            </a:rPr>
                            <m:t>𝑥</m:t>
                          </m:r>
                          <m:r>
                            <m:rPr>
                              <m:lit/>
                            </m:rPr>
                            <a:rPr lang="en-US" b="0" i="1" dirty="0" smtClean="0">
                              <a:latin typeface="Cambria Math" panose="02040503050406030204" pitchFamily="18" charset="0"/>
                            </a:rPr>
                            <m:t>/</m:t>
                          </m:r>
                          <m:r>
                            <a:rPr lang="en-US" b="0" i="1" dirty="0" smtClean="0">
                              <a:latin typeface="Cambria Math" panose="02040503050406030204" pitchFamily="18" charset="0"/>
                            </a:rPr>
                            <m:t>𝐵𝑖𝑙𝑙</m:t>
                          </m:r>
                          <m:r>
                            <a:rPr lang="en-US" i="1" dirty="0" smtClean="0">
                              <a:latin typeface="Cambria Math" panose="02040503050406030204" pitchFamily="18" charset="0"/>
                            </a:rPr>
                            <m:t>,</m:t>
                          </m:r>
                          <m:r>
                            <a:rPr lang="en-US" b="0" i="1" dirty="0" smtClean="0">
                              <a:latin typeface="Cambria Math" panose="02040503050406030204" pitchFamily="18" charset="0"/>
                            </a:rPr>
                            <m:t>𝑦</m:t>
                          </m:r>
                          <m:r>
                            <m:rPr>
                              <m:lit/>
                            </m:rPr>
                            <a:rPr lang="en-US" b="0" i="1" dirty="0" smtClean="0">
                              <a:latin typeface="Cambria Math" panose="02040503050406030204" pitchFamily="18" charset="0"/>
                            </a:rPr>
                            <m:t>/</m:t>
                          </m:r>
                          <m:r>
                            <a:rPr lang="en-US" b="0" i="1" dirty="0" smtClean="0">
                              <a:latin typeface="Cambria Math" panose="02040503050406030204" pitchFamily="18" charset="0"/>
                            </a:rPr>
                            <m:t>𝐽𝑜h𝑛</m:t>
                          </m:r>
                          <m:r>
                            <a:rPr lang="en-US" b="0" i="1" dirty="0" smtClean="0">
                              <a:latin typeface="Cambria Math" panose="02040503050406030204" pitchFamily="18" charset="0"/>
                            </a:rPr>
                            <m:t> </m:t>
                          </m:r>
                        </m:e>
                      </m:d>
                    </m:oMath>
                    <m:oMath xmlns:m="http://schemas.openxmlformats.org/officeDocument/2006/math">
                      <m:r>
                        <a:rPr lang="en-US" i="1" dirty="0" smtClean="0">
                          <a:latin typeface="Cambria Math" panose="02040503050406030204" pitchFamily="18" charset="0"/>
                        </a:rPr>
                        <m:t>𝑈𝑁𝐼𝐹𝑌</m:t>
                      </m:r>
                      <m:r>
                        <a:rPr lang="en-US" i="1" dirty="0" smtClean="0">
                          <a:latin typeface="Cambria Math" panose="02040503050406030204" pitchFamily="18" charset="0"/>
                        </a:rPr>
                        <m:t>(</m:t>
                      </m:r>
                      <m:r>
                        <a:rPr lang="en-US" i="1" dirty="0" smtClean="0">
                          <a:latin typeface="Cambria Math" panose="02040503050406030204" pitchFamily="18" charset="0"/>
                        </a:rPr>
                        <m:t>𝐾𝑛𝑜𝑤𝑠</m:t>
                      </m:r>
                      <m:r>
                        <a:rPr lang="en-US" i="1" dirty="0" smtClean="0">
                          <a:latin typeface="Cambria Math" panose="02040503050406030204" pitchFamily="18" charset="0"/>
                        </a:rPr>
                        <m:t>(</m:t>
                      </m:r>
                      <m:r>
                        <a:rPr lang="en-US" i="1" dirty="0" smtClean="0">
                          <a:latin typeface="Cambria Math" panose="02040503050406030204" pitchFamily="18" charset="0"/>
                        </a:rPr>
                        <m:t>𝐽𝑜h𝑛</m:t>
                      </m:r>
                      <m:r>
                        <a:rPr lang="en-US" i="1" dirty="0" smtClean="0">
                          <a:latin typeface="Cambria Math" panose="02040503050406030204" pitchFamily="18" charset="0"/>
                        </a:rPr>
                        <m:t>, </m:t>
                      </m:r>
                      <m:r>
                        <a:rPr lang="en-US" i="1" dirty="0" smtClean="0">
                          <a:latin typeface="Cambria Math" panose="02040503050406030204" pitchFamily="18" charset="0"/>
                        </a:rPr>
                        <m:t>𝑥</m:t>
                      </m:r>
                      <m:r>
                        <a:rPr lang="en-US" i="1" dirty="0" smtClean="0">
                          <a:latin typeface="Cambria Math" panose="02040503050406030204" pitchFamily="18" charset="0"/>
                        </a:rPr>
                        <m:t>), </m:t>
                      </m:r>
                      <m:r>
                        <a:rPr lang="en-US" i="1" dirty="0" smtClean="0">
                          <a:latin typeface="Cambria Math" panose="02040503050406030204" pitchFamily="18" charset="0"/>
                        </a:rPr>
                        <m:t>𝐾𝑛𝑜𝑤𝑠</m:t>
                      </m:r>
                      <m:r>
                        <a:rPr lang="en-US" i="1" dirty="0" smtClean="0">
                          <a:latin typeface="Cambria Math" panose="02040503050406030204" pitchFamily="18" charset="0"/>
                        </a:rPr>
                        <m:t>(</m:t>
                      </m:r>
                      <m:r>
                        <a:rPr lang="en-US" i="1" dirty="0" smtClean="0">
                          <a:latin typeface="Cambria Math" panose="02040503050406030204" pitchFamily="18" charset="0"/>
                        </a:rPr>
                        <m:t>𝑥</m:t>
                      </m:r>
                      <m:r>
                        <a:rPr lang="en-US" i="1" dirty="0" smtClean="0">
                          <a:latin typeface="Cambria Math" panose="02040503050406030204" pitchFamily="18" charset="0"/>
                        </a:rPr>
                        <m:t>, </m:t>
                      </m:r>
                      <m:r>
                        <a:rPr lang="en-US" i="1" dirty="0" smtClean="0">
                          <a:latin typeface="Cambria Math" panose="02040503050406030204" pitchFamily="18" charset="0"/>
                        </a:rPr>
                        <m:t>𝐸𝑙𝑖𝑧𝑎𝑏𝑒𝑡h</m:t>
                      </m:r>
                      <m:r>
                        <a:rPr lang="en-US" i="1" dirty="0" smtClean="0">
                          <a:latin typeface="Cambria Math" panose="02040503050406030204" pitchFamily="18" charset="0"/>
                        </a:rPr>
                        <m:t>)) = </m:t>
                      </m:r>
                      <m:r>
                        <a:rPr lang="en-US" i="1" dirty="0" smtClean="0">
                          <a:latin typeface="Cambria Math" panose="02040503050406030204" pitchFamily="18" charset="0"/>
                        </a:rPr>
                        <m:t>𝑓𝑎𝑖𝑙</m:t>
                      </m:r>
                    </m:oMath>
                  </m:oMathPara>
                </a14:m>
                <a:endParaRPr lang="en-US" dirty="0"/>
              </a:p>
            </p:txBody>
          </p:sp>
        </mc:Choice>
        <mc:Fallback xmlns="">
          <p:sp>
            <p:nvSpPr>
              <p:cNvPr id="3" name="Content Placeholder 2">
                <a:extLst>
                  <a:ext uri="{FF2B5EF4-FFF2-40B4-BE49-F238E27FC236}">
                    <a16:creationId xmlns:a16="http://schemas.microsoft.com/office/drawing/2014/main" id="{C38F8B22-8F8E-73C2-E02D-EEF9739EAC8E}"/>
                  </a:ext>
                </a:extLst>
              </p:cNvPr>
              <p:cNvSpPr>
                <a:spLocks noGrp="1" noRot="1" noChangeAspect="1" noMove="1" noResize="1" noEditPoints="1" noAdjustHandles="1" noChangeArrowheads="1" noChangeShapeType="1" noTextEdit="1"/>
              </p:cNvSpPr>
              <p:nvPr>
                <p:ph idx="1"/>
              </p:nvPr>
            </p:nvSpPr>
            <p:spPr>
              <a:blipFill>
                <a:blip r:embed="rId2"/>
                <a:stretch>
                  <a:fillRect l="-1043" t="-2381" r="-928"/>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C24DD378-0AE5-DCED-FDC2-E7FD71D2C356}"/>
              </a:ext>
            </a:extLst>
          </p:cNvPr>
          <p:cNvSpPr>
            <a:spLocks noGrp="1"/>
          </p:cNvSpPr>
          <p:nvPr>
            <p:ph type="dt" sz="half" idx="10"/>
          </p:nvPr>
        </p:nvSpPr>
        <p:spPr/>
        <p:txBody>
          <a:bodyPr/>
          <a:lstStyle/>
          <a:p>
            <a:fld id="{1332600A-A7B8-4674-AAE3-A37177B883E5}" type="datetime1">
              <a:rPr lang="en-GB" smtClean="0"/>
              <a:t>20/10/2025</a:t>
            </a:fld>
            <a:endParaRPr lang="en-GB"/>
          </a:p>
        </p:txBody>
      </p:sp>
      <p:sp>
        <p:nvSpPr>
          <p:cNvPr id="5" name="Slide Number Placeholder 4">
            <a:extLst>
              <a:ext uri="{FF2B5EF4-FFF2-40B4-BE49-F238E27FC236}">
                <a16:creationId xmlns:a16="http://schemas.microsoft.com/office/drawing/2014/main" id="{96692FE6-1E15-3597-96DA-C0ECAB13686C}"/>
              </a:ext>
            </a:extLst>
          </p:cNvPr>
          <p:cNvSpPr>
            <a:spLocks noGrp="1"/>
          </p:cNvSpPr>
          <p:nvPr>
            <p:ph type="sldNum" sz="quarter" idx="12"/>
          </p:nvPr>
        </p:nvSpPr>
        <p:spPr/>
        <p:txBody>
          <a:bodyPr/>
          <a:lstStyle/>
          <a:p>
            <a:fld id="{9EB268CF-8001-41B5-ADCD-92A7738D3D9B}" type="slidenum">
              <a:rPr lang="en-GB" smtClean="0"/>
              <a:t>16</a:t>
            </a:fld>
            <a:endParaRPr lang="en-GB"/>
          </a:p>
        </p:txBody>
      </p:sp>
    </p:spTree>
    <p:extLst>
      <p:ext uri="{BB962C8B-B14F-4D97-AF65-F5344CB8AC3E}">
        <p14:creationId xmlns:p14="http://schemas.microsoft.com/office/powerpoint/2010/main" val="27479598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17AF3B-5687-1E66-109D-8A2E1EF673CB}"/>
              </a:ext>
            </a:extLst>
          </p:cNvPr>
          <p:cNvSpPr>
            <a:spLocks noGrp="1"/>
          </p:cNvSpPr>
          <p:nvPr>
            <p:ph type="title"/>
          </p:nvPr>
        </p:nvSpPr>
        <p:spPr/>
        <p:txBody>
          <a:bodyPr/>
          <a:lstStyle/>
          <a:p>
            <a:r>
              <a:rPr lang="en-US" dirty="0"/>
              <a:t>Unification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196227F-B451-4175-3311-AD3AC7742928}"/>
                  </a:ext>
                </a:extLst>
              </p:cNvPr>
              <p:cNvSpPr>
                <a:spLocks noGrp="1"/>
              </p:cNvSpPr>
              <p:nvPr>
                <p:ph idx="1"/>
              </p:nvPr>
            </p:nvSpPr>
            <p:spPr/>
            <p:txBody>
              <a:bodyPr/>
              <a:lstStyle/>
              <a:p>
                <a:r>
                  <a:rPr lang="en-US" dirty="0"/>
                  <a:t>There could be more than one such unifier.</a:t>
                </a:r>
              </a:p>
              <a:p>
                <a14:m>
                  <m:oMath xmlns:m="http://schemas.openxmlformats.org/officeDocument/2006/math">
                    <m:r>
                      <a:rPr lang="en-US" i="1" dirty="0" smtClean="0">
                        <a:latin typeface="Cambria Math" panose="02040503050406030204" pitchFamily="18" charset="0"/>
                      </a:rPr>
                      <m:t>𝑈𝑁𝐼𝐹𝑌</m:t>
                    </m:r>
                    <m:r>
                      <a:rPr lang="en-US" i="1" dirty="0">
                        <a:latin typeface="Cambria Math" panose="02040503050406030204" pitchFamily="18" charset="0"/>
                      </a:rPr>
                      <m:t>(</m:t>
                    </m:r>
                    <m:r>
                      <a:rPr lang="en-US" i="1" dirty="0">
                        <a:latin typeface="Cambria Math" panose="02040503050406030204" pitchFamily="18" charset="0"/>
                      </a:rPr>
                      <m:t>𝐾𝑛𝑜𝑤𝑠</m:t>
                    </m:r>
                    <m:r>
                      <a:rPr lang="en-US" i="1" dirty="0">
                        <a:latin typeface="Cambria Math" panose="02040503050406030204" pitchFamily="18" charset="0"/>
                      </a:rPr>
                      <m:t>(</m:t>
                    </m:r>
                    <m:r>
                      <a:rPr lang="en-US" i="1" dirty="0">
                        <a:latin typeface="Cambria Math" panose="02040503050406030204" pitchFamily="18" charset="0"/>
                      </a:rPr>
                      <m:t>𝐽𝑜</m:t>
                    </m:r>
                    <m:r>
                      <a:rPr lang="en-US" i="1" dirty="0">
                        <a:latin typeface="Cambria Math" panose="02040503050406030204" pitchFamily="18" charset="0"/>
                      </a:rPr>
                      <m:t>h</m:t>
                    </m:r>
                    <m:r>
                      <a:rPr lang="en-US" i="1" dirty="0">
                        <a:latin typeface="Cambria Math" panose="02040503050406030204" pitchFamily="18" charset="0"/>
                      </a:rPr>
                      <m:t>𝑛</m:t>
                    </m:r>
                    <m:r>
                      <a:rPr lang="en-US" i="1" dirty="0">
                        <a:latin typeface="Cambria Math" panose="02040503050406030204" pitchFamily="18" charset="0"/>
                      </a:rPr>
                      <m:t>, </m:t>
                    </m:r>
                    <m:r>
                      <a:rPr lang="en-US" i="1" dirty="0">
                        <a:latin typeface="Cambria Math" panose="02040503050406030204" pitchFamily="18" charset="0"/>
                      </a:rPr>
                      <m:t>𝑥</m:t>
                    </m:r>
                    <m:r>
                      <a:rPr lang="en-US" i="1" dirty="0">
                        <a:latin typeface="Cambria Math" panose="02040503050406030204" pitchFamily="18" charset="0"/>
                      </a:rPr>
                      <m:t>), </m:t>
                    </m:r>
                    <m:r>
                      <a:rPr lang="en-US" i="1" dirty="0">
                        <a:latin typeface="Cambria Math" panose="02040503050406030204" pitchFamily="18" charset="0"/>
                      </a:rPr>
                      <m:t>𝐾𝑛𝑜𝑤𝑠</m:t>
                    </m:r>
                    <m:r>
                      <a:rPr lang="en-US" i="1" dirty="0">
                        <a:latin typeface="Cambria Math" panose="02040503050406030204" pitchFamily="18" charset="0"/>
                      </a:rPr>
                      <m:t>(</m:t>
                    </m:r>
                    <m:r>
                      <a:rPr lang="en-US" i="1" dirty="0">
                        <a:latin typeface="Cambria Math" panose="02040503050406030204" pitchFamily="18" charset="0"/>
                      </a:rPr>
                      <m:t>𝑦</m:t>
                    </m:r>
                    <m:r>
                      <a:rPr lang="en-US" i="1" dirty="0">
                        <a:latin typeface="Cambria Math" panose="02040503050406030204" pitchFamily="18" charset="0"/>
                      </a:rPr>
                      <m:t>, </m:t>
                    </m:r>
                    <m:r>
                      <a:rPr lang="en-US" i="1" dirty="0">
                        <a:latin typeface="Cambria Math" panose="02040503050406030204" pitchFamily="18" charset="0"/>
                      </a:rPr>
                      <m:t>𝑧</m:t>
                    </m:r>
                    <m:r>
                      <a:rPr lang="en-US" i="1" dirty="0">
                        <a:latin typeface="Cambria Math" panose="02040503050406030204" pitchFamily="18" charset="0"/>
                      </a:rPr>
                      <m:t>)) </m:t>
                    </m:r>
                  </m:oMath>
                </a14:m>
                <a:r>
                  <a:rPr lang="en-US" dirty="0"/>
                  <a:t>could return </a:t>
                </a:r>
                <a:br>
                  <a:rPr lang="en-US" dirty="0"/>
                </a:br>
                <a14:m>
                  <m:oMath xmlns:m="http://schemas.openxmlformats.org/officeDocument/2006/math">
                    <m:r>
                      <a:rPr lang="en-US" i="1" dirty="0" smtClean="0">
                        <a:latin typeface="Cambria Math" panose="02040503050406030204" pitchFamily="18" charset="0"/>
                      </a:rPr>
                      <m:t>{</m:t>
                    </m:r>
                    <m:r>
                      <a:rPr lang="en-US" i="1" dirty="0">
                        <a:latin typeface="Cambria Math" panose="02040503050406030204" pitchFamily="18" charset="0"/>
                      </a:rPr>
                      <m:t>𝑦</m:t>
                    </m:r>
                    <m:r>
                      <a:rPr lang="en-US" i="1" dirty="0">
                        <a:latin typeface="Cambria Math" panose="02040503050406030204" pitchFamily="18" charset="0"/>
                      </a:rPr>
                      <m:t>/</m:t>
                    </m:r>
                    <m:r>
                      <a:rPr lang="en-US" i="1" dirty="0">
                        <a:latin typeface="Cambria Math" panose="02040503050406030204" pitchFamily="18" charset="0"/>
                      </a:rPr>
                      <m:t>𝐽𝑜</m:t>
                    </m:r>
                    <m:r>
                      <a:rPr lang="en-US" i="1" dirty="0">
                        <a:latin typeface="Cambria Math" panose="02040503050406030204" pitchFamily="18" charset="0"/>
                      </a:rPr>
                      <m:t>h</m:t>
                    </m:r>
                    <m:r>
                      <a:rPr lang="en-US" i="1" dirty="0">
                        <a:latin typeface="Cambria Math" panose="02040503050406030204" pitchFamily="18" charset="0"/>
                      </a:rPr>
                      <m:t>𝑛</m:t>
                    </m:r>
                    <m:r>
                      <a:rPr lang="en-US" i="1" dirty="0">
                        <a:latin typeface="Cambria Math" panose="02040503050406030204" pitchFamily="18" charset="0"/>
                      </a:rPr>
                      <m:t>, </m:t>
                    </m:r>
                    <m:r>
                      <a:rPr lang="en-US" i="1" dirty="0">
                        <a:latin typeface="Cambria Math" panose="02040503050406030204" pitchFamily="18" charset="0"/>
                      </a:rPr>
                      <m:t>𝑥</m:t>
                    </m:r>
                    <m:r>
                      <a:rPr lang="en-US" i="1" dirty="0">
                        <a:latin typeface="Cambria Math" panose="02040503050406030204" pitchFamily="18" charset="0"/>
                      </a:rPr>
                      <m:t>/</m:t>
                    </m:r>
                    <m:r>
                      <a:rPr lang="en-US" i="1" dirty="0">
                        <a:latin typeface="Cambria Math" panose="02040503050406030204" pitchFamily="18" charset="0"/>
                      </a:rPr>
                      <m:t>𝑧</m:t>
                    </m:r>
                    <m:r>
                      <a:rPr lang="en-US" i="1" dirty="0">
                        <a:latin typeface="Cambria Math" panose="02040503050406030204" pitchFamily="18" charset="0"/>
                      </a:rPr>
                      <m:t>} </m:t>
                    </m:r>
                    <m:r>
                      <a:rPr lang="en-US" i="1" dirty="0">
                        <a:latin typeface="Cambria Math" panose="02040503050406030204" pitchFamily="18" charset="0"/>
                      </a:rPr>
                      <m:t>𝑜𝑟</m:t>
                    </m:r>
                    <m:r>
                      <a:rPr lang="en-US" i="1" dirty="0">
                        <a:latin typeface="Cambria Math" panose="02040503050406030204" pitchFamily="18" charset="0"/>
                      </a:rPr>
                      <m:t>{</m:t>
                    </m:r>
                    <m:r>
                      <a:rPr lang="en-US" i="1" dirty="0">
                        <a:latin typeface="Cambria Math" panose="02040503050406030204" pitchFamily="18" charset="0"/>
                      </a:rPr>
                      <m:t>𝑦</m:t>
                    </m:r>
                    <m:r>
                      <a:rPr lang="en-US" i="1" dirty="0">
                        <a:latin typeface="Cambria Math" panose="02040503050406030204" pitchFamily="18" charset="0"/>
                      </a:rPr>
                      <m:t>/</m:t>
                    </m:r>
                    <m:r>
                      <a:rPr lang="en-US" i="1" dirty="0">
                        <a:latin typeface="Cambria Math" panose="02040503050406030204" pitchFamily="18" charset="0"/>
                      </a:rPr>
                      <m:t>𝐽𝑜</m:t>
                    </m:r>
                    <m:r>
                      <a:rPr lang="en-US" i="1" dirty="0">
                        <a:latin typeface="Cambria Math" panose="02040503050406030204" pitchFamily="18" charset="0"/>
                      </a:rPr>
                      <m:t>h</m:t>
                    </m:r>
                    <m:r>
                      <a:rPr lang="en-US" i="1" dirty="0">
                        <a:latin typeface="Cambria Math" panose="02040503050406030204" pitchFamily="18" charset="0"/>
                      </a:rPr>
                      <m:t>𝑛</m:t>
                    </m:r>
                    <m:r>
                      <a:rPr lang="en-US" i="1" dirty="0">
                        <a:latin typeface="Cambria Math" panose="02040503050406030204" pitchFamily="18" charset="0"/>
                      </a:rPr>
                      <m:t>, </m:t>
                    </m:r>
                    <m:r>
                      <a:rPr lang="en-US" i="1" dirty="0">
                        <a:latin typeface="Cambria Math" panose="02040503050406030204" pitchFamily="18" charset="0"/>
                      </a:rPr>
                      <m:t>𝑥</m:t>
                    </m:r>
                    <m:r>
                      <a:rPr lang="en-US" i="1" dirty="0">
                        <a:latin typeface="Cambria Math" panose="02040503050406030204" pitchFamily="18" charset="0"/>
                      </a:rPr>
                      <m:t>/</m:t>
                    </m:r>
                    <m:r>
                      <a:rPr lang="en-US" i="1" dirty="0">
                        <a:latin typeface="Cambria Math" panose="02040503050406030204" pitchFamily="18" charset="0"/>
                      </a:rPr>
                      <m:t>𝐽𝑜</m:t>
                    </m:r>
                    <m:r>
                      <a:rPr lang="en-US" i="1" dirty="0">
                        <a:latin typeface="Cambria Math" panose="02040503050406030204" pitchFamily="18" charset="0"/>
                      </a:rPr>
                      <m:t>h</m:t>
                    </m:r>
                    <m:r>
                      <a:rPr lang="en-US" i="1" dirty="0">
                        <a:latin typeface="Cambria Math" panose="02040503050406030204" pitchFamily="18" charset="0"/>
                      </a:rPr>
                      <m:t>𝑛</m:t>
                    </m:r>
                    <m:r>
                      <a:rPr lang="en-US" i="1" dirty="0">
                        <a:latin typeface="Cambria Math" panose="02040503050406030204" pitchFamily="18" charset="0"/>
                      </a:rPr>
                      <m:t>, </m:t>
                    </m:r>
                    <m:r>
                      <a:rPr lang="en-US" i="1" dirty="0">
                        <a:latin typeface="Cambria Math" panose="02040503050406030204" pitchFamily="18" charset="0"/>
                      </a:rPr>
                      <m:t>𝑧</m:t>
                    </m:r>
                    <m:r>
                      <a:rPr lang="en-US" i="1" dirty="0">
                        <a:latin typeface="Cambria Math" panose="02040503050406030204" pitchFamily="18" charset="0"/>
                      </a:rPr>
                      <m:t>/</m:t>
                    </m:r>
                    <m:r>
                      <a:rPr lang="en-US" i="1" dirty="0">
                        <a:latin typeface="Cambria Math" panose="02040503050406030204" pitchFamily="18" charset="0"/>
                      </a:rPr>
                      <m:t>𝐽𝑜</m:t>
                    </m:r>
                    <m:r>
                      <a:rPr lang="en-US" i="1" dirty="0">
                        <a:latin typeface="Cambria Math" panose="02040503050406030204" pitchFamily="18" charset="0"/>
                      </a:rPr>
                      <m:t>h</m:t>
                    </m:r>
                    <m:r>
                      <a:rPr lang="en-US" i="1" dirty="0">
                        <a:latin typeface="Cambria Math" panose="02040503050406030204" pitchFamily="18" charset="0"/>
                      </a:rPr>
                      <m:t>𝑛</m:t>
                    </m:r>
                    <m:r>
                      <a:rPr lang="en-US" i="1" dirty="0">
                        <a:latin typeface="Cambria Math" panose="02040503050406030204" pitchFamily="18" charset="0"/>
                      </a:rPr>
                      <m:t>}</m:t>
                    </m:r>
                  </m:oMath>
                </a14:m>
                <a:endParaRPr lang="en-US" dirty="0"/>
              </a:p>
              <a:p>
                <a:r>
                  <a:rPr lang="en-US" dirty="0"/>
                  <a:t>The first unifier gives </a:t>
                </a:r>
                <a14:m>
                  <m:oMath xmlns:m="http://schemas.openxmlformats.org/officeDocument/2006/math">
                    <m:r>
                      <a:rPr lang="en-US" i="1" dirty="0" smtClean="0">
                        <a:latin typeface="Cambria Math" panose="02040503050406030204" pitchFamily="18" charset="0"/>
                      </a:rPr>
                      <m:t>𝐾𝑛𝑜𝑤𝑠</m:t>
                    </m:r>
                    <m:r>
                      <a:rPr lang="en-US" i="1" dirty="0" smtClean="0">
                        <a:latin typeface="Cambria Math" panose="02040503050406030204" pitchFamily="18" charset="0"/>
                      </a:rPr>
                      <m:t>(</m:t>
                    </m:r>
                    <m:r>
                      <a:rPr lang="en-US" i="1" dirty="0" smtClean="0">
                        <a:latin typeface="Cambria Math" panose="02040503050406030204" pitchFamily="18" charset="0"/>
                      </a:rPr>
                      <m:t>𝐽𝑜</m:t>
                    </m:r>
                    <m:r>
                      <a:rPr lang="en-US" i="1" dirty="0" smtClean="0">
                        <a:latin typeface="Cambria Math" panose="02040503050406030204" pitchFamily="18" charset="0"/>
                      </a:rPr>
                      <m:t>h</m:t>
                    </m:r>
                    <m:r>
                      <a:rPr lang="en-US" i="1" dirty="0" smtClean="0">
                        <a:latin typeface="Cambria Math" panose="02040503050406030204" pitchFamily="18" charset="0"/>
                      </a:rPr>
                      <m:t>𝑛</m:t>
                    </m:r>
                    <m:r>
                      <a:rPr lang="en-US" i="1" dirty="0" smtClean="0">
                        <a:latin typeface="Cambria Math" panose="02040503050406030204" pitchFamily="18" charset="0"/>
                      </a:rPr>
                      <m:t>, </m:t>
                    </m:r>
                    <m:r>
                      <a:rPr lang="en-US" i="1" dirty="0" smtClean="0">
                        <a:latin typeface="Cambria Math" panose="02040503050406030204" pitchFamily="18" charset="0"/>
                      </a:rPr>
                      <m:t>𝑧</m:t>
                    </m:r>
                    <m:r>
                      <a:rPr lang="en-US" i="1" dirty="0" smtClean="0">
                        <a:latin typeface="Cambria Math" panose="02040503050406030204" pitchFamily="18" charset="0"/>
                      </a:rPr>
                      <m:t>)</m:t>
                    </m:r>
                  </m:oMath>
                </a14:m>
                <a:r>
                  <a:rPr lang="en-US" dirty="0"/>
                  <a:t> as the result of unification, whereas the second gives </a:t>
                </a:r>
                <a14:m>
                  <m:oMath xmlns:m="http://schemas.openxmlformats.org/officeDocument/2006/math">
                    <m:r>
                      <a:rPr lang="en-US" i="1" dirty="0" smtClean="0">
                        <a:latin typeface="Cambria Math" panose="02040503050406030204" pitchFamily="18" charset="0"/>
                      </a:rPr>
                      <m:t>𝐾𝑛𝑜𝑤𝑠</m:t>
                    </m:r>
                    <m:r>
                      <a:rPr lang="en-US" i="1" dirty="0" smtClean="0">
                        <a:latin typeface="Cambria Math" panose="02040503050406030204" pitchFamily="18" charset="0"/>
                      </a:rPr>
                      <m:t>(</m:t>
                    </m:r>
                    <m:r>
                      <a:rPr lang="en-US" i="1" dirty="0" smtClean="0">
                        <a:latin typeface="Cambria Math" panose="02040503050406030204" pitchFamily="18" charset="0"/>
                      </a:rPr>
                      <m:t>𝐽𝑜</m:t>
                    </m:r>
                    <m:r>
                      <a:rPr lang="en-US" i="1" dirty="0" smtClean="0">
                        <a:latin typeface="Cambria Math" panose="02040503050406030204" pitchFamily="18" charset="0"/>
                      </a:rPr>
                      <m:t>h</m:t>
                    </m:r>
                    <m:r>
                      <a:rPr lang="en-US" i="1" dirty="0" smtClean="0">
                        <a:latin typeface="Cambria Math" panose="02040503050406030204" pitchFamily="18" charset="0"/>
                      </a:rPr>
                      <m:t>𝑛</m:t>
                    </m:r>
                    <m:r>
                      <a:rPr lang="en-US" i="1" dirty="0" smtClean="0">
                        <a:latin typeface="Cambria Math" panose="02040503050406030204" pitchFamily="18" charset="0"/>
                      </a:rPr>
                      <m:t>, </m:t>
                    </m:r>
                    <m:r>
                      <a:rPr lang="en-US" i="1" dirty="0" smtClean="0">
                        <a:latin typeface="Cambria Math" panose="02040503050406030204" pitchFamily="18" charset="0"/>
                      </a:rPr>
                      <m:t>𝐽𝑜</m:t>
                    </m:r>
                    <m:r>
                      <a:rPr lang="en-US" i="1" dirty="0" smtClean="0">
                        <a:latin typeface="Cambria Math" panose="02040503050406030204" pitchFamily="18" charset="0"/>
                      </a:rPr>
                      <m:t>h</m:t>
                    </m:r>
                    <m:r>
                      <a:rPr lang="en-US" i="1" dirty="0" smtClean="0">
                        <a:latin typeface="Cambria Math" panose="02040503050406030204" pitchFamily="18" charset="0"/>
                      </a:rPr>
                      <m:t>𝑛</m:t>
                    </m:r>
                    <m:r>
                      <a:rPr lang="en-US" i="1" dirty="0" smtClean="0">
                        <a:latin typeface="Cambria Math" panose="02040503050406030204" pitchFamily="18" charset="0"/>
                      </a:rPr>
                      <m:t>)</m:t>
                    </m:r>
                  </m:oMath>
                </a14:m>
                <a:r>
                  <a:rPr lang="en-US" dirty="0"/>
                  <a:t>.</a:t>
                </a:r>
              </a:p>
              <a:p>
                <a:r>
                  <a:rPr lang="en-US" dirty="0"/>
                  <a:t>The first unifier is more general than the second.</a:t>
                </a:r>
              </a:p>
              <a:p>
                <a:pPr lvl="1"/>
                <a:r>
                  <a:rPr lang="en-US" dirty="0"/>
                  <a:t>It places fewer restrictions on the values of the variables.</a:t>
                </a:r>
              </a:p>
            </p:txBody>
          </p:sp>
        </mc:Choice>
        <mc:Fallback xmlns="">
          <p:sp>
            <p:nvSpPr>
              <p:cNvPr id="3" name="Content Placeholder 2">
                <a:extLst>
                  <a:ext uri="{FF2B5EF4-FFF2-40B4-BE49-F238E27FC236}">
                    <a16:creationId xmlns:a16="http://schemas.microsoft.com/office/drawing/2014/main" id="{3196227F-B451-4175-3311-AD3AC7742928}"/>
                  </a:ext>
                </a:extLst>
              </p:cNvPr>
              <p:cNvSpPr>
                <a:spLocks noGrp="1" noRot="1" noChangeAspect="1" noMove="1" noResize="1" noEditPoints="1" noAdjustHandles="1" noChangeArrowheads="1" noChangeShapeType="1" noTextEdit="1"/>
              </p:cNvSpPr>
              <p:nvPr>
                <p:ph idx="1"/>
              </p:nvPr>
            </p:nvSpPr>
            <p:spPr>
              <a:blipFill>
                <a:blip r:embed="rId2"/>
                <a:stretch>
                  <a:fillRect l="-1043" t="-2381" r="-1449"/>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55E2D5F8-B8A6-FDA5-6D25-FB324E57092C}"/>
              </a:ext>
            </a:extLst>
          </p:cNvPr>
          <p:cNvSpPr>
            <a:spLocks noGrp="1"/>
          </p:cNvSpPr>
          <p:nvPr>
            <p:ph type="dt" sz="half" idx="10"/>
          </p:nvPr>
        </p:nvSpPr>
        <p:spPr/>
        <p:txBody>
          <a:bodyPr/>
          <a:lstStyle/>
          <a:p>
            <a:fld id="{1332600A-A7B8-4674-AAE3-A37177B883E5}" type="datetime1">
              <a:rPr lang="en-GB" smtClean="0"/>
              <a:t>20/10/2025</a:t>
            </a:fld>
            <a:endParaRPr lang="en-GB"/>
          </a:p>
        </p:txBody>
      </p:sp>
      <p:sp>
        <p:nvSpPr>
          <p:cNvPr id="5" name="Slide Number Placeholder 4">
            <a:extLst>
              <a:ext uri="{FF2B5EF4-FFF2-40B4-BE49-F238E27FC236}">
                <a16:creationId xmlns:a16="http://schemas.microsoft.com/office/drawing/2014/main" id="{C5171063-374B-0E1C-B336-D7EEBF237FD2}"/>
              </a:ext>
            </a:extLst>
          </p:cNvPr>
          <p:cNvSpPr>
            <a:spLocks noGrp="1"/>
          </p:cNvSpPr>
          <p:nvPr>
            <p:ph type="sldNum" sz="quarter" idx="12"/>
          </p:nvPr>
        </p:nvSpPr>
        <p:spPr/>
        <p:txBody>
          <a:bodyPr/>
          <a:lstStyle/>
          <a:p>
            <a:fld id="{9EB268CF-8001-41B5-ADCD-92A7738D3D9B}" type="slidenum">
              <a:rPr lang="en-GB" smtClean="0"/>
              <a:t>17</a:t>
            </a:fld>
            <a:endParaRPr lang="en-GB"/>
          </a:p>
        </p:txBody>
      </p:sp>
    </p:spTree>
    <p:extLst>
      <p:ext uri="{BB962C8B-B14F-4D97-AF65-F5344CB8AC3E}">
        <p14:creationId xmlns:p14="http://schemas.microsoft.com/office/powerpoint/2010/main" val="4487839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fade">
                                      <p:cBhvr>
                                        <p:cTn id="25"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8EB713-C1FC-F677-7AFB-B9CA48E00924}"/>
              </a:ext>
            </a:extLst>
          </p:cNvPr>
          <p:cNvSpPr>
            <a:spLocks noGrp="1"/>
          </p:cNvSpPr>
          <p:nvPr>
            <p:ph type="title"/>
          </p:nvPr>
        </p:nvSpPr>
        <p:spPr/>
        <p:txBody>
          <a:bodyPr/>
          <a:lstStyle/>
          <a:p>
            <a:r>
              <a:rPr lang="en-US" dirty="0"/>
              <a:t>The unification algorithm</a:t>
            </a:r>
          </a:p>
        </p:txBody>
      </p:sp>
      <p:pic>
        <p:nvPicPr>
          <p:cNvPr id="7" name="Content Placeholder 6">
            <a:extLst>
              <a:ext uri="{FF2B5EF4-FFF2-40B4-BE49-F238E27FC236}">
                <a16:creationId xmlns:a16="http://schemas.microsoft.com/office/drawing/2014/main" id="{0953027A-B527-C273-FF53-CAA878DA0F09}"/>
              </a:ext>
            </a:extLst>
          </p:cNvPr>
          <p:cNvPicPr>
            <a:picLocks noGrp="1" noChangeAspect="1"/>
          </p:cNvPicPr>
          <p:nvPr>
            <p:ph idx="1"/>
          </p:nvPr>
        </p:nvPicPr>
        <p:blipFill>
          <a:blip r:embed="rId2"/>
          <a:stretch>
            <a:fillRect/>
          </a:stretch>
        </p:blipFill>
        <p:spPr>
          <a:xfrm>
            <a:off x="2961837" y="1957896"/>
            <a:ext cx="6268325" cy="4086795"/>
          </a:xfrm>
          <a:prstGeom prst="rect">
            <a:avLst/>
          </a:prstGeom>
        </p:spPr>
      </p:pic>
      <p:sp>
        <p:nvSpPr>
          <p:cNvPr id="4" name="Date Placeholder 3">
            <a:extLst>
              <a:ext uri="{FF2B5EF4-FFF2-40B4-BE49-F238E27FC236}">
                <a16:creationId xmlns:a16="http://schemas.microsoft.com/office/drawing/2014/main" id="{B990049B-185B-1E61-6DD4-E4458BB69C8C}"/>
              </a:ext>
            </a:extLst>
          </p:cNvPr>
          <p:cNvSpPr>
            <a:spLocks noGrp="1"/>
          </p:cNvSpPr>
          <p:nvPr>
            <p:ph type="dt" sz="half" idx="10"/>
          </p:nvPr>
        </p:nvSpPr>
        <p:spPr/>
        <p:txBody>
          <a:bodyPr/>
          <a:lstStyle/>
          <a:p>
            <a:fld id="{1332600A-A7B8-4674-AAE3-A37177B883E5}" type="datetime1">
              <a:rPr lang="en-GB" smtClean="0"/>
              <a:t>20/10/2025</a:t>
            </a:fld>
            <a:endParaRPr lang="en-GB"/>
          </a:p>
        </p:txBody>
      </p:sp>
      <p:sp>
        <p:nvSpPr>
          <p:cNvPr id="5" name="Slide Number Placeholder 4">
            <a:extLst>
              <a:ext uri="{FF2B5EF4-FFF2-40B4-BE49-F238E27FC236}">
                <a16:creationId xmlns:a16="http://schemas.microsoft.com/office/drawing/2014/main" id="{2517BB41-67EA-9F3D-3734-719B18576087}"/>
              </a:ext>
            </a:extLst>
          </p:cNvPr>
          <p:cNvSpPr>
            <a:spLocks noGrp="1"/>
          </p:cNvSpPr>
          <p:nvPr>
            <p:ph type="sldNum" sz="quarter" idx="12"/>
          </p:nvPr>
        </p:nvSpPr>
        <p:spPr/>
        <p:txBody>
          <a:bodyPr/>
          <a:lstStyle/>
          <a:p>
            <a:fld id="{9EB268CF-8001-41B5-ADCD-92A7738D3D9B}" type="slidenum">
              <a:rPr lang="en-GB" smtClean="0"/>
              <a:t>18</a:t>
            </a:fld>
            <a:endParaRPr lang="en-GB"/>
          </a:p>
        </p:txBody>
      </p:sp>
    </p:spTree>
    <p:extLst>
      <p:ext uri="{BB962C8B-B14F-4D97-AF65-F5344CB8AC3E}">
        <p14:creationId xmlns:p14="http://schemas.microsoft.com/office/powerpoint/2010/main" val="1674484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BA0EC4-E2FD-C01A-895D-FD1DAB1CEA8E}"/>
              </a:ext>
            </a:extLst>
          </p:cNvPr>
          <p:cNvSpPr>
            <a:spLocks noGrp="1"/>
          </p:cNvSpPr>
          <p:nvPr>
            <p:ph type="title"/>
          </p:nvPr>
        </p:nvSpPr>
        <p:spPr/>
        <p:txBody>
          <a:bodyPr/>
          <a:lstStyle/>
          <a:p>
            <a:r>
              <a:rPr lang="en-US" dirty="0"/>
              <a:t>Forward Chaining</a:t>
            </a:r>
          </a:p>
        </p:txBody>
      </p:sp>
      <p:sp>
        <p:nvSpPr>
          <p:cNvPr id="3" name="Content Placeholder 2">
            <a:extLst>
              <a:ext uri="{FF2B5EF4-FFF2-40B4-BE49-F238E27FC236}">
                <a16:creationId xmlns:a16="http://schemas.microsoft.com/office/drawing/2014/main" id="{54E6F97E-94D6-0FFE-D3A4-C24CDF9273EA}"/>
              </a:ext>
            </a:extLst>
          </p:cNvPr>
          <p:cNvSpPr>
            <a:spLocks noGrp="1"/>
          </p:cNvSpPr>
          <p:nvPr>
            <p:ph idx="1"/>
          </p:nvPr>
        </p:nvSpPr>
        <p:spPr/>
        <p:txBody>
          <a:bodyPr/>
          <a:lstStyle/>
          <a:p>
            <a:r>
              <a:rPr lang="en-US" dirty="0"/>
              <a:t>In propositional logic</a:t>
            </a:r>
            <a:br>
              <a:rPr lang="en-US" dirty="0"/>
            </a:br>
            <a:r>
              <a:rPr lang="en-US" dirty="0"/>
              <a:t>Start with the atomic sentences in the knowledge base and apply Modus Ponens in the forward direction, adding new atomic sentences, until no further inferences can be made.</a:t>
            </a:r>
          </a:p>
        </p:txBody>
      </p:sp>
      <p:sp>
        <p:nvSpPr>
          <p:cNvPr id="4" name="Date Placeholder 3">
            <a:extLst>
              <a:ext uri="{FF2B5EF4-FFF2-40B4-BE49-F238E27FC236}">
                <a16:creationId xmlns:a16="http://schemas.microsoft.com/office/drawing/2014/main" id="{EAE3F35B-508F-736A-D5C1-F9DBDAE5E183}"/>
              </a:ext>
            </a:extLst>
          </p:cNvPr>
          <p:cNvSpPr>
            <a:spLocks noGrp="1"/>
          </p:cNvSpPr>
          <p:nvPr>
            <p:ph type="dt" sz="half" idx="10"/>
          </p:nvPr>
        </p:nvSpPr>
        <p:spPr/>
        <p:txBody>
          <a:bodyPr/>
          <a:lstStyle/>
          <a:p>
            <a:fld id="{1332600A-A7B8-4674-AAE3-A37177B883E5}" type="datetime1">
              <a:rPr lang="en-GB" smtClean="0"/>
              <a:t>20/10/2025</a:t>
            </a:fld>
            <a:endParaRPr lang="en-GB"/>
          </a:p>
        </p:txBody>
      </p:sp>
      <p:sp>
        <p:nvSpPr>
          <p:cNvPr id="5" name="Slide Number Placeholder 4">
            <a:extLst>
              <a:ext uri="{FF2B5EF4-FFF2-40B4-BE49-F238E27FC236}">
                <a16:creationId xmlns:a16="http://schemas.microsoft.com/office/drawing/2014/main" id="{3258D20A-BD22-87FF-8B6C-7CFDE8DE9FAD}"/>
              </a:ext>
            </a:extLst>
          </p:cNvPr>
          <p:cNvSpPr>
            <a:spLocks noGrp="1"/>
          </p:cNvSpPr>
          <p:nvPr>
            <p:ph type="sldNum" sz="quarter" idx="12"/>
          </p:nvPr>
        </p:nvSpPr>
        <p:spPr/>
        <p:txBody>
          <a:bodyPr/>
          <a:lstStyle/>
          <a:p>
            <a:fld id="{9EB268CF-8001-41B5-ADCD-92A7738D3D9B}" type="slidenum">
              <a:rPr lang="en-GB" smtClean="0"/>
              <a:t>19</a:t>
            </a:fld>
            <a:endParaRPr lang="en-GB"/>
          </a:p>
        </p:txBody>
      </p:sp>
    </p:spTree>
    <p:extLst>
      <p:ext uri="{BB962C8B-B14F-4D97-AF65-F5344CB8AC3E}">
        <p14:creationId xmlns:p14="http://schemas.microsoft.com/office/powerpoint/2010/main" val="35067429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039A40-74AE-3C22-334D-B5689844396D}"/>
              </a:ext>
            </a:extLst>
          </p:cNvPr>
          <p:cNvSpPr>
            <a:spLocks noGrp="1"/>
          </p:cNvSpPr>
          <p:nvPr>
            <p:ph type="title"/>
          </p:nvPr>
        </p:nvSpPr>
        <p:spPr/>
        <p:txBody>
          <a:bodyPr/>
          <a:lstStyle/>
          <a:p>
            <a:r>
              <a:rPr lang="en-US" dirty="0"/>
              <a:t>First-order definite clauses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08EDE7F-B2FE-D5DC-A4A9-5D84FA7E659F}"/>
                  </a:ext>
                </a:extLst>
              </p:cNvPr>
              <p:cNvSpPr>
                <a:spLocks noGrp="1"/>
              </p:cNvSpPr>
              <p:nvPr>
                <p:ph idx="1"/>
              </p:nvPr>
            </p:nvSpPr>
            <p:spPr/>
            <p:txBody>
              <a:bodyPr/>
              <a:lstStyle/>
              <a:p>
                <a:r>
                  <a:rPr lang="en-US" dirty="0"/>
                  <a:t>Closely resemble propositional definite clauses.</a:t>
                </a:r>
              </a:p>
              <a:p>
                <a:r>
                  <a:rPr lang="en-US" dirty="0"/>
                  <a:t>A definite clause either is </a:t>
                </a:r>
                <a:r>
                  <a:rPr lang="en-US" b="1" dirty="0"/>
                  <a:t>atomic</a:t>
                </a:r>
                <a:r>
                  <a:rPr lang="en-US" dirty="0"/>
                  <a:t> or is an </a:t>
                </a:r>
                <a:r>
                  <a:rPr lang="en-US" b="1" dirty="0"/>
                  <a:t>implication</a:t>
                </a:r>
                <a:r>
                  <a:rPr lang="en-US" dirty="0"/>
                  <a:t> whose </a:t>
                </a:r>
                <a:r>
                  <a:rPr lang="en-US" b="1" dirty="0"/>
                  <a:t>antecedent</a:t>
                </a:r>
                <a:r>
                  <a:rPr lang="en-US" dirty="0"/>
                  <a:t> is a conjunction of positive literals and whose </a:t>
                </a:r>
                <a:r>
                  <a:rPr lang="en-US" b="1" dirty="0"/>
                  <a:t>consequent</a:t>
                </a:r>
                <a:r>
                  <a:rPr lang="en-US" dirty="0"/>
                  <a:t> is a </a:t>
                </a:r>
                <a:r>
                  <a:rPr lang="en-US" b="1" dirty="0"/>
                  <a:t>single positive literal</a:t>
                </a:r>
                <a:r>
                  <a:rPr lang="en-US" dirty="0"/>
                  <a:t>.</a:t>
                </a:r>
                <a:br>
                  <a:rPr lang="en-US" dirty="0"/>
                </a:br>
                <a14:m>
                  <m:oMath xmlns:m="http://schemas.openxmlformats.org/officeDocument/2006/math">
                    <m:r>
                      <a:rPr lang="en-US" i="1" dirty="0" smtClean="0">
                        <a:latin typeface="Cambria Math" panose="02040503050406030204" pitchFamily="18" charset="0"/>
                      </a:rPr>
                      <m:t>𝐾𝑖𝑛𝑔</m:t>
                    </m:r>
                    <m:r>
                      <a:rPr lang="en-US" i="1" dirty="0" smtClean="0">
                        <a:latin typeface="Cambria Math" panose="02040503050406030204" pitchFamily="18" charset="0"/>
                      </a:rPr>
                      <m:t>(</m:t>
                    </m:r>
                    <m:r>
                      <a:rPr lang="en-US" i="1" dirty="0" smtClean="0">
                        <a:latin typeface="Cambria Math" panose="02040503050406030204" pitchFamily="18" charset="0"/>
                      </a:rPr>
                      <m:t>𝑥</m:t>
                    </m:r>
                    <m:r>
                      <a:rPr lang="en-US" i="1" dirty="0" smtClean="0">
                        <a:latin typeface="Cambria Math" panose="02040503050406030204" pitchFamily="18" charset="0"/>
                      </a:rPr>
                      <m:t>) ∧ </m:t>
                    </m:r>
                    <m:r>
                      <a:rPr lang="en-US" i="1" dirty="0" smtClean="0">
                        <a:latin typeface="Cambria Math" panose="02040503050406030204" pitchFamily="18" charset="0"/>
                      </a:rPr>
                      <m:t>𝐺𝑟𝑒𝑒𝑑𝑦</m:t>
                    </m:r>
                    <m:r>
                      <a:rPr lang="en-US" i="1" dirty="0" smtClean="0">
                        <a:latin typeface="Cambria Math" panose="02040503050406030204" pitchFamily="18" charset="0"/>
                      </a:rPr>
                      <m:t> (</m:t>
                    </m:r>
                    <m:r>
                      <a:rPr lang="en-US" i="1" dirty="0" smtClean="0">
                        <a:latin typeface="Cambria Math" panose="02040503050406030204" pitchFamily="18" charset="0"/>
                      </a:rPr>
                      <m:t>𝑥</m:t>
                    </m:r>
                    <m:r>
                      <a:rPr lang="en-US" i="1" dirty="0" smtClean="0">
                        <a:latin typeface="Cambria Math" panose="02040503050406030204" pitchFamily="18" charset="0"/>
                      </a:rPr>
                      <m:t>) ⇒ </m:t>
                    </m:r>
                    <m:r>
                      <a:rPr lang="en-US" i="1" dirty="0" smtClean="0">
                        <a:latin typeface="Cambria Math" panose="02040503050406030204" pitchFamily="18" charset="0"/>
                      </a:rPr>
                      <m:t>𝐸𝑣𝑖𝑙</m:t>
                    </m:r>
                    <m:r>
                      <a:rPr lang="en-US" i="1" dirty="0" smtClean="0">
                        <a:latin typeface="Cambria Math" panose="02040503050406030204" pitchFamily="18" charset="0"/>
                      </a:rPr>
                      <m:t>(</m:t>
                    </m:r>
                    <m:r>
                      <a:rPr lang="en-US" i="1" dirty="0" smtClean="0">
                        <a:latin typeface="Cambria Math" panose="02040503050406030204" pitchFamily="18" charset="0"/>
                      </a:rPr>
                      <m:t>𝑥</m:t>
                    </m:r>
                    <m:r>
                      <a:rPr lang="en-US" i="1" dirty="0" smtClean="0">
                        <a:latin typeface="Cambria Math" panose="02040503050406030204" pitchFamily="18" charset="0"/>
                      </a:rPr>
                      <m:t>) </m:t>
                    </m:r>
                  </m:oMath>
                </a14:m>
                <a:br>
                  <a:rPr lang="en-US" dirty="0"/>
                </a:br>
                <a14:m>
                  <m:oMath xmlns:m="http://schemas.openxmlformats.org/officeDocument/2006/math">
                    <m:r>
                      <a:rPr lang="en-US" i="1" dirty="0" smtClean="0">
                        <a:latin typeface="Cambria Math" panose="02040503050406030204" pitchFamily="18" charset="0"/>
                      </a:rPr>
                      <m:t>𝐾𝑖𝑛𝑔</m:t>
                    </m:r>
                    <m:r>
                      <a:rPr lang="en-US" i="1" dirty="0">
                        <a:latin typeface="Cambria Math" panose="02040503050406030204" pitchFamily="18" charset="0"/>
                      </a:rPr>
                      <m:t>(</m:t>
                    </m:r>
                    <m:r>
                      <a:rPr lang="en-US" i="1" dirty="0">
                        <a:latin typeface="Cambria Math" panose="02040503050406030204" pitchFamily="18" charset="0"/>
                      </a:rPr>
                      <m:t>𝐽𝑜</m:t>
                    </m:r>
                    <m:r>
                      <a:rPr lang="en-US" i="1" dirty="0">
                        <a:latin typeface="Cambria Math" panose="02040503050406030204" pitchFamily="18" charset="0"/>
                      </a:rPr>
                      <m:t>h</m:t>
                    </m:r>
                    <m:r>
                      <a:rPr lang="en-US" i="1" dirty="0">
                        <a:latin typeface="Cambria Math" panose="02040503050406030204" pitchFamily="18" charset="0"/>
                      </a:rPr>
                      <m:t>𝑛</m:t>
                    </m:r>
                    <m:r>
                      <a:rPr lang="en-US" i="1" dirty="0">
                        <a:latin typeface="Cambria Math" panose="02040503050406030204" pitchFamily="18" charset="0"/>
                      </a:rPr>
                      <m:t>) </m:t>
                    </m:r>
                  </m:oMath>
                </a14:m>
                <a:br>
                  <a:rPr lang="en-US" dirty="0"/>
                </a:br>
                <a14:m>
                  <m:oMath xmlns:m="http://schemas.openxmlformats.org/officeDocument/2006/math">
                    <m:r>
                      <a:rPr lang="en-US" i="1" dirty="0" smtClean="0">
                        <a:latin typeface="Cambria Math" panose="02040503050406030204" pitchFamily="18" charset="0"/>
                      </a:rPr>
                      <m:t>𝐺𝑟𝑒𝑒𝑑𝑦</m:t>
                    </m:r>
                    <m:r>
                      <a:rPr lang="en-US" i="1" dirty="0" smtClean="0">
                        <a:latin typeface="Cambria Math" panose="02040503050406030204" pitchFamily="18" charset="0"/>
                      </a:rPr>
                      <m:t> (</m:t>
                    </m:r>
                    <m:r>
                      <a:rPr lang="en-US" i="1" dirty="0">
                        <a:latin typeface="Cambria Math" panose="02040503050406030204" pitchFamily="18" charset="0"/>
                      </a:rPr>
                      <m:t>𝑦</m:t>
                    </m:r>
                    <m:r>
                      <a:rPr lang="en-US" i="1" dirty="0">
                        <a:latin typeface="Cambria Math" panose="02040503050406030204" pitchFamily="18" charset="0"/>
                      </a:rPr>
                      <m:t>) </m:t>
                    </m:r>
                  </m:oMath>
                </a14:m>
                <a:endParaRPr lang="en-US" dirty="0"/>
              </a:p>
            </p:txBody>
          </p:sp>
        </mc:Choice>
        <mc:Fallback xmlns="">
          <p:sp>
            <p:nvSpPr>
              <p:cNvPr id="3" name="Content Placeholder 2">
                <a:extLst>
                  <a:ext uri="{FF2B5EF4-FFF2-40B4-BE49-F238E27FC236}">
                    <a16:creationId xmlns:a16="http://schemas.microsoft.com/office/drawing/2014/main" id="{708EDE7F-B2FE-D5DC-A4A9-5D84FA7E659F}"/>
                  </a:ext>
                </a:extLst>
              </p:cNvPr>
              <p:cNvSpPr>
                <a:spLocks noGrp="1" noRot="1" noChangeAspect="1" noMove="1" noResize="1" noEditPoints="1" noAdjustHandles="1" noChangeArrowheads="1" noChangeShapeType="1" noTextEdit="1"/>
              </p:cNvSpPr>
              <p:nvPr>
                <p:ph idx="1"/>
              </p:nvPr>
            </p:nvSpPr>
            <p:spPr>
              <a:blipFill>
                <a:blip r:embed="rId2"/>
                <a:stretch>
                  <a:fillRect l="-1043" t="-2381"/>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EE6AF5F6-546C-A1F1-DC36-AAA1797B9EC5}"/>
              </a:ext>
            </a:extLst>
          </p:cNvPr>
          <p:cNvSpPr>
            <a:spLocks noGrp="1"/>
          </p:cNvSpPr>
          <p:nvPr>
            <p:ph type="dt" sz="half" idx="10"/>
          </p:nvPr>
        </p:nvSpPr>
        <p:spPr/>
        <p:txBody>
          <a:bodyPr/>
          <a:lstStyle/>
          <a:p>
            <a:fld id="{1332600A-A7B8-4674-AAE3-A37177B883E5}" type="datetime1">
              <a:rPr lang="en-GB" smtClean="0"/>
              <a:t>20/10/2025</a:t>
            </a:fld>
            <a:endParaRPr lang="en-GB"/>
          </a:p>
        </p:txBody>
      </p:sp>
      <p:sp>
        <p:nvSpPr>
          <p:cNvPr id="5" name="Slide Number Placeholder 4">
            <a:extLst>
              <a:ext uri="{FF2B5EF4-FFF2-40B4-BE49-F238E27FC236}">
                <a16:creationId xmlns:a16="http://schemas.microsoft.com/office/drawing/2014/main" id="{E8B3F671-51EB-AC41-0696-E404DCA44096}"/>
              </a:ext>
            </a:extLst>
          </p:cNvPr>
          <p:cNvSpPr>
            <a:spLocks noGrp="1"/>
          </p:cNvSpPr>
          <p:nvPr>
            <p:ph type="sldNum" sz="quarter" idx="12"/>
          </p:nvPr>
        </p:nvSpPr>
        <p:spPr/>
        <p:txBody>
          <a:bodyPr/>
          <a:lstStyle/>
          <a:p>
            <a:fld id="{9EB268CF-8001-41B5-ADCD-92A7738D3D9B}" type="slidenum">
              <a:rPr lang="en-GB" smtClean="0"/>
              <a:t>20</a:t>
            </a:fld>
            <a:endParaRPr lang="en-GB"/>
          </a:p>
        </p:txBody>
      </p:sp>
    </p:spTree>
    <p:extLst>
      <p:ext uri="{BB962C8B-B14F-4D97-AF65-F5344CB8AC3E}">
        <p14:creationId xmlns:p14="http://schemas.microsoft.com/office/powerpoint/2010/main" val="23316094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DCAEF9-7C21-114F-8DED-D7C086DCD406}"/>
              </a:ext>
            </a:extLst>
          </p:cNvPr>
          <p:cNvSpPr>
            <a:spLocks noGrp="1"/>
          </p:cNvSpPr>
          <p:nvPr>
            <p:ph type="title"/>
          </p:nvPr>
        </p:nvSpPr>
        <p:spPr/>
        <p:txBody>
          <a:bodyPr/>
          <a:lstStyle/>
          <a:p>
            <a:r>
              <a:rPr lang="en-US" dirty="0"/>
              <a:t>First-order definite clauses</a:t>
            </a:r>
          </a:p>
        </p:txBody>
      </p:sp>
      <p:sp>
        <p:nvSpPr>
          <p:cNvPr id="3" name="Content Placeholder 2">
            <a:extLst>
              <a:ext uri="{FF2B5EF4-FFF2-40B4-BE49-F238E27FC236}">
                <a16:creationId xmlns:a16="http://schemas.microsoft.com/office/drawing/2014/main" id="{1494C7E2-2382-9207-6353-BD669F5A7D5C}"/>
              </a:ext>
            </a:extLst>
          </p:cNvPr>
          <p:cNvSpPr>
            <a:spLocks noGrp="1"/>
          </p:cNvSpPr>
          <p:nvPr>
            <p:ph idx="1"/>
          </p:nvPr>
        </p:nvSpPr>
        <p:spPr/>
        <p:txBody>
          <a:bodyPr/>
          <a:lstStyle/>
          <a:p>
            <a:r>
              <a:rPr lang="en-US" dirty="0"/>
              <a:t>First-order literals can include variables.</a:t>
            </a:r>
          </a:p>
          <a:p>
            <a:r>
              <a:rPr lang="en-US" dirty="0"/>
              <a:t>Not every knowledge base can be converted into a set of definite clauses because of the single-positive-literal restriction, but many can.</a:t>
            </a:r>
          </a:p>
        </p:txBody>
      </p:sp>
      <p:sp>
        <p:nvSpPr>
          <p:cNvPr id="4" name="Date Placeholder 3">
            <a:extLst>
              <a:ext uri="{FF2B5EF4-FFF2-40B4-BE49-F238E27FC236}">
                <a16:creationId xmlns:a16="http://schemas.microsoft.com/office/drawing/2014/main" id="{F16F2112-8628-EB9C-CA8A-ED6E9DB01640}"/>
              </a:ext>
            </a:extLst>
          </p:cNvPr>
          <p:cNvSpPr>
            <a:spLocks noGrp="1"/>
          </p:cNvSpPr>
          <p:nvPr>
            <p:ph type="dt" sz="half" idx="10"/>
          </p:nvPr>
        </p:nvSpPr>
        <p:spPr/>
        <p:txBody>
          <a:bodyPr/>
          <a:lstStyle/>
          <a:p>
            <a:fld id="{1332600A-A7B8-4674-AAE3-A37177B883E5}" type="datetime1">
              <a:rPr lang="en-GB" smtClean="0"/>
              <a:t>20/10/2025</a:t>
            </a:fld>
            <a:endParaRPr lang="en-GB"/>
          </a:p>
        </p:txBody>
      </p:sp>
      <p:sp>
        <p:nvSpPr>
          <p:cNvPr id="5" name="Slide Number Placeholder 4">
            <a:extLst>
              <a:ext uri="{FF2B5EF4-FFF2-40B4-BE49-F238E27FC236}">
                <a16:creationId xmlns:a16="http://schemas.microsoft.com/office/drawing/2014/main" id="{8F7E584C-3D11-D8D5-6F39-2FACC13B8D6A}"/>
              </a:ext>
            </a:extLst>
          </p:cNvPr>
          <p:cNvSpPr>
            <a:spLocks noGrp="1"/>
          </p:cNvSpPr>
          <p:nvPr>
            <p:ph type="sldNum" sz="quarter" idx="12"/>
          </p:nvPr>
        </p:nvSpPr>
        <p:spPr/>
        <p:txBody>
          <a:bodyPr/>
          <a:lstStyle/>
          <a:p>
            <a:fld id="{9EB268CF-8001-41B5-ADCD-92A7738D3D9B}" type="slidenum">
              <a:rPr lang="en-GB" smtClean="0"/>
              <a:t>21</a:t>
            </a:fld>
            <a:endParaRPr lang="en-GB"/>
          </a:p>
        </p:txBody>
      </p:sp>
    </p:spTree>
    <p:extLst>
      <p:ext uri="{BB962C8B-B14F-4D97-AF65-F5344CB8AC3E}">
        <p14:creationId xmlns:p14="http://schemas.microsoft.com/office/powerpoint/2010/main" val="1403098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900BD4-7921-1008-D4A8-CACAB8EEA02A}"/>
              </a:ext>
            </a:extLst>
          </p:cNvPr>
          <p:cNvSpPr>
            <a:spLocks noGrp="1"/>
          </p:cNvSpPr>
          <p:nvPr>
            <p:ph type="title"/>
          </p:nvPr>
        </p:nvSpPr>
        <p:spPr/>
        <p:txBody>
          <a:bodyPr/>
          <a:lstStyle/>
          <a:p>
            <a:r>
              <a:rPr lang="en-US" dirty="0"/>
              <a:t>First-order definite clauses</a:t>
            </a:r>
          </a:p>
        </p:txBody>
      </p:sp>
      <p:sp>
        <p:nvSpPr>
          <p:cNvPr id="3" name="Content Placeholder 2">
            <a:extLst>
              <a:ext uri="{FF2B5EF4-FFF2-40B4-BE49-F238E27FC236}">
                <a16:creationId xmlns:a16="http://schemas.microsoft.com/office/drawing/2014/main" id="{23A427DA-BD20-3337-A4AC-5D82BFAE0AA6}"/>
              </a:ext>
            </a:extLst>
          </p:cNvPr>
          <p:cNvSpPr>
            <a:spLocks noGrp="1"/>
          </p:cNvSpPr>
          <p:nvPr>
            <p:ph idx="1"/>
          </p:nvPr>
        </p:nvSpPr>
        <p:spPr/>
        <p:txBody>
          <a:bodyPr/>
          <a:lstStyle/>
          <a:p>
            <a:r>
              <a:rPr lang="en-US" dirty="0"/>
              <a:t>Consider the following</a:t>
            </a:r>
            <a:br>
              <a:rPr lang="en-US" dirty="0"/>
            </a:br>
            <a:r>
              <a:rPr lang="en-US" dirty="0"/>
              <a:t>“The law says that it is a crime for an American to sell weapons to hostile nations. The country Rusha, an enemy of America, has some missiles, and all of its missiles were sold to it by Colonel West, who is American.”</a:t>
            </a:r>
          </a:p>
          <a:p>
            <a:r>
              <a:rPr lang="en-US" dirty="0"/>
              <a:t>We need to prove “West is a criminal”.</a:t>
            </a:r>
          </a:p>
          <a:p>
            <a:endParaRPr lang="en-US" dirty="0"/>
          </a:p>
        </p:txBody>
      </p:sp>
      <p:sp>
        <p:nvSpPr>
          <p:cNvPr id="4" name="Date Placeholder 3">
            <a:extLst>
              <a:ext uri="{FF2B5EF4-FFF2-40B4-BE49-F238E27FC236}">
                <a16:creationId xmlns:a16="http://schemas.microsoft.com/office/drawing/2014/main" id="{EC06E781-1F0F-D629-D17D-A9F37D27F25E}"/>
              </a:ext>
            </a:extLst>
          </p:cNvPr>
          <p:cNvSpPr>
            <a:spLocks noGrp="1"/>
          </p:cNvSpPr>
          <p:nvPr>
            <p:ph type="dt" sz="half" idx="10"/>
          </p:nvPr>
        </p:nvSpPr>
        <p:spPr/>
        <p:txBody>
          <a:bodyPr/>
          <a:lstStyle/>
          <a:p>
            <a:fld id="{1332600A-A7B8-4674-AAE3-A37177B883E5}" type="datetime1">
              <a:rPr lang="en-GB" smtClean="0"/>
              <a:t>20/10/2025</a:t>
            </a:fld>
            <a:endParaRPr lang="en-GB"/>
          </a:p>
        </p:txBody>
      </p:sp>
      <p:sp>
        <p:nvSpPr>
          <p:cNvPr id="5" name="Slide Number Placeholder 4">
            <a:extLst>
              <a:ext uri="{FF2B5EF4-FFF2-40B4-BE49-F238E27FC236}">
                <a16:creationId xmlns:a16="http://schemas.microsoft.com/office/drawing/2014/main" id="{67DCF708-B085-C38D-D29F-DA80DDE149B2}"/>
              </a:ext>
            </a:extLst>
          </p:cNvPr>
          <p:cNvSpPr>
            <a:spLocks noGrp="1"/>
          </p:cNvSpPr>
          <p:nvPr>
            <p:ph type="sldNum" sz="quarter" idx="12"/>
          </p:nvPr>
        </p:nvSpPr>
        <p:spPr/>
        <p:txBody>
          <a:bodyPr/>
          <a:lstStyle/>
          <a:p>
            <a:fld id="{9EB268CF-8001-41B5-ADCD-92A7738D3D9B}" type="slidenum">
              <a:rPr lang="en-GB" smtClean="0"/>
              <a:t>22</a:t>
            </a:fld>
            <a:endParaRPr lang="en-GB"/>
          </a:p>
        </p:txBody>
      </p:sp>
    </p:spTree>
    <p:extLst>
      <p:ext uri="{BB962C8B-B14F-4D97-AF65-F5344CB8AC3E}">
        <p14:creationId xmlns:p14="http://schemas.microsoft.com/office/powerpoint/2010/main" val="42060190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764601-16FF-8239-C85E-8BAB0B7E068B}"/>
              </a:ext>
            </a:extLst>
          </p:cNvPr>
          <p:cNvSpPr>
            <a:spLocks noGrp="1"/>
          </p:cNvSpPr>
          <p:nvPr>
            <p:ph type="title"/>
          </p:nvPr>
        </p:nvSpPr>
        <p:spPr/>
        <p:txBody>
          <a:bodyPr/>
          <a:lstStyle/>
          <a:p>
            <a:r>
              <a:rPr lang="en-US" dirty="0"/>
              <a:t>First-order definite clauses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4D1B96D-EB2E-51F2-D3D7-349D81A39B53}"/>
                  </a:ext>
                </a:extLst>
              </p:cNvPr>
              <p:cNvSpPr>
                <a:spLocks noGrp="1"/>
              </p:cNvSpPr>
              <p:nvPr>
                <p:ph idx="1"/>
              </p:nvPr>
            </p:nvSpPr>
            <p:spPr/>
            <p:txBody>
              <a:bodyPr/>
              <a:lstStyle/>
              <a:p>
                <a:r>
                  <a:rPr lang="en-US" dirty="0"/>
                  <a:t>First, we will represent these facts as first-order definite clauses.</a:t>
                </a:r>
              </a:p>
              <a:p>
                <a:r>
                  <a:rPr lang="en-US" dirty="0"/>
                  <a:t>“it is a crime for an American to sell weapons to hostile nations”.</a:t>
                </a:r>
                <a:br>
                  <a:rPr lang="en-US" dirty="0"/>
                </a:br>
                <a14:m>
                  <m:oMath xmlns:m="http://schemas.openxmlformats.org/officeDocument/2006/math">
                    <m:r>
                      <a:rPr lang="en-US" sz="2400" i="1" dirty="0" smtClean="0">
                        <a:latin typeface="Cambria Math" panose="02040503050406030204" pitchFamily="18" charset="0"/>
                      </a:rPr>
                      <m:t>𝐴𝑚𝑒𝑟𝑖𝑐𝑎𝑛</m:t>
                    </m:r>
                    <m:r>
                      <a:rPr lang="en-US" sz="2400" i="1" dirty="0" smtClean="0">
                        <a:latin typeface="Cambria Math" panose="02040503050406030204" pitchFamily="18" charset="0"/>
                      </a:rPr>
                      <m:t>(</m:t>
                    </m:r>
                    <m:r>
                      <a:rPr lang="en-US" sz="2400" i="1" dirty="0" smtClean="0">
                        <a:latin typeface="Cambria Math" panose="02040503050406030204" pitchFamily="18" charset="0"/>
                      </a:rPr>
                      <m:t>𝑥</m:t>
                    </m:r>
                    <m:r>
                      <a:rPr lang="en-US" sz="2400" i="1" dirty="0" smtClean="0">
                        <a:latin typeface="Cambria Math" panose="02040503050406030204" pitchFamily="18" charset="0"/>
                      </a:rPr>
                      <m:t>) ∧ </m:t>
                    </m:r>
                    <m:r>
                      <a:rPr lang="en-US" sz="2400" i="1" dirty="0" smtClean="0">
                        <a:latin typeface="Cambria Math" panose="02040503050406030204" pitchFamily="18" charset="0"/>
                      </a:rPr>
                      <m:t>𝑊𝑒𝑎𝑝𝑜𝑛</m:t>
                    </m:r>
                    <m:r>
                      <a:rPr lang="en-US" sz="2400" i="1" dirty="0" smtClean="0">
                        <a:latin typeface="Cambria Math" panose="02040503050406030204" pitchFamily="18" charset="0"/>
                      </a:rPr>
                      <m:t>(</m:t>
                    </m:r>
                    <m:r>
                      <a:rPr lang="en-US" sz="2400" i="1" dirty="0" smtClean="0">
                        <a:latin typeface="Cambria Math" panose="02040503050406030204" pitchFamily="18" charset="0"/>
                      </a:rPr>
                      <m:t>𝑦</m:t>
                    </m:r>
                    <m:r>
                      <a:rPr lang="en-US" sz="2400" i="1" dirty="0" smtClean="0">
                        <a:latin typeface="Cambria Math" panose="02040503050406030204" pitchFamily="18" charset="0"/>
                      </a:rPr>
                      <m:t>) ∧ </m:t>
                    </m:r>
                    <m:r>
                      <a:rPr lang="en-US" sz="2400" i="1" dirty="0" smtClean="0">
                        <a:latin typeface="Cambria Math" panose="02040503050406030204" pitchFamily="18" charset="0"/>
                      </a:rPr>
                      <m:t>𝑆𝑒𝑙𝑙𝑠</m:t>
                    </m:r>
                    <m:r>
                      <a:rPr lang="en-US" sz="2400" i="1" dirty="0" smtClean="0">
                        <a:latin typeface="Cambria Math" panose="02040503050406030204" pitchFamily="18" charset="0"/>
                      </a:rPr>
                      <m:t>(</m:t>
                    </m:r>
                    <m:r>
                      <a:rPr lang="en-US" sz="2400" i="1" dirty="0" smtClean="0">
                        <a:latin typeface="Cambria Math" panose="02040503050406030204" pitchFamily="18" charset="0"/>
                      </a:rPr>
                      <m:t>𝑥</m:t>
                    </m:r>
                    <m:r>
                      <a:rPr lang="en-US" sz="2400" i="1" dirty="0" smtClean="0">
                        <a:latin typeface="Cambria Math" panose="02040503050406030204" pitchFamily="18" charset="0"/>
                      </a:rPr>
                      <m:t>, </m:t>
                    </m:r>
                    <m:r>
                      <a:rPr lang="en-US" sz="2400" i="1" dirty="0" smtClean="0">
                        <a:latin typeface="Cambria Math" panose="02040503050406030204" pitchFamily="18" charset="0"/>
                      </a:rPr>
                      <m:t>𝑦</m:t>
                    </m:r>
                    <m:r>
                      <a:rPr lang="en-US" sz="2400" i="1" dirty="0" smtClean="0">
                        <a:latin typeface="Cambria Math" panose="02040503050406030204" pitchFamily="18" charset="0"/>
                      </a:rPr>
                      <m:t>, </m:t>
                    </m:r>
                    <m:r>
                      <a:rPr lang="en-US" sz="2400" i="1" dirty="0" smtClean="0">
                        <a:latin typeface="Cambria Math" panose="02040503050406030204" pitchFamily="18" charset="0"/>
                      </a:rPr>
                      <m:t>𝑧</m:t>
                    </m:r>
                    <m:r>
                      <a:rPr lang="en-US" sz="2400" i="1" dirty="0" smtClean="0">
                        <a:latin typeface="Cambria Math" panose="02040503050406030204" pitchFamily="18" charset="0"/>
                      </a:rPr>
                      <m:t>) ∧ </m:t>
                    </m:r>
                    <m:r>
                      <a:rPr lang="en-US" sz="2400" i="1" dirty="0" smtClean="0">
                        <a:latin typeface="Cambria Math" panose="02040503050406030204" pitchFamily="18" charset="0"/>
                      </a:rPr>
                      <m:t>𝐻𝑜𝑠𝑡𝑖𝑙𝑒</m:t>
                    </m:r>
                    <m:r>
                      <a:rPr lang="en-US" sz="2400" i="1" dirty="0" smtClean="0">
                        <a:latin typeface="Cambria Math" panose="02040503050406030204" pitchFamily="18" charset="0"/>
                      </a:rPr>
                      <m:t>(</m:t>
                    </m:r>
                    <m:r>
                      <a:rPr lang="en-US" sz="2400" i="1" dirty="0" smtClean="0">
                        <a:latin typeface="Cambria Math" panose="02040503050406030204" pitchFamily="18" charset="0"/>
                      </a:rPr>
                      <m:t>𝑧</m:t>
                    </m:r>
                    <m:r>
                      <a:rPr lang="en-US" sz="2400" i="1" dirty="0" smtClean="0">
                        <a:latin typeface="Cambria Math" panose="02040503050406030204" pitchFamily="18" charset="0"/>
                      </a:rPr>
                      <m:t>) ⇒ </m:t>
                    </m:r>
                    <m:r>
                      <a:rPr lang="en-US" sz="2400" i="1" dirty="0" smtClean="0">
                        <a:latin typeface="Cambria Math" panose="02040503050406030204" pitchFamily="18" charset="0"/>
                      </a:rPr>
                      <m:t>𝐶𝑟𝑖𝑚𝑖𝑛𝑎𝑙</m:t>
                    </m:r>
                    <m:r>
                      <a:rPr lang="en-US" sz="2400" i="1" dirty="0" smtClean="0">
                        <a:latin typeface="Cambria Math" panose="02040503050406030204" pitchFamily="18" charset="0"/>
                      </a:rPr>
                      <m:t> (</m:t>
                    </m:r>
                    <m:r>
                      <a:rPr lang="en-US" sz="2400" i="1" dirty="0" smtClean="0">
                        <a:latin typeface="Cambria Math" panose="02040503050406030204" pitchFamily="18" charset="0"/>
                      </a:rPr>
                      <m:t>𝑥</m:t>
                    </m:r>
                    <m:r>
                      <a:rPr lang="en-US" sz="2400" i="1" dirty="0" smtClean="0">
                        <a:latin typeface="Cambria Math" panose="02040503050406030204" pitchFamily="18" charset="0"/>
                      </a:rPr>
                      <m:t>)</m:t>
                    </m:r>
                  </m:oMath>
                </a14:m>
                <a:endParaRPr lang="en-US" dirty="0"/>
              </a:p>
              <a:p>
                <a:endParaRPr lang="en-US" dirty="0"/>
              </a:p>
            </p:txBody>
          </p:sp>
        </mc:Choice>
        <mc:Fallback xmlns="">
          <p:sp>
            <p:nvSpPr>
              <p:cNvPr id="3" name="Content Placeholder 2">
                <a:extLst>
                  <a:ext uri="{FF2B5EF4-FFF2-40B4-BE49-F238E27FC236}">
                    <a16:creationId xmlns:a16="http://schemas.microsoft.com/office/drawing/2014/main" id="{F4D1B96D-EB2E-51F2-D3D7-349D81A39B53}"/>
                  </a:ext>
                </a:extLst>
              </p:cNvPr>
              <p:cNvSpPr>
                <a:spLocks noGrp="1" noRot="1" noChangeAspect="1" noMove="1" noResize="1" noEditPoints="1" noAdjustHandles="1" noChangeArrowheads="1" noChangeShapeType="1" noTextEdit="1"/>
              </p:cNvSpPr>
              <p:nvPr>
                <p:ph idx="1"/>
              </p:nvPr>
            </p:nvSpPr>
            <p:spPr>
              <a:blipFill>
                <a:blip r:embed="rId2"/>
                <a:stretch>
                  <a:fillRect l="-1043" t="-2381" r="-522"/>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329E84E1-EA4B-2D5A-166F-D81900779793}"/>
              </a:ext>
            </a:extLst>
          </p:cNvPr>
          <p:cNvSpPr>
            <a:spLocks noGrp="1"/>
          </p:cNvSpPr>
          <p:nvPr>
            <p:ph type="dt" sz="half" idx="10"/>
          </p:nvPr>
        </p:nvSpPr>
        <p:spPr/>
        <p:txBody>
          <a:bodyPr/>
          <a:lstStyle/>
          <a:p>
            <a:fld id="{1332600A-A7B8-4674-AAE3-A37177B883E5}" type="datetime1">
              <a:rPr lang="en-GB" smtClean="0"/>
              <a:t>20/10/2025</a:t>
            </a:fld>
            <a:endParaRPr lang="en-GB"/>
          </a:p>
        </p:txBody>
      </p:sp>
      <p:sp>
        <p:nvSpPr>
          <p:cNvPr id="5" name="Slide Number Placeholder 4">
            <a:extLst>
              <a:ext uri="{FF2B5EF4-FFF2-40B4-BE49-F238E27FC236}">
                <a16:creationId xmlns:a16="http://schemas.microsoft.com/office/drawing/2014/main" id="{FC2B43B0-E1F5-780B-28E0-CFC9A9ABA179}"/>
              </a:ext>
            </a:extLst>
          </p:cNvPr>
          <p:cNvSpPr>
            <a:spLocks noGrp="1"/>
          </p:cNvSpPr>
          <p:nvPr>
            <p:ph type="sldNum" sz="quarter" idx="12"/>
          </p:nvPr>
        </p:nvSpPr>
        <p:spPr/>
        <p:txBody>
          <a:bodyPr/>
          <a:lstStyle/>
          <a:p>
            <a:fld id="{9EB268CF-8001-41B5-ADCD-92A7738D3D9B}" type="slidenum">
              <a:rPr lang="en-GB" smtClean="0"/>
              <a:t>23</a:t>
            </a:fld>
            <a:endParaRPr lang="en-GB"/>
          </a:p>
        </p:txBody>
      </p:sp>
    </p:spTree>
    <p:extLst>
      <p:ext uri="{BB962C8B-B14F-4D97-AF65-F5344CB8AC3E}">
        <p14:creationId xmlns:p14="http://schemas.microsoft.com/office/powerpoint/2010/main" val="1530305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D117B9-BAF8-7FA3-FE14-A122C81733CD}"/>
              </a:ext>
            </a:extLst>
          </p:cNvPr>
          <p:cNvSpPr>
            <a:spLocks noGrp="1"/>
          </p:cNvSpPr>
          <p:nvPr>
            <p:ph type="title"/>
          </p:nvPr>
        </p:nvSpPr>
        <p:spPr/>
        <p:txBody>
          <a:bodyPr/>
          <a:lstStyle/>
          <a:p>
            <a:r>
              <a:rPr lang="en-US" dirty="0"/>
              <a:t>First-order definite clauses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25F47FD-FBF3-323E-500E-0C303C0A10F2}"/>
                  </a:ext>
                </a:extLst>
              </p:cNvPr>
              <p:cNvSpPr>
                <a:spLocks noGrp="1"/>
              </p:cNvSpPr>
              <p:nvPr>
                <p:ph idx="1"/>
              </p:nvPr>
            </p:nvSpPr>
            <p:spPr/>
            <p:txBody>
              <a:bodyPr/>
              <a:lstStyle/>
              <a:p>
                <a:r>
                  <a:rPr lang="en-US" dirty="0"/>
                  <a:t>“Rusha … has some missiles”.</a:t>
                </a:r>
              </a:p>
              <a:p>
                <a:r>
                  <a:rPr lang="en-US" dirty="0"/>
                  <a:t>The sentence </a:t>
                </a:r>
                <a14:m>
                  <m:oMath xmlns:m="http://schemas.openxmlformats.org/officeDocument/2006/math">
                    <m:r>
                      <a:rPr lang="en-US" i="1" dirty="0">
                        <a:latin typeface="Cambria Math" panose="02040503050406030204" pitchFamily="18" charset="0"/>
                      </a:rPr>
                      <m:t>∃ </m:t>
                    </m:r>
                    <m:r>
                      <a:rPr lang="en-US" i="1" dirty="0">
                        <a:latin typeface="Cambria Math" panose="02040503050406030204" pitchFamily="18" charset="0"/>
                      </a:rPr>
                      <m:t>𝑥</m:t>
                    </m:r>
                    <m:r>
                      <a:rPr lang="en-US" i="1" dirty="0">
                        <a:latin typeface="Cambria Math" panose="02040503050406030204" pitchFamily="18" charset="0"/>
                      </a:rPr>
                      <m:t> </m:t>
                    </m:r>
                    <m:r>
                      <a:rPr lang="en-US" i="1" dirty="0">
                        <a:latin typeface="Cambria Math" panose="02040503050406030204" pitchFamily="18" charset="0"/>
                        <a:ea typeface="Cambria Math" panose="02040503050406030204" pitchFamily="18" charset="0"/>
                      </a:rPr>
                      <m:t>𝑂𝑤𝑛𝑠</m:t>
                    </m:r>
                    <m:r>
                      <a:rPr lang="en-US" i="1" dirty="0">
                        <a:latin typeface="Cambria Math" panose="02040503050406030204" pitchFamily="18" charset="0"/>
                        <a:ea typeface="Cambria Math" panose="02040503050406030204" pitchFamily="18" charset="0"/>
                      </a:rPr>
                      <m:t>(</m:t>
                    </m:r>
                    <m:r>
                      <m:rPr>
                        <m:nor/>
                      </m:rPr>
                      <a:rPr lang="en-US" i="1" dirty="0">
                        <a:latin typeface="Cambria Math" panose="02040503050406030204" pitchFamily="18" charset="0"/>
                        <a:ea typeface="Cambria Math" panose="02040503050406030204" pitchFamily="18" charset="0"/>
                      </a:rPr>
                      <m:t>Rusha</m:t>
                    </m:r>
                    <m:r>
                      <a:rPr lang="en-US" i="1" dirty="0">
                        <a:latin typeface="Cambria Math" panose="02040503050406030204" pitchFamily="18" charset="0"/>
                        <a:ea typeface="Cambria Math" panose="02040503050406030204" pitchFamily="18" charset="0"/>
                      </a:rPr>
                      <m:t>, </m:t>
                    </m:r>
                    <m:r>
                      <a:rPr lang="en-US" i="1" dirty="0">
                        <a:latin typeface="Cambria Math" panose="02040503050406030204" pitchFamily="18" charset="0"/>
                        <a:ea typeface="Cambria Math" panose="02040503050406030204" pitchFamily="18" charset="0"/>
                      </a:rPr>
                      <m:t>𝑥</m:t>
                    </m:r>
                    <m:r>
                      <a:rPr lang="en-US" i="1" dirty="0">
                        <a:latin typeface="Cambria Math" panose="02040503050406030204" pitchFamily="18" charset="0"/>
                        <a:ea typeface="Cambria Math" panose="02040503050406030204" pitchFamily="18" charset="0"/>
                      </a:rPr>
                      <m:t>)∧</m:t>
                    </m:r>
                    <m:r>
                      <a:rPr lang="en-US" i="1" dirty="0">
                        <a:latin typeface="Cambria Math" panose="02040503050406030204" pitchFamily="18" charset="0"/>
                      </a:rPr>
                      <m:t>𝑀𝑖𝑠𝑠𝑖𝑙𝑒</m:t>
                    </m:r>
                    <m:r>
                      <a:rPr lang="en-US" i="1" dirty="0">
                        <a:latin typeface="Cambria Math" panose="02040503050406030204" pitchFamily="18" charset="0"/>
                      </a:rPr>
                      <m:t>(</m:t>
                    </m:r>
                    <m:r>
                      <a:rPr lang="en-US" i="1" dirty="0">
                        <a:latin typeface="Cambria Math" panose="02040503050406030204" pitchFamily="18" charset="0"/>
                      </a:rPr>
                      <m:t>𝑥</m:t>
                    </m:r>
                    <m:r>
                      <a:rPr lang="en-US" i="1" dirty="0">
                        <a:latin typeface="Cambria Math" panose="02040503050406030204" pitchFamily="18" charset="0"/>
                      </a:rPr>
                      <m:t>) </m:t>
                    </m:r>
                  </m:oMath>
                </a14:m>
                <a:r>
                  <a:rPr lang="en-US" dirty="0"/>
                  <a:t>is transformed into two definite clauses by Existential Instantiation</a:t>
                </a:r>
              </a:p>
              <a:p>
                <a:endParaRPr lang="en-US"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𝑂𝑤𝑛𝑠</m:t>
                      </m:r>
                      <m:r>
                        <a:rPr lang="en-US" i="1" dirty="0" smtClean="0">
                          <a:latin typeface="Cambria Math" panose="02040503050406030204" pitchFamily="18" charset="0"/>
                        </a:rPr>
                        <m:t>(</m:t>
                      </m:r>
                      <m:r>
                        <m:rPr>
                          <m:nor/>
                        </m:rPr>
                        <a:rPr lang="en-US" i="1" dirty="0">
                          <a:latin typeface="Cambria Math" panose="02040503050406030204" pitchFamily="18" charset="0"/>
                          <a:ea typeface="Cambria Math" panose="02040503050406030204" pitchFamily="18" charset="0"/>
                        </a:rPr>
                        <m:t>Rusha</m:t>
                      </m:r>
                      <m:r>
                        <a:rPr lang="en-US" i="1" dirty="0" smtClean="0">
                          <a:latin typeface="Cambria Math" panose="02040503050406030204" pitchFamily="18" charset="0"/>
                        </a:rPr>
                        <m:t>, </m:t>
                      </m:r>
                      <m:r>
                        <a:rPr lang="en-US" i="1" dirty="0" smtClean="0">
                          <a:latin typeface="Cambria Math" panose="02040503050406030204" pitchFamily="18" charset="0"/>
                        </a:rPr>
                        <m:t>𝑀</m:t>
                      </m:r>
                      <m:r>
                        <a:rPr lang="en-US" i="1" dirty="0" smtClean="0">
                          <a:latin typeface="Cambria Math" panose="02040503050406030204" pitchFamily="18" charset="0"/>
                        </a:rPr>
                        <m:t>1</m:t>
                      </m:r>
                      <m:r>
                        <a:rPr lang="en-US" i="1" dirty="0" smtClean="0">
                          <a:latin typeface="Cambria Math" panose="02040503050406030204" pitchFamily="18" charset="0"/>
                        </a:rPr>
                        <m:t>) </m:t>
                      </m:r>
                    </m:oMath>
                  </m:oMathPara>
                </a14:m>
                <a:endParaRPr lang="en-US" dirty="0"/>
              </a:p>
              <a:p>
                <a:pPr marL="0" indent="0">
                  <a:buNone/>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𝑀𝑖𝑠𝑠𝑖𝑙𝑒</m:t>
                      </m:r>
                      <m:r>
                        <a:rPr lang="en-US" i="1" dirty="0">
                          <a:latin typeface="Cambria Math" panose="02040503050406030204" pitchFamily="18" charset="0"/>
                        </a:rPr>
                        <m:t>(</m:t>
                      </m:r>
                      <m:r>
                        <a:rPr lang="en-US" i="1" dirty="0">
                          <a:latin typeface="Cambria Math" panose="02040503050406030204" pitchFamily="18" charset="0"/>
                        </a:rPr>
                        <m:t>𝑀</m:t>
                      </m:r>
                      <m:r>
                        <a:rPr lang="en-US" i="1" dirty="0">
                          <a:latin typeface="Cambria Math" panose="02040503050406030204" pitchFamily="18" charset="0"/>
                        </a:rPr>
                        <m:t>1</m:t>
                      </m:r>
                      <m:r>
                        <a:rPr lang="en-US" i="1" dirty="0">
                          <a:latin typeface="Cambria Math" panose="02040503050406030204" pitchFamily="18" charset="0"/>
                        </a:rPr>
                        <m:t>)</m:t>
                      </m:r>
                    </m:oMath>
                  </m:oMathPara>
                </a14:m>
                <a:endParaRPr lang="en-US" dirty="0"/>
              </a:p>
            </p:txBody>
          </p:sp>
        </mc:Choice>
        <mc:Fallback xmlns="">
          <p:sp>
            <p:nvSpPr>
              <p:cNvPr id="3" name="Content Placeholder 2">
                <a:extLst>
                  <a:ext uri="{FF2B5EF4-FFF2-40B4-BE49-F238E27FC236}">
                    <a16:creationId xmlns:a16="http://schemas.microsoft.com/office/drawing/2014/main" id="{125F47FD-FBF3-323E-500E-0C303C0A10F2}"/>
                  </a:ext>
                </a:extLst>
              </p:cNvPr>
              <p:cNvSpPr>
                <a:spLocks noGrp="1" noRot="1" noChangeAspect="1" noMove="1" noResize="1" noEditPoints="1" noAdjustHandles="1" noChangeArrowheads="1" noChangeShapeType="1" noTextEdit="1"/>
              </p:cNvSpPr>
              <p:nvPr>
                <p:ph idx="1"/>
              </p:nvPr>
            </p:nvSpPr>
            <p:spPr>
              <a:blipFill>
                <a:blip r:embed="rId2"/>
                <a:stretch>
                  <a:fillRect l="-1043" t="-2381"/>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8DA3A357-6914-C6F3-867A-728C36F693C7}"/>
              </a:ext>
            </a:extLst>
          </p:cNvPr>
          <p:cNvSpPr>
            <a:spLocks noGrp="1"/>
          </p:cNvSpPr>
          <p:nvPr>
            <p:ph type="dt" sz="half" idx="10"/>
          </p:nvPr>
        </p:nvSpPr>
        <p:spPr/>
        <p:txBody>
          <a:bodyPr/>
          <a:lstStyle/>
          <a:p>
            <a:fld id="{1332600A-A7B8-4674-AAE3-A37177B883E5}" type="datetime1">
              <a:rPr lang="en-GB" smtClean="0"/>
              <a:t>20/10/2025</a:t>
            </a:fld>
            <a:endParaRPr lang="en-GB"/>
          </a:p>
        </p:txBody>
      </p:sp>
      <p:sp>
        <p:nvSpPr>
          <p:cNvPr id="5" name="Slide Number Placeholder 4">
            <a:extLst>
              <a:ext uri="{FF2B5EF4-FFF2-40B4-BE49-F238E27FC236}">
                <a16:creationId xmlns:a16="http://schemas.microsoft.com/office/drawing/2014/main" id="{6A65F219-FFE1-EA8A-41D2-B2D942D1B4F7}"/>
              </a:ext>
            </a:extLst>
          </p:cNvPr>
          <p:cNvSpPr>
            <a:spLocks noGrp="1"/>
          </p:cNvSpPr>
          <p:nvPr>
            <p:ph type="sldNum" sz="quarter" idx="12"/>
          </p:nvPr>
        </p:nvSpPr>
        <p:spPr/>
        <p:txBody>
          <a:bodyPr/>
          <a:lstStyle/>
          <a:p>
            <a:fld id="{9EB268CF-8001-41B5-ADCD-92A7738D3D9B}" type="slidenum">
              <a:rPr lang="en-GB" smtClean="0"/>
              <a:t>24</a:t>
            </a:fld>
            <a:endParaRPr lang="en-GB"/>
          </a:p>
        </p:txBody>
      </p:sp>
    </p:spTree>
    <p:extLst>
      <p:ext uri="{BB962C8B-B14F-4D97-AF65-F5344CB8AC3E}">
        <p14:creationId xmlns:p14="http://schemas.microsoft.com/office/powerpoint/2010/main" val="486206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23D2A4-59CE-B068-CF86-4B126C7A5C6B}"/>
              </a:ext>
            </a:extLst>
          </p:cNvPr>
          <p:cNvSpPr>
            <a:spLocks noGrp="1"/>
          </p:cNvSpPr>
          <p:nvPr>
            <p:ph type="title"/>
          </p:nvPr>
        </p:nvSpPr>
        <p:spPr/>
        <p:txBody>
          <a:bodyPr/>
          <a:lstStyle/>
          <a:p>
            <a:r>
              <a:rPr lang="en-US" dirty="0"/>
              <a:t>First-order definite clauses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DD10CAC-68B6-356E-C4EF-EA05237A5DE4}"/>
                  </a:ext>
                </a:extLst>
              </p:cNvPr>
              <p:cNvSpPr>
                <a:spLocks noGrp="1"/>
              </p:cNvSpPr>
              <p:nvPr>
                <p:ph idx="1"/>
              </p:nvPr>
            </p:nvSpPr>
            <p:spPr/>
            <p:txBody>
              <a:bodyPr/>
              <a:lstStyle/>
              <a:p>
                <a:r>
                  <a:rPr lang="en-US" dirty="0"/>
                  <a:t>All of its missiles were sold to it by Colonel West.</a:t>
                </a:r>
              </a:p>
              <a:p>
                <a:endParaRPr lang="en-US" dirty="0"/>
              </a:p>
              <a:p>
                <a:pPr marL="0" indent="0">
                  <a:buNone/>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𝑀𝑖𝑠𝑠𝑖𝑙𝑒</m:t>
                      </m:r>
                      <m:d>
                        <m:dPr>
                          <m:ctrlPr>
                            <a:rPr lang="en-US" i="1" dirty="0" smtClean="0">
                              <a:latin typeface="Cambria Math" panose="02040503050406030204" pitchFamily="18" charset="0"/>
                            </a:rPr>
                          </m:ctrlPr>
                        </m:dPr>
                        <m:e>
                          <m:r>
                            <a:rPr lang="en-US" i="1" dirty="0" smtClean="0">
                              <a:latin typeface="Cambria Math" panose="02040503050406030204" pitchFamily="18" charset="0"/>
                            </a:rPr>
                            <m:t>𝑥</m:t>
                          </m:r>
                        </m:e>
                      </m:d>
                      <m:r>
                        <a:rPr lang="en-US" i="1" dirty="0" smtClean="0">
                          <a:latin typeface="Cambria Math" panose="02040503050406030204" pitchFamily="18" charset="0"/>
                        </a:rPr>
                        <m:t>∧ </m:t>
                      </m:r>
                      <m:r>
                        <a:rPr lang="en-US" i="1" dirty="0" smtClean="0">
                          <a:latin typeface="Cambria Math" panose="02040503050406030204" pitchFamily="18" charset="0"/>
                        </a:rPr>
                        <m:t>𝑂𝑤𝑛𝑠</m:t>
                      </m:r>
                      <m:d>
                        <m:dPr>
                          <m:ctrlPr>
                            <a:rPr lang="en-US" i="1" dirty="0" smtClean="0">
                              <a:latin typeface="Cambria Math" panose="02040503050406030204" pitchFamily="18" charset="0"/>
                            </a:rPr>
                          </m:ctrlPr>
                        </m:dPr>
                        <m:e>
                          <m:r>
                            <m:rPr>
                              <m:nor/>
                            </m:rPr>
                            <a:rPr lang="en-US" i="1" dirty="0">
                              <a:latin typeface="Cambria Math" panose="02040503050406030204" pitchFamily="18" charset="0"/>
                              <a:ea typeface="Cambria Math" panose="02040503050406030204" pitchFamily="18" charset="0"/>
                            </a:rPr>
                            <m:t>Rusha</m:t>
                          </m:r>
                          <m:r>
                            <a:rPr lang="en-US" i="1" dirty="0" smtClean="0">
                              <a:latin typeface="Cambria Math" panose="02040503050406030204" pitchFamily="18" charset="0"/>
                            </a:rPr>
                            <m:t>, </m:t>
                          </m:r>
                          <m:r>
                            <a:rPr lang="en-US" i="1" dirty="0" smtClean="0">
                              <a:latin typeface="Cambria Math" panose="02040503050406030204" pitchFamily="18" charset="0"/>
                            </a:rPr>
                            <m:t>𝑥</m:t>
                          </m:r>
                        </m:e>
                      </m:d>
                      <m:r>
                        <a:rPr lang="en-US" i="1" dirty="0" smtClean="0">
                          <a:latin typeface="Cambria Math" panose="02040503050406030204" pitchFamily="18" charset="0"/>
                        </a:rPr>
                        <m:t>⇒ </m:t>
                      </m:r>
                      <m:r>
                        <a:rPr lang="en-US" i="1" dirty="0" smtClean="0">
                          <a:latin typeface="Cambria Math" panose="02040503050406030204" pitchFamily="18" charset="0"/>
                        </a:rPr>
                        <m:t>𝑆𝑒𝑙𝑙𝑠</m:t>
                      </m:r>
                      <m:d>
                        <m:dPr>
                          <m:ctrlPr>
                            <a:rPr lang="en-US" i="1" dirty="0" smtClean="0">
                              <a:latin typeface="Cambria Math" panose="02040503050406030204" pitchFamily="18" charset="0"/>
                            </a:rPr>
                          </m:ctrlPr>
                        </m:dPr>
                        <m:e>
                          <m:r>
                            <a:rPr lang="en-US" i="1" dirty="0" smtClean="0">
                              <a:latin typeface="Cambria Math" panose="02040503050406030204" pitchFamily="18" charset="0"/>
                            </a:rPr>
                            <m:t>𝑊𝑒𝑠𝑡</m:t>
                          </m:r>
                          <m:r>
                            <a:rPr lang="en-US" i="1" dirty="0" smtClean="0">
                              <a:latin typeface="Cambria Math" panose="02040503050406030204" pitchFamily="18" charset="0"/>
                            </a:rPr>
                            <m:t>, </m:t>
                          </m:r>
                          <m:r>
                            <a:rPr lang="en-US" i="1" dirty="0" smtClean="0">
                              <a:latin typeface="Cambria Math" panose="02040503050406030204" pitchFamily="18" charset="0"/>
                            </a:rPr>
                            <m:t>𝑥</m:t>
                          </m:r>
                          <m:r>
                            <a:rPr lang="en-US" i="1" dirty="0" smtClean="0">
                              <a:latin typeface="Cambria Math" panose="02040503050406030204" pitchFamily="18" charset="0"/>
                            </a:rPr>
                            <m:t>,</m:t>
                          </m:r>
                          <m:r>
                            <m:rPr>
                              <m:nor/>
                            </m:rPr>
                            <a:rPr lang="en-US" i="1" dirty="0">
                              <a:latin typeface="Cambria Math" panose="02040503050406030204" pitchFamily="18" charset="0"/>
                              <a:ea typeface="Cambria Math" panose="02040503050406030204" pitchFamily="18" charset="0"/>
                            </a:rPr>
                            <m:t>Rusha</m:t>
                          </m:r>
                        </m:e>
                      </m:d>
                    </m:oMath>
                  </m:oMathPara>
                </a14:m>
                <a:endParaRPr lang="en-US" dirty="0"/>
              </a:p>
              <a:p>
                <a:pPr marL="0" indent="0">
                  <a:buNone/>
                </a:pPr>
                <a:endParaRPr lang="en-US" dirty="0"/>
              </a:p>
              <a:p>
                <a:r>
                  <a:rPr lang="en-US" dirty="0"/>
                  <a:t>We will also need to know that missiles are weapons:</a:t>
                </a:r>
              </a:p>
              <a:p>
                <a:endParaRPr lang="en-US" dirty="0"/>
              </a:p>
              <a:p>
                <a:pPr marL="0" indent="0">
                  <a:buNone/>
                </a:pPr>
                <a14:m>
                  <m:oMathPara xmlns:m="http://schemas.openxmlformats.org/officeDocument/2006/math">
                    <m:oMathParaPr>
                      <m:jc m:val="centerGroup"/>
                    </m:oMathParaPr>
                    <m:oMath xmlns:m="http://schemas.openxmlformats.org/officeDocument/2006/math">
                      <m:r>
                        <a:rPr lang="en-US" i="1" dirty="0">
                          <a:latin typeface="Cambria Math" panose="02040503050406030204" pitchFamily="18" charset="0"/>
                        </a:rPr>
                        <m:t>𝑀𝑖𝑠𝑠𝑖𝑙𝑒</m:t>
                      </m:r>
                      <m:r>
                        <a:rPr lang="en-US" i="1" dirty="0">
                          <a:latin typeface="Cambria Math" panose="02040503050406030204" pitchFamily="18" charset="0"/>
                        </a:rPr>
                        <m:t>(</m:t>
                      </m:r>
                      <m:r>
                        <a:rPr lang="en-US" i="1" dirty="0">
                          <a:latin typeface="Cambria Math" panose="02040503050406030204" pitchFamily="18" charset="0"/>
                        </a:rPr>
                        <m:t>𝑥</m:t>
                      </m:r>
                      <m:r>
                        <a:rPr lang="en-US" i="1" dirty="0">
                          <a:latin typeface="Cambria Math" panose="02040503050406030204" pitchFamily="18" charset="0"/>
                        </a:rPr>
                        <m:t>) ⇒ </m:t>
                      </m:r>
                      <m:r>
                        <a:rPr lang="en-US" i="1" dirty="0">
                          <a:latin typeface="Cambria Math" panose="02040503050406030204" pitchFamily="18" charset="0"/>
                        </a:rPr>
                        <m:t>𝑊𝑒𝑎𝑝𝑜𝑛</m:t>
                      </m:r>
                      <m:r>
                        <a:rPr lang="en-US" i="1" dirty="0">
                          <a:latin typeface="Cambria Math" panose="02040503050406030204" pitchFamily="18" charset="0"/>
                        </a:rPr>
                        <m:t>(</m:t>
                      </m:r>
                      <m:r>
                        <a:rPr lang="en-US" i="1" dirty="0">
                          <a:latin typeface="Cambria Math" panose="02040503050406030204" pitchFamily="18" charset="0"/>
                        </a:rPr>
                        <m:t>𝑥</m:t>
                      </m:r>
                      <m:r>
                        <a:rPr lang="en-US" i="1" dirty="0">
                          <a:latin typeface="Cambria Math" panose="02040503050406030204" pitchFamily="18" charset="0"/>
                        </a:rPr>
                        <m:t>)</m:t>
                      </m:r>
                    </m:oMath>
                  </m:oMathPara>
                </a14:m>
                <a:endParaRPr lang="en-US"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8DD10CAC-68B6-356E-C4EF-EA05237A5DE4}"/>
                  </a:ext>
                </a:extLst>
              </p:cNvPr>
              <p:cNvSpPr>
                <a:spLocks noGrp="1" noRot="1" noChangeAspect="1" noMove="1" noResize="1" noEditPoints="1" noAdjustHandles="1" noChangeArrowheads="1" noChangeShapeType="1" noTextEdit="1"/>
              </p:cNvSpPr>
              <p:nvPr>
                <p:ph idx="1"/>
              </p:nvPr>
            </p:nvSpPr>
            <p:spPr>
              <a:blipFill>
                <a:blip r:embed="rId2"/>
                <a:stretch>
                  <a:fillRect l="-1043" t="-2381"/>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C8977F76-8653-2B00-6DCC-4F0F1FB7EC1A}"/>
              </a:ext>
            </a:extLst>
          </p:cNvPr>
          <p:cNvSpPr>
            <a:spLocks noGrp="1"/>
          </p:cNvSpPr>
          <p:nvPr>
            <p:ph type="dt" sz="half" idx="10"/>
          </p:nvPr>
        </p:nvSpPr>
        <p:spPr/>
        <p:txBody>
          <a:bodyPr/>
          <a:lstStyle/>
          <a:p>
            <a:fld id="{1332600A-A7B8-4674-AAE3-A37177B883E5}" type="datetime1">
              <a:rPr lang="en-GB" smtClean="0"/>
              <a:t>20/10/2025</a:t>
            </a:fld>
            <a:endParaRPr lang="en-GB"/>
          </a:p>
        </p:txBody>
      </p:sp>
      <p:sp>
        <p:nvSpPr>
          <p:cNvPr id="5" name="Slide Number Placeholder 4">
            <a:extLst>
              <a:ext uri="{FF2B5EF4-FFF2-40B4-BE49-F238E27FC236}">
                <a16:creationId xmlns:a16="http://schemas.microsoft.com/office/drawing/2014/main" id="{58B301D6-C36A-D86A-0800-ADE2E447F690}"/>
              </a:ext>
            </a:extLst>
          </p:cNvPr>
          <p:cNvSpPr>
            <a:spLocks noGrp="1"/>
          </p:cNvSpPr>
          <p:nvPr>
            <p:ph type="sldNum" sz="quarter" idx="12"/>
          </p:nvPr>
        </p:nvSpPr>
        <p:spPr/>
        <p:txBody>
          <a:bodyPr/>
          <a:lstStyle/>
          <a:p>
            <a:fld id="{9EB268CF-8001-41B5-ADCD-92A7738D3D9B}" type="slidenum">
              <a:rPr lang="en-GB" smtClean="0"/>
              <a:t>25</a:t>
            </a:fld>
            <a:endParaRPr lang="en-GB"/>
          </a:p>
        </p:txBody>
      </p:sp>
    </p:spTree>
    <p:extLst>
      <p:ext uri="{BB962C8B-B14F-4D97-AF65-F5344CB8AC3E}">
        <p14:creationId xmlns:p14="http://schemas.microsoft.com/office/powerpoint/2010/main" val="7664238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CE0432-1748-79B6-3799-73F74B56A83A}"/>
              </a:ext>
            </a:extLst>
          </p:cNvPr>
          <p:cNvSpPr>
            <a:spLocks noGrp="1"/>
          </p:cNvSpPr>
          <p:nvPr>
            <p:ph type="title"/>
          </p:nvPr>
        </p:nvSpPr>
        <p:spPr/>
        <p:txBody>
          <a:bodyPr/>
          <a:lstStyle/>
          <a:p>
            <a:r>
              <a:rPr lang="en-US" dirty="0"/>
              <a:t>First-order definite clauses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6ECD9B9-6C78-ED8B-F58A-08D01C46135F}"/>
                  </a:ext>
                </a:extLst>
              </p:cNvPr>
              <p:cNvSpPr>
                <a:spLocks noGrp="1"/>
              </p:cNvSpPr>
              <p:nvPr>
                <p:ph idx="1"/>
              </p:nvPr>
            </p:nvSpPr>
            <p:spPr/>
            <p:txBody>
              <a:bodyPr/>
              <a:lstStyle/>
              <a:p>
                <a:r>
                  <a:rPr lang="en-US" dirty="0"/>
                  <a:t>we must know that an enemy of America counts as “hostile”:</a:t>
                </a:r>
              </a:p>
              <a:p>
                <a:endParaRPr lang="en-US" dirty="0"/>
              </a:p>
              <a:p>
                <a:pPr marL="0" indent="0">
                  <a:buNone/>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𝐸𝑛𝑒𝑚𝑦</m:t>
                      </m:r>
                      <m:r>
                        <a:rPr lang="en-US" i="1" dirty="0" smtClean="0">
                          <a:latin typeface="Cambria Math" panose="02040503050406030204" pitchFamily="18" charset="0"/>
                        </a:rPr>
                        <m:t>(</m:t>
                      </m:r>
                      <m:r>
                        <a:rPr lang="en-US" i="1" dirty="0" smtClean="0">
                          <a:latin typeface="Cambria Math" panose="02040503050406030204" pitchFamily="18" charset="0"/>
                        </a:rPr>
                        <m:t>𝑥</m:t>
                      </m:r>
                      <m:r>
                        <a:rPr lang="en-US" i="1" dirty="0" smtClean="0">
                          <a:latin typeface="Cambria Math" panose="02040503050406030204" pitchFamily="18" charset="0"/>
                        </a:rPr>
                        <m:t>, </m:t>
                      </m:r>
                      <m:r>
                        <a:rPr lang="en-US" i="1" dirty="0" smtClean="0">
                          <a:latin typeface="Cambria Math" panose="02040503050406030204" pitchFamily="18" charset="0"/>
                        </a:rPr>
                        <m:t>𝐴𝑚𝑒𝑟𝑖𝑐𝑎</m:t>
                      </m:r>
                      <m:r>
                        <a:rPr lang="en-US" i="1" dirty="0" smtClean="0">
                          <a:latin typeface="Cambria Math" panose="02040503050406030204" pitchFamily="18" charset="0"/>
                        </a:rPr>
                        <m:t>) ⇒ </m:t>
                      </m:r>
                      <m:r>
                        <a:rPr lang="en-US" i="1" dirty="0" smtClean="0">
                          <a:latin typeface="Cambria Math" panose="02040503050406030204" pitchFamily="18" charset="0"/>
                        </a:rPr>
                        <m:t>𝐻𝑜𝑠𝑡𝑖𝑙𝑒</m:t>
                      </m:r>
                      <m:r>
                        <a:rPr lang="en-US" i="1" dirty="0" smtClean="0">
                          <a:latin typeface="Cambria Math" panose="02040503050406030204" pitchFamily="18" charset="0"/>
                        </a:rPr>
                        <m:t>(</m:t>
                      </m:r>
                      <m:r>
                        <a:rPr lang="en-US" i="1" dirty="0" smtClean="0">
                          <a:latin typeface="Cambria Math" panose="02040503050406030204" pitchFamily="18" charset="0"/>
                        </a:rPr>
                        <m:t>𝑥</m:t>
                      </m:r>
                      <m:r>
                        <a:rPr lang="en-US" i="1" dirty="0" smtClean="0">
                          <a:latin typeface="Cambria Math" panose="02040503050406030204" pitchFamily="18" charset="0"/>
                        </a:rPr>
                        <m:t>)</m:t>
                      </m:r>
                    </m:oMath>
                  </m:oMathPara>
                </a14:m>
                <a:endParaRPr lang="en-US" dirty="0"/>
              </a:p>
              <a:p>
                <a:endParaRPr lang="en-US" dirty="0"/>
              </a:p>
              <a:p>
                <a:r>
                  <a:rPr lang="en-US" dirty="0"/>
                  <a:t>The country Rusha, an enemy of America . . .”:</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𝐸𝑛𝑒𝑚𝑦</m:t>
                      </m:r>
                      <m:r>
                        <a:rPr lang="en-US" i="1" dirty="0" smtClean="0">
                          <a:latin typeface="Cambria Math" panose="02040503050406030204" pitchFamily="18" charset="0"/>
                        </a:rPr>
                        <m:t>(</m:t>
                      </m:r>
                      <m:r>
                        <a:rPr lang="en-US" i="1" dirty="0" smtClean="0">
                          <a:latin typeface="Cambria Math" panose="02040503050406030204" pitchFamily="18" charset="0"/>
                        </a:rPr>
                        <m:t>𝑅𝑢𝑠</m:t>
                      </m:r>
                      <m:r>
                        <a:rPr lang="en-US" i="1" dirty="0" smtClean="0">
                          <a:latin typeface="Cambria Math" panose="02040503050406030204" pitchFamily="18" charset="0"/>
                        </a:rPr>
                        <m:t>h</m:t>
                      </m:r>
                      <m:r>
                        <a:rPr lang="en-US" i="1" dirty="0" smtClean="0">
                          <a:latin typeface="Cambria Math" panose="02040503050406030204" pitchFamily="18" charset="0"/>
                        </a:rPr>
                        <m:t>𝑎</m:t>
                      </m:r>
                      <m:r>
                        <a:rPr lang="en-US" i="1" dirty="0" smtClean="0">
                          <a:latin typeface="Cambria Math" panose="02040503050406030204" pitchFamily="18" charset="0"/>
                        </a:rPr>
                        <m:t>, </m:t>
                      </m:r>
                      <m:r>
                        <a:rPr lang="en-US" i="1" dirty="0">
                          <a:latin typeface="Cambria Math" panose="02040503050406030204" pitchFamily="18" charset="0"/>
                        </a:rPr>
                        <m:t>𝐴𝑚𝑒𝑟𝑖𝑐𝑎</m:t>
                      </m:r>
                      <m:r>
                        <a:rPr lang="en-US" i="1" dirty="0">
                          <a:latin typeface="Cambria Math" panose="02040503050406030204" pitchFamily="18" charset="0"/>
                        </a:rPr>
                        <m:t>)</m:t>
                      </m:r>
                    </m:oMath>
                  </m:oMathPara>
                </a14:m>
                <a:endParaRPr lang="en-US" dirty="0"/>
              </a:p>
            </p:txBody>
          </p:sp>
        </mc:Choice>
        <mc:Fallback xmlns="">
          <p:sp>
            <p:nvSpPr>
              <p:cNvPr id="3" name="Content Placeholder 2">
                <a:extLst>
                  <a:ext uri="{FF2B5EF4-FFF2-40B4-BE49-F238E27FC236}">
                    <a16:creationId xmlns:a16="http://schemas.microsoft.com/office/drawing/2014/main" id="{B6ECD9B9-6C78-ED8B-F58A-08D01C46135F}"/>
                  </a:ext>
                </a:extLst>
              </p:cNvPr>
              <p:cNvSpPr>
                <a:spLocks noGrp="1" noRot="1" noChangeAspect="1" noMove="1" noResize="1" noEditPoints="1" noAdjustHandles="1" noChangeArrowheads="1" noChangeShapeType="1" noTextEdit="1"/>
              </p:cNvSpPr>
              <p:nvPr>
                <p:ph idx="1"/>
              </p:nvPr>
            </p:nvSpPr>
            <p:spPr>
              <a:blipFill>
                <a:blip r:embed="rId2"/>
                <a:stretch>
                  <a:fillRect l="-1043" t="-2381"/>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175A136F-3944-5E76-858D-7702707F0A8B}"/>
              </a:ext>
            </a:extLst>
          </p:cNvPr>
          <p:cNvSpPr>
            <a:spLocks noGrp="1"/>
          </p:cNvSpPr>
          <p:nvPr>
            <p:ph type="dt" sz="half" idx="10"/>
          </p:nvPr>
        </p:nvSpPr>
        <p:spPr/>
        <p:txBody>
          <a:bodyPr/>
          <a:lstStyle/>
          <a:p>
            <a:fld id="{1332600A-A7B8-4674-AAE3-A37177B883E5}" type="datetime1">
              <a:rPr lang="en-GB" smtClean="0"/>
              <a:t>20/10/2025</a:t>
            </a:fld>
            <a:endParaRPr lang="en-GB"/>
          </a:p>
        </p:txBody>
      </p:sp>
      <p:sp>
        <p:nvSpPr>
          <p:cNvPr id="5" name="Slide Number Placeholder 4">
            <a:extLst>
              <a:ext uri="{FF2B5EF4-FFF2-40B4-BE49-F238E27FC236}">
                <a16:creationId xmlns:a16="http://schemas.microsoft.com/office/drawing/2014/main" id="{A80FCED9-5700-D848-74C9-49BEFBE15B49}"/>
              </a:ext>
            </a:extLst>
          </p:cNvPr>
          <p:cNvSpPr>
            <a:spLocks noGrp="1"/>
          </p:cNvSpPr>
          <p:nvPr>
            <p:ph type="sldNum" sz="quarter" idx="12"/>
          </p:nvPr>
        </p:nvSpPr>
        <p:spPr/>
        <p:txBody>
          <a:bodyPr/>
          <a:lstStyle/>
          <a:p>
            <a:fld id="{9EB268CF-8001-41B5-ADCD-92A7738D3D9B}" type="slidenum">
              <a:rPr lang="en-GB" smtClean="0"/>
              <a:t>26</a:t>
            </a:fld>
            <a:endParaRPr lang="en-GB"/>
          </a:p>
        </p:txBody>
      </p:sp>
    </p:spTree>
    <p:extLst>
      <p:ext uri="{BB962C8B-B14F-4D97-AF65-F5344CB8AC3E}">
        <p14:creationId xmlns:p14="http://schemas.microsoft.com/office/powerpoint/2010/main" val="356933836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27D33D-A9B3-99A1-71BF-BC9318803E09}"/>
              </a:ext>
            </a:extLst>
          </p:cNvPr>
          <p:cNvSpPr>
            <a:spLocks noGrp="1"/>
          </p:cNvSpPr>
          <p:nvPr>
            <p:ph type="title"/>
          </p:nvPr>
        </p:nvSpPr>
        <p:spPr/>
        <p:txBody>
          <a:bodyPr/>
          <a:lstStyle/>
          <a:p>
            <a:r>
              <a:rPr lang="en-US" dirty="0"/>
              <a:t>First-order definite clauses</a:t>
            </a:r>
          </a:p>
        </p:txBody>
      </p:sp>
      <p:sp>
        <p:nvSpPr>
          <p:cNvPr id="3" name="Content Placeholder 2">
            <a:extLst>
              <a:ext uri="{FF2B5EF4-FFF2-40B4-BE49-F238E27FC236}">
                <a16:creationId xmlns:a16="http://schemas.microsoft.com/office/drawing/2014/main" id="{FBF360D5-F588-D2FF-ED68-046E55FE53D9}"/>
              </a:ext>
            </a:extLst>
          </p:cNvPr>
          <p:cNvSpPr>
            <a:spLocks noGrp="1"/>
          </p:cNvSpPr>
          <p:nvPr>
            <p:ph idx="1"/>
          </p:nvPr>
        </p:nvSpPr>
        <p:spPr/>
        <p:txBody>
          <a:bodyPr/>
          <a:lstStyle/>
          <a:p>
            <a:r>
              <a:rPr lang="en-US" dirty="0"/>
              <a:t>This KB contains no function symbols.</a:t>
            </a:r>
          </a:p>
          <a:p>
            <a:pPr lvl="1"/>
            <a:r>
              <a:rPr lang="en-US" dirty="0"/>
              <a:t>an instance of the class of </a:t>
            </a:r>
            <a:r>
              <a:rPr lang="en-US" dirty="0" err="1"/>
              <a:t>Datalog</a:t>
            </a:r>
            <a:r>
              <a:rPr lang="en-US" dirty="0"/>
              <a:t> knowledge bases.</a:t>
            </a:r>
          </a:p>
          <a:p>
            <a:r>
              <a:rPr lang="en-US" dirty="0" err="1"/>
              <a:t>Datalog</a:t>
            </a:r>
            <a:r>
              <a:rPr lang="en-US" dirty="0"/>
              <a:t> is a language that is restricted to first-order definite clauses with no function symbols</a:t>
            </a:r>
          </a:p>
        </p:txBody>
      </p:sp>
      <p:sp>
        <p:nvSpPr>
          <p:cNvPr id="4" name="Date Placeholder 3">
            <a:extLst>
              <a:ext uri="{FF2B5EF4-FFF2-40B4-BE49-F238E27FC236}">
                <a16:creationId xmlns:a16="http://schemas.microsoft.com/office/drawing/2014/main" id="{1543900B-93A3-F8DE-8921-2E2593BEDD8B}"/>
              </a:ext>
            </a:extLst>
          </p:cNvPr>
          <p:cNvSpPr>
            <a:spLocks noGrp="1"/>
          </p:cNvSpPr>
          <p:nvPr>
            <p:ph type="dt" sz="half" idx="10"/>
          </p:nvPr>
        </p:nvSpPr>
        <p:spPr/>
        <p:txBody>
          <a:bodyPr/>
          <a:lstStyle/>
          <a:p>
            <a:fld id="{1332600A-A7B8-4674-AAE3-A37177B883E5}" type="datetime1">
              <a:rPr lang="en-GB" smtClean="0"/>
              <a:t>20/10/2025</a:t>
            </a:fld>
            <a:endParaRPr lang="en-GB"/>
          </a:p>
        </p:txBody>
      </p:sp>
      <p:sp>
        <p:nvSpPr>
          <p:cNvPr id="5" name="Slide Number Placeholder 4">
            <a:extLst>
              <a:ext uri="{FF2B5EF4-FFF2-40B4-BE49-F238E27FC236}">
                <a16:creationId xmlns:a16="http://schemas.microsoft.com/office/drawing/2014/main" id="{358B14A3-E65C-5CEA-8C3B-6E409EFE35F1}"/>
              </a:ext>
            </a:extLst>
          </p:cNvPr>
          <p:cNvSpPr>
            <a:spLocks noGrp="1"/>
          </p:cNvSpPr>
          <p:nvPr>
            <p:ph type="sldNum" sz="quarter" idx="12"/>
          </p:nvPr>
        </p:nvSpPr>
        <p:spPr/>
        <p:txBody>
          <a:bodyPr/>
          <a:lstStyle/>
          <a:p>
            <a:fld id="{9EB268CF-8001-41B5-ADCD-92A7738D3D9B}" type="slidenum">
              <a:rPr lang="en-GB" smtClean="0"/>
              <a:t>27</a:t>
            </a:fld>
            <a:endParaRPr lang="en-GB"/>
          </a:p>
        </p:txBody>
      </p:sp>
    </p:spTree>
    <p:extLst>
      <p:ext uri="{BB962C8B-B14F-4D97-AF65-F5344CB8AC3E}">
        <p14:creationId xmlns:p14="http://schemas.microsoft.com/office/powerpoint/2010/main" val="303628247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AD6434-2B13-BC01-FF6E-DD6A92AE427C}"/>
              </a:ext>
            </a:extLst>
          </p:cNvPr>
          <p:cNvSpPr>
            <a:spLocks noGrp="1"/>
          </p:cNvSpPr>
          <p:nvPr>
            <p:ph type="title"/>
          </p:nvPr>
        </p:nvSpPr>
        <p:spPr/>
        <p:txBody>
          <a:bodyPr/>
          <a:lstStyle/>
          <a:p>
            <a:r>
              <a:rPr lang="en-US" dirty="0"/>
              <a:t>A simple forward-chaining algorithm</a:t>
            </a:r>
          </a:p>
        </p:txBody>
      </p:sp>
      <p:sp>
        <p:nvSpPr>
          <p:cNvPr id="3" name="Content Placeholder 2">
            <a:extLst>
              <a:ext uri="{FF2B5EF4-FFF2-40B4-BE49-F238E27FC236}">
                <a16:creationId xmlns:a16="http://schemas.microsoft.com/office/drawing/2014/main" id="{B1384D65-016C-4A4C-2D55-D923600573B3}"/>
              </a:ext>
            </a:extLst>
          </p:cNvPr>
          <p:cNvSpPr>
            <a:spLocks noGrp="1"/>
          </p:cNvSpPr>
          <p:nvPr>
            <p:ph idx="1"/>
          </p:nvPr>
        </p:nvSpPr>
        <p:spPr/>
        <p:txBody>
          <a:bodyPr/>
          <a:lstStyle/>
          <a:p>
            <a:r>
              <a:rPr lang="en-US" dirty="0"/>
              <a:t>Starting from the known facts, it triggers all the rules whose premises are satisfied, adding their conclusions to the known facts.</a:t>
            </a:r>
          </a:p>
          <a:p>
            <a:endParaRPr lang="en-US" dirty="0"/>
          </a:p>
          <a:p>
            <a:r>
              <a:rPr lang="en-US" dirty="0"/>
              <a:t>Let’s look at the crime problem.</a:t>
            </a:r>
          </a:p>
        </p:txBody>
      </p:sp>
      <p:sp>
        <p:nvSpPr>
          <p:cNvPr id="4" name="Date Placeholder 3">
            <a:extLst>
              <a:ext uri="{FF2B5EF4-FFF2-40B4-BE49-F238E27FC236}">
                <a16:creationId xmlns:a16="http://schemas.microsoft.com/office/drawing/2014/main" id="{C6FCDD8F-54DC-FB4B-A914-5734920A79A3}"/>
              </a:ext>
            </a:extLst>
          </p:cNvPr>
          <p:cNvSpPr>
            <a:spLocks noGrp="1"/>
          </p:cNvSpPr>
          <p:nvPr>
            <p:ph type="dt" sz="half" idx="10"/>
          </p:nvPr>
        </p:nvSpPr>
        <p:spPr/>
        <p:txBody>
          <a:bodyPr/>
          <a:lstStyle/>
          <a:p>
            <a:fld id="{1332600A-A7B8-4674-AAE3-A37177B883E5}" type="datetime1">
              <a:rPr lang="en-GB" smtClean="0"/>
              <a:t>20/10/2025</a:t>
            </a:fld>
            <a:endParaRPr lang="en-GB"/>
          </a:p>
        </p:txBody>
      </p:sp>
      <p:sp>
        <p:nvSpPr>
          <p:cNvPr id="5" name="Slide Number Placeholder 4">
            <a:extLst>
              <a:ext uri="{FF2B5EF4-FFF2-40B4-BE49-F238E27FC236}">
                <a16:creationId xmlns:a16="http://schemas.microsoft.com/office/drawing/2014/main" id="{27AE9C9B-4FE3-7142-6A1D-1493E2C15DAF}"/>
              </a:ext>
            </a:extLst>
          </p:cNvPr>
          <p:cNvSpPr>
            <a:spLocks noGrp="1"/>
          </p:cNvSpPr>
          <p:nvPr>
            <p:ph type="sldNum" sz="quarter" idx="12"/>
          </p:nvPr>
        </p:nvSpPr>
        <p:spPr/>
        <p:txBody>
          <a:bodyPr/>
          <a:lstStyle/>
          <a:p>
            <a:fld id="{9EB268CF-8001-41B5-ADCD-92A7738D3D9B}" type="slidenum">
              <a:rPr lang="en-GB" smtClean="0"/>
              <a:t>28</a:t>
            </a:fld>
            <a:endParaRPr lang="en-GB"/>
          </a:p>
        </p:txBody>
      </p:sp>
    </p:spTree>
    <p:extLst>
      <p:ext uri="{BB962C8B-B14F-4D97-AF65-F5344CB8AC3E}">
        <p14:creationId xmlns:p14="http://schemas.microsoft.com/office/powerpoint/2010/main" val="314413941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48E6A4-8B8E-D14B-C902-D4F5B2D91DAA}"/>
              </a:ext>
            </a:extLst>
          </p:cNvPr>
          <p:cNvSpPr>
            <a:spLocks noGrp="1"/>
          </p:cNvSpPr>
          <p:nvPr>
            <p:ph type="title"/>
          </p:nvPr>
        </p:nvSpPr>
        <p:spPr/>
        <p:txBody>
          <a:bodyPr/>
          <a:lstStyle/>
          <a:p>
            <a:r>
              <a:rPr lang="en-US" dirty="0"/>
              <a:t>A simple forward-chaining algorithm</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DA9662E-F739-55CB-6692-42C1D0310E76}"/>
                  </a:ext>
                </a:extLst>
              </p:cNvPr>
              <p:cNvSpPr>
                <a:spLocks noGrp="1"/>
              </p:cNvSpPr>
              <p:nvPr>
                <p:ph idx="1"/>
              </p:nvPr>
            </p:nvSpPr>
            <p:spPr/>
            <p:txBody>
              <a:bodyPr/>
              <a:lstStyle/>
              <a:p>
                <a:r>
                  <a:rPr lang="en-US" dirty="0"/>
                  <a:t>Implication sentences are:</a:t>
                </a:r>
              </a:p>
              <a:p>
                <a:endParaRPr lang="en-US" dirty="0"/>
              </a:p>
              <a:p>
                <a:pPr marL="0" indent="0">
                  <a:buNone/>
                </a:pPr>
                <a:r>
                  <a:rPr lang="en-US" sz="2400" dirty="0"/>
                  <a:t>1. </a:t>
                </a:r>
                <a14:m>
                  <m:oMath xmlns:m="http://schemas.openxmlformats.org/officeDocument/2006/math">
                    <m:r>
                      <a:rPr lang="en-US" sz="2400" i="1" dirty="0" smtClean="0">
                        <a:latin typeface="Cambria Math" panose="02040503050406030204" pitchFamily="18" charset="0"/>
                      </a:rPr>
                      <m:t>𝐴𝑚𝑒𝑟𝑖𝑐𝑎𝑛</m:t>
                    </m:r>
                    <m:r>
                      <a:rPr lang="en-US" sz="2400" i="1" dirty="0" smtClean="0">
                        <a:latin typeface="Cambria Math" panose="02040503050406030204" pitchFamily="18" charset="0"/>
                      </a:rPr>
                      <m:t>(</m:t>
                    </m:r>
                    <m:r>
                      <a:rPr lang="en-US" sz="2400" i="1" dirty="0" smtClean="0">
                        <a:latin typeface="Cambria Math" panose="02040503050406030204" pitchFamily="18" charset="0"/>
                      </a:rPr>
                      <m:t>𝑥</m:t>
                    </m:r>
                    <m:r>
                      <a:rPr lang="en-US" sz="2400" i="1" dirty="0" smtClean="0">
                        <a:latin typeface="Cambria Math" panose="02040503050406030204" pitchFamily="18" charset="0"/>
                      </a:rPr>
                      <m:t>) ∧ </m:t>
                    </m:r>
                    <m:r>
                      <a:rPr lang="en-US" sz="2400" i="1" dirty="0" smtClean="0">
                        <a:latin typeface="Cambria Math" panose="02040503050406030204" pitchFamily="18" charset="0"/>
                      </a:rPr>
                      <m:t>𝑊𝑒𝑎𝑝𝑜𝑛</m:t>
                    </m:r>
                    <m:r>
                      <a:rPr lang="en-US" sz="2400" i="1" dirty="0" smtClean="0">
                        <a:latin typeface="Cambria Math" panose="02040503050406030204" pitchFamily="18" charset="0"/>
                      </a:rPr>
                      <m:t>(</m:t>
                    </m:r>
                    <m:r>
                      <a:rPr lang="en-US" sz="2400" i="1" dirty="0" smtClean="0">
                        <a:latin typeface="Cambria Math" panose="02040503050406030204" pitchFamily="18" charset="0"/>
                      </a:rPr>
                      <m:t>𝑦</m:t>
                    </m:r>
                    <m:r>
                      <a:rPr lang="en-US" sz="2400" i="1" dirty="0" smtClean="0">
                        <a:latin typeface="Cambria Math" panose="02040503050406030204" pitchFamily="18" charset="0"/>
                      </a:rPr>
                      <m:t>) ∧ </m:t>
                    </m:r>
                    <m:r>
                      <a:rPr lang="en-US" sz="2400" i="1" dirty="0" smtClean="0">
                        <a:latin typeface="Cambria Math" panose="02040503050406030204" pitchFamily="18" charset="0"/>
                      </a:rPr>
                      <m:t>𝑆𝑒𝑙𝑙𝑠</m:t>
                    </m:r>
                    <m:r>
                      <a:rPr lang="en-US" sz="2400" i="1" dirty="0" smtClean="0">
                        <a:latin typeface="Cambria Math" panose="02040503050406030204" pitchFamily="18" charset="0"/>
                      </a:rPr>
                      <m:t>(</m:t>
                    </m:r>
                    <m:r>
                      <a:rPr lang="en-US" sz="2400" i="1" dirty="0" smtClean="0">
                        <a:latin typeface="Cambria Math" panose="02040503050406030204" pitchFamily="18" charset="0"/>
                      </a:rPr>
                      <m:t>𝑥</m:t>
                    </m:r>
                    <m:r>
                      <a:rPr lang="en-US" sz="2400" i="1" dirty="0" smtClean="0">
                        <a:latin typeface="Cambria Math" panose="02040503050406030204" pitchFamily="18" charset="0"/>
                      </a:rPr>
                      <m:t>, </m:t>
                    </m:r>
                    <m:r>
                      <a:rPr lang="en-US" sz="2400" i="1" dirty="0" smtClean="0">
                        <a:latin typeface="Cambria Math" panose="02040503050406030204" pitchFamily="18" charset="0"/>
                      </a:rPr>
                      <m:t>𝑦</m:t>
                    </m:r>
                    <m:r>
                      <a:rPr lang="en-US" sz="2400" i="1" dirty="0" smtClean="0">
                        <a:latin typeface="Cambria Math" panose="02040503050406030204" pitchFamily="18" charset="0"/>
                      </a:rPr>
                      <m:t>, </m:t>
                    </m:r>
                    <m:r>
                      <a:rPr lang="en-US" sz="2400" i="1" dirty="0" smtClean="0">
                        <a:latin typeface="Cambria Math" panose="02040503050406030204" pitchFamily="18" charset="0"/>
                      </a:rPr>
                      <m:t>𝑧</m:t>
                    </m:r>
                    <m:r>
                      <a:rPr lang="en-US" sz="2400" i="1" dirty="0" smtClean="0">
                        <a:latin typeface="Cambria Math" panose="02040503050406030204" pitchFamily="18" charset="0"/>
                      </a:rPr>
                      <m:t>) ∧ </m:t>
                    </m:r>
                    <m:r>
                      <a:rPr lang="en-US" sz="2400" i="1" dirty="0" smtClean="0">
                        <a:latin typeface="Cambria Math" panose="02040503050406030204" pitchFamily="18" charset="0"/>
                      </a:rPr>
                      <m:t>𝐻𝑜𝑠𝑡𝑖𝑙𝑒</m:t>
                    </m:r>
                    <m:r>
                      <a:rPr lang="en-US" sz="2400" i="1" dirty="0" smtClean="0">
                        <a:latin typeface="Cambria Math" panose="02040503050406030204" pitchFamily="18" charset="0"/>
                      </a:rPr>
                      <m:t>(</m:t>
                    </m:r>
                    <m:r>
                      <a:rPr lang="en-US" sz="2400" i="1" dirty="0" smtClean="0">
                        <a:latin typeface="Cambria Math" panose="02040503050406030204" pitchFamily="18" charset="0"/>
                      </a:rPr>
                      <m:t>𝑧</m:t>
                    </m:r>
                    <m:r>
                      <a:rPr lang="en-US" sz="2400" i="1" dirty="0" smtClean="0">
                        <a:latin typeface="Cambria Math" panose="02040503050406030204" pitchFamily="18" charset="0"/>
                      </a:rPr>
                      <m:t>) ⇒ </m:t>
                    </m:r>
                    <m:r>
                      <a:rPr lang="en-US" sz="2400" i="1" dirty="0" smtClean="0">
                        <a:latin typeface="Cambria Math" panose="02040503050406030204" pitchFamily="18" charset="0"/>
                      </a:rPr>
                      <m:t>𝐶𝑟𝑖𝑚𝑖𝑛𝑎𝑙</m:t>
                    </m:r>
                    <m:r>
                      <a:rPr lang="en-US" sz="2400" i="1" dirty="0" smtClean="0">
                        <a:latin typeface="Cambria Math" panose="02040503050406030204" pitchFamily="18" charset="0"/>
                      </a:rPr>
                      <m:t> (</m:t>
                    </m:r>
                    <m:r>
                      <a:rPr lang="en-US" sz="2400" i="1" dirty="0" smtClean="0">
                        <a:latin typeface="Cambria Math" panose="02040503050406030204" pitchFamily="18" charset="0"/>
                      </a:rPr>
                      <m:t>𝑥</m:t>
                    </m:r>
                    <m:r>
                      <a:rPr lang="en-US" sz="2400" i="1" dirty="0" smtClean="0">
                        <a:latin typeface="Cambria Math" panose="02040503050406030204" pitchFamily="18" charset="0"/>
                      </a:rPr>
                      <m:t>)</m:t>
                    </m:r>
                  </m:oMath>
                </a14:m>
                <a:endParaRPr lang="en-US" sz="2400" dirty="0"/>
              </a:p>
              <a:p>
                <a:pPr marL="0" indent="0">
                  <a:buNone/>
                </a:pPr>
                <a:r>
                  <a:rPr lang="en-US" sz="2400" dirty="0"/>
                  <a:t>2. </a:t>
                </a:r>
                <a14:m>
                  <m:oMath xmlns:m="http://schemas.openxmlformats.org/officeDocument/2006/math">
                    <m:r>
                      <a:rPr lang="en-US" sz="2400" i="1" dirty="0" smtClean="0">
                        <a:latin typeface="Cambria Math" panose="02040503050406030204" pitchFamily="18" charset="0"/>
                      </a:rPr>
                      <m:t>𝑀𝑖𝑠𝑠𝑖𝑙𝑒</m:t>
                    </m:r>
                    <m:r>
                      <a:rPr lang="en-US" sz="2400" i="1" dirty="0" smtClean="0">
                        <a:latin typeface="Cambria Math" panose="02040503050406030204" pitchFamily="18" charset="0"/>
                      </a:rPr>
                      <m:t>(</m:t>
                    </m:r>
                    <m:r>
                      <a:rPr lang="en-US" sz="2400" i="1" dirty="0" smtClean="0">
                        <a:latin typeface="Cambria Math" panose="02040503050406030204" pitchFamily="18" charset="0"/>
                      </a:rPr>
                      <m:t>𝑥</m:t>
                    </m:r>
                    <m:r>
                      <a:rPr lang="en-US" sz="2400" i="1" dirty="0" smtClean="0">
                        <a:latin typeface="Cambria Math" panose="02040503050406030204" pitchFamily="18" charset="0"/>
                      </a:rPr>
                      <m:t>) ∧ </m:t>
                    </m:r>
                    <m:r>
                      <a:rPr lang="en-US" sz="2400" i="1" dirty="0" smtClean="0">
                        <a:latin typeface="Cambria Math" panose="02040503050406030204" pitchFamily="18" charset="0"/>
                      </a:rPr>
                      <m:t>𝑂𝑤𝑛𝑠</m:t>
                    </m:r>
                    <m:r>
                      <a:rPr lang="en-US" sz="2400" i="1" dirty="0" smtClean="0">
                        <a:latin typeface="Cambria Math" panose="02040503050406030204" pitchFamily="18" charset="0"/>
                      </a:rPr>
                      <m:t>(</m:t>
                    </m:r>
                    <m:r>
                      <a:rPr lang="en-US" sz="2400" b="0" i="1" dirty="0" smtClean="0">
                        <a:latin typeface="Cambria Math" panose="02040503050406030204" pitchFamily="18" charset="0"/>
                      </a:rPr>
                      <m:t>𝑅𝑢𝑠</m:t>
                    </m:r>
                    <m:r>
                      <a:rPr lang="en-US" sz="2400" b="0" i="1" dirty="0" smtClean="0">
                        <a:latin typeface="Cambria Math" panose="02040503050406030204" pitchFamily="18" charset="0"/>
                      </a:rPr>
                      <m:t>h</m:t>
                    </m:r>
                    <m:r>
                      <a:rPr lang="en-US" sz="2400" b="0" i="1" dirty="0" smtClean="0">
                        <a:latin typeface="Cambria Math" panose="02040503050406030204" pitchFamily="18" charset="0"/>
                      </a:rPr>
                      <m:t>𝑎</m:t>
                    </m:r>
                    <m:r>
                      <a:rPr lang="en-US" sz="2400" i="1" dirty="0" smtClean="0">
                        <a:latin typeface="Cambria Math" panose="02040503050406030204" pitchFamily="18" charset="0"/>
                      </a:rPr>
                      <m:t>, </m:t>
                    </m:r>
                    <m:r>
                      <a:rPr lang="en-US" sz="2400" i="1" dirty="0" smtClean="0">
                        <a:latin typeface="Cambria Math" panose="02040503050406030204" pitchFamily="18" charset="0"/>
                      </a:rPr>
                      <m:t>𝑥</m:t>
                    </m:r>
                    <m:r>
                      <a:rPr lang="en-US" sz="2400" i="1" dirty="0" smtClean="0">
                        <a:latin typeface="Cambria Math" panose="02040503050406030204" pitchFamily="18" charset="0"/>
                      </a:rPr>
                      <m:t>) ⇒ </m:t>
                    </m:r>
                    <m:r>
                      <a:rPr lang="en-US" sz="2400" i="1" dirty="0" smtClean="0">
                        <a:latin typeface="Cambria Math" panose="02040503050406030204" pitchFamily="18" charset="0"/>
                      </a:rPr>
                      <m:t>𝑆𝑒𝑙𝑙𝑠</m:t>
                    </m:r>
                    <m:r>
                      <a:rPr lang="en-US" sz="2400" i="1" dirty="0" smtClean="0">
                        <a:latin typeface="Cambria Math" panose="02040503050406030204" pitchFamily="18" charset="0"/>
                      </a:rPr>
                      <m:t>(</m:t>
                    </m:r>
                    <m:r>
                      <a:rPr lang="en-US" sz="2400" i="1" dirty="0" smtClean="0">
                        <a:latin typeface="Cambria Math" panose="02040503050406030204" pitchFamily="18" charset="0"/>
                      </a:rPr>
                      <m:t>𝑊𝑒𝑠𝑡</m:t>
                    </m:r>
                    <m:r>
                      <a:rPr lang="en-US" sz="2400" i="1" dirty="0" smtClean="0">
                        <a:latin typeface="Cambria Math" panose="02040503050406030204" pitchFamily="18" charset="0"/>
                      </a:rPr>
                      <m:t>, </m:t>
                    </m:r>
                    <m:r>
                      <a:rPr lang="en-US" sz="2400" i="1" dirty="0" smtClean="0">
                        <a:latin typeface="Cambria Math" panose="02040503050406030204" pitchFamily="18" charset="0"/>
                      </a:rPr>
                      <m:t>𝑥</m:t>
                    </m:r>
                    <m:r>
                      <a:rPr lang="en-US" sz="2400" i="1" dirty="0" smtClean="0">
                        <a:latin typeface="Cambria Math" panose="02040503050406030204" pitchFamily="18" charset="0"/>
                      </a:rPr>
                      <m:t>, </m:t>
                    </m:r>
                    <m:r>
                      <a:rPr lang="en-US" sz="2400" b="0" i="1" dirty="0" smtClean="0">
                        <a:latin typeface="Cambria Math" panose="02040503050406030204" pitchFamily="18" charset="0"/>
                      </a:rPr>
                      <m:t>𝑅𝑢𝑠</m:t>
                    </m:r>
                    <m:r>
                      <a:rPr lang="en-US" sz="2400" b="0" i="1" dirty="0" smtClean="0">
                        <a:latin typeface="Cambria Math" panose="02040503050406030204" pitchFamily="18" charset="0"/>
                      </a:rPr>
                      <m:t>h</m:t>
                    </m:r>
                    <m:r>
                      <a:rPr lang="en-US" sz="2400" b="0" i="1" dirty="0" smtClean="0">
                        <a:latin typeface="Cambria Math" panose="02040503050406030204" pitchFamily="18" charset="0"/>
                      </a:rPr>
                      <m:t>𝑎</m:t>
                    </m:r>
                    <m:r>
                      <a:rPr lang="en-US" sz="2400" i="1" dirty="0" smtClean="0">
                        <a:latin typeface="Cambria Math" panose="02040503050406030204" pitchFamily="18" charset="0"/>
                      </a:rPr>
                      <m:t>)</m:t>
                    </m:r>
                  </m:oMath>
                </a14:m>
                <a:endParaRPr lang="en-US" sz="2400" dirty="0"/>
              </a:p>
              <a:p>
                <a:pPr marL="0" indent="0">
                  <a:buNone/>
                </a:pPr>
                <a:r>
                  <a:rPr lang="en-US" sz="2400" dirty="0"/>
                  <a:t>3. </a:t>
                </a:r>
                <a14:m>
                  <m:oMath xmlns:m="http://schemas.openxmlformats.org/officeDocument/2006/math">
                    <m:r>
                      <a:rPr lang="en-US" sz="2400" i="1" dirty="0" smtClean="0">
                        <a:latin typeface="Cambria Math" panose="02040503050406030204" pitchFamily="18" charset="0"/>
                      </a:rPr>
                      <m:t>𝑀𝑖𝑠𝑠𝑖𝑙𝑒</m:t>
                    </m:r>
                    <m:r>
                      <a:rPr lang="en-US" sz="2400" i="1" dirty="0" smtClean="0">
                        <a:latin typeface="Cambria Math" panose="02040503050406030204" pitchFamily="18" charset="0"/>
                      </a:rPr>
                      <m:t>(</m:t>
                    </m:r>
                    <m:r>
                      <a:rPr lang="en-US" sz="2400" i="1" dirty="0" smtClean="0">
                        <a:latin typeface="Cambria Math" panose="02040503050406030204" pitchFamily="18" charset="0"/>
                      </a:rPr>
                      <m:t>𝑥</m:t>
                    </m:r>
                    <m:r>
                      <a:rPr lang="en-US" sz="2400" i="1" dirty="0" smtClean="0">
                        <a:latin typeface="Cambria Math" panose="02040503050406030204" pitchFamily="18" charset="0"/>
                      </a:rPr>
                      <m:t>) ⇒ </m:t>
                    </m:r>
                    <m:r>
                      <a:rPr lang="en-US" sz="2400" i="1" dirty="0" smtClean="0">
                        <a:latin typeface="Cambria Math" panose="02040503050406030204" pitchFamily="18" charset="0"/>
                      </a:rPr>
                      <m:t>𝑊𝑒𝑎𝑝𝑜𝑛</m:t>
                    </m:r>
                    <m:r>
                      <a:rPr lang="en-US" sz="2400" i="1" dirty="0" smtClean="0">
                        <a:latin typeface="Cambria Math" panose="02040503050406030204" pitchFamily="18" charset="0"/>
                      </a:rPr>
                      <m:t>(</m:t>
                    </m:r>
                    <m:r>
                      <a:rPr lang="en-US" sz="2400" i="1" dirty="0" smtClean="0">
                        <a:latin typeface="Cambria Math" panose="02040503050406030204" pitchFamily="18" charset="0"/>
                      </a:rPr>
                      <m:t>𝑥</m:t>
                    </m:r>
                    <m:r>
                      <a:rPr lang="en-US" sz="2400" i="1" dirty="0" smtClean="0">
                        <a:latin typeface="Cambria Math" panose="02040503050406030204" pitchFamily="18" charset="0"/>
                      </a:rPr>
                      <m:t>)</m:t>
                    </m:r>
                  </m:oMath>
                </a14:m>
                <a:endParaRPr lang="en-US" sz="2400" dirty="0"/>
              </a:p>
              <a:p>
                <a:pPr marL="0" indent="0">
                  <a:buNone/>
                </a:pPr>
                <a:r>
                  <a:rPr lang="en-US" sz="2400" dirty="0"/>
                  <a:t>4. </a:t>
                </a:r>
                <a14:m>
                  <m:oMath xmlns:m="http://schemas.openxmlformats.org/officeDocument/2006/math">
                    <m:r>
                      <a:rPr lang="en-US" sz="2400" i="1" dirty="0" smtClean="0">
                        <a:latin typeface="Cambria Math" panose="02040503050406030204" pitchFamily="18" charset="0"/>
                      </a:rPr>
                      <m:t>𝐸𝑛𝑒𝑚𝑦</m:t>
                    </m:r>
                    <m:r>
                      <a:rPr lang="en-US" sz="2400" i="1" dirty="0" smtClean="0">
                        <a:latin typeface="Cambria Math" panose="02040503050406030204" pitchFamily="18" charset="0"/>
                      </a:rPr>
                      <m:t>(</m:t>
                    </m:r>
                    <m:r>
                      <a:rPr lang="en-US" sz="2400" i="1" dirty="0" smtClean="0">
                        <a:latin typeface="Cambria Math" panose="02040503050406030204" pitchFamily="18" charset="0"/>
                      </a:rPr>
                      <m:t>𝑥</m:t>
                    </m:r>
                    <m:r>
                      <a:rPr lang="en-US" sz="2400" i="1" dirty="0" smtClean="0">
                        <a:latin typeface="Cambria Math" panose="02040503050406030204" pitchFamily="18" charset="0"/>
                      </a:rPr>
                      <m:t>, </m:t>
                    </m:r>
                    <m:r>
                      <a:rPr lang="en-US" sz="2400" i="1" dirty="0" smtClean="0">
                        <a:latin typeface="Cambria Math" panose="02040503050406030204" pitchFamily="18" charset="0"/>
                      </a:rPr>
                      <m:t>𝐴𝑚𝑒𝑟𝑖𝑐𝑎</m:t>
                    </m:r>
                    <m:r>
                      <a:rPr lang="en-US" sz="2400" i="1" dirty="0" smtClean="0">
                        <a:latin typeface="Cambria Math" panose="02040503050406030204" pitchFamily="18" charset="0"/>
                      </a:rPr>
                      <m:t>) ⇒ </m:t>
                    </m:r>
                    <m:r>
                      <a:rPr lang="en-US" sz="2400" i="1" dirty="0" smtClean="0">
                        <a:latin typeface="Cambria Math" panose="02040503050406030204" pitchFamily="18" charset="0"/>
                      </a:rPr>
                      <m:t>𝐻𝑜𝑠𝑡𝑖𝑙𝑒</m:t>
                    </m:r>
                    <m:r>
                      <a:rPr lang="en-US" sz="2400" i="1" dirty="0" smtClean="0">
                        <a:latin typeface="Cambria Math" panose="02040503050406030204" pitchFamily="18" charset="0"/>
                      </a:rPr>
                      <m:t>(</m:t>
                    </m:r>
                    <m:r>
                      <a:rPr lang="en-US" sz="2400" i="1" dirty="0" smtClean="0">
                        <a:latin typeface="Cambria Math" panose="02040503050406030204" pitchFamily="18" charset="0"/>
                      </a:rPr>
                      <m:t>𝑥</m:t>
                    </m:r>
                    <m:r>
                      <a:rPr lang="en-US" sz="2400" i="1" dirty="0" smtClean="0">
                        <a:latin typeface="Cambria Math" panose="02040503050406030204" pitchFamily="18" charset="0"/>
                      </a:rPr>
                      <m:t>)</m:t>
                    </m:r>
                  </m:oMath>
                </a14:m>
                <a:endParaRPr lang="en-US" sz="2400" dirty="0"/>
              </a:p>
            </p:txBody>
          </p:sp>
        </mc:Choice>
        <mc:Fallback xmlns="">
          <p:sp>
            <p:nvSpPr>
              <p:cNvPr id="3" name="Content Placeholder 2">
                <a:extLst>
                  <a:ext uri="{FF2B5EF4-FFF2-40B4-BE49-F238E27FC236}">
                    <a16:creationId xmlns:a16="http://schemas.microsoft.com/office/drawing/2014/main" id="{6DA9662E-F739-55CB-6692-42C1D0310E76}"/>
                  </a:ext>
                </a:extLst>
              </p:cNvPr>
              <p:cNvSpPr>
                <a:spLocks noGrp="1" noRot="1" noChangeAspect="1" noMove="1" noResize="1" noEditPoints="1" noAdjustHandles="1" noChangeArrowheads="1" noChangeShapeType="1" noTextEdit="1"/>
              </p:cNvSpPr>
              <p:nvPr>
                <p:ph idx="1"/>
              </p:nvPr>
            </p:nvSpPr>
            <p:spPr>
              <a:blipFill>
                <a:blip r:embed="rId2"/>
                <a:stretch>
                  <a:fillRect l="-1043" t="-2381" r="-290"/>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599A864E-4108-0D9B-026F-BE2FBBB5FD7B}"/>
              </a:ext>
            </a:extLst>
          </p:cNvPr>
          <p:cNvSpPr>
            <a:spLocks noGrp="1"/>
          </p:cNvSpPr>
          <p:nvPr>
            <p:ph type="dt" sz="half" idx="10"/>
          </p:nvPr>
        </p:nvSpPr>
        <p:spPr/>
        <p:txBody>
          <a:bodyPr/>
          <a:lstStyle/>
          <a:p>
            <a:fld id="{1332600A-A7B8-4674-AAE3-A37177B883E5}" type="datetime1">
              <a:rPr lang="en-GB" smtClean="0"/>
              <a:t>20/10/2025</a:t>
            </a:fld>
            <a:endParaRPr lang="en-GB"/>
          </a:p>
        </p:txBody>
      </p:sp>
      <p:sp>
        <p:nvSpPr>
          <p:cNvPr id="5" name="Slide Number Placeholder 4">
            <a:extLst>
              <a:ext uri="{FF2B5EF4-FFF2-40B4-BE49-F238E27FC236}">
                <a16:creationId xmlns:a16="http://schemas.microsoft.com/office/drawing/2014/main" id="{DB9747BF-89FA-9E84-5ABC-FC19A18ECD3B}"/>
              </a:ext>
            </a:extLst>
          </p:cNvPr>
          <p:cNvSpPr>
            <a:spLocks noGrp="1"/>
          </p:cNvSpPr>
          <p:nvPr>
            <p:ph type="sldNum" sz="quarter" idx="12"/>
          </p:nvPr>
        </p:nvSpPr>
        <p:spPr/>
        <p:txBody>
          <a:bodyPr/>
          <a:lstStyle/>
          <a:p>
            <a:fld id="{9EB268CF-8001-41B5-ADCD-92A7738D3D9B}" type="slidenum">
              <a:rPr lang="en-GB" smtClean="0"/>
              <a:t>29</a:t>
            </a:fld>
            <a:endParaRPr lang="en-GB"/>
          </a:p>
        </p:txBody>
      </p:sp>
    </p:spTree>
    <p:extLst>
      <p:ext uri="{BB962C8B-B14F-4D97-AF65-F5344CB8AC3E}">
        <p14:creationId xmlns:p14="http://schemas.microsoft.com/office/powerpoint/2010/main" val="414505392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941A72-2D1F-48F0-FED2-103E2526010F}"/>
              </a:ext>
            </a:extLst>
          </p:cNvPr>
          <p:cNvSpPr>
            <a:spLocks noGrp="1"/>
          </p:cNvSpPr>
          <p:nvPr>
            <p:ph type="title"/>
          </p:nvPr>
        </p:nvSpPr>
        <p:spPr/>
        <p:txBody>
          <a:bodyPr/>
          <a:lstStyle/>
          <a:p>
            <a:r>
              <a:rPr lang="en-US" dirty="0"/>
              <a:t>A simple forward-chaining algorithm</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96E7565-36FF-2705-7726-98FFCFED7846}"/>
                  </a:ext>
                </a:extLst>
              </p:cNvPr>
              <p:cNvSpPr>
                <a:spLocks noGrp="1"/>
              </p:cNvSpPr>
              <p:nvPr>
                <p:ph idx="1"/>
              </p:nvPr>
            </p:nvSpPr>
            <p:spPr/>
            <p:txBody>
              <a:bodyPr>
                <a:normAutofit fontScale="92500" lnSpcReduction="20000"/>
              </a:bodyPr>
              <a:lstStyle/>
              <a:p>
                <a:endParaRPr lang="en-US" dirty="0"/>
              </a:p>
              <a:p>
                <a:endParaRPr lang="en-US" dirty="0"/>
              </a:p>
              <a:p>
                <a:endParaRPr lang="en-US" dirty="0"/>
              </a:p>
              <a:p>
                <a:endParaRPr lang="en-US" dirty="0"/>
              </a:p>
              <a:p>
                <a:r>
                  <a:rPr lang="en-US" dirty="0"/>
                  <a:t>From (2) substituting with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𝑥</m:t>
                        </m:r>
                        <m:r>
                          <m:rPr>
                            <m:lit/>
                          </m:rP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𝑀</m:t>
                            </m:r>
                          </m:e>
                          <m:sub>
                            <m:r>
                              <a:rPr lang="en-US" b="0" i="1" smtClean="0">
                                <a:latin typeface="Cambria Math" panose="02040503050406030204" pitchFamily="18" charset="0"/>
                              </a:rPr>
                              <m:t>1</m:t>
                            </m:r>
                          </m:sub>
                        </m:sSub>
                      </m:e>
                    </m:d>
                  </m:oMath>
                </a14:m>
                <a:endParaRPr lang="en-US" b="0" dirty="0"/>
              </a:p>
              <a:p>
                <a:pPr marL="457200" lvl="1" indent="0">
                  <a:buNone/>
                </a:pPr>
                <a:r>
                  <a:rPr lang="en-US" dirty="0"/>
                  <a:t>4. </a:t>
                </a:r>
                <a14:m>
                  <m:oMath xmlns:m="http://schemas.openxmlformats.org/officeDocument/2006/math">
                    <m:r>
                      <a:rPr lang="en-US" b="0" i="1" smtClean="0">
                        <a:latin typeface="Cambria Math" panose="02040503050406030204" pitchFamily="18" charset="0"/>
                      </a:rPr>
                      <m:t>𝑆𝑒𝑙𝑙𝑠</m:t>
                    </m:r>
                    <m:d>
                      <m:dPr>
                        <m:ctrlPr>
                          <a:rPr lang="en-US" b="0" i="1" smtClean="0">
                            <a:latin typeface="Cambria Math" panose="02040503050406030204" pitchFamily="18" charset="0"/>
                          </a:rPr>
                        </m:ctrlPr>
                      </m:dPr>
                      <m:e>
                        <m:r>
                          <a:rPr lang="en-US" b="0" i="1" smtClean="0">
                            <a:latin typeface="Cambria Math" panose="02040503050406030204" pitchFamily="18" charset="0"/>
                          </a:rPr>
                          <m:t>𝑊𝑒𝑠𝑡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𝑀</m:t>
                            </m:r>
                          </m:e>
                          <m:sub>
                            <m:r>
                              <a:rPr lang="en-US" b="0" i="1" smtClean="0">
                                <a:latin typeface="Cambria Math" panose="02040503050406030204" pitchFamily="18" charset="0"/>
                              </a:rPr>
                              <m:t>1</m:t>
                            </m:r>
                          </m:sub>
                        </m:sSub>
                        <m:r>
                          <a:rPr lang="en-US" b="0" i="1" smtClean="0">
                            <a:latin typeface="Cambria Math" panose="02040503050406030204" pitchFamily="18" charset="0"/>
                          </a:rPr>
                          <m:t>, </m:t>
                        </m:r>
                        <m:r>
                          <a:rPr lang="en-US" b="0" i="1" smtClean="0">
                            <a:latin typeface="Cambria Math" panose="02040503050406030204" pitchFamily="18" charset="0"/>
                          </a:rPr>
                          <m:t>𝑅𝑢𝑠</m:t>
                        </m:r>
                        <m:r>
                          <a:rPr lang="en-US" b="0" i="1" smtClean="0">
                            <a:latin typeface="Cambria Math" panose="02040503050406030204" pitchFamily="18" charset="0"/>
                          </a:rPr>
                          <m:t>h</m:t>
                        </m:r>
                        <m:r>
                          <a:rPr lang="en-US" b="0" i="1" smtClean="0">
                            <a:latin typeface="Cambria Math" panose="02040503050406030204" pitchFamily="18" charset="0"/>
                          </a:rPr>
                          <m:t>𝑎</m:t>
                        </m:r>
                      </m:e>
                    </m:d>
                  </m:oMath>
                </a14:m>
                <a:endParaRPr lang="en-US" dirty="0"/>
              </a:p>
              <a:p>
                <a:r>
                  <a:rPr lang="en-US" dirty="0"/>
                  <a:t>From (3), substituting with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𝑥</m:t>
                        </m:r>
                        <m:r>
                          <m:rPr>
                            <m:lit/>
                          </m:rPr>
                          <a:rPr lang="en-US" b="0" i="1" smtClean="0">
                            <a:latin typeface="Cambria Math" panose="02040503050406030204" pitchFamily="18" charset="0"/>
                          </a:rPr>
                          <m:t>/</m:t>
                        </m:r>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𝑀</m:t>
                            </m:r>
                          </m:e>
                          <m:sub>
                            <m:r>
                              <a:rPr lang="en-US" b="0" i="1" smtClean="0">
                                <a:latin typeface="Cambria Math" panose="02040503050406030204" pitchFamily="18" charset="0"/>
                              </a:rPr>
                              <m:t>1</m:t>
                            </m:r>
                          </m:sub>
                        </m:sSub>
                      </m:e>
                    </m:d>
                  </m:oMath>
                </a14:m>
                <a:endParaRPr lang="en-US" b="0" dirty="0"/>
              </a:p>
              <a:p>
                <a:pPr marL="457200" lvl="1" indent="0">
                  <a:buNone/>
                </a:pPr>
                <a:r>
                  <a:rPr lang="en-US" dirty="0"/>
                  <a:t>5.</a:t>
                </a:r>
                <a14:m>
                  <m:oMath xmlns:m="http://schemas.openxmlformats.org/officeDocument/2006/math">
                    <m:r>
                      <a:rPr lang="en-US" i="1" dirty="0" smtClean="0">
                        <a:latin typeface="Cambria Math" panose="02040503050406030204" pitchFamily="18" charset="0"/>
                      </a:rPr>
                      <m:t> </m:t>
                    </m:r>
                    <m:r>
                      <a:rPr lang="en-US" i="1" dirty="0" smtClean="0">
                        <a:latin typeface="Cambria Math" panose="02040503050406030204" pitchFamily="18" charset="0"/>
                      </a:rPr>
                      <m:t>𝑊𝑒𝑎𝑝𝑜𝑛𝑠</m:t>
                    </m:r>
                    <m:r>
                      <a:rPr lang="en-US" i="1" dirty="0" smtClean="0">
                        <a:latin typeface="Cambria Math" panose="02040503050406030204" pitchFamily="18" charset="0"/>
                      </a:rPr>
                      <m:t>(</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𝑀</m:t>
                        </m:r>
                      </m:e>
                      <m:sub>
                        <m:r>
                          <a:rPr lang="en-US" b="0" i="1" dirty="0" smtClean="0">
                            <a:latin typeface="Cambria Math" panose="02040503050406030204" pitchFamily="18" charset="0"/>
                          </a:rPr>
                          <m:t>1</m:t>
                        </m:r>
                      </m:sub>
                    </m:sSub>
                    <m:r>
                      <a:rPr lang="en-US" i="1" dirty="0">
                        <a:latin typeface="Cambria Math" panose="02040503050406030204" pitchFamily="18" charset="0"/>
                      </a:rPr>
                      <m:t>)</m:t>
                    </m:r>
                  </m:oMath>
                </a14:m>
                <a:endParaRPr lang="en-US" dirty="0"/>
              </a:p>
              <a:p>
                <a:pPr marL="457200" lvl="1" indent="0">
                  <a:buNone/>
                </a:pPr>
                <a:endParaRPr lang="en-US" dirty="0"/>
              </a:p>
              <a:p>
                <a:r>
                  <a:rPr lang="en-US" dirty="0"/>
                  <a:t>From (4), substituting with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𝑥</m:t>
                        </m:r>
                        <m:r>
                          <m:rPr>
                            <m:lit/>
                          </m:rPr>
                          <a:rPr lang="en-US" b="0" i="1" smtClean="0">
                            <a:latin typeface="Cambria Math" panose="02040503050406030204" pitchFamily="18" charset="0"/>
                          </a:rPr>
                          <m:t>/</m:t>
                        </m:r>
                        <m:r>
                          <a:rPr lang="en-US" b="0" i="1" smtClean="0">
                            <a:latin typeface="Cambria Math" panose="02040503050406030204" pitchFamily="18" charset="0"/>
                          </a:rPr>
                          <m:t>𝑅𝑢𝑠</m:t>
                        </m:r>
                        <m:r>
                          <a:rPr lang="en-US" b="0" i="1" smtClean="0">
                            <a:latin typeface="Cambria Math" panose="02040503050406030204" pitchFamily="18" charset="0"/>
                          </a:rPr>
                          <m:t>h</m:t>
                        </m:r>
                        <m:r>
                          <a:rPr lang="en-US" b="0" i="1" smtClean="0">
                            <a:latin typeface="Cambria Math" panose="02040503050406030204" pitchFamily="18" charset="0"/>
                          </a:rPr>
                          <m:t>𝑎</m:t>
                        </m:r>
                      </m:e>
                    </m:d>
                  </m:oMath>
                </a14:m>
                <a:endParaRPr lang="en-US" dirty="0"/>
              </a:p>
              <a:p>
                <a:pPr marL="457200" lvl="1" indent="0">
                  <a:buNone/>
                </a:pPr>
                <a:r>
                  <a:rPr lang="en-US" dirty="0"/>
                  <a:t>6.</a:t>
                </a:r>
                <a14:m>
                  <m:oMath xmlns:m="http://schemas.openxmlformats.org/officeDocument/2006/math">
                    <m:r>
                      <a:rPr lang="en-US" b="0" i="1" smtClean="0">
                        <a:latin typeface="Cambria Math" panose="02040503050406030204" pitchFamily="18" charset="0"/>
                      </a:rPr>
                      <m:t>𝐻𝑜𝑠𝑡𝑖𝑙𝑒</m:t>
                    </m:r>
                    <m:r>
                      <a:rPr lang="en-US" b="0" i="1" smtClean="0">
                        <a:latin typeface="Cambria Math" panose="02040503050406030204" pitchFamily="18" charset="0"/>
                      </a:rPr>
                      <m:t>(</m:t>
                    </m:r>
                    <m:r>
                      <a:rPr lang="en-US" b="0" i="1" smtClean="0">
                        <a:latin typeface="Cambria Math" panose="02040503050406030204" pitchFamily="18" charset="0"/>
                      </a:rPr>
                      <m:t>𝑅𝑢𝑠</m:t>
                    </m:r>
                    <m:r>
                      <a:rPr lang="en-US" b="0" i="1" smtClean="0">
                        <a:latin typeface="Cambria Math" panose="02040503050406030204" pitchFamily="18" charset="0"/>
                      </a:rPr>
                      <m:t>h</m:t>
                    </m:r>
                    <m:r>
                      <a:rPr lang="en-US" b="0" i="1" smtClean="0">
                        <a:latin typeface="Cambria Math" panose="02040503050406030204" pitchFamily="18" charset="0"/>
                      </a:rPr>
                      <m:t>𝑎</m:t>
                    </m:r>
                    <m:r>
                      <a:rPr lang="en-US" b="0" i="1" smtClean="0">
                        <a:latin typeface="Cambria Math" panose="02040503050406030204" pitchFamily="18" charset="0"/>
                      </a:rPr>
                      <m:t>)</m:t>
                    </m:r>
                  </m:oMath>
                </a14:m>
                <a:r>
                  <a:rPr lang="en-US" dirty="0"/>
                  <a:t> </a:t>
                </a:r>
              </a:p>
            </p:txBody>
          </p:sp>
        </mc:Choice>
        <mc:Fallback xmlns="">
          <p:sp>
            <p:nvSpPr>
              <p:cNvPr id="3" name="Content Placeholder 2">
                <a:extLst>
                  <a:ext uri="{FF2B5EF4-FFF2-40B4-BE49-F238E27FC236}">
                    <a16:creationId xmlns:a16="http://schemas.microsoft.com/office/drawing/2014/main" id="{596E7565-36FF-2705-7726-98FFCFED7846}"/>
                  </a:ext>
                </a:extLst>
              </p:cNvPr>
              <p:cNvSpPr>
                <a:spLocks noGrp="1" noRot="1" noChangeAspect="1" noMove="1" noResize="1" noEditPoints="1" noAdjustHandles="1" noChangeArrowheads="1" noChangeShapeType="1" noTextEdit="1"/>
              </p:cNvSpPr>
              <p:nvPr>
                <p:ph idx="1"/>
              </p:nvPr>
            </p:nvSpPr>
            <p:spPr>
              <a:blipFill>
                <a:blip r:embed="rId2"/>
                <a:stretch>
                  <a:fillRect l="-928"/>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5D1A6414-80B8-A528-C716-F91B04D86D08}"/>
              </a:ext>
            </a:extLst>
          </p:cNvPr>
          <p:cNvSpPr>
            <a:spLocks noGrp="1"/>
          </p:cNvSpPr>
          <p:nvPr>
            <p:ph type="dt" sz="half" idx="10"/>
          </p:nvPr>
        </p:nvSpPr>
        <p:spPr/>
        <p:txBody>
          <a:bodyPr/>
          <a:lstStyle/>
          <a:p>
            <a:fld id="{1332600A-A7B8-4674-AAE3-A37177B883E5}" type="datetime1">
              <a:rPr lang="en-GB" smtClean="0"/>
              <a:t>20/10/2025</a:t>
            </a:fld>
            <a:endParaRPr lang="en-GB"/>
          </a:p>
        </p:txBody>
      </p:sp>
      <p:sp>
        <p:nvSpPr>
          <p:cNvPr id="5" name="Slide Number Placeholder 4">
            <a:extLst>
              <a:ext uri="{FF2B5EF4-FFF2-40B4-BE49-F238E27FC236}">
                <a16:creationId xmlns:a16="http://schemas.microsoft.com/office/drawing/2014/main" id="{02CC8E5A-FF58-517A-78C4-EA332CA1C1FC}"/>
              </a:ext>
            </a:extLst>
          </p:cNvPr>
          <p:cNvSpPr>
            <a:spLocks noGrp="1"/>
          </p:cNvSpPr>
          <p:nvPr>
            <p:ph type="sldNum" sz="quarter" idx="12"/>
          </p:nvPr>
        </p:nvSpPr>
        <p:spPr/>
        <p:txBody>
          <a:bodyPr/>
          <a:lstStyle/>
          <a:p>
            <a:fld id="{9EB268CF-8001-41B5-ADCD-92A7738D3D9B}" type="slidenum">
              <a:rPr lang="en-GB" smtClean="0"/>
              <a:t>30</a:t>
            </a:fld>
            <a:endParaRPr lang="en-GB"/>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3DD15BD2-09EC-056B-5BEC-5926DBD0F655}"/>
                  </a:ext>
                </a:extLst>
              </p:cNvPr>
              <p:cNvSpPr txBox="1"/>
              <p:nvPr/>
            </p:nvSpPr>
            <p:spPr>
              <a:xfrm>
                <a:off x="2320503" y="1870075"/>
                <a:ext cx="8008346" cy="1200329"/>
              </a:xfrm>
              <a:prstGeom prst="rect">
                <a:avLst/>
              </a:prstGeom>
              <a:noFill/>
            </p:spPr>
            <p:txBody>
              <a:bodyPr wrap="none" rtlCol="0">
                <a:spAutoFit/>
              </a:bodyPr>
              <a:lstStyle/>
              <a:p>
                <a:r>
                  <a:rPr lang="en-US" dirty="0"/>
                  <a:t>1. </a:t>
                </a:r>
                <a14:m>
                  <m:oMath xmlns:m="http://schemas.openxmlformats.org/officeDocument/2006/math">
                    <m:r>
                      <a:rPr lang="en-US" i="1" dirty="0">
                        <a:latin typeface="Cambria Math" panose="02040503050406030204" pitchFamily="18" charset="0"/>
                      </a:rPr>
                      <m:t>𝐴𝑚𝑒𝑟𝑖𝑐𝑎𝑛</m:t>
                    </m:r>
                    <m:r>
                      <a:rPr lang="en-US" i="1" dirty="0">
                        <a:latin typeface="Cambria Math" panose="02040503050406030204" pitchFamily="18" charset="0"/>
                      </a:rPr>
                      <m:t>(</m:t>
                    </m:r>
                    <m:r>
                      <a:rPr lang="en-US" i="1" dirty="0">
                        <a:latin typeface="Cambria Math" panose="02040503050406030204" pitchFamily="18" charset="0"/>
                      </a:rPr>
                      <m:t>𝑥</m:t>
                    </m:r>
                    <m:r>
                      <a:rPr lang="en-US" i="1" dirty="0">
                        <a:latin typeface="Cambria Math" panose="02040503050406030204" pitchFamily="18" charset="0"/>
                      </a:rPr>
                      <m:t>) ∧ </m:t>
                    </m:r>
                    <m:r>
                      <a:rPr lang="en-US" i="1" dirty="0">
                        <a:latin typeface="Cambria Math" panose="02040503050406030204" pitchFamily="18" charset="0"/>
                      </a:rPr>
                      <m:t>𝑊𝑒𝑎𝑝𝑜𝑛</m:t>
                    </m:r>
                    <m:r>
                      <a:rPr lang="en-US" i="1" dirty="0">
                        <a:latin typeface="Cambria Math" panose="02040503050406030204" pitchFamily="18" charset="0"/>
                      </a:rPr>
                      <m:t>(</m:t>
                    </m:r>
                    <m:r>
                      <a:rPr lang="en-US" i="1" dirty="0">
                        <a:latin typeface="Cambria Math" panose="02040503050406030204" pitchFamily="18" charset="0"/>
                      </a:rPr>
                      <m:t>𝑦</m:t>
                    </m:r>
                    <m:r>
                      <a:rPr lang="en-US" i="1" dirty="0">
                        <a:latin typeface="Cambria Math" panose="02040503050406030204" pitchFamily="18" charset="0"/>
                      </a:rPr>
                      <m:t>) ∧ </m:t>
                    </m:r>
                    <m:r>
                      <a:rPr lang="en-US" i="1" dirty="0">
                        <a:latin typeface="Cambria Math" panose="02040503050406030204" pitchFamily="18" charset="0"/>
                      </a:rPr>
                      <m:t>𝑆𝑒𝑙𝑙𝑠</m:t>
                    </m:r>
                    <m:r>
                      <a:rPr lang="en-US" i="1" dirty="0">
                        <a:latin typeface="Cambria Math" panose="02040503050406030204" pitchFamily="18" charset="0"/>
                      </a:rPr>
                      <m:t>(</m:t>
                    </m:r>
                    <m:r>
                      <a:rPr lang="en-US" i="1" dirty="0">
                        <a:latin typeface="Cambria Math" panose="02040503050406030204" pitchFamily="18" charset="0"/>
                      </a:rPr>
                      <m:t>𝑥</m:t>
                    </m:r>
                    <m:r>
                      <a:rPr lang="en-US" i="1" dirty="0">
                        <a:latin typeface="Cambria Math" panose="02040503050406030204" pitchFamily="18" charset="0"/>
                      </a:rPr>
                      <m:t>, </m:t>
                    </m:r>
                    <m:r>
                      <a:rPr lang="en-US" i="1" dirty="0">
                        <a:latin typeface="Cambria Math" panose="02040503050406030204" pitchFamily="18" charset="0"/>
                      </a:rPr>
                      <m:t>𝑦</m:t>
                    </m:r>
                    <m:r>
                      <a:rPr lang="en-US" i="1" dirty="0">
                        <a:latin typeface="Cambria Math" panose="02040503050406030204" pitchFamily="18" charset="0"/>
                      </a:rPr>
                      <m:t>, </m:t>
                    </m:r>
                    <m:r>
                      <a:rPr lang="en-US" i="1" dirty="0">
                        <a:latin typeface="Cambria Math" panose="02040503050406030204" pitchFamily="18" charset="0"/>
                      </a:rPr>
                      <m:t>𝑧</m:t>
                    </m:r>
                    <m:r>
                      <a:rPr lang="en-US" i="1" dirty="0">
                        <a:latin typeface="Cambria Math" panose="02040503050406030204" pitchFamily="18" charset="0"/>
                      </a:rPr>
                      <m:t>) ∧ </m:t>
                    </m:r>
                    <m:r>
                      <a:rPr lang="en-US" i="1" dirty="0">
                        <a:latin typeface="Cambria Math" panose="02040503050406030204" pitchFamily="18" charset="0"/>
                      </a:rPr>
                      <m:t>𝐻𝑜𝑠𝑡𝑖𝑙𝑒</m:t>
                    </m:r>
                    <m:r>
                      <a:rPr lang="en-US" i="1" dirty="0">
                        <a:latin typeface="Cambria Math" panose="02040503050406030204" pitchFamily="18" charset="0"/>
                      </a:rPr>
                      <m:t>(</m:t>
                    </m:r>
                    <m:r>
                      <a:rPr lang="en-US" i="1" dirty="0">
                        <a:latin typeface="Cambria Math" panose="02040503050406030204" pitchFamily="18" charset="0"/>
                      </a:rPr>
                      <m:t>𝑧</m:t>
                    </m:r>
                    <m:r>
                      <a:rPr lang="en-US" i="1" dirty="0">
                        <a:latin typeface="Cambria Math" panose="02040503050406030204" pitchFamily="18" charset="0"/>
                      </a:rPr>
                      <m:t>) ⇒ </m:t>
                    </m:r>
                    <m:r>
                      <a:rPr lang="en-US" i="1" dirty="0">
                        <a:latin typeface="Cambria Math" panose="02040503050406030204" pitchFamily="18" charset="0"/>
                      </a:rPr>
                      <m:t>𝐶𝑟𝑖𝑚𝑖𝑛𝑎𝑙</m:t>
                    </m:r>
                    <m:r>
                      <a:rPr lang="en-US" i="1" dirty="0">
                        <a:latin typeface="Cambria Math" panose="02040503050406030204" pitchFamily="18" charset="0"/>
                      </a:rPr>
                      <m:t> (</m:t>
                    </m:r>
                    <m:r>
                      <a:rPr lang="en-US" i="1" dirty="0">
                        <a:latin typeface="Cambria Math" panose="02040503050406030204" pitchFamily="18" charset="0"/>
                      </a:rPr>
                      <m:t>𝑥</m:t>
                    </m:r>
                    <m:r>
                      <a:rPr lang="en-US" i="1" dirty="0">
                        <a:latin typeface="Cambria Math" panose="02040503050406030204" pitchFamily="18" charset="0"/>
                      </a:rPr>
                      <m:t>)</m:t>
                    </m:r>
                  </m:oMath>
                </a14:m>
                <a:endParaRPr lang="en-US" dirty="0"/>
              </a:p>
              <a:p>
                <a:r>
                  <a:rPr lang="en-US" dirty="0"/>
                  <a:t>2. </a:t>
                </a:r>
                <a14:m>
                  <m:oMath xmlns:m="http://schemas.openxmlformats.org/officeDocument/2006/math">
                    <m:r>
                      <a:rPr lang="en-US" i="1" dirty="0">
                        <a:latin typeface="Cambria Math" panose="02040503050406030204" pitchFamily="18" charset="0"/>
                      </a:rPr>
                      <m:t>𝑀𝑖𝑠𝑠𝑖𝑙𝑒</m:t>
                    </m:r>
                    <m:r>
                      <a:rPr lang="en-US" i="1" dirty="0">
                        <a:latin typeface="Cambria Math" panose="02040503050406030204" pitchFamily="18" charset="0"/>
                      </a:rPr>
                      <m:t>(</m:t>
                    </m:r>
                    <m:r>
                      <a:rPr lang="en-US" i="1" dirty="0">
                        <a:latin typeface="Cambria Math" panose="02040503050406030204" pitchFamily="18" charset="0"/>
                      </a:rPr>
                      <m:t>𝑥</m:t>
                    </m:r>
                    <m:r>
                      <a:rPr lang="en-US" i="1" dirty="0">
                        <a:latin typeface="Cambria Math" panose="02040503050406030204" pitchFamily="18" charset="0"/>
                      </a:rPr>
                      <m:t>) ∧ </m:t>
                    </m:r>
                    <m:r>
                      <a:rPr lang="en-US" i="1" dirty="0">
                        <a:latin typeface="Cambria Math" panose="02040503050406030204" pitchFamily="18" charset="0"/>
                      </a:rPr>
                      <m:t>𝑂𝑤𝑛𝑠</m:t>
                    </m:r>
                    <m:r>
                      <a:rPr lang="en-US" i="1" dirty="0">
                        <a:latin typeface="Cambria Math" panose="02040503050406030204" pitchFamily="18" charset="0"/>
                      </a:rPr>
                      <m:t>(</m:t>
                    </m:r>
                    <m:r>
                      <a:rPr lang="en-US" i="1" dirty="0">
                        <a:latin typeface="Cambria Math" panose="02040503050406030204" pitchFamily="18" charset="0"/>
                      </a:rPr>
                      <m:t>𝑅𝑢𝑠</m:t>
                    </m:r>
                    <m:r>
                      <a:rPr lang="en-US" i="1" dirty="0">
                        <a:latin typeface="Cambria Math" panose="02040503050406030204" pitchFamily="18" charset="0"/>
                      </a:rPr>
                      <m:t>h</m:t>
                    </m:r>
                    <m:r>
                      <a:rPr lang="en-US" i="1" dirty="0">
                        <a:latin typeface="Cambria Math" panose="02040503050406030204" pitchFamily="18" charset="0"/>
                      </a:rPr>
                      <m:t>𝑎</m:t>
                    </m:r>
                    <m:r>
                      <a:rPr lang="en-US" i="1" dirty="0">
                        <a:latin typeface="Cambria Math" panose="02040503050406030204" pitchFamily="18" charset="0"/>
                      </a:rPr>
                      <m:t>, </m:t>
                    </m:r>
                    <m:r>
                      <a:rPr lang="en-US" i="1" dirty="0">
                        <a:latin typeface="Cambria Math" panose="02040503050406030204" pitchFamily="18" charset="0"/>
                      </a:rPr>
                      <m:t>𝑥</m:t>
                    </m:r>
                    <m:r>
                      <a:rPr lang="en-US" i="1" dirty="0">
                        <a:latin typeface="Cambria Math" panose="02040503050406030204" pitchFamily="18" charset="0"/>
                      </a:rPr>
                      <m:t>) ⇒ </m:t>
                    </m:r>
                    <m:r>
                      <a:rPr lang="en-US" i="1" dirty="0">
                        <a:latin typeface="Cambria Math" panose="02040503050406030204" pitchFamily="18" charset="0"/>
                      </a:rPr>
                      <m:t>𝑆𝑒𝑙𝑙𝑠</m:t>
                    </m:r>
                    <m:r>
                      <a:rPr lang="en-US" i="1" dirty="0">
                        <a:latin typeface="Cambria Math" panose="02040503050406030204" pitchFamily="18" charset="0"/>
                      </a:rPr>
                      <m:t>(</m:t>
                    </m:r>
                    <m:r>
                      <a:rPr lang="en-US" i="1" dirty="0">
                        <a:latin typeface="Cambria Math" panose="02040503050406030204" pitchFamily="18" charset="0"/>
                      </a:rPr>
                      <m:t>𝑊𝑒𝑠𝑡</m:t>
                    </m:r>
                    <m:r>
                      <a:rPr lang="en-US" i="1" dirty="0">
                        <a:latin typeface="Cambria Math" panose="02040503050406030204" pitchFamily="18" charset="0"/>
                      </a:rPr>
                      <m:t>, </m:t>
                    </m:r>
                    <m:r>
                      <a:rPr lang="en-US" i="1" dirty="0">
                        <a:latin typeface="Cambria Math" panose="02040503050406030204" pitchFamily="18" charset="0"/>
                      </a:rPr>
                      <m:t>𝑥</m:t>
                    </m:r>
                    <m:r>
                      <a:rPr lang="en-US" i="1" dirty="0">
                        <a:latin typeface="Cambria Math" panose="02040503050406030204" pitchFamily="18" charset="0"/>
                      </a:rPr>
                      <m:t>, </m:t>
                    </m:r>
                    <m:r>
                      <a:rPr lang="en-US" i="1" dirty="0">
                        <a:latin typeface="Cambria Math" panose="02040503050406030204" pitchFamily="18" charset="0"/>
                      </a:rPr>
                      <m:t>𝑅𝑢𝑠</m:t>
                    </m:r>
                    <m:r>
                      <a:rPr lang="en-US" i="1" dirty="0">
                        <a:latin typeface="Cambria Math" panose="02040503050406030204" pitchFamily="18" charset="0"/>
                      </a:rPr>
                      <m:t>h</m:t>
                    </m:r>
                    <m:r>
                      <a:rPr lang="en-US" i="1" dirty="0">
                        <a:latin typeface="Cambria Math" panose="02040503050406030204" pitchFamily="18" charset="0"/>
                      </a:rPr>
                      <m:t>𝑎</m:t>
                    </m:r>
                    <m:r>
                      <a:rPr lang="en-US" i="1" dirty="0">
                        <a:latin typeface="Cambria Math" panose="02040503050406030204" pitchFamily="18" charset="0"/>
                      </a:rPr>
                      <m:t>)</m:t>
                    </m:r>
                  </m:oMath>
                </a14:m>
                <a:endParaRPr lang="en-US" dirty="0"/>
              </a:p>
              <a:p>
                <a:r>
                  <a:rPr lang="en-US" dirty="0"/>
                  <a:t>3. </a:t>
                </a:r>
                <a14:m>
                  <m:oMath xmlns:m="http://schemas.openxmlformats.org/officeDocument/2006/math">
                    <m:r>
                      <a:rPr lang="en-US" i="1" dirty="0">
                        <a:latin typeface="Cambria Math" panose="02040503050406030204" pitchFamily="18" charset="0"/>
                      </a:rPr>
                      <m:t>𝑀𝑖𝑠𝑠𝑖𝑙𝑒</m:t>
                    </m:r>
                    <m:r>
                      <a:rPr lang="en-US" i="1" dirty="0">
                        <a:latin typeface="Cambria Math" panose="02040503050406030204" pitchFamily="18" charset="0"/>
                      </a:rPr>
                      <m:t>(</m:t>
                    </m:r>
                    <m:r>
                      <a:rPr lang="en-US" i="1" dirty="0">
                        <a:latin typeface="Cambria Math" panose="02040503050406030204" pitchFamily="18" charset="0"/>
                      </a:rPr>
                      <m:t>𝑥</m:t>
                    </m:r>
                    <m:r>
                      <a:rPr lang="en-US" i="1" dirty="0">
                        <a:latin typeface="Cambria Math" panose="02040503050406030204" pitchFamily="18" charset="0"/>
                      </a:rPr>
                      <m:t>) ⇒ </m:t>
                    </m:r>
                    <m:r>
                      <a:rPr lang="en-US" i="1" dirty="0">
                        <a:latin typeface="Cambria Math" panose="02040503050406030204" pitchFamily="18" charset="0"/>
                      </a:rPr>
                      <m:t>𝑊𝑒𝑎𝑝𝑜𝑛</m:t>
                    </m:r>
                    <m:r>
                      <a:rPr lang="en-US" i="1" dirty="0">
                        <a:latin typeface="Cambria Math" panose="02040503050406030204" pitchFamily="18" charset="0"/>
                      </a:rPr>
                      <m:t>(</m:t>
                    </m:r>
                    <m:r>
                      <a:rPr lang="en-US" i="1" dirty="0">
                        <a:latin typeface="Cambria Math" panose="02040503050406030204" pitchFamily="18" charset="0"/>
                      </a:rPr>
                      <m:t>𝑥</m:t>
                    </m:r>
                    <m:r>
                      <a:rPr lang="en-US" i="1" dirty="0">
                        <a:latin typeface="Cambria Math" panose="02040503050406030204" pitchFamily="18" charset="0"/>
                      </a:rPr>
                      <m:t>)</m:t>
                    </m:r>
                  </m:oMath>
                </a14:m>
                <a:endParaRPr lang="en-US" dirty="0"/>
              </a:p>
              <a:p>
                <a:r>
                  <a:rPr lang="en-US" dirty="0"/>
                  <a:t>4. </a:t>
                </a:r>
                <a14:m>
                  <m:oMath xmlns:m="http://schemas.openxmlformats.org/officeDocument/2006/math">
                    <m:r>
                      <a:rPr lang="en-US" i="1" dirty="0">
                        <a:latin typeface="Cambria Math" panose="02040503050406030204" pitchFamily="18" charset="0"/>
                      </a:rPr>
                      <m:t>𝐸𝑛𝑒𝑚𝑦</m:t>
                    </m:r>
                    <m:r>
                      <a:rPr lang="en-US" i="1" dirty="0">
                        <a:latin typeface="Cambria Math" panose="02040503050406030204" pitchFamily="18" charset="0"/>
                      </a:rPr>
                      <m:t>(</m:t>
                    </m:r>
                    <m:r>
                      <a:rPr lang="en-US" i="1" dirty="0">
                        <a:latin typeface="Cambria Math" panose="02040503050406030204" pitchFamily="18" charset="0"/>
                      </a:rPr>
                      <m:t>𝑥</m:t>
                    </m:r>
                    <m:r>
                      <a:rPr lang="en-US" i="1" dirty="0">
                        <a:latin typeface="Cambria Math" panose="02040503050406030204" pitchFamily="18" charset="0"/>
                      </a:rPr>
                      <m:t>, </m:t>
                    </m:r>
                    <m:r>
                      <a:rPr lang="en-US" i="1" dirty="0">
                        <a:latin typeface="Cambria Math" panose="02040503050406030204" pitchFamily="18" charset="0"/>
                      </a:rPr>
                      <m:t>𝐴𝑚𝑒𝑟𝑖𝑐𝑎</m:t>
                    </m:r>
                    <m:r>
                      <a:rPr lang="en-US" i="1" dirty="0">
                        <a:latin typeface="Cambria Math" panose="02040503050406030204" pitchFamily="18" charset="0"/>
                      </a:rPr>
                      <m:t>) ⇒ </m:t>
                    </m:r>
                    <m:r>
                      <a:rPr lang="en-US" i="1" dirty="0">
                        <a:latin typeface="Cambria Math" panose="02040503050406030204" pitchFamily="18" charset="0"/>
                      </a:rPr>
                      <m:t>𝐻𝑜𝑠𝑡𝑖𝑙𝑒</m:t>
                    </m:r>
                    <m:r>
                      <a:rPr lang="en-US" i="1" dirty="0">
                        <a:latin typeface="Cambria Math" panose="02040503050406030204" pitchFamily="18" charset="0"/>
                      </a:rPr>
                      <m:t>(</m:t>
                    </m:r>
                    <m:r>
                      <a:rPr lang="en-US" i="1" dirty="0">
                        <a:latin typeface="Cambria Math" panose="02040503050406030204" pitchFamily="18" charset="0"/>
                      </a:rPr>
                      <m:t>𝑥</m:t>
                    </m:r>
                    <m:r>
                      <a:rPr lang="en-US" i="1" dirty="0">
                        <a:latin typeface="Cambria Math" panose="02040503050406030204" pitchFamily="18" charset="0"/>
                      </a:rPr>
                      <m:t>)</m:t>
                    </m:r>
                  </m:oMath>
                </a14:m>
                <a:endParaRPr lang="en-US" dirty="0"/>
              </a:p>
            </p:txBody>
          </p:sp>
        </mc:Choice>
        <mc:Fallback xmlns="">
          <p:sp>
            <p:nvSpPr>
              <p:cNvPr id="6" name="TextBox 5">
                <a:extLst>
                  <a:ext uri="{FF2B5EF4-FFF2-40B4-BE49-F238E27FC236}">
                    <a16:creationId xmlns:a16="http://schemas.microsoft.com/office/drawing/2014/main" id="{3DD15BD2-09EC-056B-5BEC-5926DBD0F655}"/>
                  </a:ext>
                </a:extLst>
              </p:cNvPr>
              <p:cNvSpPr txBox="1">
                <a:spLocks noRot="1" noChangeAspect="1" noMove="1" noResize="1" noEditPoints="1" noAdjustHandles="1" noChangeArrowheads="1" noChangeShapeType="1" noTextEdit="1"/>
              </p:cNvSpPr>
              <p:nvPr/>
            </p:nvSpPr>
            <p:spPr>
              <a:xfrm>
                <a:off x="2320503" y="1870075"/>
                <a:ext cx="8008346" cy="1200329"/>
              </a:xfrm>
              <a:prstGeom prst="rect">
                <a:avLst/>
              </a:prstGeom>
              <a:blipFill>
                <a:blip r:embed="rId3"/>
                <a:stretch>
                  <a:fillRect l="-685" t="-3046" b="-7107"/>
                </a:stretch>
              </a:blipFill>
            </p:spPr>
            <p:txBody>
              <a:bodyPr/>
              <a:lstStyle/>
              <a:p>
                <a:r>
                  <a:rPr lang="en-US">
                    <a:noFill/>
                  </a:rPr>
                  <a:t> </a:t>
                </a:r>
              </a:p>
            </p:txBody>
          </p:sp>
        </mc:Fallback>
      </mc:AlternateContent>
    </p:spTree>
    <p:extLst>
      <p:ext uri="{BB962C8B-B14F-4D97-AF65-F5344CB8AC3E}">
        <p14:creationId xmlns:p14="http://schemas.microsoft.com/office/powerpoint/2010/main" val="247190371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5A9EB3-8042-1993-8C33-439A1C64BBB8}"/>
              </a:ext>
            </a:extLst>
          </p:cNvPr>
          <p:cNvSpPr>
            <a:spLocks noGrp="1"/>
          </p:cNvSpPr>
          <p:nvPr>
            <p:ph type="title"/>
          </p:nvPr>
        </p:nvSpPr>
        <p:spPr/>
        <p:txBody>
          <a:bodyPr/>
          <a:lstStyle/>
          <a:p>
            <a:r>
              <a:rPr lang="en-US" dirty="0"/>
              <a:t>A simple forward-chaining algorithm</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97C7FE0-2B0F-1E31-3D37-92DF5BF87579}"/>
                  </a:ext>
                </a:extLst>
              </p:cNvPr>
              <p:cNvSpPr>
                <a:spLocks noGrp="1"/>
              </p:cNvSpPr>
              <p:nvPr>
                <p:ph idx="1"/>
              </p:nvPr>
            </p:nvSpPr>
            <p:spPr/>
            <p:txBody>
              <a:bodyPr/>
              <a:lstStyle/>
              <a:p>
                <a:r>
                  <a:rPr lang="en-US" dirty="0"/>
                  <a:t>On the second iteration:</a:t>
                </a:r>
                <a:br>
                  <a:rPr lang="en-US" dirty="0"/>
                </a:br>
                <a:r>
                  <a:rPr lang="en-US" dirty="0"/>
                  <a:t>From (1), satisfied with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𝑥</m:t>
                        </m:r>
                        <m:r>
                          <m:rPr>
                            <m:lit/>
                          </m:rPr>
                          <a:rPr lang="en-US" b="0" i="1" smtClean="0">
                            <a:latin typeface="Cambria Math" panose="02040503050406030204" pitchFamily="18" charset="0"/>
                          </a:rPr>
                          <m:t>/</m:t>
                        </m:r>
                        <m:r>
                          <a:rPr lang="en-US" b="0" i="1" smtClean="0">
                            <a:latin typeface="Cambria Math" panose="02040503050406030204" pitchFamily="18" charset="0"/>
                          </a:rPr>
                          <m:t> </m:t>
                        </m:r>
                        <m:r>
                          <a:rPr lang="en-US" b="0" i="1" smtClean="0">
                            <a:latin typeface="Cambria Math" panose="02040503050406030204" pitchFamily="18" charset="0"/>
                          </a:rPr>
                          <m:t>𝑊𝑒𝑠𝑡</m:t>
                        </m:r>
                        <m:r>
                          <a:rPr lang="en-US" b="0" i="1" smtClean="0">
                            <a:latin typeface="Cambria Math" panose="02040503050406030204" pitchFamily="18" charset="0"/>
                          </a:rPr>
                          <m:t>, </m:t>
                        </m:r>
                        <m:r>
                          <a:rPr lang="en-US" b="0" i="1" smtClean="0">
                            <a:latin typeface="Cambria Math" panose="02040503050406030204" pitchFamily="18" charset="0"/>
                          </a:rPr>
                          <m:t>𝑦</m:t>
                        </m:r>
                        <m:r>
                          <m:rPr>
                            <m:lit/>
                          </m:rP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𝑀</m:t>
                            </m:r>
                          </m:e>
                          <m:sub>
                            <m:r>
                              <a:rPr lang="en-US" b="0" i="1" smtClean="0">
                                <a:latin typeface="Cambria Math" panose="02040503050406030204" pitchFamily="18" charset="0"/>
                              </a:rPr>
                              <m:t>1</m:t>
                            </m:r>
                          </m:sub>
                        </m:sSub>
                        <m:r>
                          <a:rPr lang="en-US" b="0" i="1" smtClean="0">
                            <a:latin typeface="Cambria Math" panose="02040503050406030204" pitchFamily="18" charset="0"/>
                          </a:rPr>
                          <m:t>, </m:t>
                        </m:r>
                        <m:r>
                          <a:rPr lang="en-US" b="0" i="1" smtClean="0">
                            <a:latin typeface="Cambria Math" panose="02040503050406030204" pitchFamily="18" charset="0"/>
                          </a:rPr>
                          <m:t>𝑧</m:t>
                        </m:r>
                        <m:r>
                          <m:rPr>
                            <m:lit/>
                          </m:rPr>
                          <a:rPr lang="en-US" b="0" i="1" smtClean="0">
                            <a:latin typeface="Cambria Math" panose="02040503050406030204" pitchFamily="18" charset="0"/>
                          </a:rPr>
                          <m:t>/</m:t>
                        </m:r>
                        <m:r>
                          <a:rPr lang="en-US" b="0" i="1" smtClean="0">
                            <a:latin typeface="Cambria Math" panose="02040503050406030204" pitchFamily="18" charset="0"/>
                          </a:rPr>
                          <m:t>𝑅𝑢𝑠</m:t>
                        </m:r>
                        <m:r>
                          <a:rPr lang="en-US" b="0" i="1" smtClean="0">
                            <a:latin typeface="Cambria Math" panose="02040503050406030204" pitchFamily="18" charset="0"/>
                          </a:rPr>
                          <m:t>h</m:t>
                        </m:r>
                        <m:r>
                          <a:rPr lang="en-US" b="0" i="1" smtClean="0">
                            <a:latin typeface="Cambria Math" panose="02040503050406030204" pitchFamily="18" charset="0"/>
                          </a:rPr>
                          <m:t>𝑎</m:t>
                        </m:r>
                      </m:e>
                    </m:d>
                  </m:oMath>
                </a14:m>
                <a:br>
                  <a:rPr lang="en-US" b="0" dirty="0"/>
                </a:br>
                <a14:m>
                  <m:oMath xmlns:m="http://schemas.openxmlformats.org/officeDocument/2006/math">
                    <m:r>
                      <a:rPr lang="en-US" b="0" i="1" smtClean="0">
                        <a:latin typeface="Cambria Math" panose="02040503050406030204" pitchFamily="18" charset="0"/>
                      </a:rPr>
                      <m:t>𝐶𝑟𝑖𝑚𝑖𝑛𝑎𝑙</m:t>
                    </m:r>
                    <m:r>
                      <a:rPr lang="en-US" b="0" i="1" smtClean="0">
                        <a:latin typeface="Cambria Math" panose="02040503050406030204" pitchFamily="18" charset="0"/>
                      </a:rPr>
                      <m:t>(</m:t>
                    </m:r>
                    <m:r>
                      <a:rPr lang="en-US" b="0" i="1" smtClean="0">
                        <a:latin typeface="Cambria Math" panose="02040503050406030204" pitchFamily="18" charset="0"/>
                      </a:rPr>
                      <m:t>𝑊𝑒𝑠𝑡</m:t>
                    </m:r>
                    <m:r>
                      <a:rPr lang="en-US" b="0" i="1" smtClean="0">
                        <a:latin typeface="Cambria Math" panose="02040503050406030204" pitchFamily="18" charset="0"/>
                      </a:rPr>
                      <m:t>)</m:t>
                    </m:r>
                  </m:oMath>
                </a14:m>
                <a:endParaRPr lang="en-US" dirty="0"/>
              </a:p>
            </p:txBody>
          </p:sp>
        </mc:Choice>
        <mc:Fallback xmlns="">
          <p:sp>
            <p:nvSpPr>
              <p:cNvPr id="3" name="Content Placeholder 2">
                <a:extLst>
                  <a:ext uri="{FF2B5EF4-FFF2-40B4-BE49-F238E27FC236}">
                    <a16:creationId xmlns:a16="http://schemas.microsoft.com/office/drawing/2014/main" id="{597C7FE0-2B0F-1E31-3D37-92DF5BF87579}"/>
                  </a:ext>
                </a:extLst>
              </p:cNvPr>
              <p:cNvSpPr>
                <a:spLocks noGrp="1" noRot="1" noChangeAspect="1" noMove="1" noResize="1" noEditPoints="1" noAdjustHandles="1" noChangeArrowheads="1" noChangeShapeType="1" noTextEdit="1"/>
              </p:cNvSpPr>
              <p:nvPr>
                <p:ph idx="1"/>
              </p:nvPr>
            </p:nvSpPr>
            <p:spPr>
              <a:blipFill>
                <a:blip r:embed="rId2"/>
                <a:stretch>
                  <a:fillRect l="-1043" t="-2381"/>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6A18D33E-6178-A0D7-4A92-52F85EEC0637}"/>
              </a:ext>
            </a:extLst>
          </p:cNvPr>
          <p:cNvSpPr>
            <a:spLocks noGrp="1"/>
          </p:cNvSpPr>
          <p:nvPr>
            <p:ph type="dt" sz="half" idx="10"/>
          </p:nvPr>
        </p:nvSpPr>
        <p:spPr/>
        <p:txBody>
          <a:bodyPr/>
          <a:lstStyle/>
          <a:p>
            <a:fld id="{1332600A-A7B8-4674-AAE3-A37177B883E5}" type="datetime1">
              <a:rPr lang="en-GB" smtClean="0"/>
              <a:t>20/10/2025</a:t>
            </a:fld>
            <a:endParaRPr lang="en-GB"/>
          </a:p>
        </p:txBody>
      </p:sp>
      <p:sp>
        <p:nvSpPr>
          <p:cNvPr id="5" name="Slide Number Placeholder 4">
            <a:extLst>
              <a:ext uri="{FF2B5EF4-FFF2-40B4-BE49-F238E27FC236}">
                <a16:creationId xmlns:a16="http://schemas.microsoft.com/office/drawing/2014/main" id="{3333180E-2664-C933-1DFE-A26D7A3D6ABA}"/>
              </a:ext>
            </a:extLst>
          </p:cNvPr>
          <p:cNvSpPr>
            <a:spLocks noGrp="1"/>
          </p:cNvSpPr>
          <p:nvPr>
            <p:ph type="sldNum" sz="quarter" idx="12"/>
          </p:nvPr>
        </p:nvSpPr>
        <p:spPr/>
        <p:txBody>
          <a:bodyPr/>
          <a:lstStyle/>
          <a:p>
            <a:fld id="{9EB268CF-8001-41B5-ADCD-92A7738D3D9B}" type="slidenum">
              <a:rPr lang="en-GB" smtClean="0"/>
              <a:t>31</a:t>
            </a:fld>
            <a:endParaRPr lang="en-GB"/>
          </a:p>
        </p:txBody>
      </p:sp>
    </p:spTree>
    <p:extLst>
      <p:ext uri="{BB962C8B-B14F-4D97-AF65-F5344CB8AC3E}">
        <p14:creationId xmlns:p14="http://schemas.microsoft.com/office/powerpoint/2010/main" val="245320552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893EFA-4786-5203-7630-F30AC8774EEA}"/>
              </a:ext>
            </a:extLst>
          </p:cNvPr>
          <p:cNvSpPr>
            <a:spLocks noGrp="1"/>
          </p:cNvSpPr>
          <p:nvPr>
            <p:ph type="title"/>
          </p:nvPr>
        </p:nvSpPr>
        <p:spPr/>
        <p:txBody>
          <a:bodyPr/>
          <a:lstStyle/>
          <a:p>
            <a:r>
              <a:rPr lang="en-US" dirty="0"/>
              <a:t>A simple forward-chaining algorithm</a:t>
            </a:r>
          </a:p>
        </p:txBody>
      </p:sp>
      <p:pic>
        <p:nvPicPr>
          <p:cNvPr id="7" name="Content Placeholder 6">
            <a:extLst>
              <a:ext uri="{FF2B5EF4-FFF2-40B4-BE49-F238E27FC236}">
                <a16:creationId xmlns:a16="http://schemas.microsoft.com/office/drawing/2014/main" id="{6C13B839-6042-F22F-0FE7-3AC0569FCBD5}"/>
              </a:ext>
            </a:extLst>
          </p:cNvPr>
          <p:cNvPicPr>
            <a:picLocks noGrp="1" noChangeAspect="1"/>
          </p:cNvPicPr>
          <p:nvPr>
            <p:ph idx="1"/>
          </p:nvPr>
        </p:nvPicPr>
        <p:blipFill>
          <a:blip r:embed="rId2"/>
          <a:stretch>
            <a:fillRect/>
          </a:stretch>
        </p:blipFill>
        <p:spPr>
          <a:xfrm>
            <a:off x="2066545" y="1830079"/>
            <a:ext cx="7808976" cy="4486008"/>
          </a:xfrm>
          <a:prstGeom prst="rect">
            <a:avLst/>
          </a:prstGeom>
        </p:spPr>
      </p:pic>
      <p:sp>
        <p:nvSpPr>
          <p:cNvPr id="4" name="Date Placeholder 3">
            <a:extLst>
              <a:ext uri="{FF2B5EF4-FFF2-40B4-BE49-F238E27FC236}">
                <a16:creationId xmlns:a16="http://schemas.microsoft.com/office/drawing/2014/main" id="{5F4AF91A-867B-68DB-BEE5-4A8A92F2CC26}"/>
              </a:ext>
            </a:extLst>
          </p:cNvPr>
          <p:cNvSpPr>
            <a:spLocks noGrp="1"/>
          </p:cNvSpPr>
          <p:nvPr>
            <p:ph type="dt" sz="half" idx="10"/>
          </p:nvPr>
        </p:nvSpPr>
        <p:spPr/>
        <p:txBody>
          <a:bodyPr/>
          <a:lstStyle/>
          <a:p>
            <a:fld id="{1332600A-A7B8-4674-AAE3-A37177B883E5}" type="datetime1">
              <a:rPr lang="en-GB" smtClean="0"/>
              <a:t>20/10/2025</a:t>
            </a:fld>
            <a:endParaRPr lang="en-GB"/>
          </a:p>
        </p:txBody>
      </p:sp>
      <p:sp>
        <p:nvSpPr>
          <p:cNvPr id="5" name="Slide Number Placeholder 4">
            <a:extLst>
              <a:ext uri="{FF2B5EF4-FFF2-40B4-BE49-F238E27FC236}">
                <a16:creationId xmlns:a16="http://schemas.microsoft.com/office/drawing/2014/main" id="{24408480-7BA2-912F-AD96-47D5EBDE8A17}"/>
              </a:ext>
            </a:extLst>
          </p:cNvPr>
          <p:cNvSpPr>
            <a:spLocks noGrp="1"/>
          </p:cNvSpPr>
          <p:nvPr>
            <p:ph type="sldNum" sz="quarter" idx="12"/>
          </p:nvPr>
        </p:nvSpPr>
        <p:spPr/>
        <p:txBody>
          <a:bodyPr/>
          <a:lstStyle/>
          <a:p>
            <a:fld id="{9EB268CF-8001-41B5-ADCD-92A7738D3D9B}" type="slidenum">
              <a:rPr lang="en-GB" smtClean="0"/>
              <a:t>32</a:t>
            </a:fld>
            <a:endParaRPr lang="en-GB"/>
          </a:p>
        </p:txBody>
      </p:sp>
    </p:spTree>
    <p:extLst>
      <p:ext uri="{BB962C8B-B14F-4D97-AF65-F5344CB8AC3E}">
        <p14:creationId xmlns:p14="http://schemas.microsoft.com/office/powerpoint/2010/main" val="259679698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2640F0-E3A0-3553-0669-1BFC54A27B15}"/>
              </a:ext>
            </a:extLst>
          </p:cNvPr>
          <p:cNvSpPr>
            <a:spLocks noGrp="1"/>
          </p:cNvSpPr>
          <p:nvPr>
            <p:ph type="title"/>
          </p:nvPr>
        </p:nvSpPr>
        <p:spPr/>
        <p:txBody>
          <a:bodyPr/>
          <a:lstStyle/>
          <a:p>
            <a:r>
              <a:rPr lang="en-US" dirty="0"/>
              <a:t>Efficient forward-chaining</a:t>
            </a:r>
          </a:p>
        </p:txBody>
      </p:sp>
      <p:sp>
        <p:nvSpPr>
          <p:cNvPr id="3" name="Content Placeholder 2">
            <a:extLst>
              <a:ext uri="{FF2B5EF4-FFF2-40B4-BE49-F238E27FC236}">
                <a16:creationId xmlns:a16="http://schemas.microsoft.com/office/drawing/2014/main" id="{89586CBF-9084-19DF-FEF4-85F2B7A97258}"/>
              </a:ext>
            </a:extLst>
          </p:cNvPr>
          <p:cNvSpPr>
            <a:spLocks noGrp="1"/>
          </p:cNvSpPr>
          <p:nvPr>
            <p:ph idx="1"/>
          </p:nvPr>
        </p:nvSpPr>
        <p:spPr/>
        <p:txBody>
          <a:bodyPr>
            <a:normAutofit/>
          </a:bodyPr>
          <a:lstStyle/>
          <a:p>
            <a:r>
              <a:rPr lang="en-US" dirty="0"/>
              <a:t>There are three possible sources of inefficiency. </a:t>
            </a:r>
          </a:p>
          <a:p>
            <a:r>
              <a:rPr lang="en-US" dirty="0"/>
              <a:t>The “inner loop” involves </a:t>
            </a:r>
            <a:r>
              <a:rPr lang="en-US" b="1" dirty="0"/>
              <a:t>finding all possible unifiers </a:t>
            </a:r>
            <a:r>
              <a:rPr lang="en-US" dirty="0"/>
              <a:t>such that the premise of a rule unifies with a suitable set of facts in the knowledge base. </a:t>
            </a:r>
          </a:p>
          <a:p>
            <a:pPr lvl="1"/>
            <a:r>
              <a:rPr lang="en-US" dirty="0"/>
              <a:t>This is often called pattern matching and can be very expensive. </a:t>
            </a:r>
          </a:p>
          <a:p>
            <a:r>
              <a:rPr lang="en-US" b="1" dirty="0"/>
              <a:t>Rechecks every rule </a:t>
            </a:r>
            <a:r>
              <a:rPr lang="en-US" dirty="0"/>
              <a:t>on every pattern matching iteration to see whether its premises are satisfied.</a:t>
            </a:r>
          </a:p>
          <a:p>
            <a:pPr lvl="1"/>
            <a:r>
              <a:rPr lang="en-US" dirty="0"/>
              <a:t>Even if very few additions are made to the knowledge base on each iteration. </a:t>
            </a:r>
          </a:p>
          <a:p>
            <a:r>
              <a:rPr lang="en-US" dirty="0"/>
              <a:t>Might generate many facts that are </a:t>
            </a:r>
            <a:r>
              <a:rPr lang="en-US" b="1" dirty="0"/>
              <a:t>irrelevant to </a:t>
            </a:r>
            <a:r>
              <a:rPr lang="en-US" dirty="0"/>
              <a:t>the goal. </a:t>
            </a:r>
          </a:p>
        </p:txBody>
      </p:sp>
      <p:sp>
        <p:nvSpPr>
          <p:cNvPr id="4" name="Date Placeholder 3">
            <a:extLst>
              <a:ext uri="{FF2B5EF4-FFF2-40B4-BE49-F238E27FC236}">
                <a16:creationId xmlns:a16="http://schemas.microsoft.com/office/drawing/2014/main" id="{D5916B3A-8C1E-402B-2C73-1F706BE34425}"/>
              </a:ext>
            </a:extLst>
          </p:cNvPr>
          <p:cNvSpPr>
            <a:spLocks noGrp="1"/>
          </p:cNvSpPr>
          <p:nvPr>
            <p:ph type="dt" sz="half" idx="10"/>
          </p:nvPr>
        </p:nvSpPr>
        <p:spPr/>
        <p:txBody>
          <a:bodyPr/>
          <a:lstStyle/>
          <a:p>
            <a:fld id="{1332600A-A7B8-4674-AAE3-A37177B883E5}" type="datetime1">
              <a:rPr lang="en-GB" smtClean="0"/>
              <a:t>20/10/2025</a:t>
            </a:fld>
            <a:endParaRPr lang="en-GB"/>
          </a:p>
        </p:txBody>
      </p:sp>
      <p:sp>
        <p:nvSpPr>
          <p:cNvPr id="5" name="Slide Number Placeholder 4">
            <a:extLst>
              <a:ext uri="{FF2B5EF4-FFF2-40B4-BE49-F238E27FC236}">
                <a16:creationId xmlns:a16="http://schemas.microsoft.com/office/drawing/2014/main" id="{FA8CC6F2-C84E-ADEF-F83C-D6503FE12EF4}"/>
              </a:ext>
            </a:extLst>
          </p:cNvPr>
          <p:cNvSpPr>
            <a:spLocks noGrp="1"/>
          </p:cNvSpPr>
          <p:nvPr>
            <p:ph type="sldNum" sz="quarter" idx="12"/>
          </p:nvPr>
        </p:nvSpPr>
        <p:spPr/>
        <p:txBody>
          <a:bodyPr/>
          <a:lstStyle/>
          <a:p>
            <a:fld id="{9EB268CF-8001-41B5-ADCD-92A7738D3D9B}" type="slidenum">
              <a:rPr lang="en-GB" smtClean="0"/>
              <a:t>33</a:t>
            </a:fld>
            <a:endParaRPr lang="en-GB"/>
          </a:p>
        </p:txBody>
      </p:sp>
    </p:spTree>
    <p:extLst>
      <p:ext uri="{BB962C8B-B14F-4D97-AF65-F5344CB8AC3E}">
        <p14:creationId xmlns:p14="http://schemas.microsoft.com/office/powerpoint/2010/main" val="344752302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BDA6E4-6FCB-1F59-1609-BBE1D97A55AF}"/>
              </a:ext>
            </a:extLst>
          </p:cNvPr>
          <p:cNvSpPr>
            <a:spLocks noGrp="1"/>
          </p:cNvSpPr>
          <p:nvPr>
            <p:ph type="title"/>
          </p:nvPr>
        </p:nvSpPr>
        <p:spPr/>
        <p:txBody>
          <a:bodyPr/>
          <a:lstStyle/>
          <a:p>
            <a:r>
              <a:rPr lang="en-US" dirty="0"/>
              <a:t>Matching rules against known facts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E90F045-F423-0344-528D-0663C0C083BB}"/>
                  </a:ext>
                </a:extLst>
              </p:cNvPr>
              <p:cNvSpPr>
                <a:spLocks noGrp="1"/>
              </p:cNvSpPr>
              <p:nvPr>
                <p:ph idx="1"/>
              </p:nvPr>
            </p:nvSpPr>
            <p:spPr/>
            <p:txBody>
              <a:bodyPr/>
              <a:lstStyle/>
              <a:p>
                <a:r>
                  <a:rPr lang="en-US" dirty="0"/>
                  <a:t>Consider a rule such as</a:t>
                </a:r>
                <a:br>
                  <a:rPr lang="en-US" dirty="0"/>
                </a:br>
                <a14:m>
                  <m:oMath xmlns:m="http://schemas.openxmlformats.org/officeDocument/2006/math">
                    <m:r>
                      <a:rPr lang="en-US" i="1" dirty="0" smtClean="0">
                        <a:latin typeface="Cambria Math" panose="02040503050406030204" pitchFamily="18" charset="0"/>
                      </a:rPr>
                      <m:t>𝑀𝑖𝑠𝑠𝑖𝑙𝑒</m:t>
                    </m:r>
                    <m:r>
                      <a:rPr lang="en-US" i="1" dirty="0">
                        <a:latin typeface="Cambria Math" panose="02040503050406030204" pitchFamily="18" charset="0"/>
                      </a:rPr>
                      <m:t>(</m:t>
                    </m:r>
                    <m:r>
                      <a:rPr lang="en-US" i="1" dirty="0">
                        <a:latin typeface="Cambria Math" panose="02040503050406030204" pitchFamily="18" charset="0"/>
                      </a:rPr>
                      <m:t>𝑥</m:t>
                    </m:r>
                    <m:r>
                      <a:rPr lang="en-US" i="1" dirty="0">
                        <a:latin typeface="Cambria Math" panose="02040503050406030204" pitchFamily="18" charset="0"/>
                      </a:rPr>
                      <m:t>) ∧ </m:t>
                    </m:r>
                    <m:r>
                      <a:rPr lang="en-US" i="1" dirty="0">
                        <a:latin typeface="Cambria Math" panose="02040503050406030204" pitchFamily="18" charset="0"/>
                      </a:rPr>
                      <m:t>𝑂𝑤𝑛𝑠</m:t>
                    </m:r>
                    <m:r>
                      <a:rPr lang="en-US" i="1" dirty="0">
                        <a:latin typeface="Cambria Math" panose="02040503050406030204" pitchFamily="18" charset="0"/>
                      </a:rPr>
                      <m:t>(</m:t>
                    </m:r>
                    <m:r>
                      <a:rPr lang="en-US" b="0" i="1" dirty="0" smtClean="0">
                        <a:latin typeface="Cambria Math" panose="02040503050406030204" pitchFamily="18" charset="0"/>
                      </a:rPr>
                      <m:t>𝑅𝑢𝑠</m:t>
                    </m:r>
                    <m:r>
                      <a:rPr lang="en-US" b="0" i="1" dirty="0" smtClean="0">
                        <a:latin typeface="Cambria Math" panose="02040503050406030204" pitchFamily="18" charset="0"/>
                      </a:rPr>
                      <m:t>h</m:t>
                    </m:r>
                    <m:r>
                      <a:rPr lang="en-US" b="0" i="1" dirty="0" smtClean="0">
                        <a:latin typeface="Cambria Math" panose="02040503050406030204" pitchFamily="18" charset="0"/>
                      </a:rPr>
                      <m:t>𝑎</m:t>
                    </m:r>
                    <m:r>
                      <a:rPr lang="en-US" i="1" dirty="0">
                        <a:latin typeface="Cambria Math" panose="02040503050406030204" pitchFamily="18" charset="0"/>
                      </a:rPr>
                      <m:t>, </m:t>
                    </m:r>
                    <m:r>
                      <a:rPr lang="en-US" i="1" dirty="0">
                        <a:latin typeface="Cambria Math" panose="02040503050406030204" pitchFamily="18" charset="0"/>
                      </a:rPr>
                      <m:t>𝑥</m:t>
                    </m:r>
                    <m:r>
                      <a:rPr lang="en-US" i="1" dirty="0">
                        <a:latin typeface="Cambria Math" panose="02040503050406030204" pitchFamily="18" charset="0"/>
                      </a:rPr>
                      <m:t>) ⇒ </m:t>
                    </m:r>
                    <m:r>
                      <a:rPr lang="en-US" i="1" dirty="0">
                        <a:latin typeface="Cambria Math" panose="02040503050406030204" pitchFamily="18" charset="0"/>
                      </a:rPr>
                      <m:t>𝑆𝑒𝑙𝑙𝑠</m:t>
                    </m:r>
                    <m:r>
                      <a:rPr lang="en-US" i="1" dirty="0">
                        <a:latin typeface="Cambria Math" panose="02040503050406030204" pitchFamily="18" charset="0"/>
                      </a:rPr>
                      <m:t>(</m:t>
                    </m:r>
                    <m:r>
                      <a:rPr lang="en-US" i="1" dirty="0">
                        <a:latin typeface="Cambria Math" panose="02040503050406030204" pitchFamily="18" charset="0"/>
                      </a:rPr>
                      <m:t>𝑊𝑒𝑠𝑡</m:t>
                    </m:r>
                    <m:r>
                      <a:rPr lang="en-US" i="1" dirty="0">
                        <a:latin typeface="Cambria Math" panose="02040503050406030204" pitchFamily="18" charset="0"/>
                      </a:rPr>
                      <m:t>, </m:t>
                    </m:r>
                    <m:r>
                      <a:rPr lang="en-US" i="1" dirty="0">
                        <a:latin typeface="Cambria Math" panose="02040503050406030204" pitchFamily="18" charset="0"/>
                      </a:rPr>
                      <m:t>𝑥</m:t>
                    </m:r>
                    <m:r>
                      <a:rPr lang="en-US" i="1" dirty="0">
                        <a:latin typeface="Cambria Math" panose="02040503050406030204" pitchFamily="18" charset="0"/>
                      </a:rPr>
                      <m:t>,</m:t>
                    </m:r>
                    <m:r>
                      <a:rPr lang="en-US" i="1" dirty="0">
                        <a:latin typeface="Cambria Math" panose="02040503050406030204" pitchFamily="18" charset="0"/>
                      </a:rPr>
                      <m:t>𝑅𝑢𝑠</m:t>
                    </m:r>
                    <m:r>
                      <a:rPr lang="en-US" i="1" dirty="0">
                        <a:latin typeface="Cambria Math" panose="02040503050406030204" pitchFamily="18" charset="0"/>
                      </a:rPr>
                      <m:t>h</m:t>
                    </m:r>
                    <m:r>
                      <a:rPr lang="en-US" i="1" dirty="0">
                        <a:latin typeface="Cambria Math" panose="02040503050406030204" pitchFamily="18" charset="0"/>
                      </a:rPr>
                      <m:t>𝑎</m:t>
                    </m:r>
                    <m:r>
                      <a:rPr lang="en-US" i="1" dirty="0" smtClean="0">
                        <a:latin typeface="Cambria Math" panose="02040503050406030204" pitchFamily="18" charset="0"/>
                      </a:rPr>
                      <m:t>)</m:t>
                    </m:r>
                  </m:oMath>
                </a14:m>
                <a:endParaRPr lang="en-US" dirty="0"/>
              </a:p>
              <a:p>
                <a:r>
                  <a:rPr lang="en-US" dirty="0"/>
                  <a:t>We can find all the objects owned by </a:t>
                </a:r>
                <a:r>
                  <a:rPr lang="en-US" i="0" dirty="0">
                    <a:latin typeface="+mj-lt"/>
                  </a:rPr>
                  <a:t>Rusha</a:t>
                </a:r>
                <a:r>
                  <a:rPr lang="en-US" dirty="0"/>
                  <a:t> in constant time per object.</a:t>
                </a:r>
              </a:p>
              <a:p>
                <a:r>
                  <a:rPr lang="en-US" dirty="0"/>
                  <a:t>Then, for each object, we could check whether it is a missile.</a:t>
                </a:r>
              </a:p>
              <a:p>
                <a:r>
                  <a:rPr lang="en-US" dirty="0"/>
                  <a:t>Consider the knowledge base contains many objects owned by Rusha and very few missiles.</a:t>
                </a:r>
              </a:p>
              <a:p>
                <a:pPr lvl="1"/>
                <a:r>
                  <a:rPr lang="en-US" dirty="0"/>
                  <a:t>it would be better to find all the missiles first and then check whether they are owned by </a:t>
                </a:r>
                <a:r>
                  <a:rPr lang="en-US" sz="2000" dirty="0"/>
                  <a:t>Rusha.</a:t>
                </a:r>
                <a:endParaRPr lang="en-US" dirty="0"/>
              </a:p>
            </p:txBody>
          </p:sp>
        </mc:Choice>
        <mc:Fallback xmlns="">
          <p:sp>
            <p:nvSpPr>
              <p:cNvPr id="3" name="Content Placeholder 2">
                <a:extLst>
                  <a:ext uri="{FF2B5EF4-FFF2-40B4-BE49-F238E27FC236}">
                    <a16:creationId xmlns:a16="http://schemas.microsoft.com/office/drawing/2014/main" id="{4E90F045-F423-0344-528D-0663C0C083BB}"/>
                  </a:ext>
                </a:extLst>
              </p:cNvPr>
              <p:cNvSpPr>
                <a:spLocks noGrp="1" noRot="1" noChangeAspect="1" noMove="1" noResize="1" noEditPoints="1" noAdjustHandles="1" noChangeArrowheads="1" noChangeShapeType="1" noTextEdit="1"/>
              </p:cNvSpPr>
              <p:nvPr>
                <p:ph idx="1"/>
              </p:nvPr>
            </p:nvSpPr>
            <p:spPr>
              <a:blipFill>
                <a:blip r:embed="rId2"/>
                <a:stretch>
                  <a:fillRect l="-1043" t="-2381" r="-580"/>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35B0C807-D678-3602-1168-E1EA4CD90928}"/>
              </a:ext>
            </a:extLst>
          </p:cNvPr>
          <p:cNvSpPr>
            <a:spLocks noGrp="1"/>
          </p:cNvSpPr>
          <p:nvPr>
            <p:ph type="dt" sz="half" idx="10"/>
          </p:nvPr>
        </p:nvSpPr>
        <p:spPr/>
        <p:txBody>
          <a:bodyPr/>
          <a:lstStyle/>
          <a:p>
            <a:fld id="{1332600A-A7B8-4674-AAE3-A37177B883E5}" type="datetime1">
              <a:rPr lang="en-GB" smtClean="0"/>
              <a:t>20/10/2025</a:t>
            </a:fld>
            <a:endParaRPr lang="en-GB"/>
          </a:p>
        </p:txBody>
      </p:sp>
      <p:sp>
        <p:nvSpPr>
          <p:cNvPr id="5" name="Slide Number Placeholder 4">
            <a:extLst>
              <a:ext uri="{FF2B5EF4-FFF2-40B4-BE49-F238E27FC236}">
                <a16:creationId xmlns:a16="http://schemas.microsoft.com/office/drawing/2014/main" id="{3494A296-2EF0-865A-B0E4-D4A81007D371}"/>
              </a:ext>
            </a:extLst>
          </p:cNvPr>
          <p:cNvSpPr>
            <a:spLocks noGrp="1"/>
          </p:cNvSpPr>
          <p:nvPr>
            <p:ph type="sldNum" sz="quarter" idx="12"/>
          </p:nvPr>
        </p:nvSpPr>
        <p:spPr/>
        <p:txBody>
          <a:bodyPr/>
          <a:lstStyle/>
          <a:p>
            <a:fld id="{9EB268CF-8001-41B5-ADCD-92A7738D3D9B}" type="slidenum">
              <a:rPr lang="en-GB" smtClean="0"/>
              <a:t>34</a:t>
            </a:fld>
            <a:endParaRPr lang="en-GB"/>
          </a:p>
        </p:txBody>
      </p:sp>
    </p:spTree>
    <p:extLst>
      <p:ext uri="{BB962C8B-B14F-4D97-AF65-F5344CB8AC3E}">
        <p14:creationId xmlns:p14="http://schemas.microsoft.com/office/powerpoint/2010/main" val="292852454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851BD0-CEFF-DC1F-F05F-3AC8F95FEBF2}"/>
              </a:ext>
            </a:extLst>
          </p:cNvPr>
          <p:cNvSpPr>
            <a:spLocks noGrp="1"/>
          </p:cNvSpPr>
          <p:nvPr>
            <p:ph type="title"/>
          </p:nvPr>
        </p:nvSpPr>
        <p:spPr/>
        <p:txBody>
          <a:bodyPr/>
          <a:lstStyle/>
          <a:p>
            <a:r>
              <a:rPr lang="en-US" dirty="0"/>
              <a:t>Matching rules against known facts</a:t>
            </a:r>
          </a:p>
        </p:txBody>
      </p:sp>
      <p:sp>
        <p:nvSpPr>
          <p:cNvPr id="3" name="Content Placeholder 2">
            <a:extLst>
              <a:ext uri="{FF2B5EF4-FFF2-40B4-BE49-F238E27FC236}">
                <a16:creationId xmlns:a16="http://schemas.microsoft.com/office/drawing/2014/main" id="{2DEE5CA0-4137-4657-2168-1D9B1BE28D8D}"/>
              </a:ext>
            </a:extLst>
          </p:cNvPr>
          <p:cNvSpPr>
            <a:spLocks noGrp="1"/>
          </p:cNvSpPr>
          <p:nvPr>
            <p:ph idx="1"/>
          </p:nvPr>
        </p:nvSpPr>
        <p:spPr/>
        <p:txBody>
          <a:bodyPr/>
          <a:lstStyle/>
          <a:p>
            <a:r>
              <a:rPr lang="en-US" b="1" dirty="0"/>
              <a:t>Conjunct ordering problem</a:t>
            </a:r>
          </a:p>
          <a:p>
            <a:r>
              <a:rPr lang="en-US" dirty="0"/>
              <a:t>Find an ordering to solve the conjuncts of the rule premise so that the total cost is minimized.</a:t>
            </a:r>
          </a:p>
          <a:p>
            <a:endParaRPr lang="en-US" dirty="0"/>
          </a:p>
          <a:p>
            <a:r>
              <a:rPr lang="en-US" dirty="0"/>
              <a:t>Finding the optimal ordering is NP-hard, but good heuristics are available.</a:t>
            </a:r>
          </a:p>
          <a:p>
            <a:r>
              <a:rPr lang="en-US" dirty="0"/>
              <a:t>We can apply Minimum Remaining Values.</a:t>
            </a:r>
          </a:p>
        </p:txBody>
      </p:sp>
      <p:sp>
        <p:nvSpPr>
          <p:cNvPr id="4" name="Date Placeholder 3">
            <a:extLst>
              <a:ext uri="{FF2B5EF4-FFF2-40B4-BE49-F238E27FC236}">
                <a16:creationId xmlns:a16="http://schemas.microsoft.com/office/drawing/2014/main" id="{61EFD488-7627-EE71-BBF3-38F053831282}"/>
              </a:ext>
            </a:extLst>
          </p:cNvPr>
          <p:cNvSpPr>
            <a:spLocks noGrp="1"/>
          </p:cNvSpPr>
          <p:nvPr>
            <p:ph type="dt" sz="half" idx="10"/>
          </p:nvPr>
        </p:nvSpPr>
        <p:spPr/>
        <p:txBody>
          <a:bodyPr/>
          <a:lstStyle/>
          <a:p>
            <a:fld id="{1332600A-A7B8-4674-AAE3-A37177B883E5}" type="datetime1">
              <a:rPr lang="en-GB" smtClean="0"/>
              <a:t>20/10/2025</a:t>
            </a:fld>
            <a:endParaRPr lang="en-GB"/>
          </a:p>
        </p:txBody>
      </p:sp>
      <p:sp>
        <p:nvSpPr>
          <p:cNvPr id="5" name="Slide Number Placeholder 4">
            <a:extLst>
              <a:ext uri="{FF2B5EF4-FFF2-40B4-BE49-F238E27FC236}">
                <a16:creationId xmlns:a16="http://schemas.microsoft.com/office/drawing/2014/main" id="{09DD6237-BBF0-8A6F-4F50-3B19C9DFA846}"/>
              </a:ext>
            </a:extLst>
          </p:cNvPr>
          <p:cNvSpPr>
            <a:spLocks noGrp="1"/>
          </p:cNvSpPr>
          <p:nvPr>
            <p:ph type="sldNum" sz="quarter" idx="12"/>
          </p:nvPr>
        </p:nvSpPr>
        <p:spPr/>
        <p:txBody>
          <a:bodyPr/>
          <a:lstStyle/>
          <a:p>
            <a:fld id="{9EB268CF-8001-41B5-ADCD-92A7738D3D9B}" type="slidenum">
              <a:rPr lang="en-GB" smtClean="0"/>
              <a:t>35</a:t>
            </a:fld>
            <a:endParaRPr lang="en-GB"/>
          </a:p>
        </p:txBody>
      </p:sp>
    </p:spTree>
    <p:extLst>
      <p:ext uri="{BB962C8B-B14F-4D97-AF65-F5344CB8AC3E}">
        <p14:creationId xmlns:p14="http://schemas.microsoft.com/office/powerpoint/2010/main" val="111552398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625D9E-4824-7767-206C-D6C740EA681E}"/>
              </a:ext>
            </a:extLst>
          </p:cNvPr>
          <p:cNvSpPr>
            <a:spLocks noGrp="1"/>
          </p:cNvSpPr>
          <p:nvPr>
            <p:ph type="title"/>
          </p:nvPr>
        </p:nvSpPr>
        <p:spPr/>
        <p:txBody>
          <a:bodyPr/>
          <a:lstStyle/>
          <a:p>
            <a:r>
              <a:rPr lang="en-US" dirty="0"/>
              <a:t>Incremental forward chaining</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CF5A8DE7-120E-DC83-4172-E4EB3BFC357C}"/>
                  </a:ext>
                </a:extLst>
              </p:cNvPr>
              <p:cNvSpPr>
                <a:spLocks noGrp="1"/>
              </p:cNvSpPr>
              <p:nvPr>
                <p:ph idx="1"/>
              </p:nvPr>
            </p:nvSpPr>
            <p:spPr/>
            <p:txBody>
              <a:bodyPr/>
              <a:lstStyle/>
              <a:p>
                <a:r>
                  <a:rPr lang="en-US" b="1" dirty="0"/>
                  <a:t>Redundant rule matching </a:t>
                </a:r>
                <a:r>
                  <a:rPr lang="en-US" dirty="0"/>
                  <a:t>can be avoided with an observation.</a:t>
                </a:r>
              </a:p>
              <a:p>
                <a:r>
                  <a:rPr lang="en-US" dirty="0"/>
                  <a:t>Every new fact inferred on iteration </a:t>
                </a:r>
                <a14:m>
                  <m:oMath xmlns:m="http://schemas.openxmlformats.org/officeDocument/2006/math">
                    <m:r>
                      <a:rPr lang="en-US" i="1" dirty="0" smtClean="0">
                        <a:latin typeface="Cambria Math" panose="02040503050406030204" pitchFamily="18" charset="0"/>
                      </a:rPr>
                      <m:t>𝑡</m:t>
                    </m:r>
                  </m:oMath>
                </a14:m>
                <a:r>
                  <a:rPr lang="en-US" dirty="0"/>
                  <a:t> must be derived from at least one new fact inferred on iteration </a:t>
                </a:r>
                <a14:m>
                  <m:oMath xmlns:m="http://schemas.openxmlformats.org/officeDocument/2006/math">
                    <m:r>
                      <a:rPr lang="en-US" i="1" dirty="0" smtClean="0">
                        <a:latin typeface="Cambria Math" panose="02040503050406030204" pitchFamily="18" charset="0"/>
                      </a:rPr>
                      <m:t>𝑡</m:t>
                    </m:r>
                    <m:r>
                      <a:rPr lang="en-US" i="1" dirty="0" smtClean="0">
                        <a:latin typeface="Cambria Math" panose="02040503050406030204" pitchFamily="18" charset="0"/>
                      </a:rPr>
                      <m:t>−</m:t>
                    </m:r>
                    <m:r>
                      <a:rPr lang="en-US" i="1" dirty="0" smtClean="0">
                        <a:latin typeface="Cambria Math" panose="02040503050406030204" pitchFamily="18" charset="0"/>
                      </a:rPr>
                      <m:t>1</m:t>
                    </m:r>
                  </m:oMath>
                </a14:m>
                <a:r>
                  <a:rPr lang="en-US" dirty="0"/>
                  <a:t>.</a:t>
                </a:r>
              </a:p>
              <a:p>
                <a:r>
                  <a:rPr lang="en-US" dirty="0"/>
                  <a:t>Use indexing to keep track.</a:t>
                </a:r>
              </a:p>
            </p:txBody>
          </p:sp>
        </mc:Choice>
        <mc:Fallback>
          <p:sp>
            <p:nvSpPr>
              <p:cNvPr id="3" name="Content Placeholder 2">
                <a:extLst>
                  <a:ext uri="{FF2B5EF4-FFF2-40B4-BE49-F238E27FC236}">
                    <a16:creationId xmlns:a16="http://schemas.microsoft.com/office/drawing/2014/main" id="{CF5A8DE7-120E-DC83-4172-E4EB3BFC357C}"/>
                  </a:ext>
                </a:extLst>
              </p:cNvPr>
              <p:cNvSpPr>
                <a:spLocks noGrp="1" noRot="1" noChangeAspect="1" noMove="1" noResize="1" noEditPoints="1" noAdjustHandles="1" noChangeArrowheads="1" noChangeShapeType="1" noTextEdit="1"/>
              </p:cNvSpPr>
              <p:nvPr>
                <p:ph idx="1"/>
              </p:nvPr>
            </p:nvSpPr>
            <p:spPr>
              <a:blipFill>
                <a:blip r:embed="rId2"/>
                <a:stretch>
                  <a:fillRect l="-1043" t="-2381" r="-638"/>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8359AA04-8CCD-F28D-1F5A-60FFFDA53B87}"/>
              </a:ext>
            </a:extLst>
          </p:cNvPr>
          <p:cNvSpPr>
            <a:spLocks noGrp="1"/>
          </p:cNvSpPr>
          <p:nvPr>
            <p:ph type="dt" sz="half" idx="10"/>
          </p:nvPr>
        </p:nvSpPr>
        <p:spPr/>
        <p:txBody>
          <a:bodyPr/>
          <a:lstStyle/>
          <a:p>
            <a:fld id="{1332600A-A7B8-4674-AAE3-A37177B883E5}" type="datetime1">
              <a:rPr lang="en-GB" smtClean="0"/>
              <a:t>20/10/2025</a:t>
            </a:fld>
            <a:endParaRPr lang="en-GB"/>
          </a:p>
        </p:txBody>
      </p:sp>
      <p:sp>
        <p:nvSpPr>
          <p:cNvPr id="5" name="Slide Number Placeholder 4">
            <a:extLst>
              <a:ext uri="{FF2B5EF4-FFF2-40B4-BE49-F238E27FC236}">
                <a16:creationId xmlns:a16="http://schemas.microsoft.com/office/drawing/2014/main" id="{498BCA53-675F-98BA-B62D-42D41723F544}"/>
              </a:ext>
            </a:extLst>
          </p:cNvPr>
          <p:cNvSpPr>
            <a:spLocks noGrp="1"/>
          </p:cNvSpPr>
          <p:nvPr>
            <p:ph type="sldNum" sz="quarter" idx="12"/>
          </p:nvPr>
        </p:nvSpPr>
        <p:spPr/>
        <p:txBody>
          <a:bodyPr/>
          <a:lstStyle/>
          <a:p>
            <a:fld id="{9EB268CF-8001-41B5-ADCD-92A7738D3D9B}" type="slidenum">
              <a:rPr lang="en-GB" smtClean="0"/>
              <a:t>36</a:t>
            </a:fld>
            <a:endParaRPr lang="en-GB"/>
          </a:p>
        </p:txBody>
      </p:sp>
    </p:spTree>
    <p:extLst>
      <p:ext uri="{BB962C8B-B14F-4D97-AF65-F5344CB8AC3E}">
        <p14:creationId xmlns:p14="http://schemas.microsoft.com/office/powerpoint/2010/main" val="120226232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7B2051-87A5-5187-FB82-0389BEA5165C}"/>
              </a:ext>
            </a:extLst>
          </p:cNvPr>
          <p:cNvSpPr>
            <a:spLocks noGrp="1"/>
          </p:cNvSpPr>
          <p:nvPr>
            <p:ph type="title"/>
          </p:nvPr>
        </p:nvSpPr>
        <p:spPr/>
        <p:txBody>
          <a:bodyPr/>
          <a:lstStyle/>
          <a:p>
            <a:r>
              <a:rPr lang="en-US" dirty="0"/>
              <a:t>Irrelevant Facts</a:t>
            </a:r>
          </a:p>
        </p:txBody>
      </p:sp>
      <p:sp>
        <p:nvSpPr>
          <p:cNvPr id="3" name="Content Placeholder 2">
            <a:extLst>
              <a:ext uri="{FF2B5EF4-FFF2-40B4-BE49-F238E27FC236}">
                <a16:creationId xmlns:a16="http://schemas.microsoft.com/office/drawing/2014/main" id="{AEA30219-05AE-7DF5-F83C-0F47C118C16E}"/>
              </a:ext>
            </a:extLst>
          </p:cNvPr>
          <p:cNvSpPr>
            <a:spLocks noGrp="1"/>
          </p:cNvSpPr>
          <p:nvPr>
            <p:ph idx="1"/>
          </p:nvPr>
        </p:nvSpPr>
        <p:spPr/>
        <p:txBody>
          <a:bodyPr/>
          <a:lstStyle/>
          <a:p>
            <a:r>
              <a:rPr lang="en-US" dirty="0"/>
              <a:t>Forward chaining makes all allowable inferences based on the known facts, even if they are irrelevant to the goal at hand.</a:t>
            </a:r>
          </a:p>
          <a:p>
            <a:r>
              <a:rPr lang="en-US" dirty="0"/>
              <a:t>One way to avoid drawing irrelevant conclusions is </a:t>
            </a:r>
            <a:r>
              <a:rPr lang="en-US" b="1" dirty="0"/>
              <a:t>to use backward chaining</a:t>
            </a:r>
            <a:r>
              <a:rPr lang="en-US" dirty="0"/>
              <a:t>.</a:t>
            </a:r>
          </a:p>
        </p:txBody>
      </p:sp>
      <p:sp>
        <p:nvSpPr>
          <p:cNvPr id="4" name="Date Placeholder 3">
            <a:extLst>
              <a:ext uri="{FF2B5EF4-FFF2-40B4-BE49-F238E27FC236}">
                <a16:creationId xmlns:a16="http://schemas.microsoft.com/office/drawing/2014/main" id="{69F426C8-1C6A-C2F6-4CE7-851D5CBB393D}"/>
              </a:ext>
            </a:extLst>
          </p:cNvPr>
          <p:cNvSpPr>
            <a:spLocks noGrp="1"/>
          </p:cNvSpPr>
          <p:nvPr>
            <p:ph type="dt" sz="half" idx="10"/>
          </p:nvPr>
        </p:nvSpPr>
        <p:spPr/>
        <p:txBody>
          <a:bodyPr/>
          <a:lstStyle/>
          <a:p>
            <a:fld id="{1332600A-A7B8-4674-AAE3-A37177B883E5}" type="datetime1">
              <a:rPr lang="en-GB" smtClean="0"/>
              <a:t>20/10/2025</a:t>
            </a:fld>
            <a:endParaRPr lang="en-GB"/>
          </a:p>
        </p:txBody>
      </p:sp>
      <p:sp>
        <p:nvSpPr>
          <p:cNvPr id="5" name="Slide Number Placeholder 4">
            <a:extLst>
              <a:ext uri="{FF2B5EF4-FFF2-40B4-BE49-F238E27FC236}">
                <a16:creationId xmlns:a16="http://schemas.microsoft.com/office/drawing/2014/main" id="{0F5AC325-2915-9D8E-0676-BBEF29CC9759}"/>
              </a:ext>
            </a:extLst>
          </p:cNvPr>
          <p:cNvSpPr>
            <a:spLocks noGrp="1"/>
          </p:cNvSpPr>
          <p:nvPr>
            <p:ph type="sldNum" sz="quarter" idx="12"/>
          </p:nvPr>
        </p:nvSpPr>
        <p:spPr/>
        <p:txBody>
          <a:bodyPr/>
          <a:lstStyle/>
          <a:p>
            <a:fld id="{9EB268CF-8001-41B5-ADCD-92A7738D3D9B}" type="slidenum">
              <a:rPr lang="en-GB" smtClean="0"/>
              <a:t>37</a:t>
            </a:fld>
            <a:endParaRPr lang="en-GB"/>
          </a:p>
        </p:txBody>
      </p:sp>
    </p:spTree>
    <p:extLst>
      <p:ext uri="{BB962C8B-B14F-4D97-AF65-F5344CB8AC3E}">
        <p14:creationId xmlns:p14="http://schemas.microsoft.com/office/powerpoint/2010/main" val="414094872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977947-EF02-0350-D25C-AD47E5FEFCF1}"/>
              </a:ext>
            </a:extLst>
          </p:cNvPr>
          <p:cNvSpPr>
            <a:spLocks noGrp="1"/>
          </p:cNvSpPr>
          <p:nvPr>
            <p:ph type="title"/>
          </p:nvPr>
        </p:nvSpPr>
        <p:spPr/>
        <p:txBody>
          <a:bodyPr/>
          <a:lstStyle/>
          <a:p>
            <a:r>
              <a:rPr lang="en-US" dirty="0"/>
              <a:t>Backward Chaining</a:t>
            </a:r>
          </a:p>
        </p:txBody>
      </p:sp>
      <p:sp>
        <p:nvSpPr>
          <p:cNvPr id="3" name="Content Placeholder 2">
            <a:extLst>
              <a:ext uri="{FF2B5EF4-FFF2-40B4-BE49-F238E27FC236}">
                <a16:creationId xmlns:a16="http://schemas.microsoft.com/office/drawing/2014/main" id="{598F80B1-80D5-B592-170C-53D3F6BEC7D1}"/>
              </a:ext>
            </a:extLst>
          </p:cNvPr>
          <p:cNvSpPr>
            <a:spLocks noGrp="1"/>
          </p:cNvSpPr>
          <p:nvPr>
            <p:ph idx="1"/>
          </p:nvPr>
        </p:nvSpPr>
        <p:spPr/>
        <p:txBody>
          <a:bodyPr/>
          <a:lstStyle/>
          <a:p>
            <a:r>
              <a:rPr lang="en-US" dirty="0"/>
              <a:t>Work backward from the goal, chaining through rules to find known facts that support the proof.</a:t>
            </a:r>
          </a:p>
          <a:p>
            <a:r>
              <a:rPr lang="en-US" dirty="0"/>
              <a:t>It is used in logic programming.</a:t>
            </a:r>
          </a:p>
        </p:txBody>
      </p:sp>
      <p:sp>
        <p:nvSpPr>
          <p:cNvPr id="4" name="Date Placeholder 3">
            <a:extLst>
              <a:ext uri="{FF2B5EF4-FFF2-40B4-BE49-F238E27FC236}">
                <a16:creationId xmlns:a16="http://schemas.microsoft.com/office/drawing/2014/main" id="{98579F6D-EDA8-0134-170E-D578F66C471D}"/>
              </a:ext>
            </a:extLst>
          </p:cNvPr>
          <p:cNvSpPr>
            <a:spLocks noGrp="1"/>
          </p:cNvSpPr>
          <p:nvPr>
            <p:ph type="dt" sz="half" idx="10"/>
          </p:nvPr>
        </p:nvSpPr>
        <p:spPr/>
        <p:txBody>
          <a:bodyPr/>
          <a:lstStyle/>
          <a:p>
            <a:fld id="{1332600A-A7B8-4674-AAE3-A37177B883E5}" type="datetime1">
              <a:rPr lang="en-GB" smtClean="0"/>
              <a:t>20/10/2025</a:t>
            </a:fld>
            <a:endParaRPr lang="en-GB"/>
          </a:p>
        </p:txBody>
      </p:sp>
      <p:sp>
        <p:nvSpPr>
          <p:cNvPr id="5" name="Slide Number Placeholder 4">
            <a:extLst>
              <a:ext uri="{FF2B5EF4-FFF2-40B4-BE49-F238E27FC236}">
                <a16:creationId xmlns:a16="http://schemas.microsoft.com/office/drawing/2014/main" id="{4B00E54D-B229-E871-C36B-2FAA2E715296}"/>
              </a:ext>
            </a:extLst>
          </p:cNvPr>
          <p:cNvSpPr>
            <a:spLocks noGrp="1"/>
          </p:cNvSpPr>
          <p:nvPr>
            <p:ph type="sldNum" sz="quarter" idx="12"/>
          </p:nvPr>
        </p:nvSpPr>
        <p:spPr/>
        <p:txBody>
          <a:bodyPr/>
          <a:lstStyle/>
          <a:p>
            <a:fld id="{9EB268CF-8001-41B5-ADCD-92A7738D3D9B}" type="slidenum">
              <a:rPr lang="en-GB" smtClean="0"/>
              <a:t>38</a:t>
            </a:fld>
            <a:endParaRPr lang="en-GB"/>
          </a:p>
        </p:txBody>
      </p:sp>
    </p:spTree>
    <p:extLst>
      <p:ext uri="{BB962C8B-B14F-4D97-AF65-F5344CB8AC3E}">
        <p14:creationId xmlns:p14="http://schemas.microsoft.com/office/powerpoint/2010/main" val="130023446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C36ACE-F93B-4960-F01A-D61334EA2586}"/>
              </a:ext>
            </a:extLst>
          </p:cNvPr>
          <p:cNvSpPr>
            <a:spLocks noGrp="1"/>
          </p:cNvSpPr>
          <p:nvPr>
            <p:ph type="title"/>
          </p:nvPr>
        </p:nvSpPr>
        <p:spPr/>
        <p:txBody>
          <a:bodyPr/>
          <a:lstStyle/>
          <a:p>
            <a:r>
              <a:rPr lang="en-US" dirty="0"/>
              <a:t>A backward-chaining Algorithm</a:t>
            </a:r>
          </a:p>
        </p:txBody>
      </p:sp>
      <p:pic>
        <p:nvPicPr>
          <p:cNvPr id="7" name="Content Placeholder 6">
            <a:extLst>
              <a:ext uri="{FF2B5EF4-FFF2-40B4-BE49-F238E27FC236}">
                <a16:creationId xmlns:a16="http://schemas.microsoft.com/office/drawing/2014/main" id="{6AA516FA-4AB7-D139-D6BE-F16519CD5BD7}"/>
              </a:ext>
            </a:extLst>
          </p:cNvPr>
          <p:cNvPicPr>
            <a:picLocks noGrp="1" noChangeAspect="1"/>
          </p:cNvPicPr>
          <p:nvPr>
            <p:ph idx="1"/>
          </p:nvPr>
        </p:nvPicPr>
        <p:blipFill>
          <a:blip r:embed="rId2"/>
          <a:stretch>
            <a:fillRect/>
          </a:stretch>
        </p:blipFill>
        <p:spPr>
          <a:xfrm>
            <a:off x="2168370" y="1825625"/>
            <a:ext cx="7855259" cy="4351338"/>
          </a:xfrm>
          <a:prstGeom prst="rect">
            <a:avLst/>
          </a:prstGeom>
        </p:spPr>
      </p:pic>
      <p:sp>
        <p:nvSpPr>
          <p:cNvPr id="4" name="Date Placeholder 3">
            <a:extLst>
              <a:ext uri="{FF2B5EF4-FFF2-40B4-BE49-F238E27FC236}">
                <a16:creationId xmlns:a16="http://schemas.microsoft.com/office/drawing/2014/main" id="{6440F839-B5BA-EAEE-26B3-11E7C992984A}"/>
              </a:ext>
            </a:extLst>
          </p:cNvPr>
          <p:cNvSpPr>
            <a:spLocks noGrp="1"/>
          </p:cNvSpPr>
          <p:nvPr>
            <p:ph type="dt" sz="half" idx="10"/>
          </p:nvPr>
        </p:nvSpPr>
        <p:spPr/>
        <p:txBody>
          <a:bodyPr/>
          <a:lstStyle/>
          <a:p>
            <a:fld id="{1332600A-A7B8-4674-AAE3-A37177B883E5}" type="datetime1">
              <a:rPr lang="en-GB" smtClean="0"/>
              <a:t>21/10/2025</a:t>
            </a:fld>
            <a:endParaRPr lang="en-GB"/>
          </a:p>
        </p:txBody>
      </p:sp>
      <p:sp>
        <p:nvSpPr>
          <p:cNvPr id="5" name="Slide Number Placeholder 4">
            <a:extLst>
              <a:ext uri="{FF2B5EF4-FFF2-40B4-BE49-F238E27FC236}">
                <a16:creationId xmlns:a16="http://schemas.microsoft.com/office/drawing/2014/main" id="{02364987-39C5-D544-76A8-13C95FE46863}"/>
              </a:ext>
            </a:extLst>
          </p:cNvPr>
          <p:cNvSpPr>
            <a:spLocks noGrp="1"/>
          </p:cNvSpPr>
          <p:nvPr>
            <p:ph type="sldNum" sz="quarter" idx="12"/>
          </p:nvPr>
        </p:nvSpPr>
        <p:spPr/>
        <p:txBody>
          <a:bodyPr/>
          <a:lstStyle/>
          <a:p>
            <a:fld id="{9EB268CF-8001-41B5-ADCD-92A7738D3D9B}" type="slidenum">
              <a:rPr lang="en-GB" smtClean="0"/>
              <a:t>39</a:t>
            </a:fld>
            <a:endParaRPr lang="en-GB"/>
          </a:p>
        </p:txBody>
      </p:sp>
    </p:spTree>
    <p:extLst>
      <p:ext uri="{BB962C8B-B14F-4D97-AF65-F5344CB8AC3E}">
        <p14:creationId xmlns:p14="http://schemas.microsoft.com/office/powerpoint/2010/main" val="133218785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952222-86F5-CDC1-21D3-317D56EEFA4A}"/>
              </a:ext>
            </a:extLst>
          </p:cNvPr>
          <p:cNvSpPr>
            <a:spLocks noGrp="1"/>
          </p:cNvSpPr>
          <p:nvPr>
            <p:ph type="title"/>
          </p:nvPr>
        </p:nvSpPr>
        <p:spPr/>
        <p:txBody>
          <a:bodyPr/>
          <a:lstStyle/>
          <a:p>
            <a:r>
              <a:rPr lang="en-US" dirty="0"/>
              <a:t>A backward-chaining Algorithm</a:t>
            </a:r>
          </a:p>
        </p:txBody>
      </p:sp>
      <p:sp>
        <p:nvSpPr>
          <p:cNvPr id="3" name="Content Placeholder 2">
            <a:extLst>
              <a:ext uri="{FF2B5EF4-FFF2-40B4-BE49-F238E27FC236}">
                <a16:creationId xmlns:a16="http://schemas.microsoft.com/office/drawing/2014/main" id="{54020469-BBC7-20AE-5BB2-FA8DF117171B}"/>
              </a:ext>
            </a:extLst>
          </p:cNvPr>
          <p:cNvSpPr>
            <a:spLocks noGrp="1"/>
          </p:cNvSpPr>
          <p:nvPr>
            <p:ph idx="1"/>
          </p:nvPr>
        </p:nvSpPr>
        <p:spPr/>
        <p:txBody>
          <a:bodyPr/>
          <a:lstStyle/>
          <a:p>
            <a:r>
              <a:rPr lang="en-US" dirty="0"/>
              <a:t>Backward chaining is a kind of AND/OR search.</a:t>
            </a:r>
          </a:p>
          <a:p>
            <a:r>
              <a:rPr lang="en-US" dirty="0"/>
              <a:t>The OR part because the goal query can be proved by any rule in the knowledge base.</a:t>
            </a:r>
          </a:p>
          <a:p>
            <a:r>
              <a:rPr lang="en-US" dirty="0"/>
              <a:t>AND part because all the conjuncts in the </a:t>
            </a:r>
            <a:r>
              <a:rPr lang="en-US" dirty="0" err="1"/>
              <a:t>lhs</a:t>
            </a:r>
            <a:r>
              <a:rPr lang="en-US" dirty="0"/>
              <a:t> of a clause must be proved.</a:t>
            </a:r>
          </a:p>
        </p:txBody>
      </p:sp>
      <p:sp>
        <p:nvSpPr>
          <p:cNvPr id="4" name="Date Placeholder 3">
            <a:extLst>
              <a:ext uri="{FF2B5EF4-FFF2-40B4-BE49-F238E27FC236}">
                <a16:creationId xmlns:a16="http://schemas.microsoft.com/office/drawing/2014/main" id="{5957A21C-7A03-9E09-B755-F72BD3537584}"/>
              </a:ext>
            </a:extLst>
          </p:cNvPr>
          <p:cNvSpPr>
            <a:spLocks noGrp="1"/>
          </p:cNvSpPr>
          <p:nvPr>
            <p:ph type="dt" sz="half" idx="10"/>
          </p:nvPr>
        </p:nvSpPr>
        <p:spPr/>
        <p:txBody>
          <a:bodyPr/>
          <a:lstStyle/>
          <a:p>
            <a:fld id="{1332600A-A7B8-4674-AAE3-A37177B883E5}" type="datetime1">
              <a:rPr lang="en-GB" smtClean="0"/>
              <a:t>20/10/2025</a:t>
            </a:fld>
            <a:endParaRPr lang="en-GB"/>
          </a:p>
        </p:txBody>
      </p:sp>
      <p:sp>
        <p:nvSpPr>
          <p:cNvPr id="5" name="Slide Number Placeholder 4">
            <a:extLst>
              <a:ext uri="{FF2B5EF4-FFF2-40B4-BE49-F238E27FC236}">
                <a16:creationId xmlns:a16="http://schemas.microsoft.com/office/drawing/2014/main" id="{A2B9D639-EE31-7446-ECC2-58CC6E338097}"/>
              </a:ext>
            </a:extLst>
          </p:cNvPr>
          <p:cNvSpPr>
            <a:spLocks noGrp="1"/>
          </p:cNvSpPr>
          <p:nvPr>
            <p:ph type="sldNum" sz="quarter" idx="12"/>
          </p:nvPr>
        </p:nvSpPr>
        <p:spPr/>
        <p:txBody>
          <a:bodyPr/>
          <a:lstStyle/>
          <a:p>
            <a:fld id="{9EB268CF-8001-41B5-ADCD-92A7738D3D9B}" type="slidenum">
              <a:rPr lang="en-GB" smtClean="0"/>
              <a:t>40</a:t>
            </a:fld>
            <a:endParaRPr lang="en-GB"/>
          </a:p>
        </p:txBody>
      </p:sp>
    </p:spTree>
    <p:extLst>
      <p:ext uri="{BB962C8B-B14F-4D97-AF65-F5344CB8AC3E}">
        <p14:creationId xmlns:p14="http://schemas.microsoft.com/office/powerpoint/2010/main" val="373911492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DE15C2-2AA2-0575-6518-1501785DBA0C}"/>
              </a:ext>
            </a:extLst>
          </p:cNvPr>
          <p:cNvSpPr>
            <a:spLocks noGrp="1"/>
          </p:cNvSpPr>
          <p:nvPr>
            <p:ph type="title"/>
          </p:nvPr>
        </p:nvSpPr>
        <p:spPr/>
        <p:txBody>
          <a:bodyPr/>
          <a:lstStyle/>
          <a:p>
            <a:r>
              <a:rPr lang="en-US" dirty="0"/>
              <a:t>A backward-chaining Algorithm</a:t>
            </a:r>
          </a:p>
        </p:txBody>
      </p:sp>
      <p:sp>
        <p:nvSpPr>
          <p:cNvPr id="3" name="Content Placeholder 2">
            <a:extLst>
              <a:ext uri="{FF2B5EF4-FFF2-40B4-BE49-F238E27FC236}">
                <a16:creationId xmlns:a16="http://schemas.microsoft.com/office/drawing/2014/main" id="{740D3081-6DAC-5A65-F6A2-FAC41ABF32E0}"/>
              </a:ext>
            </a:extLst>
          </p:cNvPr>
          <p:cNvSpPr>
            <a:spLocks noGrp="1"/>
          </p:cNvSpPr>
          <p:nvPr>
            <p:ph idx="1"/>
          </p:nvPr>
        </p:nvSpPr>
        <p:spPr/>
        <p:txBody>
          <a:bodyPr/>
          <a:lstStyle/>
          <a:p>
            <a:r>
              <a:rPr lang="en-US" dirty="0"/>
              <a:t>FOL-BC-OR works by fetching all clauses that might unify with the goal, standardizing the variables in the clause to be brand-new variables.</a:t>
            </a:r>
          </a:p>
          <a:p>
            <a:pPr lvl="1"/>
            <a:r>
              <a:rPr lang="en-US" dirty="0"/>
              <a:t>if the </a:t>
            </a:r>
            <a:r>
              <a:rPr lang="en-US" dirty="0" err="1"/>
              <a:t>rhs</a:t>
            </a:r>
            <a:r>
              <a:rPr lang="en-US" dirty="0"/>
              <a:t> of the clause does indeed unify with the goal, proving every conjunct in the </a:t>
            </a:r>
            <a:r>
              <a:rPr lang="en-US" dirty="0" err="1"/>
              <a:t>lhs</a:t>
            </a:r>
            <a:r>
              <a:rPr lang="en-US" dirty="0"/>
              <a:t>, using FOL-BC-AND</a:t>
            </a:r>
          </a:p>
          <a:p>
            <a:pPr lvl="1"/>
            <a:endParaRPr lang="en-US" dirty="0"/>
          </a:p>
          <a:p>
            <a:r>
              <a:rPr lang="en-US" dirty="0"/>
              <a:t>That function in turn works by proving each of the conjuncts in turn, keeping track of the accumulated substitution as we go.</a:t>
            </a:r>
          </a:p>
        </p:txBody>
      </p:sp>
      <p:sp>
        <p:nvSpPr>
          <p:cNvPr id="4" name="Date Placeholder 3">
            <a:extLst>
              <a:ext uri="{FF2B5EF4-FFF2-40B4-BE49-F238E27FC236}">
                <a16:creationId xmlns:a16="http://schemas.microsoft.com/office/drawing/2014/main" id="{C30CCA27-4602-DC04-EA02-69A924B3E170}"/>
              </a:ext>
            </a:extLst>
          </p:cNvPr>
          <p:cNvSpPr>
            <a:spLocks noGrp="1"/>
          </p:cNvSpPr>
          <p:nvPr>
            <p:ph type="dt" sz="half" idx="10"/>
          </p:nvPr>
        </p:nvSpPr>
        <p:spPr/>
        <p:txBody>
          <a:bodyPr/>
          <a:lstStyle/>
          <a:p>
            <a:fld id="{1332600A-A7B8-4674-AAE3-A37177B883E5}" type="datetime1">
              <a:rPr lang="en-GB" smtClean="0"/>
              <a:t>21/10/2025</a:t>
            </a:fld>
            <a:endParaRPr lang="en-GB"/>
          </a:p>
        </p:txBody>
      </p:sp>
      <p:sp>
        <p:nvSpPr>
          <p:cNvPr id="5" name="Slide Number Placeholder 4">
            <a:extLst>
              <a:ext uri="{FF2B5EF4-FFF2-40B4-BE49-F238E27FC236}">
                <a16:creationId xmlns:a16="http://schemas.microsoft.com/office/drawing/2014/main" id="{5CB24FB2-56F6-B746-7757-E1BFB42E391E}"/>
              </a:ext>
            </a:extLst>
          </p:cNvPr>
          <p:cNvSpPr>
            <a:spLocks noGrp="1"/>
          </p:cNvSpPr>
          <p:nvPr>
            <p:ph type="sldNum" sz="quarter" idx="12"/>
          </p:nvPr>
        </p:nvSpPr>
        <p:spPr/>
        <p:txBody>
          <a:bodyPr/>
          <a:lstStyle/>
          <a:p>
            <a:fld id="{9EB268CF-8001-41B5-ADCD-92A7738D3D9B}" type="slidenum">
              <a:rPr lang="en-GB" smtClean="0"/>
              <a:t>41</a:t>
            </a:fld>
            <a:endParaRPr lang="en-GB"/>
          </a:p>
        </p:txBody>
      </p:sp>
    </p:spTree>
    <p:extLst>
      <p:ext uri="{BB962C8B-B14F-4D97-AF65-F5344CB8AC3E}">
        <p14:creationId xmlns:p14="http://schemas.microsoft.com/office/powerpoint/2010/main" val="145616000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A70B65-646E-3A76-C139-55F9A77E8550}"/>
              </a:ext>
            </a:extLst>
          </p:cNvPr>
          <p:cNvSpPr>
            <a:spLocks noGrp="1"/>
          </p:cNvSpPr>
          <p:nvPr>
            <p:ph type="title"/>
          </p:nvPr>
        </p:nvSpPr>
        <p:spPr>
          <a:xfrm>
            <a:off x="838200" y="365125"/>
            <a:ext cx="10515600" cy="969899"/>
          </a:xfrm>
        </p:spPr>
        <p:txBody>
          <a:bodyPr/>
          <a:lstStyle/>
          <a:p>
            <a:r>
              <a:rPr lang="en-US" dirty="0"/>
              <a:t>A backward-chaining Algorithm</a:t>
            </a:r>
          </a:p>
        </p:txBody>
      </p:sp>
      <p:sp>
        <p:nvSpPr>
          <p:cNvPr id="4" name="Date Placeholder 3">
            <a:extLst>
              <a:ext uri="{FF2B5EF4-FFF2-40B4-BE49-F238E27FC236}">
                <a16:creationId xmlns:a16="http://schemas.microsoft.com/office/drawing/2014/main" id="{FE374F3C-1319-C273-BBB5-AA04A00B58AD}"/>
              </a:ext>
            </a:extLst>
          </p:cNvPr>
          <p:cNvSpPr>
            <a:spLocks noGrp="1"/>
          </p:cNvSpPr>
          <p:nvPr>
            <p:ph type="dt" sz="half" idx="10"/>
          </p:nvPr>
        </p:nvSpPr>
        <p:spPr/>
        <p:txBody>
          <a:bodyPr/>
          <a:lstStyle/>
          <a:p>
            <a:fld id="{1332600A-A7B8-4674-AAE3-A37177B883E5}" type="datetime1">
              <a:rPr lang="en-GB" smtClean="0"/>
              <a:t>21/10/2025</a:t>
            </a:fld>
            <a:endParaRPr lang="en-GB"/>
          </a:p>
        </p:txBody>
      </p:sp>
      <p:sp>
        <p:nvSpPr>
          <p:cNvPr id="5" name="Slide Number Placeholder 4">
            <a:extLst>
              <a:ext uri="{FF2B5EF4-FFF2-40B4-BE49-F238E27FC236}">
                <a16:creationId xmlns:a16="http://schemas.microsoft.com/office/drawing/2014/main" id="{131C4DFE-218F-9637-C3F1-8AE0A68CAC15}"/>
              </a:ext>
            </a:extLst>
          </p:cNvPr>
          <p:cNvSpPr>
            <a:spLocks noGrp="1"/>
          </p:cNvSpPr>
          <p:nvPr>
            <p:ph type="sldNum" sz="quarter" idx="12"/>
          </p:nvPr>
        </p:nvSpPr>
        <p:spPr/>
        <p:txBody>
          <a:bodyPr/>
          <a:lstStyle/>
          <a:p>
            <a:fld id="{9EB268CF-8001-41B5-ADCD-92A7738D3D9B}" type="slidenum">
              <a:rPr lang="en-GB" smtClean="0"/>
              <a:t>42</a:t>
            </a:fld>
            <a:endParaRPr lang="en-GB"/>
          </a:p>
        </p:txBody>
      </p:sp>
      <p:sp>
        <p:nvSpPr>
          <p:cNvPr id="6" name="Date Placeholder 3">
            <a:extLst>
              <a:ext uri="{FF2B5EF4-FFF2-40B4-BE49-F238E27FC236}">
                <a16:creationId xmlns:a16="http://schemas.microsoft.com/office/drawing/2014/main" id="{F3DFA413-4479-F4FF-AEC4-BE1C50A184D7}"/>
              </a:ext>
            </a:extLst>
          </p:cNvPr>
          <p:cNvSpPr txBox="1">
            <a:spLocks/>
          </p:cNvSpPr>
          <p:nvPr/>
        </p:nvSpPr>
        <p:spPr>
          <a:xfrm>
            <a:off x="838200" y="6356350"/>
            <a:ext cx="27432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332600A-A7B8-4674-AAE3-A37177B883E5}" type="datetime1">
              <a:rPr lang="en-GB" smtClean="0"/>
              <a:pPr/>
              <a:t>21/10/2025</a:t>
            </a:fld>
            <a:endParaRPr lang="en-GB"/>
          </a:p>
        </p:txBody>
      </p:sp>
      <p:sp>
        <p:nvSpPr>
          <p:cNvPr id="7" name="Slide Number Placeholder 4">
            <a:extLst>
              <a:ext uri="{FF2B5EF4-FFF2-40B4-BE49-F238E27FC236}">
                <a16:creationId xmlns:a16="http://schemas.microsoft.com/office/drawing/2014/main" id="{D604E67C-5D28-63D6-9843-2ECF56C4F818}"/>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EB268CF-8001-41B5-ADCD-92A7738D3D9B}" type="slidenum">
              <a:rPr lang="en-GB" smtClean="0"/>
              <a:pPr/>
              <a:t>42</a:t>
            </a:fld>
            <a:endParaRPr lang="en-GB"/>
          </a:p>
        </p:txBody>
      </p:sp>
      <mc:AlternateContent xmlns:mc="http://schemas.openxmlformats.org/markup-compatibility/2006">
        <mc:Choice xmlns:a14="http://schemas.microsoft.com/office/drawing/2010/main" Requires="a14">
          <p:sp>
            <p:nvSpPr>
              <p:cNvPr id="9" name="Rectangle 8">
                <a:extLst>
                  <a:ext uri="{FF2B5EF4-FFF2-40B4-BE49-F238E27FC236}">
                    <a16:creationId xmlns:a16="http://schemas.microsoft.com/office/drawing/2014/main" id="{DDF2CACE-367C-5E7F-8A4D-7B5A40DF91CB}"/>
                  </a:ext>
                </a:extLst>
              </p:cNvPr>
              <p:cNvSpPr/>
              <p:nvPr/>
            </p:nvSpPr>
            <p:spPr>
              <a:xfrm>
                <a:off x="5095875" y="1537431"/>
                <a:ext cx="2000250" cy="43815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𝑪𝒓𝒊𝒎𝒊𝒏𝒂𝒍</m:t>
                      </m:r>
                      <m:r>
                        <a:rPr lang="en-US" b="1" i="1" smtClean="0">
                          <a:latin typeface="Cambria Math" panose="02040503050406030204" pitchFamily="18" charset="0"/>
                        </a:rPr>
                        <m:t> </m:t>
                      </m:r>
                      <m:d>
                        <m:dPr>
                          <m:ctrlPr>
                            <a:rPr lang="en-US" b="1" i="1">
                              <a:latin typeface="Cambria Math" panose="02040503050406030204" pitchFamily="18" charset="0"/>
                            </a:rPr>
                          </m:ctrlPr>
                        </m:dPr>
                        <m:e>
                          <m:r>
                            <a:rPr lang="en-US" b="1" i="1" smtClean="0">
                              <a:latin typeface="Cambria Math" panose="02040503050406030204" pitchFamily="18" charset="0"/>
                            </a:rPr>
                            <m:t>𝑾𝒆𝒔𝒕</m:t>
                          </m:r>
                        </m:e>
                      </m:d>
                    </m:oMath>
                  </m:oMathPara>
                </a14:m>
                <a:endParaRPr lang="en-US" b="1" i="1" dirty="0">
                  <a:latin typeface="Cambria Math" panose="02040503050406030204" pitchFamily="18" charset="0"/>
                </a:endParaRPr>
              </a:p>
            </p:txBody>
          </p:sp>
        </mc:Choice>
        <mc:Fallback>
          <p:sp>
            <p:nvSpPr>
              <p:cNvPr id="9" name="Rectangle 8">
                <a:extLst>
                  <a:ext uri="{FF2B5EF4-FFF2-40B4-BE49-F238E27FC236}">
                    <a16:creationId xmlns:a16="http://schemas.microsoft.com/office/drawing/2014/main" id="{DDF2CACE-367C-5E7F-8A4D-7B5A40DF91CB}"/>
                  </a:ext>
                </a:extLst>
              </p:cNvPr>
              <p:cNvSpPr>
                <a:spLocks noRot="1" noChangeAspect="1" noMove="1" noResize="1" noEditPoints="1" noAdjustHandles="1" noChangeArrowheads="1" noChangeShapeType="1" noTextEdit="1"/>
              </p:cNvSpPr>
              <p:nvPr/>
            </p:nvSpPr>
            <p:spPr>
              <a:xfrm>
                <a:off x="5095875" y="1537431"/>
                <a:ext cx="2000250" cy="438150"/>
              </a:xfrm>
              <a:prstGeom prst="rect">
                <a:avLst/>
              </a:prstGeom>
              <a:blipFill>
                <a:blip r:embed="rId2"/>
                <a:stretch>
                  <a:fillRect l="-906"/>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0" name="Rectangle 9">
                <a:extLst>
                  <a:ext uri="{FF2B5EF4-FFF2-40B4-BE49-F238E27FC236}">
                    <a16:creationId xmlns:a16="http://schemas.microsoft.com/office/drawing/2014/main" id="{F58A7819-048D-62D5-5FEA-38F79BDE2F85}"/>
                  </a:ext>
                </a:extLst>
              </p:cNvPr>
              <p:cNvSpPr/>
              <p:nvPr/>
            </p:nvSpPr>
            <p:spPr>
              <a:xfrm>
                <a:off x="2936952" y="2927725"/>
                <a:ext cx="1838704" cy="43815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𝑊𝑒𝑎𝑝𝑜𝑛</m:t>
                      </m:r>
                      <m:d>
                        <m:dPr>
                          <m:ctrlPr>
                            <a:rPr lang="en-US" i="1">
                              <a:latin typeface="Cambria Math" panose="02040503050406030204" pitchFamily="18" charset="0"/>
                            </a:rPr>
                          </m:ctrlPr>
                        </m:dPr>
                        <m:e>
                          <m:r>
                            <a:rPr lang="en-US" i="1">
                              <a:latin typeface="Cambria Math" panose="02040503050406030204" pitchFamily="18" charset="0"/>
                            </a:rPr>
                            <m:t>𝑦</m:t>
                          </m:r>
                        </m:e>
                      </m:d>
                    </m:oMath>
                  </m:oMathPara>
                </a14:m>
                <a:endParaRPr lang="en-US" b="1" i="1" dirty="0">
                  <a:latin typeface="Cambria Math" panose="02040503050406030204" pitchFamily="18" charset="0"/>
                </a:endParaRPr>
              </a:p>
            </p:txBody>
          </p:sp>
        </mc:Choice>
        <mc:Fallback>
          <p:sp>
            <p:nvSpPr>
              <p:cNvPr id="10" name="Rectangle 9">
                <a:extLst>
                  <a:ext uri="{FF2B5EF4-FFF2-40B4-BE49-F238E27FC236}">
                    <a16:creationId xmlns:a16="http://schemas.microsoft.com/office/drawing/2014/main" id="{F58A7819-048D-62D5-5FEA-38F79BDE2F85}"/>
                  </a:ext>
                </a:extLst>
              </p:cNvPr>
              <p:cNvSpPr>
                <a:spLocks noRot="1" noChangeAspect="1" noMove="1" noResize="1" noEditPoints="1" noAdjustHandles="1" noChangeArrowheads="1" noChangeShapeType="1" noTextEdit="1"/>
              </p:cNvSpPr>
              <p:nvPr/>
            </p:nvSpPr>
            <p:spPr>
              <a:xfrm>
                <a:off x="2936952" y="2927725"/>
                <a:ext cx="1838704" cy="438150"/>
              </a:xfrm>
              <a:prstGeom prst="rect">
                <a:avLst/>
              </a:prstGeom>
              <a:blipFill>
                <a:blip r:embed="rId3"/>
                <a:stretch>
                  <a:fillRect b="-1333"/>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1" name="Rectangle 10">
                <a:extLst>
                  <a:ext uri="{FF2B5EF4-FFF2-40B4-BE49-F238E27FC236}">
                    <a16:creationId xmlns:a16="http://schemas.microsoft.com/office/drawing/2014/main" id="{BE357AE5-9597-B595-DE7C-E7491663587D}"/>
                  </a:ext>
                </a:extLst>
              </p:cNvPr>
              <p:cNvSpPr/>
              <p:nvPr/>
            </p:nvSpPr>
            <p:spPr>
              <a:xfrm>
                <a:off x="209550" y="2927725"/>
                <a:ext cx="2000250" cy="43815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1" i="1">
                          <a:latin typeface="Cambria Math" panose="02040503050406030204" pitchFamily="18" charset="0"/>
                        </a:rPr>
                        <m:t>𝑨𝒎𝒆𝒓𝒊𝒄𝒂𝒏</m:t>
                      </m:r>
                      <m:d>
                        <m:dPr>
                          <m:ctrlPr>
                            <a:rPr lang="en-US" b="1" i="1">
                              <a:latin typeface="Cambria Math" panose="02040503050406030204" pitchFamily="18" charset="0"/>
                            </a:rPr>
                          </m:ctrlPr>
                        </m:dPr>
                        <m:e>
                          <m:r>
                            <a:rPr lang="en-US" b="1" i="1">
                              <a:latin typeface="Cambria Math" panose="02040503050406030204" pitchFamily="18" charset="0"/>
                            </a:rPr>
                            <m:t>𝑾𝒆𝒔𝒕</m:t>
                          </m:r>
                        </m:e>
                      </m:d>
                    </m:oMath>
                  </m:oMathPara>
                </a14:m>
                <a:endParaRPr lang="en-US" b="1" i="1" dirty="0">
                  <a:latin typeface="Cambria Math" panose="02040503050406030204" pitchFamily="18" charset="0"/>
                </a:endParaRPr>
              </a:p>
            </p:txBody>
          </p:sp>
        </mc:Choice>
        <mc:Fallback>
          <p:sp>
            <p:nvSpPr>
              <p:cNvPr id="11" name="Rectangle 10">
                <a:extLst>
                  <a:ext uri="{FF2B5EF4-FFF2-40B4-BE49-F238E27FC236}">
                    <a16:creationId xmlns:a16="http://schemas.microsoft.com/office/drawing/2014/main" id="{BE357AE5-9597-B595-DE7C-E7491663587D}"/>
                  </a:ext>
                </a:extLst>
              </p:cNvPr>
              <p:cNvSpPr>
                <a:spLocks noRot="1" noChangeAspect="1" noMove="1" noResize="1" noEditPoints="1" noAdjustHandles="1" noChangeArrowheads="1" noChangeShapeType="1" noTextEdit="1"/>
              </p:cNvSpPr>
              <p:nvPr/>
            </p:nvSpPr>
            <p:spPr>
              <a:xfrm>
                <a:off x="209550" y="2927725"/>
                <a:ext cx="2000250" cy="438150"/>
              </a:xfrm>
              <a:prstGeom prst="rect">
                <a:avLst/>
              </a:prstGeom>
              <a:blipFill>
                <a:blip r:embed="rId4"/>
                <a:stretch>
                  <a:fillRect l="-1205"/>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5" name="Rectangle 14">
                <a:extLst>
                  <a:ext uri="{FF2B5EF4-FFF2-40B4-BE49-F238E27FC236}">
                    <a16:creationId xmlns:a16="http://schemas.microsoft.com/office/drawing/2014/main" id="{83BAE2B1-9ADC-1BAC-4B3D-2AB6E25C164B}"/>
                  </a:ext>
                </a:extLst>
              </p:cNvPr>
              <p:cNvSpPr/>
              <p:nvPr/>
            </p:nvSpPr>
            <p:spPr>
              <a:xfrm>
                <a:off x="3075255" y="4779543"/>
                <a:ext cx="1562097" cy="43815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𝑴𝒊𝒔𝒔𝒊𝒍𝒆</m:t>
                      </m:r>
                      <m:r>
                        <a:rPr lang="en-US" b="1" i="1" smtClean="0">
                          <a:latin typeface="Cambria Math" panose="02040503050406030204" pitchFamily="18" charset="0"/>
                        </a:rPr>
                        <m:t>(</m:t>
                      </m:r>
                      <m:r>
                        <a:rPr lang="en-US" b="1" i="1" smtClean="0">
                          <a:latin typeface="Cambria Math" panose="02040503050406030204" pitchFamily="18" charset="0"/>
                        </a:rPr>
                        <m:t>𝒚</m:t>
                      </m:r>
                      <m:r>
                        <a:rPr lang="en-US" b="1" i="1" smtClean="0">
                          <a:latin typeface="Cambria Math" panose="02040503050406030204" pitchFamily="18" charset="0"/>
                        </a:rPr>
                        <m:t>)</m:t>
                      </m:r>
                    </m:oMath>
                  </m:oMathPara>
                </a14:m>
                <a:endParaRPr lang="en-US" b="1" i="1" dirty="0">
                  <a:latin typeface="Cambria Math" panose="02040503050406030204" pitchFamily="18" charset="0"/>
                </a:endParaRPr>
              </a:p>
            </p:txBody>
          </p:sp>
        </mc:Choice>
        <mc:Fallback>
          <p:sp>
            <p:nvSpPr>
              <p:cNvPr id="15" name="Rectangle 14">
                <a:extLst>
                  <a:ext uri="{FF2B5EF4-FFF2-40B4-BE49-F238E27FC236}">
                    <a16:creationId xmlns:a16="http://schemas.microsoft.com/office/drawing/2014/main" id="{83BAE2B1-9ADC-1BAC-4B3D-2AB6E25C164B}"/>
                  </a:ext>
                </a:extLst>
              </p:cNvPr>
              <p:cNvSpPr>
                <a:spLocks noRot="1" noChangeAspect="1" noMove="1" noResize="1" noEditPoints="1" noAdjustHandles="1" noChangeArrowheads="1" noChangeShapeType="1" noTextEdit="1"/>
              </p:cNvSpPr>
              <p:nvPr/>
            </p:nvSpPr>
            <p:spPr>
              <a:xfrm>
                <a:off x="3075255" y="4779543"/>
                <a:ext cx="1562097" cy="438150"/>
              </a:xfrm>
              <a:prstGeom prst="rect">
                <a:avLst/>
              </a:prstGeom>
              <a:blipFill>
                <a:blip r:embed="rId5"/>
                <a:stretch>
                  <a:fillRect b="-1333"/>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6" name="Rectangle 15">
                <a:extLst>
                  <a:ext uri="{FF2B5EF4-FFF2-40B4-BE49-F238E27FC236}">
                    <a16:creationId xmlns:a16="http://schemas.microsoft.com/office/drawing/2014/main" id="{7189B937-6C32-B786-4457-D2451A9B59A9}"/>
                  </a:ext>
                </a:extLst>
              </p:cNvPr>
              <p:cNvSpPr/>
              <p:nvPr/>
            </p:nvSpPr>
            <p:spPr>
              <a:xfrm>
                <a:off x="6095999" y="2968822"/>
                <a:ext cx="2369056" cy="43815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 </m:t>
                      </m:r>
                      <m:r>
                        <a:rPr lang="en-US" b="1" i="1">
                          <a:latin typeface="Cambria Math" panose="02040503050406030204" pitchFamily="18" charset="0"/>
                        </a:rPr>
                        <m:t>𝑺𝒆𝒍𝒍𝒔</m:t>
                      </m:r>
                      <m:d>
                        <m:dPr>
                          <m:ctrlPr>
                            <a:rPr lang="en-US" b="1" i="1">
                              <a:latin typeface="Cambria Math" panose="02040503050406030204" pitchFamily="18" charset="0"/>
                            </a:rPr>
                          </m:ctrlPr>
                        </m:dPr>
                        <m:e>
                          <m:r>
                            <a:rPr lang="en-US" b="1" i="1" smtClean="0">
                              <a:latin typeface="Cambria Math" panose="02040503050406030204" pitchFamily="18" charset="0"/>
                            </a:rPr>
                            <m:t>𝑾𝒆𝒔𝒕</m:t>
                          </m:r>
                          <m:r>
                            <a:rPr lang="en-US" b="1" i="1" smtClean="0">
                              <a:latin typeface="Cambria Math" panose="02040503050406030204" pitchFamily="18" charset="0"/>
                            </a:rPr>
                            <m:t>, </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𝑴</m:t>
                              </m:r>
                            </m:e>
                            <m:sub>
                              <m:r>
                                <a:rPr lang="en-US" b="1" i="1" smtClean="0">
                                  <a:latin typeface="Cambria Math" panose="02040503050406030204" pitchFamily="18" charset="0"/>
                                </a:rPr>
                                <m:t>𝟏</m:t>
                              </m:r>
                            </m:sub>
                          </m:sSub>
                          <m:r>
                            <a:rPr lang="en-US" b="1" i="1">
                              <a:latin typeface="Cambria Math" panose="02040503050406030204" pitchFamily="18" charset="0"/>
                            </a:rPr>
                            <m:t>, </m:t>
                          </m:r>
                          <m:r>
                            <a:rPr lang="en-US" b="1" i="1">
                              <a:latin typeface="Cambria Math" panose="02040503050406030204" pitchFamily="18" charset="0"/>
                            </a:rPr>
                            <m:t>𝒛</m:t>
                          </m:r>
                        </m:e>
                      </m:d>
                    </m:oMath>
                  </m:oMathPara>
                </a14:m>
                <a:endParaRPr lang="en-US" b="1" i="1" dirty="0">
                  <a:latin typeface="Cambria Math" panose="02040503050406030204" pitchFamily="18" charset="0"/>
                </a:endParaRPr>
              </a:p>
            </p:txBody>
          </p:sp>
        </mc:Choice>
        <mc:Fallback>
          <p:sp>
            <p:nvSpPr>
              <p:cNvPr id="16" name="Rectangle 15">
                <a:extLst>
                  <a:ext uri="{FF2B5EF4-FFF2-40B4-BE49-F238E27FC236}">
                    <a16:creationId xmlns:a16="http://schemas.microsoft.com/office/drawing/2014/main" id="{7189B937-6C32-B786-4457-D2451A9B59A9}"/>
                  </a:ext>
                </a:extLst>
              </p:cNvPr>
              <p:cNvSpPr>
                <a:spLocks noRot="1" noChangeAspect="1" noMove="1" noResize="1" noEditPoints="1" noAdjustHandles="1" noChangeArrowheads="1" noChangeShapeType="1" noTextEdit="1"/>
              </p:cNvSpPr>
              <p:nvPr/>
            </p:nvSpPr>
            <p:spPr>
              <a:xfrm>
                <a:off x="6095999" y="2968822"/>
                <a:ext cx="2369056" cy="438150"/>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8" name="Rectangle 17">
                <a:extLst>
                  <a:ext uri="{FF2B5EF4-FFF2-40B4-BE49-F238E27FC236}">
                    <a16:creationId xmlns:a16="http://schemas.microsoft.com/office/drawing/2014/main" id="{ADBDF8B9-C1D3-AEB1-D892-3B1BDD06FCA1}"/>
                  </a:ext>
                </a:extLst>
              </p:cNvPr>
              <p:cNvSpPr/>
              <p:nvPr/>
            </p:nvSpPr>
            <p:spPr>
              <a:xfrm>
                <a:off x="5177791" y="4779543"/>
                <a:ext cx="1562097" cy="43815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𝑴𝒊𝒔𝒔𝒊𝒍𝒆</m:t>
                      </m:r>
                      <m:r>
                        <a:rPr lang="en-US" b="1" i="1" smtClean="0">
                          <a:latin typeface="Cambria Math" panose="02040503050406030204" pitchFamily="18" charset="0"/>
                        </a:rPr>
                        <m:t>(</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𝑴</m:t>
                          </m:r>
                        </m:e>
                        <m:sub>
                          <m:r>
                            <a:rPr lang="en-US" b="1" i="1" smtClean="0">
                              <a:latin typeface="Cambria Math" panose="02040503050406030204" pitchFamily="18" charset="0"/>
                            </a:rPr>
                            <m:t>𝟏</m:t>
                          </m:r>
                        </m:sub>
                      </m:sSub>
                      <m:r>
                        <a:rPr lang="en-US" b="1" i="1" smtClean="0">
                          <a:latin typeface="Cambria Math" panose="02040503050406030204" pitchFamily="18" charset="0"/>
                        </a:rPr>
                        <m:t>)</m:t>
                      </m:r>
                    </m:oMath>
                  </m:oMathPara>
                </a14:m>
                <a:endParaRPr lang="en-US" b="1" i="1" dirty="0">
                  <a:latin typeface="Cambria Math" panose="02040503050406030204" pitchFamily="18" charset="0"/>
                </a:endParaRPr>
              </a:p>
            </p:txBody>
          </p:sp>
        </mc:Choice>
        <mc:Fallback>
          <p:sp>
            <p:nvSpPr>
              <p:cNvPr id="18" name="Rectangle 17">
                <a:extLst>
                  <a:ext uri="{FF2B5EF4-FFF2-40B4-BE49-F238E27FC236}">
                    <a16:creationId xmlns:a16="http://schemas.microsoft.com/office/drawing/2014/main" id="{ADBDF8B9-C1D3-AEB1-D892-3B1BDD06FCA1}"/>
                  </a:ext>
                </a:extLst>
              </p:cNvPr>
              <p:cNvSpPr>
                <a:spLocks noRot="1" noChangeAspect="1" noMove="1" noResize="1" noEditPoints="1" noAdjustHandles="1" noChangeArrowheads="1" noChangeShapeType="1" noTextEdit="1"/>
              </p:cNvSpPr>
              <p:nvPr/>
            </p:nvSpPr>
            <p:spPr>
              <a:xfrm>
                <a:off x="5177791" y="4779543"/>
                <a:ext cx="1562097" cy="438150"/>
              </a:xfrm>
              <a:prstGeom prst="rect">
                <a:avLst/>
              </a:prstGeom>
              <a:blipFill>
                <a:blip r:embed="rId7"/>
                <a:stretch>
                  <a:fillRect b="-1333"/>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0" name="Rectangle 19">
                <a:extLst>
                  <a:ext uri="{FF2B5EF4-FFF2-40B4-BE49-F238E27FC236}">
                    <a16:creationId xmlns:a16="http://schemas.microsoft.com/office/drawing/2014/main" id="{97BB56CC-92C1-609C-0A7C-F8F209992474}"/>
                  </a:ext>
                </a:extLst>
              </p:cNvPr>
              <p:cNvSpPr/>
              <p:nvPr/>
            </p:nvSpPr>
            <p:spPr>
              <a:xfrm>
                <a:off x="7255387" y="4779543"/>
                <a:ext cx="2000246" cy="43815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𝑶𝒘𝒏𝒔</m:t>
                      </m:r>
                      <m:r>
                        <a:rPr lang="en-US" b="1" i="1" smtClean="0">
                          <a:latin typeface="Cambria Math" panose="02040503050406030204" pitchFamily="18" charset="0"/>
                        </a:rPr>
                        <m:t>(</m:t>
                      </m:r>
                      <m:r>
                        <a:rPr lang="en-US" b="1" i="1" smtClean="0">
                          <a:latin typeface="Cambria Math" panose="02040503050406030204" pitchFamily="18" charset="0"/>
                        </a:rPr>
                        <m:t>𝑹𝒖𝒔𝒉𝒂</m:t>
                      </m:r>
                      <m:r>
                        <a:rPr lang="en-US" b="1" i="1" smtClean="0">
                          <a:latin typeface="Cambria Math" panose="02040503050406030204" pitchFamily="18" charset="0"/>
                        </a:rPr>
                        <m:t>, </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𝑴</m:t>
                          </m:r>
                        </m:e>
                        <m:sub>
                          <m:r>
                            <a:rPr lang="en-US" b="1" i="1" smtClean="0">
                              <a:latin typeface="Cambria Math" panose="02040503050406030204" pitchFamily="18" charset="0"/>
                            </a:rPr>
                            <m:t>𝟏</m:t>
                          </m:r>
                        </m:sub>
                      </m:sSub>
                      <m:r>
                        <a:rPr lang="en-US" b="1" i="1" smtClean="0">
                          <a:latin typeface="Cambria Math" panose="02040503050406030204" pitchFamily="18" charset="0"/>
                        </a:rPr>
                        <m:t>)</m:t>
                      </m:r>
                    </m:oMath>
                  </m:oMathPara>
                </a14:m>
                <a:endParaRPr lang="en-US" b="1" i="1" dirty="0">
                  <a:latin typeface="Cambria Math" panose="02040503050406030204" pitchFamily="18" charset="0"/>
                </a:endParaRPr>
              </a:p>
            </p:txBody>
          </p:sp>
        </mc:Choice>
        <mc:Fallback>
          <p:sp>
            <p:nvSpPr>
              <p:cNvPr id="20" name="Rectangle 19">
                <a:extLst>
                  <a:ext uri="{FF2B5EF4-FFF2-40B4-BE49-F238E27FC236}">
                    <a16:creationId xmlns:a16="http://schemas.microsoft.com/office/drawing/2014/main" id="{97BB56CC-92C1-609C-0A7C-F8F209992474}"/>
                  </a:ext>
                </a:extLst>
              </p:cNvPr>
              <p:cNvSpPr>
                <a:spLocks noRot="1" noChangeAspect="1" noMove="1" noResize="1" noEditPoints="1" noAdjustHandles="1" noChangeArrowheads="1" noChangeShapeType="1" noTextEdit="1"/>
              </p:cNvSpPr>
              <p:nvPr/>
            </p:nvSpPr>
            <p:spPr>
              <a:xfrm>
                <a:off x="7255387" y="4779543"/>
                <a:ext cx="2000246" cy="438150"/>
              </a:xfrm>
              <a:prstGeom prst="rect">
                <a:avLst/>
              </a:prstGeom>
              <a:blipFill>
                <a:blip r:embed="rId8"/>
                <a:stretch>
                  <a:fillRect r="-5136" b="-1333"/>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1" name="Rectangle 20">
                <a:extLst>
                  <a:ext uri="{FF2B5EF4-FFF2-40B4-BE49-F238E27FC236}">
                    <a16:creationId xmlns:a16="http://schemas.microsoft.com/office/drawing/2014/main" id="{CAFB4472-A0F7-C62C-6261-599378B220BA}"/>
                  </a:ext>
                </a:extLst>
              </p:cNvPr>
              <p:cNvSpPr/>
              <p:nvPr/>
            </p:nvSpPr>
            <p:spPr>
              <a:xfrm>
                <a:off x="9753600" y="2937822"/>
                <a:ext cx="1911856" cy="43815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14:m>
                  <m:oMathPara xmlns:m="http://schemas.openxmlformats.org/officeDocument/2006/math">
                    <m:oMathParaPr>
                      <m:jc m:val="centerGroup"/>
                    </m:oMathParaPr>
                    <m:oMath xmlns:m="http://schemas.openxmlformats.org/officeDocument/2006/math">
                      <m:r>
                        <a:rPr lang="en-US" sz="1600" b="1" i="1" smtClean="0">
                          <a:latin typeface="Cambria Math" panose="02040503050406030204" pitchFamily="18" charset="0"/>
                        </a:rPr>
                        <m:t>𝑯𝒐𝒔𝒕𝒊𝒍𝒆</m:t>
                      </m:r>
                      <m:d>
                        <m:dPr>
                          <m:ctrlPr>
                            <a:rPr lang="en-US" sz="1600" b="1" i="1">
                              <a:latin typeface="Cambria Math" panose="02040503050406030204" pitchFamily="18" charset="0"/>
                            </a:rPr>
                          </m:ctrlPr>
                        </m:dPr>
                        <m:e>
                          <m:r>
                            <a:rPr lang="en-US" sz="1600" b="1" i="1" smtClean="0">
                              <a:latin typeface="Cambria Math" panose="02040503050406030204" pitchFamily="18" charset="0"/>
                            </a:rPr>
                            <m:t>𝑹𝒖𝒔𝒉𝒂</m:t>
                          </m:r>
                        </m:e>
                      </m:d>
                    </m:oMath>
                  </m:oMathPara>
                </a14:m>
                <a:endParaRPr lang="en-US" sz="1600" b="1" i="1" dirty="0">
                  <a:latin typeface="Cambria Math" panose="02040503050406030204" pitchFamily="18" charset="0"/>
                </a:endParaRPr>
              </a:p>
            </p:txBody>
          </p:sp>
        </mc:Choice>
        <mc:Fallback>
          <p:sp>
            <p:nvSpPr>
              <p:cNvPr id="21" name="Rectangle 20">
                <a:extLst>
                  <a:ext uri="{FF2B5EF4-FFF2-40B4-BE49-F238E27FC236}">
                    <a16:creationId xmlns:a16="http://schemas.microsoft.com/office/drawing/2014/main" id="{CAFB4472-A0F7-C62C-6261-599378B220BA}"/>
                  </a:ext>
                </a:extLst>
              </p:cNvPr>
              <p:cNvSpPr>
                <a:spLocks noRot="1" noChangeAspect="1" noMove="1" noResize="1" noEditPoints="1" noAdjustHandles="1" noChangeArrowheads="1" noChangeShapeType="1" noTextEdit="1"/>
              </p:cNvSpPr>
              <p:nvPr/>
            </p:nvSpPr>
            <p:spPr>
              <a:xfrm>
                <a:off x="9753600" y="2937822"/>
                <a:ext cx="1911856" cy="438150"/>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4" name="Rectangle 23">
                <a:extLst>
                  <a:ext uri="{FF2B5EF4-FFF2-40B4-BE49-F238E27FC236}">
                    <a16:creationId xmlns:a16="http://schemas.microsoft.com/office/drawing/2014/main" id="{4E67C9A9-D7A7-57E5-01A1-8A59B9165F1F}"/>
                  </a:ext>
                </a:extLst>
              </p:cNvPr>
              <p:cNvSpPr/>
              <p:nvPr/>
            </p:nvSpPr>
            <p:spPr>
              <a:xfrm>
                <a:off x="9753600" y="4779543"/>
                <a:ext cx="2014728" cy="43815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14:m>
                  <m:oMathPara xmlns:m="http://schemas.openxmlformats.org/officeDocument/2006/math">
                    <m:oMathParaPr>
                      <m:jc m:val="centerGroup"/>
                    </m:oMathParaPr>
                    <m:oMath xmlns:m="http://schemas.openxmlformats.org/officeDocument/2006/math">
                      <m:r>
                        <a:rPr lang="en-US" sz="1600" i="1">
                          <a:latin typeface="Cambria Math" panose="02040503050406030204" pitchFamily="18" charset="0"/>
                        </a:rPr>
                        <m:t>𝐸𝑛𝑒𝑚𝑦</m:t>
                      </m:r>
                      <m:d>
                        <m:dPr>
                          <m:ctrlPr>
                            <a:rPr lang="en-US" sz="1600" i="1">
                              <a:latin typeface="Cambria Math" panose="02040503050406030204" pitchFamily="18" charset="0"/>
                            </a:rPr>
                          </m:ctrlPr>
                        </m:dPr>
                        <m:e>
                          <m:r>
                            <a:rPr lang="en-US" sz="1600" i="1">
                              <a:latin typeface="Cambria Math" panose="02040503050406030204" pitchFamily="18" charset="0"/>
                            </a:rPr>
                            <m:t>𝑥</m:t>
                          </m:r>
                          <m:r>
                            <a:rPr lang="en-US" sz="1600" i="1">
                              <a:latin typeface="Cambria Math" panose="02040503050406030204" pitchFamily="18" charset="0"/>
                            </a:rPr>
                            <m:t>, </m:t>
                          </m:r>
                          <m:r>
                            <a:rPr lang="en-US" sz="1600" i="1">
                              <a:latin typeface="Cambria Math" panose="02040503050406030204" pitchFamily="18" charset="0"/>
                            </a:rPr>
                            <m:t>𝐴𝑚𝑒𝑟𝑖𝑐𝑎</m:t>
                          </m:r>
                        </m:e>
                      </m:d>
                    </m:oMath>
                  </m:oMathPara>
                </a14:m>
                <a:endParaRPr lang="en-US" sz="1600" i="1" dirty="0">
                  <a:latin typeface="Cambria Math" panose="02040503050406030204" pitchFamily="18" charset="0"/>
                </a:endParaRPr>
              </a:p>
            </p:txBody>
          </p:sp>
        </mc:Choice>
        <mc:Fallback>
          <p:sp>
            <p:nvSpPr>
              <p:cNvPr id="24" name="Rectangle 23">
                <a:extLst>
                  <a:ext uri="{FF2B5EF4-FFF2-40B4-BE49-F238E27FC236}">
                    <a16:creationId xmlns:a16="http://schemas.microsoft.com/office/drawing/2014/main" id="{4E67C9A9-D7A7-57E5-01A1-8A59B9165F1F}"/>
                  </a:ext>
                </a:extLst>
              </p:cNvPr>
              <p:cNvSpPr>
                <a:spLocks noRot="1" noChangeAspect="1" noMove="1" noResize="1" noEditPoints="1" noAdjustHandles="1" noChangeArrowheads="1" noChangeShapeType="1" noTextEdit="1"/>
              </p:cNvSpPr>
              <p:nvPr/>
            </p:nvSpPr>
            <p:spPr>
              <a:xfrm>
                <a:off x="9753600" y="4779543"/>
                <a:ext cx="2014728" cy="438150"/>
              </a:xfrm>
              <a:prstGeom prst="rect">
                <a:avLst/>
              </a:prstGeom>
              <a:blipFill>
                <a:blip r:embed="rId10"/>
                <a:stretch>
                  <a:fillRect/>
                </a:stretch>
              </a:blipFill>
            </p:spPr>
            <p:txBody>
              <a:bodyPr/>
              <a:lstStyle/>
              <a:p>
                <a:r>
                  <a:rPr lang="en-US">
                    <a:noFill/>
                  </a:rPr>
                  <a:t> </a:t>
                </a:r>
              </a:p>
            </p:txBody>
          </p:sp>
        </mc:Fallback>
      </mc:AlternateContent>
      <p:cxnSp>
        <p:nvCxnSpPr>
          <p:cNvPr id="26" name="Straight Connector 25">
            <a:extLst>
              <a:ext uri="{FF2B5EF4-FFF2-40B4-BE49-F238E27FC236}">
                <a16:creationId xmlns:a16="http://schemas.microsoft.com/office/drawing/2014/main" id="{64483F26-A1C8-8F49-E201-F5EA13088D22}"/>
              </a:ext>
            </a:extLst>
          </p:cNvPr>
          <p:cNvCxnSpPr>
            <a:stCxn id="9" idx="2"/>
          </p:cNvCxnSpPr>
          <p:nvPr/>
        </p:nvCxnSpPr>
        <p:spPr>
          <a:xfrm>
            <a:off x="6096000" y="1975581"/>
            <a:ext cx="0" cy="374427"/>
          </a:xfrm>
          <a:prstGeom prst="line">
            <a:avLst/>
          </a:prstGeom>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B11DB839-CA43-B853-5FF6-0CF89FF7E15C}"/>
              </a:ext>
            </a:extLst>
          </p:cNvPr>
          <p:cNvCxnSpPr>
            <a:cxnSpLocks/>
            <a:stCxn id="11" idx="0"/>
          </p:cNvCxnSpPr>
          <p:nvPr/>
        </p:nvCxnSpPr>
        <p:spPr>
          <a:xfrm flipV="1">
            <a:off x="1209675" y="2350008"/>
            <a:ext cx="4886325" cy="577717"/>
          </a:xfrm>
          <a:prstGeom prst="line">
            <a:avLst/>
          </a:prstGeom>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95E3C340-B84F-DB94-AE59-8F698A00FD56}"/>
              </a:ext>
            </a:extLst>
          </p:cNvPr>
          <p:cNvCxnSpPr>
            <a:stCxn id="21" idx="0"/>
          </p:cNvCxnSpPr>
          <p:nvPr/>
        </p:nvCxnSpPr>
        <p:spPr>
          <a:xfrm flipH="1" flipV="1">
            <a:off x="6096000" y="2350008"/>
            <a:ext cx="4613528" cy="587814"/>
          </a:xfrm>
          <a:prstGeom prst="line">
            <a:avLst/>
          </a:prstGeom>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617AFAAF-6EE3-6996-09AE-F55511837E10}"/>
              </a:ext>
            </a:extLst>
          </p:cNvPr>
          <p:cNvCxnSpPr>
            <a:stCxn id="10" idx="0"/>
          </p:cNvCxnSpPr>
          <p:nvPr/>
        </p:nvCxnSpPr>
        <p:spPr>
          <a:xfrm flipV="1">
            <a:off x="3856304" y="2350008"/>
            <a:ext cx="2239696" cy="577717"/>
          </a:xfrm>
          <a:prstGeom prst="line">
            <a:avLst/>
          </a:prstGeom>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A643E4E5-343B-DA1F-B87A-7749DFB8AB6B}"/>
              </a:ext>
            </a:extLst>
          </p:cNvPr>
          <p:cNvCxnSpPr>
            <a:cxnSpLocks/>
            <a:stCxn id="16" idx="0"/>
          </p:cNvCxnSpPr>
          <p:nvPr/>
        </p:nvCxnSpPr>
        <p:spPr>
          <a:xfrm flipH="1" flipV="1">
            <a:off x="6095998" y="2350008"/>
            <a:ext cx="1184529" cy="618814"/>
          </a:xfrm>
          <a:prstGeom prst="line">
            <a:avLst/>
          </a:prstGeom>
        </p:spPr>
        <p:style>
          <a:lnRef idx="2">
            <a:schemeClr val="accent1"/>
          </a:lnRef>
          <a:fillRef idx="0">
            <a:schemeClr val="accent1"/>
          </a:fillRef>
          <a:effectRef idx="1">
            <a:schemeClr val="accent1"/>
          </a:effectRef>
          <a:fontRef idx="minor">
            <a:schemeClr val="tx1"/>
          </a:fontRef>
        </p:style>
      </p:cxnSp>
      <p:sp>
        <p:nvSpPr>
          <p:cNvPr id="38" name="Arc 37">
            <a:extLst>
              <a:ext uri="{FF2B5EF4-FFF2-40B4-BE49-F238E27FC236}">
                <a16:creationId xmlns:a16="http://schemas.microsoft.com/office/drawing/2014/main" id="{F00BD776-33B4-7029-7AD2-48EBAC052B20}"/>
              </a:ext>
            </a:extLst>
          </p:cNvPr>
          <p:cNvSpPr/>
          <p:nvPr/>
        </p:nvSpPr>
        <p:spPr>
          <a:xfrm rot="5642666">
            <a:off x="5718187" y="1692226"/>
            <a:ext cx="755619" cy="1331140"/>
          </a:xfrm>
          <a:prstGeom prst="arc">
            <a:avLst>
              <a:gd name="adj1" fmla="val 16200000"/>
              <a:gd name="adj2" fmla="val 4845641"/>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cxnSp>
        <p:nvCxnSpPr>
          <p:cNvPr id="40" name="Straight Connector 39">
            <a:extLst>
              <a:ext uri="{FF2B5EF4-FFF2-40B4-BE49-F238E27FC236}">
                <a16:creationId xmlns:a16="http://schemas.microsoft.com/office/drawing/2014/main" id="{4F82D558-36A2-FDB6-E6B4-DD951B2B86C8}"/>
              </a:ext>
            </a:extLst>
          </p:cNvPr>
          <p:cNvCxnSpPr>
            <a:stCxn id="10" idx="2"/>
            <a:endCxn id="15" idx="0"/>
          </p:cNvCxnSpPr>
          <p:nvPr/>
        </p:nvCxnSpPr>
        <p:spPr>
          <a:xfrm>
            <a:off x="3856304" y="3365875"/>
            <a:ext cx="0" cy="1413668"/>
          </a:xfrm>
          <a:prstGeom prst="line">
            <a:avLst/>
          </a:prstGeom>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86C75344-3572-5917-5B3D-3B7C931A6EE4}"/>
              </a:ext>
            </a:extLst>
          </p:cNvPr>
          <p:cNvCxnSpPr>
            <a:cxnSpLocks/>
          </p:cNvCxnSpPr>
          <p:nvPr/>
        </p:nvCxnSpPr>
        <p:spPr>
          <a:xfrm>
            <a:off x="7255390" y="3414377"/>
            <a:ext cx="0" cy="374427"/>
          </a:xfrm>
          <a:prstGeom prst="line">
            <a:avLst/>
          </a:prstGeom>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9322CF26-6C22-3363-EEE0-45D9E7D4CF98}"/>
              </a:ext>
            </a:extLst>
          </p:cNvPr>
          <p:cNvCxnSpPr>
            <a:cxnSpLocks/>
            <a:stCxn id="18" idx="0"/>
          </p:cNvCxnSpPr>
          <p:nvPr/>
        </p:nvCxnSpPr>
        <p:spPr>
          <a:xfrm flipV="1">
            <a:off x="5958840" y="3788804"/>
            <a:ext cx="1296550" cy="990739"/>
          </a:xfrm>
          <a:prstGeom prst="line">
            <a:avLst/>
          </a:prstGeom>
        </p:spPr>
        <p:style>
          <a:lnRef idx="2">
            <a:schemeClr val="accent1"/>
          </a:lnRef>
          <a:fillRef idx="0">
            <a:schemeClr val="accent1"/>
          </a:fillRef>
          <a:effectRef idx="1">
            <a:schemeClr val="accent1"/>
          </a:effectRef>
          <a:fontRef idx="minor">
            <a:schemeClr val="tx1"/>
          </a:fontRef>
        </p:style>
      </p:cxnSp>
      <p:cxnSp>
        <p:nvCxnSpPr>
          <p:cNvPr id="44" name="Straight Connector 43">
            <a:extLst>
              <a:ext uri="{FF2B5EF4-FFF2-40B4-BE49-F238E27FC236}">
                <a16:creationId xmlns:a16="http://schemas.microsoft.com/office/drawing/2014/main" id="{CCFCDFDE-D9AB-99D0-7C89-19F94EFDCE2F}"/>
              </a:ext>
            </a:extLst>
          </p:cNvPr>
          <p:cNvCxnSpPr>
            <a:cxnSpLocks/>
            <a:stCxn id="20" idx="0"/>
          </p:cNvCxnSpPr>
          <p:nvPr/>
        </p:nvCxnSpPr>
        <p:spPr>
          <a:xfrm flipH="1" flipV="1">
            <a:off x="7255390" y="3788804"/>
            <a:ext cx="1000120" cy="990739"/>
          </a:xfrm>
          <a:prstGeom prst="line">
            <a:avLst/>
          </a:prstGeom>
        </p:spPr>
        <p:style>
          <a:lnRef idx="2">
            <a:schemeClr val="accent1"/>
          </a:lnRef>
          <a:fillRef idx="0">
            <a:schemeClr val="accent1"/>
          </a:fillRef>
          <a:effectRef idx="1">
            <a:schemeClr val="accent1"/>
          </a:effectRef>
          <a:fontRef idx="minor">
            <a:schemeClr val="tx1"/>
          </a:fontRef>
        </p:style>
      </p:cxnSp>
      <p:sp>
        <p:nvSpPr>
          <p:cNvPr id="45" name="Arc 44">
            <a:extLst>
              <a:ext uri="{FF2B5EF4-FFF2-40B4-BE49-F238E27FC236}">
                <a16:creationId xmlns:a16="http://schemas.microsoft.com/office/drawing/2014/main" id="{D010787C-4BF8-C192-81FB-C3903BD0DCB7}"/>
              </a:ext>
            </a:extLst>
          </p:cNvPr>
          <p:cNvSpPr/>
          <p:nvPr/>
        </p:nvSpPr>
        <p:spPr>
          <a:xfrm rot="5642666">
            <a:off x="6877577" y="3131022"/>
            <a:ext cx="755619" cy="1331140"/>
          </a:xfrm>
          <a:prstGeom prst="arc">
            <a:avLst>
              <a:gd name="adj1" fmla="val 18435488"/>
              <a:gd name="adj2" fmla="val 2975613"/>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mc:AlternateContent xmlns:mc="http://schemas.openxmlformats.org/markup-compatibility/2006">
        <mc:Choice xmlns:a14="http://schemas.microsoft.com/office/drawing/2010/main" Requires="a14">
          <p:sp>
            <p:nvSpPr>
              <p:cNvPr id="51" name="TextBox 50">
                <a:extLst>
                  <a:ext uri="{FF2B5EF4-FFF2-40B4-BE49-F238E27FC236}">
                    <a16:creationId xmlns:a16="http://schemas.microsoft.com/office/drawing/2014/main" id="{A3990D93-F0AF-DF29-B56B-B37C2DA77A0D}"/>
                  </a:ext>
                </a:extLst>
              </p:cNvPr>
              <p:cNvSpPr txBox="1"/>
              <p:nvPr/>
            </p:nvSpPr>
            <p:spPr>
              <a:xfrm>
                <a:off x="2394204" y="5431032"/>
                <a:ext cx="8366760" cy="1200329"/>
              </a:xfrm>
              <a:prstGeom prst="rect">
                <a:avLst/>
              </a:prstGeom>
              <a:noFill/>
            </p:spPr>
            <p:txBody>
              <a:bodyPr wrap="square" rtlCol="0">
                <a:spAutoFit/>
              </a:bodyPr>
              <a:lstStyle/>
              <a:p>
                <a:r>
                  <a:rPr lang="en-US" dirty="0"/>
                  <a:t>1. </a:t>
                </a:r>
                <a14:m>
                  <m:oMath xmlns:m="http://schemas.openxmlformats.org/officeDocument/2006/math">
                    <m:r>
                      <a:rPr lang="en-US" i="1" dirty="0">
                        <a:latin typeface="Cambria Math" panose="02040503050406030204" pitchFamily="18" charset="0"/>
                      </a:rPr>
                      <m:t>𝐴𝑚𝑒𝑟𝑖𝑐𝑎𝑛</m:t>
                    </m:r>
                    <m:r>
                      <a:rPr lang="en-US" i="1" dirty="0">
                        <a:latin typeface="Cambria Math" panose="02040503050406030204" pitchFamily="18" charset="0"/>
                      </a:rPr>
                      <m:t>(</m:t>
                    </m:r>
                    <m:r>
                      <a:rPr lang="en-US" i="1" dirty="0">
                        <a:latin typeface="Cambria Math" panose="02040503050406030204" pitchFamily="18" charset="0"/>
                      </a:rPr>
                      <m:t>𝑥</m:t>
                    </m:r>
                    <m:r>
                      <a:rPr lang="en-US" i="1" dirty="0">
                        <a:latin typeface="Cambria Math" panose="02040503050406030204" pitchFamily="18" charset="0"/>
                      </a:rPr>
                      <m:t>) ∧ </m:t>
                    </m:r>
                    <m:r>
                      <a:rPr lang="en-US" i="1" dirty="0">
                        <a:latin typeface="Cambria Math" panose="02040503050406030204" pitchFamily="18" charset="0"/>
                      </a:rPr>
                      <m:t>𝑊𝑒𝑎𝑝𝑜𝑛</m:t>
                    </m:r>
                    <m:r>
                      <a:rPr lang="en-US" i="1" dirty="0">
                        <a:latin typeface="Cambria Math" panose="02040503050406030204" pitchFamily="18" charset="0"/>
                      </a:rPr>
                      <m:t>(</m:t>
                    </m:r>
                    <m:r>
                      <a:rPr lang="en-US" i="1" dirty="0">
                        <a:latin typeface="Cambria Math" panose="02040503050406030204" pitchFamily="18" charset="0"/>
                      </a:rPr>
                      <m:t>𝑦</m:t>
                    </m:r>
                    <m:r>
                      <a:rPr lang="en-US" i="1" dirty="0">
                        <a:latin typeface="Cambria Math" panose="02040503050406030204" pitchFamily="18" charset="0"/>
                      </a:rPr>
                      <m:t>) ∧ </m:t>
                    </m:r>
                    <m:r>
                      <a:rPr lang="en-US" i="1" dirty="0">
                        <a:latin typeface="Cambria Math" panose="02040503050406030204" pitchFamily="18" charset="0"/>
                      </a:rPr>
                      <m:t>𝑆𝑒𝑙𝑙𝑠</m:t>
                    </m:r>
                    <m:r>
                      <a:rPr lang="en-US" i="1" dirty="0">
                        <a:latin typeface="Cambria Math" panose="02040503050406030204" pitchFamily="18" charset="0"/>
                      </a:rPr>
                      <m:t>(</m:t>
                    </m:r>
                    <m:r>
                      <a:rPr lang="en-US" i="1" dirty="0">
                        <a:latin typeface="Cambria Math" panose="02040503050406030204" pitchFamily="18" charset="0"/>
                      </a:rPr>
                      <m:t>𝑥</m:t>
                    </m:r>
                    <m:r>
                      <a:rPr lang="en-US" i="1" dirty="0">
                        <a:latin typeface="Cambria Math" panose="02040503050406030204" pitchFamily="18" charset="0"/>
                      </a:rPr>
                      <m:t>, </m:t>
                    </m:r>
                    <m:r>
                      <a:rPr lang="en-US" i="1" dirty="0">
                        <a:latin typeface="Cambria Math" panose="02040503050406030204" pitchFamily="18" charset="0"/>
                      </a:rPr>
                      <m:t>𝑦</m:t>
                    </m:r>
                    <m:r>
                      <a:rPr lang="en-US" i="1" dirty="0">
                        <a:latin typeface="Cambria Math" panose="02040503050406030204" pitchFamily="18" charset="0"/>
                      </a:rPr>
                      <m:t>, </m:t>
                    </m:r>
                    <m:r>
                      <a:rPr lang="en-US" i="1" dirty="0">
                        <a:latin typeface="Cambria Math" panose="02040503050406030204" pitchFamily="18" charset="0"/>
                      </a:rPr>
                      <m:t>𝑧</m:t>
                    </m:r>
                    <m:r>
                      <a:rPr lang="en-US" i="1" dirty="0">
                        <a:latin typeface="Cambria Math" panose="02040503050406030204" pitchFamily="18" charset="0"/>
                      </a:rPr>
                      <m:t>) ∧ </m:t>
                    </m:r>
                    <m:r>
                      <a:rPr lang="en-US" i="1" dirty="0">
                        <a:latin typeface="Cambria Math" panose="02040503050406030204" pitchFamily="18" charset="0"/>
                      </a:rPr>
                      <m:t>𝐻𝑜𝑠𝑡𝑖𝑙𝑒</m:t>
                    </m:r>
                    <m:r>
                      <a:rPr lang="en-US" i="1" dirty="0">
                        <a:latin typeface="Cambria Math" panose="02040503050406030204" pitchFamily="18" charset="0"/>
                      </a:rPr>
                      <m:t>(</m:t>
                    </m:r>
                    <m:r>
                      <a:rPr lang="en-US" i="1" dirty="0">
                        <a:latin typeface="Cambria Math" panose="02040503050406030204" pitchFamily="18" charset="0"/>
                      </a:rPr>
                      <m:t>𝑧</m:t>
                    </m:r>
                    <m:r>
                      <a:rPr lang="en-US" i="1" dirty="0">
                        <a:latin typeface="Cambria Math" panose="02040503050406030204" pitchFamily="18" charset="0"/>
                      </a:rPr>
                      <m:t>) ⇒ </m:t>
                    </m:r>
                    <m:r>
                      <a:rPr lang="en-US" i="1" dirty="0">
                        <a:latin typeface="Cambria Math" panose="02040503050406030204" pitchFamily="18" charset="0"/>
                      </a:rPr>
                      <m:t>𝐶𝑟𝑖𝑚𝑖𝑛𝑎𝑙</m:t>
                    </m:r>
                    <m:r>
                      <a:rPr lang="en-US" i="1" dirty="0">
                        <a:latin typeface="Cambria Math" panose="02040503050406030204" pitchFamily="18" charset="0"/>
                      </a:rPr>
                      <m:t> (</m:t>
                    </m:r>
                    <m:r>
                      <a:rPr lang="en-US" i="1" dirty="0">
                        <a:latin typeface="Cambria Math" panose="02040503050406030204" pitchFamily="18" charset="0"/>
                      </a:rPr>
                      <m:t>𝑥</m:t>
                    </m:r>
                    <m:r>
                      <a:rPr lang="en-US" i="1" dirty="0">
                        <a:latin typeface="Cambria Math" panose="02040503050406030204" pitchFamily="18" charset="0"/>
                      </a:rPr>
                      <m:t>)</m:t>
                    </m:r>
                  </m:oMath>
                </a14:m>
                <a:endParaRPr lang="en-US" dirty="0"/>
              </a:p>
              <a:p>
                <a:r>
                  <a:rPr lang="en-US" dirty="0"/>
                  <a:t>2. </a:t>
                </a:r>
                <a14:m>
                  <m:oMath xmlns:m="http://schemas.openxmlformats.org/officeDocument/2006/math">
                    <m:r>
                      <a:rPr lang="en-US" i="1" dirty="0">
                        <a:latin typeface="Cambria Math" panose="02040503050406030204" pitchFamily="18" charset="0"/>
                      </a:rPr>
                      <m:t>𝑀𝑖𝑠𝑠𝑖𝑙𝑒</m:t>
                    </m:r>
                    <m:r>
                      <a:rPr lang="en-US" i="1" dirty="0">
                        <a:latin typeface="Cambria Math" panose="02040503050406030204" pitchFamily="18" charset="0"/>
                      </a:rPr>
                      <m:t>(</m:t>
                    </m:r>
                    <m:r>
                      <a:rPr lang="en-US" i="1" dirty="0">
                        <a:latin typeface="Cambria Math" panose="02040503050406030204" pitchFamily="18" charset="0"/>
                      </a:rPr>
                      <m:t>𝑥</m:t>
                    </m:r>
                    <m:r>
                      <a:rPr lang="en-US" i="1" dirty="0">
                        <a:latin typeface="Cambria Math" panose="02040503050406030204" pitchFamily="18" charset="0"/>
                      </a:rPr>
                      <m:t>) ∧ </m:t>
                    </m:r>
                    <m:r>
                      <a:rPr lang="en-US" i="1" dirty="0">
                        <a:latin typeface="Cambria Math" panose="02040503050406030204" pitchFamily="18" charset="0"/>
                      </a:rPr>
                      <m:t>𝑂𝑤𝑛𝑠</m:t>
                    </m:r>
                    <m:r>
                      <a:rPr lang="en-US" i="1" dirty="0">
                        <a:latin typeface="Cambria Math" panose="02040503050406030204" pitchFamily="18" charset="0"/>
                      </a:rPr>
                      <m:t>(</m:t>
                    </m:r>
                    <m:r>
                      <a:rPr lang="en-US" i="1" dirty="0">
                        <a:latin typeface="Cambria Math" panose="02040503050406030204" pitchFamily="18" charset="0"/>
                      </a:rPr>
                      <m:t>𝑅𝑢𝑠</m:t>
                    </m:r>
                    <m:r>
                      <a:rPr lang="en-US" i="1" dirty="0">
                        <a:latin typeface="Cambria Math" panose="02040503050406030204" pitchFamily="18" charset="0"/>
                      </a:rPr>
                      <m:t>h</m:t>
                    </m:r>
                    <m:r>
                      <a:rPr lang="en-US" i="1" dirty="0">
                        <a:latin typeface="Cambria Math" panose="02040503050406030204" pitchFamily="18" charset="0"/>
                      </a:rPr>
                      <m:t>𝑎</m:t>
                    </m:r>
                    <m:r>
                      <a:rPr lang="en-US" i="1" dirty="0">
                        <a:latin typeface="Cambria Math" panose="02040503050406030204" pitchFamily="18" charset="0"/>
                      </a:rPr>
                      <m:t>, </m:t>
                    </m:r>
                    <m:r>
                      <a:rPr lang="en-US" i="1" dirty="0">
                        <a:latin typeface="Cambria Math" panose="02040503050406030204" pitchFamily="18" charset="0"/>
                      </a:rPr>
                      <m:t>𝑥</m:t>
                    </m:r>
                    <m:r>
                      <a:rPr lang="en-US" i="1" dirty="0">
                        <a:latin typeface="Cambria Math" panose="02040503050406030204" pitchFamily="18" charset="0"/>
                      </a:rPr>
                      <m:t>) ⇒ </m:t>
                    </m:r>
                    <m:r>
                      <a:rPr lang="en-US" i="1" dirty="0">
                        <a:latin typeface="Cambria Math" panose="02040503050406030204" pitchFamily="18" charset="0"/>
                      </a:rPr>
                      <m:t>𝑆𝑒𝑙𝑙𝑠</m:t>
                    </m:r>
                    <m:r>
                      <a:rPr lang="en-US" i="1" dirty="0">
                        <a:latin typeface="Cambria Math" panose="02040503050406030204" pitchFamily="18" charset="0"/>
                      </a:rPr>
                      <m:t>(</m:t>
                    </m:r>
                    <m:r>
                      <a:rPr lang="en-US" i="1" dirty="0">
                        <a:latin typeface="Cambria Math" panose="02040503050406030204" pitchFamily="18" charset="0"/>
                      </a:rPr>
                      <m:t>𝑊𝑒𝑠𝑡</m:t>
                    </m:r>
                    <m:r>
                      <a:rPr lang="en-US" i="1" dirty="0">
                        <a:latin typeface="Cambria Math" panose="02040503050406030204" pitchFamily="18" charset="0"/>
                      </a:rPr>
                      <m:t>, </m:t>
                    </m:r>
                    <m:r>
                      <a:rPr lang="en-US" i="1" dirty="0">
                        <a:latin typeface="Cambria Math" panose="02040503050406030204" pitchFamily="18" charset="0"/>
                      </a:rPr>
                      <m:t>𝑥</m:t>
                    </m:r>
                    <m:r>
                      <a:rPr lang="en-US" i="1" dirty="0">
                        <a:latin typeface="Cambria Math" panose="02040503050406030204" pitchFamily="18" charset="0"/>
                      </a:rPr>
                      <m:t>, </m:t>
                    </m:r>
                    <m:r>
                      <a:rPr lang="en-US" i="1" dirty="0">
                        <a:latin typeface="Cambria Math" panose="02040503050406030204" pitchFamily="18" charset="0"/>
                      </a:rPr>
                      <m:t>𝑅𝑢𝑠</m:t>
                    </m:r>
                    <m:r>
                      <a:rPr lang="en-US" i="1" dirty="0">
                        <a:latin typeface="Cambria Math" panose="02040503050406030204" pitchFamily="18" charset="0"/>
                      </a:rPr>
                      <m:t>h</m:t>
                    </m:r>
                    <m:r>
                      <a:rPr lang="en-US" i="1" dirty="0">
                        <a:latin typeface="Cambria Math" panose="02040503050406030204" pitchFamily="18" charset="0"/>
                      </a:rPr>
                      <m:t>𝑎</m:t>
                    </m:r>
                    <m:r>
                      <a:rPr lang="en-US" i="1" dirty="0">
                        <a:latin typeface="Cambria Math" panose="02040503050406030204" pitchFamily="18" charset="0"/>
                      </a:rPr>
                      <m:t>)</m:t>
                    </m:r>
                  </m:oMath>
                </a14:m>
                <a:endParaRPr lang="en-US" dirty="0"/>
              </a:p>
              <a:p>
                <a:r>
                  <a:rPr lang="en-US" dirty="0"/>
                  <a:t>3. </a:t>
                </a:r>
                <a14:m>
                  <m:oMath xmlns:m="http://schemas.openxmlformats.org/officeDocument/2006/math">
                    <m:r>
                      <a:rPr lang="en-US" i="1" dirty="0">
                        <a:latin typeface="Cambria Math" panose="02040503050406030204" pitchFamily="18" charset="0"/>
                      </a:rPr>
                      <m:t>𝑀𝑖𝑠𝑠𝑖𝑙𝑒</m:t>
                    </m:r>
                    <m:r>
                      <a:rPr lang="en-US" i="1" dirty="0">
                        <a:latin typeface="Cambria Math" panose="02040503050406030204" pitchFamily="18" charset="0"/>
                      </a:rPr>
                      <m:t>(</m:t>
                    </m:r>
                    <m:r>
                      <a:rPr lang="en-US" i="1" dirty="0">
                        <a:latin typeface="Cambria Math" panose="02040503050406030204" pitchFamily="18" charset="0"/>
                      </a:rPr>
                      <m:t>𝑥</m:t>
                    </m:r>
                    <m:r>
                      <a:rPr lang="en-US" i="1" dirty="0">
                        <a:latin typeface="Cambria Math" panose="02040503050406030204" pitchFamily="18" charset="0"/>
                      </a:rPr>
                      <m:t>) ⇒ </m:t>
                    </m:r>
                    <m:r>
                      <a:rPr lang="en-US" i="1" dirty="0">
                        <a:latin typeface="Cambria Math" panose="02040503050406030204" pitchFamily="18" charset="0"/>
                      </a:rPr>
                      <m:t>𝑊𝑒𝑎𝑝𝑜𝑛</m:t>
                    </m:r>
                    <m:r>
                      <a:rPr lang="en-US" i="1" dirty="0">
                        <a:latin typeface="Cambria Math" panose="02040503050406030204" pitchFamily="18" charset="0"/>
                      </a:rPr>
                      <m:t>(</m:t>
                    </m:r>
                    <m:r>
                      <a:rPr lang="en-US" i="1" dirty="0">
                        <a:latin typeface="Cambria Math" panose="02040503050406030204" pitchFamily="18" charset="0"/>
                      </a:rPr>
                      <m:t>𝑥</m:t>
                    </m:r>
                    <m:r>
                      <a:rPr lang="en-US" i="1" dirty="0">
                        <a:latin typeface="Cambria Math" panose="02040503050406030204" pitchFamily="18" charset="0"/>
                      </a:rPr>
                      <m:t>)</m:t>
                    </m:r>
                  </m:oMath>
                </a14:m>
                <a:endParaRPr lang="en-US" dirty="0"/>
              </a:p>
              <a:p>
                <a:r>
                  <a:rPr lang="en-US" dirty="0"/>
                  <a:t>4. </a:t>
                </a:r>
                <a14:m>
                  <m:oMath xmlns:m="http://schemas.openxmlformats.org/officeDocument/2006/math">
                    <m:r>
                      <a:rPr lang="en-US" i="1" dirty="0">
                        <a:latin typeface="Cambria Math" panose="02040503050406030204" pitchFamily="18" charset="0"/>
                      </a:rPr>
                      <m:t>𝐸𝑛𝑒𝑚𝑦</m:t>
                    </m:r>
                    <m:r>
                      <a:rPr lang="en-US" i="1" dirty="0">
                        <a:latin typeface="Cambria Math" panose="02040503050406030204" pitchFamily="18" charset="0"/>
                      </a:rPr>
                      <m:t>(</m:t>
                    </m:r>
                    <m:r>
                      <a:rPr lang="en-US" i="1" dirty="0">
                        <a:latin typeface="Cambria Math" panose="02040503050406030204" pitchFamily="18" charset="0"/>
                      </a:rPr>
                      <m:t>𝑥</m:t>
                    </m:r>
                    <m:r>
                      <a:rPr lang="en-US" i="1" dirty="0">
                        <a:latin typeface="Cambria Math" panose="02040503050406030204" pitchFamily="18" charset="0"/>
                      </a:rPr>
                      <m:t>, </m:t>
                    </m:r>
                    <m:r>
                      <a:rPr lang="en-US" i="1" dirty="0">
                        <a:latin typeface="Cambria Math" panose="02040503050406030204" pitchFamily="18" charset="0"/>
                      </a:rPr>
                      <m:t>𝐴𝑚𝑒𝑟𝑖𝑐𝑎</m:t>
                    </m:r>
                    <m:r>
                      <a:rPr lang="en-US" i="1" dirty="0">
                        <a:latin typeface="Cambria Math" panose="02040503050406030204" pitchFamily="18" charset="0"/>
                      </a:rPr>
                      <m:t>) ⇒ </m:t>
                    </m:r>
                    <m:r>
                      <a:rPr lang="en-US" i="1" dirty="0">
                        <a:latin typeface="Cambria Math" panose="02040503050406030204" pitchFamily="18" charset="0"/>
                      </a:rPr>
                      <m:t>𝐻𝑜𝑠𝑡𝑖𝑙𝑒</m:t>
                    </m:r>
                    <m:r>
                      <a:rPr lang="en-US" i="1" dirty="0">
                        <a:latin typeface="Cambria Math" panose="02040503050406030204" pitchFamily="18" charset="0"/>
                      </a:rPr>
                      <m:t>(</m:t>
                    </m:r>
                    <m:r>
                      <a:rPr lang="en-US" i="1" dirty="0">
                        <a:latin typeface="Cambria Math" panose="02040503050406030204" pitchFamily="18" charset="0"/>
                      </a:rPr>
                      <m:t>𝑥</m:t>
                    </m:r>
                    <m:r>
                      <a:rPr lang="en-US" i="1" dirty="0">
                        <a:latin typeface="Cambria Math" panose="02040503050406030204" pitchFamily="18" charset="0"/>
                      </a:rPr>
                      <m:t>)</m:t>
                    </m:r>
                  </m:oMath>
                </a14:m>
                <a:endParaRPr lang="en-US" dirty="0"/>
              </a:p>
            </p:txBody>
          </p:sp>
        </mc:Choice>
        <mc:Fallback>
          <p:sp>
            <p:nvSpPr>
              <p:cNvPr id="51" name="TextBox 50">
                <a:extLst>
                  <a:ext uri="{FF2B5EF4-FFF2-40B4-BE49-F238E27FC236}">
                    <a16:creationId xmlns:a16="http://schemas.microsoft.com/office/drawing/2014/main" id="{A3990D93-F0AF-DF29-B56B-B37C2DA77A0D}"/>
                  </a:ext>
                </a:extLst>
              </p:cNvPr>
              <p:cNvSpPr txBox="1">
                <a:spLocks noRot="1" noChangeAspect="1" noMove="1" noResize="1" noEditPoints="1" noAdjustHandles="1" noChangeArrowheads="1" noChangeShapeType="1" noTextEdit="1"/>
              </p:cNvSpPr>
              <p:nvPr/>
            </p:nvSpPr>
            <p:spPr>
              <a:xfrm>
                <a:off x="2394204" y="5431032"/>
                <a:ext cx="8366760" cy="1200329"/>
              </a:xfrm>
              <a:prstGeom prst="rect">
                <a:avLst/>
              </a:prstGeom>
              <a:blipFill>
                <a:blip r:embed="rId11"/>
                <a:stretch>
                  <a:fillRect l="-656" t="-3046" b="-7107"/>
                </a:stretch>
              </a:blipFill>
            </p:spPr>
            <p:txBody>
              <a:bodyPr/>
              <a:lstStyle/>
              <a:p>
                <a:r>
                  <a:rPr lang="en-US">
                    <a:noFill/>
                  </a:rPr>
                  <a:t> </a:t>
                </a:r>
              </a:p>
            </p:txBody>
          </p:sp>
        </mc:Fallback>
      </mc:AlternateContent>
    </p:spTree>
    <p:extLst>
      <p:ext uri="{BB962C8B-B14F-4D97-AF65-F5344CB8AC3E}">
        <p14:creationId xmlns:p14="http://schemas.microsoft.com/office/powerpoint/2010/main" val="17662417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fade">
                                      <p:cBhvr>
                                        <p:cTn id="13" dur="500"/>
                                        <p:tgtEl>
                                          <p:spTgt spid="1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1"/>
                                        </p:tgtEl>
                                        <p:attrNameLst>
                                          <p:attrName>style.visibility</p:attrName>
                                        </p:attrNameLst>
                                      </p:cBhvr>
                                      <p:to>
                                        <p:strVal val="visible"/>
                                      </p:to>
                                    </p:set>
                                    <p:animEffect transition="in" filter="fade">
                                      <p:cBhvr>
                                        <p:cTn id="16" dur="500"/>
                                        <p:tgtEl>
                                          <p:spTgt spid="21"/>
                                        </p:tgtEl>
                                      </p:cBhvr>
                                    </p:animEffect>
                                  </p:childTnLst>
                                </p:cTn>
                              </p:par>
                              <p:par>
                                <p:cTn id="17" presetID="10" presetClass="entr" presetSubtype="0" fill="hold" nodeType="with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500"/>
                                        <p:tgtEl>
                                          <p:spTgt spid="26"/>
                                        </p:tgtEl>
                                      </p:cBhvr>
                                    </p:animEffect>
                                  </p:childTnLst>
                                </p:cTn>
                              </p:par>
                              <p:par>
                                <p:cTn id="20" presetID="10" presetClass="entr" presetSubtype="0" fill="hold" nodeType="withEffect">
                                  <p:stCondLst>
                                    <p:cond delay="0"/>
                                  </p:stCondLst>
                                  <p:childTnLst>
                                    <p:set>
                                      <p:cBhvr>
                                        <p:cTn id="21" dur="1" fill="hold">
                                          <p:stCondLst>
                                            <p:cond delay="0"/>
                                          </p:stCondLst>
                                        </p:cTn>
                                        <p:tgtEl>
                                          <p:spTgt spid="28"/>
                                        </p:tgtEl>
                                        <p:attrNameLst>
                                          <p:attrName>style.visibility</p:attrName>
                                        </p:attrNameLst>
                                      </p:cBhvr>
                                      <p:to>
                                        <p:strVal val="visible"/>
                                      </p:to>
                                    </p:set>
                                    <p:animEffect transition="in" filter="fade">
                                      <p:cBhvr>
                                        <p:cTn id="22" dur="500"/>
                                        <p:tgtEl>
                                          <p:spTgt spid="28"/>
                                        </p:tgtEl>
                                      </p:cBhvr>
                                    </p:animEffect>
                                  </p:childTnLst>
                                </p:cTn>
                              </p:par>
                              <p:par>
                                <p:cTn id="23" presetID="10" presetClass="entr" presetSubtype="0" fill="hold" nodeType="withEffect">
                                  <p:stCondLst>
                                    <p:cond delay="0"/>
                                  </p:stCondLst>
                                  <p:childTnLst>
                                    <p:set>
                                      <p:cBhvr>
                                        <p:cTn id="24" dur="1" fill="hold">
                                          <p:stCondLst>
                                            <p:cond delay="0"/>
                                          </p:stCondLst>
                                        </p:cTn>
                                        <p:tgtEl>
                                          <p:spTgt spid="32"/>
                                        </p:tgtEl>
                                        <p:attrNameLst>
                                          <p:attrName>style.visibility</p:attrName>
                                        </p:attrNameLst>
                                      </p:cBhvr>
                                      <p:to>
                                        <p:strVal val="visible"/>
                                      </p:to>
                                    </p:set>
                                    <p:animEffect transition="in" filter="fade">
                                      <p:cBhvr>
                                        <p:cTn id="25" dur="500"/>
                                        <p:tgtEl>
                                          <p:spTgt spid="32"/>
                                        </p:tgtEl>
                                      </p:cBhvr>
                                    </p:animEffect>
                                  </p:childTnLst>
                                </p:cTn>
                              </p:par>
                              <p:par>
                                <p:cTn id="26" presetID="10" presetClass="entr" presetSubtype="0" fill="hold" nodeType="withEffect">
                                  <p:stCondLst>
                                    <p:cond delay="0"/>
                                  </p:stCondLst>
                                  <p:childTnLst>
                                    <p:set>
                                      <p:cBhvr>
                                        <p:cTn id="27" dur="1" fill="hold">
                                          <p:stCondLst>
                                            <p:cond delay="0"/>
                                          </p:stCondLst>
                                        </p:cTn>
                                        <p:tgtEl>
                                          <p:spTgt spid="34"/>
                                        </p:tgtEl>
                                        <p:attrNameLst>
                                          <p:attrName>style.visibility</p:attrName>
                                        </p:attrNameLst>
                                      </p:cBhvr>
                                      <p:to>
                                        <p:strVal val="visible"/>
                                      </p:to>
                                    </p:set>
                                    <p:animEffect transition="in" filter="fade">
                                      <p:cBhvr>
                                        <p:cTn id="28" dur="500"/>
                                        <p:tgtEl>
                                          <p:spTgt spid="34"/>
                                        </p:tgtEl>
                                      </p:cBhvr>
                                    </p:animEffect>
                                  </p:childTnLst>
                                </p:cTn>
                              </p:par>
                              <p:par>
                                <p:cTn id="29" presetID="10" presetClass="entr" presetSubtype="0" fill="hold" nodeType="withEffect">
                                  <p:stCondLst>
                                    <p:cond delay="0"/>
                                  </p:stCondLst>
                                  <p:childTnLst>
                                    <p:set>
                                      <p:cBhvr>
                                        <p:cTn id="30" dur="1" fill="hold">
                                          <p:stCondLst>
                                            <p:cond delay="0"/>
                                          </p:stCondLst>
                                        </p:cTn>
                                        <p:tgtEl>
                                          <p:spTgt spid="36"/>
                                        </p:tgtEl>
                                        <p:attrNameLst>
                                          <p:attrName>style.visibility</p:attrName>
                                        </p:attrNameLst>
                                      </p:cBhvr>
                                      <p:to>
                                        <p:strVal val="visible"/>
                                      </p:to>
                                    </p:set>
                                    <p:animEffect transition="in" filter="fade">
                                      <p:cBhvr>
                                        <p:cTn id="31" dur="500"/>
                                        <p:tgtEl>
                                          <p:spTgt spid="36"/>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8"/>
                                        </p:tgtEl>
                                        <p:attrNameLst>
                                          <p:attrName>style.visibility</p:attrName>
                                        </p:attrNameLst>
                                      </p:cBhvr>
                                      <p:to>
                                        <p:strVal val="visible"/>
                                      </p:to>
                                    </p:set>
                                    <p:animEffect transition="in" filter="fade">
                                      <p:cBhvr>
                                        <p:cTn id="34"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6" grpId="0" animBg="1"/>
      <p:bldP spid="21" grpId="0" animBg="1"/>
      <p:bldP spid="38"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AB635E-C16F-9607-AD34-26DCEB8A8156}"/>
              </a:ext>
            </a:extLst>
          </p:cNvPr>
          <p:cNvSpPr>
            <a:spLocks noGrp="1"/>
          </p:cNvSpPr>
          <p:nvPr>
            <p:ph type="title"/>
          </p:nvPr>
        </p:nvSpPr>
        <p:spPr/>
        <p:txBody>
          <a:bodyPr/>
          <a:lstStyle/>
          <a:p>
            <a:r>
              <a:rPr lang="en-US" dirty="0"/>
              <a:t>Resolution</a:t>
            </a:r>
          </a:p>
        </p:txBody>
      </p:sp>
      <p:sp>
        <p:nvSpPr>
          <p:cNvPr id="3" name="Content Placeholder 2">
            <a:extLst>
              <a:ext uri="{FF2B5EF4-FFF2-40B4-BE49-F238E27FC236}">
                <a16:creationId xmlns:a16="http://schemas.microsoft.com/office/drawing/2014/main" id="{A5A0ED6D-7460-3ECB-503F-11082071EAE6}"/>
              </a:ext>
            </a:extLst>
          </p:cNvPr>
          <p:cNvSpPr>
            <a:spLocks noGrp="1"/>
          </p:cNvSpPr>
          <p:nvPr>
            <p:ph idx="1"/>
          </p:nvPr>
        </p:nvSpPr>
        <p:spPr/>
        <p:txBody>
          <a:bodyPr/>
          <a:lstStyle/>
          <a:p>
            <a:r>
              <a:rPr lang="en-US" dirty="0"/>
              <a:t>Propositional resolution using refutation is a complete inference procedure for propositional logic.</a:t>
            </a:r>
          </a:p>
          <a:p>
            <a:r>
              <a:rPr lang="en-US" dirty="0"/>
              <a:t>Now we will see how to extend resolution to first-order logic.</a:t>
            </a:r>
          </a:p>
          <a:p>
            <a:endParaRPr lang="en-US" dirty="0"/>
          </a:p>
        </p:txBody>
      </p:sp>
      <p:sp>
        <p:nvSpPr>
          <p:cNvPr id="4" name="Date Placeholder 3">
            <a:extLst>
              <a:ext uri="{FF2B5EF4-FFF2-40B4-BE49-F238E27FC236}">
                <a16:creationId xmlns:a16="http://schemas.microsoft.com/office/drawing/2014/main" id="{DCA67672-89FE-B16F-B7A7-7F792DD4EDBA}"/>
              </a:ext>
            </a:extLst>
          </p:cNvPr>
          <p:cNvSpPr>
            <a:spLocks noGrp="1"/>
          </p:cNvSpPr>
          <p:nvPr>
            <p:ph type="dt" sz="half" idx="10"/>
          </p:nvPr>
        </p:nvSpPr>
        <p:spPr/>
        <p:txBody>
          <a:bodyPr/>
          <a:lstStyle/>
          <a:p>
            <a:fld id="{1332600A-A7B8-4674-AAE3-A37177B883E5}" type="datetime1">
              <a:rPr lang="en-GB" smtClean="0"/>
              <a:t>20/10/2025</a:t>
            </a:fld>
            <a:endParaRPr lang="en-GB"/>
          </a:p>
        </p:txBody>
      </p:sp>
      <p:sp>
        <p:nvSpPr>
          <p:cNvPr id="5" name="Slide Number Placeholder 4">
            <a:extLst>
              <a:ext uri="{FF2B5EF4-FFF2-40B4-BE49-F238E27FC236}">
                <a16:creationId xmlns:a16="http://schemas.microsoft.com/office/drawing/2014/main" id="{9C8691C5-36B5-3C7E-41BE-E9117E346401}"/>
              </a:ext>
            </a:extLst>
          </p:cNvPr>
          <p:cNvSpPr>
            <a:spLocks noGrp="1"/>
          </p:cNvSpPr>
          <p:nvPr>
            <p:ph type="sldNum" sz="quarter" idx="12"/>
          </p:nvPr>
        </p:nvSpPr>
        <p:spPr/>
        <p:txBody>
          <a:bodyPr/>
          <a:lstStyle/>
          <a:p>
            <a:fld id="{9EB268CF-8001-41B5-ADCD-92A7738D3D9B}" type="slidenum">
              <a:rPr lang="en-GB" smtClean="0"/>
              <a:t>43</a:t>
            </a:fld>
            <a:endParaRPr lang="en-GB"/>
          </a:p>
        </p:txBody>
      </p:sp>
    </p:spTree>
    <p:extLst>
      <p:ext uri="{BB962C8B-B14F-4D97-AF65-F5344CB8AC3E}">
        <p14:creationId xmlns:p14="http://schemas.microsoft.com/office/powerpoint/2010/main" val="108565960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72D992-68B0-E095-C5CC-3A440FC653E1}"/>
              </a:ext>
            </a:extLst>
          </p:cNvPr>
          <p:cNvSpPr>
            <a:spLocks noGrp="1"/>
          </p:cNvSpPr>
          <p:nvPr>
            <p:ph type="title"/>
          </p:nvPr>
        </p:nvSpPr>
        <p:spPr/>
        <p:txBody>
          <a:bodyPr/>
          <a:lstStyle/>
          <a:p>
            <a:r>
              <a:rPr lang="en-US" dirty="0"/>
              <a:t>CNF for FOL</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0F09DC18-330E-5D9C-B12B-71D5C69E8041}"/>
                  </a:ext>
                </a:extLst>
              </p:cNvPr>
              <p:cNvSpPr>
                <a:spLocks noGrp="1"/>
              </p:cNvSpPr>
              <p:nvPr>
                <p:ph idx="1"/>
              </p:nvPr>
            </p:nvSpPr>
            <p:spPr/>
            <p:txBody>
              <a:bodyPr/>
              <a:lstStyle/>
              <a:p>
                <a:r>
                  <a:rPr lang="en-US" dirty="0"/>
                  <a:t>First order resolution requires that sentences be in CNF.</a:t>
                </a:r>
              </a:p>
              <a:p>
                <a:pPr lvl="1"/>
                <a:r>
                  <a:rPr lang="en-US" dirty="0"/>
                  <a:t>A conjunction of clauses where each clause is a disjunction of literals.</a:t>
                </a:r>
              </a:p>
              <a:p>
                <a:r>
                  <a:rPr lang="en-US" dirty="0"/>
                  <a:t>The sentence</a:t>
                </a:r>
                <a:br>
                  <a:rPr lang="en-US" dirty="0"/>
                </a:br>
                <a14:m>
                  <m:oMath xmlns:m="http://schemas.openxmlformats.org/officeDocument/2006/math">
                    <m:r>
                      <a:rPr lang="en-US" i="1" dirty="0" smtClean="0">
                        <a:latin typeface="Cambria Math" panose="02040503050406030204" pitchFamily="18" charset="0"/>
                      </a:rPr>
                      <m:t>∀</m:t>
                    </m:r>
                    <m:r>
                      <a:rPr lang="en-US" i="1" dirty="0">
                        <a:latin typeface="Cambria Math" panose="02040503050406030204" pitchFamily="18" charset="0"/>
                      </a:rPr>
                      <m:t>𝑥</m:t>
                    </m:r>
                    <m:r>
                      <a:rPr lang="en-US" i="1" dirty="0">
                        <a:latin typeface="Cambria Math" panose="02040503050406030204" pitchFamily="18" charset="0"/>
                      </a:rPr>
                      <m:t> </m:t>
                    </m:r>
                    <m:r>
                      <a:rPr lang="en-US" i="1" dirty="0">
                        <a:latin typeface="Cambria Math" panose="02040503050406030204" pitchFamily="18" charset="0"/>
                      </a:rPr>
                      <m:t>𝐴𝑚𝑒𝑟𝑖𝑐𝑎𝑛</m:t>
                    </m:r>
                    <m:r>
                      <a:rPr lang="en-US" i="1" dirty="0">
                        <a:latin typeface="Cambria Math" panose="02040503050406030204" pitchFamily="18" charset="0"/>
                      </a:rPr>
                      <m:t>(</m:t>
                    </m:r>
                    <m:r>
                      <a:rPr lang="en-US" i="1" dirty="0">
                        <a:latin typeface="Cambria Math" panose="02040503050406030204" pitchFamily="18" charset="0"/>
                      </a:rPr>
                      <m:t>𝑥</m:t>
                    </m:r>
                    <m:r>
                      <a:rPr lang="en-US" i="1" dirty="0">
                        <a:latin typeface="Cambria Math" panose="02040503050406030204" pitchFamily="18" charset="0"/>
                      </a:rPr>
                      <m:t>)∧</m:t>
                    </m:r>
                    <m:r>
                      <a:rPr lang="en-US" i="1" dirty="0">
                        <a:latin typeface="Cambria Math" panose="02040503050406030204" pitchFamily="18" charset="0"/>
                      </a:rPr>
                      <m:t>𝑊𝑒𝑎𝑝𝑜𝑛</m:t>
                    </m:r>
                    <m:r>
                      <a:rPr lang="en-US" i="1" dirty="0">
                        <a:latin typeface="Cambria Math" panose="02040503050406030204" pitchFamily="18" charset="0"/>
                      </a:rPr>
                      <m:t>(</m:t>
                    </m:r>
                    <m:r>
                      <a:rPr lang="en-US" i="1" dirty="0">
                        <a:latin typeface="Cambria Math" panose="02040503050406030204" pitchFamily="18" charset="0"/>
                      </a:rPr>
                      <m:t>𝑦</m:t>
                    </m:r>
                    <m:r>
                      <a:rPr lang="en-US" i="1" dirty="0">
                        <a:latin typeface="Cambria Math" panose="02040503050406030204" pitchFamily="18" charset="0"/>
                      </a:rPr>
                      <m:t>)∧</m:t>
                    </m:r>
                    <m:r>
                      <a:rPr lang="en-US" i="1" dirty="0">
                        <a:latin typeface="Cambria Math" panose="02040503050406030204" pitchFamily="18" charset="0"/>
                      </a:rPr>
                      <m:t>𝑆𝑒𝑙𝑙𝑠</m:t>
                    </m:r>
                    <m:r>
                      <a:rPr lang="en-US" i="1" dirty="0">
                        <a:latin typeface="Cambria Math" panose="02040503050406030204" pitchFamily="18" charset="0"/>
                      </a:rPr>
                      <m:t>(</m:t>
                    </m:r>
                    <m:r>
                      <a:rPr lang="en-US" i="1" dirty="0" err="1">
                        <a:latin typeface="Cambria Math" panose="02040503050406030204" pitchFamily="18" charset="0"/>
                      </a:rPr>
                      <m:t>𝑥</m:t>
                    </m:r>
                    <m:r>
                      <a:rPr lang="en-US" i="1" dirty="0" err="1">
                        <a:latin typeface="Cambria Math" panose="02040503050406030204" pitchFamily="18" charset="0"/>
                      </a:rPr>
                      <m:t>,</m:t>
                    </m:r>
                    <m:r>
                      <a:rPr lang="en-US" i="1" dirty="0" err="1">
                        <a:latin typeface="Cambria Math" panose="02040503050406030204" pitchFamily="18" charset="0"/>
                      </a:rPr>
                      <m:t>𝑦</m:t>
                    </m:r>
                    <m:r>
                      <a:rPr lang="en-US" i="1" dirty="0" err="1">
                        <a:latin typeface="Cambria Math" panose="02040503050406030204" pitchFamily="18" charset="0"/>
                      </a:rPr>
                      <m:t>,</m:t>
                    </m:r>
                    <m:r>
                      <a:rPr lang="en-US" i="1" dirty="0" err="1">
                        <a:latin typeface="Cambria Math" panose="02040503050406030204" pitchFamily="18" charset="0"/>
                      </a:rPr>
                      <m:t>𝑧</m:t>
                    </m:r>
                    <m:r>
                      <a:rPr lang="en-US" i="1" dirty="0">
                        <a:latin typeface="Cambria Math" panose="02040503050406030204" pitchFamily="18" charset="0"/>
                      </a:rPr>
                      <m:t>) ∧</m:t>
                    </m:r>
                    <m:r>
                      <a:rPr lang="en-US" i="1" dirty="0">
                        <a:latin typeface="Cambria Math" panose="02040503050406030204" pitchFamily="18" charset="0"/>
                      </a:rPr>
                      <m:t>𝐻𝑜𝑠𝑡𝑖𝑙𝑒</m:t>
                    </m:r>
                    <m:r>
                      <a:rPr lang="en-US" i="1" dirty="0">
                        <a:latin typeface="Cambria Math" panose="02040503050406030204" pitchFamily="18" charset="0"/>
                      </a:rPr>
                      <m:t>(</m:t>
                    </m:r>
                    <m:r>
                      <a:rPr lang="en-US" i="1" dirty="0">
                        <a:latin typeface="Cambria Math" panose="02040503050406030204" pitchFamily="18" charset="0"/>
                      </a:rPr>
                      <m:t>𝑧</m:t>
                    </m:r>
                    <m:r>
                      <a:rPr lang="en-US" i="1" dirty="0">
                        <a:latin typeface="Cambria Math" panose="02040503050406030204" pitchFamily="18" charset="0"/>
                      </a:rPr>
                      <m:t>) ⇒ </m:t>
                    </m:r>
                    <m:r>
                      <a:rPr lang="en-US" i="1" dirty="0">
                        <a:latin typeface="Cambria Math" panose="02040503050406030204" pitchFamily="18" charset="0"/>
                      </a:rPr>
                      <m:t>𝐶𝑟𝑖𝑚𝑖𝑛𝑎𝑙</m:t>
                    </m:r>
                    <m:r>
                      <a:rPr lang="en-US" i="1" dirty="0">
                        <a:latin typeface="Cambria Math" panose="02040503050406030204" pitchFamily="18" charset="0"/>
                      </a:rPr>
                      <m:t>(</m:t>
                    </m:r>
                    <m:r>
                      <a:rPr lang="en-US" i="1" dirty="0">
                        <a:latin typeface="Cambria Math" panose="02040503050406030204" pitchFamily="18" charset="0"/>
                      </a:rPr>
                      <m:t>𝑥</m:t>
                    </m:r>
                    <m:r>
                      <a:rPr lang="en-US" i="1" dirty="0">
                        <a:latin typeface="Cambria Math" panose="02040503050406030204" pitchFamily="18" charset="0"/>
                      </a:rPr>
                      <m:t>)</m:t>
                    </m:r>
                  </m:oMath>
                </a14:m>
                <a:endParaRPr lang="en-US" dirty="0"/>
              </a:p>
              <a:p>
                <a:r>
                  <a:rPr lang="en-US" dirty="0"/>
                  <a:t>Becomes </a:t>
                </a:r>
                <a:br>
                  <a:rPr lang="en-US" dirty="0"/>
                </a:br>
                <a14:m>
                  <m:oMath xmlns:m="http://schemas.openxmlformats.org/officeDocument/2006/math">
                    <m:r>
                      <a:rPr lang="en-US" i="1" dirty="0" smtClean="0">
                        <a:latin typeface="Cambria Math" panose="02040503050406030204" pitchFamily="18" charset="0"/>
                      </a:rPr>
                      <m:t>¬</m:t>
                    </m:r>
                    <m:r>
                      <a:rPr lang="en-US" i="1" dirty="0" smtClean="0">
                        <a:latin typeface="Cambria Math" panose="02040503050406030204" pitchFamily="18" charset="0"/>
                      </a:rPr>
                      <m:t>𝐴𝑚𝑒𝑟𝑖𝑐𝑎𝑛</m:t>
                    </m:r>
                    <m:r>
                      <a:rPr lang="en-US" i="1" dirty="0" smtClean="0">
                        <a:latin typeface="Cambria Math" panose="02040503050406030204" pitchFamily="18" charset="0"/>
                      </a:rPr>
                      <m:t>(</m:t>
                    </m:r>
                    <m:r>
                      <a:rPr lang="en-US" i="1" dirty="0" smtClean="0">
                        <a:latin typeface="Cambria Math" panose="02040503050406030204" pitchFamily="18" charset="0"/>
                      </a:rPr>
                      <m:t>𝑥</m:t>
                    </m:r>
                    <m:r>
                      <a:rPr lang="en-US" i="1" dirty="0" smtClean="0">
                        <a:latin typeface="Cambria Math" panose="02040503050406030204" pitchFamily="18" charset="0"/>
                      </a:rPr>
                      <m:t>) ∨¬</m:t>
                    </m:r>
                    <m:r>
                      <a:rPr lang="en-US" i="1" dirty="0" smtClean="0">
                        <a:latin typeface="Cambria Math" panose="02040503050406030204" pitchFamily="18" charset="0"/>
                      </a:rPr>
                      <m:t>𝑊𝑒𝑎𝑝𝑜𝑛</m:t>
                    </m:r>
                    <m:r>
                      <a:rPr lang="en-US" i="1" dirty="0" smtClean="0">
                        <a:latin typeface="Cambria Math" panose="02040503050406030204" pitchFamily="18" charset="0"/>
                      </a:rPr>
                      <m:t>(</m:t>
                    </m:r>
                    <m:r>
                      <a:rPr lang="en-US" i="1" dirty="0" smtClean="0">
                        <a:latin typeface="Cambria Math" panose="02040503050406030204" pitchFamily="18" charset="0"/>
                      </a:rPr>
                      <m:t>𝑦</m:t>
                    </m:r>
                    <m:r>
                      <a:rPr lang="en-US" i="1" dirty="0" smtClean="0">
                        <a:latin typeface="Cambria Math" panose="02040503050406030204" pitchFamily="18" charset="0"/>
                      </a:rPr>
                      <m:t>) ∨¬</m:t>
                    </m:r>
                    <m:r>
                      <a:rPr lang="en-US" i="1" dirty="0" smtClean="0">
                        <a:latin typeface="Cambria Math" panose="02040503050406030204" pitchFamily="18" charset="0"/>
                      </a:rPr>
                      <m:t>𝑆𝑒𝑙𝑙𝑠</m:t>
                    </m:r>
                    <m:r>
                      <a:rPr lang="en-US" i="1" dirty="0" smtClean="0">
                        <a:latin typeface="Cambria Math" panose="02040503050406030204" pitchFamily="18" charset="0"/>
                      </a:rPr>
                      <m:t>(</m:t>
                    </m:r>
                    <m:r>
                      <a:rPr lang="en-US" i="1" dirty="0" err="1">
                        <a:latin typeface="Cambria Math" panose="02040503050406030204" pitchFamily="18" charset="0"/>
                      </a:rPr>
                      <m:t>𝑥</m:t>
                    </m:r>
                    <m:r>
                      <a:rPr lang="en-US" i="1" dirty="0" err="1">
                        <a:latin typeface="Cambria Math" panose="02040503050406030204" pitchFamily="18" charset="0"/>
                      </a:rPr>
                      <m:t>,</m:t>
                    </m:r>
                    <m:r>
                      <a:rPr lang="en-US" i="1" dirty="0" err="1">
                        <a:latin typeface="Cambria Math" panose="02040503050406030204" pitchFamily="18" charset="0"/>
                      </a:rPr>
                      <m:t>𝑦</m:t>
                    </m:r>
                    <m:r>
                      <a:rPr lang="en-US" i="1" dirty="0" err="1">
                        <a:latin typeface="Cambria Math" panose="02040503050406030204" pitchFamily="18" charset="0"/>
                      </a:rPr>
                      <m:t>,</m:t>
                    </m:r>
                    <m:r>
                      <a:rPr lang="en-US" i="1" dirty="0" err="1">
                        <a:latin typeface="Cambria Math" panose="02040503050406030204" pitchFamily="18" charset="0"/>
                      </a:rPr>
                      <m:t>𝑧</m:t>
                    </m:r>
                    <m:r>
                      <a:rPr lang="en-US" i="1" dirty="0">
                        <a:latin typeface="Cambria Math" panose="02040503050406030204" pitchFamily="18" charset="0"/>
                      </a:rPr>
                      <m:t>) ∨¬</m:t>
                    </m:r>
                    <m:r>
                      <a:rPr lang="en-US" i="1" dirty="0">
                        <a:latin typeface="Cambria Math" panose="02040503050406030204" pitchFamily="18" charset="0"/>
                      </a:rPr>
                      <m:t>𝐻𝑜𝑠𝑡𝑖𝑙𝑒</m:t>
                    </m:r>
                    <m:r>
                      <a:rPr lang="en-US" i="1" dirty="0">
                        <a:latin typeface="Cambria Math" panose="02040503050406030204" pitchFamily="18" charset="0"/>
                      </a:rPr>
                      <m:t>(</m:t>
                    </m:r>
                    <m:r>
                      <a:rPr lang="en-US" i="1" dirty="0">
                        <a:latin typeface="Cambria Math" panose="02040503050406030204" pitchFamily="18" charset="0"/>
                      </a:rPr>
                      <m:t>𝑧</m:t>
                    </m:r>
                    <m:r>
                      <a:rPr lang="en-US" i="1" dirty="0">
                        <a:latin typeface="Cambria Math" panose="02040503050406030204" pitchFamily="18" charset="0"/>
                      </a:rPr>
                      <m:t>) ∨ </m:t>
                    </m:r>
                    <m:r>
                      <a:rPr lang="en-US" i="1" dirty="0">
                        <a:latin typeface="Cambria Math" panose="02040503050406030204" pitchFamily="18" charset="0"/>
                      </a:rPr>
                      <m:t>𝐶𝑟𝑖𝑚𝑖𝑛𝑎𝑙</m:t>
                    </m:r>
                    <m:r>
                      <a:rPr lang="en-US" i="1" dirty="0">
                        <a:latin typeface="Cambria Math" panose="02040503050406030204" pitchFamily="18" charset="0"/>
                      </a:rPr>
                      <m:t>(</m:t>
                    </m:r>
                    <m:r>
                      <a:rPr lang="en-US" i="1" dirty="0">
                        <a:latin typeface="Cambria Math" panose="02040503050406030204" pitchFamily="18" charset="0"/>
                      </a:rPr>
                      <m:t>𝑥</m:t>
                    </m:r>
                    <m:r>
                      <a:rPr lang="en-US" i="1" dirty="0">
                        <a:latin typeface="Cambria Math" panose="02040503050406030204" pitchFamily="18" charset="0"/>
                      </a:rPr>
                      <m:t>)</m:t>
                    </m:r>
                  </m:oMath>
                </a14:m>
                <a:endParaRPr lang="en-US" dirty="0"/>
              </a:p>
              <a:p>
                <a:r>
                  <a:rPr lang="en-US" dirty="0"/>
                  <a:t>Literals can contain variables, which are assumed to be universally quantified.</a:t>
                </a:r>
              </a:p>
            </p:txBody>
          </p:sp>
        </mc:Choice>
        <mc:Fallback>
          <p:sp>
            <p:nvSpPr>
              <p:cNvPr id="3" name="Content Placeholder 2">
                <a:extLst>
                  <a:ext uri="{FF2B5EF4-FFF2-40B4-BE49-F238E27FC236}">
                    <a16:creationId xmlns:a16="http://schemas.microsoft.com/office/drawing/2014/main" id="{0F09DC18-330E-5D9C-B12B-71D5C69E8041}"/>
                  </a:ext>
                </a:extLst>
              </p:cNvPr>
              <p:cNvSpPr>
                <a:spLocks noGrp="1" noRot="1" noChangeAspect="1" noMove="1" noResize="1" noEditPoints="1" noAdjustHandles="1" noChangeArrowheads="1" noChangeShapeType="1" noTextEdit="1"/>
              </p:cNvSpPr>
              <p:nvPr>
                <p:ph idx="1"/>
              </p:nvPr>
            </p:nvSpPr>
            <p:spPr>
              <a:blipFill>
                <a:blip r:embed="rId2"/>
                <a:stretch>
                  <a:fillRect l="-1043" t="-2381" b="-2801"/>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73C7190C-CCC9-8600-0EC8-FFEEAAC5241E}"/>
              </a:ext>
            </a:extLst>
          </p:cNvPr>
          <p:cNvSpPr>
            <a:spLocks noGrp="1"/>
          </p:cNvSpPr>
          <p:nvPr>
            <p:ph type="dt" sz="half" idx="10"/>
          </p:nvPr>
        </p:nvSpPr>
        <p:spPr/>
        <p:txBody>
          <a:bodyPr/>
          <a:lstStyle/>
          <a:p>
            <a:fld id="{1332600A-A7B8-4674-AAE3-A37177B883E5}" type="datetime1">
              <a:rPr lang="en-GB" smtClean="0"/>
              <a:t>20/10/2025</a:t>
            </a:fld>
            <a:endParaRPr lang="en-GB"/>
          </a:p>
        </p:txBody>
      </p:sp>
      <p:sp>
        <p:nvSpPr>
          <p:cNvPr id="5" name="Slide Number Placeholder 4">
            <a:extLst>
              <a:ext uri="{FF2B5EF4-FFF2-40B4-BE49-F238E27FC236}">
                <a16:creationId xmlns:a16="http://schemas.microsoft.com/office/drawing/2014/main" id="{F40B2387-9178-4463-EB7D-AAF55E8AC309}"/>
              </a:ext>
            </a:extLst>
          </p:cNvPr>
          <p:cNvSpPr>
            <a:spLocks noGrp="1"/>
          </p:cNvSpPr>
          <p:nvPr>
            <p:ph type="sldNum" sz="quarter" idx="12"/>
          </p:nvPr>
        </p:nvSpPr>
        <p:spPr/>
        <p:txBody>
          <a:bodyPr/>
          <a:lstStyle/>
          <a:p>
            <a:fld id="{9EB268CF-8001-41B5-ADCD-92A7738D3D9B}" type="slidenum">
              <a:rPr lang="en-GB" smtClean="0"/>
              <a:t>44</a:t>
            </a:fld>
            <a:endParaRPr lang="en-GB"/>
          </a:p>
        </p:txBody>
      </p:sp>
    </p:spTree>
    <p:extLst>
      <p:ext uri="{BB962C8B-B14F-4D97-AF65-F5344CB8AC3E}">
        <p14:creationId xmlns:p14="http://schemas.microsoft.com/office/powerpoint/2010/main" val="295390096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46A0F2-8C32-97B0-4863-337FA7110D09}"/>
              </a:ext>
            </a:extLst>
          </p:cNvPr>
          <p:cNvSpPr>
            <a:spLocks noGrp="1"/>
          </p:cNvSpPr>
          <p:nvPr>
            <p:ph type="title"/>
          </p:nvPr>
        </p:nvSpPr>
        <p:spPr/>
        <p:txBody>
          <a:bodyPr/>
          <a:lstStyle/>
          <a:p>
            <a:r>
              <a:rPr lang="en-US" dirty="0"/>
              <a:t>CNF of Quantifiers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61793BA-D789-935A-67BE-6937A6A6AB91}"/>
                  </a:ext>
                </a:extLst>
              </p:cNvPr>
              <p:cNvSpPr>
                <a:spLocks noGrp="1"/>
              </p:cNvSpPr>
              <p:nvPr>
                <p:ph idx="1"/>
              </p:nvPr>
            </p:nvSpPr>
            <p:spPr/>
            <p:txBody>
              <a:bodyPr/>
              <a:lstStyle/>
              <a:p>
                <a:r>
                  <a:rPr lang="en-US" dirty="0"/>
                  <a:t>Let’s convert the following:</a:t>
                </a:r>
              </a:p>
              <a:p>
                <a:pPr marL="0" indent="0">
                  <a:buNone/>
                </a:pPr>
                <a14:m>
                  <m:oMathPara xmlns:m="http://schemas.openxmlformats.org/officeDocument/2006/math">
                    <m:oMathParaPr>
                      <m:jc m:val="centerGroup"/>
                    </m:oMathParaPr>
                    <m:oMath xmlns:m="http://schemas.openxmlformats.org/officeDocument/2006/math">
                      <m:r>
                        <a:rPr lang="es-ES" i="1" dirty="0" smtClean="0">
                          <a:latin typeface="Cambria Math" panose="02040503050406030204" pitchFamily="18" charset="0"/>
                        </a:rPr>
                        <m:t>∀</m:t>
                      </m:r>
                      <m:r>
                        <a:rPr lang="es-ES" i="1" dirty="0" smtClean="0">
                          <a:latin typeface="Cambria Math" panose="02040503050406030204" pitchFamily="18" charset="0"/>
                        </a:rPr>
                        <m:t>𝑥</m:t>
                      </m:r>
                      <m:r>
                        <a:rPr lang="es-ES" i="1" dirty="0" smtClean="0">
                          <a:latin typeface="Cambria Math" panose="02040503050406030204" pitchFamily="18" charset="0"/>
                        </a:rPr>
                        <m:t> </m:t>
                      </m:r>
                      <m:d>
                        <m:dPr>
                          <m:begChr m:val="["/>
                          <m:endChr m:val="]"/>
                          <m:ctrlPr>
                            <a:rPr lang="es-ES" i="1" dirty="0" smtClean="0">
                              <a:latin typeface="Cambria Math" panose="02040503050406030204" pitchFamily="18" charset="0"/>
                            </a:rPr>
                          </m:ctrlPr>
                        </m:dPr>
                        <m:e>
                          <m:r>
                            <a:rPr lang="es-ES" i="1" dirty="0" smtClean="0">
                              <a:latin typeface="Cambria Math" panose="02040503050406030204" pitchFamily="18" charset="0"/>
                            </a:rPr>
                            <m:t>∀</m:t>
                          </m:r>
                          <m:r>
                            <a:rPr lang="es-ES" i="1" dirty="0" smtClean="0">
                              <a:latin typeface="Cambria Math" panose="02040503050406030204" pitchFamily="18" charset="0"/>
                            </a:rPr>
                            <m:t>𝑦</m:t>
                          </m:r>
                          <m:r>
                            <a:rPr lang="es-ES" i="1" dirty="0" smtClean="0">
                              <a:latin typeface="Cambria Math" panose="02040503050406030204" pitchFamily="18" charset="0"/>
                            </a:rPr>
                            <m:t> </m:t>
                          </m:r>
                          <m:r>
                            <a:rPr lang="es-ES" i="1" dirty="0" smtClean="0">
                              <a:latin typeface="Cambria Math" panose="02040503050406030204" pitchFamily="18" charset="0"/>
                            </a:rPr>
                            <m:t>𝐴𝑛𝑖𝑚𝑎𝑙</m:t>
                          </m:r>
                          <m:d>
                            <m:dPr>
                              <m:ctrlPr>
                                <a:rPr lang="es-ES" i="1" dirty="0" smtClean="0">
                                  <a:latin typeface="Cambria Math" panose="02040503050406030204" pitchFamily="18" charset="0"/>
                                </a:rPr>
                              </m:ctrlPr>
                            </m:dPr>
                            <m:e>
                              <m:r>
                                <a:rPr lang="es-ES" i="1" dirty="0" smtClean="0">
                                  <a:latin typeface="Cambria Math" panose="02040503050406030204" pitchFamily="18" charset="0"/>
                                </a:rPr>
                                <m:t>𝑦</m:t>
                              </m:r>
                            </m:e>
                          </m:d>
                          <m:r>
                            <a:rPr lang="es-ES" i="1" dirty="0" smtClean="0">
                              <a:latin typeface="Cambria Math" panose="02040503050406030204" pitchFamily="18" charset="0"/>
                            </a:rPr>
                            <m:t>⇒ </m:t>
                          </m:r>
                          <m:r>
                            <a:rPr lang="es-ES" i="1" dirty="0" err="1">
                              <a:latin typeface="Cambria Math" panose="02040503050406030204" pitchFamily="18" charset="0"/>
                            </a:rPr>
                            <m:t>𝐿𝑜𝑣𝑒𝑠</m:t>
                          </m:r>
                          <m:d>
                            <m:dPr>
                              <m:ctrlPr>
                                <a:rPr lang="es-ES" i="1" dirty="0">
                                  <a:latin typeface="Cambria Math" panose="02040503050406030204" pitchFamily="18" charset="0"/>
                                </a:rPr>
                              </m:ctrlPr>
                            </m:dPr>
                            <m:e>
                              <m:r>
                                <a:rPr lang="es-ES" i="1" dirty="0" err="1">
                                  <a:latin typeface="Cambria Math" panose="02040503050406030204" pitchFamily="18" charset="0"/>
                                </a:rPr>
                                <m:t>𝑥</m:t>
                              </m:r>
                              <m:r>
                                <a:rPr lang="es-ES" i="1" dirty="0" err="1">
                                  <a:latin typeface="Cambria Math" panose="02040503050406030204" pitchFamily="18" charset="0"/>
                                </a:rPr>
                                <m:t>,</m:t>
                              </m:r>
                              <m:r>
                                <a:rPr lang="es-ES" i="1" dirty="0" err="1">
                                  <a:latin typeface="Cambria Math" panose="02040503050406030204" pitchFamily="18" charset="0"/>
                                </a:rPr>
                                <m:t>𝑦</m:t>
                              </m:r>
                            </m:e>
                          </m:d>
                        </m:e>
                      </m:d>
                      <m:r>
                        <a:rPr lang="es-ES" i="1" dirty="0">
                          <a:latin typeface="Cambria Math" panose="02040503050406030204" pitchFamily="18" charset="0"/>
                        </a:rPr>
                        <m:t>⇒ </m:t>
                      </m:r>
                      <m:d>
                        <m:dPr>
                          <m:begChr m:val="["/>
                          <m:endChr m:val="]"/>
                          <m:ctrlPr>
                            <a:rPr lang="es-ES" i="1" dirty="0">
                              <a:latin typeface="Cambria Math" panose="02040503050406030204" pitchFamily="18" charset="0"/>
                            </a:rPr>
                          </m:ctrlPr>
                        </m:dPr>
                        <m:e>
                          <m:r>
                            <a:rPr lang="es-ES" i="1" dirty="0">
                              <a:latin typeface="Cambria Math" panose="02040503050406030204" pitchFamily="18" charset="0"/>
                            </a:rPr>
                            <m:t>∃</m:t>
                          </m:r>
                          <m:r>
                            <a:rPr lang="es-ES" i="1" dirty="0">
                              <a:latin typeface="Cambria Math" panose="02040503050406030204" pitchFamily="18" charset="0"/>
                            </a:rPr>
                            <m:t>𝑦</m:t>
                          </m:r>
                          <m:r>
                            <a:rPr lang="es-ES" i="1" dirty="0">
                              <a:latin typeface="Cambria Math" panose="02040503050406030204" pitchFamily="18" charset="0"/>
                            </a:rPr>
                            <m:t> </m:t>
                          </m:r>
                          <m:r>
                            <a:rPr lang="es-ES" i="1" dirty="0" err="1">
                              <a:latin typeface="Cambria Math" panose="02040503050406030204" pitchFamily="18" charset="0"/>
                            </a:rPr>
                            <m:t>𝐿𝑜𝑣𝑒𝑠</m:t>
                          </m:r>
                          <m:d>
                            <m:dPr>
                              <m:ctrlPr>
                                <a:rPr lang="es-ES" i="1" dirty="0">
                                  <a:latin typeface="Cambria Math" panose="02040503050406030204" pitchFamily="18" charset="0"/>
                                </a:rPr>
                              </m:ctrlPr>
                            </m:dPr>
                            <m:e>
                              <m:r>
                                <a:rPr lang="es-ES" i="1" dirty="0" err="1">
                                  <a:latin typeface="Cambria Math" panose="02040503050406030204" pitchFamily="18" charset="0"/>
                                </a:rPr>
                                <m:t>𝑦</m:t>
                              </m:r>
                              <m:r>
                                <a:rPr lang="es-ES" i="1" dirty="0" err="1">
                                  <a:latin typeface="Cambria Math" panose="02040503050406030204" pitchFamily="18" charset="0"/>
                                </a:rPr>
                                <m:t>,</m:t>
                              </m:r>
                              <m:r>
                                <a:rPr lang="es-ES" i="1" dirty="0" err="1">
                                  <a:latin typeface="Cambria Math" panose="02040503050406030204" pitchFamily="18" charset="0"/>
                                </a:rPr>
                                <m:t>𝑥</m:t>
                              </m:r>
                            </m:e>
                          </m:d>
                        </m:e>
                      </m:d>
                    </m:oMath>
                  </m:oMathPara>
                </a14:m>
                <a:endParaRPr lang="en-US" dirty="0"/>
              </a:p>
              <a:p>
                <a:pPr marL="0" indent="0">
                  <a:buNone/>
                </a:pPr>
                <a:r>
                  <a:rPr lang="en-US" dirty="0"/>
                  <a:t>Everyone who loves all animals is loved by someone.</a:t>
                </a:r>
              </a:p>
              <a:p>
                <a:pPr marL="514350" indent="-514350">
                  <a:buAutoNum type="arabicPeriod"/>
                </a:pPr>
                <a:r>
                  <a:rPr lang="en-US" dirty="0"/>
                  <a:t>Eliminate Implications:</a:t>
                </a:r>
                <a:br>
                  <a:rPr lang="en-US" dirty="0"/>
                </a:br>
                <a14:m>
                  <m:oMath xmlns:m="http://schemas.openxmlformats.org/officeDocument/2006/math">
                    <m:r>
                      <a:rPr lang="es-ES" i="1" dirty="0" smtClean="0">
                        <a:latin typeface="Cambria Math" panose="02040503050406030204" pitchFamily="18" charset="0"/>
                      </a:rPr>
                      <m:t>∀</m:t>
                    </m:r>
                    <m:r>
                      <a:rPr lang="es-ES" i="1" dirty="0" smtClean="0">
                        <a:latin typeface="Cambria Math" panose="02040503050406030204" pitchFamily="18" charset="0"/>
                      </a:rPr>
                      <m:t>𝑥</m:t>
                    </m:r>
                    <m:r>
                      <a:rPr lang="es-ES" i="1" dirty="0" smtClean="0">
                        <a:latin typeface="Cambria Math" panose="02040503050406030204" pitchFamily="18" charset="0"/>
                      </a:rPr>
                      <m:t> </m:t>
                    </m:r>
                    <m:d>
                      <m:dPr>
                        <m:begChr m:val="["/>
                        <m:endChr m:val="]"/>
                        <m:ctrlPr>
                          <a:rPr lang="es-ES" i="1" dirty="0" smtClean="0">
                            <a:latin typeface="Cambria Math" panose="02040503050406030204" pitchFamily="18" charset="0"/>
                          </a:rPr>
                        </m:ctrlPr>
                      </m:dPr>
                      <m:e>
                        <m:r>
                          <a:rPr lang="es-ES" i="1" dirty="0" smtClean="0">
                            <a:latin typeface="Cambria Math" panose="02040503050406030204" pitchFamily="18" charset="0"/>
                          </a:rPr>
                          <m:t>¬∀</m:t>
                        </m:r>
                        <m:r>
                          <a:rPr lang="es-ES" i="1" dirty="0" smtClean="0">
                            <a:latin typeface="Cambria Math" panose="02040503050406030204" pitchFamily="18" charset="0"/>
                          </a:rPr>
                          <m:t>𝑦</m:t>
                        </m:r>
                        <m:r>
                          <a:rPr lang="es-ES" i="1" dirty="0" smtClean="0">
                            <a:latin typeface="Cambria Math" panose="02040503050406030204" pitchFamily="18" charset="0"/>
                          </a:rPr>
                          <m:t> ¬</m:t>
                        </m:r>
                        <m:r>
                          <a:rPr lang="es-ES" i="1" dirty="0" smtClean="0">
                            <a:latin typeface="Cambria Math" panose="02040503050406030204" pitchFamily="18" charset="0"/>
                          </a:rPr>
                          <m:t>𝐴𝑛𝑖𝑚𝑎𝑙</m:t>
                        </m:r>
                        <m:d>
                          <m:dPr>
                            <m:ctrlPr>
                              <a:rPr lang="es-ES" i="1" dirty="0" smtClean="0">
                                <a:latin typeface="Cambria Math" panose="02040503050406030204" pitchFamily="18" charset="0"/>
                              </a:rPr>
                            </m:ctrlPr>
                          </m:dPr>
                          <m:e>
                            <m:r>
                              <a:rPr lang="es-ES" i="1" dirty="0" smtClean="0">
                                <a:latin typeface="Cambria Math" panose="02040503050406030204" pitchFamily="18" charset="0"/>
                              </a:rPr>
                              <m:t>𝑦</m:t>
                            </m:r>
                          </m:e>
                        </m:d>
                        <m:r>
                          <a:rPr lang="es-ES" i="1" dirty="0" smtClean="0">
                            <a:latin typeface="Cambria Math" panose="02040503050406030204" pitchFamily="18" charset="0"/>
                          </a:rPr>
                          <m:t>∨</m:t>
                        </m:r>
                        <m:r>
                          <a:rPr lang="es-ES" i="1" dirty="0" err="1">
                            <a:latin typeface="Cambria Math" panose="02040503050406030204" pitchFamily="18" charset="0"/>
                          </a:rPr>
                          <m:t>𝐿𝑜𝑣𝑒𝑠</m:t>
                        </m:r>
                        <m:d>
                          <m:dPr>
                            <m:ctrlPr>
                              <a:rPr lang="es-ES" i="1" dirty="0">
                                <a:latin typeface="Cambria Math" panose="02040503050406030204" pitchFamily="18" charset="0"/>
                              </a:rPr>
                            </m:ctrlPr>
                          </m:dPr>
                          <m:e>
                            <m:r>
                              <a:rPr lang="es-ES" i="1" dirty="0" err="1">
                                <a:latin typeface="Cambria Math" panose="02040503050406030204" pitchFamily="18" charset="0"/>
                              </a:rPr>
                              <m:t>𝑥</m:t>
                            </m:r>
                            <m:r>
                              <a:rPr lang="es-ES" i="1" dirty="0" err="1">
                                <a:latin typeface="Cambria Math" panose="02040503050406030204" pitchFamily="18" charset="0"/>
                              </a:rPr>
                              <m:t>,</m:t>
                            </m:r>
                            <m:r>
                              <a:rPr lang="es-ES" i="1" dirty="0" err="1">
                                <a:latin typeface="Cambria Math" panose="02040503050406030204" pitchFamily="18" charset="0"/>
                              </a:rPr>
                              <m:t>𝑦</m:t>
                            </m:r>
                          </m:e>
                        </m:d>
                      </m:e>
                    </m:d>
                    <m:r>
                      <a:rPr lang="es-ES" i="1" dirty="0">
                        <a:latin typeface="Cambria Math" panose="02040503050406030204" pitchFamily="18" charset="0"/>
                      </a:rPr>
                      <m:t>∨</m:t>
                    </m:r>
                    <m:d>
                      <m:dPr>
                        <m:begChr m:val="["/>
                        <m:endChr m:val="]"/>
                        <m:ctrlPr>
                          <a:rPr lang="es-ES" i="1" dirty="0">
                            <a:latin typeface="Cambria Math" panose="02040503050406030204" pitchFamily="18" charset="0"/>
                          </a:rPr>
                        </m:ctrlPr>
                      </m:dPr>
                      <m:e>
                        <m:r>
                          <a:rPr lang="es-ES" i="1" dirty="0">
                            <a:latin typeface="Cambria Math" panose="02040503050406030204" pitchFamily="18" charset="0"/>
                          </a:rPr>
                          <m:t>∃</m:t>
                        </m:r>
                        <m:r>
                          <a:rPr lang="es-ES" i="1" dirty="0">
                            <a:latin typeface="Cambria Math" panose="02040503050406030204" pitchFamily="18" charset="0"/>
                          </a:rPr>
                          <m:t>𝑦</m:t>
                        </m:r>
                        <m:r>
                          <a:rPr lang="es-ES" i="1" dirty="0">
                            <a:latin typeface="Cambria Math" panose="02040503050406030204" pitchFamily="18" charset="0"/>
                          </a:rPr>
                          <m:t> </m:t>
                        </m:r>
                        <m:r>
                          <a:rPr lang="es-ES" i="1" dirty="0" err="1">
                            <a:latin typeface="Cambria Math" panose="02040503050406030204" pitchFamily="18" charset="0"/>
                          </a:rPr>
                          <m:t>𝐿𝑜𝑣𝑒𝑠</m:t>
                        </m:r>
                        <m:d>
                          <m:dPr>
                            <m:ctrlPr>
                              <a:rPr lang="es-ES" i="1" dirty="0">
                                <a:latin typeface="Cambria Math" panose="02040503050406030204" pitchFamily="18" charset="0"/>
                              </a:rPr>
                            </m:ctrlPr>
                          </m:dPr>
                          <m:e>
                            <m:r>
                              <a:rPr lang="es-ES" i="1" dirty="0" err="1">
                                <a:latin typeface="Cambria Math" panose="02040503050406030204" pitchFamily="18" charset="0"/>
                              </a:rPr>
                              <m:t>𝑦</m:t>
                            </m:r>
                            <m:r>
                              <a:rPr lang="es-ES" i="1" dirty="0" err="1">
                                <a:latin typeface="Cambria Math" panose="02040503050406030204" pitchFamily="18" charset="0"/>
                              </a:rPr>
                              <m:t>,</m:t>
                            </m:r>
                            <m:r>
                              <a:rPr lang="es-ES" i="1" dirty="0" err="1">
                                <a:latin typeface="Cambria Math" panose="02040503050406030204" pitchFamily="18" charset="0"/>
                              </a:rPr>
                              <m:t>𝑥</m:t>
                            </m:r>
                          </m:e>
                        </m:d>
                      </m:e>
                    </m:d>
                  </m:oMath>
                </a14:m>
                <a:endParaRPr lang="en-US" dirty="0"/>
              </a:p>
              <a:p>
                <a:pPr marL="514350" indent="-514350">
                  <a:buAutoNum type="arabicPeriod"/>
                </a:pPr>
                <a:r>
                  <a:rPr lang="en-US" dirty="0"/>
                  <a:t>Move </a:t>
                </a:r>
                <a14:m>
                  <m:oMath xmlns:m="http://schemas.openxmlformats.org/officeDocument/2006/math">
                    <m:r>
                      <a:rPr lang="en-US" b="0" i="1" smtClean="0">
                        <a:latin typeface="Cambria Math" panose="02040503050406030204" pitchFamily="18" charset="0"/>
                      </a:rPr>
                      <m:t>¬</m:t>
                    </m:r>
                  </m:oMath>
                </a14:m>
                <a:r>
                  <a:rPr lang="en-US" dirty="0"/>
                  <a:t> inwards:</a:t>
                </a:r>
                <a:br>
                  <a:rPr lang="en-US" dirty="0"/>
                </a:br>
                <a:r>
                  <a:rPr lang="en-US" dirty="0"/>
                  <a:t>we have the following rules:</a:t>
                </a:r>
                <a:br>
                  <a:rPr lang="en-US" dirty="0"/>
                </a:br>
                <a14:m>
                  <m:oMath xmlns:m="http://schemas.openxmlformats.org/officeDocument/2006/math">
                    <m:r>
                      <a:rPr lang="en-US" i="1" dirty="0" smtClean="0">
                        <a:latin typeface="Cambria Math" panose="02040503050406030204" pitchFamily="18" charset="0"/>
                      </a:rPr>
                      <m:t>¬∀</m:t>
                    </m:r>
                    <m:r>
                      <a:rPr lang="en-US" i="1" dirty="0" smtClean="0">
                        <a:latin typeface="Cambria Math" panose="02040503050406030204" pitchFamily="18" charset="0"/>
                      </a:rPr>
                      <m:t>𝑥</m:t>
                    </m:r>
                    <m:r>
                      <a:rPr lang="en-US" i="1" dirty="0" smtClean="0">
                        <a:latin typeface="Cambria Math" panose="02040503050406030204" pitchFamily="18" charset="0"/>
                      </a:rPr>
                      <m:t> </m:t>
                    </m:r>
                    <m:r>
                      <a:rPr lang="en-US" i="1" dirty="0" smtClean="0">
                        <a:latin typeface="Cambria Math" panose="02040503050406030204" pitchFamily="18" charset="0"/>
                      </a:rPr>
                      <m:t>𝑝</m:t>
                    </m:r>
                    <m:r>
                      <a:rPr lang="en-US" i="1" dirty="0" smtClean="0">
                        <a:latin typeface="Cambria Math" panose="02040503050406030204" pitchFamily="18" charset="0"/>
                      </a:rPr>
                      <m:t> </m:t>
                    </m:r>
                    <m:r>
                      <a:rPr lang="en-US" i="1" dirty="0" smtClean="0">
                        <a:latin typeface="Cambria Math" panose="02040503050406030204" pitchFamily="18" charset="0"/>
                      </a:rPr>
                      <m:t>𝑏𝑒𝑐𝑜𝑚𝑒𝑠</m:t>
                    </m:r>
                    <m:r>
                      <a:rPr lang="en-US" i="1" dirty="0" smtClean="0">
                        <a:latin typeface="Cambria Math" panose="02040503050406030204" pitchFamily="18" charset="0"/>
                      </a:rPr>
                      <m:t> ∃</m:t>
                    </m:r>
                    <m:r>
                      <a:rPr lang="en-US" i="1" dirty="0" smtClean="0">
                        <a:latin typeface="Cambria Math" panose="02040503050406030204" pitchFamily="18" charset="0"/>
                      </a:rPr>
                      <m:t>𝑥</m:t>
                    </m:r>
                    <m:r>
                      <a:rPr lang="en-US" i="1" dirty="0" smtClean="0">
                        <a:latin typeface="Cambria Math" panose="02040503050406030204" pitchFamily="18" charset="0"/>
                      </a:rPr>
                      <m:t> ¬</m:t>
                    </m:r>
                    <m:r>
                      <a:rPr lang="en-US" i="1" dirty="0" smtClean="0">
                        <a:latin typeface="Cambria Math" panose="02040503050406030204" pitchFamily="18" charset="0"/>
                      </a:rPr>
                      <m:t>𝑝</m:t>
                    </m:r>
                    <m:r>
                      <a:rPr lang="en-US" i="1" dirty="0" smtClean="0">
                        <a:latin typeface="Cambria Math" panose="02040503050406030204" pitchFamily="18" charset="0"/>
                      </a:rPr>
                      <m:t> </m:t>
                    </m:r>
                  </m:oMath>
                </a14:m>
                <a:br>
                  <a:rPr lang="en-US" dirty="0"/>
                </a:br>
                <a14:m>
                  <m:oMath xmlns:m="http://schemas.openxmlformats.org/officeDocument/2006/math">
                    <m:r>
                      <a:rPr lang="en-US" i="1" dirty="0" smtClean="0">
                        <a:latin typeface="Cambria Math" panose="02040503050406030204" pitchFamily="18" charset="0"/>
                      </a:rPr>
                      <m:t>¬</m:t>
                    </m:r>
                    <m:r>
                      <a:rPr lang="en-US" i="1" dirty="0">
                        <a:latin typeface="Cambria Math" panose="02040503050406030204" pitchFamily="18" charset="0"/>
                      </a:rPr>
                      <m:t>∃</m:t>
                    </m:r>
                    <m:r>
                      <a:rPr lang="en-US" i="1" dirty="0">
                        <a:latin typeface="Cambria Math" panose="02040503050406030204" pitchFamily="18" charset="0"/>
                      </a:rPr>
                      <m:t>𝑥</m:t>
                    </m:r>
                    <m:r>
                      <a:rPr lang="en-US" i="1" dirty="0">
                        <a:latin typeface="Cambria Math" panose="02040503050406030204" pitchFamily="18" charset="0"/>
                      </a:rPr>
                      <m:t> </m:t>
                    </m:r>
                    <m:r>
                      <a:rPr lang="en-US" i="1" dirty="0">
                        <a:latin typeface="Cambria Math" panose="02040503050406030204" pitchFamily="18" charset="0"/>
                      </a:rPr>
                      <m:t>𝑝</m:t>
                    </m:r>
                    <m:r>
                      <a:rPr lang="en-US" i="1" dirty="0">
                        <a:latin typeface="Cambria Math" panose="02040503050406030204" pitchFamily="18" charset="0"/>
                      </a:rPr>
                      <m:t> </m:t>
                    </m:r>
                    <m:r>
                      <a:rPr lang="en-US" i="1" dirty="0">
                        <a:latin typeface="Cambria Math" panose="02040503050406030204" pitchFamily="18" charset="0"/>
                      </a:rPr>
                      <m:t>𝑏𝑒𝑐𝑜𝑚𝑒𝑠</m:t>
                    </m:r>
                    <m:r>
                      <a:rPr lang="en-US" i="1" dirty="0">
                        <a:latin typeface="Cambria Math" panose="02040503050406030204" pitchFamily="18" charset="0"/>
                      </a:rPr>
                      <m:t> ∀</m:t>
                    </m:r>
                    <m:r>
                      <a:rPr lang="en-US" i="1" dirty="0">
                        <a:latin typeface="Cambria Math" panose="02040503050406030204" pitchFamily="18" charset="0"/>
                      </a:rPr>
                      <m:t>𝑥</m:t>
                    </m:r>
                    <m:r>
                      <a:rPr lang="en-US" i="1" dirty="0">
                        <a:latin typeface="Cambria Math" panose="02040503050406030204" pitchFamily="18" charset="0"/>
                      </a:rPr>
                      <m:t> ¬</m:t>
                    </m:r>
                    <m:r>
                      <a:rPr lang="en-US" i="1" dirty="0">
                        <a:latin typeface="Cambria Math" panose="02040503050406030204" pitchFamily="18" charset="0"/>
                      </a:rPr>
                      <m:t>𝑝</m:t>
                    </m:r>
                  </m:oMath>
                </a14:m>
                <a:endParaRPr lang="en-US" dirty="0"/>
              </a:p>
            </p:txBody>
          </p:sp>
        </mc:Choice>
        <mc:Fallback xmlns="">
          <p:sp>
            <p:nvSpPr>
              <p:cNvPr id="3" name="Content Placeholder 2">
                <a:extLst>
                  <a:ext uri="{FF2B5EF4-FFF2-40B4-BE49-F238E27FC236}">
                    <a16:creationId xmlns:a16="http://schemas.microsoft.com/office/drawing/2014/main" id="{261793BA-D789-935A-67BE-6937A6A6AB91}"/>
                  </a:ext>
                </a:extLst>
              </p:cNvPr>
              <p:cNvSpPr>
                <a:spLocks noGrp="1" noRot="1" noChangeAspect="1" noMove="1" noResize="1" noEditPoints="1" noAdjustHandles="1" noChangeArrowheads="1" noChangeShapeType="1" noTextEdit="1"/>
              </p:cNvSpPr>
              <p:nvPr>
                <p:ph idx="1"/>
              </p:nvPr>
            </p:nvSpPr>
            <p:spPr>
              <a:blipFill>
                <a:blip r:embed="rId2"/>
                <a:stretch>
                  <a:fillRect l="-1217" t="-2381"/>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1E9225D0-7F25-4722-8DD0-8E69E2D0256D}"/>
              </a:ext>
            </a:extLst>
          </p:cNvPr>
          <p:cNvSpPr>
            <a:spLocks noGrp="1"/>
          </p:cNvSpPr>
          <p:nvPr>
            <p:ph type="dt" sz="half" idx="10"/>
          </p:nvPr>
        </p:nvSpPr>
        <p:spPr/>
        <p:txBody>
          <a:bodyPr/>
          <a:lstStyle/>
          <a:p>
            <a:fld id="{1332600A-A7B8-4674-AAE3-A37177B883E5}" type="datetime1">
              <a:rPr lang="en-GB" smtClean="0"/>
              <a:t>20/10/2025</a:t>
            </a:fld>
            <a:endParaRPr lang="en-GB"/>
          </a:p>
        </p:txBody>
      </p:sp>
      <p:sp>
        <p:nvSpPr>
          <p:cNvPr id="5" name="Slide Number Placeholder 4">
            <a:extLst>
              <a:ext uri="{FF2B5EF4-FFF2-40B4-BE49-F238E27FC236}">
                <a16:creationId xmlns:a16="http://schemas.microsoft.com/office/drawing/2014/main" id="{C3B25C2D-2EB5-D960-147A-21D315868148}"/>
              </a:ext>
            </a:extLst>
          </p:cNvPr>
          <p:cNvSpPr>
            <a:spLocks noGrp="1"/>
          </p:cNvSpPr>
          <p:nvPr>
            <p:ph type="sldNum" sz="quarter" idx="12"/>
          </p:nvPr>
        </p:nvSpPr>
        <p:spPr/>
        <p:txBody>
          <a:bodyPr/>
          <a:lstStyle/>
          <a:p>
            <a:fld id="{9EB268CF-8001-41B5-ADCD-92A7738D3D9B}" type="slidenum">
              <a:rPr lang="en-GB" smtClean="0"/>
              <a:t>45</a:t>
            </a:fld>
            <a:endParaRPr lang="en-GB"/>
          </a:p>
        </p:txBody>
      </p:sp>
    </p:spTree>
    <p:extLst>
      <p:ext uri="{BB962C8B-B14F-4D97-AF65-F5344CB8AC3E}">
        <p14:creationId xmlns:p14="http://schemas.microsoft.com/office/powerpoint/2010/main" val="78814887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130904-84D6-C755-A894-23BDF3713C57}"/>
              </a:ext>
            </a:extLst>
          </p:cNvPr>
          <p:cNvSpPr>
            <a:spLocks noGrp="1"/>
          </p:cNvSpPr>
          <p:nvPr>
            <p:ph type="title"/>
          </p:nvPr>
        </p:nvSpPr>
        <p:spPr/>
        <p:txBody>
          <a:bodyPr/>
          <a:lstStyle/>
          <a:p>
            <a:r>
              <a:rPr lang="en-US" dirty="0"/>
              <a:t>CNF of Quantifiers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BF5C539-ECE2-1656-55FA-4D8299A9F3A9}"/>
                  </a:ext>
                </a:extLst>
              </p:cNvPr>
              <p:cNvSpPr>
                <a:spLocks noGrp="1"/>
              </p:cNvSpPr>
              <p:nvPr>
                <p:ph idx="1"/>
              </p:nvPr>
            </p:nvSpPr>
            <p:spPr/>
            <p:txBody>
              <a:bodyPr/>
              <a:lstStyle/>
              <a:p>
                <a:r>
                  <a:rPr lang="en-US" dirty="0"/>
                  <a:t>Our sentence goes through the following:</a:t>
                </a:r>
                <a:br>
                  <a:rPr lang="en-US" dirty="0"/>
                </a:br>
                <a14:m>
                  <m:oMath xmlns:m="http://schemas.openxmlformats.org/officeDocument/2006/math">
                    <m:r>
                      <a:rPr lang="es-ES" i="1" dirty="0" smtClean="0">
                        <a:latin typeface="Cambria Math" panose="02040503050406030204" pitchFamily="18" charset="0"/>
                      </a:rPr>
                      <m:t>∀</m:t>
                    </m:r>
                    <m:r>
                      <a:rPr lang="es-ES" i="1" dirty="0" smtClean="0">
                        <a:latin typeface="Cambria Math" panose="02040503050406030204" pitchFamily="18" charset="0"/>
                      </a:rPr>
                      <m:t>𝑥</m:t>
                    </m:r>
                    <m:r>
                      <a:rPr lang="es-ES" i="1" dirty="0" smtClean="0">
                        <a:latin typeface="Cambria Math" panose="02040503050406030204" pitchFamily="18" charset="0"/>
                      </a:rPr>
                      <m:t> </m:t>
                    </m:r>
                    <m:d>
                      <m:dPr>
                        <m:begChr m:val="["/>
                        <m:endChr m:val="]"/>
                        <m:ctrlPr>
                          <a:rPr lang="es-ES" i="1" dirty="0" smtClean="0">
                            <a:latin typeface="Cambria Math" panose="02040503050406030204" pitchFamily="18" charset="0"/>
                          </a:rPr>
                        </m:ctrlPr>
                      </m:dPr>
                      <m:e>
                        <m:r>
                          <a:rPr lang="es-ES" i="1" dirty="0" smtClean="0">
                            <a:latin typeface="Cambria Math" panose="02040503050406030204" pitchFamily="18" charset="0"/>
                          </a:rPr>
                          <m:t>∃</m:t>
                        </m:r>
                        <m:r>
                          <a:rPr lang="es-ES" i="1" dirty="0" smtClean="0">
                            <a:latin typeface="Cambria Math" panose="02040503050406030204" pitchFamily="18" charset="0"/>
                          </a:rPr>
                          <m:t>𝑦</m:t>
                        </m:r>
                        <m:r>
                          <a:rPr lang="es-ES" i="1" dirty="0" smtClean="0">
                            <a:latin typeface="Cambria Math" panose="02040503050406030204" pitchFamily="18" charset="0"/>
                          </a:rPr>
                          <m:t> ¬</m:t>
                        </m:r>
                        <m:d>
                          <m:dPr>
                            <m:ctrlPr>
                              <a:rPr lang="es-ES" i="1" dirty="0" smtClean="0">
                                <a:latin typeface="Cambria Math" panose="02040503050406030204" pitchFamily="18" charset="0"/>
                              </a:rPr>
                            </m:ctrlPr>
                          </m:dPr>
                          <m:e>
                            <m:r>
                              <a:rPr lang="es-ES" i="1" dirty="0" smtClean="0">
                                <a:latin typeface="Cambria Math" panose="02040503050406030204" pitchFamily="18" charset="0"/>
                              </a:rPr>
                              <m:t>¬</m:t>
                            </m:r>
                            <m:r>
                              <a:rPr lang="es-ES" i="1" dirty="0" smtClean="0">
                                <a:latin typeface="Cambria Math" panose="02040503050406030204" pitchFamily="18" charset="0"/>
                              </a:rPr>
                              <m:t>𝐴𝑛𝑖𝑚𝑎𝑙</m:t>
                            </m:r>
                            <m:d>
                              <m:dPr>
                                <m:ctrlPr>
                                  <a:rPr lang="es-ES" i="1" dirty="0" smtClean="0">
                                    <a:latin typeface="Cambria Math" panose="02040503050406030204" pitchFamily="18" charset="0"/>
                                  </a:rPr>
                                </m:ctrlPr>
                              </m:dPr>
                              <m:e>
                                <m:r>
                                  <a:rPr lang="es-ES" i="1" dirty="0" smtClean="0">
                                    <a:latin typeface="Cambria Math" panose="02040503050406030204" pitchFamily="18" charset="0"/>
                                  </a:rPr>
                                  <m:t>𝑦</m:t>
                                </m:r>
                              </m:e>
                            </m:d>
                            <m:r>
                              <a:rPr lang="es-ES" i="1" dirty="0" smtClean="0">
                                <a:latin typeface="Cambria Math" panose="02040503050406030204" pitchFamily="18" charset="0"/>
                              </a:rPr>
                              <m:t>∨</m:t>
                            </m:r>
                            <m:r>
                              <a:rPr lang="es-ES" i="1" dirty="0" err="1">
                                <a:latin typeface="Cambria Math" panose="02040503050406030204" pitchFamily="18" charset="0"/>
                              </a:rPr>
                              <m:t>𝐿𝑜𝑣𝑒𝑠</m:t>
                            </m:r>
                            <m:d>
                              <m:dPr>
                                <m:ctrlPr>
                                  <a:rPr lang="es-ES" i="1" dirty="0">
                                    <a:latin typeface="Cambria Math" panose="02040503050406030204" pitchFamily="18" charset="0"/>
                                  </a:rPr>
                                </m:ctrlPr>
                              </m:dPr>
                              <m:e>
                                <m:r>
                                  <a:rPr lang="es-ES" i="1" dirty="0" err="1">
                                    <a:latin typeface="Cambria Math" panose="02040503050406030204" pitchFamily="18" charset="0"/>
                                  </a:rPr>
                                  <m:t>𝑥</m:t>
                                </m:r>
                                <m:r>
                                  <a:rPr lang="es-ES" i="1" dirty="0" err="1">
                                    <a:latin typeface="Cambria Math" panose="02040503050406030204" pitchFamily="18" charset="0"/>
                                  </a:rPr>
                                  <m:t>,</m:t>
                                </m:r>
                                <m:r>
                                  <a:rPr lang="es-ES" i="1" dirty="0" err="1">
                                    <a:latin typeface="Cambria Math" panose="02040503050406030204" pitchFamily="18" charset="0"/>
                                  </a:rPr>
                                  <m:t>𝑦</m:t>
                                </m:r>
                              </m:e>
                            </m:d>
                          </m:e>
                        </m:d>
                      </m:e>
                    </m:d>
                    <m:r>
                      <a:rPr lang="es-ES" i="1" dirty="0">
                        <a:latin typeface="Cambria Math" panose="02040503050406030204" pitchFamily="18" charset="0"/>
                      </a:rPr>
                      <m:t>∨</m:t>
                    </m:r>
                    <m:d>
                      <m:dPr>
                        <m:begChr m:val="["/>
                        <m:endChr m:val="]"/>
                        <m:ctrlPr>
                          <a:rPr lang="es-ES" i="1" dirty="0">
                            <a:latin typeface="Cambria Math" panose="02040503050406030204" pitchFamily="18" charset="0"/>
                          </a:rPr>
                        </m:ctrlPr>
                      </m:dPr>
                      <m:e>
                        <m:r>
                          <a:rPr lang="es-ES" i="1" dirty="0">
                            <a:latin typeface="Cambria Math" panose="02040503050406030204" pitchFamily="18" charset="0"/>
                          </a:rPr>
                          <m:t>∃</m:t>
                        </m:r>
                        <m:r>
                          <a:rPr lang="es-ES" i="1" dirty="0">
                            <a:latin typeface="Cambria Math" panose="02040503050406030204" pitchFamily="18" charset="0"/>
                          </a:rPr>
                          <m:t>𝑦</m:t>
                        </m:r>
                        <m:r>
                          <a:rPr lang="es-ES" i="1" dirty="0">
                            <a:latin typeface="Cambria Math" panose="02040503050406030204" pitchFamily="18" charset="0"/>
                          </a:rPr>
                          <m:t> </m:t>
                        </m:r>
                        <m:r>
                          <a:rPr lang="es-ES" i="1" dirty="0" err="1">
                            <a:latin typeface="Cambria Math" panose="02040503050406030204" pitchFamily="18" charset="0"/>
                          </a:rPr>
                          <m:t>𝐿𝑜𝑣𝑒𝑠</m:t>
                        </m:r>
                        <m:d>
                          <m:dPr>
                            <m:ctrlPr>
                              <a:rPr lang="es-ES" i="1" dirty="0">
                                <a:latin typeface="Cambria Math" panose="02040503050406030204" pitchFamily="18" charset="0"/>
                              </a:rPr>
                            </m:ctrlPr>
                          </m:dPr>
                          <m:e>
                            <m:r>
                              <a:rPr lang="es-ES" i="1" dirty="0" err="1">
                                <a:latin typeface="Cambria Math" panose="02040503050406030204" pitchFamily="18" charset="0"/>
                              </a:rPr>
                              <m:t>𝑦</m:t>
                            </m:r>
                            <m:r>
                              <a:rPr lang="es-ES" i="1" dirty="0" err="1">
                                <a:latin typeface="Cambria Math" panose="02040503050406030204" pitchFamily="18" charset="0"/>
                              </a:rPr>
                              <m:t>,</m:t>
                            </m:r>
                            <m:r>
                              <a:rPr lang="es-ES" i="1" dirty="0" err="1">
                                <a:latin typeface="Cambria Math" panose="02040503050406030204" pitchFamily="18" charset="0"/>
                              </a:rPr>
                              <m:t>𝑥</m:t>
                            </m:r>
                          </m:e>
                        </m:d>
                      </m:e>
                    </m:d>
                  </m:oMath>
                </a14:m>
                <a:br>
                  <a:rPr lang="en-US" i="1" dirty="0">
                    <a:latin typeface="Cambria Math" panose="02040503050406030204" pitchFamily="18" charset="0"/>
                  </a:rPr>
                </a:br>
                <a14:m>
                  <m:oMath xmlns:m="http://schemas.openxmlformats.org/officeDocument/2006/math">
                    <m:r>
                      <a:rPr lang="es-ES" i="1" dirty="0">
                        <a:latin typeface="Cambria Math" panose="02040503050406030204" pitchFamily="18" charset="0"/>
                      </a:rPr>
                      <m:t>∀</m:t>
                    </m:r>
                    <m:r>
                      <a:rPr lang="es-ES" i="1" dirty="0">
                        <a:latin typeface="Cambria Math" panose="02040503050406030204" pitchFamily="18" charset="0"/>
                      </a:rPr>
                      <m:t>𝑥</m:t>
                    </m:r>
                    <m:r>
                      <a:rPr lang="es-ES" i="1" dirty="0">
                        <a:latin typeface="Cambria Math" panose="02040503050406030204" pitchFamily="18" charset="0"/>
                      </a:rPr>
                      <m:t> </m:t>
                    </m:r>
                    <m:d>
                      <m:dPr>
                        <m:begChr m:val="["/>
                        <m:endChr m:val="]"/>
                        <m:ctrlPr>
                          <a:rPr lang="es-ES" i="1" dirty="0">
                            <a:latin typeface="Cambria Math" panose="02040503050406030204" pitchFamily="18" charset="0"/>
                          </a:rPr>
                        </m:ctrlPr>
                      </m:dPr>
                      <m:e>
                        <m:r>
                          <a:rPr lang="es-ES" i="1" dirty="0">
                            <a:latin typeface="Cambria Math" panose="02040503050406030204" pitchFamily="18" charset="0"/>
                          </a:rPr>
                          <m:t>∃</m:t>
                        </m:r>
                        <m:r>
                          <a:rPr lang="es-ES" i="1" dirty="0">
                            <a:latin typeface="Cambria Math" panose="02040503050406030204" pitchFamily="18" charset="0"/>
                          </a:rPr>
                          <m:t>𝑦</m:t>
                        </m:r>
                        <m:r>
                          <a:rPr lang="es-ES" i="1" dirty="0">
                            <a:latin typeface="Cambria Math" panose="02040503050406030204" pitchFamily="18" charset="0"/>
                          </a:rPr>
                          <m:t> ¬¬</m:t>
                        </m:r>
                        <m:r>
                          <a:rPr lang="es-ES" i="1" dirty="0">
                            <a:latin typeface="Cambria Math" panose="02040503050406030204" pitchFamily="18" charset="0"/>
                          </a:rPr>
                          <m:t>𝐴𝑛𝑖𝑚𝑎𝑙</m:t>
                        </m:r>
                        <m:d>
                          <m:dPr>
                            <m:ctrlPr>
                              <a:rPr lang="es-ES" i="1" dirty="0">
                                <a:latin typeface="Cambria Math" panose="02040503050406030204" pitchFamily="18" charset="0"/>
                              </a:rPr>
                            </m:ctrlPr>
                          </m:dPr>
                          <m:e>
                            <m:r>
                              <a:rPr lang="es-ES" i="1" dirty="0">
                                <a:latin typeface="Cambria Math" panose="02040503050406030204" pitchFamily="18" charset="0"/>
                              </a:rPr>
                              <m:t>𝑦</m:t>
                            </m:r>
                          </m:e>
                        </m:d>
                        <m:r>
                          <a:rPr lang="es-ES" i="1" dirty="0">
                            <a:latin typeface="Cambria Math" panose="02040503050406030204" pitchFamily="18" charset="0"/>
                          </a:rPr>
                          <m:t>∧¬</m:t>
                        </m:r>
                        <m:r>
                          <a:rPr lang="es-ES" i="1" dirty="0" err="1">
                            <a:latin typeface="Cambria Math" panose="02040503050406030204" pitchFamily="18" charset="0"/>
                          </a:rPr>
                          <m:t>𝐿𝑜𝑣𝑒𝑠</m:t>
                        </m:r>
                        <m:d>
                          <m:dPr>
                            <m:ctrlPr>
                              <a:rPr lang="es-ES" i="1" dirty="0">
                                <a:latin typeface="Cambria Math" panose="02040503050406030204" pitchFamily="18" charset="0"/>
                              </a:rPr>
                            </m:ctrlPr>
                          </m:dPr>
                          <m:e>
                            <m:r>
                              <a:rPr lang="es-ES" i="1" dirty="0" err="1">
                                <a:latin typeface="Cambria Math" panose="02040503050406030204" pitchFamily="18" charset="0"/>
                              </a:rPr>
                              <m:t>𝑥</m:t>
                            </m:r>
                            <m:r>
                              <a:rPr lang="es-ES" i="1" dirty="0" err="1">
                                <a:latin typeface="Cambria Math" panose="02040503050406030204" pitchFamily="18" charset="0"/>
                              </a:rPr>
                              <m:t>,</m:t>
                            </m:r>
                            <m:r>
                              <a:rPr lang="es-ES" i="1" dirty="0" err="1">
                                <a:latin typeface="Cambria Math" panose="02040503050406030204" pitchFamily="18" charset="0"/>
                              </a:rPr>
                              <m:t>𝑦</m:t>
                            </m:r>
                          </m:e>
                        </m:d>
                      </m:e>
                    </m:d>
                    <m:r>
                      <a:rPr lang="es-ES" i="1" dirty="0">
                        <a:latin typeface="Cambria Math" panose="02040503050406030204" pitchFamily="18" charset="0"/>
                      </a:rPr>
                      <m:t>∨</m:t>
                    </m:r>
                    <m:d>
                      <m:dPr>
                        <m:begChr m:val="["/>
                        <m:endChr m:val="]"/>
                        <m:ctrlPr>
                          <a:rPr lang="es-ES" i="1" dirty="0">
                            <a:latin typeface="Cambria Math" panose="02040503050406030204" pitchFamily="18" charset="0"/>
                          </a:rPr>
                        </m:ctrlPr>
                      </m:dPr>
                      <m:e>
                        <m:r>
                          <a:rPr lang="es-ES" i="1" dirty="0">
                            <a:latin typeface="Cambria Math" panose="02040503050406030204" pitchFamily="18" charset="0"/>
                          </a:rPr>
                          <m:t>∃</m:t>
                        </m:r>
                        <m:r>
                          <a:rPr lang="es-ES" i="1" dirty="0">
                            <a:latin typeface="Cambria Math" panose="02040503050406030204" pitchFamily="18" charset="0"/>
                          </a:rPr>
                          <m:t>𝑦</m:t>
                        </m:r>
                        <m:r>
                          <a:rPr lang="es-ES" i="1" dirty="0">
                            <a:latin typeface="Cambria Math" panose="02040503050406030204" pitchFamily="18" charset="0"/>
                          </a:rPr>
                          <m:t> </m:t>
                        </m:r>
                        <m:r>
                          <a:rPr lang="es-ES" i="1" dirty="0" err="1">
                            <a:latin typeface="Cambria Math" panose="02040503050406030204" pitchFamily="18" charset="0"/>
                          </a:rPr>
                          <m:t>𝐿𝑜𝑣𝑒𝑠</m:t>
                        </m:r>
                        <m:d>
                          <m:dPr>
                            <m:ctrlPr>
                              <a:rPr lang="es-ES" i="1" dirty="0">
                                <a:latin typeface="Cambria Math" panose="02040503050406030204" pitchFamily="18" charset="0"/>
                              </a:rPr>
                            </m:ctrlPr>
                          </m:dPr>
                          <m:e>
                            <m:r>
                              <a:rPr lang="es-ES" i="1" dirty="0" err="1">
                                <a:latin typeface="Cambria Math" panose="02040503050406030204" pitchFamily="18" charset="0"/>
                              </a:rPr>
                              <m:t>𝑦</m:t>
                            </m:r>
                            <m:r>
                              <a:rPr lang="es-ES" i="1" dirty="0" err="1">
                                <a:latin typeface="Cambria Math" panose="02040503050406030204" pitchFamily="18" charset="0"/>
                              </a:rPr>
                              <m:t>,</m:t>
                            </m:r>
                            <m:r>
                              <a:rPr lang="es-ES" i="1" dirty="0" err="1">
                                <a:latin typeface="Cambria Math" panose="02040503050406030204" pitchFamily="18" charset="0"/>
                              </a:rPr>
                              <m:t>𝑥</m:t>
                            </m:r>
                          </m:e>
                        </m:d>
                      </m:e>
                    </m:d>
                  </m:oMath>
                </a14:m>
                <a:br>
                  <a:rPr lang="en-US" i="1" dirty="0">
                    <a:latin typeface="Cambria Math" panose="02040503050406030204" pitchFamily="18" charset="0"/>
                  </a:rPr>
                </a:br>
                <a14:m>
                  <m:oMath xmlns:m="http://schemas.openxmlformats.org/officeDocument/2006/math">
                    <m:r>
                      <a:rPr lang="es-ES" i="1" dirty="0">
                        <a:latin typeface="Cambria Math" panose="02040503050406030204" pitchFamily="18" charset="0"/>
                      </a:rPr>
                      <m:t>∀</m:t>
                    </m:r>
                    <m:r>
                      <a:rPr lang="es-ES" i="1" dirty="0">
                        <a:latin typeface="Cambria Math" panose="02040503050406030204" pitchFamily="18" charset="0"/>
                      </a:rPr>
                      <m:t>𝑥</m:t>
                    </m:r>
                    <m:r>
                      <a:rPr lang="es-ES" i="1" dirty="0">
                        <a:latin typeface="Cambria Math" panose="02040503050406030204" pitchFamily="18" charset="0"/>
                      </a:rPr>
                      <m:t> </m:t>
                    </m:r>
                    <m:d>
                      <m:dPr>
                        <m:begChr m:val="["/>
                        <m:endChr m:val="]"/>
                        <m:ctrlPr>
                          <a:rPr lang="es-ES" i="1" dirty="0">
                            <a:latin typeface="Cambria Math" panose="02040503050406030204" pitchFamily="18" charset="0"/>
                          </a:rPr>
                        </m:ctrlPr>
                      </m:dPr>
                      <m:e>
                        <m:r>
                          <a:rPr lang="es-ES" i="1" dirty="0">
                            <a:latin typeface="Cambria Math" panose="02040503050406030204" pitchFamily="18" charset="0"/>
                          </a:rPr>
                          <m:t>∃</m:t>
                        </m:r>
                        <m:r>
                          <a:rPr lang="es-ES" i="1" dirty="0">
                            <a:latin typeface="Cambria Math" panose="02040503050406030204" pitchFamily="18" charset="0"/>
                          </a:rPr>
                          <m:t>𝑦</m:t>
                        </m:r>
                        <m:r>
                          <a:rPr lang="es-ES" i="1" dirty="0">
                            <a:latin typeface="Cambria Math" panose="02040503050406030204" pitchFamily="18" charset="0"/>
                          </a:rPr>
                          <m:t> </m:t>
                        </m:r>
                        <m:r>
                          <a:rPr lang="es-ES" i="1" dirty="0">
                            <a:latin typeface="Cambria Math" panose="02040503050406030204" pitchFamily="18" charset="0"/>
                          </a:rPr>
                          <m:t>𝐴𝑛𝑖𝑚𝑎𝑙</m:t>
                        </m:r>
                        <m:d>
                          <m:dPr>
                            <m:ctrlPr>
                              <a:rPr lang="es-ES" i="1" dirty="0">
                                <a:latin typeface="Cambria Math" panose="02040503050406030204" pitchFamily="18" charset="0"/>
                              </a:rPr>
                            </m:ctrlPr>
                          </m:dPr>
                          <m:e>
                            <m:r>
                              <a:rPr lang="es-ES" i="1" dirty="0">
                                <a:latin typeface="Cambria Math" panose="02040503050406030204" pitchFamily="18" charset="0"/>
                              </a:rPr>
                              <m:t>𝑦</m:t>
                            </m:r>
                          </m:e>
                        </m:d>
                        <m:r>
                          <a:rPr lang="es-ES" i="1" dirty="0">
                            <a:latin typeface="Cambria Math" panose="02040503050406030204" pitchFamily="18" charset="0"/>
                          </a:rPr>
                          <m:t>∧¬</m:t>
                        </m:r>
                        <m:r>
                          <a:rPr lang="es-ES" i="1" dirty="0" err="1">
                            <a:latin typeface="Cambria Math" panose="02040503050406030204" pitchFamily="18" charset="0"/>
                          </a:rPr>
                          <m:t>𝐿𝑜𝑣𝑒𝑠</m:t>
                        </m:r>
                        <m:d>
                          <m:dPr>
                            <m:ctrlPr>
                              <a:rPr lang="es-ES" i="1" dirty="0">
                                <a:latin typeface="Cambria Math" panose="02040503050406030204" pitchFamily="18" charset="0"/>
                              </a:rPr>
                            </m:ctrlPr>
                          </m:dPr>
                          <m:e>
                            <m:r>
                              <a:rPr lang="es-ES" i="1" dirty="0" err="1">
                                <a:latin typeface="Cambria Math" panose="02040503050406030204" pitchFamily="18" charset="0"/>
                              </a:rPr>
                              <m:t>𝑥</m:t>
                            </m:r>
                            <m:r>
                              <a:rPr lang="es-ES" i="1" dirty="0" err="1">
                                <a:latin typeface="Cambria Math" panose="02040503050406030204" pitchFamily="18" charset="0"/>
                              </a:rPr>
                              <m:t>,</m:t>
                            </m:r>
                            <m:r>
                              <a:rPr lang="es-ES" i="1" dirty="0" err="1">
                                <a:latin typeface="Cambria Math" panose="02040503050406030204" pitchFamily="18" charset="0"/>
                              </a:rPr>
                              <m:t>𝑦</m:t>
                            </m:r>
                          </m:e>
                        </m:d>
                      </m:e>
                    </m:d>
                    <m:r>
                      <a:rPr lang="es-ES" i="1" dirty="0">
                        <a:latin typeface="Cambria Math" panose="02040503050406030204" pitchFamily="18" charset="0"/>
                      </a:rPr>
                      <m:t>∨</m:t>
                    </m:r>
                    <m:d>
                      <m:dPr>
                        <m:begChr m:val="["/>
                        <m:endChr m:val="]"/>
                        <m:ctrlPr>
                          <a:rPr lang="es-ES" i="1" dirty="0">
                            <a:latin typeface="Cambria Math" panose="02040503050406030204" pitchFamily="18" charset="0"/>
                          </a:rPr>
                        </m:ctrlPr>
                      </m:dPr>
                      <m:e>
                        <m:r>
                          <a:rPr lang="es-ES" i="1" dirty="0">
                            <a:latin typeface="Cambria Math" panose="02040503050406030204" pitchFamily="18" charset="0"/>
                          </a:rPr>
                          <m:t>∃</m:t>
                        </m:r>
                        <m:r>
                          <a:rPr lang="es-ES" i="1" dirty="0">
                            <a:latin typeface="Cambria Math" panose="02040503050406030204" pitchFamily="18" charset="0"/>
                          </a:rPr>
                          <m:t>𝑦</m:t>
                        </m:r>
                        <m:r>
                          <a:rPr lang="es-ES" i="1" dirty="0">
                            <a:latin typeface="Cambria Math" panose="02040503050406030204" pitchFamily="18" charset="0"/>
                          </a:rPr>
                          <m:t> </m:t>
                        </m:r>
                        <m:r>
                          <a:rPr lang="es-ES" i="1" dirty="0" err="1">
                            <a:latin typeface="Cambria Math" panose="02040503050406030204" pitchFamily="18" charset="0"/>
                          </a:rPr>
                          <m:t>𝐿𝑜𝑣𝑒𝑠</m:t>
                        </m:r>
                        <m:d>
                          <m:dPr>
                            <m:ctrlPr>
                              <a:rPr lang="es-ES" i="1" dirty="0">
                                <a:latin typeface="Cambria Math" panose="02040503050406030204" pitchFamily="18" charset="0"/>
                              </a:rPr>
                            </m:ctrlPr>
                          </m:dPr>
                          <m:e>
                            <m:r>
                              <a:rPr lang="es-ES" i="1" dirty="0" err="1">
                                <a:latin typeface="Cambria Math" panose="02040503050406030204" pitchFamily="18" charset="0"/>
                              </a:rPr>
                              <m:t>𝑦</m:t>
                            </m:r>
                            <m:r>
                              <a:rPr lang="es-ES" i="1" dirty="0" err="1">
                                <a:latin typeface="Cambria Math" panose="02040503050406030204" pitchFamily="18" charset="0"/>
                              </a:rPr>
                              <m:t>,</m:t>
                            </m:r>
                            <m:r>
                              <a:rPr lang="es-ES" i="1" dirty="0" err="1">
                                <a:latin typeface="Cambria Math" panose="02040503050406030204" pitchFamily="18" charset="0"/>
                              </a:rPr>
                              <m:t>𝑥</m:t>
                            </m:r>
                          </m:e>
                        </m:d>
                      </m:e>
                    </m:d>
                  </m:oMath>
                </a14:m>
                <a:endParaRPr lang="en-US" i="1" dirty="0">
                  <a:latin typeface="Cambria Math" panose="02040503050406030204" pitchFamily="18" charset="0"/>
                </a:endParaRPr>
              </a:p>
              <a:p>
                <a:pPr marL="0" indent="0">
                  <a:buNone/>
                </a:pPr>
                <a:endParaRPr lang="en-US" i="1" dirty="0">
                  <a:latin typeface="Cambria Math" panose="02040503050406030204" pitchFamily="18" charset="0"/>
                </a:endParaRPr>
              </a:p>
              <a:p>
                <a:endParaRPr lang="en-US" dirty="0"/>
              </a:p>
            </p:txBody>
          </p:sp>
        </mc:Choice>
        <mc:Fallback xmlns="">
          <p:sp>
            <p:nvSpPr>
              <p:cNvPr id="3" name="Content Placeholder 2">
                <a:extLst>
                  <a:ext uri="{FF2B5EF4-FFF2-40B4-BE49-F238E27FC236}">
                    <a16:creationId xmlns:a16="http://schemas.microsoft.com/office/drawing/2014/main" id="{FBF5C539-ECE2-1656-55FA-4D8299A9F3A9}"/>
                  </a:ext>
                </a:extLst>
              </p:cNvPr>
              <p:cNvSpPr>
                <a:spLocks noGrp="1" noRot="1" noChangeAspect="1" noMove="1" noResize="1" noEditPoints="1" noAdjustHandles="1" noChangeArrowheads="1" noChangeShapeType="1" noTextEdit="1"/>
              </p:cNvSpPr>
              <p:nvPr>
                <p:ph idx="1"/>
              </p:nvPr>
            </p:nvSpPr>
            <p:spPr>
              <a:blipFill>
                <a:blip r:embed="rId2"/>
                <a:stretch>
                  <a:fillRect l="-1043" t="-2381"/>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30038FB3-57B8-1E16-A5C2-3003056D8359}"/>
              </a:ext>
            </a:extLst>
          </p:cNvPr>
          <p:cNvSpPr>
            <a:spLocks noGrp="1"/>
          </p:cNvSpPr>
          <p:nvPr>
            <p:ph type="dt" sz="half" idx="10"/>
          </p:nvPr>
        </p:nvSpPr>
        <p:spPr/>
        <p:txBody>
          <a:bodyPr/>
          <a:lstStyle/>
          <a:p>
            <a:fld id="{1332600A-A7B8-4674-AAE3-A37177B883E5}" type="datetime1">
              <a:rPr lang="en-GB" smtClean="0"/>
              <a:t>20/10/2025</a:t>
            </a:fld>
            <a:endParaRPr lang="en-GB"/>
          </a:p>
        </p:txBody>
      </p:sp>
      <p:sp>
        <p:nvSpPr>
          <p:cNvPr id="5" name="Slide Number Placeholder 4">
            <a:extLst>
              <a:ext uri="{FF2B5EF4-FFF2-40B4-BE49-F238E27FC236}">
                <a16:creationId xmlns:a16="http://schemas.microsoft.com/office/drawing/2014/main" id="{871FE0A5-0C7F-7CC6-0A62-2178BAE098AD}"/>
              </a:ext>
            </a:extLst>
          </p:cNvPr>
          <p:cNvSpPr>
            <a:spLocks noGrp="1"/>
          </p:cNvSpPr>
          <p:nvPr>
            <p:ph type="sldNum" sz="quarter" idx="12"/>
          </p:nvPr>
        </p:nvSpPr>
        <p:spPr/>
        <p:txBody>
          <a:bodyPr/>
          <a:lstStyle/>
          <a:p>
            <a:fld id="{9EB268CF-8001-41B5-ADCD-92A7738D3D9B}" type="slidenum">
              <a:rPr lang="en-GB" smtClean="0"/>
              <a:t>46</a:t>
            </a:fld>
            <a:endParaRPr lang="en-GB"/>
          </a:p>
        </p:txBody>
      </p:sp>
    </p:spTree>
    <p:extLst>
      <p:ext uri="{BB962C8B-B14F-4D97-AF65-F5344CB8AC3E}">
        <p14:creationId xmlns:p14="http://schemas.microsoft.com/office/powerpoint/2010/main" val="367078880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7B3ECE-20C5-FD33-7385-4829AD3D9721}"/>
              </a:ext>
            </a:extLst>
          </p:cNvPr>
          <p:cNvSpPr>
            <a:spLocks noGrp="1"/>
          </p:cNvSpPr>
          <p:nvPr>
            <p:ph type="title"/>
          </p:nvPr>
        </p:nvSpPr>
        <p:spPr/>
        <p:txBody>
          <a:bodyPr/>
          <a:lstStyle/>
          <a:p>
            <a:r>
              <a:rPr lang="en-US" dirty="0"/>
              <a:t>CNF of Quantifiers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0DBE706-17B5-4891-6A0F-B05E13A0AEEC}"/>
                  </a:ext>
                </a:extLst>
              </p:cNvPr>
              <p:cNvSpPr>
                <a:spLocks noGrp="1"/>
              </p:cNvSpPr>
              <p:nvPr>
                <p:ph idx="1"/>
              </p:nvPr>
            </p:nvSpPr>
            <p:spPr/>
            <p:txBody>
              <a:bodyPr/>
              <a:lstStyle/>
              <a:p>
                <a:pPr marL="0" indent="0">
                  <a:buNone/>
                </a:pPr>
                <a:r>
                  <a:rPr lang="en-US" dirty="0"/>
                  <a:t>3. Standardize variables: Change variable names to avoid confusions.</a:t>
                </a:r>
                <a:br>
                  <a:rPr lang="en-US" dirty="0"/>
                </a:br>
                <a14:m>
                  <m:oMathPara xmlns:m="http://schemas.openxmlformats.org/officeDocument/2006/math">
                    <m:oMathParaPr>
                      <m:jc m:val="centerGroup"/>
                    </m:oMathParaPr>
                    <m:oMath xmlns:m="http://schemas.openxmlformats.org/officeDocument/2006/math">
                      <m:r>
                        <a:rPr lang="es-ES" i="1" dirty="0" smtClean="0">
                          <a:latin typeface="Cambria Math" panose="02040503050406030204" pitchFamily="18" charset="0"/>
                        </a:rPr>
                        <m:t>∀</m:t>
                      </m:r>
                      <m:r>
                        <a:rPr lang="es-ES" i="1" dirty="0" smtClean="0">
                          <a:latin typeface="Cambria Math" panose="02040503050406030204" pitchFamily="18" charset="0"/>
                        </a:rPr>
                        <m:t>𝑥</m:t>
                      </m:r>
                      <m:r>
                        <a:rPr lang="es-ES" i="1" dirty="0" smtClean="0">
                          <a:latin typeface="Cambria Math" panose="02040503050406030204" pitchFamily="18" charset="0"/>
                        </a:rPr>
                        <m:t> [∃</m:t>
                      </m:r>
                      <m:r>
                        <a:rPr lang="es-ES" i="1" dirty="0" smtClean="0">
                          <a:latin typeface="Cambria Math" panose="02040503050406030204" pitchFamily="18" charset="0"/>
                        </a:rPr>
                        <m:t>𝑦</m:t>
                      </m:r>
                      <m:r>
                        <a:rPr lang="es-ES" i="1" dirty="0" smtClean="0">
                          <a:latin typeface="Cambria Math" panose="02040503050406030204" pitchFamily="18" charset="0"/>
                        </a:rPr>
                        <m:t> </m:t>
                      </m:r>
                      <m:r>
                        <a:rPr lang="es-ES" i="1" dirty="0" smtClean="0">
                          <a:latin typeface="Cambria Math" panose="02040503050406030204" pitchFamily="18" charset="0"/>
                        </a:rPr>
                        <m:t>𝐴𝑛𝑖𝑚𝑎𝑙</m:t>
                      </m:r>
                      <m:r>
                        <a:rPr lang="es-ES" i="1" dirty="0" smtClean="0">
                          <a:latin typeface="Cambria Math" panose="02040503050406030204" pitchFamily="18" charset="0"/>
                        </a:rPr>
                        <m:t>(</m:t>
                      </m:r>
                      <m:r>
                        <a:rPr lang="es-ES" i="1" dirty="0" smtClean="0">
                          <a:latin typeface="Cambria Math" panose="02040503050406030204" pitchFamily="18" charset="0"/>
                        </a:rPr>
                        <m:t>𝑦</m:t>
                      </m:r>
                      <m:r>
                        <a:rPr lang="es-ES" i="1" dirty="0" smtClean="0">
                          <a:latin typeface="Cambria Math" panose="02040503050406030204" pitchFamily="18" charset="0"/>
                        </a:rPr>
                        <m:t>)∧¬</m:t>
                      </m:r>
                      <m:r>
                        <a:rPr lang="es-ES" i="1" dirty="0" err="1">
                          <a:latin typeface="Cambria Math" panose="02040503050406030204" pitchFamily="18" charset="0"/>
                        </a:rPr>
                        <m:t>𝐿𝑜𝑣𝑒𝑠</m:t>
                      </m:r>
                      <m:r>
                        <a:rPr lang="es-ES" i="1" dirty="0">
                          <a:latin typeface="Cambria Math" panose="02040503050406030204" pitchFamily="18" charset="0"/>
                        </a:rPr>
                        <m:t>(</m:t>
                      </m:r>
                      <m:r>
                        <a:rPr lang="es-ES" i="1" dirty="0" err="1">
                          <a:latin typeface="Cambria Math" panose="02040503050406030204" pitchFamily="18" charset="0"/>
                        </a:rPr>
                        <m:t>𝑥</m:t>
                      </m:r>
                      <m:r>
                        <a:rPr lang="es-ES" i="1" dirty="0" err="1">
                          <a:latin typeface="Cambria Math" panose="02040503050406030204" pitchFamily="18" charset="0"/>
                        </a:rPr>
                        <m:t>,</m:t>
                      </m:r>
                      <m:r>
                        <a:rPr lang="es-ES" i="1" dirty="0" err="1">
                          <a:latin typeface="Cambria Math" panose="02040503050406030204" pitchFamily="18" charset="0"/>
                        </a:rPr>
                        <m:t>𝑦</m:t>
                      </m:r>
                      <m:r>
                        <a:rPr lang="es-ES" i="1" dirty="0">
                          <a:latin typeface="Cambria Math" panose="02040503050406030204" pitchFamily="18" charset="0"/>
                        </a:rPr>
                        <m:t>)] ∨[∃</m:t>
                      </m:r>
                      <m:r>
                        <a:rPr lang="es-ES" i="1" dirty="0">
                          <a:latin typeface="Cambria Math" panose="02040503050406030204" pitchFamily="18" charset="0"/>
                        </a:rPr>
                        <m:t>𝑧</m:t>
                      </m:r>
                      <m:r>
                        <a:rPr lang="es-ES" i="1" dirty="0">
                          <a:latin typeface="Cambria Math" panose="02040503050406030204" pitchFamily="18" charset="0"/>
                        </a:rPr>
                        <m:t> </m:t>
                      </m:r>
                      <m:r>
                        <a:rPr lang="es-ES" i="1" dirty="0" err="1">
                          <a:latin typeface="Cambria Math" panose="02040503050406030204" pitchFamily="18" charset="0"/>
                        </a:rPr>
                        <m:t>𝐿𝑜𝑣𝑒𝑠</m:t>
                      </m:r>
                      <m:r>
                        <a:rPr lang="es-ES" i="1" dirty="0">
                          <a:latin typeface="Cambria Math" panose="02040503050406030204" pitchFamily="18" charset="0"/>
                        </a:rPr>
                        <m:t>(</m:t>
                      </m:r>
                      <m:r>
                        <a:rPr lang="es-ES" i="1" dirty="0" err="1">
                          <a:latin typeface="Cambria Math" panose="02040503050406030204" pitchFamily="18" charset="0"/>
                        </a:rPr>
                        <m:t>𝑧</m:t>
                      </m:r>
                      <m:r>
                        <a:rPr lang="es-ES" i="1" dirty="0" err="1">
                          <a:latin typeface="Cambria Math" panose="02040503050406030204" pitchFamily="18" charset="0"/>
                        </a:rPr>
                        <m:t>,</m:t>
                      </m:r>
                      <m:r>
                        <a:rPr lang="es-ES" i="1" dirty="0" err="1">
                          <a:latin typeface="Cambria Math" panose="02040503050406030204" pitchFamily="18" charset="0"/>
                        </a:rPr>
                        <m:t>𝑥</m:t>
                      </m:r>
                      <m:r>
                        <a:rPr lang="es-ES" i="1" dirty="0">
                          <a:latin typeface="Cambria Math" panose="02040503050406030204" pitchFamily="18" charset="0"/>
                        </a:rPr>
                        <m:t>)] </m:t>
                      </m:r>
                    </m:oMath>
                  </m:oMathPara>
                </a14:m>
                <a:endParaRPr lang="en-US" dirty="0"/>
              </a:p>
            </p:txBody>
          </p:sp>
        </mc:Choice>
        <mc:Fallback xmlns="">
          <p:sp>
            <p:nvSpPr>
              <p:cNvPr id="3" name="Content Placeholder 2">
                <a:extLst>
                  <a:ext uri="{FF2B5EF4-FFF2-40B4-BE49-F238E27FC236}">
                    <a16:creationId xmlns:a16="http://schemas.microsoft.com/office/drawing/2014/main" id="{C0DBE706-17B5-4891-6A0F-B05E13A0AEEC}"/>
                  </a:ext>
                </a:extLst>
              </p:cNvPr>
              <p:cNvSpPr>
                <a:spLocks noGrp="1" noRot="1" noChangeAspect="1" noMove="1" noResize="1" noEditPoints="1" noAdjustHandles="1" noChangeArrowheads="1" noChangeShapeType="1" noTextEdit="1"/>
              </p:cNvSpPr>
              <p:nvPr>
                <p:ph idx="1"/>
              </p:nvPr>
            </p:nvSpPr>
            <p:spPr>
              <a:blipFill>
                <a:blip r:embed="rId2"/>
                <a:stretch>
                  <a:fillRect l="-1217" t="-2381"/>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F7759389-8F86-9960-63DE-BAAF232878FE}"/>
              </a:ext>
            </a:extLst>
          </p:cNvPr>
          <p:cNvSpPr>
            <a:spLocks noGrp="1"/>
          </p:cNvSpPr>
          <p:nvPr>
            <p:ph type="dt" sz="half" idx="10"/>
          </p:nvPr>
        </p:nvSpPr>
        <p:spPr/>
        <p:txBody>
          <a:bodyPr/>
          <a:lstStyle/>
          <a:p>
            <a:fld id="{1332600A-A7B8-4674-AAE3-A37177B883E5}" type="datetime1">
              <a:rPr lang="en-GB" smtClean="0"/>
              <a:t>20/10/2025</a:t>
            </a:fld>
            <a:endParaRPr lang="en-GB"/>
          </a:p>
        </p:txBody>
      </p:sp>
      <p:sp>
        <p:nvSpPr>
          <p:cNvPr id="5" name="Slide Number Placeholder 4">
            <a:extLst>
              <a:ext uri="{FF2B5EF4-FFF2-40B4-BE49-F238E27FC236}">
                <a16:creationId xmlns:a16="http://schemas.microsoft.com/office/drawing/2014/main" id="{393B4C90-21EE-C219-2C30-922B8AD76BF5}"/>
              </a:ext>
            </a:extLst>
          </p:cNvPr>
          <p:cNvSpPr>
            <a:spLocks noGrp="1"/>
          </p:cNvSpPr>
          <p:nvPr>
            <p:ph type="sldNum" sz="quarter" idx="12"/>
          </p:nvPr>
        </p:nvSpPr>
        <p:spPr/>
        <p:txBody>
          <a:bodyPr/>
          <a:lstStyle/>
          <a:p>
            <a:fld id="{9EB268CF-8001-41B5-ADCD-92A7738D3D9B}" type="slidenum">
              <a:rPr lang="en-GB" smtClean="0"/>
              <a:t>47</a:t>
            </a:fld>
            <a:endParaRPr lang="en-GB"/>
          </a:p>
        </p:txBody>
      </p:sp>
    </p:spTree>
    <p:extLst>
      <p:ext uri="{BB962C8B-B14F-4D97-AF65-F5344CB8AC3E}">
        <p14:creationId xmlns:p14="http://schemas.microsoft.com/office/powerpoint/2010/main" val="428141071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F01967-3C28-B07A-0151-DA255943827A}"/>
              </a:ext>
            </a:extLst>
          </p:cNvPr>
          <p:cNvSpPr>
            <a:spLocks noGrp="1"/>
          </p:cNvSpPr>
          <p:nvPr>
            <p:ph type="title"/>
          </p:nvPr>
        </p:nvSpPr>
        <p:spPr/>
        <p:txBody>
          <a:bodyPr/>
          <a:lstStyle/>
          <a:p>
            <a:r>
              <a:rPr lang="en-US" dirty="0"/>
              <a:t>CNF of Quantifiers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F9CE8981-94C8-9439-B503-6330CE371FB4}"/>
                  </a:ext>
                </a:extLst>
              </p:cNvPr>
              <p:cNvSpPr>
                <a:spLocks noGrp="1"/>
              </p:cNvSpPr>
              <p:nvPr>
                <p:ph idx="1"/>
              </p:nvPr>
            </p:nvSpPr>
            <p:spPr/>
            <p:txBody>
              <a:bodyPr>
                <a:normAutofit/>
              </a:bodyPr>
              <a:lstStyle/>
              <a:p>
                <a:pPr marL="0" indent="0">
                  <a:buNone/>
                </a:pPr>
                <a:r>
                  <a:rPr lang="en-US" dirty="0"/>
                  <a:t>4. </a:t>
                </a:r>
                <a:r>
                  <a:rPr lang="en-US" b="1" dirty="0"/>
                  <a:t>Skolemization</a:t>
                </a:r>
                <a:r>
                  <a:rPr lang="en-US" dirty="0"/>
                  <a:t>: process of removing existential quantifiers by elimination.</a:t>
                </a:r>
              </a:p>
              <a:p>
                <a:pPr>
                  <a:buFontTx/>
                  <a:buChar char="-"/>
                </a:pPr>
                <a:r>
                  <a:rPr lang="en-US" dirty="0"/>
                  <a:t>We can’t apply Existential Instantiation.</a:t>
                </a:r>
              </a:p>
              <a:p>
                <a:pPr marL="0" indent="0">
                  <a:buNone/>
                </a:pPr>
                <a:r>
                  <a:rPr lang="en-US" dirty="0"/>
                  <a:t>We want </a:t>
                </a:r>
                <a:r>
                  <a:rPr lang="en-US" dirty="0" err="1"/>
                  <a:t>skolem</a:t>
                </a:r>
                <a:r>
                  <a:rPr lang="en-US" dirty="0"/>
                  <a:t> entities to depend on x and z. </a:t>
                </a:r>
              </a:p>
              <a:p>
                <a:pPr marL="0" indent="0">
                  <a:buNone/>
                </a:pPr>
                <a:r>
                  <a:rPr lang="en-US" dirty="0"/>
                  <a:t>We get</a:t>
                </a:r>
              </a:p>
              <a:p>
                <a:pPr marL="0" indent="0">
                  <a:buNone/>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m:t>
                      </m:r>
                      <m:r>
                        <a:rPr lang="en-US" i="1" dirty="0" smtClean="0">
                          <a:latin typeface="Cambria Math" panose="02040503050406030204" pitchFamily="18" charset="0"/>
                        </a:rPr>
                        <m:t>𝑥</m:t>
                      </m:r>
                      <m:r>
                        <a:rPr lang="en-US" i="1" dirty="0" smtClean="0">
                          <a:latin typeface="Cambria Math" panose="02040503050406030204" pitchFamily="18" charset="0"/>
                        </a:rPr>
                        <m:t> </m:t>
                      </m:r>
                      <m:d>
                        <m:dPr>
                          <m:begChr m:val="["/>
                          <m:endChr m:val="]"/>
                          <m:ctrlPr>
                            <a:rPr lang="en-US" i="1" dirty="0" smtClean="0">
                              <a:latin typeface="Cambria Math" panose="02040503050406030204" pitchFamily="18" charset="0"/>
                            </a:rPr>
                          </m:ctrlPr>
                        </m:dPr>
                        <m:e>
                          <m:r>
                            <a:rPr lang="en-US" i="1" dirty="0" smtClean="0">
                              <a:latin typeface="Cambria Math" panose="02040503050406030204" pitchFamily="18" charset="0"/>
                            </a:rPr>
                            <m:t>𝐴𝑛𝑖𝑚𝑎𝑙</m:t>
                          </m:r>
                          <m:d>
                            <m:dPr>
                              <m:ctrlPr>
                                <a:rPr lang="en-US" i="1" dirty="0" smtClean="0">
                                  <a:latin typeface="Cambria Math" panose="02040503050406030204" pitchFamily="18" charset="0"/>
                                </a:rPr>
                              </m:ctrlPr>
                            </m:dPr>
                            <m:e>
                              <m:r>
                                <a:rPr lang="en-US" i="1" dirty="0" smtClean="0">
                                  <a:latin typeface="Cambria Math" panose="02040503050406030204" pitchFamily="18" charset="0"/>
                                </a:rPr>
                                <m:t>𝐹</m:t>
                              </m:r>
                              <m:d>
                                <m:dPr>
                                  <m:ctrlPr>
                                    <a:rPr lang="en-US" i="1" dirty="0" smtClean="0">
                                      <a:latin typeface="Cambria Math" panose="02040503050406030204" pitchFamily="18" charset="0"/>
                                    </a:rPr>
                                  </m:ctrlPr>
                                </m:dPr>
                                <m:e>
                                  <m:r>
                                    <a:rPr lang="en-US" i="1" dirty="0" smtClean="0">
                                      <a:latin typeface="Cambria Math" panose="02040503050406030204" pitchFamily="18" charset="0"/>
                                    </a:rPr>
                                    <m:t>𝑥</m:t>
                                  </m:r>
                                </m:e>
                              </m:d>
                            </m:e>
                          </m:d>
                          <m:r>
                            <a:rPr lang="en-US" i="1" dirty="0" smtClean="0">
                              <a:latin typeface="Cambria Math" panose="02040503050406030204" pitchFamily="18" charset="0"/>
                            </a:rPr>
                            <m:t>∧¬</m:t>
                          </m:r>
                          <m:r>
                            <a:rPr lang="en-US" i="1" dirty="0" smtClean="0">
                              <a:latin typeface="Cambria Math" panose="02040503050406030204" pitchFamily="18" charset="0"/>
                            </a:rPr>
                            <m:t>𝐿𝑜𝑣𝑒𝑠</m:t>
                          </m:r>
                          <m:d>
                            <m:dPr>
                              <m:ctrlPr>
                                <a:rPr lang="en-US" i="1" dirty="0" smtClean="0">
                                  <a:latin typeface="Cambria Math" panose="02040503050406030204" pitchFamily="18" charset="0"/>
                                </a:rPr>
                              </m:ctrlPr>
                            </m:dPr>
                            <m:e>
                              <m:r>
                                <a:rPr lang="en-US" i="1" dirty="0" err="1">
                                  <a:latin typeface="Cambria Math" panose="02040503050406030204" pitchFamily="18" charset="0"/>
                                </a:rPr>
                                <m:t>𝑥</m:t>
                              </m:r>
                              <m:r>
                                <a:rPr lang="en-US" i="1" dirty="0" err="1">
                                  <a:latin typeface="Cambria Math" panose="02040503050406030204" pitchFamily="18" charset="0"/>
                                </a:rPr>
                                <m:t>,</m:t>
                              </m:r>
                              <m:r>
                                <a:rPr lang="en-US" i="1" dirty="0" err="1">
                                  <a:latin typeface="Cambria Math" panose="02040503050406030204" pitchFamily="18" charset="0"/>
                                </a:rPr>
                                <m:t>𝐹</m:t>
                              </m:r>
                              <m:d>
                                <m:dPr>
                                  <m:ctrlPr>
                                    <a:rPr lang="en-US" i="1" dirty="0">
                                      <a:latin typeface="Cambria Math" panose="02040503050406030204" pitchFamily="18" charset="0"/>
                                    </a:rPr>
                                  </m:ctrlPr>
                                </m:dPr>
                                <m:e>
                                  <m:r>
                                    <a:rPr lang="en-US" i="1" dirty="0">
                                      <a:latin typeface="Cambria Math" panose="02040503050406030204" pitchFamily="18" charset="0"/>
                                    </a:rPr>
                                    <m:t>𝑥</m:t>
                                  </m:r>
                                </m:e>
                              </m:d>
                            </m:e>
                          </m:d>
                        </m:e>
                      </m:d>
                      <m:r>
                        <a:rPr lang="en-US" i="1" dirty="0">
                          <a:latin typeface="Cambria Math" panose="02040503050406030204" pitchFamily="18" charset="0"/>
                        </a:rPr>
                        <m:t>∨ </m:t>
                      </m:r>
                      <m:r>
                        <a:rPr lang="en-US" i="1" dirty="0">
                          <a:latin typeface="Cambria Math" panose="02040503050406030204" pitchFamily="18" charset="0"/>
                        </a:rPr>
                        <m:t>𝐿𝑜𝑣𝑒𝑠</m:t>
                      </m:r>
                      <m:d>
                        <m:dPr>
                          <m:ctrlPr>
                            <a:rPr lang="en-US" i="1" dirty="0">
                              <a:latin typeface="Cambria Math" panose="02040503050406030204" pitchFamily="18" charset="0"/>
                            </a:rPr>
                          </m:ctrlPr>
                        </m:dPr>
                        <m:e>
                          <m:r>
                            <a:rPr lang="en-US" i="1" dirty="0">
                              <a:latin typeface="Cambria Math" panose="02040503050406030204" pitchFamily="18" charset="0"/>
                            </a:rPr>
                            <m:t>𝐺</m:t>
                          </m:r>
                          <m:d>
                            <m:dPr>
                              <m:ctrlPr>
                                <a:rPr lang="en-US" i="1" dirty="0">
                                  <a:latin typeface="Cambria Math" panose="02040503050406030204" pitchFamily="18" charset="0"/>
                                </a:rPr>
                              </m:ctrlPr>
                            </m:dPr>
                            <m:e>
                              <m:r>
                                <a:rPr lang="en-US" i="1" dirty="0">
                                  <a:latin typeface="Cambria Math" panose="02040503050406030204" pitchFamily="18" charset="0"/>
                                </a:rPr>
                                <m:t>𝑧</m:t>
                              </m:r>
                            </m:e>
                          </m:d>
                          <m:r>
                            <a:rPr lang="en-US" i="1" dirty="0">
                              <a:latin typeface="Cambria Math" panose="02040503050406030204" pitchFamily="18" charset="0"/>
                            </a:rPr>
                            <m:t>,</m:t>
                          </m:r>
                          <m:r>
                            <a:rPr lang="en-US" i="1" dirty="0">
                              <a:latin typeface="Cambria Math" panose="02040503050406030204" pitchFamily="18" charset="0"/>
                            </a:rPr>
                            <m:t>𝑥</m:t>
                          </m:r>
                        </m:e>
                      </m:d>
                    </m:oMath>
                  </m:oMathPara>
                </a14:m>
                <a:endParaRPr lang="en-US" dirty="0"/>
              </a:p>
              <a:p>
                <a:r>
                  <a:rPr lang="en-US" dirty="0"/>
                  <a:t>F and G are </a:t>
                </a:r>
                <a:r>
                  <a:rPr lang="en-US" dirty="0" err="1"/>
                  <a:t>Skolem</a:t>
                </a:r>
                <a:r>
                  <a:rPr lang="en-US" dirty="0"/>
                  <a:t> functions.</a:t>
                </a:r>
              </a:p>
              <a:p>
                <a:r>
                  <a:rPr lang="en-US" dirty="0"/>
                  <a:t> </a:t>
                </a:r>
                <a:r>
                  <a:rPr lang="en-US" dirty="0" err="1"/>
                  <a:t>Skolem</a:t>
                </a:r>
                <a:r>
                  <a:rPr lang="en-US" dirty="0"/>
                  <a:t> function are all the universally quantified variables in whose scope the existential quantifier appears. </a:t>
                </a:r>
              </a:p>
            </p:txBody>
          </p:sp>
        </mc:Choice>
        <mc:Fallback>
          <p:sp>
            <p:nvSpPr>
              <p:cNvPr id="3" name="Content Placeholder 2">
                <a:extLst>
                  <a:ext uri="{FF2B5EF4-FFF2-40B4-BE49-F238E27FC236}">
                    <a16:creationId xmlns:a16="http://schemas.microsoft.com/office/drawing/2014/main" id="{F9CE8981-94C8-9439-B503-6330CE371FB4}"/>
                  </a:ext>
                </a:extLst>
              </p:cNvPr>
              <p:cNvSpPr>
                <a:spLocks noGrp="1" noRot="1" noChangeAspect="1" noMove="1" noResize="1" noEditPoints="1" noAdjustHandles="1" noChangeArrowheads="1" noChangeShapeType="1" noTextEdit="1"/>
              </p:cNvSpPr>
              <p:nvPr>
                <p:ph idx="1"/>
              </p:nvPr>
            </p:nvSpPr>
            <p:spPr>
              <a:blipFill>
                <a:blip r:embed="rId2"/>
                <a:stretch>
                  <a:fillRect l="-1217" t="-2381" b="-1120"/>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ED9CD4A0-3777-B228-3E07-C5686E25ECD5}"/>
              </a:ext>
            </a:extLst>
          </p:cNvPr>
          <p:cNvSpPr>
            <a:spLocks noGrp="1"/>
          </p:cNvSpPr>
          <p:nvPr>
            <p:ph type="dt" sz="half" idx="10"/>
          </p:nvPr>
        </p:nvSpPr>
        <p:spPr/>
        <p:txBody>
          <a:bodyPr/>
          <a:lstStyle/>
          <a:p>
            <a:fld id="{1332600A-A7B8-4674-AAE3-A37177B883E5}" type="datetime1">
              <a:rPr lang="en-GB" smtClean="0"/>
              <a:t>20/10/2025</a:t>
            </a:fld>
            <a:endParaRPr lang="en-GB"/>
          </a:p>
        </p:txBody>
      </p:sp>
      <p:sp>
        <p:nvSpPr>
          <p:cNvPr id="5" name="Slide Number Placeholder 4">
            <a:extLst>
              <a:ext uri="{FF2B5EF4-FFF2-40B4-BE49-F238E27FC236}">
                <a16:creationId xmlns:a16="http://schemas.microsoft.com/office/drawing/2014/main" id="{EA7414F5-E9B5-D7AC-5370-3A9E728BE325}"/>
              </a:ext>
            </a:extLst>
          </p:cNvPr>
          <p:cNvSpPr>
            <a:spLocks noGrp="1"/>
          </p:cNvSpPr>
          <p:nvPr>
            <p:ph type="sldNum" sz="quarter" idx="12"/>
          </p:nvPr>
        </p:nvSpPr>
        <p:spPr/>
        <p:txBody>
          <a:bodyPr/>
          <a:lstStyle/>
          <a:p>
            <a:fld id="{9EB268CF-8001-41B5-ADCD-92A7738D3D9B}" type="slidenum">
              <a:rPr lang="en-GB" smtClean="0"/>
              <a:t>48</a:t>
            </a:fld>
            <a:endParaRPr lang="en-GB"/>
          </a:p>
        </p:txBody>
      </p:sp>
    </p:spTree>
    <p:extLst>
      <p:ext uri="{BB962C8B-B14F-4D97-AF65-F5344CB8AC3E}">
        <p14:creationId xmlns:p14="http://schemas.microsoft.com/office/powerpoint/2010/main" val="151957891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7F9144-1AD3-07AC-1EDC-F15122FF9D37}"/>
              </a:ext>
            </a:extLst>
          </p:cNvPr>
          <p:cNvSpPr>
            <a:spLocks noGrp="1"/>
          </p:cNvSpPr>
          <p:nvPr>
            <p:ph type="title"/>
          </p:nvPr>
        </p:nvSpPr>
        <p:spPr/>
        <p:txBody>
          <a:bodyPr/>
          <a:lstStyle/>
          <a:p>
            <a:r>
              <a:rPr lang="en-US" dirty="0"/>
              <a:t>CNF of Quantifiers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9112704-7729-B395-C99F-482AD4D30A96}"/>
                  </a:ext>
                </a:extLst>
              </p:cNvPr>
              <p:cNvSpPr>
                <a:spLocks noGrp="1"/>
              </p:cNvSpPr>
              <p:nvPr>
                <p:ph idx="1"/>
              </p:nvPr>
            </p:nvSpPr>
            <p:spPr/>
            <p:txBody>
              <a:bodyPr/>
              <a:lstStyle/>
              <a:p>
                <a:pPr marL="0" indent="0">
                  <a:buNone/>
                </a:pPr>
                <a:r>
                  <a:rPr lang="en-US" dirty="0"/>
                  <a:t>5. Drop universal quantifiers:</a:t>
                </a:r>
                <a:br>
                  <a:rPr lang="en-US" dirty="0"/>
                </a:b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m:t>
                      </m:r>
                      <m:r>
                        <a:rPr lang="en-US" i="1" dirty="0" smtClean="0">
                          <a:latin typeface="Cambria Math" panose="02040503050406030204" pitchFamily="18" charset="0"/>
                        </a:rPr>
                        <m:t>𝐴𝑛𝑖𝑚𝑎𝑙</m:t>
                      </m:r>
                      <m:r>
                        <a:rPr lang="en-US" i="1" dirty="0" smtClean="0">
                          <a:latin typeface="Cambria Math" panose="02040503050406030204" pitchFamily="18" charset="0"/>
                        </a:rPr>
                        <m:t>(</m:t>
                      </m:r>
                      <m:r>
                        <a:rPr lang="en-US" i="1" dirty="0" smtClean="0">
                          <a:latin typeface="Cambria Math" panose="02040503050406030204" pitchFamily="18" charset="0"/>
                        </a:rPr>
                        <m:t>𝐹</m:t>
                      </m:r>
                      <m:r>
                        <a:rPr lang="en-US" i="1" dirty="0" smtClean="0">
                          <a:latin typeface="Cambria Math" panose="02040503050406030204" pitchFamily="18" charset="0"/>
                        </a:rPr>
                        <m:t>(</m:t>
                      </m:r>
                      <m:r>
                        <a:rPr lang="en-US" i="1" dirty="0" smtClean="0">
                          <a:latin typeface="Cambria Math" panose="02040503050406030204" pitchFamily="18" charset="0"/>
                        </a:rPr>
                        <m:t>𝑥</m:t>
                      </m:r>
                      <m:r>
                        <a:rPr lang="en-US" i="1" dirty="0" smtClean="0">
                          <a:latin typeface="Cambria Math" panose="02040503050406030204" pitchFamily="18" charset="0"/>
                        </a:rPr>
                        <m:t>)) ∧¬</m:t>
                      </m:r>
                      <m:r>
                        <a:rPr lang="en-US" i="1" dirty="0" smtClean="0">
                          <a:latin typeface="Cambria Math" panose="02040503050406030204" pitchFamily="18" charset="0"/>
                        </a:rPr>
                        <m:t>𝐿𝑜𝑣𝑒𝑠</m:t>
                      </m:r>
                      <m:r>
                        <a:rPr lang="en-US" i="1" dirty="0" smtClean="0">
                          <a:latin typeface="Cambria Math" panose="02040503050406030204" pitchFamily="18" charset="0"/>
                        </a:rPr>
                        <m:t>(</m:t>
                      </m:r>
                      <m:r>
                        <a:rPr lang="en-US" i="1" dirty="0" err="1">
                          <a:latin typeface="Cambria Math" panose="02040503050406030204" pitchFamily="18" charset="0"/>
                        </a:rPr>
                        <m:t>𝑥</m:t>
                      </m:r>
                      <m:r>
                        <a:rPr lang="en-US" i="1" dirty="0" err="1">
                          <a:latin typeface="Cambria Math" panose="02040503050406030204" pitchFamily="18" charset="0"/>
                        </a:rPr>
                        <m:t>,</m:t>
                      </m:r>
                      <m:r>
                        <a:rPr lang="en-US" i="1" dirty="0" err="1">
                          <a:latin typeface="Cambria Math" panose="02040503050406030204" pitchFamily="18" charset="0"/>
                        </a:rPr>
                        <m:t>𝐹</m:t>
                      </m:r>
                      <m:r>
                        <a:rPr lang="en-US" i="1" dirty="0">
                          <a:latin typeface="Cambria Math" panose="02040503050406030204" pitchFamily="18" charset="0"/>
                        </a:rPr>
                        <m:t>(</m:t>
                      </m:r>
                      <m:r>
                        <a:rPr lang="en-US" i="1" dirty="0">
                          <a:latin typeface="Cambria Math" panose="02040503050406030204" pitchFamily="18" charset="0"/>
                        </a:rPr>
                        <m:t>𝑥</m:t>
                      </m:r>
                      <m:r>
                        <a:rPr lang="en-US" i="1" dirty="0">
                          <a:latin typeface="Cambria Math" panose="02040503050406030204" pitchFamily="18" charset="0"/>
                        </a:rPr>
                        <m:t>))] ∨ </m:t>
                      </m:r>
                      <m:r>
                        <a:rPr lang="en-US" i="1" dirty="0">
                          <a:latin typeface="Cambria Math" panose="02040503050406030204" pitchFamily="18" charset="0"/>
                        </a:rPr>
                        <m:t>𝐿𝑜𝑣𝑒𝑠</m:t>
                      </m:r>
                      <m:r>
                        <a:rPr lang="en-US" i="1" dirty="0">
                          <a:latin typeface="Cambria Math" panose="02040503050406030204" pitchFamily="18" charset="0"/>
                        </a:rPr>
                        <m:t>(</m:t>
                      </m:r>
                      <m:r>
                        <a:rPr lang="en-US" i="1" dirty="0">
                          <a:latin typeface="Cambria Math" panose="02040503050406030204" pitchFamily="18" charset="0"/>
                        </a:rPr>
                        <m:t>𝐺</m:t>
                      </m:r>
                      <m:r>
                        <a:rPr lang="en-US" i="1" dirty="0">
                          <a:latin typeface="Cambria Math" panose="02040503050406030204" pitchFamily="18" charset="0"/>
                        </a:rPr>
                        <m:t>(</m:t>
                      </m:r>
                      <m:r>
                        <a:rPr lang="en-US" i="1" dirty="0">
                          <a:latin typeface="Cambria Math" panose="02040503050406030204" pitchFamily="18" charset="0"/>
                        </a:rPr>
                        <m:t>𝑧</m:t>
                      </m:r>
                      <m:r>
                        <a:rPr lang="en-US" i="1" dirty="0">
                          <a:latin typeface="Cambria Math" panose="02040503050406030204" pitchFamily="18" charset="0"/>
                        </a:rPr>
                        <m:t>),</m:t>
                      </m:r>
                      <m:r>
                        <a:rPr lang="en-US" i="1" dirty="0">
                          <a:latin typeface="Cambria Math" panose="02040503050406030204" pitchFamily="18" charset="0"/>
                        </a:rPr>
                        <m:t>𝑥</m:t>
                      </m:r>
                      <m:r>
                        <a:rPr lang="en-US" i="1" dirty="0">
                          <a:latin typeface="Cambria Math" panose="02040503050406030204" pitchFamily="18" charset="0"/>
                        </a:rPr>
                        <m:t>) </m:t>
                      </m:r>
                    </m:oMath>
                  </m:oMathPara>
                </a14:m>
                <a:endParaRPr lang="en-US" dirty="0"/>
              </a:p>
              <a:p>
                <a:pPr marL="0" indent="0">
                  <a:buNone/>
                </a:pPr>
                <a:r>
                  <a:rPr lang="en-US" dirty="0"/>
                  <a:t>6. Distribute </a:t>
                </a:r>
                <a14:m>
                  <m:oMath xmlns:m="http://schemas.openxmlformats.org/officeDocument/2006/math">
                    <m:r>
                      <a:rPr lang="en-US" b="0" i="1" smtClean="0">
                        <a:latin typeface="Cambria Math" panose="02040503050406030204" pitchFamily="18" charset="0"/>
                      </a:rPr>
                      <m:t>∨</m:t>
                    </m:r>
                  </m:oMath>
                </a14:m>
                <a:r>
                  <a:rPr lang="en-US" dirty="0"/>
                  <a:t> over </a:t>
                </a:r>
                <a14:m>
                  <m:oMath xmlns:m="http://schemas.openxmlformats.org/officeDocument/2006/math">
                    <m:r>
                      <a:rPr lang="en-US" b="0" i="1" smtClean="0">
                        <a:latin typeface="Cambria Math" panose="02040503050406030204" pitchFamily="18" charset="0"/>
                      </a:rPr>
                      <m:t>∧:</m:t>
                    </m:r>
                  </m:oMath>
                </a14:m>
                <a:endParaRPr lang="en-US" b="0" dirty="0"/>
              </a:p>
              <a:p>
                <a:pPr marL="0" indent="0">
                  <a:buNone/>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m:t>
                      </m:r>
                      <m:r>
                        <a:rPr lang="en-US" i="1" dirty="0" smtClean="0">
                          <a:latin typeface="Cambria Math" panose="02040503050406030204" pitchFamily="18" charset="0"/>
                        </a:rPr>
                        <m:t>𝐴𝑛𝑖𝑚𝑎𝑙</m:t>
                      </m:r>
                      <m:r>
                        <a:rPr lang="en-US" i="1" dirty="0" smtClean="0">
                          <a:latin typeface="Cambria Math" panose="02040503050406030204" pitchFamily="18" charset="0"/>
                        </a:rPr>
                        <m:t>(</m:t>
                      </m:r>
                      <m:r>
                        <a:rPr lang="en-US" i="1" dirty="0" smtClean="0">
                          <a:latin typeface="Cambria Math" panose="02040503050406030204" pitchFamily="18" charset="0"/>
                        </a:rPr>
                        <m:t>𝐹</m:t>
                      </m:r>
                      <m:r>
                        <a:rPr lang="en-US" i="1" dirty="0" smtClean="0">
                          <a:latin typeface="Cambria Math" panose="02040503050406030204" pitchFamily="18" charset="0"/>
                        </a:rPr>
                        <m:t>(</m:t>
                      </m:r>
                      <m:r>
                        <a:rPr lang="en-US" i="1" dirty="0" smtClean="0">
                          <a:latin typeface="Cambria Math" panose="02040503050406030204" pitchFamily="18" charset="0"/>
                        </a:rPr>
                        <m:t>𝑥</m:t>
                      </m:r>
                      <m:r>
                        <a:rPr lang="en-US" i="1" dirty="0" smtClean="0">
                          <a:latin typeface="Cambria Math" panose="02040503050406030204" pitchFamily="18" charset="0"/>
                        </a:rPr>
                        <m:t>)) ∨ </m:t>
                      </m:r>
                      <m:r>
                        <a:rPr lang="en-US" i="1" dirty="0" smtClean="0">
                          <a:latin typeface="Cambria Math" panose="02040503050406030204" pitchFamily="18" charset="0"/>
                        </a:rPr>
                        <m:t>𝐿𝑜𝑣𝑒𝑠</m:t>
                      </m:r>
                      <m:r>
                        <a:rPr lang="en-US" i="1" dirty="0" smtClean="0">
                          <a:latin typeface="Cambria Math" panose="02040503050406030204" pitchFamily="18" charset="0"/>
                        </a:rPr>
                        <m:t>(</m:t>
                      </m:r>
                      <m:r>
                        <a:rPr lang="en-US" i="1" dirty="0" smtClean="0">
                          <a:latin typeface="Cambria Math" panose="02040503050406030204" pitchFamily="18" charset="0"/>
                        </a:rPr>
                        <m:t>𝐺</m:t>
                      </m:r>
                      <m:r>
                        <a:rPr lang="en-US" i="1" dirty="0" smtClean="0">
                          <a:latin typeface="Cambria Math" panose="02040503050406030204" pitchFamily="18" charset="0"/>
                        </a:rPr>
                        <m:t>(</m:t>
                      </m:r>
                      <m:r>
                        <a:rPr lang="en-US" i="1" dirty="0" smtClean="0">
                          <a:latin typeface="Cambria Math" panose="02040503050406030204" pitchFamily="18" charset="0"/>
                        </a:rPr>
                        <m:t>𝑧</m:t>
                      </m:r>
                      <m:r>
                        <a:rPr lang="en-US" i="1" dirty="0" smtClean="0">
                          <a:latin typeface="Cambria Math" panose="02040503050406030204" pitchFamily="18" charset="0"/>
                        </a:rPr>
                        <m:t>),</m:t>
                      </m:r>
                      <m:r>
                        <a:rPr lang="en-US" i="1" dirty="0" smtClean="0">
                          <a:latin typeface="Cambria Math" panose="02040503050406030204" pitchFamily="18" charset="0"/>
                        </a:rPr>
                        <m:t>𝑥</m:t>
                      </m:r>
                      <m:r>
                        <a:rPr lang="en-US" i="1" dirty="0" smtClean="0">
                          <a:latin typeface="Cambria Math" panose="02040503050406030204" pitchFamily="18" charset="0"/>
                        </a:rPr>
                        <m:t>)] ∧ [¬</m:t>
                      </m:r>
                      <m:r>
                        <a:rPr lang="en-US" i="1" dirty="0" smtClean="0">
                          <a:latin typeface="Cambria Math" panose="02040503050406030204" pitchFamily="18" charset="0"/>
                        </a:rPr>
                        <m:t>𝐿𝑜𝑣𝑒𝑠</m:t>
                      </m:r>
                      <m:r>
                        <a:rPr lang="en-US" i="1" dirty="0" smtClean="0">
                          <a:latin typeface="Cambria Math" panose="02040503050406030204" pitchFamily="18" charset="0"/>
                        </a:rPr>
                        <m:t>(</m:t>
                      </m:r>
                      <m:r>
                        <a:rPr lang="en-US" i="1" dirty="0" err="1">
                          <a:latin typeface="Cambria Math" panose="02040503050406030204" pitchFamily="18" charset="0"/>
                        </a:rPr>
                        <m:t>𝑥</m:t>
                      </m:r>
                      <m:r>
                        <a:rPr lang="en-US" i="1" dirty="0" err="1">
                          <a:latin typeface="Cambria Math" panose="02040503050406030204" pitchFamily="18" charset="0"/>
                        </a:rPr>
                        <m:t>,</m:t>
                      </m:r>
                      <m:r>
                        <a:rPr lang="en-US" i="1" dirty="0" err="1">
                          <a:latin typeface="Cambria Math" panose="02040503050406030204" pitchFamily="18" charset="0"/>
                        </a:rPr>
                        <m:t>𝐹</m:t>
                      </m:r>
                      <m:r>
                        <a:rPr lang="en-US" i="1" dirty="0">
                          <a:latin typeface="Cambria Math" panose="02040503050406030204" pitchFamily="18" charset="0"/>
                        </a:rPr>
                        <m:t>(</m:t>
                      </m:r>
                      <m:r>
                        <a:rPr lang="en-US" i="1" dirty="0">
                          <a:latin typeface="Cambria Math" panose="02040503050406030204" pitchFamily="18" charset="0"/>
                        </a:rPr>
                        <m:t>𝑥</m:t>
                      </m:r>
                      <m:r>
                        <a:rPr lang="en-US" i="1" dirty="0">
                          <a:latin typeface="Cambria Math" panose="02040503050406030204" pitchFamily="18" charset="0"/>
                        </a:rPr>
                        <m:t>)) ∨ </m:t>
                      </m:r>
                      <m:r>
                        <a:rPr lang="en-US" i="1" dirty="0">
                          <a:latin typeface="Cambria Math" panose="02040503050406030204" pitchFamily="18" charset="0"/>
                        </a:rPr>
                        <m:t>𝐿𝑜𝑣𝑒𝑠</m:t>
                      </m:r>
                      <m:r>
                        <a:rPr lang="en-US" i="1" dirty="0">
                          <a:latin typeface="Cambria Math" panose="02040503050406030204" pitchFamily="18" charset="0"/>
                        </a:rPr>
                        <m:t>(</m:t>
                      </m:r>
                      <m:r>
                        <a:rPr lang="en-US" i="1" dirty="0">
                          <a:latin typeface="Cambria Math" panose="02040503050406030204" pitchFamily="18" charset="0"/>
                        </a:rPr>
                        <m:t>𝐺</m:t>
                      </m:r>
                      <m:r>
                        <a:rPr lang="en-US" i="1" dirty="0">
                          <a:latin typeface="Cambria Math" panose="02040503050406030204" pitchFamily="18" charset="0"/>
                        </a:rPr>
                        <m:t>(</m:t>
                      </m:r>
                      <m:r>
                        <a:rPr lang="en-US" i="1" dirty="0">
                          <a:latin typeface="Cambria Math" panose="02040503050406030204" pitchFamily="18" charset="0"/>
                        </a:rPr>
                        <m:t>𝑧</m:t>
                      </m:r>
                      <m:r>
                        <a:rPr lang="en-US" i="1" dirty="0">
                          <a:latin typeface="Cambria Math" panose="02040503050406030204" pitchFamily="18" charset="0"/>
                        </a:rPr>
                        <m:t>),</m:t>
                      </m:r>
                      <m:r>
                        <a:rPr lang="en-US" i="1" dirty="0">
                          <a:latin typeface="Cambria Math" panose="02040503050406030204" pitchFamily="18" charset="0"/>
                        </a:rPr>
                        <m:t>𝑥</m:t>
                      </m:r>
                      <m:r>
                        <a:rPr lang="en-US" i="1" dirty="0">
                          <a:latin typeface="Cambria Math" panose="02040503050406030204" pitchFamily="18" charset="0"/>
                        </a:rPr>
                        <m:t>)]</m:t>
                      </m:r>
                    </m:oMath>
                  </m:oMathPara>
                </a14:m>
                <a:endParaRPr lang="en-US" dirty="0"/>
              </a:p>
              <a:p>
                <a:pPr marL="0" indent="0">
                  <a:buNone/>
                </a:pPr>
                <a:endParaRPr lang="en-US" dirty="0"/>
              </a:p>
              <a:p>
                <a:pPr marL="0" indent="0">
                  <a:buNone/>
                </a:pPr>
                <a:r>
                  <a:rPr lang="en-US" dirty="0" err="1"/>
                  <a:t>Skolem</a:t>
                </a:r>
                <a:r>
                  <a:rPr lang="en-US" dirty="0"/>
                  <a:t> function F(x) refers to the animal potentially unloved by x, whereas G(z) refers to someone who might love x</a:t>
                </a:r>
              </a:p>
            </p:txBody>
          </p:sp>
        </mc:Choice>
        <mc:Fallback xmlns="">
          <p:sp>
            <p:nvSpPr>
              <p:cNvPr id="3" name="Content Placeholder 2">
                <a:extLst>
                  <a:ext uri="{FF2B5EF4-FFF2-40B4-BE49-F238E27FC236}">
                    <a16:creationId xmlns:a16="http://schemas.microsoft.com/office/drawing/2014/main" id="{99112704-7729-B395-C99F-482AD4D30A96}"/>
                  </a:ext>
                </a:extLst>
              </p:cNvPr>
              <p:cNvSpPr>
                <a:spLocks noGrp="1" noRot="1" noChangeAspect="1" noMove="1" noResize="1" noEditPoints="1" noAdjustHandles="1" noChangeArrowheads="1" noChangeShapeType="1" noTextEdit="1"/>
              </p:cNvSpPr>
              <p:nvPr>
                <p:ph idx="1"/>
              </p:nvPr>
            </p:nvSpPr>
            <p:spPr>
              <a:blipFill>
                <a:blip r:embed="rId2"/>
                <a:stretch>
                  <a:fillRect l="-1217" t="-2381" r="-1913"/>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0CC1E4A5-EFE9-1F6D-D25C-BCE88306BCF6}"/>
              </a:ext>
            </a:extLst>
          </p:cNvPr>
          <p:cNvSpPr>
            <a:spLocks noGrp="1"/>
          </p:cNvSpPr>
          <p:nvPr>
            <p:ph type="dt" sz="half" idx="10"/>
          </p:nvPr>
        </p:nvSpPr>
        <p:spPr/>
        <p:txBody>
          <a:bodyPr/>
          <a:lstStyle/>
          <a:p>
            <a:fld id="{1332600A-A7B8-4674-AAE3-A37177B883E5}" type="datetime1">
              <a:rPr lang="en-GB" smtClean="0"/>
              <a:t>20/10/2025</a:t>
            </a:fld>
            <a:endParaRPr lang="en-GB"/>
          </a:p>
        </p:txBody>
      </p:sp>
      <p:sp>
        <p:nvSpPr>
          <p:cNvPr id="5" name="Slide Number Placeholder 4">
            <a:extLst>
              <a:ext uri="{FF2B5EF4-FFF2-40B4-BE49-F238E27FC236}">
                <a16:creationId xmlns:a16="http://schemas.microsoft.com/office/drawing/2014/main" id="{7785B1F6-91CD-B40B-F8BC-ADB4D8C7F5D7}"/>
              </a:ext>
            </a:extLst>
          </p:cNvPr>
          <p:cNvSpPr>
            <a:spLocks noGrp="1"/>
          </p:cNvSpPr>
          <p:nvPr>
            <p:ph type="sldNum" sz="quarter" idx="12"/>
          </p:nvPr>
        </p:nvSpPr>
        <p:spPr/>
        <p:txBody>
          <a:bodyPr/>
          <a:lstStyle/>
          <a:p>
            <a:fld id="{9EB268CF-8001-41B5-ADCD-92A7738D3D9B}" type="slidenum">
              <a:rPr lang="en-GB" smtClean="0"/>
              <a:t>49</a:t>
            </a:fld>
            <a:endParaRPr lang="en-GB"/>
          </a:p>
        </p:txBody>
      </p:sp>
    </p:spTree>
    <p:extLst>
      <p:ext uri="{BB962C8B-B14F-4D97-AF65-F5344CB8AC3E}">
        <p14:creationId xmlns:p14="http://schemas.microsoft.com/office/powerpoint/2010/main" val="185629462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F82B50-67F6-EF36-2E54-F277E2D4C56C}"/>
              </a:ext>
            </a:extLst>
          </p:cNvPr>
          <p:cNvSpPr>
            <a:spLocks noGrp="1"/>
          </p:cNvSpPr>
          <p:nvPr>
            <p:ph type="title"/>
          </p:nvPr>
        </p:nvSpPr>
        <p:spPr/>
        <p:txBody>
          <a:bodyPr/>
          <a:lstStyle/>
          <a:p>
            <a:r>
              <a:rPr lang="en-US" dirty="0"/>
              <a:t>The Resolution Inference Rule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0412BF7-3FE0-87CB-F098-6396F2D0F535}"/>
                  </a:ext>
                </a:extLst>
              </p:cNvPr>
              <p:cNvSpPr>
                <a:spLocks noGrp="1"/>
              </p:cNvSpPr>
              <p:nvPr>
                <p:ph idx="1"/>
              </p:nvPr>
            </p:nvSpPr>
            <p:spPr/>
            <p:txBody>
              <a:bodyPr>
                <a:normAutofit fontScale="92500"/>
              </a:bodyPr>
              <a:lstStyle/>
              <a:p>
                <a:r>
                  <a:rPr lang="en-US" dirty="0"/>
                  <a:t>We use a lifted version of the propositional resolution rule.</a:t>
                </a:r>
              </a:p>
              <a:p>
                <a:r>
                  <a:rPr lang="en-US" dirty="0"/>
                  <a:t>Two clauses can be resolved if they contain complementary literals.</a:t>
                </a:r>
              </a:p>
              <a:p>
                <a:pPr marL="0" indent="0">
                  <a:buNone/>
                </a:pPr>
                <a:endParaRPr lang="en-US" b="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𝑙</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𝑙</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𝑙</m:t>
                              </m:r>
                            </m:e>
                            <m:sub>
                              <m:r>
                                <a:rPr lang="en-US" b="0" i="1" smtClean="0">
                                  <a:latin typeface="Cambria Math" panose="02040503050406030204" pitchFamily="18" charset="0"/>
                                </a:rPr>
                                <m:t>𝑘</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𝑚</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𝑚</m:t>
                              </m:r>
                            </m:e>
                            <m:sub>
                              <m:r>
                                <a:rPr lang="en-US" b="0" i="1" smtClean="0">
                                  <a:latin typeface="Cambria Math" panose="02040503050406030204" pitchFamily="18" charset="0"/>
                                </a:rPr>
                                <m:t>𝑛</m:t>
                              </m:r>
                            </m:sub>
                          </m:sSub>
                        </m:num>
                        <m:den>
                          <m:r>
                            <a:rPr lang="en-US" b="0" i="1" smtClean="0">
                              <a:latin typeface="Cambria Math" panose="02040503050406030204" pitchFamily="18" charset="0"/>
                            </a:rPr>
                            <m:t>𝑆𝑈𝐵𝑆𝑇</m:t>
                          </m:r>
                          <m:d>
                            <m:dPr>
                              <m:ctrlPr>
                                <a:rPr lang="en-US" b="0" i="1" smtClean="0">
                                  <a:latin typeface="Cambria Math" panose="02040503050406030204" pitchFamily="18" charset="0"/>
                                </a:rPr>
                              </m:ctrlPr>
                            </m:dPr>
                            <m:e>
                              <m:r>
                                <a:rPr lang="en-US" b="0" i="1" smtClean="0">
                                  <a:latin typeface="Cambria Math" panose="02040503050406030204" pitchFamily="18" charset="0"/>
                                </a:rPr>
                                <m:t>𝜃</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𝑙</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𝑙</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𝑙</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𝑙</m:t>
                                  </m:r>
                                </m:e>
                                <m:sub>
                                  <m:r>
                                    <a:rPr lang="en-US" b="0" i="1" smtClean="0">
                                      <a:latin typeface="Cambria Math" panose="02040503050406030204" pitchFamily="18" charset="0"/>
                                    </a:rPr>
                                    <m:t>𝑘</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𝑚</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𝑚</m:t>
                                  </m:r>
                                </m:e>
                                <m:sub>
                                  <m:r>
                                    <a:rPr lang="en-US" b="0" i="1" smtClean="0">
                                      <a:latin typeface="Cambria Math" panose="02040503050406030204" pitchFamily="18" charset="0"/>
                                    </a:rPr>
                                    <m:t>𝑗</m:t>
                                  </m:r>
                                  <m:r>
                                    <a:rPr lang="en-US" b="0" i="1" smtClean="0">
                                      <a:latin typeface="Cambria Math" panose="02040503050406030204" pitchFamily="18" charset="0"/>
                                    </a:rPr>
                                    <m:t>−</m:t>
                                  </m:r>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𝑚</m:t>
                                  </m:r>
                                </m:e>
                                <m:sub>
                                  <m:r>
                                    <a:rPr lang="en-US" b="0" i="1" smtClean="0">
                                      <a:latin typeface="Cambria Math" panose="02040503050406030204" pitchFamily="18" charset="0"/>
                                    </a:rPr>
                                    <m:t>𝑗</m:t>
                                  </m:r>
                                  <m:r>
                                    <a:rPr lang="en-US" b="0" i="1" smtClean="0">
                                      <a:latin typeface="Cambria Math" panose="02040503050406030204" pitchFamily="18" charset="0"/>
                                    </a:rPr>
                                    <m:t>+</m:t>
                                  </m:r>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𝑚</m:t>
                                  </m:r>
                                </m:e>
                                <m:sub>
                                  <m:r>
                                    <a:rPr lang="en-US" b="0" i="1" smtClean="0">
                                      <a:latin typeface="Cambria Math" panose="02040503050406030204" pitchFamily="18" charset="0"/>
                                    </a:rPr>
                                    <m:t>𝑛</m:t>
                                  </m:r>
                                </m:sub>
                              </m:sSub>
                            </m:e>
                          </m:d>
                        </m:den>
                      </m:f>
                      <m:r>
                        <a:rPr lang="en-US" b="0" i="1" smtClean="0">
                          <a:latin typeface="Cambria Math" panose="02040503050406030204" pitchFamily="18" charset="0"/>
                        </a:rPr>
                        <m:t> </m:t>
                      </m:r>
                    </m:oMath>
                  </m:oMathPara>
                </a14:m>
                <a:endParaRPr lang="en-US" dirty="0"/>
              </a:p>
              <a:p>
                <a:pPr marL="0" indent="0">
                  <a:buNone/>
                </a:pPr>
                <a:r>
                  <a:rPr lang="en-US" dirty="0"/>
                  <a:t>Where, </a:t>
                </a:r>
                <a14:m>
                  <m:oMath xmlns:m="http://schemas.openxmlformats.org/officeDocument/2006/math">
                    <m:r>
                      <a:rPr lang="en-US" b="0" i="1" smtClean="0">
                        <a:latin typeface="Cambria Math" panose="02040503050406030204" pitchFamily="18" charset="0"/>
                      </a:rPr>
                      <m:t>𝑈𝑁𝐼𝐹𝑌</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𝑙</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𝑚</m:t>
                            </m:r>
                          </m:e>
                          <m:sub>
                            <m:r>
                              <a:rPr lang="en-US" b="0" i="1" smtClean="0">
                                <a:latin typeface="Cambria Math" panose="02040503050406030204" pitchFamily="18" charset="0"/>
                              </a:rPr>
                              <m:t>𝑗</m:t>
                            </m:r>
                          </m:sub>
                        </m:sSub>
                      </m:e>
                    </m:d>
                    <m:r>
                      <a:rPr lang="en-US" b="0" i="1" smtClean="0">
                        <a:latin typeface="Cambria Math" panose="02040503050406030204" pitchFamily="18" charset="0"/>
                      </a:rPr>
                      <m:t>=</m:t>
                    </m:r>
                    <m:r>
                      <a:rPr lang="en-US" b="0" i="1" smtClean="0">
                        <a:latin typeface="Cambria Math" panose="02040503050406030204" pitchFamily="18" charset="0"/>
                      </a:rPr>
                      <m:t>𝜃</m:t>
                    </m:r>
                    <m:r>
                      <a:rPr lang="en-US" b="0" i="1" smtClean="0">
                        <a:latin typeface="Cambria Math" panose="02040503050406030204" pitchFamily="18" charset="0"/>
                      </a:rPr>
                      <m:t>.</m:t>
                    </m:r>
                  </m:oMath>
                </a14:m>
                <a:endParaRPr lang="en-US" b="0"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D0412BF7-3FE0-87CB-F098-6396F2D0F535}"/>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0B921132-C0EC-DE04-BF1E-CF6A715F7DD7}"/>
              </a:ext>
            </a:extLst>
          </p:cNvPr>
          <p:cNvSpPr>
            <a:spLocks noGrp="1"/>
          </p:cNvSpPr>
          <p:nvPr>
            <p:ph type="dt" sz="half" idx="10"/>
          </p:nvPr>
        </p:nvSpPr>
        <p:spPr/>
        <p:txBody>
          <a:bodyPr/>
          <a:lstStyle/>
          <a:p>
            <a:fld id="{1332600A-A7B8-4674-AAE3-A37177B883E5}" type="datetime1">
              <a:rPr lang="en-GB" smtClean="0"/>
              <a:t>20/10/2025</a:t>
            </a:fld>
            <a:endParaRPr lang="en-GB"/>
          </a:p>
        </p:txBody>
      </p:sp>
      <p:sp>
        <p:nvSpPr>
          <p:cNvPr id="5" name="Slide Number Placeholder 4">
            <a:extLst>
              <a:ext uri="{FF2B5EF4-FFF2-40B4-BE49-F238E27FC236}">
                <a16:creationId xmlns:a16="http://schemas.microsoft.com/office/drawing/2014/main" id="{7BA1B382-8731-612C-CC24-D3208F674E37}"/>
              </a:ext>
            </a:extLst>
          </p:cNvPr>
          <p:cNvSpPr>
            <a:spLocks noGrp="1"/>
          </p:cNvSpPr>
          <p:nvPr>
            <p:ph type="sldNum" sz="quarter" idx="12"/>
          </p:nvPr>
        </p:nvSpPr>
        <p:spPr/>
        <p:txBody>
          <a:bodyPr/>
          <a:lstStyle/>
          <a:p>
            <a:fld id="{9EB268CF-8001-41B5-ADCD-92A7738D3D9B}" type="slidenum">
              <a:rPr lang="en-GB" smtClean="0"/>
              <a:t>50</a:t>
            </a:fld>
            <a:endParaRPr lang="en-GB"/>
          </a:p>
        </p:txBody>
      </p:sp>
    </p:spTree>
    <p:extLst>
      <p:ext uri="{BB962C8B-B14F-4D97-AF65-F5344CB8AC3E}">
        <p14:creationId xmlns:p14="http://schemas.microsoft.com/office/powerpoint/2010/main" val="9967557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0AFEE1-63B8-E83F-F21E-73E79388EA08}"/>
              </a:ext>
            </a:extLst>
          </p:cNvPr>
          <p:cNvSpPr>
            <a:spLocks noGrp="1"/>
          </p:cNvSpPr>
          <p:nvPr>
            <p:ph type="title"/>
          </p:nvPr>
        </p:nvSpPr>
        <p:spPr/>
        <p:txBody>
          <a:bodyPr/>
          <a:lstStyle/>
          <a:p>
            <a:r>
              <a:rPr lang="en-US" dirty="0"/>
              <a:t>The Resolution Inference Rule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0C16ED3-CC28-DBA3-730B-DE64A31DBCBC}"/>
                  </a:ext>
                </a:extLst>
              </p:cNvPr>
              <p:cNvSpPr>
                <a:spLocks noGrp="1"/>
              </p:cNvSpPr>
              <p:nvPr>
                <p:ph idx="1"/>
              </p:nvPr>
            </p:nvSpPr>
            <p:spPr/>
            <p:txBody>
              <a:bodyPr/>
              <a:lstStyle/>
              <a:p>
                <a:r>
                  <a:rPr lang="en-US" dirty="0"/>
                  <a:t>We can resolve the two clauses</a:t>
                </a:r>
                <a:br>
                  <a:rPr lang="en-US" dirty="0"/>
                </a:br>
                <a14:m>
                  <m:oMath xmlns:m="http://schemas.openxmlformats.org/officeDocument/2006/math">
                    <m:r>
                      <m:rPr>
                        <m:nor/>
                      </m:rPr>
                      <a:rPr lang="en-US">
                        <a:latin typeface="Cambria Math" panose="02040503050406030204" pitchFamily="18" charset="0"/>
                        <a:ea typeface="Cambria Math" panose="02040503050406030204" pitchFamily="18" charset="0"/>
                      </a:rPr>
                      <m:t>[</m:t>
                    </m:r>
                    <m:r>
                      <m:rPr>
                        <m:nor/>
                      </m:rPr>
                      <a:rPr lang="en-US">
                        <a:latin typeface="Cambria Math" panose="02040503050406030204" pitchFamily="18" charset="0"/>
                        <a:ea typeface="Cambria Math" panose="02040503050406030204" pitchFamily="18" charset="0"/>
                      </a:rPr>
                      <m:t>Animal</m:t>
                    </m:r>
                    <m:r>
                      <m:rPr>
                        <m:nor/>
                      </m:rPr>
                      <a:rPr lang="en-US">
                        <a:latin typeface="Cambria Math" panose="02040503050406030204" pitchFamily="18" charset="0"/>
                        <a:ea typeface="Cambria Math" panose="02040503050406030204" pitchFamily="18" charset="0"/>
                      </a:rPr>
                      <m:t>(</m:t>
                    </m:r>
                    <m:r>
                      <m:rPr>
                        <m:nor/>
                      </m:rPr>
                      <a:rPr lang="en-US">
                        <a:latin typeface="Cambria Math" panose="02040503050406030204" pitchFamily="18" charset="0"/>
                        <a:ea typeface="Cambria Math" panose="02040503050406030204" pitchFamily="18" charset="0"/>
                      </a:rPr>
                      <m:t>F</m:t>
                    </m:r>
                    <m:r>
                      <m:rPr>
                        <m:nor/>
                      </m:rPr>
                      <a:rPr lang="en-US">
                        <a:latin typeface="Cambria Math" panose="02040503050406030204" pitchFamily="18" charset="0"/>
                        <a:ea typeface="Cambria Math" panose="02040503050406030204" pitchFamily="18" charset="0"/>
                      </a:rPr>
                      <m:t>(</m:t>
                    </m:r>
                    <m:r>
                      <m:rPr>
                        <m:nor/>
                      </m:rPr>
                      <a:rPr lang="en-US">
                        <a:latin typeface="Cambria Math" panose="02040503050406030204" pitchFamily="18" charset="0"/>
                        <a:ea typeface="Cambria Math" panose="02040503050406030204" pitchFamily="18" charset="0"/>
                      </a:rPr>
                      <m:t>x</m:t>
                    </m:r>
                    <m:r>
                      <m:rPr>
                        <m:nor/>
                      </m:rPr>
                      <a:rPr lang="en-US">
                        <a:latin typeface="Cambria Math" panose="02040503050406030204" pitchFamily="18" charset="0"/>
                        <a:ea typeface="Cambria Math" panose="02040503050406030204" pitchFamily="18" charset="0"/>
                      </a:rPr>
                      <m:t>)) </m:t>
                    </m:r>
                    <m:r>
                      <m:rPr>
                        <m:nor/>
                      </m:rPr>
                      <a:rPr lang="en-US">
                        <a:latin typeface="Cambria Math" panose="02040503050406030204" pitchFamily="18" charset="0"/>
                        <a:ea typeface="Cambria Math" panose="02040503050406030204" pitchFamily="18" charset="0"/>
                      </a:rPr>
                      <m:t>∨ </m:t>
                    </m:r>
                    <m:r>
                      <m:rPr>
                        <m:nor/>
                      </m:rPr>
                      <a:rPr lang="en-US">
                        <a:latin typeface="Cambria Math" panose="02040503050406030204" pitchFamily="18" charset="0"/>
                        <a:ea typeface="Cambria Math" panose="02040503050406030204" pitchFamily="18" charset="0"/>
                      </a:rPr>
                      <m:t>Loves</m:t>
                    </m:r>
                    <m:r>
                      <m:rPr>
                        <m:nor/>
                      </m:rPr>
                      <a:rPr lang="en-US">
                        <a:latin typeface="Cambria Math" panose="02040503050406030204" pitchFamily="18" charset="0"/>
                        <a:ea typeface="Cambria Math" panose="02040503050406030204" pitchFamily="18" charset="0"/>
                      </a:rPr>
                      <m:t>(</m:t>
                    </m:r>
                    <m:r>
                      <m:rPr>
                        <m:nor/>
                      </m:rPr>
                      <a:rPr lang="en-US">
                        <a:latin typeface="Cambria Math" panose="02040503050406030204" pitchFamily="18" charset="0"/>
                        <a:ea typeface="Cambria Math" panose="02040503050406030204" pitchFamily="18" charset="0"/>
                      </a:rPr>
                      <m:t>G</m:t>
                    </m:r>
                    <m:r>
                      <m:rPr>
                        <m:nor/>
                      </m:rPr>
                      <a:rPr lang="en-US">
                        <a:latin typeface="Cambria Math" panose="02040503050406030204" pitchFamily="18" charset="0"/>
                        <a:ea typeface="Cambria Math" panose="02040503050406030204" pitchFamily="18" charset="0"/>
                      </a:rPr>
                      <m:t>(</m:t>
                    </m:r>
                    <m:r>
                      <m:rPr>
                        <m:nor/>
                      </m:rPr>
                      <a:rPr lang="en-US">
                        <a:latin typeface="Cambria Math" panose="02040503050406030204" pitchFamily="18" charset="0"/>
                        <a:ea typeface="Cambria Math" panose="02040503050406030204" pitchFamily="18" charset="0"/>
                      </a:rPr>
                      <m:t>x</m:t>
                    </m:r>
                    <m:r>
                      <m:rPr>
                        <m:nor/>
                      </m:rPr>
                      <a:rPr lang="en-US">
                        <a:latin typeface="Cambria Math" panose="02040503050406030204" pitchFamily="18" charset="0"/>
                        <a:ea typeface="Cambria Math" panose="02040503050406030204" pitchFamily="18" charset="0"/>
                      </a:rPr>
                      <m:t>),</m:t>
                    </m:r>
                    <m:r>
                      <m:rPr>
                        <m:nor/>
                      </m:rPr>
                      <a:rPr lang="en-US">
                        <a:latin typeface="Cambria Math" panose="02040503050406030204" pitchFamily="18" charset="0"/>
                        <a:ea typeface="Cambria Math" panose="02040503050406030204" pitchFamily="18" charset="0"/>
                      </a:rPr>
                      <m:t>x</m:t>
                    </m:r>
                    <m:r>
                      <m:rPr>
                        <m:nor/>
                      </m:rPr>
                      <a:rPr lang="en-US">
                        <a:latin typeface="Cambria Math" panose="02040503050406030204" pitchFamily="18" charset="0"/>
                        <a:ea typeface="Cambria Math" panose="02040503050406030204" pitchFamily="18" charset="0"/>
                      </a:rPr>
                      <m:t>)] </m:t>
                    </m:r>
                    <m:r>
                      <m:rPr>
                        <m:nor/>
                      </m:rPr>
                      <a:rPr lang="en-US">
                        <a:latin typeface="Cambria Math" panose="02040503050406030204" pitchFamily="18" charset="0"/>
                        <a:ea typeface="Cambria Math" panose="02040503050406030204" pitchFamily="18" charset="0"/>
                      </a:rPr>
                      <m:t>and</m:t>
                    </m:r>
                    <m:r>
                      <m:rPr>
                        <m:nor/>
                      </m:rPr>
                      <a:rPr lang="en-US">
                        <a:latin typeface="Cambria Math" panose="02040503050406030204" pitchFamily="18" charset="0"/>
                        <a:ea typeface="Cambria Math" panose="02040503050406030204" pitchFamily="18" charset="0"/>
                      </a:rPr>
                      <m:t> [¬</m:t>
                    </m:r>
                    <m:r>
                      <m:rPr>
                        <m:nor/>
                      </m:rPr>
                      <a:rPr lang="en-US">
                        <a:latin typeface="Cambria Math" panose="02040503050406030204" pitchFamily="18" charset="0"/>
                        <a:ea typeface="Cambria Math" panose="02040503050406030204" pitchFamily="18" charset="0"/>
                      </a:rPr>
                      <m:t>Loves</m:t>
                    </m:r>
                    <m:r>
                      <m:rPr>
                        <m:nor/>
                      </m:rPr>
                      <a:rPr lang="en-US">
                        <a:latin typeface="Cambria Math" panose="02040503050406030204" pitchFamily="18" charset="0"/>
                        <a:ea typeface="Cambria Math" panose="02040503050406030204" pitchFamily="18" charset="0"/>
                      </a:rPr>
                      <m:t>(</m:t>
                    </m:r>
                    <m:r>
                      <m:rPr>
                        <m:nor/>
                      </m:rPr>
                      <a:rPr lang="en-US">
                        <a:latin typeface="Cambria Math" panose="02040503050406030204" pitchFamily="18" charset="0"/>
                        <a:ea typeface="Cambria Math" panose="02040503050406030204" pitchFamily="18" charset="0"/>
                      </a:rPr>
                      <m:t>u</m:t>
                    </m:r>
                    <m:r>
                      <m:rPr>
                        <m:nor/>
                      </m:rPr>
                      <a:rPr lang="en-US">
                        <a:latin typeface="Cambria Math" panose="02040503050406030204" pitchFamily="18" charset="0"/>
                        <a:ea typeface="Cambria Math" panose="02040503050406030204" pitchFamily="18" charset="0"/>
                      </a:rPr>
                      <m:t>,</m:t>
                    </m:r>
                    <m:r>
                      <m:rPr>
                        <m:nor/>
                      </m:rPr>
                      <a:rPr lang="en-US">
                        <a:latin typeface="Cambria Math" panose="02040503050406030204" pitchFamily="18" charset="0"/>
                        <a:ea typeface="Cambria Math" panose="02040503050406030204" pitchFamily="18" charset="0"/>
                      </a:rPr>
                      <m:t>v</m:t>
                    </m:r>
                    <m:r>
                      <m:rPr>
                        <m:nor/>
                      </m:rPr>
                      <a:rPr lang="en-US">
                        <a:latin typeface="Cambria Math" panose="02040503050406030204" pitchFamily="18" charset="0"/>
                        <a:ea typeface="Cambria Math" panose="02040503050406030204" pitchFamily="18" charset="0"/>
                      </a:rPr>
                      <m:t>) </m:t>
                    </m:r>
                    <m:r>
                      <m:rPr>
                        <m:nor/>
                      </m:rPr>
                      <a:rPr lang="en-US">
                        <a:latin typeface="Cambria Math" panose="02040503050406030204" pitchFamily="18" charset="0"/>
                        <a:ea typeface="Cambria Math" panose="02040503050406030204" pitchFamily="18" charset="0"/>
                      </a:rPr>
                      <m:t>∨</m:t>
                    </m:r>
                    <m:r>
                      <m:rPr>
                        <m:nor/>
                      </m:rPr>
                      <a:rPr lang="en-US">
                        <a:latin typeface="Cambria Math" panose="02040503050406030204" pitchFamily="18" charset="0"/>
                        <a:ea typeface="Cambria Math" panose="02040503050406030204" pitchFamily="18" charset="0"/>
                      </a:rPr>
                      <m:t>¬</m:t>
                    </m:r>
                    <m:r>
                      <m:rPr>
                        <m:nor/>
                      </m:rPr>
                      <a:rPr lang="en-US">
                        <a:latin typeface="Cambria Math" panose="02040503050406030204" pitchFamily="18" charset="0"/>
                        <a:ea typeface="Cambria Math" panose="02040503050406030204" pitchFamily="18" charset="0"/>
                      </a:rPr>
                      <m:t>Kills</m:t>
                    </m:r>
                    <m:r>
                      <m:rPr>
                        <m:nor/>
                      </m:rPr>
                      <a:rPr lang="en-US">
                        <a:latin typeface="Cambria Math" panose="02040503050406030204" pitchFamily="18" charset="0"/>
                        <a:ea typeface="Cambria Math" panose="02040503050406030204" pitchFamily="18" charset="0"/>
                      </a:rPr>
                      <m:t>(</m:t>
                    </m:r>
                    <m:r>
                      <m:rPr>
                        <m:nor/>
                      </m:rPr>
                      <a:rPr lang="en-US">
                        <a:latin typeface="Cambria Math" panose="02040503050406030204" pitchFamily="18" charset="0"/>
                        <a:ea typeface="Cambria Math" panose="02040503050406030204" pitchFamily="18" charset="0"/>
                      </a:rPr>
                      <m:t>u</m:t>
                    </m:r>
                    <m:r>
                      <m:rPr>
                        <m:nor/>
                      </m:rPr>
                      <a:rPr lang="en-US">
                        <a:latin typeface="Cambria Math" panose="02040503050406030204" pitchFamily="18" charset="0"/>
                        <a:ea typeface="Cambria Math" panose="02040503050406030204" pitchFamily="18" charset="0"/>
                      </a:rPr>
                      <m:t>,</m:t>
                    </m:r>
                    <m:r>
                      <m:rPr>
                        <m:nor/>
                      </m:rPr>
                      <a:rPr lang="en-US">
                        <a:latin typeface="Cambria Math" panose="02040503050406030204" pitchFamily="18" charset="0"/>
                        <a:ea typeface="Cambria Math" panose="02040503050406030204" pitchFamily="18" charset="0"/>
                      </a:rPr>
                      <m:t>v</m:t>
                    </m:r>
                    <m:r>
                      <m:rPr>
                        <m:nor/>
                      </m:rPr>
                      <a:rPr lang="en-US">
                        <a:latin typeface="Cambria Math" panose="02040503050406030204" pitchFamily="18" charset="0"/>
                        <a:ea typeface="Cambria Math" panose="02040503050406030204" pitchFamily="18" charset="0"/>
                      </a:rPr>
                      <m:t>)]</m:t>
                    </m:r>
                  </m:oMath>
                </a14:m>
                <a:endParaRPr lang="en-US" dirty="0">
                  <a:ea typeface="Cambria Math" panose="02040503050406030204" pitchFamily="18" charset="0"/>
                </a:endParaRPr>
              </a:p>
              <a:p>
                <a:pPr marL="0" indent="0">
                  <a:buNone/>
                </a:pPr>
                <a:r>
                  <a:rPr lang="en-US" dirty="0">
                    <a:ea typeface="Cambria Math" panose="02040503050406030204" pitchFamily="18" charset="0"/>
                  </a:rPr>
                  <a:t>By eliminating the complementary literals </a:t>
                </a:r>
                <a14:m>
                  <m:oMath xmlns:m="http://schemas.openxmlformats.org/officeDocument/2006/math">
                    <m:r>
                      <m:rPr>
                        <m:nor/>
                      </m:rPr>
                      <a:rPr lang="en-US">
                        <a:ea typeface="Cambria Math" panose="02040503050406030204" pitchFamily="18" charset="0"/>
                      </a:rPr>
                      <m:t>Loves</m:t>
                    </m:r>
                    <m:r>
                      <m:rPr>
                        <m:nor/>
                      </m:rPr>
                      <a:rPr lang="en-US">
                        <a:ea typeface="Cambria Math" panose="02040503050406030204" pitchFamily="18" charset="0"/>
                      </a:rPr>
                      <m:t>(</m:t>
                    </m:r>
                    <m:r>
                      <m:rPr>
                        <m:nor/>
                      </m:rPr>
                      <a:rPr lang="en-US">
                        <a:ea typeface="Cambria Math" panose="02040503050406030204" pitchFamily="18" charset="0"/>
                      </a:rPr>
                      <m:t>G</m:t>
                    </m:r>
                    <m:r>
                      <m:rPr>
                        <m:nor/>
                      </m:rPr>
                      <a:rPr lang="en-US">
                        <a:ea typeface="Cambria Math" panose="02040503050406030204" pitchFamily="18" charset="0"/>
                      </a:rPr>
                      <m:t>(</m:t>
                    </m:r>
                    <m:r>
                      <m:rPr>
                        <m:nor/>
                      </m:rPr>
                      <a:rPr lang="en-US">
                        <a:ea typeface="Cambria Math" panose="02040503050406030204" pitchFamily="18" charset="0"/>
                      </a:rPr>
                      <m:t>x</m:t>
                    </m:r>
                    <m:r>
                      <m:rPr>
                        <m:nor/>
                      </m:rPr>
                      <a:rPr lang="en-US">
                        <a:ea typeface="Cambria Math" panose="02040503050406030204" pitchFamily="18" charset="0"/>
                      </a:rPr>
                      <m:t>),</m:t>
                    </m:r>
                    <m:r>
                      <m:rPr>
                        <m:nor/>
                      </m:rPr>
                      <a:rPr lang="en-US">
                        <a:ea typeface="Cambria Math" panose="02040503050406030204" pitchFamily="18" charset="0"/>
                      </a:rPr>
                      <m:t>x</m:t>
                    </m:r>
                    <m:r>
                      <m:rPr>
                        <m:nor/>
                      </m:rPr>
                      <a:rPr lang="en-US">
                        <a:ea typeface="Cambria Math" panose="02040503050406030204" pitchFamily="18" charset="0"/>
                      </a:rPr>
                      <m:t>)] </m:t>
                    </m:r>
                    <m:r>
                      <m:rPr>
                        <m:nor/>
                      </m:rPr>
                      <a:rPr lang="en-US">
                        <a:ea typeface="Cambria Math" panose="02040503050406030204" pitchFamily="18" charset="0"/>
                      </a:rPr>
                      <m:t>and</m:t>
                    </m:r>
                    <m:r>
                      <m:rPr>
                        <m:nor/>
                      </m:rPr>
                      <a:rPr lang="en-US">
                        <a:ea typeface="Cambria Math" panose="02040503050406030204" pitchFamily="18" charset="0"/>
                      </a:rPr>
                      <m:t> </m:t>
                    </m:r>
                    <m:r>
                      <m:rPr>
                        <m:nor/>
                      </m:rPr>
                      <a:rPr lang="en-US">
                        <a:ea typeface="Cambria Math" panose="02040503050406030204" pitchFamily="18" charset="0"/>
                      </a:rPr>
                      <m:t>[¬</m:t>
                    </m:r>
                    <m:r>
                      <m:rPr>
                        <m:nor/>
                      </m:rPr>
                      <a:rPr lang="en-US">
                        <a:ea typeface="Cambria Math" panose="02040503050406030204" pitchFamily="18" charset="0"/>
                      </a:rPr>
                      <m:t>Loves</m:t>
                    </m:r>
                    <m:r>
                      <m:rPr>
                        <m:nor/>
                      </m:rPr>
                      <a:rPr lang="en-US">
                        <a:ea typeface="Cambria Math" panose="02040503050406030204" pitchFamily="18" charset="0"/>
                      </a:rPr>
                      <m:t>(</m:t>
                    </m:r>
                    <m:r>
                      <m:rPr>
                        <m:nor/>
                      </m:rPr>
                      <a:rPr lang="en-US">
                        <a:ea typeface="Cambria Math" panose="02040503050406030204" pitchFamily="18" charset="0"/>
                      </a:rPr>
                      <m:t>u</m:t>
                    </m:r>
                    <m:r>
                      <m:rPr>
                        <m:nor/>
                      </m:rPr>
                      <a:rPr lang="en-US">
                        <a:ea typeface="Cambria Math" panose="02040503050406030204" pitchFamily="18" charset="0"/>
                      </a:rPr>
                      <m:t>,</m:t>
                    </m:r>
                    <m:r>
                      <m:rPr>
                        <m:nor/>
                      </m:rPr>
                      <a:rPr lang="en-US">
                        <a:ea typeface="Cambria Math" panose="02040503050406030204" pitchFamily="18" charset="0"/>
                      </a:rPr>
                      <m:t>v</m:t>
                    </m:r>
                    <m:r>
                      <m:rPr>
                        <m:nor/>
                      </m:rPr>
                      <a:rPr lang="en-US">
                        <a:ea typeface="Cambria Math" panose="02040503050406030204" pitchFamily="18" charset="0"/>
                      </a:rPr>
                      <m:t>) </m:t>
                    </m:r>
                  </m:oMath>
                </a14:m>
                <a:r>
                  <a:rPr lang="en-US" dirty="0">
                    <a:ea typeface="Cambria Math" panose="02040503050406030204" pitchFamily="18" charset="0"/>
                  </a:rPr>
                  <a:t>with unifier </a:t>
                </a:r>
                <a14:m>
                  <m:oMath xmlns:m="http://schemas.openxmlformats.org/officeDocument/2006/math">
                    <m:r>
                      <a:rPr lang="en-US" b="0" i="1" smtClean="0">
                        <a:latin typeface="Cambria Math" panose="02040503050406030204" pitchFamily="18" charset="0"/>
                        <a:ea typeface="Cambria Math" panose="02040503050406030204" pitchFamily="18" charset="0"/>
                      </a:rPr>
                      <m:t>𝜃</m:t>
                    </m:r>
                    <m:r>
                      <a:rPr lang="en-US" b="0" i="1" smtClean="0">
                        <a:latin typeface="Cambria Math" panose="02040503050406030204" pitchFamily="18" charset="0"/>
                        <a:ea typeface="Cambria Math" panose="02040503050406030204" pitchFamily="18" charset="0"/>
                      </a:rPr>
                      <m:t>=</m:t>
                    </m:r>
                    <m:d>
                      <m:dPr>
                        <m:begChr m:val="{"/>
                        <m:endChr m:val="}"/>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𝑢</m:t>
                        </m:r>
                        <m:r>
                          <m:rPr>
                            <m:lit/>
                          </m:rP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𝐺</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𝑥</m:t>
                            </m:r>
                          </m:e>
                        </m:d>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𝑣</m:t>
                        </m:r>
                        <m:r>
                          <m:rPr>
                            <m:lit/>
                          </m:rP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𝑥</m:t>
                        </m:r>
                      </m:e>
                    </m:d>
                    <m:r>
                      <a:rPr lang="en-US" b="0" i="1" smtClean="0">
                        <a:latin typeface="Cambria Math" panose="02040503050406030204" pitchFamily="18" charset="0"/>
                        <a:ea typeface="Cambria Math" panose="02040503050406030204" pitchFamily="18" charset="0"/>
                      </a:rPr>
                      <m:t>,</m:t>
                    </m:r>
                  </m:oMath>
                </a14:m>
                <a:r>
                  <a:rPr lang="en-US" dirty="0">
                    <a:ea typeface="Cambria Math" panose="02040503050406030204" pitchFamily="18" charset="0"/>
                  </a:rPr>
                  <a:t> to produce the resolvent clause</a:t>
                </a:r>
                <a:br>
                  <a:rPr lang="en-US" dirty="0">
                    <a:ea typeface="Cambria Math" panose="02040503050406030204" pitchFamily="18" charset="0"/>
                  </a:rPr>
                </a:br>
                <a14:m>
                  <m:oMathPara xmlns:m="http://schemas.openxmlformats.org/officeDocument/2006/math">
                    <m:oMathParaPr>
                      <m:jc m:val="centerGroup"/>
                    </m:oMathParaPr>
                    <m:oMath xmlns:m="http://schemas.openxmlformats.org/officeDocument/2006/math">
                      <m:r>
                        <m:rPr>
                          <m:nor/>
                        </m:rPr>
                        <a:rPr lang="en-US"/>
                        <m:t>[</m:t>
                      </m:r>
                      <m:r>
                        <m:rPr>
                          <m:nor/>
                        </m:rPr>
                        <a:rPr lang="en-US"/>
                        <m:t>Animal</m:t>
                      </m:r>
                      <m:r>
                        <m:rPr>
                          <m:nor/>
                        </m:rPr>
                        <a:rPr lang="en-US"/>
                        <m:t>(</m:t>
                      </m:r>
                      <m:r>
                        <m:rPr>
                          <m:nor/>
                        </m:rPr>
                        <a:rPr lang="en-US"/>
                        <m:t>F</m:t>
                      </m:r>
                      <m:r>
                        <m:rPr>
                          <m:nor/>
                        </m:rPr>
                        <a:rPr lang="en-US"/>
                        <m:t>(</m:t>
                      </m:r>
                      <m:r>
                        <m:rPr>
                          <m:nor/>
                        </m:rPr>
                        <a:rPr lang="en-US"/>
                        <m:t>x</m:t>
                      </m:r>
                      <m:r>
                        <m:rPr>
                          <m:nor/>
                        </m:rPr>
                        <a:rPr lang="en-US"/>
                        <m:t>)) </m:t>
                      </m:r>
                      <m:r>
                        <m:rPr>
                          <m:nor/>
                        </m:rPr>
                        <a:rPr lang="en-US"/>
                        <m:t>∨</m:t>
                      </m:r>
                      <m:r>
                        <m:rPr>
                          <m:nor/>
                        </m:rPr>
                        <a:rPr lang="en-US"/>
                        <m:t>¬</m:t>
                      </m:r>
                      <m:r>
                        <m:rPr>
                          <m:nor/>
                        </m:rPr>
                        <a:rPr lang="en-US"/>
                        <m:t>Kills</m:t>
                      </m:r>
                      <m:r>
                        <m:rPr>
                          <m:nor/>
                        </m:rPr>
                        <a:rPr lang="en-US"/>
                        <m:t>(</m:t>
                      </m:r>
                      <m:r>
                        <m:rPr>
                          <m:nor/>
                        </m:rPr>
                        <a:rPr lang="en-US"/>
                        <m:t>G</m:t>
                      </m:r>
                      <m:r>
                        <m:rPr>
                          <m:nor/>
                        </m:rPr>
                        <a:rPr lang="en-US"/>
                        <m:t>(</m:t>
                      </m:r>
                      <m:r>
                        <m:rPr>
                          <m:nor/>
                        </m:rPr>
                        <a:rPr lang="en-US"/>
                        <m:t>x</m:t>
                      </m:r>
                      <m:r>
                        <m:rPr>
                          <m:nor/>
                        </m:rPr>
                        <a:rPr lang="en-US"/>
                        <m:t>),</m:t>
                      </m:r>
                      <m:r>
                        <m:rPr>
                          <m:nor/>
                        </m:rPr>
                        <a:rPr lang="en-US"/>
                        <m:t>x</m:t>
                      </m:r>
                      <m:r>
                        <m:rPr>
                          <m:nor/>
                        </m:rPr>
                        <a:rPr lang="en-US"/>
                        <m:t>)]</m:t>
                      </m:r>
                    </m:oMath>
                  </m:oMathPara>
                </a14:m>
                <a:endParaRPr lang="en-US" dirty="0">
                  <a:ea typeface="Cambria Math" panose="02040503050406030204" pitchFamily="18" charset="0"/>
                </a:endParaRPr>
              </a:p>
              <a:p>
                <a:r>
                  <a:rPr lang="en-US" dirty="0">
                    <a:latin typeface="Cambria Math" panose="02040503050406030204" pitchFamily="18" charset="0"/>
                    <a:ea typeface="Cambria Math" panose="02040503050406030204" pitchFamily="18" charset="0"/>
                  </a:rPr>
                  <a:t>This is binary resolution.</a:t>
                </a:r>
              </a:p>
              <a:p>
                <a:pPr lvl="1"/>
                <a:r>
                  <a:rPr lang="en-US" dirty="0">
                    <a:latin typeface="Cambria Math" panose="02040503050406030204" pitchFamily="18" charset="0"/>
                    <a:ea typeface="Cambria Math" panose="02040503050406030204" pitchFamily="18" charset="0"/>
                  </a:rPr>
                  <a:t>Resolves only two literals.</a:t>
                </a:r>
              </a:p>
              <a:p>
                <a:r>
                  <a:rPr lang="en-US" dirty="0">
                    <a:latin typeface="Cambria Math" panose="02040503050406030204" pitchFamily="18" charset="0"/>
                    <a:ea typeface="Cambria Math" panose="02040503050406030204" pitchFamily="18" charset="0"/>
                  </a:rPr>
                  <a:t>Full resolution can resolve subset of clauses.</a:t>
                </a:r>
              </a:p>
            </p:txBody>
          </p:sp>
        </mc:Choice>
        <mc:Fallback xmlns="">
          <p:sp>
            <p:nvSpPr>
              <p:cNvPr id="3" name="Content Placeholder 2">
                <a:extLst>
                  <a:ext uri="{FF2B5EF4-FFF2-40B4-BE49-F238E27FC236}">
                    <a16:creationId xmlns:a16="http://schemas.microsoft.com/office/drawing/2014/main" id="{90C16ED3-CC28-DBA3-730B-DE64A31DBCBC}"/>
                  </a:ext>
                </a:extLst>
              </p:cNvPr>
              <p:cNvSpPr>
                <a:spLocks noGrp="1" noRot="1" noChangeAspect="1" noMove="1" noResize="1" noEditPoints="1" noAdjustHandles="1" noChangeArrowheads="1" noChangeShapeType="1" noTextEdit="1"/>
              </p:cNvSpPr>
              <p:nvPr>
                <p:ph idx="1"/>
              </p:nvPr>
            </p:nvSpPr>
            <p:spPr>
              <a:blipFill>
                <a:blip r:embed="rId2"/>
                <a:stretch>
                  <a:fillRect l="-1217" t="-2381"/>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B1C2A399-8976-024B-546F-34F2F8A22CF3}"/>
              </a:ext>
            </a:extLst>
          </p:cNvPr>
          <p:cNvSpPr>
            <a:spLocks noGrp="1"/>
          </p:cNvSpPr>
          <p:nvPr>
            <p:ph type="dt" sz="half" idx="10"/>
          </p:nvPr>
        </p:nvSpPr>
        <p:spPr/>
        <p:txBody>
          <a:bodyPr/>
          <a:lstStyle/>
          <a:p>
            <a:fld id="{1332600A-A7B8-4674-AAE3-A37177B883E5}" type="datetime1">
              <a:rPr lang="en-GB" smtClean="0"/>
              <a:t>20/10/2025</a:t>
            </a:fld>
            <a:endParaRPr lang="en-GB"/>
          </a:p>
        </p:txBody>
      </p:sp>
      <p:sp>
        <p:nvSpPr>
          <p:cNvPr id="5" name="Slide Number Placeholder 4">
            <a:extLst>
              <a:ext uri="{FF2B5EF4-FFF2-40B4-BE49-F238E27FC236}">
                <a16:creationId xmlns:a16="http://schemas.microsoft.com/office/drawing/2014/main" id="{FE285260-4B18-9120-7741-26E535DC4AA2}"/>
              </a:ext>
            </a:extLst>
          </p:cNvPr>
          <p:cNvSpPr>
            <a:spLocks noGrp="1"/>
          </p:cNvSpPr>
          <p:nvPr>
            <p:ph type="sldNum" sz="quarter" idx="12"/>
          </p:nvPr>
        </p:nvSpPr>
        <p:spPr/>
        <p:txBody>
          <a:bodyPr/>
          <a:lstStyle/>
          <a:p>
            <a:fld id="{9EB268CF-8001-41B5-ADCD-92A7738D3D9B}" type="slidenum">
              <a:rPr lang="en-GB" smtClean="0"/>
              <a:t>51</a:t>
            </a:fld>
            <a:endParaRPr lang="en-GB"/>
          </a:p>
        </p:txBody>
      </p:sp>
    </p:spTree>
    <p:extLst>
      <p:ext uri="{BB962C8B-B14F-4D97-AF65-F5344CB8AC3E}">
        <p14:creationId xmlns:p14="http://schemas.microsoft.com/office/powerpoint/2010/main" val="302813858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342318-D702-E70A-96D0-A180BDF072B5}"/>
              </a:ext>
            </a:extLst>
          </p:cNvPr>
          <p:cNvSpPr>
            <a:spLocks noGrp="1"/>
          </p:cNvSpPr>
          <p:nvPr>
            <p:ph type="title"/>
          </p:nvPr>
        </p:nvSpPr>
        <p:spPr/>
        <p:txBody>
          <a:bodyPr/>
          <a:lstStyle/>
          <a:p>
            <a:r>
              <a:rPr lang="en-US" dirty="0"/>
              <a:t>The Resolution Inference Rule</a:t>
            </a:r>
          </a:p>
        </p:txBody>
      </p:sp>
      <p:sp>
        <p:nvSpPr>
          <p:cNvPr id="3" name="Content Placeholder 2">
            <a:extLst>
              <a:ext uri="{FF2B5EF4-FFF2-40B4-BE49-F238E27FC236}">
                <a16:creationId xmlns:a16="http://schemas.microsoft.com/office/drawing/2014/main" id="{E7C0ED6F-4304-5D3F-B030-3615A0EE2E75}"/>
              </a:ext>
            </a:extLst>
          </p:cNvPr>
          <p:cNvSpPr>
            <a:spLocks noGrp="1"/>
          </p:cNvSpPr>
          <p:nvPr>
            <p:ph idx="1"/>
          </p:nvPr>
        </p:nvSpPr>
        <p:spPr/>
        <p:txBody>
          <a:bodyPr/>
          <a:lstStyle/>
          <a:p>
            <a:r>
              <a:rPr lang="en-US" dirty="0"/>
              <a:t>An alternative approach is to extend factoring.</a:t>
            </a:r>
          </a:p>
          <a:p>
            <a:r>
              <a:rPr lang="en-US" dirty="0"/>
              <a:t>First-order factoring reduces two literals if they are unifiable.</a:t>
            </a:r>
          </a:p>
        </p:txBody>
      </p:sp>
      <p:sp>
        <p:nvSpPr>
          <p:cNvPr id="4" name="Date Placeholder 3">
            <a:extLst>
              <a:ext uri="{FF2B5EF4-FFF2-40B4-BE49-F238E27FC236}">
                <a16:creationId xmlns:a16="http://schemas.microsoft.com/office/drawing/2014/main" id="{419D52B1-F4CC-3273-9CCE-242C8DEA41A2}"/>
              </a:ext>
            </a:extLst>
          </p:cNvPr>
          <p:cNvSpPr>
            <a:spLocks noGrp="1"/>
          </p:cNvSpPr>
          <p:nvPr>
            <p:ph type="dt" sz="half" idx="10"/>
          </p:nvPr>
        </p:nvSpPr>
        <p:spPr/>
        <p:txBody>
          <a:bodyPr/>
          <a:lstStyle/>
          <a:p>
            <a:fld id="{1332600A-A7B8-4674-AAE3-A37177B883E5}" type="datetime1">
              <a:rPr lang="en-GB" smtClean="0"/>
              <a:t>20/10/2025</a:t>
            </a:fld>
            <a:endParaRPr lang="en-GB"/>
          </a:p>
        </p:txBody>
      </p:sp>
      <p:sp>
        <p:nvSpPr>
          <p:cNvPr id="5" name="Slide Number Placeholder 4">
            <a:extLst>
              <a:ext uri="{FF2B5EF4-FFF2-40B4-BE49-F238E27FC236}">
                <a16:creationId xmlns:a16="http://schemas.microsoft.com/office/drawing/2014/main" id="{2C3C107F-8A9E-AB05-3A6E-D018C5F55B5A}"/>
              </a:ext>
            </a:extLst>
          </p:cNvPr>
          <p:cNvSpPr>
            <a:spLocks noGrp="1"/>
          </p:cNvSpPr>
          <p:nvPr>
            <p:ph type="sldNum" sz="quarter" idx="12"/>
          </p:nvPr>
        </p:nvSpPr>
        <p:spPr/>
        <p:txBody>
          <a:bodyPr/>
          <a:lstStyle/>
          <a:p>
            <a:fld id="{9EB268CF-8001-41B5-ADCD-92A7738D3D9B}" type="slidenum">
              <a:rPr lang="en-GB" smtClean="0"/>
              <a:t>52</a:t>
            </a:fld>
            <a:endParaRPr lang="en-GB"/>
          </a:p>
        </p:txBody>
      </p:sp>
    </p:spTree>
    <p:extLst>
      <p:ext uri="{BB962C8B-B14F-4D97-AF65-F5344CB8AC3E}">
        <p14:creationId xmlns:p14="http://schemas.microsoft.com/office/powerpoint/2010/main" val="405078107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2591DD-53A3-DF0B-6925-A7A74BBD2536}"/>
              </a:ext>
            </a:extLst>
          </p:cNvPr>
          <p:cNvSpPr>
            <a:spLocks noGrp="1"/>
          </p:cNvSpPr>
          <p:nvPr>
            <p:ph type="title"/>
          </p:nvPr>
        </p:nvSpPr>
        <p:spPr/>
        <p:txBody>
          <a:bodyPr/>
          <a:lstStyle/>
          <a:p>
            <a:r>
              <a:rPr lang="en-US" dirty="0"/>
              <a:t>Example Proof</a:t>
            </a:r>
          </a:p>
        </p:txBody>
      </p:sp>
      <p:sp>
        <p:nvSpPr>
          <p:cNvPr id="3" name="Content Placeholder 2">
            <a:extLst>
              <a:ext uri="{FF2B5EF4-FFF2-40B4-BE49-F238E27FC236}">
                <a16:creationId xmlns:a16="http://schemas.microsoft.com/office/drawing/2014/main" id="{12235ABD-B0F3-9B63-9670-6A3B6B3D1E3E}"/>
              </a:ext>
            </a:extLst>
          </p:cNvPr>
          <p:cNvSpPr>
            <a:spLocks noGrp="1"/>
          </p:cNvSpPr>
          <p:nvPr>
            <p:ph idx="1"/>
          </p:nvPr>
        </p:nvSpPr>
        <p:spPr/>
        <p:txBody>
          <a:bodyPr/>
          <a:lstStyle/>
          <a:p>
            <a:r>
              <a:rPr lang="en-US" dirty="0"/>
              <a:t>Resolution proves that KB |= α by proving KB ∧¬α unsatisfiable, that is, by deriving the empty clause.</a:t>
            </a:r>
          </a:p>
          <a:p>
            <a:r>
              <a:rPr lang="en-US" dirty="0"/>
              <a:t>Consider the crime example.</a:t>
            </a:r>
          </a:p>
          <a:p>
            <a:r>
              <a:rPr lang="en-US" dirty="0"/>
              <a:t>We first convert the sentences to CNF.</a:t>
            </a:r>
          </a:p>
        </p:txBody>
      </p:sp>
      <p:sp>
        <p:nvSpPr>
          <p:cNvPr id="4" name="Date Placeholder 3">
            <a:extLst>
              <a:ext uri="{FF2B5EF4-FFF2-40B4-BE49-F238E27FC236}">
                <a16:creationId xmlns:a16="http://schemas.microsoft.com/office/drawing/2014/main" id="{7202CF75-FF9A-FA5B-071E-804B71BA50CB}"/>
              </a:ext>
            </a:extLst>
          </p:cNvPr>
          <p:cNvSpPr>
            <a:spLocks noGrp="1"/>
          </p:cNvSpPr>
          <p:nvPr>
            <p:ph type="dt" sz="half" idx="10"/>
          </p:nvPr>
        </p:nvSpPr>
        <p:spPr/>
        <p:txBody>
          <a:bodyPr/>
          <a:lstStyle/>
          <a:p>
            <a:fld id="{1332600A-A7B8-4674-AAE3-A37177B883E5}" type="datetime1">
              <a:rPr lang="en-GB" smtClean="0"/>
              <a:t>20/10/2025</a:t>
            </a:fld>
            <a:endParaRPr lang="en-GB"/>
          </a:p>
        </p:txBody>
      </p:sp>
      <p:sp>
        <p:nvSpPr>
          <p:cNvPr id="5" name="Slide Number Placeholder 4">
            <a:extLst>
              <a:ext uri="{FF2B5EF4-FFF2-40B4-BE49-F238E27FC236}">
                <a16:creationId xmlns:a16="http://schemas.microsoft.com/office/drawing/2014/main" id="{C965B50A-4F28-5D98-3DA4-08C7FC22C1FB}"/>
              </a:ext>
            </a:extLst>
          </p:cNvPr>
          <p:cNvSpPr>
            <a:spLocks noGrp="1"/>
          </p:cNvSpPr>
          <p:nvPr>
            <p:ph type="sldNum" sz="quarter" idx="12"/>
          </p:nvPr>
        </p:nvSpPr>
        <p:spPr/>
        <p:txBody>
          <a:bodyPr/>
          <a:lstStyle/>
          <a:p>
            <a:fld id="{9EB268CF-8001-41B5-ADCD-92A7738D3D9B}" type="slidenum">
              <a:rPr lang="en-GB" smtClean="0"/>
              <a:t>53</a:t>
            </a:fld>
            <a:endParaRPr lang="en-GB"/>
          </a:p>
        </p:txBody>
      </p:sp>
    </p:spTree>
    <p:extLst>
      <p:ext uri="{BB962C8B-B14F-4D97-AF65-F5344CB8AC3E}">
        <p14:creationId xmlns:p14="http://schemas.microsoft.com/office/powerpoint/2010/main" val="338283620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14920D-CFA4-CCE1-3DBE-F5A2E2B4E01D}"/>
              </a:ext>
            </a:extLst>
          </p:cNvPr>
          <p:cNvSpPr>
            <a:spLocks noGrp="1"/>
          </p:cNvSpPr>
          <p:nvPr>
            <p:ph type="title"/>
          </p:nvPr>
        </p:nvSpPr>
        <p:spPr/>
        <p:txBody>
          <a:bodyPr/>
          <a:lstStyle/>
          <a:p>
            <a:r>
              <a:rPr lang="en-US" dirty="0"/>
              <a:t>CNFs for Criminal Example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4C4D025-7A9A-B754-E03E-475D66052CA0}"/>
                  </a:ext>
                </a:extLst>
              </p:cNvPr>
              <p:cNvSpPr>
                <a:spLocks noGrp="1"/>
              </p:cNvSpPr>
              <p:nvPr>
                <p:ph idx="1"/>
              </p:nvPr>
            </p:nvSpPr>
            <p:spPr>
              <a:xfrm>
                <a:off x="257175" y="1825625"/>
                <a:ext cx="11706225" cy="4351338"/>
              </a:xfrm>
            </p:spPr>
            <p:txBody>
              <a:bodyPr>
                <a:normAutofit/>
              </a:bodyPr>
              <a:lstStyle/>
              <a:p>
                <a:pPr marL="0" indent="0">
                  <a:buNone/>
                </a:pPr>
                <a14:m>
                  <m:oMathPara xmlns:m="http://schemas.openxmlformats.org/officeDocument/2006/math">
                    <m:oMathParaPr>
                      <m:jc m:val="centerGroup"/>
                    </m:oMathParaPr>
                    <m:oMath xmlns:m="http://schemas.openxmlformats.org/officeDocument/2006/math">
                      <m:r>
                        <a:rPr lang="en-US" sz="2400" i="1" smtClean="0">
                          <a:latin typeface="Cambria Math" panose="02040503050406030204" pitchFamily="18" charset="0"/>
                        </a:rPr>
                        <m:t>¬</m:t>
                      </m:r>
                      <m:r>
                        <a:rPr lang="en-US" sz="2400" i="1" smtClean="0">
                          <a:latin typeface="Cambria Math" panose="02040503050406030204" pitchFamily="18" charset="0"/>
                        </a:rPr>
                        <m:t>𝐴𝑚𝑒𝑟𝑖𝑐𝑎𝑛</m:t>
                      </m:r>
                      <m:d>
                        <m:dPr>
                          <m:ctrlPr>
                            <a:rPr lang="en-US" sz="2400" i="1" smtClean="0">
                              <a:latin typeface="Cambria Math" panose="02040503050406030204" pitchFamily="18" charset="0"/>
                            </a:rPr>
                          </m:ctrlPr>
                        </m:dPr>
                        <m:e>
                          <m:r>
                            <a:rPr lang="en-US" sz="2400" i="1" smtClean="0">
                              <a:latin typeface="Cambria Math" panose="02040503050406030204" pitchFamily="18" charset="0"/>
                            </a:rPr>
                            <m:t>𝑥</m:t>
                          </m:r>
                        </m:e>
                      </m:d>
                      <m:r>
                        <a:rPr lang="en-US" sz="2400" i="1" smtClean="0">
                          <a:latin typeface="Cambria Math" panose="02040503050406030204" pitchFamily="18" charset="0"/>
                        </a:rPr>
                        <m:t>∨ ¬</m:t>
                      </m:r>
                      <m:r>
                        <a:rPr lang="en-US" sz="2400" i="1" smtClean="0">
                          <a:latin typeface="Cambria Math" panose="02040503050406030204" pitchFamily="18" charset="0"/>
                        </a:rPr>
                        <m:t>𝑊𝑒𝑎𝑝𝑜𝑛</m:t>
                      </m:r>
                      <m:d>
                        <m:dPr>
                          <m:ctrlPr>
                            <a:rPr lang="en-US" sz="2400" i="1" smtClean="0">
                              <a:latin typeface="Cambria Math" panose="02040503050406030204" pitchFamily="18" charset="0"/>
                            </a:rPr>
                          </m:ctrlPr>
                        </m:dPr>
                        <m:e>
                          <m:r>
                            <a:rPr lang="en-US" sz="2400" i="1" smtClean="0">
                              <a:latin typeface="Cambria Math" panose="02040503050406030204" pitchFamily="18" charset="0"/>
                            </a:rPr>
                            <m:t>𝑦</m:t>
                          </m:r>
                        </m:e>
                      </m:d>
                      <m:r>
                        <a:rPr lang="en-US" sz="2400" i="1" smtClean="0">
                          <a:latin typeface="Cambria Math" panose="02040503050406030204" pitchFamily="18" charset="0"/>
                        </a:rPr>
                        <m:t>∨ ¬</m:t>
                      </m:r>
                      <m:r>
                        <a:rPr lang="en-US" sz="2400" i="1" smtClean="0">
                          <a:latin typeface="Cambria Math" panose="02040503050406030204" pitchFamily="18" charset="0"/>
                        </a:rPr>
                        <m:t>𝑆𝑒𝑙𝑙𝑠</m:t>
                      </m:r>
                      <m:d>
                        <m:dPr>
                          <m:ctrlPr>
                            <a:rPr lang="en-US" sz="2400" i="1" smtClean="0">
                              <a:latin typeface="Cambria Math" panose="02040503050406030204" pitchFamily="18" charset="0"/>
                            </a:rPr>
                          </m:ctrlPr>
                        </m:dPr>
                        <m:e>
                          <m:r>
                            <a:rPr lang="en-US" sz="2400" i="1" smtClean="0">
                              <a:latin typeface="Cambria Math" panose="02040503050406030204" pitchFamily="18" charset="0"/>
                            </a:rPr>
                            <m:t>𝑥</m:t>
                          </m:r>
                          <m:r>
                            <a:rPr lang="en-US" sz="2400" i="1" smtClean="0">
                              <a:latin typeface="Cambria Math" panose="02040503050406030204" pitchFamily="18" charset="0"/>
                            </a:rPr>
                            <m:t>, </m:t>
                          </m:r>
                          <m:r>
                            <a:rPr lang="en-US" sz="2400" i="1" smtClean="0">
                              <a:latin typeface="Cambria Math" panose="02040503050406030204" pitchFamily="18" charset="0"/>
                            </a:rPr>
                            <m:t>𝑦</m:t>
                          </m:r>
                          <m:r>
                            <a:rPr lang="en-US" sz="2400" i="1" smtClean="0">
                              <a:latin typeface="Cambria Math" panose="02040503050406030204" pitchFamily="18" charset="0"/>
                            </a:rPr>
                            <m:t>, </m:t>
                          </m:r>
                          <m:r>
                            <a:rPr lang="en-US" sz="2400" i="1" smtClean="0">
                              <a:latin typeface="Cambria Math" panose="02040503050406030204" pitchFamily="18" charset="0"/>
                            </a:rPr>
                            <m:t>𝑧</m:t>
                          </m:r>
                        </m:e>
                      </m:d>
                      <m:r>
                        <a:rPr lang="en-US" sz="2400" i="1" smtClean="0">
                          <a:latin typeface="Cambria Math" panose="02040503050406030204" pitchFamily="18" charset="0"/>
                        </a:rPr>
                        <m:t>∨ ¬</m:t>
                      </m:r>
                      <m:r>
                        <a:rPr lang="en-US" sz="2400" i="1" smtClean="0">
                          <a:latin typeface="Cambria Math" panose="02040503050406030204" pitchFamily="18" charset="0"/>
                        </a:rPr>
                        <m:t>𝐻𝑜𝑠𝑡𝑖𝑙𝑒</m:t>
                      </m:r>
                      <m:d>
                        <m:dPr>
                          <m:ctrlPr>
                            <a:rPr lang="en-US" sz="2400" i="1" smtClean="0">
                              <a:latin typeface="Cambria Math" panose="02040503050406030204" pitchFamily="18" charset="0"/>
                            </a:rPr>
                          </m:ctrlPr>
                        </m:dPr>
                        <m:e>
                          <m:r>
                            <a:rPr lang="en-US" sz="2400" i="1" smtClean="0">
                              <a:latin typeface="Cambria Math" panose="02040503050406030204" pitchFamily="18" charset="0"/>
                            </a:rPr>
                            <m:t>𝑧</m:t>
                          </m:r>
                        </m:e>
                      </m:d>
                      <m:r>
                        <a:rPr lang="en-US" sz="2400" i="1" smtClean="0">
                          <a:latin typeface="Cambria Math" panose="02040503050406030204" pitchFamily="18" charset="0"/>
                        </a:rPr>
                        <m:t>∨ </m:t>
                      </m:r>
                      <m:r>
                        <a:rPr lang="en-US" sz="2400" i="1" smtClean="0">
                          <a:latin typeface="Cambria Math" panose="02040503050406030204" pitchFamily="18" charset="0"/>
                        </a:rPr>
                        <m:t>𝐶𝑟𝑖𝑚𝑖𝑛𝑎𝑙</m:t>
                      </m:r>
                      <m:r>
                        <a:rPr lang="en-US" sz="2400" i="1" smtClean="0">
                          <a:latin typeface="Cambria Math" panose="02040503050406030204" pitchFamily="18" charset="0"/>
                        </a:rPr>
                        <m:t> </m:t>
                      </m:r>
                      <m:d>
                        <m:dPr>
                          <m:ctrlPr>
                            <a:rPr lang="en-US" sz="2400" i="1" smtClean="0">
                              <a:latin typeface="Cambria Math" panose="02040503050406030204" pitchFamily="18" charset="0"/>
                            </a:rPr>
                          </m:ctrlPr>
                        </m:dPr>
                        <m:e>
                          <m:r>
                            <a:rPr lang="en-US" sz="2400" i="1">
                              <a:latin typeface="Cambria Math" panose="02040503050406030204" pitchFamily="18" charset="0"/>
                            </a:rPr>
                            <m:t>𝑥</m:t>
                          </m:r>
                        </m:e>
                      </m:d>
                    </m:oMath>
                  </m:oMathPara>
                </a14:m>
                <a:endParaRPr lang="en-US" sz="240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m:t>
                      </m:r>
                      <m:r>
                        <a:rPr lang="en-US" i="1">
                          <a:latin typeface="Cambria Math" panose="02040503050406030204" pitchFamily="18" charset="0"/>
                        </a:rPr>
                        <m:t>𝑀𝑖𝑠𝑠𝑖𝑙𝑒</m:t>
                      </m:r>
                      <m:d>
                        <m:dPr>
                          <m:ctrlPr>
                            <a:rPr lang="en-US" i="1">
                              <a:latin typeface="Cambria Math" panose="02040503050406030204" pitchFamily="18" charset="0"/>
                            </a:rPr>
                          </m:ctrlPr>
                        </m:dPr>
                        <m:e>
                          <m:r>
                            <a:rPr lang="en-US" i="1">
                              <a:latin typeface="Cambria Math" panose="02040503050406030204" pitchFamily="18" charset="0"/>
                            </a:rPr>
                            <m:t>𝑥</m:t>
                          </m:r>
                        </m:e>
                      </m:d>
                      <m:r>
                        <a:rPr lang="en-US" i="1">
                          <a:latin typeface="Cambria Math" panose="02040503050406030204" pitchFamily="18" charset="0"/>
                        </a:rPr>
                        <m:t>∨ ¬</m:t>
                      </m:r>
                      <m:r>
                        <a:rPr lang="en-US" i="1">
                          <a:latin typeface="Cambria Math" panose="02040503050406030204" pitchFamily="18" charset="0"/>
                        </a:rPr>
                        <m:t>𝑂𝑤𝑛𝑠</m:t>
                      </m:r>
                      <m:d>
                        <m:dPr>
                          <m:ctrlPr>
                            <a:rPr lang="en-US" i="1">
                              <a:latin typeface="Cambria Math" panose="02040503050406030204" pitchFamily="18" charset="0"/>
                            </a:rPr>
                          </m:ctrlPr>
                        </m:dPr>
                        <m:e>
                          <m:r>
                            <a:rPr lang="en-US" b="0" i="1" smtClean="0">
                              <a:latin typeface="Cambria Math" panose="02040503050406030204" pitchFamily="18" charset="0"/>
                            </a:rPr>
                            <m:t>𝑅𝑢𝑠</m:t>
                          </m:r>
                          <m:r>
                            <a:rPr lang="en-US" b="0" i="1" smtClean="0">
                              <a:latin typeface="Cambria Math" panose="02040503050406030204" pitchFamily="18" charset="0"/>
                            </a:rPr>
                            <m:t>h</m:t>
                          </m:r>
                          <m:r>
                            <a:rPr lang="en-US" b="0" i="1" smtClean="0">
                              <a:latin typeface="Cambria Math" panose="02040503050406030204" pitchFamily="18" charset="0"/>
                            </a:rPr>
                            <m:t>𝑎</m:t>
                          </m:r>
                          <m:r>
                            <a:rPr lang="en-US" i="1">
                              <a:latin typeface="Cambria Math" panose="02040503050406030204" pitchFamily="18" charset="0"/>
                            </a:rPr>
                            <m:t>, </m:t>
                          </m:r>
                          <m:r>
                            <a:rPr lang="en-US" i="1">
                              <a:latin typeface="Cambria Math" panose="02040503050406030204" pitchFamily="18" charset="0"/>
                            </a:rPr>
                            <m:t>𝑥</m:t>
                          </m:r>
                        </m:e>
                      </m:d>
                      <m:r>
                        <a:rPr lang="en-US" i="1">
                          <a:latin typeface="Cambria Math" panose="02040503050406030204" pitchFamily="18" charset="0"/>
                        </a:rPr>
                        <m:t>∨ </m:t>
                      </m:r>
                      <m:r>
                        <a:rPr lang="en-US" i="1">
                          <a:latin typeface="Cambria Math" panose="02040503050406030204" pitchFamily="18" charset="0"/>
                        </a:rPr>
                        <m:t>𝑆𝑒𝑙𝑙𝑠</m:t>
                      </m:r>
                      <m:d>
                        <m:dPr>
                          <m:ctrlPr>
                            <a:rPr lang="en-US" i="1">
                              <a:latin typeface="Cambria Math" panose="02040503050406030204" pitchFamily="18" charset="0"/>
                            </a:rPr>
                          </m:ctrlPr>
                        </m:dPr>
                        <m:e>
                          <m:r>
                            <a:rPr lang="en-US" i="1">
                              <a:latin typeface="Cambria Math" panose="02040503050406030204" pitchFamily="18" charset="0"/>
                            </a:rPr>
                            <m:t>𝑊𝑒𝑠𝑡</m:t>
                          </m:r>
                          <m:r>
                            <a:rPr lang="en-US" i="1">
                              <a:latin typeface="Cambria Math" panose="02040503050406030204" pitchFamily="18" charset="0"/>
                            </a:rPr>
                            <m:t>, </m:t>
                          </m:r>
                          <m:r>
                            <a:rPr lang="en-US" i="1">
                              <a:latin typeface="Cambria Math" panose="02040503050406030204" pitchFamily="18" charset="0"/>
                            </a:rPr>
                            <m:t>𝑥</m:t>
                          </m:r>
                          <m:r>
                            <a:rPr lang="en-US" i="1">
                              <a:latin typeface="Cambria Math" panose="02040503050406030204" pitchFamily="18" charset="0"/>
                            </a:rPr>
                            <m:t>, </m:t>
                          </m:r>
                          <m:r>
                            <a:rPr lang="en-US" b="0" i="1" smtClean="0">
                              <a:latin typeface="Cambria Math" panose="02040503050406030204" pitchFamily="18" charset="0"/>
                            </a:rPr>
                            <m:t>𝑅𝑢𝑠</m:t>
                          </m:r>
                          <m:r>
                            <a:rPr lang="en-US" b="0" i="1" smtClean="0">
                              <a:latin typeface="Cambria Math" panose="02040503050406030204" pitchFamily="18" charset="0"/>
                            </a:rPr>
                            <m:t>h</m:t>
                          </m:r>
                          <m:r>
                            <a:rPr lang="en-US" b="0" i="1" smtClean="0">
                              <a:latin typeface="Cambria Math" panose="02040503050406030204" pitchFamily="18" charset="0"/>
                            </a:rPr>
                            <m:t>𝑎</m:t>
                          </m:r>
                        </m:e>
                      </m:d>
                    </m:oMath>
                  </m:oMathPara>
                </a14:m>
                <a:endParaRPr lang="en-US"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m:t>
                      </m:r>
                      <m:r>
                        <a:rPr lang="en-US" i="1">
                          <a:latin typeface="Cambria Math" panose="02040503050406030204" pitchFamily="18" charset="0"/>
                        </a:rPr>
                        <m:t>𝐸𝑛𝑒𝑚𝑦</m:t>
                      </m:r>
                      <m:d>
                        <m:dPr>
                          <m:ctrlPr>
                            <a:rPr lang="en-US" i="1">
                              <a:latin typeface="Cambria Math" panose="02040503050406030204" pitchFamily="18" charset="0"/>
                            </a:rPr>
                          </m:ctrlPr>
                        </m:dPr>
                        <m:e>
                          <m:r>
                            <a:rPr lang="en-US" i="1">
                              <a:latin typeface="Cambria Math" panose="02040503050406030204" pitchFamily="18" charset="0"/>
                            </a:rPr>
                            <m:t>𝑥</m:t>
                          </m:r>
                          <m:r>
                            <a:rPr lang="en-US" i="1">
                              <a:latin typeface="Cambria Math" panose="02040503050406030204" pitchFamily="18" charset="0"/>
                            </a:rPr>
                            <m:t>, </m:t>
                          </m:r>
                          <m:r>
                            <a:rPr lang="en-US" i="1">
                              <a:latin typeface="Cambria Math" panose="02040503050406030204" pitchFamily="18" charset="0"/>
                            </a:rPr>
                            <m:t>𝐴𝑚𝑒𝑟𝑖𝑐𝑎</m:t>
                          </m:r>
                        </m:e>
                      </m:d>
                      <m:r>
                        <a:rPr lang="en-US" i="1">
                          <a:latin typeface="Cambria Math" panose="02040503050406030204" pitchFamily="18" charset="0"/>
                        </a:rPr>
                        <m:t>∨ </m:t>
                      </m:r>
                      <m:r>
                        <a:rPr lang="en-US" i="1">
                          <a:latin typeface="Cambria Math" panose="02040503050406030204" pitchFamily="18" charset="0"/>
                        </a:rPr>
                        <m:t>𝐻𝑜𝑠𝑡𝑖𝑙𝑒</m:t>
                      </m:r>
                      <m:d>
                        <m:dPr>
                          <m:ctrlPr>
                            <a:rPr lang="en-US" i="1">
                              <a:latin typeface="Cambria Math" panose="02040503050406030204" pitchFamily="18" charset="0"/>
                            </a:rPr>
                          </m:ctrlPr>
                        </m:dPr>
                        <m:e>
                          <m:r>
                            <a:rPr lang="en-US" i="1">
                              <a:latin typeface="Cambria Math" panose="02040503050406030204" pitchFamily="18" charset="0"/>
                            </a:rPr>
                            <m:t>𝑥</m:t>
                          </m:r>
                        </m:e>
                      </m:d>
                    </m:oMath>
                  </m:oMathPara>
                </a14:m>
                <a:endParaRPr lang="en-US"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m:t>
                      </m:r>
                      <m:r>
                        <a:rPr lang="en-US" i="1">
                          <a:latin typeface="Cambria Math" panose="02040503050406030204" pitchFamily="18" charset="0"/>
                        </a:rPr>
                        <m:t>𝑀𝑖𝑠𝑠𝑖𝑙𝑒</m:t>
                      </m:r>
                      <m:d>
                        <m:dPr>
                          <m:ctrlPr>
                            <a:rPr lang="en-US" i="1">
                              <a:latin typeface="Cambria Math" panose="02040503050406030204" pitchFamily="18" charset="0"/>
                            </a:rPr>
                          </m:ctrlPr>
                        </m:dPr>
                        <m:e>
                          <m:r>
                            <a:rPr lang="en-US" i="1">
                              <a:latin typeface="Cambria Math" panose="02040503050406030204" pitchFamily="18" charset="0"/>
                            </a:rPr>
                            <m:t>𝑥</m:t>
                          </m:r>
                        </m:e>
                      </m:d>
                      <m:r>
                        <a:rPr lang="en-US" i="1">
                          <a:latin typeface="Cambria Math" panose="02040503050406030204" pitchFamily="18" charset="0"/>
                        </a:rPr>
                        <m:t>∨ </m:t>
                      </m:r>
                      <m:r>
                        <a:rPr lang="en-US" i="1">
                          <a:latin typeface="Cambria Math" panose="02040503050406030204" pitchFamily="18" charset="0"/>
                        </a:rPr>
                        <m:t>𝑊𝑒𝑎𝑝𝑜𝑛</m:t>
                      </m:r>
                      <m:d>
                        <m:dPr>
                          <m:ctrlPr>
                            <a:rPr lang="en-US" i="1">
                              <a:latin typeface="Cambria Math" panose="02040503050406030204" pitchFamily="18" charset="0"/>
                            </a:rPr>
                          </m:ctrlPr>
                        </m:dPr>
                        <m:e>
                          <m:r>
                            <a:rPr lang="en-US" i="1">
                              <a:latin typeface="Cambria Math" panose="02040503050406030204" pitchFamily="18" charset="0"/>
                            </a:rPr>
                            <m:t>𝑥</m:t>
                          </m:r>
                        </m:e>
                      </m:d>
                    </m:oMath>
                  </m:oMathPara>
                </a14:m>
                <a:endParaRPr lang="en-US"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𝑂𝑤𝑛𝑠</m:t>
                      </m:r>
                      <m:d>
                        <m:dPr>
                          <m:ctrlPr>
                            <a:rPr lang="en-US" i="1">
                              <a:latin typeface="Cambria Math" panose="02040503050406030204" pitchFamily="18" charset="0"/>
                            </a:rPr>
                          </m:ctrlPr>
                        </m:dPr>
                        <m:e>
                          <m:r>
                            <a:rPr lang="en-US" b="0" i="1" smtClean="0">
                              <a:latin typeface="Cambria Math" panose="02040503050406030204" pitchFamily="18" charset="0"/>
                            </a:rPr>
                            <m:t>𝑅𝑢𝑠</m:t>
                          </m:r>
                          <m:r>
                            <a:rPr lang="en-US" b="0" i="1" smtClean="0">
                              <a:latin typeface="Cambria Math" panose="02040503050406030204" pitchFamily="18" charset="0"/>
                            </a:rPr>
                            <m:t>h</m:t>
                          </m:r>
                          <m:r>
                            <a:rPr lang="en-US" b="0" i="1" smtClean="0">
                              <a:latin typeface="Cambria Math" panose="02040503050406030204" pitchFamily="18" charset="0"/>
                            </a:rPr>
                            <m:t>𝑎</m:t>
                          </m:r>
                          <m:r>
                            <a:rPr lang="en-US" i="1">
                              <a:latin typeface="Cambria Math" panose="02040503050406030204" pitchFamily="18" charset="0"/>
                            </a:rPr>
                            <m:t>, </m:t>
                          </m:r>
                          <m:r>
                            <a:rPr lang="en-US" i="1">
                              <a:latin typeface="Cambria Math" panose="02040503050406030204" pitchFamily="18" charset="0"/>
                            </a:rPr>
                            <m:t>𝑀</m:t>
                          </m:r>
                          <m:r>
                            <a:rPr lang="en-US" i="1">
                              <a:latin typeface="Cambria Math" panose="02040503050406030204" pitchFamily="18" charset="0"/>
                            </a:rPr>
                            <m:t>1</m:t>
                          </m:r>
                        </m:e>
                      </m:d>
                    </m:oMath>
                  </m:oMathPara>
                </a14:m>
                <a:endParaRPr lang="en-US"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𝑀𝑖𝑠𝑠𝑖𝑙𝑒</m:t>
                      </m:r>
                      <m:d>
                        <m:dPr>
                          <m:ctrlPr>
                            <a:rPr lang="en-US" i="1">
                              <a:latin typeface="Cambria Math" panose="02040503050406030204" pitchFamily="18" charset="0"/>
                            </a:rPr>
                          </m:ctrlPr>
                        </m:dPr>
                        <m:e>
                          <m:r>
                            <a:rPr lang="en-US" i="1">
                              <a:latin typeface="Cambria Math" panose="02040503050406030204" pitchFamily="18" charset="0"/>
                            </a:rPr>
                            <m:t>𝑀</m:t>
                          </m:r>
                          <m:r>
                            <a:rPr lang="en-US" i="1">
                              <a:latin typeface="Cambria Math" panose="02040503050406030204" pitchFamily="18" charset="0"/>
                            </a:rPr>
                            <m:t>1</m:t>
                          </m:r>
                        </m:e>
                      </m:d>
                    </m:oMath>
                  </m:oMathPara>
                </a14:m>
                <a:endParaRPr lang="en-US"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𝐴𝑚𝑒𝑟𝑖𝑐𝑎𝑛</m:t>
                      </m:r>
                      <m:d>
                        <m:dPr>
                          <m:ctrlPr>
                            <a:rPr lang="en-US" i="1">
                              <a:latin typeface="Cambria Math" panose="02040503050406030204" pitchFamily="18" charset="0"/>
                            </a:rPr>
                          </m:ctrlPr>
                        </m:dPr>
                        <m:e>
                          <m:r>
                            <a:rPr lang="en-US" i="1">
                              <a:latin typeface="Cambria Math" panose="02040503050406030204" pitchFamily="18" charset="0"/>
                            </a:rPr>
                            <m:t>𝑊𝑒𝑠𝑡</m:t>
                          </m:r>
                        </m:e>
                      </m:d>
                    </m:oMath>
                  </m:oMathPara>
                </a14:m>
                <a:endParaRPr lang="en-US"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𝐸𝑛𝑒𝑚𝑦</m:t>
                      </m:r>
                      <m:r>
                        <a:rPr lang="en-US" i="1">
                          <a:latin typeface="Cambria Math" panose="02040503050406030204" pitchFamily="18" charset="0"/>
                        </a:rPr>
                        <m:t>(</m:t>
                      </m:r>
                      <m:r>
                        <a:rPr lang="en-US" b="0" i="1" smtClean="0">
                          <a:latin typeface="Cambria Math" panose="02040503050406030204" pitchFamily="18" charset="0"/>
                        </a:rPr>
                        <m:t>𝑅𝑢𝑠</m:t>
                      </m:r>
                      <m:r>
                        <a:rPr lang="en-US" b="0" i="1" smtClean="0">
                          <a:latin typeface="Cambria Math" panose="02040503050406030204" pitchFamily="18" charset="0"/>
                        </a:rPr>
                        <m:t>h</m:t>
                      </m:r>
                      <m:r>
                        <a:rPr lang="en-US" b="0" i="1" smtClean="0">
                          <a:latin typeface="Cambria Math" panose="02040503050406030204" pitchFamily="18" charset="0"/>
                        </a:rPr>
                        <m:t>𝑎</m:t>
                      </m:r>
                      <m:r>
                        <a:rPr lang="en-US" b="0" i="1" smtClean="0">
                          <a:latin typeface="Cambria Math" panose="02040503050406030204" pitchFamily="18" charset="0"/>
                        </a:rPr>
                        <m:t>, </m:t>
                      </m:r>
                      <m:r>
                        <a:rPr lang="en-US" i="1">
                          <a:latin typeface="Cambria Math" panose="02040503050406030204" pitchFamily="18" charset="0"/>
                        </a:rPr>
                        <m:t>𝐴𝑚𝑒𝑟𝑖𝑐𝑎</m:t>
                      </m:r>
                      <m:r>
                        <a:rPr lang="en-US" i="1">
                          <a:latin typeface="Cambria Math" panose="02040503050406030204" pitchFamily="18" charset="0"/>
                        </a:rPr>
                        <m:t>) .</m:t>
                      </m:r>
                    </m:oMath>
                  </m:oMathPara>
                </a14:m>
                <a:endParaRPr lang="en-US" dirty="0"/>
              </a:p>
            </p:txBody>
          </p:sp>
        </mc:Choice>
        <mc:Fallback xmlns="">
          <p:sp>
            <p:nvSpPr>
              <p:cNvPr id="3" name="Content Placeholder 2">
                <a:extLst>
                  <a:ext uri="{FF2B5EF4-FFF2-40B4-BE49-F238E27FC236}">
                    <a16:creationId xmlns:a16="http://schemas.microsoft.com/office/drawing/2014/main" id="{84C4D025-7A9A-B754-E03E-475D66052CA0}"/>
                  </a:ext>
                </a:extLst>
              </p:cNvPr>
              <p:cNvSpPr>
                <a:spLocks noGrp="1" noRot="1" noChangeAspect="1" noMove="1" noResize="1" noEditPoints="1" noAdjustHandles="1" noChangeArrowheads="1" noChangeShapeType="1" noTextEdit="1"/>
              </p:cNvSpPr>
              <p:nvPr>
                <p:ph idx="1"/>
              </p:nvPr>
            </p:nvSpPr>
            <p:spPr>
              <a:xfrm>
                <a:off x="257175" y="1825625"/>
                <a:ext cx="11706225" cy="4351338"/>
              </a:xfrm>
              <a:blipFill>
                <a:blip r:embed="rId2"/>
                <a:stretch>
                  <a:fillRect/>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8360461B-9C19-DA83-AE08-7DE22B3BED18}"/>
              </a:ext>
            </a:extLst>
          </p:cNvPr>
          <p:cNvSpPr>
            <a:spLocks noGrp="1"/>
          </p:cNvSpPr>
          <p:nvPr>
            <p:ph type="dt" sz="half" idx="10"/>
          </p:nvPr>
        </p:nvSpPr>
        <p:spPr/>
        <p:txBody>
          <a:bodyPr/>
          <a:lstStyle/>
          <a:p>
            <a:fld id="{1332600A-A7B8-4674-AAE3-A37177B883E5}" type="datetime1">
              <a:rPr lang="en-GB" smtClean="0"/>
              <a:t>20/10/2025</a:t>
            </a:fld>
            <a:endParaRPr lang="en-GB"/>
          </a:p>
        </p:txBody>
      </p:sp>
      <p:sp>
        <p:nvSpPr>
          <p:cNvPr id="5" name="Slide Number Placeholder 4">
            <a:extLst>
              <a:ext uri="{FF2B5EF4-FFF2-40B4-BE49-F238E27FC236}">
                <a16:creationId xmlns:a16="http://schemas.microsoft.com/office/drawing/2014/main" id="{BE085936-04F9-D687-F936-31BB1B760C94}"/>
              </a:ext>
            </a:extLst>
          </p:cNvPr>
          <p:cNvSpPr>
            <a:spLocks noGrp="1"/>
          </p:cNvSpPr>
          <p:nvPr>
            <p:ph type="sldNum" sz="quarter" idx="12"/>
          </p:nvPr>
        </p:nvSpPr>
        <p:spPr/>
        <p:txBody>
          <a:bodyPr/>
          <a:lstStyle/>
          <a:p>
            <a:fld id="{9EB268CF-8001-41B5-ADCD-92A7738D3D9B}" type="slidenum">
              <a:rPr lang="en-GB" smtClean="0"/>
              <a:t>54</a:t>
            </a:fld>
            <a:endParaRPr lang="en-GB"/>
          </a:p>
        </p:txBody>
      </p:sp>
    </p:spTree>
    <p:extLst>
      <p:ext uri="{BB962C8B-B14F-4D97-AF65-F5344CB8AC3E}">
        <p14:creationId xmlns:p14="http://schemas.microsoft.com/office/powerpoint/2010/main" val="427776534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AB73E5-A2CF-C97D-89E5-AADC12ADC50B}"/>
              </a:ext>
            </a:extLst>
          </p:cNvPr>
          <p:cNvSpPr>
            <a:spLocks noGrp="1"/>
          </p:cNvSpPr>
          <p:nvPr>
            <p:ph type="title"/>
          </p:nvPr>
        </p:nvSpPr>
        <p:spPr>
          <a:xfrm>
            <a:off x="838200" y="98427"/>
            <a:ext cx="10515600" cy="577850"/>
          </a:xfrm>
        </p:spPr>
        <p:txBody>
          <a:bodyPr>
            <a:normAutofit fontScale="90000"/>
          </a:bodyPr>
          <a:lstStyle/>
          <a:p>
            <a:r>
              <a:rPr lang="en-US" dirty="0"/>
              <a:t>Proof</a:t>
            </a:r>
          </a:p>
        </p:txBody>
      </p:sp>
      <p:sp>
        <p:nvSpPr>
          <p:cNvPr id="4" name="Date Placeholder 3">
            <a:extLst>
              <a:ext uri="{FF2B5EF4-FFF2-40B4-BE49-F238E27FC236}">
                <a16:creationId xmlns:a16="http://schemas.microsoft.com/office/drawing/2014/main" id="{68012691-AD61-D0C3-47FE-6CC7CA2BB8E6}"/>
              </a:ext>
            </a:extLst>
          </p:cNvPr>
          <p:cNvSpPr>
            <a:spLocks noGrp="1"/>
          </p:cNvSpPr>
          <p:nvPr>
            <p:ph type="dt" sz="half" idx="10"/>
          </p:nvPr>
        </p:nvSpPr>
        <p:spPr/>
        <p:txBody>
          <a:bodyPr/>
          <a:lstStyle/>
          <a:p>
            <a:fld id="{1332600A-A7B8-4674-AAE3-A37177B883E5}" type="datetime1">
              <a:rPr lang="en-GB" smtClean="0"/>
              <a:t>20/10/2025</a:t>
            </a:fld>
            <a:endParaRPr lang="en-GB"/>
          </a:p>
        </p:txBody>
      </p:sp>
      <p:sp>
        <p:nvSpPr>
          <p:cNvPr id="5" name="Slide Number Placeholder 4">
            <a:extLst>
              <a:ext uri="{FF2B5EF4-FFF2-40B4-BE49-F238E27FC236}">
                <a16:creationId xmlns:a16="http://schemas.microsoft.com/office/drawing/2014/main" id="{1AC6D6D9-F279-3479-0D3C-C751C9FED967}"/>
              </a:ext>
            </a:extLst>
          </p:cNvPr>
          <p:cNvSpPr>
            <a:spLocks noGrp="1"/>
          </p:cNvSpPr>
          <p:nvPr>
            <p:ph type="sldNum" sz="quarter" idx="12"/>
          </p:nvPr>
        </p:nvSpPr>
        <p:spPr/>
        <p:txBody>
          <a:bodyPr/>
          <a:lstStyle/>
          <a:p>
            <a:fld id="{9EB268CF-8001-41B5-ADCD-92A7738D3D9B}" type="slidenum">
              <a:rPr lang="en-GB" smtClean="0"/>
              <a:t>55</a:t>
            </a:fld>
            <a:endParaRPr lang="en-GB"/>
          </a:p>
        </p:txBody>
      </p:sp>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49E4CEB8-2008-E290-7A0C-FFE5767D2030}"/>
                  </a:ext>
                </a:extLst>
              </p:cNvPr>
              <p:cNvSpPr/>
              <p:nvPr/>
            </p:nvSpPr>
            <p:spPr>
              <a:xfrm>
                <a:off x="333375" y="773113"/>
                <a:ext cx="5248275" cy="57785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m:t>
                      </m:r>
                      <m:r>
                        <a:rPr lang="en-US" i="1">
                          <a:latin typeface="Cambria Math" panose="02040503050406030204" pitchFamily="18" charset="0"/>
                        </a:rPr>
                        <m:t>𝐴𝑚𝑒𝑟𝑖𝑐𝑎𝑛</m:t>
                      </m:r>
                      <m:d>
                        <m:dPr>
                          <m:ctrlPr>
                            <a:rPr lang="en-US" i="1">
                              <a:latin typeface="Cambria Math" panose="02040503050406030204" pitchFamily="18" charset="0"/>
                            </a:rPr>
                          </m:ctrlPr>
                        </m:dPr>
                        <m:e>
                          <m:r>
                            <a:rPr lang="en-US" i="1">
                              <a:latin typeface="Cambria Math" panose="02040503050406030204" pitchFamily="18" charset="0"/>
                            </a:rPr>
                            <m:t>𝑥</m:t>
                          </m:r>
                        </m:e>
                      </m:d>
                      <m:r>
                        <a:rPr lang="en-US" i="1">
                          <a:latin typeface="Cambria Math" panose="02040503050406030204" pitchFamily="18" charset="0"/>
                        </a:rPr>
                        <m:t>∨ ¬</m:t>
                      </m:r>
                      <m:r>
                        <a:rPr lang="en-US" i="1">
                          <a:latin typeface="Cambria Math" panose="02040503050406030204" pitchFamily="18" charset="0"/>
                        </a:rPr>
                        <m:t>𝑊𝑒𝑎𝑝𝑜𝑛</m:t>
                      </m:r>
                      <m:d>
                        <m:dPr>
                          <m:ctrlPr>
                            <a:rPr lang="en-US" i="1">
                              <a:latin typeface="Cambria Math" panose="02040503050406030204" pitchFamily="18" charset="0"/>
                            </a:rPr>
                          </m:ctrlPr>
                        </m:dPr>
                        <m:e>
                          <m:r>
                            <a:rPr lang="en-US" i="1">
                              <a:latin typeface="Cambria Math" panose="02040503050406030204" pitchFamily="18" charset="0"/>
                            </a:rPr>
                            <m:t>𝑦</m:t>
                          </m:r>
                        </m:e>
                      </m:d>
                      <m:r>
                        <a:rPr lang="en-US" i="1">
                          <a:latin typeface="Cambria Math" panose="02040503050406030204" pitchFamily="18" charset="0"/>
                        </a:rPr>
                        <m:t>∨ ¬</m:t>
                      </m:r>
                      <m:r>
                        <a:rPr lang="en-US" i="1">
                          <a:latin typeface="Cambria Math" panose="02040503050406030204" pitchFamily="18" charset="0"/>
                        </a:rPr>
                        <m:t>𝑆𝑒𝑙𝑙𝑠</m:t>
                      </m:r>
                      <m:d>
                        <m:dPr>
                          <m:ctrlPr>
                            <a:rPr lang="en-US" i="1">
                              <a:latin typeface="Cambria Math" panose="02040503050406030204" pitchFamily="18" charset="0"/>
                            </a:rPr>
                          </m:ctrlPr>
                        </m:dPr>
                        <m:e>
                          <m:r>
                            <a:rPr lang="en-US" i="1">
                              <a:latin typeface="Cambria Math" panose="02040503050406030204" pitchFamily="18" charset="0"/>
                            </a:rPr>
                            <m:t>𝑥</m:t>
                          </m:r>
                          <m:r>
                            <a:rPr lang="en-US" i="1">
                              <a:latin typeface="Cambria Math" panose="02040503050406030204" pitchFamily="18" charset="0"/>
                            </a:rPr>
                            <m:t>, </m:t>
                          </m:r>
                          <m:r>
                            <a:rPr lang="en-US" i="1">
                              <a:latin typeface="Cambria Math" panose="02040503050406030204" pitchFamily="18" charset="0"/>
                            </a:rPr>
                            <m:t>𝑦</m:t>
                          </m:r>
                          <m:r>
                            <a:rPr lang="en-US" i="1">
                              <a:latin typeface="Cambria Math" panose="02040503050406030204" pitchFamily="18" charset="0"/>
                            </a:rPr>
                            <m:t>, </m:t>
                          </m:r>
                          <m:r>
                            <a:rPr lang="en-US" i="1">
                              <a:latin typeface="Cambria Math" panose="02040503050406030204" pitchFamily="18" charset="0"/>
                            </a:rPr>
                            <m:t>𝑧</m:t>
                          </m:r>
                        </m:e>
                      </m:d>
                      <m:r>
                        <a:rPr lang="en-US" i="1">
                          <a:latin typeface="Cambria Math" panose="02040503050406030204" pitchFamily="18" charset="0"/>
                        </a:rPr>
                        <m:t>∨ ¬</m:t>
                      </m:r>
                      <m:r>
                        <a:rPr lang="en-US" i="1">
                          <a:latin typeface="Cambria Math" panose="02040503050406030204" pitchFamily="18" charset="0"/>
                        </a:rPr>
                        <m:t>𝐻𝑜𝑠𝑡𝑖𝑙𝑒</m:t>
                      </m:r>
                      <m:d>
                        <m:dPr>
                          <m:ctrlPr>
                            <a:rPr lang="en-US" i="1">
                              <a:latin typeface="Cambria Math" panose="02040503050406030204" pitchFamily="18" charset="0"/>
                            </a:rPr>
                          </m:ctrlPr>
                        </m:dPr>
                        <m:e>
                          <m:r>
                            <a:rPr lang="en-US" i="1">
                              <a:latin typeface="Cambria Math" panose="02040503050406030204" pitchFamily="18" charset="0"/>
                            </a:rPr>
                            <m:t>𝑧</m:t>
                          </m:r>
                        </m:e>
                      </m:d>
                      <m:r>
                        <a:rPr lang="en-US" i="1">
                          <a:latin typeface="Cambria Math" panose="02040503050406030204" pitchFamily="18" charset="0"/>
                        </a:rPr>
                        <m:t>∨ </m:t>
                      </m:r>
                      <m:r>
                        <a:rPr lang="en-US" b="1" i="1">
                          <a:latin typeface="Cambria Math" panose="02040503050406030204" pitchFamily="18" charset="0"/>
                        </a:rPr>
                        <m:t>𝑪𝒓𝒊𝒎𝒊𝒏𝒂𝒍</m:t>
                      </m:r>
                      <m:r>
                        <a:rPr lang="en-US" b="1" i="1">
                          <a:latin typeface="Cambria Math" panose="02040503050406030204" pitchFamily="18" charset="0"/>
                        </a:rPr>
                        <m:t> </m:t>
                      </m:r>
                      <m:d>
                        <m:dPr>
                          <m:ctrlPr>
                            <a:rPr lang="en-US" b="1" i="1">
                              <a:latin typeface="Cambria Math" panose="02040503050406030204" pitchFamily="18" charset="0"/>
                            </a:rPr>
                          </m:ctrlPr>
                        </m:dPr>
                        <m:e>
                          <m:r>
                            <a:rPr lang="en-US" b="1" i="1">
                              <a:latin typeface="Cambria Math" panose="02040503050406030204" pitchFamily="18" charset="0"/>
                            </a:rPr>
                            <m:t>𝒙</m:t>
                          </m:r>
                        </m:e>
                      </m:d>
                    </m:oMath>
                  </m:oMathPara>
                </a14:m>
                <a:endParaRPr lang="en-US" b="1" i="1" dirty="0">
                  <a:latin typeface="Cambria Math" panose="02040503050406030204" pitchFamily="18" charset="0"/>
                </a:endParaRPr>
              </a:p>
            </p:txBody>
          </p:sp>
        </mc:Choice>
        <mc:Fallback xmlns="">
          <p:sp>
            <p:nvSpPr>
              <p:cNvPr id="6" name="Rectangle 5">
                <a:extLst>
                  <a:ext uri="{FF2B5EF4-FFF2-40B4-BE49-F238E27FC236}">
                    <a16:creationId xmlns:a16="http://schemas.microsoft.com/office/drawing/2014/main" id="{49E4CEB8-2008-E290-7A0C-FFE5767D2030}"/>
                  </a:ext>
                </a:extLst>
              </p:cNvPr>
              <p:cNvSpPr>
                <a:spLocks noRot="1" noChangeAspect="1" noMove="1" noResize="1" noEditPoints="1" noAdjustHandles="1" noChangeArrowheads="1" noChangeShapeType="1" noTextEdit="1"/>
              </p:cNvSpPr>
              <p:nvPr/>
            </p:nvSpPr>
            <p:spPr>
              <a:xfrm>
                <a:off x="333375" y="773113"/>
                <a:ext cx="5248275" cy="577850"/>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 name="Rectangle 6">
                <a:extLst>
                  <a:ext uri="{FF2B5EF4-FFF2-40B4-BE49-F238E27FC236}">
                    <a16:creationId xmlns:a16="http://schemas.microsoft.com/office/drawing/2014/main" id="{C71C3323-0961-CA29-C171-B8CB2C31C111}"/>
                  </a:ext>
                </a:extLst>
              </p:cNvPr>
              <p:cNvSpPr/>
              <p:nvPr/>
            </p:nvSpPr>
            <p:spPr>
              <a:xfrm>
                <a:off x="8239126" y="734030"/>
                <a:ext cx="2000250" cy="43815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1" i="1">
                          <a:latin typeface="Cambria Math" panose="02040503050406030204" pitchFamily="18" charset="0"/>
                        </a:rPr>
                        <m:t>¬ </m:t>
                      </m:r>
                      <m:r>
                        <a:rPr lang="en-US" b="1" i="1">
                          <a:latin typeface="Cambria Math" panose="02040503050406030204" pitchFamily="18" charset="0"/>
                        </a:rPr>
                        <m:t>𝑪𝒓𝒊𝒎𝒊𝒏𝒂𝒍</m:t>
                      </m:r>
                      <m:r>
                        <a:rPr lang="en-US" b="1" i="1">
                          <a:latin typeface="Cambria Math" panose="02040503050406030204" pitchFamily="18" charset="0"/>
                        </a:rPr>
                        <m:t> </m:t>
                      </m:r>
                      <m:d>
                        <m:dPr>
                          <m:ctrlPr>
                            <a:rPr lang="en-US" b="1" i="1">
                              <a:latin typeface="Cambria Math" panose="02040503050406030204" pitchFamily="18" charset="0"/>
                            </a:rPr>
                          </m:ctrlPr>
                        </m:dPr>
                        <m:e>
                          <m:r>
                            <a:rPr lang="en-US" b="1" i="1">
                              <a:latin typeface="Cambria Math" panose="02040503050406030204" pitchFamily="18" charset="0"/>
                            </a:rPr>
                            <m:t>𝒙</m:t>
                          </m:r>
                        </m:e>
                      </m:d>
                    </m:oMath>
                  </m:oMathPara>
                </a14:m>
                <a:endParaRPr lang="en-US" b="1" i="1" dirty="0">
                  <a:latin typeface="Cambria Math" panose="02040503050406030204" pitchFamily="18" charset="0"/>
                </a:endParaRPr>
              </a:p>
            </p:txBody>
          </p:sp>
        </mc:Choice>
        <mc:Fallback>
          <p:sp>
            <p:nvSpPr>
              <p:cNvPr id="7" name="Rectangle 6">
                <a:extLst>
                  <a:ext uri="{FF2B5EF4-FFF2-40B4-BE49-F238E27FC236}">
                    <a16:creationId xmlns:a16="http://schemas.microsoft.com/office/drawing/2014/main" id="{C71C3323-0961-CA29-C171-B8CB2C31C111}"/>
                  </a:ext>
                </a:extLst>
              </p:cNvPr>
              <p:cNvSpPr>
                <a:spLocks noRot="1" noChangeAspect="1" noMove="1" noResize="1" noEditPoints="1" noAdjustHandles="1" noChangeArrowheads="1" noChangeShapeType="1" noTextEdit="1"/>
              </p:cNvSpPr>
              <p:nvPr/>
            </p:nvSpPr>
            <p:spPr>
              <a:xfrm>
                <a:off x="8239126" y="734030"/>
                <a:ext cx="2000250" cy="438150"/>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8" name="Rectangle 7">
                <a:extLst>
                  <a:ext uri="{FF2B5EF4-FFF2-40B4-BE49-F238E27FC236}">
                    <a16:creationId xmlns:a16="http://schemas.microsoft.com/office/drawing/2014/main" id="{4757F064-9B39-46B4-3F15-0DF905334E3C}"/>
                  </a:ext>
                </a:extLst>
              </p:cNvPr>
              <p:cNvSpPr/>
              <p:nvPr/>
            </p:nvSpPr>
            <p:spPr>
              <a:xfrm>
                <a:off x="6610352" y="1471612"/>
                <a:ext cx="5257798" cy="43815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1400" i="1" smtClean="0">
                          <a:latin typeface="Cambria Math" panose="02040503050406030204" pitchFamily="18" charset="0"/>
                        </a:rPr>
                        <m:t>¬</m:t>
                      </m:r>
                      <m:r>
                        <a:rPr lang="en-US" sz="1400" b="1" i="1" smtClean="0">
                          <a:latin typeface="Cambria Math" panose="02040503050406030204" pitchFamily="18" charset="0"/>
                        </a:rPr>
                        <m:t>𝑨𝒎𝒆𝒓𝒊𝒄𝒂𝒏</m:t>
                      </m:r>
                      <m:d>
                        <m:dPr>
                          <m:ctrlPr>
                            <a:rPr lang="en-US" sz="1400" b="1" i="1">
                              <a:latin typeface="Cambria Math" panose="02040503050406030204" pitchFamily="18" charset="0"/>
                            </a:rPr>
                          </m:ctrlPr>
                        </m:dPr>
                        <m:e>
                          <m:r>
                            <a:rPr lang="en-US" sz="1400" b="1" i="1" smtClean="0">
                              <a:latin typeface="Cambria Math" panose="02040503050406030204" pitchFamily="18" charset="0"/>
                            </a:rPr>
                            <m:t>𝑾𝒆𝒔𝒕</m:t>
                          </m:r>
                        </m:e>
                      </m:d>
                      <m:r>
                        <a:rPr lang="en-US" sz="1400" i="1">
                          <a:latin typeface="Cambria Math" panose="02040503050406030204" pitchFamily="18" charset="0"/>
                        </a:rPr>
                        <m:t>∨ ¬</m:t>
                      </m:r>
                      <m:r>
                        <a:rPr lang="en-US" sz="1400" i="1">
                          <a:latin typeface="Cambria Math" panose="02040503050406030204" pitchFamily="18" charset="0"/>
                        </a:rPr>
                        <m:t>𝑊𝑒𝑎𝑝𝑜𝑛</m:t>
                      </m:r>
                      <m:d>
                        <m:dPr>
                          <m:ctrlPr>
                            <a:rPr lang="en-US" sz="1400" i="1">
                              <a:latin typeface="Cambria Math" panose="02040503050406030204" pitchFamily="18" charset="0"/>
                            </a:rPr>
                          </m:ctrlPr>
                        </m:dPr>
                        <m:e>
                          <m:r>
                            <a:rPr lang="en-US" sz="1400" i="1">
                              <a:latin typeface="Cambria Math" panose="02040503050406030204" pitchFamily="18" charset="0"/>
                            </a:rPr>
                            <m:t>𝑦</m:t>
                          </m:r>
                        </m:e>
                      </m:d>
                      <m:r>
                        <a:rPr lang="en-US" sz="1400" i="1">
                          <a:latin typeface="Cambria Math" panose="02040503050406030204" pitchFamily="18" charset="0"/>
                        </a:rPr>
                        <m:t>∨ ¬</m:t>
                      </m:r>
                      <m:r>
                        <a:rPr lang="en-US" sz="1400" i="1">
                          <a:latin typeface="Cambria Math" panose="02040503050406030204" pitchFamily="18" charset="0"/>
                        </a:rPr>
                        <m:t>𝑆𝑒𝑙𝑙𝑠</m:t>
                      </m:r>
                      <m:d>
                        <m:dPr>
                          <m:ctrlPr>
                            <a:rPr lang="en-US" sz="1400" i="1">
                              <a:latin typeface="Cambria Math" panose="02040503050406030204" pitchFamily="18" charset="0"/>
                            </a:rPr>
                          </m:ctrlPr>
                        </m:dPr>
                        <m:e>
                          <m:r>
                            <a:rPr lang="en-US" sz="1400" b="0" i="1" smtClean="0">
                              <a:latin typeface="Cambria Math" panose="02040503050406030204" pitchFamily="18" charset="0"/>
                            </a:rPr>
                            <m:t>𝑊𝑒𝑠𝑡</m:t>
                          </m:r>
                          <m:r>
                            <a:rPr lang="en-US" sz="1400" b="0" i="1" smtClean="0">
                              <a:latin typeface="Cambria Math" panose="02040503050406030204" pitchFamily="18" charset="0"/>
                            </a:rPr>
                            <m:t>, </m:t>
                          </m:r>
                          <m:r>
                            <a:rPr lang="en-US" sz="1400" i="1">
                              <a:latin typeface="Cambria Math" panose="02040503050406030204" pitchFamily="18" charset="0"/>
                            </a:rPr>
                            <m:t>𝑦</m:t>
                          </m:r>
                          <m:r>
                            <a:rPr lang="en-US" sz="1400" i="1">
                              <a:latin typeface="Cambria Math" panose="02040503050406030204" pitchFamily="18" charset="0"/>
                            </a:rPr>
                            <m:t>, </m:t>
                          </m:r>
                          <m:r>
                            <a:rPr lang="en-US" sz="1400" i="1">
                              <a:latin typeface="Cambria Math" panose="02040503050406030204" pitchFamily="18" charset="0"/>
                            </a:rPr>
                            <m:t>𝑧</m:t>
                          </m:r>
                        </m:e>
                      </m:d>
                      <m:r>
                        <a:rPr lang="en-US" sz="1400" i="1">
                          <a:latin typeface="Cambria Math" panose="02040503050406030204" pitchFamily="18" charset="0"/>
                        </a:rPr>
                        <m:t>∨ ¬</m:t>
                      </m:r>
                      <m:r>
                        <a:rPr lang="en-US" sz="1400" i="1">
                          <a:latin typeface="Cambria Math" panose="02040503050406030204" pitchFamily="18" charset="0"/>
                        </a:rPr>
                        <m:t>𝐻𝑜𝑠𝑡𝑖𝑙𝑒</m:t>
                      </m:r>
                      <m:d>
                        <m:dPr>
                          <m:ctrlPr>
                            <a:rPr lang="en-US" sz="1400" i="1">
                              <a:latin typeface="Cambria Math" panose="02040503050406030204" pitchFamily="18" charset="0"/>
                            </a:rPr>
                          </m:ctrlPr>
                        </m:dPr>
                        <m:e>
                          <m:r>
                            <a:rPr lang="en-US" sz="1400" i="1">
                              <a:latin typeface="Cambria Math" panose="02040503050406030204" pitchFamily="18" charset="0"/>
                            </a:rPr>
                            <m:t>𝑧</m:t>
                          </m:r>
                        </m:e>
                      </m:d>
                    </m:oMath>
                  </m:oMathPara>
                </a14:m>
                <a:endParaRPr lang="en-US" b="1" i="1" dirty="0">
                  <a:latin typeface="Cambria Math" panose="02040503050406030204" pitchFamily="18" charset="0"/>
                </a:endParaRPr>
              </a:p>
            </p:txBody>
          </p:sp>
        </mc:Choice>
        <mc:Fallback>
          <p:sp>
            <p:nvSpPr>
              <p:cNvPr id="8" name="Rectangle 7">
                <a:extLst>
                  <a:ext uri="{FF2B5EF4-FFF2-40B4-BE49-F238E27FC236}">
                    <a16:creationId xmlns:a16="http://schemas.microsoft.com/office/drawing/2014/main" id="{4757F064-9B39-46B4-3F15-0DF905334E3C}"/>
                  </a:ext>
                </a:extLst>
              </p:cNvPr>
              <p:cNvSpPr>
                <a:spLocks noRot="1" noChangeAspect="1" noMove="1" noResize="1" noEditPoints="1" noAdjustHandles="1" noChangeArrowheads="1" noChangeShapeType="1" noTextEdit="1"/>
              </p:cNvSpPr>
              <p:nvPr/>
            </p:nvSpPr>
            <p:spPr>
              <a:xfrm>
                <a:off x="6610352" y="1471612"/>
                <a:ext cx="5257798" cy="438150"/>
              </a:xfrm>
              <a:prstGeom prst="rect">
                <a:avLst/>
              </a:prstGeom>
              <a:blipFill>
                <a:blip r:embed="rId4"/>
                <a:stretch>
                  <a:fillRect b="-1333"/>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9" name="Rectangle 8">
                <a:extLst>
                  <a:ext uri="{FF2B5EF4-FFF2-40B4-BE49-F238E27FC236}">
                    <a16:creationId xmlns:a16="http://schemas.microsoft.com/office/drawing/2014/main" id="{C7A7B665-BE2C-4711-10AB-1BED2C9CC1C8}"/>
                  </a:ext>
                </a:extLst>
              </p:cNvPr>
              <p:cNvSpPr/>
              <p:nvPr/>
            </p:nvSpPr>
            <p:spPr>
              <a:xfrm>
                <a:off x="2721864" y="1475041"/>
                <a:ext cx="2000250" cy="43815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1" i="1">
                          <a:latin typeface="Cambria Math" panose="02040503050406030204" pitchFamily="18" charset="0"/>
                        </a:rPr>
                        <m:t>𝑨𝒎𝒆𝒓𝒊𝒄𝒂𝒏</m:t>
                      </m:r>
                      <m:d>
                        <m:dPr>
                          <m:ctrlPr>
                            <a:rPr lang="en-US" b="1" i="1">
                              <a:latin typeface="Cambria Math" panose="02040503050406030204" pitchFamily="18" charset="0"/>
                            </a:rPr>
                          </m:ctrlPr>
                        </m:dPr>
                        <m:e>
                          <m:r>
                            <a:rPr lang="en-US" b="1" i="1">
                              <a:latin typeface="Cambria Math" panose="02040503050406030204" pitchFamily="18" charset="0"/>
                            </a:rPr>
                            <m:t>𝑾𝒆𝒔𝒕</m:t>
                          </m:r>
                        </m:e>
                      </m:d>
                    </m:oMath>
                  </m:oMathPara>
                </a14:m>
                <a:endParaRPr lang="en-US" b="1" i="1" dirty="0">
                  <a:latin typeface="Cambria Math" panose="02040503050406030204" pitchFamily="18" charset="0"/>
                </a:endParaRPr>
              </a:p>
            </p:txBody>
          </p:sp>
        </mc:Choice>
        <mc:Fallback>
          <p:sp>
            <p:nvSpPr>
              <p:cNvPr id="9" name="Rectangle 8">
                <a:extLst>
                  <a:ext uri="{FF2B5EF4-FFF2-40B4-BE49-F238E27FC236}">
                    <a16:creationId xmlns:a16="http://schemas.microsoft.com/office/drawing/2014/main" id="{C7A7B665-BE2C-4711-10AB-1BED2C9CC1C8}"/>
                  </a:ext>
                </a:extLst>
              </p:cNvPr>
              <p:cNvSpPr>
                <a:spLocks noRot="1" noChangeAspect="1" noMove="1" noResize="1" noEditPoints="1" noAdjustHandles="1" noChangeArrowheads="1" noChangeShapeType="1" noTextEdit="1"/>
              </p:cNvSpPr>
              <p:nvPr/>
            </p:nvSpPr>
            <p:spPr>
              <a:xfrm>
                <a:off x="2721864" y="1475041"/>
                <a:ext cx="2000250" cy="438150"/>
              </a:xfrm>
              <a:prstGeom prst="rect">
                <a:avLst/>
              </a:prstGeom>
              <a:blipFill>
                <a:blip r:embed="rId5"/>
                <a:stretch>
                  <a:fillRect l="-1511"/>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0" name="Rectangle 9">
                <a:extLst>
                  <a:ext uri="{FF2B5EF4-FFF2-40B4-BE49-F238E27FC236}">
                    <a16:creationId xmlns:a16="http://schemas.microsoft.com/office/drawing/2014/main" id="{DD3F91DC-0D5C-5615-3AD0-98B007D70C82}"/>
                  </a:ext>
                </a:extLst>
              </p:cNvPr>
              <p:cNvSpPr/>
              <p:nvPr/>
            </p:nvSpPr>
            <p:spPr>
              <a:xfrm>
                <a:off x="6610352" y="2111374"/>
                <a:ext cx="5257798" cy="35560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1600" i="1">
                          <a:latin typeface="Cambria Math" panose="02040503050406030204" pitchFamily="18" charset="0"/>
                        </a:rPr>
                        <m:t>¬</m:t>
                      </m:r>
                      <m:r>
                        <a:rPr lang="en-US" sz="1600" i="1">
                          <a:latin typeface="Cambria Math" panose="02040503050406030204" pitchFamily="18" charset="0"/>
                        </a:rPr>
                        <m:t>𝑊𝑒𝑎𝑝𝑜𝑛</m:t>
                      </m:r>
                      <m:d>
                        <m:dPr>
                          <m:ctrlPr>
                            <a:rPr lang="en-US" sz="1600" i="1">
                              <a:latin typeface="Cambria Math" panose="02040503050406030204" pitchFamily="18" charset="0"/>
                            </a:rPr>
                          </m:ctrlPr>
                        </m:dPr>
                        <m:e>
                          <m:r>
                            <a:rPr lang="en-US" sz="1600" i="1">
                              <a:latin typeface="Cambria Math" panose="02040503050406030204" pitchFamily="18" charset="0"/>
                            </a:rPr>
                            <m:t>𝑦</m:t>
                          </m:r>
                        </m:e>
                      </m:d>
                      <m:r>
                        <a:rPr lang="en-US" sz="1600" i="1">
                          <a:latin typeface="Cambria Math" panose="02040503050406030204" pitchFamily="18" charset="0"/>
                        </a:rPr>
                        <m:t>∨ ¬</m:t>
                      </m:r>
                      <m:r>
                        <a:rPr lang="en-US" sz="1600" i="1">
                          <a:latin typeface="Cambria Math" panose="02040503050406030204" pitchFamily="18" charset="0"/>
                        </a:rPr>
                        <m:t>𝑆𝑒𝑙𝑙𝑠</m:t>
                      </m:r>
                      <m:d>
                        <m:dPr>
                          <m:ctrlPr>
                            <a:rPr lang="en-US" sz="1600" i="1">
                              <a:latin typeface="Cambria Math" panose="02040503050406030204" pitchFamily="18" charset="0"/>
                            </a:rPr>
                          </m:ctrlPr>
                        </m:dPr>
                        <m:e>
                          <m:r>
                            <a:rPr lang="en-US" sz="1600" b="0" i="1" smtClean="0">
                              <a:latin typeface="Cambria Math" panose="02040503050406030204" pitchFamily="18" charset="0"/>
                            </a:rPr>
                            <m:t>𝑊𝑒𝑠𝑡</m:t>
                          </m:r>
                          <m:r>
                            <a:rPr lang="en-US" sz="1600" b="0" i="1" smtClean="0">
                              <a:latin typeface="Cambria Math" panose="02040503050406030204" pitchFamily="18" charset="0"/>
                            </a:rPr>
                            <m:t>, </m:t>
                          </m:r>
                          <m:r>
                            <a:rPr lang="en-US" sz="1600" i="1">
                              <a:latin typeface="Cambria Math" panose="02040503050406030204" pitchFamily="18" charset="0"/>
                            </a:rPr>
                            <m:t>𝑦</m:t>
                          </m:r>
                          <m:r>
                            <a:rPr lang="en-US" sz="1600" i="1">
                              <a:latin typeface="Cambria Math" panose="02040503050406030204" pitchFamily="18" charset="0"/>
                            </a:rPr>
                            <m:t>, </m:t>
                          </m:r>
                          <m:r>
                            <a:rPr lang="en-US" sz="1600" i="1">
                              <a:latin typeface="Cambria Math" panose="02040503050406030204" pitchFamily="18" charset="0"/>
                            </a:rPr>
                            <m:t>𝑧</m:t>
                          </m:r>
                        </m:e>
                      </m:d>
                      <m:r>
                        <a:rPr lang="en-US" sz="1600" i="1">
                          <a:latin typeface="Cambria Math" panose="02040503050406030204" pitchFamily="18" charset="0"/>
                        </a:rPr>
                        <m:t>∨ ¬</m:t>
                      </m:r>
                      <m:r>
                        <a:rPr lang="en-US" sz="1600" i="1">
                          <a:latin typeface="Cambria Math" panose="02040503050406030204" pitchFamily="18" charset="0"/>
                        </a:rPr>
                        <m:t>𝐻𝑜𝑠𝑡𝑖𝑙𝑒</m:t>
                      </m:r>
                      <m:d>
                        <m:dPr>
                          <m:ctrlPr>
                            <a:rPr lang="en-US" sz="1600" i="1">
                              <a:latin typeface="Cambria Math" panose="02040503050406030204" pitchFamily="18" charset="0"/>
                            </a:rPr>
                          </m:ctrlPr>
                        </m:dPr>
                        <m:e>
                          <m:r>
                            <a:rPr lang="en-US" sz="1600" i="1">
                              <a:latin typeface="Cambria Math" panose="02040503050406030204" pitchFamily="18" charset="0"/>
                            </a:rPr>
                            <m:t>𝑧</m:t>
                          </m:r>
                        </m:e>
                      </m:d>
                    </m:oMath>
                  </m:oMathPara>
                </a14:m>
                <a:endParaRPr lang="en-US" sz="1600" b="1" i="1" dirty="0">
                  <a:latin typeface="Cambria Math" panose="02040503050406030204" pitchFamily="18" charset="0"/>
                </a:endParaRPr>
              </a:p>
            </p:txBody>
          </p:sp>
        </mc:Choice>
        <mc:Fallback>
          <p:sp>
            <p:nvSpPr>
              <p:cNvPr id="10" name="Rectangle 9">
                <a:extLst>
                  <a:ext uri="{FF2B5EF4-FFF2-40B4-BE49-F238E27FC236}">
                    <a16:creationId xmlns:a16="http://schemas.microsoft.com/office/drawing/2014/main" id="{DD3F91DC-0D5C-5615-3AD0-98B007D70C82}"/>
                  </a:ext>
                </a:extLst>
              </p:cNvPr>
              <p:cNvSpPr>
                <a:spLocks noRot="1" noChangeAspect="1" noMove="1" noResize="1" noEditPoints="1" noAdjustHandles="1" noChangeArrowheads="1" noChangeShapeType="1" noTextEdit="1"/>
              </p:cNvSpPr>
              <p:nvPr/>
            </p:nvSpPr>
            <p:spPr>
              <a:xfrm>
                <a:off x="6610352" y="2111374"/>
                <a:ext cx="5257798" cy="355600"/>
              </a:xfrm>
              <a:prstGeom prst="rect">
                <a:avLst/>
              </a:prstGeom>
              <a:blipFill>
                <a:blip r:embed="rId6"/>
                <a:stretch>
                  <a:fillRect b="-483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B66A8218-7D36-D15D-AA78-82A18897D5D6}"/>
                  </a:ext>
                </a:extLst>
              </p:cNvPr>
              <p:cNvSpPr/>
              <p:nvPr/>
            </p:nvSpPr>
            <p:spPr>
              <a:xfrm>
                <a:off x="2505073" y="2132011"/>
                <a:ext cx="3076573" cy="43815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m:t>
                      </m:r>
                      <m:r>
                        <a:rPr lang="en-US" i="1">
                          <a:latin typeface="Cambria Math" panose="02040503050406030204" pitchFamily="18" charset="0"/>
                        </a:rPr>
                        <m:t>𝑀𝑖𝑠𝑠𝑖𝑙𝑒</m:t>
                      </m:r>
                      <m:d>
                        <m:dPr>
                          <m:ctrlPr>
                            <a:rPr lang="en-US" i="1">
                              <a:latin typeface="Cambria Math" panose="02040503050406030204" pitchFamily="18" charset="0"/>
                            </a:rPr>
                          </m:ctrlPr>
                        </m:dPr>
                        <m:e>
                          <m:r>
                            <a:rPr lang="en-US" i="1">
                              <a:latin typeface="Cambria Math" panose="02040503050406030204" pitchFamily="18" charset="0"/>
                            </a:rPr>
                            <m:t>𝑥</m:t>
                          </m:r>
                        </m:e>
                      </m:d>
                      <m:r>
                        <a:rPr lang="en-US" i="1">
                          <a:latin typeface="Cambria Math" panose="02040503050406030204" pitchFamily="18" charset="0"/>
                        </a:rPr>
                        <m:t>∨ </m:t>
                      </m:r>
                      <m:r>
                        <a:rPr lang="en-US" i="1">
                          <a:latin typeface="Cambria Math" panose="02040503050406030204" pitchFamily="18" charset="0"/>
                        </a:rPr>
                        <m:t>𝑊𝑒𝑎𝑝𝑜𝑛</m:t>
                      </m:r>
                      <m:d>
                        <m:dPr>
                          <m:ctrlPr>
                            <a:rPr lang="en-US" i="1">
                              <a:latin typeface="Cambria Math" panose="02040503050406030204" pitchFamily="18" charset="0"/>
                            </a:rPr>
                          </m:ctrlPr>
                        </m:dPr>
                        <m:e>
                          <m:r>
                            <a:rPr lang="en-US" i="1">
                              <a:latin typeface="Cambria Math" panose="02040503050406030204" pitchFamily="18" charset="0"/>
                            </a:rPr>
                            <m:t>𝑥</m:t>
                          </m:r>
                        </m:e>
                      </m:d>
                    </m:oMath>
                  </m:oMathPara>
                </a14:m>
                <a:endParaRPr lang="en-US" i="1" dirty="0">
                  <a:latin typeface="Cambria Math" panose="02040503050406030204" pitchFamily="18" charset="0"/>
                </a:endParaRPr>
              </a:p>
            </p:txBody>
          </p:sp>
        </mc:Choice>
        <mc:Fallback xmlns="">
          <p:sp>
            <p:nvSpPr>
              <p:cNvPr id="11" name="Rectangle 10">
                <a:extLst>
                  <a:ext uri="{FF2B5EF4-FFF2-40B4-BE49-F238E27FC236}">
                    <a16:creationId xmlns:a16="http://schemas.microsoft.com/office/drawing/2014/main" id="{B66A8218-7D36-D15D-AA78-82A18897D5D6}"/>
                  </a:ext>
                </a:extLst>
              </p:cNvPr>
              <p:cNvSpPr>
                <a:spLocks noRot="1" noChangeAspect="1" noMove="1" noResize="1" noEditPoints="1" noAdjustHandles="1" noChangeArrowheads="1" noChangeShapeType="1" noTextEdit="1"/>
              </p:cNvSpPr>
              <p:nvPr/>
            </p:nvSpPr>
            <p:spPr>
              <a:xfrm>
                <a:off x="2505073" y="2132011"/>
                <a:ext cx="3076573" cy="438150"/>
              </a:xfrm>
              <a:prstGeom prst="rect">
                <a:avLst/>
              </a:prstGeom>
              <a:blipFill>
                <a:blip r:embed="rId7"/>
                <a:stretch>
                  <a:fillRect b="-1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Rectangle 11">
                <a:extLst>
                  <a:ext uri="{FF2B5EF4-FFF2-40B4-BE49-F238E27FC236}">
                    <a16:creationId xmlns:a16="http://schemas.microsoft.com/office/drawing/2014/main" id="{3DA8730D-356E-D4E2-3679-982751EF516D}"/>
                  </a:ext>
                </a:extLst>
              </p:cNvPr>
              <p:cNvSpPr/>
              <p:nvPr/>
            </p:nvSpPr>
            <p:spPr>
              <a:xfrm>
                <a:off x="6610352" y="2792410"/>
                <a:ext cx="5257798" cy="43815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m:t>
                      </m:r>
                      <m:r>
                        <a:rPr lang="en-US" b="1" i="1" smtClean="0">
                          <a:latin typeface="Cambria Math" panose="02040503050406030204" pitchFamily="18" charset="0"/>
                        </a:rPr>
                        <m:t>𝑴𝒊𝒔𝒔𝒊𝒍𝒆</m:t>
                      </m:r>
                      <m:d>
                        <m:dPr>
                          <m:ctrlPr>
                            <a:rPr lang="en-US" b="1" i="1">
                              <a:latin typeface="Cambria Math" panose="02040503050406030204" pitchFamily="18" charset="0"/>
                            </a:rPr>
                          </m:ctrlPr>
                        </m:dPr>
                        <m:e>
                          <m:r>
                            <a:rPr lang="en-US" b="1" i="1">
                              <a:latin typeface="Cambria Math" panose="02040503050406030204" pitchFamily="18" charset="0"/>
                            </a:rPr>
                            <m:t>𝒚</m:t>
                          </m:r>
                        </m:e>
                      </m:d>
                      <m:r>
                        <a:rPr lang="en-US" i="1">
                          <a:latin typeface="Cambria Math" panose="02040503050406030204" pitchFamily="18" charset="0"/>
                        </a:rPr>
                        <m:t>∨ ¬</m:t>
                      </m:r>
                      <m:r>
                        <a:rPr lang="en-US" i="1">
                          <a:latin typeface="Cambria Math" panose="02040503050406030204" pitchFamily="18" charset="0"/>
                        </a:rPr>
                        <m:t>𝑆𝑒𝑙𝑙𝑠</m:t>
                      </m:r>
                      <m:d>
                        <m:dPr>
                          <m:ctrlPr>
                            <a:rPr lang="en-US" i="1">
                              <a:latin typeface="Cambria Math" panose="02040503050406030204" pitchFamily="18" charset="0"/>
                            </a:rPr>
                          </m:ctrlPr>
                        </m:dPr>
                        <m:e>
                          <m:r>
                            <a:rPr lang="en-US" b="0" i="1" smtClean="0">
                              <a:latin typeface="Cambria Math" panose="02040503050406030204" pitchFamily="18" charset="0"/>
                            </a:rPr>
                            <m:t>𝑊𝑒𝑠𝑡</m:t>
                          </m:r>
                          <m:r>
                            <a:rPr lang="en-US" b="0" i="1" smtClean="0">
                              <a:latin typeface="Cambria Math" panose="02040503050406030204" pitchFamily="18" charset="0"/>
                            </a:rPr>
                            <m:t>, </m:t>
                          </m:r>
                          <m:r>
                            <a:rPr lang="en-US" i="1">
                              <a:latin typeface="Cambria Math" panose="02040503050406030204" pitchFamily="18" charset="0"/>
                            </a:rPr>
                            <m:t>𝑦</m:t>
                          </m:r>
                          <m:r>
                            <a:rPr lang="en-US" i="1">
                              <a:latin typeface="Cambria Math" panose="02040503050406030204" pitchFamily="18" charset="0"/>
                            </a:rPr>
                            <m:t>, </m:t>
                          </m:r>
                          <m:r>
                            <a:rPr lang="en-US" i="1">
                              <a:latin typeface="Cambria Math" panose="02040503050406030204" pitchFamily="18" charset="0"/>
                            </a:rPr>
                            <m:t>𝑧</m:t>
                          </m:r>
                        </m:e>
                      </m:d>
                      <m:r>
                        <a:rPr lang="en-US" i="1">
                          <a:latin typeface="Cambria Math" panose="02040503050406030204" pitchFamily="18" charset="0"/>
                        </a:rPr>
                        <m:t>∨ ¬</m:t>
                      </m:r>
                      <m:r>
                        <a:rPr lang="en-US" i="1">
                          <a:latin typeface="Cambria Math" panose="02040503050406030204" pitchFamily="18" charset="0"/>
                        </a:rPr>
                        <m:t>𝐻𝑜𝑠𝑡𝑖𝑙𝑒</m:t>
                      </m:r>
                      <m:d>
                        <m:dPr>
                          <m:ctrlPr>
                            <a:rPr lang="en-US" i="1">
                              <a:latin typeface="Cambria Math" panose="02040503050406030204" pitchFamily="18" charset="0"/>
                            </a:rPr>
                          </m:ctrlPr>
                        </m:dPr>
                        <m:e>
                          <m:r>
                            <a:rPr lang="en-US" i="1">
                              <a:latin typeface="Cambria Math" panose="02040503050406030204" pitchFamily="18" charset="0"/>
                            </a:rPr>
                            <m:t>𝑧</m:t>
                          </m:r>
                        </m:e>
                      </m:d>
                    </m:oMath>
                  </m:oMathPara>
                </a14:m>
                <a:endParaRPr lang="en-US" b="1" i="1" dirty="0">
                  <a:latin typeface="Cambria Math" panose="02040503050406030204" pitchFamily="18" charset="0"/>
                </a:endParaRPr>
              </a:p>
            </p:txBody>
          </p:sp>
        </mc:Choice>
        <mc:Fallback xmlns="">
          <p:sp>
            <p:nvSpPr>
              <p:cNvPr id="12" name="Rectangle 11">
                <a:extLst>
                  <a:ext uri="{FF2B5EF4-FFF2-40B4-BE49-F238E27FC236}">
                    <a16:creationId xmlns:a16="http://schemas.microsoft.com/office/drawing/2014/main" id="{3DA8730D-356E-D4E2-3679-982751EF516D}"/>
                  </a:ext>
                </a:extLst>
              </p:cNvPr>
              <p:cNvSpPr>
                <a:spLocks noRot="1" noChangeAspect="1" noMove="1" noResize="1" noEditPoints="1" noAdjustHandles="1" noChangeArrowheads="1" noChangeShapeType="1" noTextEdit="1"/>
              </p:cNvSpPr>
              <p:nvPr/>
            </p:nvSpPr>
            <p:spPr>
              <a:xfrm>
                <a:off x="6610352" y="2792410"/>
                <a:ext cx="5257798" cy="438150"/>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Rectangle 12">
                <a:extLst>
                  <a:ext uri="{FF2B5EF4-FFF2-40B4-BE49-F238E27FC236}">
                    <a16:creationId xmlns:a16="http://schemas.microsoft.com/office/drawing/2014/main" id="{784EAEF6-3699-4DFA-FD25-DBBC0D996F2D}"/>
                  </a:ext>
                </a:extLst>
              </p:cNvPr>
              <p:cNvSpPr/>
              <p:nvPr/>
            </p:nvSpPr>
            <p:spPr>
              <a:xfrm>
                <a:off x="4019548" y="2792410"/>
                <a:ext cx="1562097" cy="43815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𝑴𝒊𝒔𝒔𝒊𝒍𝒆</m:t>
                      </m:r>
                      <m:r>
                        <a:rPr lang="en-US" b="1" i="1" smtClean="0">
                          <a:latin typeface="Cambria Math" panose="02040503050406030204" pitchFamily="18" charset="0"/>
                        </a:rPr>
                        <m:t>(</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𝑴</m:t>
                          </m:r>
                        </m:e>
                        <m:sub>
                          <m:r>
                            <a:rPr lang="en-US" b="1" i="1" smtClean="0">
                              <a:latin typeface="Cambria Math" panose="02040503050406030204" pitchFamily="18" charset="0"/>
                            </a:rPr>
                            <m:t>𝟏</m:t>
                          </m:r>
                        </m:sub>
                      </m:sSub>
                      <m:r>
                        <a:rPr lang="en-US" b="1" i="1" smtClean="0">
                          <a:latin typeface="Cambria Math" panose="02040503050406030204" pitchFamily="18" charset="0"/>
                        </a:rPr>
                        <m:t>)</m:t>
                      </m:r>
                    </m:oMath>
                  </m:oMathPara>
                </a14:m>
                <a:endParaRPr lang="en-US" b="1" i="1" dirty="0">
                  <a:latin typeface="Cambria Math" panose="02040503050406030204" pitchFamily="18" charset="0"/>
                </a:endParaRPr>
              </a:p>
            </p:txBody>
          </p:sp>
        </mc:Choice>
        <mc:Fallback xmlns="">
          <p:sp>
            <p:nvSpPr>
              <p:cNvPr id="13" name="Rectangle 12">
                <a:extLst>
                  <a:ext uri="{FF2B5EF4-FFF2-40B4-BE49-F238E27FC236}">
                    <a16:creationId xmlns:a16="http://schemas.microsoft.com/office/drawing/2014/main" id="{784EAEF6-3699-4DFA-FD25-DBBC0D996F2D}"/>
                  </a:ext>
                </a:extLst>
              </p:cNvPr>
              <p:cNvSpPr>
                <a:spLocks noRot="1" noChangeAspect="1" noMove="1" noResize="1" noEditPoints="1" noAdjustHandles="1" noChangeArrowheads="1" noChangeShapeType="1" noTextEdit="1"/>
              </p:cNvSpPr>
              <p:nvPr/>
            </p:nvSpPr>
            <p:spPr>
              <a:xfrm>
                <a:off x="4019548" y="2792410"/>
                <a:ext cx="1562097" cy="438150"/>
              </a:xfrm>
              <a:prstGeom prst="rect">
                <a:avLst/>
              </a:prstGeom>
              <a:blipFill>
                <a:blip r:embed="rId9"/>
                <a:stretch>
                  <a:fillRect b="-2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Rectangle 13">
                <a:extLst>
                  <a:ext uri="{FF2B5EF4-FFF2-40B4-BE49-F238E27FC236}">
                    <a16:creationId xmlns:a16="http://schemas.microsoft.com/office/drawing/2014/main" id="{AE9E696C-1E9C-0033-ECDF-71B310147316}"/>
                  </a:ext>
                </a:extLst>
              </p:cNvPr>
              <p:cNvSpPr/>
              <p:nvPr/>
            </p:nvSpPr>
            <p:spPr>
              <a:xfrm>
                <a:off x="6610352" y="3448051"/>
                <a:ext cx="5257798" cy="43815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 ¬</m:t>
                      </m:r>
                      <m:r>
                        <a:rPr lang="en-US" b="1" i="1">
                          <a:latin typeface="Cambria Math" panose="02040503050406030204" pitchFamily="18" charset="0"/>
                        </a:rPr>
                        <m:t>𝑺𝒆𝒍𝒍𝒔</m:t>
                      </m:r>
                      <m:d>
                        <m:dPr>
                          <m:ctrlPr>
                            <a:rPr lang="en-US" b="1" i="1">
                              <a:latin typeface="Cambria Math" panose="02040503050406030204" pitchFamily="18" charset="0"/>
                            </a:rPr>
                          </m:ctrlPr>
                        </m:dPr>
                        <m:e>
                          <m:r>
                            <a:rPr lang="en-US" b="1" i="1" smtClean="0">
                              <a:latin typeface="Cambria Math" panose="02040503050406030204" pitchFamily="18" charset="0"/>
                            </a:rPr>
                            <m:t>𝑾𝒆𝒔𝒕</m:t>
                          </m:r>
                          <m:r>
                            <a:rPr lang="en-US" b="1" i="1" smtClean="0">
                              <a:latin typeface="Cambria Math" panose="02040503050406030204" pitchFamily="18" charset="0"/>
                            </a:rPr>
                            <m:t>, </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𝑴</m:t>
                              </m:r>
                            </m:e>
                            <m:sub>
                              <m:r>
                                <a:rPr lang="en-US" b="1" i="1" smtClean="0">
                                  <a:latin typeface="Cambria Math" panose="02040503050406030204" pitchFamily="18" charset="0"/>
                                </a:rPr>
                                <m:t>𝟏</m:t>
                              </m:r>
                            </m:sub>
                          </m:sSub>
                          <m:r>
                            <a:rPr lang="en-US" b="1" i="1">
                              <a:latin typeface="Cambria Math" panose="02040503050406030204" pitchFamily="18" charset="0"/>
                            </a:rPr>
                            <m:t>, </m:t>
                          </m:r>
                          <m:r>
                            <a:rPr lang="en-US" b="1" i="1">
                              <a:latin typeface="Cambria Math" panose="02040503050406030204" pitchFamily="18" charset="0"/>
                            </a:rPr>
                            <m:t>𝒛</m:t>
                          </m:r>
                        </m:e>
                      </m:d>
                      <m:r>
                        <a:rPr lang="en-US" i="1">
                          <a:latin typeface="Cambria Math" panose="02040503050406030204" pitchFamily="18" charset="0"/>
                        </a:rPr>
                        <m:t>∨ ¬</m:t>
                      </m:r>
                      <m:r>
                        <a:rPr lang="en-US" i="1">
                          <a:latin typeface="Cambria Math" panose="02040503050406030204" pitchFamily="18" charset="0"/>
                        </a:rPr>
                        <m:t>𝐻𝑜𝑠𝑡𝑖𝑙𝑒</m:t>
                      </m:r>
                      <m:d>
                        <m:dPr>
                          <m:ctrlPr>
                            <a:rPr lang="en-US" i="1">
                              <a:latin typeface="Cambria Math" panose="02040503050406030204" pitchFamily="18" charset="0"/>
                            </a:rPr>
                          </m:ctrlPr>
                        </m:dPr>
                        <m:e>
                          <m:r>
                            <a:rPr lang="en-US" i="1">
                              <a:latin typeface="Cambria Math" panose="02040503050406030204" pitchFamily="18" charset="0"/>
                            </a:rPr>
                            <m:t>𝑧</m:t>
                          </m:r>
                        </m:e>
                      </m:d>
                    </m:oMath>
                  </m:oMathPara>
                </a14:m>
                <a:endParaRPr lang="en-US" b="1" i="1" dirty="0">
                  <a:latin typeface="Cambria Math" panose="02040503050406030204" pitchFamily="18" charset="0"/>
                </a:endParaRPr>
              </a:p>
            </p:txBody>
          </p:sp>
        </mc:Choice>
        <mc:Fallback xmlns="">
          <p:sp>
            <p:nvSpPr>
              <p:cNvPr id="14" name="Rectangle 13">
                <a:extLst>
                  <a:ext uri="{FF2B5EF4-FFF2-40B4-BE49-F238E27FC236}">
                    <a16:creationId xmlns:a16="http://schemas.microsoft.com/office/drawing/2014/main" id="{AE9E696C-1E9C-0033-ECDF-71B310147316}"/>
                  </a:ext>
                </a:extLst>
              </p:cNvPr>
              <p:cNvSpPr>
                <a:spLocks noRot="1" noChangeAspect="1" noMove="1" noResize="1" noEditPoints="1" noAdjustHandles="1" noChangeArrowheads="1" noChangeShapeType="1" noTextEdit="1"/>
              </p:cNvSpPr>
              <p:nvPr/>
            </p:nvSpPr>
            <p:spPr>
              <a:xfrm>
                <a:off x="6610352" y="3448051"/>
                <a:ext cx="5257798" cy="438150"/>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Rectangle 14">
                <a:extLst>
                  <a:ext uri="{FF2B5EF4-FFF2-40B4-BE49-F238E27FC236}">
                    <a16:creationId xmlns:a16="http://schemas.microsoft.com/office/drawing/2014/main" id="{88145DF2-E738-4EE8-D3ED-31596B1EC1C3}"/>
                  </a:ext>
                </a:extLst>
              </p:cNvPr>
              <p:cNvSpPr/>
              <p:nvPr/>
            </p:nvSpPr>
            <p:spPr>
              <a:xfrm>
                <a:off x="0" y="3448051"/>
                <a:ext cx="5581646" cy="43815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14:m>
                  <m:oMathPara xmlns:m="http://schemas.openxmlformats.org/officeDocument/2006/math">
                    <m:oMathParaPr>
                      <m:jc m:val="centerGroup"/>
                    </m:oMathParaPr>
                    <m:oMath xmlns:m="http://schemas.openxmlformats.org/officeDocument/2006/math">
                      <m:r>
                        <a:rPr lang="en-US" sz="1600" i="1">
                          <a:latin typeface="Cambria Math" panose="02040503050406030204" pitchFamily="18" charset="0"/>
                        </a:rPr>
                        <m:t>¬</m:t>
                      </m:r>
                      <m:r>
                        <a:rPr lang="en-US" sz="1600" i="1">
                          <a:latin typeface="Cambria Math" panose="02040503050406030204" pitchFamily="18" charset="0"/>
                        </a:rPr>
                        <m:t>𝑀𝑖𝑠𝑠𝑖𝑙𝑒</m:t>
                      </m:r>
                      <m:d>
                        <m:dPr>
                          <m:ctrlPr>
                            <a:rPr lang="en-US" sz="1600" i="1">
                              <a:latin typeface="Cambria Math" panose="02040503050406030204" pitchFamily="18" charset="0"/>
                            </a:rPr>
                          </m:ctrlPr>
                        </m:dPr>
                        <m:e>
                          <m:r>
                            <a:rPr lang="en-US" sz="1600" i="1">
                              <a:latin typeface="Cambria Math" panose="02040503050406030204" pitchFamily="18" charset="0"/>
                            </a:rPr>
                            <m:t>𝑥</m:t>
                          </m:r>
                        </m:e>
                      </m:d>
                      <m:r>
                        <a:rPr lang="en-US" sz="1600" i="1">
                          <a:latin typeface="Cambria Math" panose="02040503050406030204" pitchFamily="18" charset="0"/>
                        </a:rPr>
                        <m:t>∨ ¬</m:t>
                      </m:r>
                      <m:r>
                        <a:rPr lang="en-US" sz="1600" i="1">
                          <a:latin typeface="Cambria Math" panose="02040503050406030204" pitchFamily="18" charset="0"/>
                        </a:rPr>
                        <m:t>𝑂𝑤𝑛𝑠</m:t>
                      </m:r>
                      <m:d>
                        <m:dPr>
                          <m:ctrlPr>
                            <a:rPr lang="en-US" sz="1600" i="1">
                              <a:latin typeface="Cambria Math" panose="02040503050406030204" pitchFamily="18" charset="0"/>
                            </a:rPr>
                          </m:ctrlPr>
                        </m:dPr>
                        <m:e>
                          <m:r>
                            <a:rPr lang="en-US" sz="1600" i="1">
                              <a:latin typeface="Cambria Math" panose="02040503050406030204" pitchFamily="18" charset="0"/>
                            </a:rPr>
                            <m:t>𝑅𝑢𝑠</m:t>
                          </m:r>
                          <m:r>
                            <a:rPr lang="en-US" sz="1600" i="1">
                              <a:latin typeface="Cambria Math" panose="02040503050406030204" pitchFamily="18" charset="0"/>
                            </a:rPr>
                            <m:t>h</m:t>
                          </m:r>
                          <m:r>
                            <a:rPr lang="en-US" sz="1600" i="1">
                              <a:latin typeface="Cambria Math" panose="02040503050406030204" pitchFamily="18" charset="0"/>
                            </a:rPr>
                            <m:t>𝑎</m:t>
                          </m:r>
                          <m:r>
                            <a:rPr lang="en-US" sz="1600" i="1">
                              <a:latin typeface="Cambria Math" panose="02040503050406030204" pitchFamily="18" charset="0"/>
                            </a:rPr>
                            <m:t>, </m:t>
                          </m:r>
                          <m:r>
                            <a:rPr lang="en-US" sz="1600" i="1">
                              <a:latin typeface="Cambria Math" panose="02040503050406030204" pitchFamily="18" charset="0"/>
                            </a:rPr>
                            <m:t>𝑥</m:t>
                          </m:r>
                        </m:e>
                      </m:d>
                      <m:r>
                        <a:rPr lang="en-US" sz="1600" i="1">
                          <a:latin typeface="Cambria Math" panose="02040503050406030204" pitchFamily="18" charset="0"/>
                        </a:rPr>
                        <m:t>∨ </m:t>
                      </m:r>
                      <m:r>
                        <a:rPr lang="en-US" sz="1600" b="1" i="1">
                          <a:latin typeface="Cambria Math" panose="02040503050406030204" pitchFamily="18" charset="0"/>
                        </a:rPr>
                        <m:t>𝑺𝒆𝒍𝒍𝒔</m:t>
                      </m:r>
                      <m:d>
                        <m:dPr>
                          <m:ctrlPr>
                            <a:rPr lang="en-US" sz="1600" b="1" i="1">
                              <a:latin typeface="Cambria Math" panose="02040503050406030204" pitchFamily="18" charset="0"/>
                            </a:rPr>
                          </m:ctrlPr>
                        </m:dPr>
                        <m:e>
                          <m:r>
                            <a:rPr lang="en-US" sz="1600" b="1" i="1">
                              <a:latin typeface="Cambria Math" panose="02040503050406030204" pitchFamily="18" charset="0"/>
                            </a:rPr>
                            <m:t>𝑾𝒆𝒔𝒕</m:t>
                          </m:r>
                          <m:r>
                            <a:rPr lang="en-US" sz="1600" b="1" i="1">
                              <a:latin typeface="Cambria Math" panose="02040503050406030204" pitchFamily="18" charset="0"/>
                            </a:rPr>
                            <m:t>, </m:t>
                          </m:r>
                          <m:r>
                            <a:rPr lang="en-US" sz="1600" b="1" i="1">
                              <a:latin typeface="Cambria Math" panose="02040503050406030204" pitchFamily="18" charset="0"/>
                            </a:rPr>
                            <m:t>𝒙</m:t>
                          </m:r>
                          <m:r>
                            <a:rPr lang="en-US" sz="1600" b="1" i="1">
                              <a:latin typeface="Cambria Math" panose="02040503050406030204" pitchFamily="18" charset="0"/>
                            </a:rPr>
                            <m:t>, </m:t>
                          </m:r>
                          <m:r>
                            <a:rPr lang="en-US" sz="1600" b="1" i="1">
                              <a:latin typeface="Cambria Math" panose="02040503050406030204" pitchFamily="18" charset="0"/>
                            </a:rPr>
                            <m:t>𝑹𝒖𝒔𝒉𝒂</m:t>
                          </m:r>
                        </m:e>
                      </m:d>
                    </m:oMath>
                  </m:oMathPara>
                </a14:m>
                <a:endParaRPr lang="en-US" sz="1600" b="1" i="1" dirty="0">
                  <a:latin typeface="Cambria Math" panose="02040503050406030204" pitchFamily="18" charset="0"/>
                </a:endParaRPr>
              </a:p>
            </p:txBody>
          </p:sp>
        </mc:Choice>
        <mc:Fallback xmlns="">
          <p:sp>
            <p:nvSpPr>
              <p:cNvPr id="15" name="Rectangle 14">
                <a:extLst>
                  <a:ext uri="{FF2B5EF4-FFF2-40B4-BE49-F238E27FC236}">
                    <a16:creationId xmlns:a16="http://schemas.microsoft.com/office/drawing/2014/main" id="{88145DF2-E738-4EE8-D3ED-31596B1EC1C3}"/>
                  </a:ext>
                </a:extLst>
              </p:cNvPr>
              <p:cNvSpPr>
                <a:spLocks noRot="1" noChangeAspect="1" noMove="1" noResize="1" noEditPoints="1" noAdjustHandles="1" noChangeArrowheads="1" noChangeShapeType="1" noTextEdit="1"/>
              </p:cNvSpPr>
              <p:nvPr/>
            </p:nvSpPr>
            <p:spPr>
              <a:xfrm>
                <a:off x="0" y="3448051"/>
                <a:ext cx="5581646" cy="438150"/>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6" name="Rectangle 15">
                <a:extLst>
                  <a:ext uri="{FF2B5EF4-FFF2-40B4-BE49-F238E27FC236}">
                    <a16:creationId xmlns:a16="http://schemas.microsoft.com/office/drawing/2014/main" id="{1CA1FE4F-11CE-765C-95D2-B62F2825DEA5}"/>
                  </a:ext>
                </a:extLst>
              </p:cNvPr>
              <p:cNvSpPr/>
              <p:nvPr/>
            </p:nvSpPr>
            <p:spPr>
              <a:xfrm>
                <a:off x="6543677" y="4073525"/>
                <a:ext cx="5391148" cy="43815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14:m>
                  <m:oMathPara xmlns:m="http://schemas.openxmlformats.org/officeDocument/2006/math">
                    <m:oMathParaPr>
                      <m:jc m:val="centerGroup"/>
                    </m:oMathParaPr>
                    <m:oMath xmlns:m="http://schemas.openxmlformats.org/officeDocument/2006/math">
                      <m:r>
                        <a:rPr lang="en-US" sz="1600" i="1" smtClean="0">
                          <a:latin typeface="Cambria Math" panose="02040503050406030204" pitchFamily="18" charset="0"/>
                        </a:rPr>
                        <m:t>¬</m:t>
                      </m:r>
                      <m:r>
                        <a:rPr lang="en-US" sz="1600" i="1" smtClean="0">
                          <a:latin typeface="Cambria Math" panose="02040503050406030204" pitchFamily="18" charset="0"/>
                        </a:rPr>
                        <m:t>𝑀𝑖𝑠𝑠𝑖𝑙𝑒</m:t>
                      </m:r>
                      <m:d>
                        <m:dPr>
                          <m:ctrlPr>
                            <a:rPr lang="en-US" sz="1600" i="1">
                              <a:latin typeface="Cambria Math" panose="02040503050406030204" pitchFamily="18" charset="0"/>
                            </a:rPr>
                          </m:ctrlPr>
                        </m:dPr>
                        <m:e>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𝑀</m:t>
                              </m:r>
                            </m:e>
                            <m:sub>
                              <m:r>
                                <a:rPr lang="en-US" sz="1600" b="0" i="1" smtClean="0">
                                  <a:latin typeface="Cambria Math" panose="02040503050406030204" pitchFamily="18" charset="0"/>
                                </a:rPr>
                                <m:t>1</m:t>
                              </m:r>
                            </m:sub>
                          </m:sSub>
                        </m:e>
                      </m:d>
                      <m:r>
                        <a:rPr lang="en-US" sz="1600" i="1">
                          <a:latin typeface="Cambria Math" panose="02040503050406030204" pitchFamily="18" charset="0"/>
                        </a:rPr>
                        <m:t>∨ ¬</m:t>
                      </m:r>
                      <m:r>
                        <a:rPr lang="en-US" sz="1600" i="1">
                          <a:latin typeface="Cambria Math" panose="02040503050406030204" pitchFamily="18" charset="0"/>
                        </a:rPr>
                        <m:t>𝑂𝑤𝑛𝑠</m:t>
                      </m:r>
                      <m:d>
                        <m:dPr>
                          <m:ctrlPr>
                            <a:rPr lang="en-US" sz="1600" i="1">
                              <a:latin typeface="Cambria Math" panose="02040503050406030204" pitchFamily="18" charset="0"/>
                            </a:rPr>
                          </m:ctrlPr>
                        </m:dPr>
                        <m:e>
                          <m:r>
                            <a:rPr lang="en-US" sz="1600" i="1">
                              <a:latin typeface="Cambria Math" panose="02040503050406030204" pitchFamily="18" charset="0"/>
                            </a:rPr>
                            <m:t>𝑅𝑢𝑠</m:t>
                          </m:r>
                          <m:r>
                            <a:rPr lang="en-US" sz="1600" i="1">
                              <a:latin typeface="Cambria Math" panose="02040503050406030204" pitchFamily="18" charset="0"/>
                            </a:rPr>
                            <m:t>h</m:t>
                          </m:r>
                          <m:r>
                            <a:rPr lang="en-US" sz="1600" i="1">
                              <a:latin typeface="Cambria Math" panose="02040503050406030204" pitchFamily="18" charset="0"/>
                            </a:rPr>
                            <m:t>𝑎</m:t>
                          </m:r>
                          <m:r>
                            <a:rPr lang="en-US" sz="1600" i="1">
                              <a:latin typeface="Cambria Math" panose="02040503050406030204" pitchFamily="18" charset="0"/>
                            </a:rPr>
                            <m:t>, </m:t>
                          </m:r>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𝑀</m:t>
                              </m:r>
                            </m:e>
                            <m:sub>
                              <m:r>
                                <a:rPr lang="en-US" sz="1600" b="0" i="1" smtClean="0">
                                  <a:latin typeface="Cambria Math" panose="02040503050406030204" pitchFamily="18" charset="0"/>
                                </a:rPr>
                                <m:t>1</m:t>
                              </m:r>
                            </m:sub>
                          </m:sSub>
                        </m:e>
                      </m:d>
                      <m:r>
                        <a:rPr lang="en-US" sz="1600" i="1">
                          <a:latin typeface="Cambria Math" panose="02040503050406030204" pitchFamily="18" charset="0"/>
                        </a:rPr>
                        <m:t>∨</m:t>
                      </m:r>
                      <m:r>
                        <a:rPr lang="en-US" sz="1600" b="1" i="1" smtClean="0">
                          <a:latin typeface="Cambria Math" panose="02040503050406030204" pitchFamily="18" charset="0"/>
                        </a:rPr>
                        <m:t>¬</m:t>
                      </m:r>
                      <m:r>
                        <a:rPr lang="en-US" sz="1600" b="1" i="1" smtClean="0">
                          <a:latin typeface="Cambria Math" panose="02040503050406030204" pitchFamily="18" charset="0"/>
                        </a:rPr>
                        <m:t>𝑯𝒐𝒔𝒕𝒊𝒍𝒆</m:t>
                      </m:r>
                      <m:d>
                        <m:dPr>
                          <m:ctrlPr>
                            <a:rPr lang="en-US" sz="1600" b="1" i="1">
                              <a:latin typeface="Cambria Math" panose="02040503050406030204" pitchFamily="18" charset="0"/>
                            </a:rPr>
                          </m:ctrlPr>
                        </m:dPr>
                        <m:e>
                          <m:r>
                            <a:rPr lang="en-US" sz="1600" b="1" i="1" smtClean="0">
                              <a:latin typeface="Cambria Math" panose="02040503050406030204" pitchFamily="18" charset="0"/>
                            </a:rPr>
                            <m:t>𝑹𝒖𝒔𝒉𝒂</m:t>
                          </m:r>
                        </m:e>
                      </m:d>
                    </m:oMath>
                  </m:oMathPara>
                </a14:m>
                <a:endParaRPr lang="en-US" sz="1600" b="1" i="1" dirty="0">
                  <a:latin typeface="Cambria Math" panose="02040503050406030204" pitchFamily="18" charset="0"/>
                </a:endParaRPr>
              </a:p>
            </p:txBody>
          </p:sp>
        </mc:Choice>
        <mc:Fallback>
          <p:sp>
            <p:nvSpPr>
              <p:cNvPr id="16" name="Rectangle 15">
                <a:extLst>
                  <a:ext uri="{FF2B5EF4-FFF2-40B4-BE49-F238E27FC236}">
                    <a16:creationId xmlns:a16="http://schemas.microsoft.com/office/drawing/2014/main" id="{1CA1FE4F-11CE-765C-95D2-B62F2825DEA5}"/>
                  </a:ext>
                </a:extLst>
              </p:cNvPr>
              <p:cNvSpPr>
                <a:spLocks noRot="1" noChangeAspect="1" noMove="1" noResize="1" noEditPoints="1" noAdjustHandles="1" noChangeArrowheads="1" noChangeShapeType="1" noTextEdit="1"/>
              </p:cNvSpPr>
              <p:nvPr/>
            </p:nvSpPr>
            <p:spPr>
              <a:xfrm>
                <a:off x="6543677" y="4073525"/>
                <a:ext cx="5391148" cy="438150"/>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Rectangle 16">
                <a:extLst>
                  <a:ext uri="{FF2B5EF4-FFF2-40B4-BE49-F238E27FC236}">
                    <a16:creationId xmlns:a16="http://schemas.microsoft.com/office/drawing/2014/main" id="{35C62680-EEA8-E619-68E9-86D80768A9AD}"/>
                  </a:ext>
                </a:extLst>
              </p:cNvPr>
              <p:cNvSpPr/>
              <p:nvPr/>
            </p:nvSpPr>
            <p:spPr>
              <a:xfrm>
                <a:off x="4019547" y="4076699"/>
                <a:ext cx="1562097" cy="43815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𝑴𝒊𝒔𝒔𝒊𝒍𝒆</m:t>
                      </m:r>
                      <m:r>
                        <a:rPr lang="en-US" b="1" i="1" smtClean="0">
                          <a:latin typeface="Cambria Math" panose="02040503050406030204" pitchFamily="18" charset="0"/>
                        </a:rPr>
                        <m:t>(</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𝑴</m:t>
                          </m:r>
                        </m:e>
                        <m:sub>
                          <m:r>
                            <a:rPr lang="en-US" b="1" i="1" smtClean="0">
                              <a:latin typeface="Cambria Math" panose="02040503050406030204" pitchFamily="18" charset="0"/>
                            </a:rPr>
                            <m:t>𝟏</m:t>
                          </m:r>
                        </m:sub>
                      </m:sSub>
                      <m:r>
                        <a:rPr lang="en-US" b="1" i="1" smtClean="0">
                          <a:latin typeface="Cambria Math" panose="02040503050406030204" pitchFamily="18" charset="0"/>
                        </a:rPr>
                        <m:t>)</m:t>
                      </m:r>
                    </m:oMath>
                  </m:oMathPara>
                </a14:m>
                <a:endParaRPr lang="en-US" b="1" i="1" dirty="0">
                  <a:latin typeface="Cambria Math" panose="02040503050406030204" pitchFamily="18" charset="0"/>
                </a:endParaRPr>
              </a:p>
            </p:txBody>
          </p:sp>
        </mc:Choice>
        <mc:Fallback xmlns="">
          <p:sp>
            <p:nvSpPr>
              <p:cNvPr id="17" name="Rectangle 16">
                <a:extLst>
                  <a:ext uri="{FF2B5EF4-FFF2-40B4-BE49-F238E27FC236}">
                    <a16:creationId xmlns:a16="http://schemas.microsoft.com/office/drawing/2014/main" id="{35C62680-EEA8-E619-68E9-86D80768A9AD}"/>
                  </a:ext>
                </a:extLst>
              </p:cNvPr>
              <p:cNvSpPr>
                <a:spLocks noRot="1" noChangeAspect="1" noMove="1" noResize="1" noEditPoints="1" noAdjustHandles="1" noChangeArrowheads="1" noChangeShapeType="1" noTextEdit="1"/>
              </p:cNvSpPr>
              <p:nvPr/>
            </p:nvSpPr>
            <p:spPr>
              <a:xfrm>
                <a:off x="4019547" y="4076699"/>
                <a:ext cx="1562097" cy="438150"/>
              </a:xfrm>
              <a:prstGeom prst="rect">
                <a:avLst/>
              </a:prstGeom>
              <a:blipFill>
                <a:blip r:embed="rId13"/>
                <a:stretch>
                  <a:fillRect b="-1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Rectangle 17">
                <a:extLst>
                  <a:ext uri="{FF2B5EF4-FFF2-40B4-BE49-F238E27FC236}">
                    <a16:creationId xmlns:a16="http://schemas.microsoft.com/office/drawing/2014/main" id="{BDD18B3E-B753-313A-A961-13B4F5066DBE}"/>
                  </a:ext>
                </a:extLst>
              </p:cNvPr>
              <p:cNvSpPr/>
              <p:nvPr/>
            </p:nvSpPr>
            <p:spPr>
              <a:xfrm>
                <a:off x="6610352" y="4698999"/>
                <a:ext cx="5257798" cy="43815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14:m>
                  <m:oMathPara xmlns:m="http://schemas.openxmlformats.org/officeDocument/2006/math">
                    <m:oMathParaPr>
                      <m:jc m:val="centerGroup"/>
                    </m:oMathParaPr>
                    <m:oMath xmlns:m="http://schemas.openxmlformats.org/officeDocument/2006/math">
                      <m:r>
                        <a:rPr lang="en-US" sz="1600" i="1" smtClean="0">
                          <a:latin typeface="Cambria Math" panose="02040503050406030204" pitchFamily="18" charset="0"/>
                        </a:rPr>
                        <m:t>¬</m:t>
                      </m:r>
                      <m:r>
                        <a:rPr lang="en-US" sz="1600" i="1" smtClean="0">
                          <a:latin typeface="Cambria Math" panose="02040503050406030204" pitchFamily="18" charset="0"/>
                        </a:rPr>
                        <m:t>𝑂𝑤𝑛𝑠</m:t>
                      </m:r>
                      <m:d>
                        <m:dPr>
                          <m:ctrlPr>
                            <a:rPr lang="en-US" sz="1600" i="1">
                              <a:latin typeface="Cambria Math" panose="02040503050406030204" pitchFamily="18" charset="0"/>
                            </a:rPr>
                          </m:ctrlPr>
                        </m:dPr>
                        <m:e>
                          <m:r>
                            <a:rPr lang="en-US" sz="1600" i="1">
                              <a:latin typeface="Cambria Math" panose="02040503050406030204" pitchFamily="18" charset="0"/>
                            </a:rPr>
                            <m:t>𝑅𝑢𝑠</m:t>
                          </m:r>
                          <m:r>
                            <a:rPr lang="en-US" sz="1600" i="1">
                              <a:latin typeface="Cambria Math" panose="02040503050406030204" pitchFamily="18" charset="0"/>
                            </a:rPr>
                            <m:t>h</m:t>
                          </m:r>
                          <m:r>
                            <a:rPr lang="en-US" sz="1600" i="1">
                              <a:latin typeface="Cambria Math" panose="02040503050406030204" pitchFamily="18" charset="0"/>
                            </a:rPr>
                            <m:t>𝑎</m:t>
                          </m:r>
                          <m:r>
                            <a:rPr lang="en-US" sz="1600" i="1">
                              <a:latin typeface="Cambria Math" panose="02040503050406030204" pitchFamily="18" charset="0"/>
                            </a:rPr>
                            <m:t>, </m:t>
                          </m:r>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𝑀</m:t>
                              </m:r>
                            </m:e>
                            <m:sub>
                              <m:r>
                                <a:rPr lang="en-US" sz="1600" b="0" i="1" smtClean="0">
                                  <a:latin typeface="Cambria Math" panose="02040503050406030204" pitchFamily="18" charset="0"/>
                                </a:rPr>
                                <m:t>1</m:t>
                              </m:r>
                            </m:sub>
                          </m:sSub>
                        </m:e>
                      </m:d>
                      <m:r>
                        <a:rPr lang="en-US" sz="1600" i="1">
                          <a:latin typeface="Cambria Math" panose="02040503050406030204" pitchFamily="18" charset="0"/>
                        </a:rPr>
                        <m:t>∨</m:t>
                      </m:r>
                      <m:r>
                        <a:rPr lang="en-US" sz="1600" b="1" i="1" smtClean="0">
                          <a:latin typeface="Cambria Math" panose="02040503050406030204" pitchFamily="18" charset="0"/>
                        </a:rPr>
                        <m:t>¬</m:t>
                      </m:r>
                      <m:r>
                        <a:rPr lang="en-US" sz="1600" b="1" i="1" smtClean="0">
                          <a:latin typeface="Cambria Math" panose="02040503050406030204" pitchFamily="18" charset="0"/>
                        </a:rPr>
                        <m:t>𝑯𝒐𝒔𝒕𝒊𝒍𝒆</m:t>
                      </m:r>
                      <m:d>
                        <m:dPr>
                          <m:ctrlPr>
                            <a:rPr lang="en-US" sz="1600" b="1" i="1">
                              <a:latin typeface="Cambria Math" panose="02040503050406030204" pitchFamily="18" charset="0"/>
                            </a:rPr>
                          </m:ctrlPr>
                        </m:dPr>
                        <m:e>
                          <m:r>
                            <a:rPr lang="en-US" sz="1600" b="1" i="1" smtClean="0">
                              <a:latin typeface="Cambria Math" panose="02040503050406030204" pitchFamily="18" charset="0"/>
                            </a:rPr>
                            <m:t>𝑹𝒖𝒔𝒉𝒂</m:t>
                          </m:r>
                        </m:e>
                      </m:d>
                    </m:oMath>
                  </m:oMathPara>
                </a14:m>
                <a:endParaRPr lang="en-US" sz="1600" b="1" i="1" dirty="0">
                  <a:latin typeface="Cambria Math" panose="02040503050406030204" pitchFamily="18" charset="0"/>
                </a:endParaRPr>
              </a:p>
            </p:txBody>
          </p:sp>
        </mc:Choice>
        <mc:Fallback xmlns="">
          <p:sp>
            <p:nvSpPr>
              <p:cNvPr id="18" name="Rectangle 17">
                <a:extLst>
                  <a:ext uri="{FF2B5EF4-FFF2-40B4-BE49-F238E27FC236}">
                    <a16:creationId xmlns:a16="http://schemas.microsoft.com/office/drawing/2014/main" id="{BDD18B3E-B753-313A-A961-13B4F5066DBE}"/>
                  </a:ext>
                </a:extLst>
              </p:cNvPr>
              <p:cNvSpPr>
                <a:spLocks noRot="1" noChangeAspect="1" noMove="1" noResize="1" noEditPoints="1" noAdjustHandles="1" noChangeArrowheads="1" noChangeShapeType="1" noTextEdit="1"/>
              </p:cNvSpPr>
              <p:nvPr/>
            </p:nvSpPr>
            <p:spPr>
              <a:xfrm>
                <a:off x="6610352" y="4698999"/>
                <a:ext cx="5257798" cy="438150"/>
              </a:xfrm>
              <a:prstGeom prst="rect">
                <a:avLst/>
              </a:prstGeom>
              <a:blipFill>
                <a:blip r:embed="rId1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Rectangle 18">
                <a:extLst>
                  <a:ext uri="{FF2B5EF4-FFF2-40B4-BE49-F238E27FC236}">
                    <a16:creationId xmlns:a16="http://schemas.microsoft.com/office/drawing/2014/main" id="{7F7A10FE-19FE-D883-1770-CA9795A1CD92}"/>
                  </a:ext>
                </a:extLst>
              </p:cNvPr>
              <p:cNvSpPr/>
              <p:nvPr/>
            </p:nvSpPr>
            <p:spPr>
              <a:xfrm>
                <a:off x="3581402" y="4705347"/>
                <a:ext cx="2000246" cy="43815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𝑶𝒘𝒏𝒔</m:t>
                      </m:r>
                      <m:r>
                        <a:rPr lang="en-US" b="1" i="1" smtClean="0">
                          <a:latin typeface="Cambria Math" panose="02040503050406030204" pitchFamily="18" charset="0"/>
                        </a:rPr>
                        <m:t>(</m:t>
                      </m:r>
                      <m:r>
                        <a:rPr lang="en-US" b="1" i="1" smtClean="0">
                          <a:latin typeface="Cambria Math" panose="02040503050406030204" pitchFamily="18" charset="0"/>
                        </a:rPr>
                        <m:t>𝑹𝒖𝒔𝒉𝒂</m:t>
                      </m:r>
                      <m:r>
                        <a:rPr lang="en-US" b="1" i="1" smtClean="0">
                          <a:latin typeface="Cambria Math" panose="02040503050406030204" pitchFamily="18" charset="0"/>
                        </a:rPr>
                        <m:t>, </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𝑴</m:t>
                          </m:r>
                        </m:e>
                        <m:sub>
                          <m:r>
                            <a:rPr lang="en-US" b="1" i="1" smtClean="0">
                              <a:latin typeface="Cambria Math" panose="02040503050406030204" pitchFamily="18" charset="0"/>
                            </a:rPr>
                            <m:t>𝟏</m:t>
                          </m:r>
                        </m:sub>
                      </m:sSub>
                      <m:r>
                        <a:rPr lang="en-US" b="1" i="1" smtClean="0">
                          <a:latin typeface="Cambria Math" panose="02040503050406030204" pitchFamily="18" charset="0"/>
                        </a:rPr>
                        <m:t>)</m:t>
                      </m:r>
                    </m:oMath>
                  </m:oMathPara>
                </a14:m>
                <a:endParaRPr lang="en-US" b="1" i="1" dirty="0">
                  <a:latin typeface="Cambria Math" panose="02040503050406030204" pitchFamily="18" charset="0"/>
                </a:endParaRPr>
              </a:p>
            </p:txBody>
          </p:sp>
        </mc:Choice>
        <mc:Fallback xmlns="">
          <p:sp>
            <p:nvSpPr>
              <p:cNvPr id="19" name="Rectangle 18">
                <a:extLst>
                  <a:ext uri="{FF2B5EF4-FFF2-40B4-BE49-F238E27FC236}">
                    <a16:creationId xmlns:a16="http://schemas.microsoft.com/office/drawing/2014/main" id="{7F7A10FE-19FE-D883-1770-CA9795A1CD92}"/>
                  </a:ext>
                </a:extLst>
              </p:cNvPr>
              <p:cNvSpPr>
                <a:spLocks noRot="1" noChangeAspect="1" noMove="1" noResize="1" noEditPoints="1" noAdjustHandles="1" noChangeArrowheads="1" noChangeShapeType="1" noTextEdit="1"/>
              </p:cNvSpPr>
              <p:nvPr/>
            </p:nvSpPr>
            <p:spPr>
              <a:xfrm>
                <a:off x="3581402" y="4705347"/>
                <a:ext cx="2000246" cy="438150"/>
              </a:xfrm>
              <a:prstGeom prst="rect">
                <a:avLst/>
              </a:prstGeom>
              <a:blipFill>
                <a:blip r:embed="rId15"/>
                <a:stretch>
                  <a:fillRect r="-4834" b="-1333"/>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0" name="Rectangle 19">
                <a:extLst>
                  <a:ext uri="{FF2B5EF4-FFF2-40B4-BE49-F238E27FC236}">
                    <a16:creationId xmlns:a16="http://schemas.microsoft.com/office/drawing/2014/main" id="{FF3E57CC-5A26-CFFC-423E-D3750319A530}"/>
                  </a:ext>
                </a:extLst>
              </p:cNvPr>
              <p:cNvSpPr/>
              <p:nvPr/>
            </p:nvSpPr>
            <p:spPr>
              <a:xfrm>
                <a:off x="7690104" y="5363592"/>
                <a:ext cx="3099816" cy="319088"/>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14:m>
                  <m:oMathPara xmlns:m="http://schemas.openxmlformats.org/officeDocument/2006/math">
                    <m:oMathParaPr>
                      <m:jc m:val="centerGroup"/>
                    </m:oMathParaPr>
                    <m:oMath xmlns:m="http://schemas.openxmlformats.org/officeDocument/2006/math">
                      <m:r>
                        <a:rPr lang="en-US" sz="1600" i="1">
                          <a:latin typeface="Cambria Math" panose="02040503050406030204" pitchFamily="18" charset="0"/>
                        </a:rPr>
                        <m:t>¬</m:t>
                      </m:r>
                      <m:r>
                        <a:rPr lang="en-US" sz="1600" b="1" i="1" smtClean="0">
                          <a:latin typeface="Cambria Math" panose="02040503050406030204" pitchFamily="18" charset="0"/>
                        </a:rPr>
                        <m:t>𝑯𝒐𝒔𝒕𝒊𝒍𝒆</m:t>
                      </m:r>
                      <m:d>
                        <m:dPr>
                          <m:ctrlPr>
                            <a:rPr lang="en-US" sz="1600" b="1" i="1">
                              <a:latin typeface="Cambria Math" panose="02040503050406030204" pitchFamily="18" charset="0"/>
                            </a:rPr>
                          </m:ctrlPr>
                        </m:dPr>
                        <m:e>
                          <m:r>
                            <a:rPr lang="en-US" sz="1600" b="1" i="1" smtClean="0">
                              <a:latin typeface="Cambria Math" panose="02040503050406030204" pitchFamily="18" charset="0"/>
                            </a:rPr>
                            <m:t>𝑹𝒖𝒔𝒉𝒂</m:t>
                          </m:r>
                        </m:e>
                      </m:d>
                    </m:oMath>
                  </m:oMathPara>
                </a14:m>
                <a:endParaRPr lang="en-US" sz="1600" b="1" i="1" dirty="0">
                  <a:latin typeface="Cambria Math" panose="02040503050406030204" pitchFamily="18" charset="0"/>
                </a:endParaRPr>
              </a:p>
            </p:txBody>
          </p:sp>
        </mc:Choice>
        <mc:Fallback>
          <p:sp>
            <p:nvSpPr>
              <p:cNvPr id="20" name="Rectangle 19">
                <a:extLst>
                  <a:ext uri="{FF2B5EF4-FFF2-40B4-BE49-F238E27FC236}">
                    <a16:creationId xmlns:a16="http://schemas.microsoft.com/office/drawing/2014/main" id="{FF3E57CC-5A26-CFFC-423E-D3750319A530}"/>
                  </a:ext>
                </a:extLst>
              </p:cNvPr>
              <p:cNvSpPr>
                <a:spLocks noRot="1" noChangeAspect="1" noMove="1" noResize="1" noEditPoints="1" noAdjustHandles="1" noChangeArrowheads="1" noChangeShapeType="1" noTextEdit="1"/>
              </p:cNvSpPr>
              <p:nvPr/>
            </p:nvSpPr>
            <p:spPr>
              <a:xfrm>
                <a:off x="7690104" y="5363592"/>
                <a:ext cx="3099816" cy="319088"/>
              </a:xfrm>
              <a:prstGeom prst="rect">
                <a:avLst/>
              </a:prstGeom>
              <a:blipFill>
                <a:blip r:embed="rId1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Rectangle 20">
                <a:extLst>
                  <a:ext uri="{FF2B5EF4-FFF2-40B4-BE49-F238E27FC236}">
                    <a16:creationId xmlns:a16="http://schemas.microsoft.com/office/drawing/2014/main" id="{447F370D-83EF-8E07-6B5F-213DB2F5D6B2}"/>
                  </a:ext>
                </a:extLst>
              </p:cNvPr>
              <p:cNvSpPr/>
              <p:nvPr/>
            </p:nvSpPr>
            <p:spPr>
              <a:xfrm>
                <a:off x="2209800" y="5360988"/>
                <a:ext cx="3371844" cy="43815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14:m>
                  <m:oMathPara xmlns:m="http://schemas.openxmlformats.org/officeDocument/2006/math">
                    <m:oMathParaPr>
                      <m:jc m:val="centerGroup"/>
                    </m:oMathParaPr>
                    <m:oMath xmlns:m="http://schemas.openxmlformats.org/officeDocument/2006/math">
                      <m:r>
                        <a:rPr lang="en-US" sz="1600" i="1">
                          <a:latin typeface="Cambria Math" panose="02040503050406030204" pitchFamily="18" charset="0"/>
                        </a:rPr>
                        <m:t>¬</m:t>
                      </m:r>
                      <m:r>
                        <a:rPr lang="en-US" sz="1600" i="1">
                          <a:latin typeface="Cambria Math" panose="02040503050406030204" pitchFamily="18" charset="0"/>
                        </a:rPr>
                        <m:t>𝐸𝑛𝑒𝑚𝑦</m:t>
                      </m:r>
                      <m:d>
                        <m:dPr>
                          <m:ctrlPr>
                            <a:rPr lang="en-US" sz="1600" i="1">
                              <a:latin typeface="Cambria Math" panose="02040503050406030204" pitchFamily="18" charset="0"/>
                            </a:rPr>
                          </m:ctrlPr>
                        </m:dPr>
                        <m:e>
                          <m:r>
                            <a:rPr lang="en-US" sz="1600" i="1">
                              <a:latin typeface="Cambria Math" panose="02040503050406030204" pitchFamily="18" charset="0"/>
                            </a:rPr>
                            <m:t>𝑥</m:t>
                          </m:r>
                          <m:r>
                            <a:rPr lang="en-US" sz="1600" i="1">
                              <a:latin typeface="Cambria Math" panose="02040503050406030204" pitchFamily="18" charset="0"/>
                            </a:rPr>
                            <m:t>, </m:t>
                          </m:r>
                          <m:r>
                            <a:rPr lang="en-US" sz="1600" i="1">
                              <a:latin typeface="Cambria Math" panose="02040503050406030204" pitchFamily="18" charset="0"/>
                            </a:rPr>
                            <m:t>𝐴𝑚𝑒𝑟𝑖𝑐𝑎</m:t>
                          </m:r>
                        </m:e>
                      </m:d>
                      <m:r>
                        <a:rPr lang="en-US" sz="1600" i="1">
                          <a:latin typeface="Cambria Math" panose="02040503050406030204" pitchFamily="18" charset="0"/>
                        </a:rPr>
                        <m:t>∨ </m:t>
                      </m:r>
                      <m:r>
                        <a:rPr lang="en-US" sz="1600" i="1">
                          <a:latin typeface="Cambria Math" panose="02040503050406030204" pitchFamily="18" charset="0"/>
                        </a:rPr>
                        <m:t>𝐻𝑜𝑠𝑡𝑖𝑙𝑒</m:t>
                      </m:r>
                      <m:d>
                        <m:dPr>
                          <m:ctrlPr>
                            <a:rPr lang="en-US" sz="1600" i="1">
                              <a:latin typeface="Cambria Math" panose="02040503050406030204" pitchFamily="18" charset="0"/>
                            </a:rPr>
                          </m:ctrlPr>
                        </m:dPr>
                        <m:e>
                          <m:r>
                            <a:rPr lang="en-US" sz="1600" i="1">
                              <a:latin typeface="Cambria Math" panose="02040503050406030204" pitchFamily="18" charset="0"/>
                            </a:rPr>
                            <m:t>𝑥</m:t>
                          </m:r>
                        </m:e>
                      </m:d>
                    </m:oMath>
                  </m:oMathPara>
                </a14:m>
                <a:endParaRPr lang="en-US" sz="1600" i="1" dirty="0">
                  <a:latin typeface="Cambria Math" panose="02040503050406030204" pitchFamily="18" charset="0"/>
                </a:endParaRPr>
              </a:p>
            </p:txBody>
          </p:sp>
        </mc:Choice>
        <mc:Fallback xmlns="">
          <p:sp>
            <p:nvSpPr>
              <p:cNvPr id="21" name="Rectangle 20">
                <a:extLst>
                  <a:ext uri="{FF2B5EF4-FFF2-40B4-BE49-F238E27FC236}">
                    <a16:creationId xmlns:a16="http://schemas.microsoft.com/office/drawing/2014/main" id="{447F370D-83EF-8E07-6B5F-213DB2F5D6B2}"/>
                  </a:ext>
                </a:extLst>
              </p:cNvPr>
              <p:cNvSpPr>
                <a:spLocks noRot="1" noChangeAspect="1" noMove="1" noResize="1" noEditPoints="1" noAdjustHandles="1" noChangeArrowheads="1" noChangeShapeType="1" noTextEdit="1"/>
              </p:cNvSpPr>
              <p:nvPr/>
            </p:nvSpPr>
            <p:spPr>
              <a:xfrm>
                <a:off x="2209800" y="5360988"/>
                <a:ext cx="3371844" cy="438150"/>
              </a:xfrm>
              <a:prstGeom prst="rect">
                <a:avLst/>
              </a:prstGeom>
              <a:blipFill>
                <a:blip r:embed="rId1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Rectangle 21">
                <a:extLst>
                  <a:ext uri="{FF2B5EF4-FFF2-40B4-BE49-F238E27FC236}">
                    <a16:creationId xmlns:a16="http://schemas.microsoft.com/office/drawing/2014/main" id="{72A9332E-2568-571D-4E55-A5E083DF28E8}"/>
                  </a:ext>
                </a:extLst>
              </p:cNvPr>
              <p:cNvSpPr/>
              <p:nvPr/>
            </p:nvSpPr>
            <p:spPr>
              <a:xfrm>
                <a:off x="6610356" y="5861050"/>
                <a:ext cx="3371844" cy="43815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14:m>
                  <m:oMathPara xmlns:m="http://schemas.openxmlformats.org/officeDocument/2006/math">
                    <m:oMathParaPr>
                      <m:jc m:val="centerGroup"/>
                    </m:oMathParaPr>
                    <m:oMath xmlns:m="http://schemas.openxmlformats.org/officeDocument/2006/math">
                      <m:r>
                        <a:rPr lang="en-US" sz="1600" i="1">
                          <a:latin typeface="Cambria Math" panose="02040503050406030204" pitchFamily="18" charset="0"/>
                        </a:rPr>
                        <m:t>¬</m:t>
                      </m:r>
                      <m:r>
                        <a:rPr lang="en-US" sz="1600" i="1">
                          <a:latin typeface="Cambria Math" panose="02040503050406030204" pitchFamily="18" charset="0"/>
                        </a:rPr>
                        <m:t>𝐸𝑛𝑒𝑚𝑦</m:t>
                      </m:r>
                      <m:d>
                        <m:dPr>
                          <m:ctrlPr>
                            <a:rPr lang="en-US" sz="1600" i="1">
                              <a:latin typeface="Cambria Math" panose="02040503050406030204" pitchFamily="18" charset="0"/>
                            </a:rPr>
                          </m:ctrlPr>
                        </m:dPr>
                        <m:e>
                          <m:r>
                            <a:rPr lang="en-US" sz="1600" i="1">
                              <a:latin typeface="Cambria Math" panose="02040503050406030204" pitchFamily="18" charset="0"/>
                            </a:rPr>
                            <m:t>𝑥</m:t>
                          </m:r>
                          <m:r>
                            <a:rPr lang="en-US" sz="1600" i="1">
                              <a:latin typeface="Cambria Math" panose="02040503050406030204" pitchFamily="18" charset="0"/>
                            </a:rPr>
                            <m:t>, </m:t>
                          </m:r>
                          <m:r>
                            <a:rPr lang="en-US" sz="1600" i="1">
                              <a:latin typeface="Cambria Math" panose="02040503050406030204" pitchFamily="18" charset="0"/>
                            </a:rPr>
                            <m:t>𝐴𝑚𝑒𝑟𝑖𝑐𝑎</m:t>
                          </m:r>
                        </m:e>
                      </m:d>
                    </m:oMath>
                  </m:oMathPara>
                </a14:m>
                <a:endParaRPr lang="en-US" sz="1600" i="1" dirty="0">
                  <a:latin typeface="Cambria Math" panose="02040503050406030204" pitchFamily="18" charset="0"/>
                </a:endParaRPr>
              </a:p>
            </p:txBody>
          </p:sp>
        </mc:Choice>
        <mc:Fallback xmlns="">
          <p:sp>
            <p:nvSpPr>
              <p:cNvPr id="22" name="Rectangle 21">
                <a:extLst>
                  <a:ext uri="{FF2B5EF4-FFF2-40B4-BE49-F238E27FC236}">
                    <a16:creationId xmlns:a16="http://schemas.microsoft.com/office/drawing/2014/main" id="{72A9332E-2568-571D-4E55-A5E083DF28E8}"/>
                  </a:ext>
                </a:extLst>
              </p:cNvPr>
              <p:cNvSpPr>
                <a:spLocks noRot="1" noChangeAspect="1" noMove="1" noResize="1" noEditPoints="1" noAdjustHandles="1" noChangeArrowheads="1" noChangeShapeType="1" noTextEdit="1"/>
              </p:cNvSpPr>
              <p:nvPr/>
            </p:nvSpPr>
            <p:spPr>
              <a:xfrm>
                <a:off x="6610356" y="5861050"/>
                <a:ext cx="3371844" cy="438150"/>
              </a:xfrm>
              <a:prstGeom prst="rect">
                <a:avLst/>
              </a:prstGeom>
              <a:blipFill>
                <a:blip r:embed="rId1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Rectangle 22">
                <a:extLst>
                  <a:ext uri="{FF2B5EF4-FFF2-40B4-BE49-F238E27FC236}">
                    <a16:creationId xmlns:a16="http://schemas.microsoft.com/office/drawing/2014/main" id="{838C0B68-3652-44B4-6BC7-41E2F09E5204}"/>
                  </a:ext>
                </a:extLst>
              </p:cNvPr>
              <p:cNvSpPr/>
              <p:nvPr/>
            </p:nvSpPr>
            <p:spPr>
              <a:xfrm>
                <a:off x="2209800" y="5918200"/>
                <a:ext cx="3371844" cy="43815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14:m>
                  <m:oMathPara xmlns:m="http://schemas.openxmlformats.org/officeDocument/2006/math">
                    <m:oMathParaPr>
                      <m:jc m:val="centerGroup"/>
                    </m:oMathParaPr>
                    <m:oMath xmlns:m="http://schemas.openxmlformats.org/officeDocument/2006/math">
                      <m:r>
                        <a:rPr lang="en-US" sz="1600" i="1">
                          <a:latin typeface="Cambria Math" panose="02040503050406030204" pitchFamily="18" charset="0"/>
                        </a:rPr>
                        <m:t>𝐸𝑛𝑒𝑚𝑦</m:t>
                      </m:r>
                      <m:d>
                        <m:dPr>
                          <m:ctrlPr>
                            <a:rPr lang="en-US" sz="1600" i="1">
                              <a:latin typeface="Cambria Math" panose="02040503050406030204" pitchFamily="18" charset="0"/>
                            </a:rPr>
                          </m:ctrlPr>
                        </m:dPr>
                        <m:e>
                          <m:r>
                            <a:rPr lang="en-US" sz="1600" i="1">
                              <a:latin typeface="Cambria Math" panose="02040503050406030204" pitchFamily="18" charset="0"/>
                            </a:rPr>
                            <m:t>𝑥</m:t>
                          </m:r>
                          <m:r>
                            <a:rPr lang="en-US" sz="1600" i="1">
                              <a:latin typeface="Cambria Math" panose="02040503050406030204" pitchFamily="18" charset="0"/>
                            </a:rPr>
                            <m:t>, </m:t>
                          </m:r>
                          <m:r>
                            <a:rPr lang="en-US" sz="1600" i="1">
                              <a:latin typeface="Cambria Math" panose="02040503050406030204" pitchFamily="18" charset="0"/>
                            </a:rPr>
                            <m:t>𝐴𝑚𝑒𝑟𝑖𝑐𝑎</m:t>
                          </m:r>
                        </m:e>
                      </m:d>
                    </m:oMath>
                  </m:oMathPara>
                </a14:m>
                <a:endParaRPr lang="en-US" sz="1600" i="1" dirty="0">
                  <a:latin typeface="Cambria Math" panose="02040503050406030204" pitchFamily="18" charset="0"/>
                </a:endParaRPr>
              </a:p>
            </p:txBody>
          </p:sp>
        </mc:Choice>
        <mc:Fallback xmlns="">
          <p:sp>
            <p:nvSpPr>
              <p:cNvPr id="23" name="Rectangle 22">
                <a:extLst>
                  <a:ext uri="{FF2B5EF4-FFF2-40B4-BE49-F238E27FC236}">
                    <a16:creationId xmlns:a16="http://schemas.microsoft.com/office/drawing/2014/main" id="{838C0B68-3652-44B4-6BC7-41E2F09E5204}"/>
                  </a:ext>
                </a:extLst>
              </p:cNvPr>
              <p:cNvSpPr>
                <a:spLocks noRot="1" noChangeAspect="1" noMove="1" noResize="1" noEditPoints="1" noAdjustHandles="1" noChangeArrowheads="1" noChangeShapeType="1" noTextEdit="1"/>
              </p:cNvSpPr>
              <p:nvPr/>
            </p:nvSpPr>
            <p:spPr>
              <a:xfrm>
                <a:off x="2209800" y="5918200"/>
                <a:ext cx="3371844" cy="438150"/>
              </a:xfrm>
              <a:prstGeom prst="rect">
                <a:avLst/>
              </a:prstGeom>
              <a:blipFill>
                <a:blip r:embed="rId19"/>
                <a:stretch>
                  <a:fillRect/>
                </a:stretch>
              </a:blipFill>
            </p:spPr>
            <p:txBody>
              <a:bodyPr/>
              <a:lstStyle/>
              <a:p>
                <a:r>
                  <a:rPr lang="en-US">
                    <a:noFill/>
                  </a:rPr>
                  <a:t> </a:t>
                </a:r>
              </a:p>
            </p:txBody>
          </p:sp>
        </mc:Fallback>
      </mc:AlternateContent>
      <p:sp>
        <p:nvSpPr>
          <p:cNvPr id="24" name="Rectangle 23">
            <a:extLst>
              <a:ext uri="{FF2B5EF4-FFF2-40B4-BE49-F238E27FC236}">
                <a16:creationId xmlns:a16="http://schemas.microsoft.com/office/drawing/2014/main" id="{F75113B4-E268-7A69-DFDF-3C9B3F77AEF2}"/>
              </a:ext>
            </a:extLst>
          </p:cNvPr>
          <p:cNvSpPr/>
          <p:nvPr/>
        </p:nvSpPr>
        <p:spPr>
          <a:xfrm>
            <a:off x="5862640" y="6419850"/>
            <a:ext cx="466719" cy="43815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endParaRPr lang="en-US" sz="1600" i="1" dirty="0">
              <a:latin typeface="Cambria Math" panose="02040503050406030204" pitchFamily="18" charset="0"/>
            </a:endParaRPr>
          </a:p>
        </p:txBody>
      </p:sp>
      <p:cxnSp>
        <p:nvCxnSpPr>
          <p:cNvPr id="27" name="Straight Connector 26">
            <a:extLst>
              <a:ext uri="{FF2B5EF4-FFF2-40B4-BE49-F238E27FC236}">
                <a16:creationId xmlns:a16="http://schemas.microsoft.com/office/drawing/2014/main" id="{BA5B57F8-F4D3-033E-AE21-9B0757457C14}"/>
              </a:ext>
            </a:extLst>
          </p:cNvPr>
          <p:cNvCxnSpPr>
            <a:cxnSpLocks/>
            <a:stCxn id="6" idx="3"/>
            <a:endCxn id="8" idx="0"/>
          </p:cNvCxnSpPr>
          <p:nvPr/>
        </p:nvCxnSpPr>
        <p:spPr>
          <a:xfrm>
            <a:off x="5581650" y="1062038"/>
            <a:ext cx="3657601" cy="409574"/>
          </a:xfrm>
          <a:prstGeom prst="line">
            <a:avLst/>
          </a:prstGeom>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11DA443D-3DD7-AD41-E5B2-63433446462A}"/>
              </a:ext>
            </a:extLst>
          </p:cNvPr>
          <p:cNvCxnSpPr>
            <a:cxnSpLocks/>
            <a:stCxn id="9" idx="3"/>
            <a:endCxn id="10" idx="0"/>
          </p:cNvCxnSpPr>
          <p:nvPr/>
        </p:nvCxnSpPr>
        <p:spPr>
          <a:xfrm>
            <a:off x="4722114" y="1694116"/>
            <a:ext cx="4517137" cy="417258"/>
          </a:xfrm>
          <a:prstGeom prst="line">
            <a:avLst/>
          </a:prstGeom>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2EC1AB54-F1BC-F4BD-1569-794E9C43BD1E}"/>
              </a:ext>
            </a:extLst>
          </p:cNvPr>
          <p:cNvCxnSpPr>
            <a:stCxn id="11" idx="3"/>
            <a:endCxn id="12" idx="0"/>
          </p:cNvCxnSpPr>
          <p:nvPr/>
        </p:nvCxnSpPr>
        <p:spPr>
          <a:xfrm>
            <a:off x="5581646" y="2351086"/>
            <a:ext cx="3657605" cy="441324"/>
          </a:xfrm>
          <a:prstGeom prst="line">
            <a:avLst/>
          </a:prstGeom>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D8AD4145-3171-6E88-682C-D622DF8970B4}"/>
              </a:ext>
            </a:extLst>
          </p:cNvPr>
          <p:cNvCxnSpPr>
            <a:stCxn id="7" idx="2"/>
            <a:endCxn id="8" idx="0"/>
          </p:cNvCxnSpPr>
          <p:nvPr/>
        </p:nvCxnSpPr>
        <p:spPr>
          <a:xfrm>
            <a:off x="9239251" y="1172180"/>
            <a:ext cx="0" cy="299432"/>
          </a:xfrm>
          <a:prstGeom prst="line">
            <a:avLst/>
          </a:prstGeom>
        </p:spPr>
        <p:style>
          <a:lnRef idx="2">
            <a:schemeClr val="accent1"/>
          </a:lnRef>
          <a:fillRef idx="0">
            <a:schemeClr val="accent1"/>
          </a:fillRef>
          <a:effectRef idx="1">
            <a:schemeClr val="accent1"/>
          </a:effectRef>
          <a:fontRef idx="minor">
            <a:schemeClr val="tx1"/>
          </a:fontRef>
        </p:style>
      </p:cxnSp>
      <p:cxnSp>
        <p:nvCxnSpPr>
          <p:cNvPr id="45" name="Straight Connector 44">
            <a:extLst>
              <a:ext uri="{FF2B5EF4-FFF2-40B4-BE49-F238E27FC236}">
                <a16:creationId xmlns:a16="http://schemas.microsoft.com/office/drawing/2014/main" id="{FB2010B6-A931-A006-A42C-D3F2507E4B92}"/>
              </a:ext>
            </a:extLst>
          </p:cNvPr>
          <p:cNvCxnSpPr>
            <a:cxnSpLocks/>
            <a:stCxn id="8" idx="2"/>
            <a:endCxn id="10" idx="0"/>
          </p:cNvCxnSpPr>
          <p:nvPr/>
        </p:nvCxnSpPr>
        <p:spPr>
          <a:xfrm>
            <a:off x="9239251" y="1909762"/>
            <a:ext cx="0" cy="201612"/>
          </a:xfrm>
          <a:prstGeom prst="line">
            <a:avLst/>
          </a:prstGeom>
        </p:spPr>
        <p:style>
          <a:lnRef idx="2">
            <a:schemeClr val="accent1"/>
          </a:lnRef>
          <a:fillRef idx="0">
            <a:schemeClr val="accent1"/>
          </a:fillRef>
          <a:effectRef idx="1">
            <a:schemeClr val="accent1"/>
          </a:effectRef>
          <a:fontRef idx="minor">
            <a:schemeClr val="tx1"/>
          </a:fontRef>
        </p:style>
      </p:cxnSp>
      <p:cxnSp>
        <p:nvCxnSpPr>
          <p:cNvPr id="49" name="Straight Connector 48">
            <a:extLst>
              <a:ext uri="{FF2B5EF4-FFF2-40B4-BE49-F238E27FC236}">
                <a16:creationId xmlns:a16="http://schemas.microsoft.com/office/drawing/2014/main" id="{01E282FB-F317-8762-15C6-AA28609B6EEE}"/>
              </a:ext>
            </a:extLst>
          </p:cNvPr>
          <p:cNvCxnSpPr>
            <a:stCxn id="10" idx="2"/>
            <a:endCxn id="12" idx="0"/>
          </p:cNvCxnSpPr>
          <p:nvPr/>
        </p:nvCxnSpPr>
        <p:spPr>
          <a:xfrm>
            <a:off x="9239251" y="2466974"/>
            <a:ext cx="0" cy="325436"/>
          </a:xfrm>
          <a:prstGeom prst="line">
            <a:avLst/>
          </a:prstGeom>
        </p:spPr>
        <p:style>
          <a:lnRef idx="2">
            <a:schemeClr val="accent1"/>
          </a:lnRef>
          <a:fillRef idx="0">
            <a:schemeClr val="accent1"/>
          </a:fillRef>
          <a:effectRef idx="1">
            <a:schemeClr val="accent1"/>
          </a:effectRef>
          <a:fontRef idx="minor">
            <a:schemeClr val="tx1"/>
          </a:fontRef>
        </p:style>
      </p:cxnSp>
      <p:cxnSp>
        <p:nvCxnSpPr>
          <p:cNvPr id="51" name="Straight Connector 50">
            <a:extLst>
              <a:ext uri="{FF2B5EF4-FFF2-40B4-BE49-F238E27FC236}">
                <a16:creationId xmlns:a16="http://schemas.microsoft.com/office/drawing/2014/main" id="{110952F3-6DB4-F85F-6D1F-01E745FE297F}"/>
              </a:ext>
            </a:extLst>
          </p:cNvPr>
          <p:cNvCxnSpPr>
            <a:stCxn id="12" idx="2"/>
            <a:endCxn id="14" idx="0"/>
          </p:cNvCxnSpPr>
          <p:nvPr/>
        </p:nvCxnSpPr>
        <p:spPr>
          <a:xfrm>
            <a:off x="9239251" y="3230560"/>
            <a:ext cx="0" cy="217491"/>
          </a:xfrm>
          <a:prstGeom prst="line">
            <a:avLst/>
          </a:prstGeom>
        </p:spPr>
        <p:style>
          <a:lnRef idx="2">
            <a:schemeClr val="accent1"/>
          </a:lnRef>
          <a:fillRef idx="0">
            <a:schemeClr val="accent1"/>
          </a:fillRef>
          <a:effectRef idx="1">
            <a:schemeClr val="accent1"/>
          </a:effectRef>
          <a:fontRef idx="minor">
            <a:schemeClr val="tx1"/>
          </a:fontRef>
        </p:style>
      </p:cxnSp>
      <p:cxnSp>
        <p:nvCxnSpPr>
          <p:cNvPr id="53" name="Straight Connector 52">
            <a:extLst>
              <a:ext uri="{FF2B5EF4-FFF2-40B4-BE49-F238E27FC236}">
                <a16:creationId xmlns:a16="http://schemas.microsoft.com/office/drawing/2014/main" id="{1F4F508F-8601-C574-2E98-FD77F424C40E}"/>
              </a:ext>
            </a:extLst>
          </p:cNvPr>
          <p:cNvCxnSpPr>
            <a:stCxn id="14" idx="2"/>
            <a:endCxn id="16" idx="0"/>
          </p:cNvCxnSpPr>
          <p:nvPr/>
        </p:nvCxnSpPr>
        <p:spPr>
          <a:xfrm>
            <a:off x="9239251" y="3886201"/>
            <a:ext cx="0" cy="187324"/>
          </a:xfrm>
          <a:prstGeom prst="line">
            <a:avLst/>
          </a:prstGeom>
        </p:spPr>
        <p:style>
          <a:lnRef idx="2">
            <a:schemeClr val="accent1"/>
          </a:lnRef>
          <a:fillRef idx="0">
            <a:schemeClr val="accent1"/>
          </a:fillRef>
          <a:effectRef idx="1">
            <a:schemeClr val="accent1"/>
          </a:effectRef>
          <a:fontRef idx="minor">
            <a:schemeClr val="tx1"/>
          </a:fontRef>
        </p:style>
      </p:cxnSp>
      <p:cxnSp>
        <p:nvCxnSpPr>
          <p:cNvPr id="56" name="Straight Connector 55">
            <a:extLst>
              <a:ext uri="{FF2B5EF4-FFF2-40B4-BE49-F238E27FC236}">
                <a16:creationId xmlns:a16="http://schemas.microsoft.com/office/drawing/2014/main" id="{0ADAAD0A-06C0-2787-874B-CB0A71E70956}"/>
              </a:ext>
            </a:extLst>
          </p:cNvPr>
          <p:cNvCxnSpPr>
            <a:stCxn id="16" idx="2"/>
            <a:endCxn id="18" idx="0"/>
          </p:cNvCxnSpPr>
          <p:nvPr/>
        </p:nvCxnSpPr>
        <p:spPr>
          <a:xfrm>
            <a:off x="9239251" y="4511675"/>
            <a:ext cx="0" cy="187324"/>
          </a:xfrm>
          <a:prstGeom prst="line">
            <a:avLst/>
          </a:prstGeom>
        </p:spPr>
        <p:style>
          <a:lnRef idx="2">
            <a:schemeClr val="accent1"/>
          </a:lnRef>
          <a:fillRef idx="0">
            <a:schemeClr val="accent1"/>
          </a:fillRef>
          <a:effectRef idx="1">
            <a:schemeClr val="accent1"/>
          </a:effectRef>
          <a:fontRef idx="minor">
            <a:schemeClr val="tx1"/>
          </a:fontRef>
        </p:style>
      </p:cxnSp>
      <p:cxnSp>
        <p:nvCxnSpPr>
          <p:cNvPr id="58" name="Straight Connector 57">
            <a:extLst>
              <a:ext uri="{FF2B5EF4-FFF2-40B4-BE49-F238E27FC236}">
                <a16:creationId xmlns:a16="http://schemas.microsoft.com/office/drawing/2014/main" id="{B5299EF8-27ED-DBB2-E106-D0A402EB3D34}"/>
              </a:ext>
            </a:extLst>
          </p:cNvPr>
          <p:cNvCxnSpPr>
            <a:cxnSpLocks/>
            <a:stCxn id="18" idx="2"/>
            <a:endCxn id="20" idx="0"/>
          </p:cNvCxnSpPr>
          <p:nvPr/>
        </p:nvCxnSpPr>
        <p:spPr>
          <a:xfrm>
            <a:off x="9239251" y="5137149"/>
            <a:ext cx="761" cy="226443"/>
          </a:xfrm>
          <a:prstGeom prst="line">
            <a:avLst/>
          </a:prstGeom>
        </p:spPr>
        <p:style>
          <a:lnRef idx="2">
            <a:schemeClr val="accent1"/>
          </a:lnRef>
          <a:fillRef idx="0">
            <a:schemeClr val="accent1"/>
          </a:fillRef>
          <a:effectRef idx="1">
            <a:schemeClr val="accent1"/>
          </a:effectRef>
          <a:fontRef idx="minor">
            <a:schemeClr val="tx1"/>
          </a:fontRef>
        </p:style>
      </p:cxnSp>
      <p:cxnSp>
        <p:nvCxnSpPr>
          <p:cNvPr id="60" name="Straight Connector 59">
            <a:extLst>
              <a:ext uri="{FF2B5EF4-FFF2-40B4-BE49-F238E27FC236}">
                <a16:creationId xmlns:a16="http://schemas.microsoft.com/office/drawing/2014/main" id="{8D3702B7-ACBA-CE81-2595-ECD15B436757}"/>
              </a:ext>
            </a:extLst>
          </p:cNvPr>
          <p:cNvCxnSpPr>
            <a:cxnSpLocks/>
            <a:stCxn id="20" idx="2"/>
            <a:endCxn id="22" idx="0"/>
          </p:cNvCxnSpPr>
          <p:nvPr/>
        </p:nvCxnSpPr>
        <p:spPr>
          <a:xfrm flipH="1">
            <a:off x="8296278" y="5682680"/>
            <a:ext cx="943734" cy="178370"/>
          </a:xfrm>
          <a:prstGeom prst="line">
            <a:avLst/>
          </a:prstGeom>
        </p:spPr>
        <p:style>
          <a:lnRef idx="2">
            <a:schemeClr val="accent1"/>
          </a:lnRef>
          <a:fillRef idx="0">
            <a:schemeClr val="accent1"/>
          </a:fillRef>
          <a:effectRef idx="1">
            <a:schemeClr val="accent1"/>
          </a:effectRef>
          <a:fontRef idx="minor">
            <a:schemeClr val="tx1"/>
          </a:fontRef>
        </p:style>
      </p:cxnSp>
      <p:cxnSp>
        <p:nvCxnSpPr>
          <p:cNvPr id="70" name="Straight Connector 69">
            <a:extLst>
              <a:ext uri="{FF2B5EF4-FFF2-40B4-BE49-F238E27FC236}">
                <a16:creationId xmlns:a16="http://schemas.microsoft.com/office/drawing/2014/main" id="{902CEBC9-3814-9B1C-F552-AEE9105EEEB6}"/>
              </a:ext>
            </a:extLst>
          </p:cNvPr>
          <p:cNvCxnSpPr>
            <a:stCxn id="13" idx="3"/>
            <a:endCxn id="14" idx="0"/>
          </p:cNvCxnSpPr>
          <p:nvPr/>
        </p:nvCxnSpPr>
        <p:spPr>
          <a:xfrm>
            <a:off x="5581645" y="3011485"/>
            <a:ext cx="3657606" cy="436566"/>
          </a:xfrm>
          <a:prstGeom prst="line">
            <a:avLst/>
          </a:prstGeom>
        </p:spPr>
        <p:style>
          <a:lnRef idx="2">
            <a:schemeClr val="accent1"/>
          </a:lnRef>
          <a:fillRef idx="0">
            <a:schemeClr val="accent1"/>
          </a:fillRef>
          <a:effectRef idx="1">
            <a:schemeClr val="accent1"/>
          </a:effectRef>
          <a:fontRef idx="minor">
            <a:schemeClr val="tx1"/>
          </a:fontRef>
        </p:style>
      </p:cxnSp>
      <p:cxnSp>
        <p:nvCxnSpPr>
          <p:cNvPr id="72" name="Straight Connector 71">
            <a:extLst>
              <a:ext uri="{FF2B5EF4-FFF2-40B4-BE49-F238E27FC236}">
                <a16:creationId xmlns:a16="http://schemas.microsoft.com/office/drawing/2014/main" id="{3E69BEF7-B992-E6FF-2306-37A97E092154}"/>
              </a:ext>
            </a:extLst>
          </p:cNvPr>
          <p:cNvCxnSpPr>
            <a:stCxn id="15" idx="3"/>
            <a:endCxn id="16" idx="0"/>
          </p:cNvCxnSpPr>
          <p:nvPr/>
        </p:nvCxnSpPr>
        <p:spPr>
          <a:xfrm>
            <a:off x="5581646" y="3667126"/>
            <a:ext cx="3657605" cy="406399"/>
          </a:xfrm>
          <a:prstGeom prst="line">
            <a:avLst/>
          </a:prstGeom>
        </p:spPr>
        <p:style>
          <a:lnRef idx="2">
            <a:schemeClr val="accent1"/>
          </a:lnRef>
          <a:fillRef idx="0">
            <a:schemeClr val="accent1"/>
          </a:fillRef>
          <a:effectRef idx="1">
            <a:schemeClr val="accent1"/>
          </a:effectRef>
          <a:fontRef idx="minor">
            <a:schemeClr val="tx1"/>
          </a:fontRef>
        </p:style>
      </p:cxnSp>
      <p:cxnSp>
        <p:nvCxnSpPr>
          <p:cNvPr id="74" name="Straight Connector 73">
            <a:extLst>
              <a:ext uri="{FF2B5EF4-FFF2-40B4-BE49-F238E27FC236}">
                <a16:creationId xmlns:a16="http://schemas.microsoft.com/office/drawing/2014/main" id="{23D67785-0E9C-C495-AF55-B51174AA95DC}"/>
              </a:ext>
            </a:extLst>
          </p:cNvPr>
          <p:cNvCxnSpPr>
            <a:stCxn id="17" idx="3"/>
            <a:endCxn id="18" idx="0"/>
          </p:cNvCxnSpPr>
          <p:nvPr/>
        </p:nvCxnSpPr>
        <p:spPr>
          <a:xfrm>
            <a:off x="5581644" y="4295774"/>
            <a:ext cx="3657607" cy="403225"/>
          </a:xfrm>
          <a:prstGeom prst="line">
            <a:avLst/>
          </a:prstGeom>
        </p:spPr>
        <p:style>
          <a:lnRef idx="2">
            <a:schemeClr val="accent1"/>
          </a:lnRef>
          <a:fillRef idx="0">
            <a:schemeClr val="accent1"/>
          </a:fillRef>
          <a:effectRef idx="1">
            <a:schemeClr val="accent1"/>
          </a:effectRef>
          <a:fontRef idx="minor">
            <a:schemeClr val="tx1"/>
          </a:fontRef>
        </p:style>
      </p:cxnSp>
      <p:cxnSp>
        <p:nvCxnSpPr>
          <p:cNvPr id="76" name="Straight Connector 75">
            <a:extLst>
              <a:ext uri="{FF2B5EF4-FFF2-40B4-BE49-F238E27FC236}">
                <a16:creationId xmlns:a16="http://schemas.microsoft.com/office/drawing/2014/main" id="{36AE7201-B02D-0BB1-C904-0724563F0540}"/>
              </a:ext>
            </a:extLst>
          </p:cNvPr>
          <p:cNvCxnSpPr>
            <a:stCxn id="19" idx="3"/>
            <a:endCxn id="20" idx="0"/>
          </p:cNvCxnSpPr>
          <p:nvPr/>
        </p:nvCxnSpPr>
        <p:spPr>
          <a:xfrm>
            <a:off x="5581648" y="4924422"/>
            <a:ext cx="3658364" cy="439170"/>
          </a:xfrm>
          <a:prstGeom prst="line">
            <a:avLst/>
          </a:prstGeom>
        </p:spPr>
        <p:style>
          <a:lnRef idx="2">
            <a:schemeClr val="accent1"/>
          </a:lnRef>
          <a:fillRef idx="0">
            <a:schemeClr val="accent1"/>
          </a:fillRef>
          <a:effectRef idx="1">
            <a:schemeClr val="accent1"/>
          </a:effectRef>
          <a:fontRef idx="minor">
            <a:schemeClr val="tx1"/>
          </a:fontRef>
        </p:style>
      </p:cxnSp>
      <p:cxnSp>
        <p:nvCxnSpPr>
          <p:cNvPr id="78" name="Straight Connector 77">
            <a:extLst>
              <a:ext uri="{FF2B5EF4-FFF2-40B4-BE49-F238E27FC236}">
                <a16:creationId xmlns:a16="http://schemas.microsoft.com/office/drawing/2014/main" id="{39EBD401-7908-7B64-BC16-9B58E5D4606F}"/>
              </a:ext>
            </a:extLst>
          </p:cNvPr>
          <p:cNvCxnSpPr>
            <a:stCxn id="21" idx="3"/>
            <a:endCxn id="22" idx="0"/>
          </p:cNvCxnSpPr>
          <p:nvPr/>
        </p:nvCxnSpPr>
        <p:spPr>
          <a:xfrm>
            <a:off x="5581644" y="5580063"/>
            <a:ext cx="2714634" cy="280987"/>
          </a:xfrm>
          <a:prstGeom prst="line">
            <a:avLst/>
          </a:prstGeom>
        </p:spPr>
        <p:style>
          <a:lnRef idx="2">
            <a:schemeClr val="accent1"/>
          </a:lnRef>
          <a:fillRef idx="0">
            <a:schemeClr val="accent1"/>
          </a:fillRef>
          <a:effectRef idx="1">
            <a:schemeClr val="accent1"/>
          </a:effectRef>
          <a:fontRef idx="minor">
            <a:schemeClr val="tx1"/>
          </a:fontRef>
        </p:style>
      </p:cxnSp>
      <p:cxnSp>
        <p:nvCxnSpPr>
          <p:cNvPr id="80" name="Straight Connector 79">
            <a:extLst>
              <a:ext uri="{FF2B5EF4-FFF2-40B4-BE49-F238E27FC236}">
                <a16:creationId xmlns:a16="http://schemas.microsoft.com/office/drawing/2014/main" id="{35F0650A-7C36-7868-3D2D-E622C1C18309}"/>
              </a:ext>
            </a:extLst>
          </p:cNvPr>
          <p:cNvCxnSpPr>
            <a:stCxn id="23" idx="3"/>
            <a:endCxn id="24" idx="0"/>
          </p:cNvCxnSpPr>
          <p:nvPr/>
        </p:nvCxnSpPr>
        <p:spPr>
          <a:xfrm>
            <a:off x="5581644" y="6137275"/>
            <a:ext cx="514356" cy="282575"/>
          </a:xfrm>
          <a:prstGeom prst="line">
            <a:avLst/>
          </a:prstGeom>
        </p:spPr>
        <p:style>
          <a:lnRef idx="2">
            <a:schemeClr val="accent1"/>
          </a:lnRef>
          <a:fillRef idx="0">
            <a:schemeClr val="accent1"/>
          </a:fillRef>
          <a:effectRef idx="1">
            <a:schemeClr val="accent1"/>
          </a:effectRef>
          <a:fontRef idx="minor">
            <a:schemeClr val="tx1"/>
          </a:fontRef>
        </p:style>
      </p:cxnSp>
      <p:cxnSp>
        <p:nvCxnSpPr>
          <p:cNvPr id="82" name="Straight Connector 81">
            <a:extLst>
              <a:ext uri="{FF2B5EF4-FFF2-40B4-BE49-F238E27FC236}">
                <a16:creationId xmlns:a16="http://schemas.microsoft.com/office/drawing/2014/main" id="{170EF19F-38BC-3D79-AA6B-4860CFAAF1CC}"/>
              </a:ext>
            </a:extLst>
          </p:cNvPr>
          <p:cNvCxnSpPr>
            <a:stCxn id="22" idx="1"/>
            <a:endCxn id="24" idx="0"/>
          </p:cNvCxnSpPr>
          <p:nvPr/>
        </p:nvCxnSpPr>
        <p:spPr>
          <a:xfrm flipH="1">
            <a:off x="6096000" y="6080125"/>
            <a:ext cx="514356" cy="339725"/>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786657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7"/>
                                        </p:tgtEl>
                                        <p:attrNameLst>
                                          <p:attrName>style.visibility</p:attrName>
                                        </p:attrNameLst>
                                      </p:cBhvr>
                                      <p:to>
                                        <p:strVal val="visible"/>
                                      </p:to>
                                    </p:set>
                                    <p:animEffect transition="in" filter="fade">
                                      <p:cBhvr>
                                        <p:cTn id="17" dur="500"/>
                                        <p:tgtEl>
                                          <p:spTgt spid="27"/>
                                        </p:tgtEl>
                                      </p:cBhvr>
                                    </p:animEffect>
                                  </p:childTnLst>
                                </p:cTn>
                              </p:par>
                              <p:par>
                                <p:cTn id="18" presetID="10" presetClass="entr" presetSubtype="0" fill="hold" nodeType="withEffect">
                                  <p:stCondLst>
                                    <p:cond delay="0"/>
                                  </p:stCondLst>
                                  <p:childTnLst>
                                    <p:set>
                                      <p:cBhvr>
                                        <p:cTn id="19" dur="1" fill="hold">
                                          <p:stCondLst>
                                            <p:cond delay="0"/>
                                          </p:stCondLst>
                                        </p:cTn>
                                        <p:tgtEl>
                                          <p:spTgt spid="42"/>
                                        </p:tgtEl>
                                        <p:attrNameLst>
                                          <p:attrName>style.visibility</p:attrName>
                                        </p:attrNameLst>
                                      </p:cBhvr>
                                      <p:to>
                                        <p:strVal val="visible"/>
                                      </p:to>
                                    </p:set>
                                    <p:animEffect transition="in" filter="fade">
                                      <p:cBhvr>
                                        <p:cTn id="20" dur="500"/>
                                        <p:tgtEl>
                                          <p:spTgt spid="42"/>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500"/>
                                        <p:tgtEl>
                                          <p:spTgt spid="9"/>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31"/>
                                        </p:tgtEl>
                                        <p:attrNameLst>
                                          <p:attrName>style.visibility</p:attrName>
                                        </p:attrNameLst>
                                      </p:cBhvr>
                                      <p:to>
                                        <p:strVal val="visible"/>
                                      </p:to>
                                    </p:set>
                                    <p:animEffect transition="in" filter="fade">
                                      <p:cBhvr>
                                        <p:cTn id="33" dur="500"/>
                                        <p:tgtEl>
                                          <p:spTgt spid="31"/>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0"/>
                                        </p:tgtEl>
                                        <p:attrNameLst>
                                          <p:attrName>style.visibility</p:attrName>
                                        </p:attrNameLst>
                                      </p:cBhvr>
                                      <p:to>
                                        <p:strVal val="visible"/>
                                      </p:to>
                                    </p:set>
                                    <p:animEffect transition="in" filter="fade">
                                      <p:cBhvr>
                                        <p:cTn id="36" dur="500"/>
                                        <p:tgtEl>
                                          <p:spTgt spid="10"/>
                                        </p:tgtEl>
                                      </p:cBhvr>
                                    </p:animEffect>
                                  </p:childTnLst>
                                </p:cTn>
                              </p:par>
                              <p:par>
                                <p:cTn id="37" presetID="10" presetClass="entr" presetSubtype="0" fill="hold" nodeType="withEffect">
                                  <p:stCondLst>
                                    <p:cond delay="0"/>
                                  </p:stCondLst>
                                  <p:childTnLst>
                                    <p:set>
                                      <p:cBhvr>
                                        <p:cTn id="38" dur="1" fill="hold">
                                          <p:stCondLst>
                                            <p:cond delay="0"/>
                                          </p:stCondLst>
                                        </p:cTn>
                                        <p:tgtEl>
                                          <p:spTgt spid="45"/>
                                        </p:tgtEl>
                                        <p:attrNameLst>
                                          <p:attrName>style.visibility</p:attrName>
                                        </p:attrNameLst>
                                      </p:cBhvr>
                                      <p:to>
                                        <p:strVal val="visible"/>
                                      </p:to>
                                    </p:set>
                                    <p:animEffect transition="in" filter="fade">
                                      <p:cBhvr>
                                        <p:cTn id="39" dur="500"/>
                                        <p:tgtEl>
                                          <p:spTgt spid="45"/>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11"/>
                                        </p:tgtEl>
                                        <p:attrNameLst>
                                          <p:attrName>style.visibility</p:attrName>
                                        </p:attrNameLst>
                                      </p:cBhvr>
                                      <p:to>
                                        <p:strVal val="visible"/>
                                      </p:to>
                                    </p:set>
                                    <p:animEffect transition="in" filter="fade">
                                      <p:cBhvr>
                                        <p:cTn id="44" dur="500"/>
                                        <p:tgtEl>
                                          <p:spTgt spid="11"/>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38"/>
                                        </p:tgtEl>
                                        <p:attrNameLst>
                                          <p:attrName>style.visibility</p:attrName>
                                        </p:attrNameLst>
                                      </p:cBhvr>
                                      <p:to>
                                        <p:strVal val="visible"/>
                                      </p:to>
                                    </p:set>
                                    <p:animEffect transition="in" filter="fade">
                                      <p:cBhvr>
                                        <p:cTn id="49" dur="500"/>
                                        <p:tgtEl>
                                          <p:spTgt spid="38"/>
                                        </p:tgtEl>
                                      </p:cBhvr>
                                    </p:animEffect>
                                  </p:childTnLst>
                                </p:cTn>
                              </p:par>
                              <p:par>
                                <p:cTn id="50" presetID="10" presetClass="entr" presetSubtype="0" fill="hold" nodeType="withEffect">
                                  <p:stCondLst>
                                    <p:cond delay="0"/>
                                  </p:stCondLst>
                                  <p:childTnLst>
                                    <p:set>
                                      <p:cBhvr>
                                        <p:cTn id="51" dur="1" fill="hold">
                                          <p:stCondLst>
                                            <p:cond delay="0"/>
                                          </p:stCondLst>
                                        </p:cTn>
                                        <p:tgtEl>
                                          <p:spTgt spid="49"/>
                                        </p:tgtEl>
                                        <p:attrNameLst>
                                          <p:attrName>style.visibility</p:attrName>
                                        </p:attrNameLst>
                                      </p:cBhvr>
                                      <p:to>
                                        <p:strVal val="visible"/>
                                      </p:to>
                                    </p:set>
                                    <p:animEffect transition="in" filter="fade">
                                      <p:cBhvr>
                                        <p:cTn id="52" dur="500"/>
                                        <p:tgtEl>
                                          <p:spTgt spid="4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2"/>
                                        </p:tgtEl>
                                        <p:attrNameLst>
                                          <p:attrName>style.visibility</p:attrName>
                                        </p:attrNameLst>
                                      </p:cBhvr>
                                      <p:to>
                                        <p:strVal val="visible"/>
                                      </p:to>
                                    </p:set>
                                    <p:animEffect transition="in" filter="fade">
                                      <p:cBhvr>
                                        <p:cTn id="55" dur="500"/>
                                        <p:tgtEl>
                                          <p:spTgt spid="12"/>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3"/>
                                        </p:tgtEl>
                                        <p:attrNameLst>
                                          <p:attrName>style.visibility</p:attrName>
                                        </p:attrNameLst>
                                      </p:cBhvr>
                                      <p:to>
                                        <p:strVal val="visible"/>
                                      </p:to>
                                    </p:set>
                                    <p:animEffect transition="in" filter="fade">
                                      <p:cBhvr>
                                        <p:cTn id="60" dur="500"/>
                                        <p:tgtEl>
                                          <p:spTgt spid="13"/>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nodeType="clickEffect">
                                  <p:stCondLst>
                                    <p:cond delay="0"/>
                                  </p:stCondLst>
                                  <p:childTnLst>
                                    <p:set>
                                      <p:cBhvr>
                                        <p:cTn id="64" dur="1" fill="hold">
                                          <p:stCondLst>
                                            <p:cond delay="0"/>
                                          </p:stCondLst>
                                        </p:cTn>
                                        <p:tgtEl>
                                          <p:spTgt spid="70"/>
                                        </p:tgtEl>
                                        <p:attrNameLst>
                                          <p:attrName>style.visibility</p:attrName>
                                        </p:attrNameLst>
                                      </p:cBhvr>
                                      <p:to>
                                        <p:strVal val="visible"/>
                                      </p:to>
                                    </p:set>
                                    <p:animEffect transition="in" filter="fade">
                                      <p:cBhvr>
                                        <p:cTn id="65" dur="500"/>
                                        <p:tgtEl>
                                          <p:spTgt spid="70"/>
                                        </p:tgtEl>
                                      </p:cBhvr>
                                    </p:animEffect>
                                  </p:childTnLst>
                                </p:cTn>
                              </p:par>
                              <p:par>
                                <p:cTn id="66" presetID="10" presetClass="entr" presetSubtype="0" fill="hold" nodeType="withEffect">
                                  <p:stCondLst>
                                    <p:cond delay="0"/>
                                  </p:stCondLst>
                                  <p:childTnLst>
                                    <p:set>
                                      <p:cBhvr>
                                        <p:cTn id="67" dur="1" fill="hold">
                                          <p:stCondLst>
                                            <p:cond delay="0"/>
                                          </p:stCondLst>
                                        </p:cTn>
                                        <p:tgtEl>
                                          <p:spTgt spid="51"/>
                                        </p:tgtEl>
                                        <p:attrNameLst>
                                          <p:attrName>style.visibility</p:attrName>
                                        </p:attrNameLst>
                                      </p:cBhvr>
                                      <p:to>
                                        <p:strVal val="visible"/>
                                      </p:to>
                                    </p:set>
                                    <p:animEffect transition="in" filter="fade">
                                      <p:cBhvr>
                                        <p:cTn id="68" dur="500"/>
                                        <p:tgtEl>
                                          <p:spTgt spid="51"/>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14"/>
                                        </p:tgtEl>
                                        <p:attrNameLst>
                                          <p:attrName>style.visibility</p:attrName>
                                        </p:attrNameLst>
                                      </p:cBhvr>
                                      <p:to>
                                        <p:strVal val="visible"/>
                                      </p:to>
                                    </p:set>
                                    <p:animEffect transition="in" filter="fade">
                                      <p:cBhvr>
                                        <p:cTn id="71" dur="500"/>
                                        <p:tgtEl>
                                          <p:spTgt spid="14"/>
                                        </p:tgtEl>
                                      </p:cBhvr>
                                    </p:animEffect>
                                  </p:childTnLst>
                                </p:cTn>
                              </p:par>
                            </p:childTnLst>
                          </p:cTn>
                        </p:par>
                      </p:childTnLst>
                    </p:cTn>
                  </p:par>
                  <p:par>
                    <p:cTn id="72" fill="hold">
                      <p:stCondLst>
                        <p:cond delay="indefinite"/>
                      </p:stCondLst>
                      <p:childTnLst>
                        <p:par>
                          <p:cTn id="73" fill="hold">
                            <p:stCondLst>
                              <p:cond delay="0"/>
                            </p:stCondLst>
                            <p:childTnLst>
                              <p:par>
                                <p:cTn id="74" presetID="10" presetClass="entr" presetSubtype="0" fill="hold" grpId="0" nodeType="clickEffect">
                                  <p:stCondLst>
                                    <p:cond delay="0"/>
                                  </p:stCondLst>
                                  <p:childTnLst>
                                    <p:set>
                                      <p:cBhvr>
                                        <p:cTn id="75" dur="1" fill="hold">
                                          <p:stCondLst>
                                            <p:cond delay="0"/>
                                          </p:stCondLst>
                                        </p:cTn>
                                        <p:tgtEl>
                                          <p:spTgt spid="15"/>
                                        </p:tgtEl>
                                        <p:attrNameLst>
                                          <p:attrName>style.visibility</p:attrName>
                                        </p:attrNameLst>
                                      </p:cBhvr>
                                      <p:to>
                                        <p:strVal val="visible"/>
                                      </p:to>
                                    </p:set>
                                    <p:animEffect transition="in" filter="fade">
                                      <p:cBhvr>
                                        <p:cTn id="76" dur="500"/>
                                        <p:tgtEl>
                                          <p:spTgt spid="15"/>
                                        </p:tgtEl>
                                      </p:cBhvr>
                                    </p:animEffect>
                                  </p:childTnLst>
                                </p:cTn>
                              </p:par>
                              <p:par>
                                <p:cTn id="77" presetID="10" presetClass="entr" presetSubtype="0" fill="hold" nodeType="withEffect">
                                  <p:stCondLst>
                                    <p:cond delay="0"/>
                                  </p:stCondLst>
                                  <p:childTnLst>
                                    <p:set>
                                      <p:cBhvr>
                                        <p:cTn id="78" dur="1" fill="hold">
                                          <p:stCondLst>
                                            <p:cond delay="0"/>
                                          </p:stCondLst>
                                        </p:cTn>
                                        <p:tgtEl>
                                          <p:spTgt spid="72"/>
                                        </p:tgtEl>
                                        <p:attrNameLst>
                                          <p:attrName>style.visibility</p:attrName>
                                        </p:attrNameLst>
                                      </p:cBhvr>
                                      <p:to>
                                        <p:strVal val="visible"/>
                                      </p:to>
                                    </p:set>
                                    <p:animEffect transition="in" filter="fade">
                                      <p:cBhvr>
                                        <p:cTn id="79" dur="500"/>
                                        <p:tgtEl>
                                          <p:spTgt spid="72"/>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16"/>
                                        </p:tgtEl>
                                        <p:attrNameLst>
                                          <p:attrName>style.visibility</p:attrName>
                                        </p:attrNameLst>
                                      </p:cBhvr>
                                      <p:to>
                                        <p:strVal val="visible"/>
                                      </p:to>
                                    </p:set>
                                    <p:animEffect transition="in" filter="fade">
                                      <p:cBhvr>
                                        <p:cTn id="82" dur="500"/>
                                        <p:tgtEl>
                                          <p:spTgt spid="16"/>
                                        </p:tgtEl>
                                      </p:cBhvr>
                                    </p:animEffect>
                                  </p:childTnLst>
                                </p:cTn>
                              </p:par>
                              <p:par>
                                <p:cTn id="83" presetID="10" presetClass="entr" presetSubtype="0" fill="hold" nodeType="withEffect">
                                  <p:stCondLst>
                                    <p:cond delay="0"/>
                                  </p:stCondLst>
                                  <p:childTnLst>
                                    <p:set>
                                      <p:cBhvr>
                                        <p:cTn id="84" dur="1" fill="hold">
                                          <p:stCondLst>
                                            <p:cond delay="0"/>
                                          </p:stCondLst>
                                        </p:cTn>
                                        <p:tgtEl>
                                          <p:spTgt spid="53"/>
                                        </p:tgtEl>
                                        <p:attrNameLst>
                                          <p:attrName>style.visibility</p:attrName>
                                        </p:attrNameLst>
                                      </p:cBhvr>
                                      <p:to>
                                        <p:strVal val="visible"/>
                                      </p:to>
                                    </p:set>
                                    <p:animEffect transition="in" filter="fade">
                                      <p:cBhvr>
                                        <p:cTn id="85" dur="500"/>
                                        <p:tgtEl>
                                          <p:spTgt spid="53"/>
                                        </p:tgtEl>
                                      </p:cBhvr>
                                    </p:animEffect>
                                  </p:childTnLst>
                                </p:cTn>
                              </p:par>
                            </p:childTnLst>
                          </p:cTn>
                        </p:par>
                      </p:childTnLst>
                    </p:cTn>
                  </p:par>
                  <p:par>
                    <p:cTn id="86" fill="hold">
                      <p:stCondLst>
                        <p:cond delay="indefinite"/>
                      </p:stCondLst>
                      <p:childTnLst>
                        <p:par>
                          <p:cTn id="87" fill="hold">
                            <p:stCondLst>
                              <p:cond delay="0"/>
                            </p:stCondLst>
                            <p:childTnLst>
                              <p:par>
                                <p:cTn id="88" presetID="10" presetClass="entr" presetSubtype="0" fill="hold" grpId="0" nodeType="clickEffect">
                                  <p:stCondLst>
                                    <p:cond delay="0"/>
                                  </p:stCondLst>
                                  <p:childTnLst>
                                    <p:set>
                                      <p:cBhvr>
                                        <p:cTn id="89" dur="1" fill="hold">
                                          <p:stCondLst>
                                            <p:cond delay="0"/>
                                          </p:stCondLst>
                                        </p:cTn>
                                        <p:tgtEl>
                                          <p:spTgt spid="17"/>
                                        </p:tgtEl>
                                        <p:attrNameLst>
                                          <p:attrName>style.visibility</p:attrName>
                                        </p:attrNameLst>
                                      </p:cBhvr>
                                      <p:to>
                                        <p:strVal val="visible"/>
                                      </p:to>
                                    </p:set>
                                    <p:animEffect transition="in" filter="fade">
                                      <p:cBhvr>
                                        <p:cTn id="90" dur="500"/>
                                        <p:tgtEl>
                                          <p:spTgt spid="17"/>
                                        </p:tgtEl>
                                      </p:cBhvr>
                                    </p:animEffect>
                                  </p:childTnLst>
                                </p:cTn>
                              </p:par>
                            </p:childTnLst>
                          </p:cTn>
                        </p:par>
                      </p:childTnLst>
                    </p:cTn>
                  </p:par>
                  <p:par>
                    <p:cTn id="91" fill="hold">
                      <p:stCondLst>
                        <p:cond delay="indefinite"/>
                      </p:stCondLst>
                      <p:childTnLst>
                        <p:par>
                          <p:cTn id="92" fill="hold">
                            <p:stCondLst>
                              <p:cond delay="0"/>
                            </p:stCondLst>
                            <p:childTnLst>
                              <p:par>
                                <p:cTn id="93" presetID="10" presetClass="entr" presetSubtype="0" fill="hold" nodeType="clickEffect">
                                  <p:stCondLst>
                                    <p:cond delay="0"/>
                                  </p:stCondLst>
                                  <p:childTnLst>
                                    <p:set>
                                      <p:cBhvr>
                                        <p:cTn id="94" dur="1" fill="hold">
                                          <p:stCondLst>
                                            <p:cond delay="0"/>
                                          </p:stCondLst>
                                        </p:cTn>
                                        <p:tgtEl>
                                          <p:spTgt spid="74"/>
                                        </p:tgtEl>
                                        <p:attrNameLst>
                                          <p:attrName>style.visibility</p:attrName>
                                        </p:attrNameLst>
                                      </p:cBhvr>
                                      <p:to>
                                        <p:strVal val="visible"/>
                                      </p:to>
                                    </p:set>
                                    <p:animEffect transition="in" filter="fade">
                                      <p:cBhvr>
                                        <p:cTn id="95" dur="500"/>
                                        <p:tgtEl>
                                          <p:spTgt spid="74"/>
                                        </p:tgtEl>
                                      </p:cBhvr>
                                    </p:animEffect>
                                  </p:childTnLst>
                                </p:cTn>
                              </p:par>
                              <p:par>
                                <p:cTn id="96" presetID="10" presetClass="entr" presetSubtype="0" fill="hold" nodeType="withEffect">
                                  <p:stCondLst>
                                    <p:cond delay="0"/>
                                  </p:stCondLst>
                                  <p:childTnLst>
                                    <p:set>
                                      <p:cBhvr>
                                        <p:cTn id="97" dur="1" fill="hold">
                                          <p:stCondLst>
                                            <p:cond delay="0"/>
                                          </p:stCondLst>
                                        </p:cTn>
                                        <p:tgtEl>
                                          <p:spTgt spid="56"/>
                                        </p:tgtEl>
                                        <p:attrNameLst>
                                          <p:attrName>style.visibility</p:attrName>
                                        </p:attrNameLst>
                                      </p:cBhvr>
                                      <p:to>
                                        <p:strVal val="visible"/>
                                      </p:to>
                                    </p:set>
                                    <p:animEffect transition="in" filter="fade">
                                      <p:cBhvr>
                                        <p:cTn id="98" dur="500"/>
                                        <p:tgtEl>
                                          <p:spTgt spid="56"/>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18"/>
                                        </p:tgtEl>
                                        <p:attrNameLst>
                                          <p:attrName>style.visibility</p:attrName>
                                        </p:attrNameLst>
                                      </p:cBhvr>
                                      <p:to>
                                        <p:strVal val="visible"/>
                                      </p:to>
                                    </p:set>
                                    <p:animEffect transition="in" filter="fade">
                                      <p:cBhvr>
                                        <p:cTn id="101" dur="500"/>
                                        <p:tgtEl>
                                          <p:spTgt spid="18"/>
                                        </p:tgtEl>
                                      </p:cBhvr>
                                    </p:animEffect>
                                  </p:childTnLst>
                                </p:cTn>
                              </p:par>
                            </p:childTnLst>
                          </p:cTn>
                        </p:par>
                      </p:childTnLst>
                    </p:cTn>
                  </p:par>
                  <p:par>
                    <p:cTn id="102" fill="hold">
                      <p:stCondLst>
                        <p:cond delay="indefinite"/>
                      </p:stCondLst>
                      <p:childTnLst>
                        <p:par>
                          <p:cTn id="103" fill="hold">
                            <p:stCondLst>
                              <p:cond delay="0"/>
                            </p:stCondLst>
                            <p:childTnLst>
                              <p:par>
                                <p:cTn id="104" presetID="10" presetClass="entr" presetSubtype="0" fill="hold" grpId="0" nodeType="clickEffect">
                                  <p:stCondLst>
                                    <p:cond delay="0"/>
                                  </p:stCondLst>
                                  <p:childTnLst>
                                    <p:set>
                                      <p:cBhvr>
                                        <p:cTn id="105" dur="1" fill="hold">
                                          <p:stCondLst>
                                            <p:cond delay="0"/>
                                          </p:stCondLst>
                                        </p:cTn>
                                        <p:tgtEl>
                                          <p:spTgt spid="19"/>
                                        </p:tgtEl>
                                        <p:attrNameLst>
                                          <p:attrName>style.visibility</p:attrName>
                                        </p:attrNameLst>
                                      </p:cBhvr>
                                      <p:to>
                                        <p:strVal val="visible"/>
                                      </p:to>
                                    </p:set>
                                    <p:animEffect transition="in" filter="fade">
                                      <p:cBhvr>
                                        <p:cTn id="106" dur="500"/>
                                        <p:tgtEl>
                                          <p:spTgt spid="19"/>
                                        </p:tgtEl>
                                      </p:cBhvr>
                                    </p:animEffect>
                                  </p:childTnLst>
                                </p:cTn>
                              </p:par>
                            </p:childTnLst>
                          </p:cTn>
                        </p:par>
                      </p:childTnLst>
                    </p:cTn>
                  </p:par>
                  <p:par>
                    <p:cTn id="107" fill="hold">
                      <p:stCondLst>
                        <p:cond delay="indefinite"/>
                      </p:stCondLst>
                      <p:childTnLst>
                        <p:par>
                          <p:cTn id="108" fill="hold">
                            <p:stCondLst>
                              <p:cond delay="0"/>
                            </p:stCondLst>
                            <p:childTnLst>
                              <p:par>
                                <p:cTn id="109" presetID="10" presetClass="entr" presetSubtype="0" fill="hold" nodeType="clickEffect">
                                  <p:stCondLst>
                                    <p:cond delay="0"/>
                                  </p:stCondLst>
                                  <p:childTnLst>
                                    <p:set>
                                      <p:cBhvr>
                                        <p:cTn id="110" dur="1" fill="hold">
                                          <p:stCondLst>
                                            <p:cond delay="0"/>
                                          </p:stCondLst>
                                        </p:cTn>
                                        <p:tgtEl>
                                          <p:spTgt spid="76"/>
                                        </p:tgtEl>
                                        <p:attrNameLst>
                                          <p:attrName>style.visibility</p:attrName>
                                        </p:attrNameLst>
                                      </p:cBhvr>
                                      <p:to>
                                        <p:strVal val="visible"/>
                                      </p:to>
                                    </p:set>
                                    <p:animEffect transition="in" filter="fade">
                                      <p:cBhvr>
                                        <p:cTn id="111" dur="500"/>
                                        <p:tgtEl>
                                          <p:spTgt spid="76"/>
                                        </p:tgtEl>
                                      </p:cBhvr>
                                    </p:animEffect>
                                  </p:childTnLst>
                                </p:cTn>
                              </p:par>
                              <p:par>
                                <p:cTn id="112" presetID="10" presetClass="entr" presetSubtype="0" fill="hold" nodeType="withEffect">
                                  <p:stCondLst>
                                    <p:cond delay="0"/>
                                  </p:stCondLst>
                                  <p:childTnLst>
                                    <p:set>
                                      <p:cBhvr>
                                        <p:cTn id="113" dur="1" fill="hold">
                                          <p:stCondLst>
                                            <p:cond delay="0"/>
                                          </p:stCondLst>
                                        </p:cTn>
                                        <p:tgtEl>
                                          <p:spTgt spid="58"/>
                                        </p:tgtEl>
                                        <p:attrNameLst>
                                          <p:attrName>style.visibility</p:attrName>
                                        </p:attrNameLst>
                                      </p:cBhvr>
                                      <p:to>
                                        <p:strVal val="visible"/>
                                      </p:to>
                                    </p:set>
                                    <p:animEffect transition="in" filter="fade">
                                      <p:cBhvr>
                                        <p:cTn id="114" dur="500"/>
                                        <p:tgtEl>
                                          <p:spTgt spid="58"/>
                                        </p:tgtEl>
                                      </p:cBhvr>
                                    </p:animEffect>
                                  </p:childTnLst>
                                </p:cTn>
                              </p:par>
                              <p:par>
                                <p:cTn id="115" presetID="10" presetClass="entr" presetSubtype="0" fill="hold" grpId="0" nodeType="withEffect">
                                  <p:stCondLst>
                                    <p:cond delay="0"/>
                                  </p:stCondLst>
                                  <p:childTnLst>
                                    <p:set>
                                      <p:cBhvr>
                                        <p:cTn id="116" dur="1" fill="hold">
                                          <p:stCondLst>
                                            <p:cond delay="0"/>
                                          </p:stCondLst>
                                        </p:cTn>
                                        <p:tgtEl>
                                          <p:spTgt spid="20"/>
                                        </p:tgtEl>
                                        <p:attrNameLst>
                                          <p:attrName>style.visibility</p:attrName>
                                        </p:attrNameLst>
                                      </p:cBhvr>
                                      <p:to>
                                        <p:strVal val="visible"/>
                                      </p:to>
                                    </p:set>
                                    <p:animEffect transition="in" filter="fade">
                                      <p:cBhvr>
                                        <p:cTn id="117" dur="500"/>
                                        <p:tgtEl>
                                          <p:spTgt spid="20"/>
                                        </p:tgtEl>
                                      </p:cBhvr>
                                    </p:animEffect>
                                  </p:childTnLst>
                                </p:cTn>
                              </p:par>
                            </p:childTnLst>
                          </p:cTn>
                        </p:par>
                      </p:childTnLst>
                    </p:cTn>
                  </p:par>
                  <p:par>
                    <p:cTn id="118" fill="hold">
                      <p:stCondLst>
                        <p:cond delay="indefinite"/>
                      </p:stCondLst>
                      <p:childTnLst>
                        <p:par>
                          <p:cTn id="119" fill="hold">
                            <p:stCondLst>
                              <p:cond delay="0"/>
                            </p:stCondLst>
                            <p:childTnLst>
                              <p:par>
                                <p:cTn id="120" presetID="10" presetClass="entr" presetSubtype="0" fill="hold" grpId="0" nodeType="clickEffect">
                                  <p:stCondLst>
                                    <p:cond delay="0"/>
                                  </p:stCondLst>
                                  <p:childTnLst>
                                    <p:set>
                                      <p:cBhvr>
                                        <p:cTn id="121" dur="1" fill="hold">
                                          <p:stCondLst>
                                            <p:cond delay="0"/>
                                          </p:stCondLst>
                                        </p:cTn>
                                        <p:tgtEl>
                                          <p:spTgt spid="21"/>
                                        </p:tgtEl>
                                        <p:attrNameLst>
                                          <p:attrName>style.visibility</p:attrName>
                                        </p:attrNameLst>
                                      </p:cBhvr>
                                      <p:to>
                                        <p:strVal val="visible"/>
                                      </p:to>
                                    </p:set>
                                    <p:animEffect transition="in" filter="fade">
                                      <p:cBhvr>
                                        <p:cTn id="122" dur="500"/>
                                        <p:tgtEl>
                                          <p:spTgt spid="21"/>
                                        </p:tgtEl>
                                      </p:cBhvr>
                                    </p:animEffect>
                                  </p:childTnLst>
                                </p:cTn>
                              </p:par>
                              <p:par>
                                <p:cTn id="123" presetID="10" presetClass="entr" presetSubtype="0" fill="hold" nodeType="withEffect">
                                  <p:stCondLst>
                                    <p:cond delay="0"/>
                                  </p:stCondLst>
                                  <p:childTnLst>
                                    <p:set>
                                      <p:cBhvr>
                                        <p:cTn id="124" dur="1" fill="hold">
                                          <p:stCondLst>
                                            <p:cond delay="0"/>
                                          </p:stCondLst>
                                        </p:cTn>
                                        <p:tgtEl>
                                          <p:spTgt spid="78"/>
                                        </p:tgtEl>
                                        <p:attrNameLst>
                                          <p:attrName>style.visibility</p:attrName>
                                        </p:attrNameLst>
                                      </p:cBhvr>
                                      <p:to>
                                        <p:strVal val="visible"/>
                                      </p:to>
                                    </p:set>
                                    <p:animEffect transition="in" filter="fade">
                                      <p:cBhvr>
                                        <p:cTn id="125" dur="500"/>
                                        <p:tgtEl>
                                          <p:spTgt spid="78"/>
                                        </p:tgtEl>
                                      </p:cBhvr>
                                    </p:animEffect>
                                  </p:childTnLst>
                                </p:cTn>
                              </p:par>
                              <p:par>
                                <p:cTn id="126" presetID="10" presetClass="entr" presetSubtype="0" fill="hold" grpId="0" nodeType="withEffect">
                                  <p:stCondLst>
                                    <p:cond delay="0"/>
                                  </p:stCondLst>
                                  <p:childTnLst>
                                    <p:set>
                                      <p:cBhvr>
                                        <p:cTn id="127" dur="1" fill="hold">
                                          <p:stCondLst>
                                            <p:cond delay="0"/>
                                          </p:stCondLst>
                                        </p:cTn>
                                        <p:tgtEl>
                                          <p:spTgt spid="22"/>
                                        </p:tgtEl>
                                        <p:attrNameLst>
                                          <p:attrName>style.visibility</p:attrName>
                                        </p:attrNameLst>
                                      </p:cBhvr>
                                      <p:to>
                                        <p:strVal val="visible"/>
                                      </p:to>
                                    </p:set>
                                    <p:animEffect transition="in" filter="fade">
                                      <p:cBhvr>
                                        <p:cTn id="128" dur="500"/>
                                        <p:tgtEl>
                                          <p:spTgt spid="22"/>
                                        </p:tgtEl>
                                      </p:cBhvr>
                                    </p:animEffect>
                                  </p:childTnLst>
                                </p:cTn>
                              </p:par>
                            </p:childTnLst>
                          </p:cTn>
                        </p:par>
                        <p:par>
                          <p:cTn id="129" fill="hold">
                            <p:stCondLst>
                              <p:cond delay="500"/>
                            </p:stCondLst>
                            <p:childTnLst>
                              <p:par>
                                <p:cTn id="130" presetID="10" presetClass="entr" presetSubtype="0" fill="hold" nodeType="afterEffect">
                                  <p:stCondLst>
                                    <p:cond delay="0"/>
                                  </p:stCondLst>
                                  <p:childTnLst>
                                    <p:set>
                                      <p:cBhvr>
                                        <p:cTn id="131" dur="1" fill="hold">
                                          <p:stCondLst>
                                            <p:cond delay="0"/>
                                          </p:stCondLst>
                                        </p:cTn>
                                        <p:tgtEl>
                                          <p:spTgt spid="60"/>
                                        </p:tgtEl>
                                        <p:attrNameLst>
                                          <p:attrName>style.visibility</p:attrName>
                                        </p:attrNameLst>
                                      </p:cBhvr>
                                      <p:to>
                                        <p:strVal val="visible"/>
                                      </p:to>
                                    </p:set>
                                    <p:animEffect transition="in" filter="fade">
                                      <p:cBhvr>
                                        <p:cTn id="132" dur="500"/>
                                        <p:tgtEl>
                                          <p:spTgt spid="60"/>
                                        </p:tgtEl>
                                      </p:cBhvr>
                                    </p:animEffect>
                                  </p:childTnLst>
                                </p:cTn>
                              </p:par>
                            </p:childTnLst>
                          </p:cTn>
                        </p:par>
                      </p:childTnLst>
                    </p:cTn>
                  </p:par>
                  <p:par>
                    <p:cTn id="133" fill="hold">
                      <p:stCondLst>
                        <p:cond delay="indefinite"/>
                      </p:stCondLst>
                      <p:childTnLst>
                        <p:par>
                          <p:cTn id="134" fill="hold">
                            <p:stCondLst>
                              <p:cond delay="0"/>
                            </p:stCondLst>
                            <p:childTnLst>
                              <p:par>
                                <p:cTn id="135" presetID="10" presetClass="entr" presetSubtype="0" fill="hold" grpId="0" nodeType="clickEffect">
                                  <p:stCondLst>
                                    <p:cond delay="0"/>
                                  </p:stCondLst>
                                  <p:childTnLst>
                                    <p:set>
                                      <p:cBhvr>
                                        <p:cTn id="136" dur="1" fill="hold">
                                          <p:stCondLst>
                                            <p:cond delay="0"/>
                                          </p:stCondLst>
                                        </p:cTn>
                                        <p:tgtEl>
                                          <p:spTgt spid="23"/>
                                        </p:tgtEl>
                                        <p:attrNameLst>
                                          <p:attrName>style.visibility</p:attrName>
                                        </p:attrNameLst>
                                      </p:cBhvr>
                                      <p:to>
                                        <p:strVal val="visible"/>
                                      </p:to>
                                    </p:set>
                                    <p:animEffect transition="in" filter="fade">
                                      <p:cBhvr>
                                        <p:cTn id="137" dur="500"/>
                                        <p:tgtEl>
                                          <p:spTgt spid="23"/>
                                        </p:tgtEl>
                                      </p:cBhvr>
                                    </p:animEffect>
                                  </p:childTnLst>
                                </p:cTn>
                              </p:par>
                            </p:childTnLst>
                          </p:cTn>
                        </p:par>
                      </p:childTnLst>
                    </p:cTn>
                  </p:par>
                  <p:par>
                    <p:cTn id="138" fill="hold">
                      <p:stCondLst>
                        <p:cond delay="indefinite"/>
                      </p:stCondLst>
                      <p:childTnLst>
                        <p:par>
                          <p:cTn id="139" fill="hold">
                            <p:stCondLst>
                              <p:cond delay="0"/>
                            </p:stCondLst>
                            <p:childTnLst>
                              <p:par>
                                <p:cTn id="140" presetID="10" presetClass="entr" presetSubtype="0" fill="hold" nodeType="clickEffect">
                                  <p:stCondLst>
                                    <p:cond delay="0"/>
                                  </p:stCondLst>
                                  <p:childTnLst>
                                    <p:set>
                                      <p:cBhvr>
                                        <p:cTn id="141" dur="1" fill="hold">
                                          <p:stCondLst>
                                            <p:cond delay="0"/>
                                          </p:stCondLst>
                                        </p:cTn>
                                        <p:tgtEl>
                                          <p:spTgt spid="82"/>
                                        </p:tgtEl>
                                        <p:attrNameLst>
                                          <p:attrName>style.visibility</p:attrName>
                                        </p:attrNameLst>
                                      </p:cBhvr>
                                      <p:to>
                                        <p:strVal val="visible"/>
                                      </p:to>
                                    </p:set>
                                    <p:animEffect transition="in" filter="fade">
                                      <p:cBhvr>
                                        <p:cTn id="142" dur="500"/>
                                        <p:tgtEl>
                                          <p:spTgt spid="82"/>
                                        </p:tgtEl>
                                      </p:cBhvr>
                                    </p:animEffect>
                                  </p:childTnLst>
                                </p:cTn>
                              </p:par>
                              <p:par>
                                <p:cTn id="143" presetID="10" presetClass="entr" presetSubtype="0" fill="hold" nodeType="withEffect">
                                  <p:stCondLst>
                                    <p:cond delay="0"/>
                                  </p:stCondLst>
                                  <p:childTnLst>
                                    <p:set>
                                      <p:cBhvr>
                                        <p:cTn id="144" dur="1" fill="hold">
                                          <p:stCondLst>
                                            <p:cond delay="0"/>
                                          </p:stCondLst>
                                        </p:cTn>
                                        <p:tgtEl>
                                          <p:spTgt spid="80"/>
                                        </p:tgtEl>
                                        <p:attrNameLst>
                                          <p:attrName>style.visibility</p:attrName>
                                        </p:attrNameLst>
                                      </p:cBhvr>
                                      <p:to>
                                        <p:strVal val="visible"/>
                                      </p:to>
                                    </p:set>
                                    <p:animEffect transition="in" filter="fade">
                                      <p:cBhvr>
                                        <p:cTn id="145" dur="500"/>
                                        <p:tgtEl>
                                          <p:spTgt spid="80"/>
                                        </p:tgtEl>
                                      </p:cBhvr>
                                    </p:animEffect>
                                  </p:childTnLst>
                                </p:cTn>
                              </p:par>
                              <p:par>
                                <p:cTn id="146" presetID="10" presetClass="entr" presetSubtype="0" fill="hold" grpId="0" nodeType="withEffect">
                                  <p:stCondLst>
                                    <p:cond delay="0"/>
                                  </p:stCondLst>
                                  <p:childTnLst>
                                    <p:set>
                                      <p:cBhvr>
                                        <p:cTn id="147" dur="1" fill="hold">
                                          <p:stCondLst>
                                            <p:cond delay="0"/>
                                          </p:stCondLst>
                                        </p:cTn>
                                        <p:tgtEl>
                                          <p:spTgt spid="24"/>
                                        </p:tgtEl>
                                        <p:attrNameLst>
                                          <p:attrName>style.visibility</p:attrName>
                                        </p:attrNameLst>
                                      </p:cBhvr>
                                      <p:to>
                                        <p:strVal val="visible"/>
                                      </p:to>
                                    </p:set>
                                    <p:animEffect transition="in" filter="fade">
                                      <p:cBhvr>
                                        <p:cTn id="148"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BAA95C-099D-312F-BC22-AD3D6A1B2A59}"/>
              </a:ext>
            </a:extLst>
          </p:cNvPr>
          <p:cNvSpPr>
            <a:spLocks noGrp="1"/>
          </p:cNvSpPr>
          <p:nvPr>
            <p:ph type="title"/>
          </p:nvPr>
        </p:nvSpPr>
        <p:spPr/>
        <p:txBody>
          <a:bodyPr/>
          <a:lstStyle/>
          <a:p>
            <a:r>
              <a:rPr lang="en-US" dirty="0"/>
              <a:t>Another Example</a:t>
            </a:r>
          </a:p>
        </p:txBody>
      </p:sp>
      <p:sp>
        <p:nvSpPr>
          <p:cNvPr id="3" name="Content Placeholder 2">
            <a:extLst>
              <a:ext uri="{FF2B5EF4-FFF2-40B4-BE49-F238E27FC236}">
                <a16:creationId xmlns:a16="http://schemas.microsoft.com/office/drawing/2014/main" id="{4F4386B7-89C3-21B1-CE97-2FA37BE6D178}"/>
              </a:ext>
            </a:extLst>
          </p:cNvPr>
          <p:cNvSpPr>
            <a:spLocks noGrp="1"/>
          </p:cNvSpPr>
          <p:nvPr>
            <p:ph idx="1"/>
          </p:nvPr>
        </p:nvSpPr>
        <p:spPr/>
        <p:txBody>
          <a:bodyPr/>
          <a:lstStyle/>
          <a:p>
            <a:r>
              <a:rPr lang="en-US" dirty="0"/>
              <a:t>In English, the problem is as follows:</a:t>
            </a:r>
          </a:p>
          <a:p>
            <a:pPr lvl="1"/>
            <a:r>
              <a:rPr lang="en-US" dirty="0"/>
              <a:t>Everyone who loves all animals is loved by someone.</a:t>
            </a:r>
          </a:p>
          <a:p>
            <a:pPr lvl="1"/>
            <a:r>
              <a:rPr lang="en-US" dirty="0"/>
              <a:t>Anyone who kills an animal is loved by no one.</a:t>
            </a:r>
          </a:p>
          <a:p>
            <a:pPr lvl="1"/>
            <a:r>
              <a:rPr lang="en-US" dirty="0"/>
              <a:t>Jack loves all animals.</a:t>
            </a:r>
          </a:p>
          <a:p>
            <a:pPr lvl="1"/>
            <a:r>
              <a:rPr lang="en-US" dirty="0"/>
              <a:t>Either Jack or Curiosity killed the cat, who is named Tuna.</a:t>
            </a:r>
          </a:p>
          <a:p>
            <a:pPr lvl="1"/>
            <a:r>
              <a:rPr lang="en-US" dirty="0"/>
              <a:t>Did Curiosity kill the cat?</a:t>
            </a:r>
          </a:p>
        </p:txBody>
      </p:sp>
      <p:sp>
        <p:nvSpPr>
          <p:cNvPr id="4" name="Date Placeholder 3">
            <a:extLst>
              <a:ext uri="{FF2B5EF4-FFF2-40B4-BE49-F238E27FC236}">
                <a16:creationId xmlns:a16="http://schemas.microsoft.com/office/drawing/2014/main" id="{03C723EF-B741-FB75-1D9E-FA35A9730D6A}"/>
              </a:ext>
            </a:extLst>
          </p:cNvPr>
          <p:cNvSpPr>
            <a:spLocks noGrp="1"/>
          </p:cNvSpPr>
          <p:nvPr>
            <p:ph type="dt" sz="half" idx="10"/>
          </p:nvPr>
        </p:nvSpPr>
        <p:spPr/>
        <p:txBody>
          <a:bodyPr/>
          <a:lstStyle/>
          <a:p>
            <a:fld id="{1332600A-A7B8-4674-AAE3-A37177B883E5}" type="datetime1">
              <a:rPr lang="en-GB" smtClean="0"/>
              <a:t>20/10/2025</a:t>
            </a:fld>
            <a:endParaRPr lang="en-GB"/>
          </a:p>
        </p:txBody>
      </p:sp>
      <p:sp>
        <p:nvSpPr>
          <p:cNvPr id="5" name="Slide Number Placeholder 4">
            <a:extLst>
              <a:ext uri="{FF2B5EF4-FFF2-40B4-BE49-F238E27FC236}">
                <a16:creationId xmlns:a16="http://schemas.microsoft.com/office/drawing/2014/main" id="{953B00C9-BF76-41C8-A5F7-49E4A4BB2091}"/>
              </a:ext>
            </a:extLst>
          </p:cNvPr>
          <p:cNvSpPr>
            <a:spLocks noGrp="1"/>
          </p:cNvSpPr>
          <p:nvPr>
            <p:ph type="sldNum" sz="quarter" idx="12"/>
          </p:nvPr>
        </p:nvSpPr>
        <p:spPr/>
        <p:txBody>
          <a:bodyPr/>
          <a:lstStyle/>
          <a:p>
            <a:fld id="{9EB268CF-8001-41B5-ADCD-92A7738D3D9B}" type="slidenum">
              <a:rPr lang="en-GB" smtClean="0"/>
              <a:t>56</a:t>
            </a:fld>
            <a:endParaRPr lang="en-GB"/>
          </a:p>
        </p:txBody>
      </p:sp>
    </p:spTree>
    <p:extLst>
      <p:ext uri="{BB962C8B-B14F-4D97-AF65-F5344CB8AC3E}">
        <p14:creationId xmlns:p14="http://schemas.microsoft.com/office/powerpoint/2010/main" val="247295237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524E6-FE60-0C1F-6FCE-AEA9982AF070}"/>
              </a:ext>
            </a:extLst>
          </p:cNvPr>
          <p:cNvSpPr>
            <a:spLocks noGrp="1"/>
          </p:cNvSpPr>
          <p:nvPr>
            <p:ph type="title"/>
          </p:nvPr>
        </p:nvSpPr>
        <p:spPr/>
        <p:txBody>
          <a:bodyPr/>
          <a:lstStyle/>
          <a:p>
            <a:r>
              <a:rPr lang="en-US" dirty="0"/>
              <a:t>Another Example</a:t>
            </a:r>
          </a:p>
        </p:txBody>
      </p:sp>
      <p:sp>
        <p:nvSpPr>
          <p:cNvPr id="3" name="Content Placeholder 2">
            <a:extLst>
              <a:ext uri="{FF2B5EF4-FFF2-40B4-BE49-F238E27FC236}">
                <a16:creationId xmlns:a16="http://schemas.microsoft.com/office/drawing/2014/main" id="{4066A3A6-CBE5-3539-F818-F6878DAA685C}"/>
              </a:ext>
            </a:extLst>
          </p:cNvPr>
          <p:cNvSpPr>
            <a:spLocks noGrp="1"/>
          </p:cNvSpPr>
          <p:nvPr>
            <p:ph idx="1"/>
          </p:nvPr>
        </p:nvSpPr>
        <p:spPr/>
        <p:txBody>
          <a:bodyPr>
            <a:normAutofit lnSpcReduction="10000"/>
          </a:bodyPr>
          <a:lstStyle/>
          <a:p>
            <a:r>
              <a:rPr lang="en-US" dirty="0"/>
              <a:t>First, we express the original sentences, some background knowledge, and the negated goal G in first-order logic:</a:t>
            </a:r>
          </a:p>
          <a:p>
            <a:r>
              <a:rPr lang="en-US" dirty="0"/>
              <a:t>A. ∀ x [∀ y Animal (y) ⇒ Loves(x, y)] ⇒ [∃ y Loves(y, x)]</a:t>
            </a:r>
          </a:p>
          <a:p>
            <a:r>
              <a:rPr lang="en-US" dirty="0"/>
              <a:t>B. ∀ x [∃ z Animal (z) ∧ Kills(x, z)] ⇒ [∀ y ¬Loves(y, x)]</a:t>
            </a:r>
          </a:p>
          <a:p>
            <a:r>
              <a:rPr lang="en-US" dirty="0"/>
              <a:t>C. ∀ x Animal(x) ⇒ Loves(Jack , x)</a:t>
            </a:r>
          </a:p>
          <a:p>
            <a:r>
              <a:rPr lang="en-US" dirty="0"/>
              <a:t>D. Kills(Jack , Tuna) ∨ Kills(Curiosity, Tuna)</a:t>
            </a:r>
          </a:p>
          <a:p>
            <a:r>
              <a:rPr lang="en-US" dirty="0"/>
              <a:t>E. Cat(Tuna)</a:t>
            </a:r>
          </a:p>
          <a:p>
            <a:r>
              <a:rPr lang="en-US" dirty="0"/>
              <a:t>F. ∀ x Cat(x) ⇒ Animal (x)</a:t>
            </a:r>
          </a:p>
          <a:p>
            <a:r>
              <a:rPr lang="en-US" dirty="0"/>
              <a:t>¬G. ¬Kills(Curiosity, Tuna)</a:t>
            </a:r>
          </a:p>
        </p:txBody>
      </p:sp>
      <p:sp>
        <p:nvSpPr>
          <p:cNvPr id="4" name="Date Placeholder 3">
            <a:extLst>
              <a:ext uri="{FF2B5EF4-FFF2-40B4-BE49-F238E27FC236}">
                <a16:creationId xmlns:a16="http://schemas.microsoft.com/office/drawing/2014/main" id="{FD904420-FE0E-B91C-9D1B-69CD992BE9B0}"/>
              </a:ext>
            </a:extLst>
          </p:cNvPr>
          <p:cNvSpPr>
            <a:spLocks noGrp="1"/>
          </p:cNvSpPr>
          <p:nvPr>
            <p:ph type="dt" sz="half" idx="10"/>
          </p:nvPr>
        </p:nvSpPr>
        <p:spPr/>
        <p:txBody>
          <a:bodyPr/>
          <a:lstStyle/>
          <a:p>
            <a:fld id="{1332600A-A7B8-4674-AAE3-A37177B883E5}" type="datetime1">
              <a:rPr lang="en-GB" smtClean="0"/>
              <a:t>20/10/2025</a:t>
            </a:fld>
            <a:endParaRPr lang="en-GB"/>
          </a:p>
        </p:txBody>
      </p:sp>
      <p:sp>
        <p:nvSpPr>
          <p:cNvPr id="5" name="Slide Number Placeholder 4">
            <a:extLst>
              <a:ext uri="{FF2B5EF4-FFF2-40B4-BE49-F238E27FC236}">
                <a16:creationId xmlns:a16="http://schemas.microsoft.com/office/drawing/2014/main" id="{B80859F9-DD52-0742-83D9-A2A919ED2B8B}"/>
              </a:ext>
            </a:extLst>
          </p:cNvPr>
          <p:cNvSpPr>
            <a:spLocks noGrp="1"/>
          </p:cNvSpPr>
          <p:nvPr>
            <p:ph type="sldNum" sz="quarter" idx="12"/>
          </p:nvPr>
        </p:nvSpPr>
        <p:spPr/>
        <p:txBody>
          <a:bodyPr/>
          <a:lstStyle/>
          <a:p>
            <a:fld id="{9EB268CF-8001-41B5-ADCD-92A7738D3D9B}" type="slidenum">
              <a:rPr lang="en-GB" smtClean="0"/>
              <a:t>57</a:t>
            </a:fld>
            <a:endParaRPr lang="en-GB"/>
          </a:p>
        </p:txBody>
      </p:sp>
    </p:spTree>
    <p:extLst>
      <p:ext uri="{BB962C8B-B14F-4D97-AF65-F5344CB8AC3E}">
        <p14:creationId xmlns:p14="http://schemas.microsoft.com/office/powerpoint/2010/main" val="43839218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F2A93E-5D02-2E31-5B93-1A65AFA56797}"/>
              </a:ext>
            </a:extLst>
          </p:cNvPr>
          <p:cNvSpPr>
            <a:spLocks noGrp="1"/>
          </p:cNvSpPr>
          <p:nvPr>
            <p:ph type="title"/>
          </p:nvPr>
        </p:nvSpPr>
        <p:spPr/>
        <p:txBody>
          <a:bodyPr/>
          <a:lstStyle/>
          <a:p>
            <a:r>
              <a:rPr lang="en-US" dirty="0"/>
              <a:t>Another Example</a:t>
            </a:r>
          </a:p>
        </p:txBody>
      </p:sp>
      <p:sp>
        <p:nvSpPr>
          <p:cNvPr id="3" name="Content Placeholder 2">
            <a:extLst>
              <a:ext uri="{FF2B5EF4-FFF2-40B4-BE49-F238E27FC236}">
                <a16:creationId xmlns:a16="http://schemas.microsoft.com/office/drawing/2014/main" id="{3EBEB329-A791-157C-EF46-F159216C7985}"/>
              </a:ext>
            </a:extLst>
          </p:cNvPr>
          <p:cNvSpPr>
            <a:spLocks noGrp="1"/>
          </p:cNvSpPr>
          <p:nvPr>
            <p:ph idx="1"/>
          </p:nvPr>
        </p:nvSpPr>
        <p:spPr/>
        <p:txBody>
          <a:bodyPr>
            <a:normAutofit lnSpcReduction="10000"/>
          </a:bodyPr>
          <a:lstStyle/>
          <a:p>
            <a:r>
              <a:rPr lang="en-US" dirty="0"/>
              <a:t>Next we apply the conversion procedure to get CNF.</a:t>
            </a:r>
          </a:p>
          <a:p>
            <a:pPr marL="0" indent="0">
              <a:buNone/>
            </a:pPr>
            <a:r>
              <a:rPr lang="en-US" dirty="0"/>
              <a:t>A1. Animal(F (x)) ∨ Loves(G(x), x)</a:t>
            </a:r>
          </a:p>
          <a:p>
            <a:pPr marL="0" indent="0">
              <a:buNone/>
            </a:pPr>
            <a:r>
              <a:rPr lang="en-US" dirty="0"/>
              <a:t>A2. ¬Loves(x, F (x)) ∨ Loves(G(x), x)</a:t>
            </a:r>
          </a:p>
          <a:p>
            <a:pPr marL="0" indent="0">
              <a:buNone/>
            </a:pPr>
            <a:r>
              <a:rPr lang="en-US" dirty="0"/>
              <a:t>B. ¬Loves(y, x) ∨ ¬Animal (z) ∨ ¬Kills(x, z)</a:t>
            </a:r>
          </a:p>
          <a:p>
            <a:pPr marL="0" indent="0">
              <a:buNone/>
            </a:pPr>
            <a:r>
              <a:rPr lang="en-US" dirty="0"/>
              <a:t>C. ¬Animal(x) ∨ Loves(Jack , x)</a:t>
            </a:r>
          </a:p>
          <a:p>
            <a:pPr marL="0" indent="0">
              <a:buNone/>
            </a:pPr>
            <a:r>
              <a:rPr lang="en-US" dirty="0"/>
              <a:t>D. Kills(Jack , Tuna) ∨ Kills(Curiosity, Tuna)</a:t>
            </a:r>
          </a:p>
          <a:p>
            <a:pPr marL="0" indent="0">
              <a:buNone/>
            </a:pPr>
            <a:r>
              <a:rPr lang="en-US" dirty="0"/>
              <a:t>E. Cat(Tuna)</a:t>
            </a:r>
          </a:p>
          <a:p>
            <a:pPr marL="0" indent="0">
              <a:buNone/>
            </a:pPr>
            <a:r>
              <a:rPr lang="en-US" dirty="0"/>
              <a:t>F. ¬Cat(x) ∨ Animal (x)</a:t>
            </a:r>
          </a:p>
          <a:p>
            <a:pPr marL="0" indent="0">
              <a:buNone/>
            </a:pPr>
            <a:r>
              <a:rPr lang="en-US" dirty="0"/>
              <a:t>¬G. ¬Kills(Curiosity, Tuna)</a:t>
            </a:r>
          </a:p>
        </p:txBody>
      </p:sp>
      <p:sp>
        <p:nvSpPr>
          <p:cNvPr id="4" name="Date Placeholder 3">
            <a:extLst>
              <a:ext uri="{FF2B5EF4-FFF2-40B4-BE49-F238E27FC236}">
                <a16:creationId xmlns:a16="http://schemas.microsoft.com/office/drawing/2014/main" id="{8D301C74-2421-FB45-FB6E-C1B912264F83}"/>
              </a:ext>
            </a:extLst>
          </p:cNvPr>
          <p:cNvSpPr>
            <a:spLocks noGrp="1"/>
          </p:cNvSpPr>
          <p:nvPr>
            <p:ph type="dt" sz="half" idx="10"/>
          </p:nvPr>
        </p:nvSpPr>
        <p:spPr/>
        <p:txBody>
          <a:bodyPr/>
          <a:lstStyle/>
          <a:p>
            <a:fld id="{1332600A-A7B8-4674-AAE3-A37177B883E5}" type="datetime1">
              <a:rPr lang="en-GB" smtClean="0"/>
              <a:t>20/10/2025</a:t>
            </a:fld>
            <a:endParaRPr lang="en-GB"/>
          </a:p>
        </p:txBody>
      </p:sp>
      <p:sp>
        <p:nvSpPr>
          <p:cNvPr id="5" name="Slide Number Placeholder 4">
            <a:extLst>
              <a:ext uri="{FF2B5EF4-FFF2-40B4-BE49-F238E27FC236}">
                <a16:creationId xmlns:a16="http://schemas.microsoft.com/office/drawing/2014/main" id="{F6439876-C818-B2B1-DAB2-15831EEDAFEC}"/>
              </a:ext>
            </a:extLst>
          </p:cNvPr>
          <p:cNvSpPr>
            <a:spLocks noGrp="1"/>
          </p:cNvSpPr>
          <p:nvPr>
            <p:ph type="sldNum" sz="quarter" idx="12"/>
          </p:nvPr>
        </p:nvSpPr>
        <p:spPr/>
        <p:txBody>
          <a:bodyPr/>
          <a:lstStyle/>
          <a:p>
            <a:fld id="{9EB268CF-8001-41B5-ADCD-92A7738D3D9B}" type="slidenum">
              <a:rPr lang="en-GB" smtClean="0"/>
              <a:t>58</a:t>
            </a:fld>
            <a:endParaRPr lang="en-GB"/>
          </a:p>
        </p:txBody>
      </p:sp>
    </p:spTree>
    <p:extLst>
      <p:ext uri="{BB962C8B-B14F-4D97-AF65-F5344CB8AC3E}">
        <p14:creationId xmlns:p14="http://schemas.microsoft.com/office/powerpoint/2010/main" val="203002606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CA4D8C-D7D2-062B-B4BA-B7C3FCB624B5}"/>
              </a:ext>
            </a:extLst>
          </p:cNvPr>
          <p:cNvSpPr>
            <a:spLocks noGrp="1"/>
          </p:cNvSpPr>
          <p:nvPr>
            <p:ph type="title"/>
          </p:nvPr>
        </p:nvSpPr>
        <p:spPr>
          <a:xfrm>
            <a:off x="838200" y="365125"/>
            <a:ext cx="10515600" cy="530987"/>
          </a:xfrm>
        </p:spPr>
        <p:txBody>
          <a:bodyPr>
            <a:normAutofit fontScale="90000"/>
          </a:bodyPr>
          <a:lstStyle/>
          <a:p>
            <a:r>
              <a:rPr lang="en-US" dirty="0"/>
              <a:t>Proof</a:t>
            </a:r>
          </a:p>
        </p:txBody>
      </p:sp>
      <p:sp>
        <p:nvSpPr>
          <p:cNvPr id="4" name="Date Placeholder 3">
            <a:extLst>
              <a:ext uri="{FF2B5EF4-FFF2-40B4-BE49-F238E27FC236}">
                <a16:creationId xmlns:a16="http://schemas.microsoft.com/office/drawing/2014/main" id="{9F0BBBB6-325E-B6E9-5103-D3DE1A427412}"/>
              </a:ext>
            </a:extLst>
          </p:cNvPr>
          <p:cNvSpPr>
            <a:spLocks noGrp="1"/>
          </p:cNvSpPr>
          <p:nvPr>
            <p:ph type="dt" sz="half" idx="10"/>
          </p:nvPr>
        </p:nvSpPr>
        <p:spPr/>
        <p:txBody>
          <a:bodyPr/>
          <a:lstStyle/>
          <a:p>
            <a:fld id="{1332600A-A7B8-4674-AAE3-A37177B883E5}" type="datetime1">
              <a:rPr lang="en-GB" smtClean="0"/>
              <a:t>21/10/2025</a:t>
            </a:fld>
            <a:endParaRPr lang="en-GB"/>
          </a:p>
        </p:txBody>
      </p:sp>
      <p:sp>
        <p:nvSpPr>
          <p:cNvPr id="5" name="Slide Number Placeholder 4">
            <a:extLst>
              <a:ext uri="{FF2B5EF4-FFF2-40B4-BE49-F238E27FC236}">
                <a16:creationId xmlns:a16="http://schemas.microsoft.com/office/drawing/2014/main" id="{BC133D14-0AB0-D54D-E91F-0FB28E84284A}"/>
              </a:ext>
            </a:extLst>
          </p:cNvPr>
          <p:cNvSpPr>
            <a:spLocks noGrp="1"/>
          </p:cNvSpPr>
          <p:nvPr>
            <p:ph type="sldNum" sz="quarter" idx="12"/>
          </p:nvPr>
        </p:nvSpPr>
        <p:spPr/>
        <p:txBody>
          <a:bodyPr/>
          <a:lstStyle/>
          <a:p>
            <a:fld id="{9EB268CF-8001-41B5-ADCD-92A7738D3D9B}" type="slidenum">
              <a:rPr lang="en-GB" smtClean="0"/>
              <a:t>59</a:t>
            </a:fld>
            <a:endParaRPr lang="en-GB"/>
          </a:p>
        </p:txBody>
      </p:sp>
      <mc:AlternateContent xmlns:mc="http://schemas.openxmlformats.org/markup-compatibility/2006">
        <mc:Choice xmlns:a14="http://schemas.microsoft.com/office/drawing/2010/main" Requires="a14">
          <p:sp>
            <p:nvSpPr>
              <p:cNvPr id="6" name="Rectangle 5">
                <a:extLst>
                  <a:ext uri="{FF2B5EF4-FFF2-40B4-BE49-F238E27FC236}">
                    <a16:creationId xmlns:a16="http://schemas.microsoft.com/office/drawing/2014/main" id="{B4754AC6-4906-A8CB-BF17-1EF5C47BB7FD}"/>
                  </a:ext>
                </a:extLst>
              </p:cNvPr>
              <p:cNvSpPr/>
              <p:nvPr/>
            </p:nvSpPr>
            <p:spPr>
              <a:xfrm>
                <a:off x="209550" y="1182942"/>
                <a:ext cx="1280922" cy="43815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𝐶𝑎𝑡</m:t>
                      </m:r>
                      <m:r>
                        <a:rPr lang="en-US" b="0" i="1">
                          <a:latin typeface="Cambria Math" panose="02040503050406030204" pitchFamily="18" charset="0"/>
                        </a:rPr>
                        <m:t> </m:t>
                      </m:r>
                      <m:d>
                        <m:dPr>
                          <m:ctrlPr>
                            <a:rPr lang="en-US" i="1">
                              <a:latin typeface="Cambria Math" panose="02040503050406030204" pitchFamily="18" charset="0"/>
                            </a:rPr>
                          </m:ctrlPr>
                        </m:dPr>
                        <m:e>
                          <m:r>
                            <a:rPr lang="en-US" b="0" i="1" smtClean="0">
                              <a:latin typeface="Cambria Math" panose="02040503050406030204" pitchFamily="18" charset="0"/>
                            </a:rPr>
                            <m:t>𝑇𝑢𝑛𝑎</m:t>
                          </m:r>
                        </m:e>
                      </m:d>
                    </m:oMath>
                  </m:oMathPara>
                </a14:m>
                <a:endParaRPr lang="en-US" i="1" dirty="0">
                  <a:latin typeface="Cambria Math" panose="02040503050406030204" pitchFamily="18" charset="0"/>
                </a:endParaRPr>
              </a:p>
            </p:txBody>
          </p:sp>
        </mc:Choice>
        <mc:Fallback>
          <p:sp>
            <p:nvSpPr>
              <p:cNvPr id="6" name="Rectangle 5">
                <a:extLst>
                  <a:ext uri="{FF2B5EF4-FFF2-40B4-BE49-F238E27FC236}">
                    <a16:creationId xmlns:a16="http://schemas.microsoft.com/office/drawing/2014/main" id="{B4754AC6-4906-A8CB-BF17-1EF5C47BB7FD}"/>
                  </a:ext>
                </a:extLst>
              </p:cNvPr>
              <p:cNvSpPr>
                <a:spLocks noRot="1" noChangeAspect="1" noMove="1" noResize="1" noEditPoints="1" noAdjustHandles="1" noChangeArrowheads="1" noChangeShapeType="1" noTextEdit="1"/>
              </p:cNvSpPr>
              <p:nvPr/>
            </p:nvSpPr>
            <p:spPr>
              <a:xfrm>
                <a:off x="209550" y="1182942"/>
                <a:ext cx="1280922" cy="438150"/>
              </a:xfrm>
              <a:prstGeom prst="rect">
                <a:avLst/>
              </a:prstGeom>
              <a:blipFill>
                <a:blip r:embed="rId2"/>
                <a:stretch>
                  <a:fillRect l="-1869"/>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 name="Rectangle 6">
                <a:extLst>
                  <a:ext uri="{FF2B5EF4-FFF2-40B4-BE49-F238E27FC236}">
                    <a16:creationId xmlns:a16="http://schemas.microsoft.com/office/drawing/2014/main" id="{95F836C9-1548-222D-DCCB-CCA6021E9018}"/>
                  </a:ext>
                </a:extLst>
              </p:cNvPr>
              <p:cNvSpPr/>
              <p:nvPr/>
            </p:nvSpPr>
            <p:spPr>
              <a:xfrm>
                <a:off x="1943862" y="1182942"/>
                <a:ext cx="2298954" cy="43815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14:m>
                  <m:oMathPara xmlns:m="http://schemas.openxmlformats.org/officeDocument/2006/math">
                    <m:oMathParaPr>
                      <m:jc m:val="centerGroup"/>
                    </m:oMathParaPr>
                    <m:oMath xmlns:m="http://schemas.openxmlformats.org/officeDocument/2006/math">
                      <m:r>
                        <m:rPr>
                          <m:nor/>
                        </m:rPr>
                        <a:rPr lang="en-US" dirty="0"/>
                        <m:t>¬</m:t>
                      </m:r>
                      <m:r>
                        <m:rPr>
                          <m:nor/>
                        </m:rPr>
                        <a:rPr lang="en-US" dirty="0"/>
                        <m:t>Cat</m:t>
                      </m:r>
                      <m:r>
                        <m:rPr>
                          <m:nor/>
                        </m:rPr>
                        <a:rPr lang="en-US" dirty="0"/>
                        <m:t>(</m:t>
                      </m:r>
                      <m:r>
                        <m:rPr>
                          <m:nor/>
                        </m:rPr>
                        <a:rPr lang="en-US" dirty="0"/>
                        <m:t>x</m:t>
                      </m:r>
                      <m:r>
                        <m:rPr>
                          <m:nor/>
                        </m:rPr>
                        <a:rPr lang="en-US" dirty="0"/>
                        <m:t>) </m:t>
                      </m:r>
                      <m:r>
                        <m:rPr>
                          <m:nor/>
                        </m:rPr>
                        <a:rPr lang="en-US" dirty="0"/>
                        <m:t>∨ </m:t>
                      </m:r>
                      <m:r>
                        <m:rPr>
                          <m:nor/>
                        </m:rPr>
                        <a:rPr lang="en-US" dirty="0"/>
                        <m:t>Animal</m:t>
                      </m:r>
                      <m:r>
                        <m:rPr>
                          <m:nor/>
                        </m:rPr>
                        <a:rPr lang="en-US" dirty="0"/>
                        <m:t> (</m:t>
                      </m:r>
                      <m:r>
                        <m:rPr>
                          <m:nor/>
                        </m:rPr>
                        <a:rPr lang="en-US" dirty="0"/>
                        <m:t>x</m:t>
                      </m:r>
                      <m:r>
                        <m:rPr>
                          <m:nor/>
                        </m:rPr>
                        <a:rPr lang="en-US" dirty="0"/>
                        <m:t>)</m:t>
                      </m:r>
                    </m:oMath>
                  </m:oMathPara>
                </a14:m>
                <a:endParaRPr lang="en-US" dirty="0"/>
              </a:p>
            </p:txBody>
          </p:sp>
        </mc:Choice>
        <mc:Fallback>
          <p:sp>
            <p:nvSpPr>
              <p:cNvPr id="7" name="Rectangle 6">
                <a:extLst>
                  <a:ext uri="{FF2B5EF4-FFF2-40B4-BE49-F238E27FC236}">
                    <a16:creationId xmlns:a16="http://schemas.microsoft.com/office/drawing/2014/main" id="{95F836C9-1548-222D-DCCB-CCA6021E9018}"/>
                  </a:ext>
                </a:extLst>
              </p:cNvPr>
              <p:cNvSpPr>
                <a:spLocks noRot="1" noChangeAspect="1" noMove="1" noResize="1" noEditPoints="1" noAdjustHandles="1" noChangeArrowheads="1" noChangeShapeType="1" noTextEdit="1"/>
              </p:cNvSpPr>
              <p:nvPr/>
            </p:nvSpPr>
            <p:spPr>
              <a:xfrm>
                <a:off x="1943862" y="1182942"/>
                <a:ext cx="2298954" cy="438150"/>
              </a:xfrm>
              <a:prstGeom prst="rect">
                <a:avLst/>
              </a:prstGeom>
              <a:blipFill>
                <a:blip r:embed="rId3"/>
                <a:stretch>
                  <a:fillRect b="-1333"/>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0" name="Rectangle 9">
                <a:extLst>
                  <a:ext uri="{FF2B5EF4-FFF2-40B4-BE49-F238E27FC236}">
                    <a16:creationId xmlns:a16="http://schemas.microsoft.com/office/drawing/2014/main" id="{CBFE5289-8F7B-02E2-20E7-47ACACD6AE34}"/>
                  </a:ext>
                </a:extLst>
              </p:cNvPr>
              <p:cNvSpPr/>
              <p:nvPr/>
            </p:nvSpPr>
            <p:spPr>
              <a:xfrm>
                <a:off x="4562094" y="1182942"/>
                <a:ext cx="4271010" cy="43815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14:m>
                  <m:oMathPara xmlns:m="http://schemas.openxmlformats.org/officeDocument/2006/math">
                    <m:oMathParaPr>
                      <m:jc m:val="centerGroup"/>
                    </m:oMathParaPr>
                    <m:oMath xmlns:m="http://schemas.openxmlformats.org/officeDocument/2006/math">
                      <m:r>
                        <m:rPr>
                          <m:nor/>
                        </m:rPr>
                        <a:rPr lang="en-US" sz="1600" dirty="0"/>
                        <m:t>Kills</m:t>
                      </m:r>
                      <m:r>
                        <m:rPr>
                          <m:nor/>
                        </m:rPr>
                        <a:rPr lang="en-US" sz="1600" dirty="0"/>
                        <m:t>(</m:t>
                      </m:r>
                      <m:r>
                        <m:rPr>
                          <m:nor/>
                        </m:rPr>
                        <a:rPr lang="en-US" sz="1600" dirty="0"/>
                        <m:t>Jack</m:t>
                      </m:r>
                      <m:r>
                        <m:rPr>
                          <m:nor/>
                        </m:rPr>
                        <a:rPr lang="en-US" sz="1600" dirty="0"/>
                        <m:t> , </m:t>
                      </m:r>
                      <m:r>
                        <m:rPr>
                          <m:nor/>
                        </m:rPr>
                        <a:rPr lang="en-US" sz="1600" dirty="0"/>
                        <m:t>Tuna</m:t>
                      </m:r>
                      <m:r>
                        <m:rPr>
                          <m:nor/>
                        </m:rPr>
                        <a:rPr lang="en-US" sz="1600" dirty="0"/>
                        <m:t>) </m:t>
                      </m:r>
                      <m:r>
                        <m:rPr>
                          <m:nor/>
                        </m:rPr>
                        <a:rPr lang="en-US" sz="1600" dirty="0"/>
                        <m:t>∨ </m:t>
                      </m:r>
                      <m:r>
                        <m:rPr>
                          <m:nor/>
                        </m:rPr>
                        <a:rPr lang="en-US" sz="1600" dirty="0"/>
                        <m:t>Kills</m:t>
                      </m:r>
                      <m:r>
                        <m:rPr>
                          <m:nor/>
                        </m:rPr>
                        <a:rPr lang="en-US" sz="1600" dirty="0"/>
                        <m:t>(</m:t>
                      </m:r>
                      <m:r>
                        <m:rPr>
                          <m:nor/>
                        </m:rPr>
                        <a:rPr lang="en-US" sz="1600" dirty="0"/>
                        <m:t>Curiosity</m:t>
                      </m:r>
                      <m:r>
                        <m:rPr>
                          <m:nor/>
                        </m:rPr>
                        <a:rPr lang="en-US" sz="1600" dirty="0"/>
                        <m:t>, </m:t>
                      </m:r>
                      <m:r>
                        <m:rPr>
                          <m:nor/>
                        </m:rPr>
                        <a:rPr lang="en-US" sz="1600" dirty="0"/>
                        <m:t>Tuna</m:t>
                      </m:r>
                      <m:r>
                        <m:rPr>
                          <m:nor/>
                        </m:rPr>
                        <a:rPr lang="en-US" sz="1600" dirty="0"/>
                        <m:t>))</m:t>
                      </m:r>
                    </m:oMath>
                  </m:oMathPara>
                </a14:m>
                <a:endParaRPr lang="en-US" sz="1600" dirty="0"/>
              </a:p>
            </p:txBody>
          </p:sp>
        </mc:Choice>
        <mc:Fallback>
          <p:sp>
            <p:nvSpPr>
              <p:cNvPr id="10" name="Rectangle 9">
                <a:extLst>
                  <a:ext uri="{FF2B5EF4-FFF2-40B4-BE49-F238E27FC236}">
                    <a16:creationId xmlns:a16="http://schemas.microsoft.com/office/drawing/2014/main" id="{CBFE5289-8F7B-02E2-20E7-47ACACD6AE34}"/>
                  </a:ext>
                </a:extLst>
              </p:cNvPr>
              <p:cNvSpPr>
                <a:spLocks noRot="1" noChangeAspect="1" noMove="1" noResize="1" noEditPoints="1" noAdjustHandles="1" noChangeArrowheads="1" noChangeShapeType="1" noTextEdit="1"/>
              </p:cNvSpPr>
              <p:nvPr/>
            </p:nvSpPr>
            <p:spPr>
              <a:xfrm>
                <a:off x="4562094" y="1182942"/>
                <a:ext cx="4271010" cy="438150"/>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1" name="Rectangle 10">
                <a:extLst>
                  <a:ext uri="{FF2B5EF4-FFF2-40B4-BE49-F238E27FC236}">
                    <a16:creationId xmlns:a16="http://schemas.microsoft.com/office/drawing/2014/main" id="{69236AB9-AE5D-B0F5-F774-9669A19B3C07}"/>
                  </a:ext>
                </a:extLst>
              </p:cNvPr>
              <p:cNvSpPr/>
              <p:nvPr/>
            </p:nvSpPr>
            <p:spPr>
              <a:xfrm>
                <a:off x="9326880" y="1182942"/>
                <a:ext cx="2566416" cy="43815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14:m>
                  <m:oMathPara xmlns:m="http://schemas.openxmlformats.org/officeDocument/2006/math">
                    <m:oMathParaPr>
                      <m:jc m:val="centerGroup"/>
                    </m:oMathParaPr>
                    <m:oMath xmlns:m="http://schemas.openxmlformats.org/officeDocument/2006/math">
                      <m:r>
                        <m:rPr>
                          <m:nor/>
                        </m:rPr>
                        <a:rPr lang="en-US" dirty="0"/>
                        <m:t>¬</m:t>
                      </m:r>
                      <m:r>
                        <m:rPr>
                          <m:nor/>
                        </m:rPr>
                        <a:rPr lang="en-US" dirty="0"/>
                        <m:t>Kills</m:t>
                      </m:r>
                      <m:r>
                        <m:rPr>
                          <m:nor/>
                        </m:rPr>
                        <a:rPr lang="en-US" dirty="0"/>
                        <m:t>(</m:t>
                      </m:r>
                      <m:r>
                        <m:rPr>
                          <m:nor/>
                        </m:rPr>
                        <a:rPr lang="en-US" dirty="0"/>
                        <m:t>Curiosity</m:t>
                      </m:r>
                      <m:r>
                        <m:rPr>
                          <m:nor/>
                        </m:rPr>
                        <a:rPr lang="en-US" dirty="0"/>
                        <m:t>, </m:t>
                      </m:r>
                      <m:r>
                        <m:rPr>
                          <m:nor/>
                        </m:rPr>
                        <a:rPr lang="en-US" dirty="0"/>
                        <m:t>Tuna</m:t>
                      </m:r>
                      <m:r>
                        <m:rPr>
                          <m:nor/>
                        </m:rPr>
                        <a:rPr lang="en-US" dirty="0"/>
                        <m:t>)</m:t>
                      </m:r>
                    </m:oMath>
                  </m:oMathPara>
                </a14:m>
                <a:endParaRPr lang="en-US" dirty="0"/>
              </a:p>
            </p:txBody>
          </p:sp>
        </mc:Choice>
        <mc:Fallback>
          <p:sp>
            <p:nvSpPr>
              <p:cNvPr id="11" name="Rectangle 10">
                <a:extLst>
                  <a:ext uri="{FF2B5EF4-FFF2-40B4-BE49-F238E27FC236}">
                    <a16:creationId xmlns:a16="http://schemas.microsoft.com/office/drawing/2014/main" id="{69236AB9-AE5D-B0F5-F774-9669A19B3C07}"/>
                  </a:ext>
                </a:extLst>
              </p:cNvPr>
              <p:cNvSpPr>
                <a:spLocks noRot="1" noChangeAspect="1" noMove="1" noResize="1" noEditPoints="1" noAdjustHandles="1" noChangeArrowheads="1" noChangeShapeType="1" noTextEdit="1"/>
              </p:cNvSpPr>
              <p:nvPr/>
            </p:nvSpPr>
            <p:spPr>
              <a:xfrm>
                <a:off x="9326880" y="1182942"/>
                <a:ext cx="2566416" cy="438150"/>
              </a:xfrm>
              <a:prstGeom prst="rect">
                <a:avLst/>
              </a:prstGeom>
              <a:blipFill>
                <a:blip r:embed="rId5"/>
                <a:stretch>
                  <a:fillRect b="-1333"/>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 name="Rectangle 11">
                <a:extLst>
                  <a:ext uri="{FF2B5EF4-FFF2-40B4-BE49-F238E27FC236}">
                    <a16:creationId xmlns:a16="http://schemas.microsoft.com/office/drawing/2014/main" id="{CC4EB0CD-1F7A-3D17-7021-5F7F0069DE85}"/>
                  </a:ext>
                </a:extLst>
              </p:cNvPr>
              <p:cNvSpPr/>
              <p:nvPr/>
            </p:nvSpPr>
            <p:spPr>
              <a:xfrm>
                <a:off x="22098" y="2131506"/>
                <a:ext cx="1376934" cy="43815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14:m>
                  <m:oMathPara xmlns:m="http://schemas.openxmlformats.org/officeDocument/2006/math">
                    <m:oMathParaPr>
                      <m:jc m:val="centerGroup"/>
                    </m:oMathParaPr>
                    <m:oMath xmlns:m="http://schemas.openxmlformats.org/officeDocument/2006/math">
                      <m:r>
                        <m:rPr>
                          <m:nor/>
                        </m:rPr>
                        <a:rPr lang="en-US" sz="1400" dirty="0"/>
                        <m:t>Animal</m:t>
                      </m:r>
                      <m:r>
                        <m:rPr>
                          <m:nor/>
                        </m:rPr>
                        <a:rPr lang="en-US" sz="1400" dirty="0"/>
                        <m:t> (</m:t>
                      </m:r>
                      <m:r>
                        <m:rPr>
                          <m:nor/>
                        </m:rPr>
                        <a:rPr lang="en-US" sz="1400" b="0" i="0" dirty="0" smtClean="0"/>
                        <m:t>Tuna</m:t>
                      </m:r>
                      <m:r>
                        <m:rPr>
                          <m:nor/>
                        </m:rPr>
                        <a:rPr lang="en-US" sz="1400" dirty="0"/>
                        <m:t>)</m:t>
                      </m:r>
                    </m:oMath>
                  </m:oMathPara>
                </a14:m>
                <a:endParaRPr lang="en-US" dirty="0"/>
              </a:p>
            </p:txBody>
          </p:sp>
        </mc:Choice>
        <mc:Fallback>
          <p:sp>
            <p:nvSpPr>
              <p:cNvPr id="12" name="Rectangle 11">
                <a:extLst>
                  <a:ext uri="{FF2B5EF4-FFF2-40B4-BE49-F238E27FC236}">
                    <a16:creationId xmlns:a16="http://schemas.microsoft.com/office/drawing/2014/main" id="{CC4EB0CD-1F7A-3D17-7021-5F7F0069DE85}"/>
                  </a:ext>
                </a:extLst>
              </p:cNvPr>
              <p:cNvSpPr>
                <a:spLocks noRot="1" noChangeAspect="1" noMove="1" noResize="1" noEditPoints="1" noAdjustHandles="1" noChangeArrowheads="1" noChangeShapeType="1" noTextEdit="1"/>
              </p:cNvSpPr>
              <p:nvPr/>
            </p:nvSpPr>
            <p:spPr>
              <a:xfrm>
                <a:off x="22098" y="2131506"/>
                <a:ext cx="1376934" cy="438150"/>
              </a:xfrm>
              <a:prstGeom prst="rect">
                <a:avLst/>
              </a:prstGeom>
              <a:blipFill>
                <a:blip r:embed="rId6"/>
                <a:stretch>
                  <a:fillRect/>
                </a:stretch>
              </a:blipFill>
            </p:spPr>
            <p:txBody>
              <a:bodyPr/>
              <a:lstStyle/>
              <a:p>
                <a:r>
                  <a:rPr lang="en-US">
                    <a:noFill/>
                  </a:rPr>
                  <a:t> </a:t>
                </a:r>
              </a:p>
            </p:txBody>
          </p:sp>
        </mc:Fallback>
      </mc:AlternateContent>
      <p:cxnSp>
        <p:nvCxnSpPr>
          <p:cNvPr id="14" name="Straight Connector 13">
            <a:extLst>
              <a:ext uri="{FF2B5EF4-FFF2-40B4-BE49-F238E27FC236}">
                <a16:creationId xmlns:a16="http://schemas.microsoft.com/office/drawing/2014/main" id="{D296EF17-D426-133F-79DD-04505B5B713A}"/>
              </a:ext>
            </a:extLst>
          </p:cNvPr>
          <p:cNvCxnSpPr>
            <a:cxnSpLocks/>
            <a:stCxn id="6" idx="2"/>
            <a:endCxn id="12" idx="0"/>
          </p:cNvCxnSpPr>
          <p:nvPr/>
        </p:nvCxnSpPr>
        <p:spPr>
          <a:xfrm flipH="1">
            <a:off x="710565" y="1621092"/>
            <a:ext cx="139446" cy="510414"/>
          </a:xfrm>
          <a:prstGeom prst="line">
            <a:avLst/>
          </a:prstGeom>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9090BC91-3F25-2FBE-1332-319C125EF351}"/>
              </a:ext>
            </a:extLst>
          </p:cNvPr>
          <p:cNvCxnSpPr>
            <a:cxnSpLocks/>
            <a:stCxn id="7" idx="2"/>
            <a:endCxn id="12" idx="0"/>
          </p:cNvCxnSpPr>
          <p:nvPr/>
        </p:nvCxnSpPr>
        <p:spPr>
          <a:xfrm flipH="1">
            <a:off x="710565" y="1621092"/>
            <a:ext cx="2382774" cy="510414"/>
          </a:xfrm>
          <a:prstGeom prst="line">
            <a:avLst/>
          </a:prstGeom>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mc:Choice xmlns:a14="http://schemas.microsoft.com/office/drawing/2010/main" Requires="a14">
          <p:sp>
            <p:nvSpPr>
              <p:cNvPr id="18" name="Rectangle 17">
                <a:extLst>
                  <a:ext uri="{FF2B5EF4-FFF2-40B4-BE49-F238E27FC236}">
                    <a16:creationId xmlns:a16="http://schemas.microsoft.com/office/drawing/2014/main" id="{6D945BE7-00C9-3850-A153-C8C02538AC1E}"/>
                  </a:ext>
                </a:extLst>
              </p:cNvPr>
              <p:cNvSpPr/>
              <p:nvPr/>
            </p:nvSpPr>
            <p:spPr>
              <a:xfrm>
                <a:off x="5007483" y="2123442"/>
                <a:ext cx="1837944" cy="43815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14:m>
                  <m:oMathPara xmlns:m="http://schemas.openxmlformats.org/officeDocument/2006/math">
                    <m:oMathParaPr>
                      <m:jc m:val="centerGroup"/>
                    </m:oMathParaPr>
                    <m:oMath xmlns:m="http://schemas.openxmlformats.org/officeDocument/2006/math">
                      <m:r>
                        <m:rPr>
                          <m:nor/>
                        </m:rPr>
                        <a:rPr lang="en-US" sz="1600" dirty="0"/>
                        <m:t>Kills</m:t>
                      </m:r>
                      <m:r>
                        <m:rPr>
                          <m:nor/>
                        </m:rPr>
                        <a:rPr lang="en-US" sz="1600" dirty="0"/>
                        <m:t>(</m:t>
                      </m:r>
                      <m:r>
                        <m:rPr>
                          <m:nor/>
                        </m:rPr>
                        <a:rPr lang="en-US" sz="1600" dirty="0"/>
                        <m:t>Jack</m:t>
                      </m:r>
                      <m:r>
                        <m:rPr>
                          <m:nor/>
                        </m:rPr>
                        <a:rPr lang="en-US" sz="1600" dirty="0"/>
                        <m:t> , </m:t>
                      </m:r>
                      <m:r>
                        <m:rPr>
                          <m:nor/>
                        </m:rPr>
                        <a:rPr lang="en-US" sz="1600" dirty="0"/>
                        <m:t>Tuna</m:t>
                      </m:r>
                      <m:r>
                        <m:rPr>
                          <m:nor/>
                        </m:rPr>
                        <a:rPr lang="en-US" sz="1600" dirty="0"/>
                        <m:t>)</m:t>
                      </m:r>
                    </m:oMath>
                  </m:oMathPara>
                </a14:m>
                <a:endParaRPr lang="en-US" sz="1600" dirty="0"/>
              </a:p>
            </p:txBody>
          </p:sp>
        </mc:Choice>
        <mc:Fallback>
          <p:sp>
            <p:nvSpPr>
              <p:cNvPr id="18" name="Rectangle 17">
                <a:extLst>
                  <a:ext uri="{FF2B5EF4-FFF2-40B4-BE49-F238E27FC236}">
                    <a16:creationId xmlns:a16="http://schemas.microsoft.com/office/drawing/2014/main" id="{6D945BE7-00C9-3850-A153-C8C02538AC1E}"/>
                  </a:ext>
                </a:extLst>
              </p:cNvPr>
              <p:cNvSpPr>
                <a:spLocks noRot="1" noChangeAspect="1" noMove="1" noResize="1" noEditPoints="1" noAdjustHandles="1" noChangeArrowheads="1" noChangeShapeType="1" noTextEdit="1"/>
              </p:cNvSpPr>
              <p:nvPr/>
            </p:nvSpPr>
            <p:spPr>
              <a:xfrm>
                <a:off x="5007483" y="2123442"/>
                <a:ext cx="1837944" cy="438150"/>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9" name="Rectangle 18">
                <a:extLst>
                  <a:ext uri="{FF2B5EF4-FFF2-40B4-BE49-F238E27FC236}">
                    <a16:creationId xmlns:a16="http://schemas.microsoft.com/office/drawing/2014/main" id="{49ECCC0D-FCFE-CA49-A294-862B7590B1EF}"/>
                  </a:ext>
                </a:extLst>
              </p:cNvPr>
              <p:cNvSpPr/>
              <p:nvPr/>
            </p:nvSpPr>
            <p:spPr>
              <a:xfrm>
                <a:off x="1538478" y="2132586"/>
                <a:ext cx="3329559" cy="43815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14:m>
                  <m:oMathPara xmlns:m="http://schemas.openxmlformats.org/officeDocument/2006/math">
                    <m:oMathParaPr>
                      <m:jc m:val="centerGroup"/>
                    </m:oMathParaPr>
                    <m:oMath xmlns:m="http://schemas.openxmlformats.org/officeDocument/2006/math">
                      <m:r>
                        <m:rPr>
                          <m:nor/>
                        </m:rPr>
                        <a:rPr lang="en-US" sz="1400" dirty="0"/>
                        <m:t>¬</m:t>
                      </m:r>
                      <m:r>
                        <m:rPr>
                          <m:nor/>
                        </m:rPr>
                        <a:rPr lang="en-US" sz="1400" dirty="0"/>
                        <m:t>Loves</m:t>
                      </m:r>
                      <m:r>
                        <m:rPr>
                          <m:nor/>
                        </m:rPr>
                        <a:rPr lang="en-US" sz="1400" dirty="0"/>
                        <m:t>(</m:t>
                      </m:r>
                      <m:r>
                        <m:rPr>
                          <m:nor/>
                        </m:rPr>
                        <a:rPr lang="en-US" sz="1400" dirty="0"/>
                        <m:t>y</m:t>
                      </m:r>
                      <m:r>
                        <m:rPr>
                          <m:nor/>
                        </m:rPr>
                        <a:rPr lang="en-US" sz="1400" dirty="0"/>
                        <m:t>, </m:t>
                      </m:r>
                      <m:r>
                        <m:rPr>
                          <m:nor/>
                        </m:rPr>
                        <a:rPr lang="en-US" sz="1400" dirty="0"/>
                        <m:t>x</m:t>
                      </m:r>
                      <m:r>
                        <m:rPr>
                          <m:nor/>
                        </m:rPr>
                        <a:rPr lang="en-US" sz="1400" dirty="0"/>
                        <m:t>) </m:t>
                      </m:r>
                      <m:r>
                        <m:rPr>
                          <m:nor/>
                        </m:rPr>
                        <a:rPr lang="en-US" sz="1400" dirty="0"/>
                        <m:t>∨ </m:t>
                      </m:r>
                      <m:r>
                        <m:rPr>
                          <m:nor/>
                        </m:rPr>
                        <a:rPr lang="en-US" sz="1400" dirty="0"/>
                        <m:t>¬</m:t>
                      </m:r>
                      <m:r>
                        <m:rPr>
                          <m:nor/>
                        </m:rPr>
                        <a:rPr lang="en-US" sz="1400" dirty="0"/>
                        <m:t>Animal</m:t>
                      </m:r>
                      <m:r>
                        <m:rPr>
                          <m:nor/>
                        </m:rPr>
                        <a:rPr lang="en-US" sz="1400" dirty="0"/>
                        <m:t> (</m:t>
                      </m:r>
                      <m:r>
                        <m:rPr>
                          <m:nor/>
                        </m:rPr>
                        <a:rPr lang="en-US" sz="1400" dirty="0"/>
                        <m:t>z</m:t>
                      </m:r>
                      <m:r>
                        <m:rPr>
                          <m:nor/>
                        </m:rPr>
                        <a:rPr lang="en-US" sz="1400" dirty="0"/>
                        <m:t>) </m:t>
                      </m:r>
                      <m:r>
                        <m:rPr>
                          <m:nor/>
                        </m:rPr>
                        <a:rPr lang="en-US" sz="1400" dirty="0"/>
                        <m:t>∨ </m:t>
                      </m:r>
                      <m:r>
                        <m:rPr>
                          <m:nor/>
                        </m:rPr>
                        <a:rPr lang="en-US" sz="1400" dirty="0"/>
                        <m:t>¬</m:t>
                      </m:r>
                      <m:r>
                        <m:rPr>
                          <m:nor/>
                        </m:rPr>
                        <a:rPr lang="en-US" sz="1400" dirty="0"/>
                        <m:t>Kills</m:t>
                      </m:r>
                      <m:r>
                        <m:rPr>
                          <m:nor/>
                        </m:rPr>
                        <a:rPr lang="en-US" sz="1400" dirty="0"/>
                        <m:t>(</m:t>
                      </m:r>
                      <m:r>
                        <m:rPr>
                          <m:nor/>
                        </m:rPr>
                        <a:rPr lang="en-US" sz="1400" dirty="0"/>
                        <m:t>x</m:t>
                      </m:r>
                      <m:r>
                        <m:rPr>
                          <m:nor/>
                        </m:rPr>
                        <a:rPr lang="en-US" sz="1400" dirty="0"/>
                        <m:t>, </m:t>
                      </m:r>
                      <m:r>
                        <m:rPr>
                          <m:nor/>
                        </m:rPr>
                        <a:rPr lang="en-US" sz="1400" dirty="0"/>
                        <m:t>z</m:t>
                      </m:r>
                      <m:r>
                        <m:rPr>
                          <m:nor/>
                        </m:rPr>
                        <a:rPr lang="en-US" sz="1400" dirty="0"/>
                        <m:t>)</m:t>
                      </m:r>
                    </m:oMath>
                  </m:oMathPara>
                </a14:m>
                <a:endParaRPr lang="en-US" sz="1400" dirty="0"/>
              </a:p>
            </p:txBody>
          </p:sp>
        </mc:Choice>
        <mc:Fallback>
          <p:sp>
            <p:nvSpPr>
              <p:cNvPr id="19" name="Rectangle 18">
                <a:extLst>
                  <a:ext uri="{FF2B5EF4-FFF2-40B4-BE49-F238E27FC236}">
                    <a16:creationId xmlns:a16="http://schemas.microsoft.com/office/drawing/2014/main" id="{49ECCC0D-FCFE-CA49-A294-862B7590B1EF}"/>
                  </a:ext>
                </a:extLst>
              </p:cNvPr>
              <p:cNvSpPr>
                <a:spLocks noRot="1" noChangeAspect="1" noMove="1" noResize="1" noEditPoints="1" noAdjustHandles="1" noChangeArrowheads="1" noChangeShapeType="1" noTextEdit="1"/>
              </p:cNvSpPr>
              <p:nvPr/>
            </p:nvSpPr>
            <p:spPr>
              <a:xfrm>
                <a:off x="1538478" y="2132586"/>
                <a:ext cx="3329559" cy="438150"/>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0" name="Rectangle 19">
                <a:extLst>
                  <a:ext uri="{FF2B5EF4-FFF2-40B4-BE49-F238E27FC236}">
                    <a16:creationId xmlns:a16="http://schemas.microsoft.com/office/drawing/2014/main" id="{09BD7329-CA52-A7FD-26FC-267E18B0AA94}"/>
                  </a:ext>
                </a:extLst>
              </p:cNvPr>
              <p:cNvSpPr/>
              <p:nvPr/>
            </p:nvSpPr>
            <p:spPr>
              <a:xfrm>
                <a:off x="6958960" y="2123442"/>
                <a:ext cx="2818637" cy="43815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14:m>
                  <m:oMathPara xmlns:m="http://schemas.openxmlformats.org/officeDocument/2006/math">
                    <m:oMathParaPr>
                      <m:jc m:val="centerGroup"/>
                    </m:oMathParaPr>
                    <m:oMath xmlns:m="http://schemas.openxmlformats.org/officeDocument/2006/math">
                      <m:r>
                        <m:rPr>
                          <m:nor/>
                        </m:rPr>
                        <a:rPr lang="en-US" sz="1400" dirty="0"/>
                        <m:t>¬</m:t>
                      </m:r>
                      <m:r>
                        <m:rPr>
                          <m:nor/>
                        </m:rPr>
                        <a:rPr lang="en-US" sz="1400" dirty="0"/>
                        <m:t>Loves</m:t>
                      </m:r>
                      <m:r>
                        <m:rPr>
                          <m:nor/>
                        </m:rPr>
                        <a:rPr lang="en-US" sz="1400" dirty="0"/>
                        <m:t>(</m:t>
                      </m:r>
                      <m:r>
                        <m:rPr>
                          <m:nor/>
                        </m:rPr>
                        <a:rPr lang="en-US" sz="1400" dirty="0"/>
                        <m:t>x</m:t>
                      </m:r>
                      <m:r>
                        <m:rPr>
                          <m:nor/>
                        </m:rPr>
                        <a:rPr lang="en-US" sz="1400" dirty="0"/>
                        <m:t>, </m:t>
                      </m:r>
                      <m:r>
                        <m:rPr>
                          <m:nor/>
                        </m:rPr>
                        <a:rPr lang="en-US" sz="1400" dirty="0"/>
                        <m:t>F</m:t>
                      </m:r>
                      <m:r>
                        <m:rPr>
                          <m:nor/>
                        </m:rPr>
                        <a:rPr lang="en-US" sz="1400" dirty="0"/>
                        <m:t> (</m:t>
                      </m:r>
                      <m:r>
                        <m:rPr>
                          <m:nor/>
                        </m:rPr>
                        <a:rPr lang="en-US" sz="1400" dirty="0"/>
                        <m:t>x</m:t>
                      </m:r>
                      <m:r>
                        <m:rPr>
                          <m:nor/>
                        </m:rPr>
                        <a:rPr lang="en-US" sz="1400" dirty="0"/>
                        <m:t>)) </m:t>
                      </m:r>
                      <m:r>
                        <m:rPr>
                          <m:nor/>
                        </m:rPr>
                        <a:rPr lang="en-US" sz="1400" dirty="0"/>
                        <m:t>∨ </m:t>
                      </m:r>
                      <m:r>
                        <m:rPr>
                          <m:nor/>
                        </m:rPr>
                        <a:rPr lang="en-US" sz="1400" dirty="0"/>
                        <m:t>Loves</m:t>
                      </m:r>
                      <m:r>
                        <m:rPr>
                          <m:nor/>
                        </m:rPr>
                        <a:rPr lang="en-US" sz="1400" dirty="0"/>
                        <m:t>(</m:t>
                      </m:r>
                      <m:r>
                        <m:rPr>
                          <m:nor/>
                        </m:rPr>
                        <a:rPr lang="en-US" sz="1400" dirty="0"/>
                        <m:t>G</m:t>
                      </m:r>
                      <m:r>
                        <m:rPr>
                          <m:nor/>
                        </m:rPr>
                        <a:rPr lang="en-US" sz="1400" dirty="0"/>
                        <m:t>(</m:t>
                      </m:r>
                      <m:r>
                        <m:rPr>
                          <m:nor/>
                        </m:rPr>
                        <a:rPr lang="en-US" sz="1400" dirty="0"/>
                        <m:t>x</m:t>
                      </m:r>
                      <m:r>
                        <m:rPr>
                          <m:nor/>
                        </m:rPr>
                        <a:rPr lang="en-US" sz="1400" dirty="0"/>
                        <m:t>), </m:t>
                      </m:r>
                      <m:r>
                        <m:rPr>
                          <m:nor/>
                        </m:rPr>
                        <a:rPr lang="en-US" sz="1400" dirty="0"/>
                        <m:t>x</m:t>
                      </m:r>
                      <m:r>
                        <m:rPr>
                          <m:nor/>
                        </m:rPr>
                        <a:rPr lang="en-US" sz="1400" dirty="0"/>
                        <m:t>)</m:t>
                      </m:r>
                    </m:oMath>
                  </m:oMathPara>
                </a14:m>
                <a:endParaRPr lang="en-US" sz="1400" dirty="0"/>
              </a:p>
            </p:txBody>
          </p:sp>
        </mc:Choice>
        <mc:Fallback>
          <p:sp>
            <p:nvSpPr>
              <p:cNvPr id="20" name="Rectangle 19">
                <a:extLst>
                  <a:ext uri="{FF2B5EF4-FFF2-40B4-BE49-F238E27FC236}">
                    <a16:creationId xmlns:a16="http://schemas.microsoft.com/office/drawing/2014/main" id="{09BD7329-CA52-A7FD-26FC-267E18B0AA94}"/>
                  </a:ext>
                </a:extLst>
              </p:cNvPr>
              <p:cNvSpPr>
                <a:spLocks noRot="1" noChangeAspect="1" noMove="1" noResize="1" noEditPoints="1" noAdjustHandles="1" noChangeArrowheads="1" noChangeShapeType="1" noTextEdit="1"/>
              </p:cNvSpPr>
              <p:nvPr/>
            </p:nvSpPr>
            <p:spPr>
              <a:xfrm>
                <a:off x="6958960" y="2123442"/>
                <a:ext cx="2818637" cy="438150"/>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5" name="Rectangle 24">
                <a:extLst>
                  <a:ext uri="{FF2B5EF4-FFF2-40B4-BE49-F238E27FC236}">
                    <a16:creationId xmlns:a16="http://schemas.microsoft.com/office/drawing/2014/main" id="{950616CA-1421-16B5-646A-F73DE1BABD84}"/>
                  </a:ext>
                </a:extLst>
              </p:cNvPr>
              <p:cNvSpPr/>
              <p:nvPr/>
            </p:nvSpPr>
            <p:spPr>
              <a:xfrm>
                <a:off x="9848458" y="2115252"/>
                <a:ext cx="2239910" cy="43815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14:m>
                  <m:oMathPara xmlns:m="http://schemas.openxmlformats.org/officeDocument/2006/math">
                    <m:oMathParaPr>
                      <m:jc m:val="centerGroup"/>
                    </m:oMathParaPr>
                    <m:oMath xmlns:m="http://schemas.openxmlformats.org/officeDocument/2006/math">
                      <m:r>
                        <m:rPr>
                          <m:nor/>
                        </m:rPr>
                        <a:rPr lang="en-US" sz="1400" dirty="0"/>
                        <m:t>¬</m:t>
                      </m:r>
                      <m:r>
                        <m:rPr>
                          <m:nor/>
                        </m:rPr>
                        <a:rPr lang="en-US" sz="1400" dirty="0"/>
                        <m:t>Animal</m:t>
                      </m:r>
                      <m:r>
                        <m:rPr>
                          <m:nor/>
                        </m:rPr>
                        <a:rPr lang="en-US" sz="1400" dirty="0"/>
                        <m:t>(</m:t>
                      </m:r>
                      <m:r>
                        <m:rPr>
                          <m:nor/>
                        </m:rPr>
                        <a:rPr lang="en-US" sz="1400" dirty="0"/>
                        <m:t>x</m:t>
                      </m:r>
                      <m:r>
                        <m:rPr>
                          <m:nor/>
                        </m:rPr>
                        <a:rPr lang="en-US" sz="1400" dirty="0"/>
                        <m:t>)</m:t>
                      </m:r>
                      <m:r>
                        <m:rPr>
                          <m:nor/>
                        </m:rPr>
                        <a:rPr lang="en-US" sz="1400" dirty="0"/>
                        <m:t>∨</m:t>
                      </m:r>
                      <m:r>
                        <m:rPr>
                          <m:nor/>
                        </m:rPr>
                        <a:rPr lang="en-US" sz="1400" dirty="0"/>
                        <m:t>Loves</m:t>
                      </m:r>
                      <m:r>
                        <m:rPr>
                          <m:nor/>
                        </m:rPr>
                        <a:rPr lang="en-US" sz="1400" dirty="0"/>
                        <m:t>(</m:t>
                      </m:r>
                      <m:r>
                        <m:rPr>
                          <m:nor/>
                        </m:rPr>
                        <a:rPr lang="en-US" sz="1400" dirty="0"/>
                        <m:t>Jack</m:t>
                      </m:r>
                      <m:r>
                        <m:rPr>
                          <m:nor/>
                        </m:rPr>
                        <a:rPr lang="en-US" sz="1400" dirty="0"/>
                        <m:t>,</m:t>
                      </m:r>
                      <m:r>
                        <m:rPr>
                          <m:nor/>
                        </m:rPr>
                        <a:rPr lang="en-US" sz="1400" dirty="0"/>
                        <m:t>x</m:t>
                      </m:r>
                      <m:r>
                        <m:rPr>
                          <m:nor/>
                        </m:rPr>
                        <a:rPr lang="en-US" sz="1400" dirty="0"/>
                        <m:t>)</m:t>
                      </m:r>
                    </m:oMath>
                  </m:oMathPara>
                </a14:m>
                <a:endParaRPr lang="en-US" sz="1400" dirty="0"/>
              </a:p>
            </p:txBody>
          </p:sp>
        </mc:Choice>
        <mc:Fallback>
          <p:sp>
            <p:nvSpPr>
              <p:cNvPr id="25" name="Rectangle 24">
                <a:extLst>
                  <a:ext uri="{FF2B5EF4-FFF2-40B4-BE49-F238E27FC236}">
                    <a16:creationId xmlns:a16="http://schemas.microsoft.com/office/drawing/2014/main" id="{950616CA-1421-16B5-646A-F73DE1BABD84}"/>
                  </a:ext>
                </a:extLst>
              </p:cNvPr>
              <p:cNvSpPr>
                <a:spLocks noRot="1" noChangeAspect="1" noMove="1" noResize="1" noEditPoints="1" noAdjustHandles="1" noChangeArrowheads="1" noChangeShapeType="1" noTextEdit="1"/>
              </p:cNvSpPr>
              <p:nvPr/>
            </p:nvSpPr>
            <p:spPr>
              <a:xfrm>
                <a:off x="9848458" y="2115252"/>
                <a:ext cx="2239910" cy="438150"/>
              </a:xfrm>
              <a:prstGeom prst="rect">
                <a:avLst/>
              </a:prstGeom>
              <a:blipFill>
                <a:blip r:embed="rId10"/>
                <a:stretch>
                  <a:fillRect/>
                </a:stretch>
              </a:blipFill>
            </p:spPr>
            <p:txBody>
              <a:bodyPr/>
              <a:lstStyle/>
              <a:p>
                <a:r>
                  <a:rPr lang="en-US">
                    <a:noFill/>
                  </a:rPr>
                  <a:t> </a:t>
                </a:r>
              </a:p>
            </p:txBody>
          </p:sp>
        </mc:Fallback>
      </mc:AlternateContent>
      <p:cxnSp>
        <p:nvCxnSpPr>
          <p:cNvPr id="29" name="Straight Connector 28">
            <a:extLst>
              <a:ext uri="{FF2B5EF4-FFF2-40B4-BE49-F238E27FC236}">
                <a16:creationId xmlns:a16="http://schemas.microsoft.com/office/drawing/2014/main" id="{8F8856C6-1708-122A-4391-BDFE40CFE8F9}"/>
              </a:ext>
            </a:extLst>
          </p:cNvPr>
          <p:cNvCxnSpPr>
            <a:stCxn id="10" idx="2"/>
            <a:endCxn id="18" idx="0"/>
          </p:cNvCxnSpPr>
          <p:nvPr/>
        </p:nvCxnSpPr>
        <p:spPr>
          <a:xfrm flipH="1">
            <a:off x="5926455" y="1621092"/>
            <a:ext cx="771144" cy="502350"/>
          </a:xfrm>
          <a:prstGeom prst="line">
            <a:avLst/>
          </a:prstGeom>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3C991BDE-69B2-BBE6-5BE9-566D6C819D57}"/>
              </a:ext>
            </a:extLst>
          </p:cNvPr>
          <p:cNvCxnSpPr>
            <a:stCxn id="11" idx="2"/>
            <a:endCxn id="18" idx="0"/>
          </p:cNvCxnSpPr>
          <p:nvPr/>
        </p:nvCxnSpPr>
        <p:spPr>
          <a:xfrm flipH="1">
            <a:off x="5926455" y="1621092"/>
            <a:ext cx="4683633" cy="502350"/>
          </a:xfrm>
          <a:prstGeom prst="line">
            <a:avLst/>
          </a:prstGeom>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mc:Choice xmlns:a14="http://schemas.microsoft.com/office/drawing/2010/main" Requires="a14">
          <p:sp>
            <p:nvSpPr>
              <p:cNvPr id="32" name="Rectangle 31">
                <a:extLst>
                  <a:ext uri="{FF2B5EF4-FFF2-40B4-BE49-F238E27FC236}">
                    <a16:creationId xmlns:a16="http://schemas.microsoft.com/office/drawing/2014/main" id="{EB599F6B-20F3-0A4C-6C08-D6810933A0AE}"/>
                  </a:ext>
                </a:extLst>
              </p:cNvPr>
              <p:cNvSpPr/>
              <p:nvPr/>
            </p:nvSpPr>
            <p:spPr>
              <a:xfrm>
                <a:off x="22098" y="3148905"/>
                <a:ext cx="2967989" cy="43815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14:m>
                  <m:oMathPara xmlns:m="http://schemas.openxmlformats.org/officeDocument/2006/math">
                    <m:oMathParaPr>
                      <m:jc m:val="centerGroup"/>
                    </m:oMathParaPr>
                    <m:oMath xmlns:m="http://schemas.openxmlformats.org/officeDocument/2006/math">
                      <m:r>
                        <m:rPr>
                          <m:nor/>
                        </m:rPr>
                        <a:rPr lang="en-US" sz="1600" dirty="0"/>
                        <m:t>¬</m:t>
                      </m:r>
                      <m:r>
                        <m:rPr>
                          <m:nor/>
                        </m:rPr>
                        <a:rPr lang="en-US" sz="1600" dirty="0"/>
                        <m:t>Loves</m:t>
                      </m:r>
                      <m:r>
                        <m:rPr>
                          <m:nor/>
                        </m:rPr>
                        <a:rPr lang="en-US" sz="1600" dirty="0"/>
                        <m:t>(</m:t>
                      </m:r>
                      <m:r>
                        <m:rPr>
                          <m:nor/>
                        </m:rPr>
                        <a:rPr lang="en-US" sz="1600" dirty="0"/>
                        <m:t>y</m:t>
                      </m:r>
                      <m:r>
                        <m:rPr>
                          <m:nor/>
                        </m:rPr>
                        <a:rPr lang="en-US" sz="1600" dirty="0"/>
                        <m:t>, </m:t>
                      </m:r>
                      <m:r>
                        <m:rPr>
                          <m:nor/>
                        </m:rPr>
                        <a:rPr lang="en-US" sz="1600" dirty="0"/>
                        <m:t>x</m:t>
                      </m:r>
                      <m:r>
                        <m:rPr>
                          <m:nor/>
                        </m:rPr>
                        <a:rPr lang="en-US" sz="1600" dirty="0"/>
                        <m:t>) </m:t>
                      </m:r>
                      <m:r>
                        <m:rPr>
                          <m:nor/>
                        </m:rPr>
                        <a:rPr lang="en-US" sz="1600" dirty="0"/>
                        <m:t>∨ </m:t>
                      </m:r>
                      <m:r>
                        <m:rPr>
                          <m:nor/>
                        </m:rPr>
                        <a:rPr lang="en-US" sz="1600" dirty="0"/>
                        <m:t>¬</m:t>
                      </m:r>
                      <m:r>
                        <m:rPr>
                          <m:nor/>
                        </m:rPr>
                        <a:rPr lang="en-US" sz="1600" dirty="0"/>
                        <m:t>Kills</m:t>
                      </m:r>
                      <m:r>
                        <m:rPr>
                          <m:nor/>
                        </m:rPr>
                        <a:rPr lang="en-US" sz="1600" dirty="0"/>
                        <m:t>(</m:t>
                      </m:r>
                      <m:r>
                        <m:rPr>
                          <m:nor/>
                        </m:rPr>
                        <a:rPr lang="en-US" sz="1600" dirty="0"/>
                        <m:t>x</m:t>
                      </m:r>
                      <m:r>
                        <m:rPr>
                          <m:nor/>
                        </m:rPr>
                        <a:rPr lang="en-US" sz="1600" dirty="0"/>
                        <m:t>, </m:t>
                      </m:r>
                      <m:r>
                        <m:rPr>
                          <m:nor/>
                        </m:rPr>
                        <a:rPr lang="en-US" sz="1600" b="0" i="0" dirty="0" smtClean="0"/>
                        <m:t>Tuna</m:t>
                      </m:r>
                      <m:r>
                        <m:rPr>
                          <m:nor/>
                        </m:rPr>
                        <a:rPr lang="en-US" sz="1600" dirty="0"/>
                        <m:t>)</m:t>
                      </m:r>
                    </m:oMath>
                  </m:oMathPara>
                </a14:m>
                <a:endParaRPr lang="en-US" sz="1600" dirty="0"/>
              </a:p>
            </p:txBody>
          </p:sp>
        </mc:Choice>
        <mc:Fallback>
          <p:sp>
            <p:nvSpPr>
              <p:cNvPr id="32" name="Rectangle 31">
                <a:extLst>
                  <a:ext uri="{FF2B5EF4-FFF2-40B4-BE49-F238E27FC236}">
                    <a16:creationId xmlns:a16="http://schemas.microsoft.com/office/drawing/2014/main" id="{EB599F6B-20F3-0A4C-6C08-D6810933A0AE}"/>
                  </a:ext>
                </a:extLst>
              </p:cNvPr>
              <p:cNvSpPr>
                <a:spLocks noRot="1" noChangeAspect="1" noMove="1" noResize="1" noEditPoints="1" noAdjustHandles="1" noChangeArrowheads="1" noChangeShapeType="1" noTextEdit="1"/>
              </p:cNvSpPr>
              <p:nvPr/>
            </p:nvSpPr>
            <p:spPr>
              <a:xfrm>
                <a:off x="22098" y="3148905"/>
                <a:ext cx="2967989" cy="438150"/>
              </a:xfrm>
              <a:prstGeom prst="rect">
                <a:avLst/>
              </a:prstGeom>
              <a:blipFill>
                <a:blip r:embed="rId11"/>
                <a:stretch>
                  <a:fillRect/>
                </a:stretch>
              </a:blipFill>
            </p:spPr>
            <p:txBody>
              <a:bodyPr/>
              <a:lstStyle/>
              <a:p>
                <a:r>
                  <a:rPr lang="en-US">
                    <a:noFill/>
                  </a:rPr>
                  <a:t> </a:t>
                </a:r>
              </a:p>
            </p:txBody>
          </p:sp>
        </mc:Fallback>
      </mc:AlternateContent>
      <p:cxnSp>
        <p:nvCxnSpPr>
          <p:cNvPr id="34" name="Straight Connector 33">
            <a:extLst>
              <a:ext uri="{FF2B5EF4-FFF2-40B4-BE49-F238E27FC236}">
                <a16:creationId xmlns:a16="http://schemas.microsoft.com/office/drawing/2014/main" id="{24B3D468-0D9A-C26E-7DF2-27746F10873D}"/>
              </a:ext>
            </a:extLst>
          </p:cNvPr>
          <p:cNvCxnSpPr>
            <a:stCxn id="12" idx="2"/>
            <a:endCxn id="32" idx="0"/>
          </p:cNvCxnSpPr>
          <p:nvPr/>
        </p:nvCxnSpPr>
        <p:spPr>
          <a:xfrm>
            <a:off x="710565" y="2569656"/>
            <a:ext cx="795528" cy="579249"/>
          </a:xfrm>
          <a:prstGeom prst="line">
            <a:avLst/>
          </a:prstGeom>
        </p:spPr>
        <p:style>
          <a:lnRef idx="2">
            <a:schemeClr val="dk1"/>
          </a:lnRef>
          <a:fillRef idx="0">
            <a:schemeClr val="dk1"/>
          </a:fillRef>
          <a:effectRef idx="1">
            <a:schemeClr val="dk1"/>
          </a:effectRef>
          <a:fontRef idx="minor">
            <a:schemeClr val="tx1"/>
          </a:fontRef>
        </p:style>
      </p:cxnSp>
      <p:cxnSp>
        <p:nvCxnSpPr>
          <p:cNvPr id="36" name="Straight Connector 35">
            <a:extLst>
              <a:ext uri="{FF2B5EF4-FFF2-40B4-BE49-F238E27FC236}">
                <a16:creationId xmlns:a16="http://schemas.microsoft.com/office/drawing/2014/main" id="{6CCD3D33-270D-86D1-00E3-F01B6376FF46}"/>
              </a:ext>
            </a:extLst>
          </p:cNvPr>
          <p:cNvCxnSpPr>
            <a:stCxn id="19" idx="2"/>
            <a:endCxn id="32" idx="0"/>
          </p:cNvCxnSpPr>
          <p:nvPr/>
        </p:nvCxnSpPr>
        <p:spPr>
          <a:xfrm flipH="1">
            <a:off x="1506093" y="2570736"/>
            <a:ext cx="1697165" cy="578169"/>
          </a:xfrm>
          <a:prstGeom prst="line">
            <a:avLst/>
          </a:prstGeom>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mc:Choice xmlns:a14="http://schemas.microsoft.com/office/drawing/2010/main" Requires="a14">
          <p:sp>
            <p:nvSpPr>
              <p:cNvPr id="37" name="Rectangle 36">
                <a:extLst>
                  <a:ext uri="{FF2B5EF4-FFF2-40B4-BE49-F238E27FC236}">
                    <a16:creationId xmlns:a16="http://schemas.microsoft.com/office/drawing/2014/main" id="{3B9DA0A2-0D1D-5264-70A3-766B792B059E}"/>
                  </a:ext>
                </a:extLst>
              </p:cNvPr>
              <p:cNvSpPr/>
              <p:nvPr/>
            </p:nvSpPr>
            <p:spPr>
              <a:xfrm>
                <a:off x="4963580" y="3148905"/>
                <a:ext cx="3596264" cy="43815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14:m>
                  <m:oMathPara xmlns:m="http://schemas.openxmlformats.org/officeDocument/2006/math">
                    <m:oMathParaPr>
                      <m:jc m:val="centerGroup"/>
                    </m:oMathParaPr>
                    <m:oMath xmlns:m="http://schemas.openxmlformats.org/officeDocument/2006/math">
                      <m:r>
                        <m:rPr>
                          <m:nor/>
                        </m:rPr>
                        <a:rPr lang="en-US" sz="1400" dirty="0"/>
                        <m:t>¬</m:t>
                      </m:r>
                      <m:r>
                        <m:rPr>
                          <m:nor/>
                        </m:rPr>
                        <a:rPr lang="en-US" sz="1400" b="0" i="0" dirty="0" smtClean="0"/>
                        <m:t>Animal</m:t>
                      </m:r>
                      <m:r>
                        <m:rPr>
                          <m:nor/>
                        </m:rPr>
                        <a:rPr lang="en-US" sz="1400" dirty="0"/>
                        <m:t>(</m:t>
                      </m:r>
                      <m:r>
                        <m:rPr>
                          <m:nor/>
                        </m:rPr>
                        <a:rPr lang="en-US" sz="1400" dirty="0"/>
                        <m:t>F</m:t>
                      </m:r>
                      <m:r>
                        <m:rPr>
                          <m:nor/>
                        </m:rPr>
                        <a:rPr lang="en-US" sz="1400" dirty="0"/>
                        <m:t> (</m:t>
                      </m:r>
                      <m:r>
                        <m:rPr>
                          <m:nor/>
                        </m:rPr>
                        <a:rPr lang="en-US" sz="1400" b="0" i="0" dirty="0" smtClean="0"/>
                        <m:t>John</m:t>
                      </m:r>
                      <m:r>
                        <m:rPr>
                          <m:nor/>
                        </m:rPr>
                        <a:rPr lang="en-US" sz="1400" dirty="0"/>
                        <m:t>)) </m:t>
                      </m:r>
                      <m:r>
                        <m:rPr>
                          <m:nor/>
                        </m:rPr>
                        <a:rPr lang="en-US" sz="1400" dirty="0"/>
                        <m:t>∨ </m:t>
                      </m:r>
                      <m:r>
                        <m:rPr>
                          <m:nor/>
                        </m:rPr>
                        <a:rPr lang="en-US" sz="1400" dirty="0"/>
                        <m:t>Loves</m:t>
                      </m:r>
                      <m:r>
                        <m:rPr>
                          <m:nor/>
                        </m:rPr>
                        <a:rPr lang="en-US" sz="1400" dirty="0"/>
                        <m:t>(</m:t>
                      </m:r>
                      <m:r>
                        <m:rPr>
                          <m:nor/>
                        </m:rPr>
                        <a:rPr lang="en-US" sz="1400" dirty="0"/>
                        <m:t>G</m:t>
                      </m:r>
                      <m:r>
                        <m:rPr>
                          <m:nor/>
                        </m:rPr>
                        <a:rPr lang="en-US" sz="1400" dirty="0"/>
                        <m:t>(</m:t>
                      </m:r>
                      <m:r>
                        <m:rPr>
                          <m:nor/>
                        </m:rPr>
                        <a:rPr lang="en-US" sz="1400" b="0" i="0" dirty="0" smtClean="0"/>
                        <m:t>Jack</m:t>
                      </m:r>
                      <m:r>
                        <m:rPr>
                          <m:nor/>
                        </m:rPr>
                        <a:rPr lang="en-US" sz="1400" dirty="0"/>
                        <m:t>), </m:t>
                      </m:r>
                      <m:r>
                        <m:rPr>
                          <m:nor/>
                        </m:rPr>
                        <a:rPr lang="en-US" sz="1400" b="0" i="0" dirty="0" smtClean="0"/>
                        <m:t>Jack</m:t>
                      </m:r>
                      <m:r>
                        <m:rPr>
                          <m:nor/>
                        </m:rPr>
                        <a:rPr lang="en-US" sz="1400" dirty="0"/>
                        <m:t>)</m:t>
                      </m:r>
                    </m:oMath>
                  </m:oMathPara>
                </a14:m>
                <a:endParaRPr lang="en-US" sz="1400" dirty="0"/>
              </a:p>
            </p:txBody>
          </p:sp>
        </mc:Choice>
        <mc:Fallback>
          <p:sp>
            <p:nvSpPr>
              <p:cNvPr id="37" name="Rectangle 36">
                <a:extLst>
                  <a:ext uri="{FF2B5EF4-FFF2-40B4-BE49-F238E27FC236}">
                    <a16:creationId xmlns:a16="http://schemas.microsoft.com/office/drawing/2014/main" id="{3B9DA0A2-0D1D-5264-70A3-766B792B059E}"/>
                  </a:ext>
                </a:extLst>
              </p:cNvPr>
              <p:cNvSpPr>
                <a:spLocks noRot="1" noChangeAspect="1" noMove="1" noResize="1" noEditPoints="1" noAdjustHandles="1" noChangeArrowheads="1" noChangeShapeType="1" noTextEdit="1"/>
              </p:cNvSpPr>
              <p:nvPr/>
            </p:nvSpPr>
            <p:spPr>
              <a:xfrm>
                <a:off x="4963580" y="3148905"/>
                <a:ext cx="3596264" cy="438150"/>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8" name="Rectangle 37">
                <a:extLst>
                  <a:ext uri="{FF2B5EF4-FFF2-40B4-BE49-F238E27FC236}">
                    <a16:creationId xmlns:a16="http://schemas.microsoft.com/office/drawing/2014/main" id="{254509FE-BEBE-1387-54E1-BEF4607ADB62}"/>
                  </a:ext>
                </a:extLst>
              </p:cNvPr>
              <p:cNvSpPr/>
              <p:nvPr/>
            </p:nvSpPr>
            <p:spPr>
              <a:xfrm>
                <a:off x="8922264" y="3148905"/>
                <a:ext cx="2559171" cy="43815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14:m>
                  <m:oMathPara xmlns:m="http://schemas.openxmlformats.org/officeDocument/2006/math">
                    <m:oMathParaPr>
                      <m:jc m:val="centerGroup"/>
                    </m:oMathParaPr>
                    <m:oMath xmlns:m="http://schemas.openxmlformats.org/officeDocument/2006/math">
                      <m:r>
                        <m:rPr>
                          <m:nor/>
                        </m:rPr>
                        <a:rPr lang="en-US" sz="1400" dirty="0"/>
                        <m:t>Animal</m:t>
                      </m:r>
                      <m:r>
                        <m:rPr>
                          <m:nor/>
                        </m:rPr>
                        <a:rPr lang="en-US" sz="1400" dirty="0"/>
                        <m:t>(</m:t>
                      </m:r>
                      <m:r>
                        <m:rPr>
                          <m:nor/>
                        </m:rPr>
                        <a:rPr lang="en-US" sz="1400" dirty="0"/>
                        <m:t>F</m:t>
                      </m:r>
                      <m:r>
                        <m:rPr>
                          <m:nor/>
                        </m:rPr>
                        <a:rPr lang="en-US" sz="1400" dirty="0"/>
                        <m:t> (</m:t>
                      </m:r>
                      <m:r>
                        <m:rPr>
                          <m:nor/>
                        </m:rPr>
                        <a:rPr lang="en-US" sz="1400" dirty="0"/>
                        <m:t>x</m:t>
                      </m:r>
                      <m:r>
                        <m:rPr>
                          <m:nor/>
                        </m:rPr>
                        <a:rPr lang="en-US" sz="1400" dirty="0"/>
                        <m:t>)) </m:t>
                      </m:r>
                      <m:r>
                        <m:rPr>
                          <m:nor/>
                        </m:rPr>
                        <a:rPr lang="en-US" sz="1400" dirty="0"/>
                        <m:t>∨ </m:t>
                      </m:r>
                      <m:r>
                        <m:rPr>
                          <m:nor/>
                        </m:rPr>
                        <a:rPr lang="en-US" sz="1400" dirty="0"/>
                        <m:t>Loves</m:t>
                      </m:r>
                      <m:r>
                        <m:rPr>
                          <m:nor/>
                        </m:rPr>
                        <a:rPr lang="en-US" sz="1400" dirty="0"/>
                        <m:t>(</m:t>
                      </m:r>
                      <m:r>
                        <m:rPr>
                          <m:nor/>
                        </m:rPr>
                        <a:rPr lang="en-US" sz="1400" dirty="0"/>
                        <m:t>G</m:t>
                      </m:r>
                      <m:r>
                        <m:rPr>
                          <m:nor/>
                        </m:rPr>
                        <a:rPr lang="en-US" sz="1400" dirty="0"/>
                        <m:t>(</m:t>
                      </m:r>
                      <m:r>
                        <m:rPr>
                          <m:nor/>
                        </m:rPr>
                        <a:rPr lang="en-US" sz="1400" dirty="0"/>
                        <m:t>x</m:t>
                      </m:r>
                      <m:r>
                        <m:rPr>
                          <m:nor/>
                        </m:rPr>
                        <a:rPr lang="en-US" sz="1400" dirty="0"/>
                        <m:t>), </m:t>
                      </m:r>
                      <m:r>
                        <m:rPr>
                          <m:nor/>
                        </m:rPr>
                        <a:rPr lang="en-US" sz="1400" dirty="0"/>
                        <m:t>x</m:t>
                      </m:r>
                      <m:r>
                        <m:rPr>
                          <m:nor/>
                        </m:rPr>
                        <a:rPr lang="en-US" sz="1400" dirty="0"/>
                        <m:t>)</m:t>
                      </m:r>
                    </m:oMath>
                  </m:oMathPara>
                </a14:m>
                <a:endParaRPr lang="en-US" sz="1400" dirty="0"/>
              </a:p>
            </p:txBody>
          </p:sp>
        </mc:Choice>
        <mc:Fallback>
          <p:sp>
            <p:nvSpPr>
              <p:cNvPr id="38" name="Rectangle 37">
                <a:extLst>
                  <a:ext uri="{FF2B5EF4-FFF2-40B4-BE49-F238E27FC236}">
                    <a16:creationId xmlns:a16="http://schemas.microsoft.com/office/drawing/2014/main" id="{254509FE-BEBE-1387-54E1-BEF4607ADB62}"/>
                  </a:ext>
                </a:extLst>
              </p:cNvPr>
              <p:cNvSpPr>
                <a:spLocks noRot="1" noChangeAspect="1" noMove="1" noResize="1" noEditPoints="1" noAdjustHandles="1" noChangeArrowheads="1" noChangeShapeType="1" noTextEdit="1"/>
              </p:cNvSpPr>
              <p:nvPr/>
            </p:nvSpPr>
            <p:spPr>
              <a:xfrm>
                <a:off x="8922264" y="3148905"/>
                <a:ext cx="2559171" cy="438150"/>
              </a:xfrm>
              <a:prstGeom prst="rect">
                <a:avLst/>
              </a:prstGeom>
              <a:blipFill>
                <a:blip r:embed="rId13"/>
                <a:stretch>
                  <a:fillRect/>
                </a:stretch>
              </a:blipFill>
            </p:spPr>
            <p:txBody>
              <a:bodyPr/>
              <a:lstStyle/>
              <a:p>
                <a:r>
                  <a:rPr lang="en-US">
                    <a:noFill/>
                  </a:rPr>
                  <a:t> </a:t>
                </a:r>
              </a:p>
            </p:txBody>
          </p:sp>
        </mc:Fallback>
      </mc:AlternateContent>
      <p:cxnSp>
        <p:nvCxnSpPr>
          <p:cNvPr id="40" name="Straight Connector 39">
            <a:extLst>
              <a:ext uri="{FF2B5EF4-FFF2-40B4-BE49-F238E27FC236}">
                <a16:creationId xmlns:a16="http://schemas.microsoft.com/office/drawing/2014/main" id="{2C874460-7639-E517-274E-BF5B2A6F799A}"/>
              </a:ext>
            </a:extLst>
          </p:cNvPr>
          <p:cNvCxnSpPr>
            <a:stCxn id="20" idx="2"/>
            <a:endCxn id="37" idx="0"/>
          </p:cNvCxnSpPr>
          <p:nvPr/>
        </p:nvCxnSpPr>
        <p:spPr>
          <a:xfrm flipH="1">
            <a:off x="6761712" y="2561592"/>
            <a:ext cx="1606567" cy="587313"/>
          </a:xfrm>
          <a:prstGeom prst="line">
            <a:avLst/>
          </a:prstGeom>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B3532F18-D813-340C-FE86-8BF43AE4C1E1}"/>
              </a:ext>
            </a:extLst>
          </p:cNvPr>
          <p:cNvCxnSpPr>
            <a:stCxn id="25" idx="2"/>
            <a:endCxn id="37" idx="0"/>
          </p:cNvCxnSpPr>
          <p:nvPr/>
        </p:nvCxnSpPr>
        <p:spPr>
          <a:xfrm flipH="1">
            <a:off x="6761712" y="2553402"/>
            <a:ext cx="4206701" cy="595503"/>
          </a:xfrm>
          <a:prstGeom prst="line">
            <a:avLst/>
          </a:prstGeom>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mc:Choice xmlns:a14="http://schemas.microsoft.com/office/drawing/2010/main" Requires="a14">
          <p:sp>
            <p:nvSpPr>
              <p:cNvPr id="43" name="Rectangle 42">
                <a:extLst>
                  <a:ext uri="{FF2B5EF4-FFF2-40B4-BE49-F238E27FC236}">
                    <a16:creationId xmlns:a16="http://schemas.microsoft.com/office/drawing/2014/main" id="{B00F46D4-EAFF-3C72-D297-0D26047B35FC}"/>
                  </a:ext>
                </a:extLst>
              </p:cNvPr>
              <p:cNvSpPr/>
              <p:nvPr/>
            </p:nvSpPr>
            <p:spPr>
              <a:xfrm>
                <a:off x="6845427" y="4589790"/>
                <a:ext cx="2514412" cy="43815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14:m>
                  <m:oMathPara xmlns:m="http://schemas.openxmlformats.org/officeDocument/2006/math">
                    <m:oMathParaPr>
                      <m:jc m:val="centerGroup"/>
                    </m:oMathParaPr>
                    <m:oMath xmlns:m="http://schemas.openxmlformats.org/officeDocument/2006/math">
                      <m:r>
                        <m:rPr>
                          <m:nor/>
                        </m:rPr>
                        <a:rPr lang="en-US" dirty="0"/>
                        <m:t>Loves</m:t>
                      </m:r>
                      <m:r>
                        <m:rPr>
                          <m:nor/>
                        </m:rPr>
                        <a:rPr lang="en-US" dirty="0"/>
                        <m:t>(</m:t>
                      </m:r>
                      <m:r>
                        <m:rPr>
                          <m:nor/>
                        </m:rPr>
                        <a:rPr lang="en-US" dirty="0"/>
                        <m:t>G</m:t>
                      </m:r>
                      <m:r>
                        <m:rPr>
                          <m:nor/>
                        </m:rPr>
                        <a:rPr lang="en-US" dirty="0"/>
                        <m:t>(</m:t>
                      </m:r>
                      <m:r>
                        <m:rPr>
                          <m:nor/>
                        </m:rPr>
                        <a:rPr lang="en-US" b="0" i="0" dirty="0" smtClean="0"/>
                        <m:t>Jack</m:t>
                      </m:r>
                      <m:r>
                        <m:rPr>
                          <m:nor/>
                        </m:rPr>
                        <a:rPr lang="en-US" dirty="0"/>
                        <m:t>), </m:t>
                      </m:r>
                      <m:r>
                        <m:rPr>
                          <m:nor/>
                        </m:rPr>
                        <a:rPr lang="en-US" b="0" i="0" dirty="0" smtClean="0"/>
                        <m:t>Jack</m:t>
                      </m:r>
                      <m:r>
                        <m:rPr>
                          <m:nor/>
                        </m:rPr>
                        <a:rPr lang="en-US" dirty="0"/>
                        <m:t>)</m:t>
                      </m:r>
                    </m:oMath>
                  </m:oMathPara>
                </a14:m>
                <a:endParaRPr lang="en-US" dirty="0"/>
              </a:p>
            </p:txBody>
          </p:sp>
        </mc:Choice>
        <mc:Fallback>
          <p:sp>
            <p:nvSpPr>
              <p:cNvPr id="43" name="Rectangle 42">
                <a:extLst>
                  <a:ext uri="{FF2B5EF4-FFF2-40B4-BE49-F238E27FC236}">
                    <a16:creationId xmlns:a16="http://schemas.microsoft.com/office/drawing/2014/main" id="{B00F46D4-EAFF-3C72-D297-0D26047B35FC}"/>
                  </a:ext>
                </a:extLst>
              </p:cNvPr>
              <p:cNvSpPr>
                <a:spLocks noRot="1" noChangeAspect="1" noMove="1" noResize="1" noEditPoints="1" noAdjustHandles="1" noChangeArrowheads="1" noChangeShapeType="1" noTextEdit="1"/>
              </p:cNvSpPr>
              <p:nvPr/>
            </p:nvSpPr>
            <p:spPr>
              <a:xfrm>
                <a:off x="6845427" y="4589790"/>
                <a:ext cx="2514412" cy="438150"/>
              </a:xfrm>
              <a:prstGeom prst="rect">
                <a:avLst/>
              </a:prstGeom>
              <a:blipFill>
                <a:blip r:embed="rId14"/>
                <a:stretch>
                  <a:fillRect b="-1333"/>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4" name="Rectangle 43">
                <a:extLst>
                  <a:ext uri="{FF2B5EF4-FFF2-40B4-BE49-F238E27FC236}">
                    <a16:creationId xmlns:a16="http://schemas.microsoft.com/office/drawing/2014/main" id="{A0F95A17-548A-ADFA-2FF3-C51AFF13D575}"/>
                  </a:ext>
                </a:extLst>
              </p:cNvPr>
              <p:cNvSpPr/>
              <p:nvPr/>
            </p:nvSpPr>
            <p:spPr>
              <a:xfrm>
                <a:off x="710565" y="4589790"/>
                <a:ext cx="2514412" cy="43815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14:m>
                  <m:oMathPara xmlns:m="http://schemas.openxmlformats.org/officeDocument/2006/math">
                    <m:oMathParaPr>
                      <m:jc m:val="centerGroup"/>
                    </m:oMathParaPr>
                    <m:oMath xmlns:m="http://schemas.openxmlformats.org/officeDocument/2006/math">
                      <m:r>
                        <a:rPr lang="en-US" b="0" i="1" dirty="0" smtClean="0"/>
                        <m:t>¬</m:t>
                      </m:r>
                      <m:r>
                        <m:rPr>
                          <m:nor/>
                        </m:rPr>
                        <a:rPr lang="en-US" dirty="0"/>
                        <m:t>Loves</m:t>
                      </m:r>
                      <m:r>
                        <m:rPr>
                          <m:nor/>
                        </m:rPr>
                        <a:rPr lang="en-US" dirty="0"/>
                        <m:t>(</m:t>
                      </m:r>
                      <m:r>
                        <m:rPr>
                          <m:nor/>
                        </m:rPr>
                        <a:rPr lang="en-US" b="0" i="0" dirty="0" smtClean="0"/>
                        <m:t>y</m:t>
                      </m:r>
                      <m:r>
                        <m:rPr>
                          <m:nor/>
                        </m:rPr>
                        <a:rPr lang="en-US" dirty="0"/>
                        <m:t>, </m:t>
                      </m:r>
                      <m:r>
                        <m:rPr>
                          <m:nor/>
                        </m:rPr>
                        <a:rPr lang="en-US" b="0" i="0" dirty="0" smtClean="0"/>
                        <m:t>Jack</m:t>
                      </m:r>
                      <m:r>
                        <m:rPr>
                          <m:nor/>
                        </m:rPr>
                        <a:rPr lang="en-US" dirty="0"/>
                        <m:t>)</m:t>
                      </m:r>
                    </m:oMath>
                  </m:oMathPara>
                </a14:m>
                <a:endParaRPr lang="en-US" dirty="0"/>
              </a:p>
            </p:txBody>
          </p:sp>
        </mc:Choice>
        <mc:Fallback>
          <p:sp>
            <p:nvSpPr>
              <p:cNvPr id="44" name="Rectangle 43">
                <a:extLst>
                  <a:ext uri="{FF2B5EF4-FFF2-40B4-BE49-F238E27FC236}">
                    <a16:creationId xmlns:a16="http://schemas.microsoft.com/office/drawing/2014/main" id="{A0F95A17-548A-ADFA-2FF3-C51AFF13D575}"/>
                  </a:ext>
                </a:extLst>
              </p:cNvPr>
              <p:cNvSpPr>
                <a:spLocks noRot="1" noChangeAspect="1" noMove="1" noResize="1" noEditPoints="1" noAdjustHandles="1" noChangeArrowheads="1" noChangeShapeType="1" noTextEdit="1"/>
              </p:cNvSpPr>
              <p:nvPr/>
            </p:nvSpPr>
            <p:spPr>
              <a:xfrm>
                <a:off x="710565" y="4589790"/>
                <a:ext cx="2514412" cy="438150"/>
              </a:xfrm>
              <a:prstGeom prst="rect">
                <a:avLst/>
              </a:prstGeom>
              <a:blipFill>
                <a:blip r:embed="rId15"/>
                <a:stretch>
                  <a:fillRect b="-1333"/>
                </a:stretch>
              </a:blipFill>
            </p:spPr>
            <p:txBody>
              <a:bodyPr/>
              <a:lstStyle/>
              <a:p>
                <a:r>
                  <a:rPr lang="en-US">
                    <a:noFill/>
                  </a:rPr>
                  <a:t> </a:t>
                </a:r>
              </a:p>
            </p:txBody>
          </p:sp>
        </mc:Fallback>
      </mc:AlternateContent>
      <p:cxnSp>
        <p:nvCxnSpPr>
          <p:cNvPr id="46" name="Straight Connector 45">
            <a:extLst>
              <a:ext uri="{FF2B5EF4-FFF2-40B4-BE49-F238E27FC236}">
                <a16:creationId xmlns:a16="http://schemas.microsoft.com/office/drawing/2014/main" id="{48217EE9-4BD6-3C32-A1C9-418467F5EFD5}"/>
              </a:ext>
            </a:extLst>
          </p:cNvPr>
          <p:cNvCxnSpPr>
            <a:stCxn id="32" idx="2"/>
            <a:endCxn id="44" idx="0"/>
          </p:cNvCxnSpPr>
          <p:nvPr/>
        </p:nvCxnSpPr>
        <p:spPr>
          <a:xfrm>
            <a:off x="1506093" y="3587055"/>
            <a:ext cx="461678" cy="1002735"/>
          </a:xfrm>
          <a:prstGeom prst="line">
            <a:avLst/>
          </a:prstGeom>
        </p:spPr>
        <p:style>
          <a:lnRef idx="2">
            <a:schemeClr val="accent1"/>
          </a:lnRef>
          <a:fillRef idx="0">
            <a:schemeClr val="accent1"/>
          </a:fillRef>
          <a:effectRef idx="1">
            <a:schemeClr val="accent1"/>
          </a:effectRef>
          <a:fontRef idx="minor">
            <a:schemeClr val="tx1"/>
          </a:fontRef>
        </p:style>
      </p:cxnSp>
      <p:cxnSp>
        <p:nvCxnSpPr>
          <p:cNvPr id="48" name="Straight Connector 47">
            <a:extLst>
              <a:ext uri="{FF2B5EF4-FFF2-40B4-BE49-F238E27FC236}">
                <a16:creationId xmlns:a16="http://schemas.microsoft.com/office/drawing/2014/main" id="{CF9DB730-D751-3EF8-C4BA-A6ADE02E5C70}"/>
              </a:ext>
            </a:extLst>
          </p:cNvPr>
          <p:cNvCxnSpPr>
            <a:stCxn id="18" idx="2"/>
            <a:endCxn id="44" idx="0"/>
          </p:cNvCxnSpPr>
          <p:nvPr/>
        </p:nvCxnSpPr>
        <p:spPr>
          <a:xfrm flipH="1">
            <a:off x="1967771" y="2561592"/>
            <a:ext cx="3958684" cy="2028198"/>
          </a:xfrm>
          <a:prstGeom prst="line">
            <a:avLst/>
          </a:prstGeom>
        </p:spPr>
        <p:style>
          <a:lnRef idx="2">
            <a:schemeClr val="accent1"/>
          </a:lnRef>
          <a:fillRef idx="0">
            <a:schemeClr val="accent1"/>
          </a:fillRef>
          <a:effectRef idx="1">
            <a:schemeClr val="accent1"/>
          </a:effectRef>
          <a:fontRef idx="minor">
            <a:schemeClr val="tx1"/>
          </a:fontRef>
        </p:style>
      </p:cxnSp>
      <p:cxnSp>
        <p:nvCxnSpPr>
          <p:cNvPr id="52" name="Straight Connector 51">
            <a:extLst>
              <a:ext uri="{FF2B5EF4-FFF2-40B4-BE49-F238E27FC236}">
                <a16:creationId xmlns:a16="http://schemas.microsoft.com/office/drawing/2014/main" id="{ACE06E26-5183-14B7-8FCE-4A54257B08AC}"/>
              </a:ext>
            </a:extLst>
          </p:cNvPr>
          <p:cNvCxnSpPr>
            <a:stCxn id="37" idx="2"/>
            <a:endCxn id="43" idx="0"/>
          </p:cNvCxnSpPr>
          <p:nvPr/>
        </p:nvCxnSpPr>
        <p:spPr>
          <a:xfrm>
            <a:off x="6761712" y="3587055"/>
            <a:ext cx="1340921" cy="1002735"/>
          </a:xfrm>
          <a:prstGeom prst="line">
            <a:avLst/>
          </a:prstGeom>
        </p:spPr>
        <p:style>
          <a:lnRef idx="2">
            <a:schemeClr val="accent1"/>
          </a:lnRef>
          <a:fillRef idx="0">
            <a:schemeClr val="accent1"/>
          </a:fillRef>
          <a:effectRef idx="1">
            <a:schemeClr val="accent1"/>
          </a:effectRef>
          <a:fontRef idx="minor">
            <a:schemeClr val="tx1"/>
          </a:fontRef>
        </p:style>
      </p:cxnSp>
      <p:cxnSp>
        <p:nvCxnSpPr>
          <p:cNvPr id="54" name="Straight Connector 53">
            <a:extLst>
              <a:ext uri="{FF2B5EF4-FFF2-40B4-BE49-F238E27FC236}">
                <a16:creationId xmlns:a16="http://schemas.microsoft.com/office/drawing/2014/main" id="{77F5A952-2917-A576-30AD-90C16853F30F}"/>
              </a:ext>
            </a:extLst>
          </p:cNvPr>
          <p:cNvCxnSpPr>
            <a:stCxn id="43" idx="0"/>
            <a:endCxn id="38" idx="2"/>
          </p:cNvCxnSpPr>
          <p:nvPr/>
        </p:nvCxnSpPr>
        <p:spPr>
          <a:xfrm flipV="1">
            <a:off x="8102633" y="3587055"/>
            <a:ext cx="2099217" cy="1002735"/>
          </a:xfrm>
          <a:prstGeom prst="line">
            <a:avLst/>
          </a:prstGeom>
        </p:spPr>
        <p:style>
          <a:lnRef idx="2">
            <a:schemeClr val="accent1"/>
          </a:lnRef>
          <a:fillRef idx="0">
            <a:schemeClr val="accent1"/>
          </a:fillRef>
          <a:effectRef idx="1">
            <a:schemeClr val="accent1"/>
          </a:effectRef>
          <a:fontRef idx="minor">
            <a:schemeClr val="tx1"/>
          </a:fontRef>
        </p:style>
      </p:cxnSp>
      <p:sp>
        <p:nvSpPr>
          <p:cNvPr id="55" name="Rectangle 54">
            <a:extLst>
              <a:ext uri="{FF2B5EF4-FFF2-40B4-BE49-F238E27FC236}">
                <a16:creationId xmlns:a16="http://schemas.microsoft.com/office/drawing/2014/main" id="{BE1FCCB3-DC3A-5E87-7AD0-D1F9A65B9E16}"/>
              </a:ext>
            </a:extLst>
          </p:cNvPr>
          <p:cNvSpPr/>
          <p:nvPr/>
        </p:nvSpPr>
        <p:spPr>
          <a:xfrm>
            <a:off x="3797615" y="5675058"/>
            <a:ext cx="2514412" cy="43815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endParaRPr lang="en-US" dirty="0"/>
          </a:p>
        </p:txBody>
      </p:sp>
      <p:cxnSp>
        <p:nvCxnSpPr>
          <p:cNvPr id="57" name="Straight Connector 56">
            <a:extLst>
              <a:ext uri="{FF2B5EF4-FFF2-40B4-BE49-F238E27FC236}">
                <a16:creationId xmlns:a16="http://schemas.microsoft.com/office/drawing/2014/main" id="{2283C722-332D-0CAC-3891-66F51A1C9BDC}"/>
              </a:ext>
            </a:extLst>
          </p:cNvPr>
          <p:cNvCxnSpPr>
            <a:stCxn id="44" idx="2"/>
            <a:endCxn id="55" idx="0"/>
          </p:cNvCxnSpPr>
          <p:nvPr/>
        </p:nvCxnSpPr>
        <p:spPr>
          <a:xfrm>
            <a:off x="1967771" y="5027940"/>
            <a:ext cx="3087050" cy="647118"/>
          </a:xfrm>
          <a:prstGeom prst="line">
            <a:avLst/>
          </a:prstGeom>
        </p:spPr>
        <p:style>
          <a:lnRef idx="2">
            <a:schemeClr val="accent1"/>
          </a:lnRef>
          <a:fillRef idx="0">
            <a:schemeClr val="accent1"/>
          </a:fillRef>
          <a:effectRef idx="1">
            <a:schemeClr val="accent1"/>
          </a:effectRef>
          <a:fontRef idx="minor">
            <a:schemeClr val="tx1"/>
          </a:fontRef>
        </p:style>
      </p:cxnSp>
      <p:cxnSp>
        <p:nvCxnSpPr>
          <p:cNvPr id="59" name="Straight Connector 58">
            <a:extLst>
              <a:ext uri="{FF2B5EF4-FFF2-40B4-BE49-F238E27FC236}">
                <a16:creationId xmlns:a16="http://schemas.microsoft.com/office/drawing/2014/main" id="{C1E86995-195D-8598-BD30-FFC73B3ED0BC}"/>
              </a:ext>
            </a:extLst>
          </p:cNvPr>
          <p:cNvCxnSpPr>
            <a:cxnSpLocks/>
            <a:stCxn id="43" idx="2"/>
            <a:endCxn id="55" idx="0"/>
          </p:cNvCxnSpPr>
          <p:nvPr/>
        </p:nvCxnSpPr>
        <p:spPr>
          <a:xfrm flipH="1">
            <a:off x="5054821" y="5027940"/>
            <a:ext cx="3047812" cy="647118"/>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0196425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8DE5FD-54BE-2EE6-C85E-DC24EF2D5B98}"/>
              </a:ext>
            </a:extLst>
          </p:cNvPr>
          <p:cNvSpPr>
            <a:spLocks noGrp="1"/>
          </p:cNvSpPr>
          <p:nvPr>
            <p:ph type="title"/>
          </p:nvPr>
        </p:nvSpPr>
        <p:spPr/>
        <p:txBody>
          <a:bodyPr/>
          <a:lstStyle/>
          <a:p>
            <a:r>
              <a:rPr lang="en-US" dirty="0"/>
              <a:t>A Different Question</a:t>
            </a:r>
          </a:p>
        </p:txBody>
      </p:sp>
      <p:sp>
        <p:nvSpPr>
          <p:cNvPr id="3" name="Content Placeholder 2">
            <a:extLst>
              <a:ext uri="{FF2B5EF4-FFF2-40B4-BE49-F238E27FC236}">
                <a16:creationId xmlns:a16="http://schemas.microsoft.com/office/drawing/2014/main" id="{CBD10ACC-2BDE-7D2F-F4DF-4BCF56039525}"/>
              </a:ext>
            </a:extLst>
          </p:cNvPr>
          <p:cNvSpPr>
            <a:spLocks noGrp="1"/>
          </p:cNvSpPr>
          <p:nvPr>
            <p:ph idx="1"/>
          </p:nvPr>
        </p:nvSpPr>
        <p:spPr/>
        <p:txBody>
          <a:bodyPr/>
          <a:lstStyle/>
          <a:p>
            <a:r>
              <a:rPr lang="en-US" dirty="0"/>
              <a:t>The proof answers the question “Did Curiosity kill the cat?”</a:t>
            </a:r>
          </a:p>
          <a:p>
            <a:r>
              <a:rPr lang="en-US" dirty="0"/>
              <a:t>But “Who killed the cat?” – how will you answer this?</a:t>
            </a:r>
          </a:p>
          <a:p>
            <a:r>
              <a:rPr lang="en-US" dirty="0"/>
              <a:t>Finding out who killed the cat is just a matter of keeping track of the bindings for the query variables in the proof.</a:t>
            </a:r>
          </a:p>
        </p:txBody>
      </p:sp>
      <p:sp>
        <p:nvSpPr>
          <p:cNvPr id="4" name="Date Placeholder 3">
            <a:extLst>
              <a:ext uri="{FF2B5EF4-FFF2-40B4-BE49-F238E27FC236}">
                <a16:creationId xmlns:a16="http://schemas.microsoft.com/office/drawing/2014/main" id="{1BD1FECA-AF99-8042-213D-46C1DA76A186}"/>
              </a:ext>
            </a:extLst>
          </p:cNvPr>
          <p:cNvSpPr>
            <a:spLocks noGrp="1"/>
          </p:cNvSpPr>
          <p:nvPr>
            <p:ph type="dt" sz="half" idx="10"/>
          </p:nvPr>
        </p:nvSpPr>
        <p:spPr/>
        <p:txBody>
          <a:bodyPr/>
          <a:lstStyle/>
          <a:p>
            <a:fld id="{1332600A-A7B8-4674-AAE3-A37177B883E5}" type="datetime1">
              <a:rPr lang="en-GB" smtClean="0"/>
              <a:t>20/10/2025</a:t>
            </a:fld>
            <a:endParaRPr lang="en-GB"/>
          </a:p>
        </p:txBody>
      </p:sp>
      <p:sp>
        <p:nvSpPr>
          <p:cNvPr id="5" name="Slide Number Placeholder 4">
            <a:extLst>
              <a:ext uri="{FF2B5EF4-FFF2-40B4-BE49-F238E27FC236}">
                <a16:creationId xmlns:a16="http://schemas.microsoft.com/office/drawing/2014/main" id="{340F3E47-CFA4-4EF2-6E38-6F267F077002}"/>
              </a:ext>
            </a:extLst>
          </p:cNvPr>
          <p:cNvSpPr>
            <a:spLocks noGrp="1"/>
          </p:cNvSpPr>
          <p:nvPr>
            <p:ph type="sldNum" sz="quarter" idx="12"/>
          </p:nvPr>
        </p:nvSpPr>
        <p:spPr/>
        <p:txBody>
          <a:bodyPr/>
          <a:lstStyle/>
          <a:p>
            <a:fld id="{9EB268CF-8001-41B5-ADCD-92A7738D3D9B}" type="slidenum">
              <a:rPr lang="en-GB" smtClean="0"/>
              <a:t>60</a:t>
            </a:fld>
            <a:endParaRPr lang="en-GB"/>
          </a:p>
        </p:txBody>
      </p:sp>
    </p:spTree>
    <p:extLst>
      <p:ext uri="{BB962C8B-B14F-4D97-AF65-F5344CB8AC3E}">
        <p14:creationId xmlns:p14="http://schemas.microsoft.com/office/powerpoint/2010/main" val="70258574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904DA8-44CE-7371-0E51-6CE383AA0472}"/>
              </a:ext>
            </a:extLst>
          </p:cNvPr>
          <p:cNvSpPr>
            <a:spLocks noGrp="1"/>
          </p:cNvSpPr>
          <p:nvPr>
            <p:ph type="title"/>
          </p:nvPr>
        </p:nvSpPr>
        <p:spPr/>
        <p:txBody>
          <a:bodyPr/>
          <a:lstStyle/>
          <a:p>
            <a:r>
              <a:rPr lang="en-US" dirty="0"/>
              <a:t>Equality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1F20C2D-8516-A399-95DD-ABFD3F87313C}"/>
                  </a:ext>
                </a:extLst>
              </p:cNvPr>
              <p:cNvSpPr>
                <a:spLocks noGrp="1"/>
              </p:cNvSpPr>
              <p:nvPr>
                <p:ph idx="1"/>
              </p:nvPr>
            </p:nvSpPr>
            <p:spPr/>
            <p:txBody>
              <a:bodyPr/>
              <a:lstStyle/>
              <a:p>
                <a:r>
                  <a:rPr lang="en-US" dirty="0"/>
                  <a:t>How can we handle assertion of the form </a:t>
                </a:r>
                <a14:m>
                  <m:oMath xmlns:m="http://schemas.openxmlformats.org/officeDocument/2006/math">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r>
                      <a:rPr lang="en-US" b="0" i="0" smtClean="0">
                        <a:latin typeface="Cambria Math" panose="02040503050406030204" pitchFamily="18" charset="0"/>
                      </a:rPr>
                      <m:t>?</m:t>
                    </m:r>
                  </m:oMath>
                </a14:m>
                <a:endParaRPr lang="en-US" dirty="0"/>
              </a:p>
              <a:p>
                <a:r>
                  <a:rPr lang="en-US" dirty="0"/>
                  <a:t>3 approach.</a:t>
                </a:r>
              </a:p>
              <a:p>
                <a:pPr lvl="1"/>
                <a:r>
                  <a:rPr lang="en-US" dirty="0"/>
                  <a:t>Axiom.</a:t>
                </a:r>
              </a:p>
              <a:p>
                <a:pPr lvl="1"/>
                <a:r>
                  <a:rPr lang="en-US" dirty="0"/>
                  <a:t>Demodulation.</a:t>
                </a:r>
              </a:p>
              <a:p>
                <a:pPr lvl="1"/>
                <a:r>
                  <a:rPr lang="en-US" dirty="0"/>
                  <a:t>Extended unification algorithm.</a:t>
                </a:r>
              </a:p>
            </p:txBody>
          </p:sp>
        </mc:Choice>
        <mc:Fallback xmlns="">
          <p:sp>
            <p:nvSpPr>
              <p:cNvPr id="3" name="Content Placeholder 2">
                <a:extLst>
                  <a:ext uri="{FF2B5EF4-FFF2-40B4-BE49-F238E27FC236}">
                    <a16:creationId xmlns:a16="http://schemas.microsoft.com/office/drawing/2014/main" id="{E1F20C2D-8516-A399-95DD-ABFD3F87313C}"/>
                  </a:ext>
                </a:extLst>
              </p:cNvPr>
              <p:cNvSpPr>
                <a:spLocks noGrp="1" noRot="1" noChangeAspect="1" noMove="1" noResize="1" noEditPoints="1" noAdjustHandles="1" noChangeArrowheads="1" noChangeShapeType="1" noTextEdit="1"/>
              </p:cNvSpPr>
              <p:nvPr>
                <p:ph idx="1"/>
              </p:nvPr>
            </p:nvSpPr>
            <p:spPr>
              <a:blipFill>
                <a:blip r:embed="rId2"/>
                <a:stretch>
                  <a:fillRect l="-1043" t="-2381"/>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9C84D8A6-4E26-A8CA-D3ED-85165CE09882}"/>
              </a:ext>
            </a:extLst>
          </p:cNvPr>
          <p:cNvSpPr>
            <a:spLocks noGrp="1"/>
          </p:cNvSpPr>
          <p:nvPr>
            <p:ph type="dt" sz="half" idx="10"/>
          </p:nvPr>
        </p:nvSpPr>
        <p:spPr/>
        <p:txBody>
          <a:bodyPr/>
          <a:lstStyle/>
          <a:p>
            <a:fld id="{1332600A-A7B8-4674-AAE3-A37177B883E5}" type="datetime1">
              <a:rPr lang="en-GB" smtClean="0"/>
              <a:t>20/10/2025</a:t>
            </a:fld>
            <a:endParaRPr lang="en-GB"/>
          </a:p>
        </p:txBody>
      </p:sp>
      <p:sp>
        <p:nvSpPr>
          <p:cNvPr id="5" name="Slide Number Placeholder 4">
            <a:extLst>
              <a:ext uri="{FF2B5EF4-FFF2-40B4-BE49-F238E27FC236}">
                <a16:creationId xmlns:a16="http://schemas.microsoft.com/office/drawing/2014/main" id="{716B5C0B-980C-9E05-A641-30C1AFAD22BC}"/>
              </a:ext>
            </a:extLst>
          </p:cNvPr>
          <p:cNvSpPr>
            <a:spLocks noGrp="1"/>
          </p:cNvSpPr>
          <p:nvPr>
            <p:ph type="sldNum" sz="quarter" idx="12"/>
          </p:nvPr>
        </p:nvSpPr>
        <p:spPr/>
        <p:txBody>
          <a:bodyPr/>
          <a:lstStyle/>
          <a:p>
            <a:fld id="{9EB268CF-8001-41B5-ADCD-92A7738D3D9B}" type="slidenum">
              <a:rPr lang="en-GB" smtClean="0"/>
              <a:t>61</a:t>
            </a:fld>
            <a:endParaRPr lang="en-GB"/>
          </a:p>
        </p:txBody>
      </p:sp>
    </p:spTree>
    <p:extLst>
      <p:ext uri="{BB962C8B-B14F-4D97-AF65-F5344CB8AC3E}">
        <p14:creationId xmlns:p14="http://schemas.microsoft.com/office/powerpoint/2010/main" val="292841985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B5A59B-3DC3-72A2-2A42-9FC85214B8FC}"/>
              </a:ext>
            </a:extLst>
          </p:cNvPr>
          <p:cNvSpPr>
            <a:spLocks noGrp="1"/>
          </p:cNvSpPr>
          <p:nvPr>
            <p:ph type="title"/>
          </p:nvPr>
        </p:nvSpPr>
        <p:spPr/>
        <p:txBody>
          <a:bodyPr/>
          <a:lstStyle/>
          <a:p>
            <a:r>
              <a:rPr lang="en-US" dirty="0"/>
              <a:t>Axiomatize Equality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7F0FDA2-60D0-43C2-C924-FC9C75676800}"/>
                  </a:ext>
                </a:extLst>
              </p:cNvPr>
              <p:cNvSpPr>
                <a:spLocks noGrp="1"/>
              </p:cNvSpPr>
              <p:nvPr>
                <p:ph idx="1"/>
              </p:nvPr>
            </p:nvSpPr>
            <p:spPr/>
            <p:txBody>
              <a:bodyPr/>
              <a:lstStyle/>
              <a:p>
                <a:r>
                  <a:rPr lang="en-US" dirty="0"/>
                  <a:t>We need to say the equality is reflexive, symmetric, and transitive.</a:t>
                </a:r>
              </a:p>
              <a:p>
                <a:r>
                  <a:rPr lang="en-US" dirty="0"/>
                  <a:t>We also say, we can substitute equals for equals in any predicate or function.</a:t>
                </a:r>
              </a:p>
              <a:p>
                <a:r>
                  <a:rPr lang="en-US" dirty="0"/>
                  <a:t>We need 3 basic axioms and 1 for each predicate and function.</a:t>
                </a:r>
                <a:br>
                  <a:rPr lang="en-US" dirty="0"/>
                </a:br>
                <a14:m>
                  <m:oMath xmlns:m="http://schemas.openxmlformats.org/officeDocument/2006/math">
                    <m:r>
                      <a:rPr lang="es-ES" i="1" dirty="0" smtClean="0">
                        <a:latin typeface="Cambria Math" panose="02040503050406030204" pitchFamily="18" charset="0"/>
                      </a:rPr>
                      <m:t>∀ </m:t>
                    </m:r>
                    <m:r>
                      <a:rPr lang="es-ES" i="1" dirty="0" smtClean="0">
                        <a:latin typeface="Cambria Math" panose="02040503050406030204" pitchFamily="18" charset="0"/>
                      </a:rPr>
                      <m:t>𝑥</m:t>
                    </m:r>
                    <m:r>
                      <a:rPr lang="es-ES" i="1" dirty="0" smtClean="0">
                        <a:latin typeface="Cambria Math" panose="02040503050406030204" pitchFamily="18" charset="0"/>
                      </a:rPr>
                      <m:t> </m:t>
                    </m:r>
                    <m:r>
                      <a:rPr lang="es-ES" i="1" dirty="0" err="1">
                        <a:latin typeface="Cambria Math" panose="02040503050406030204" pitchFamily="18" charset="0"/>
                      </a:rPr>
                      <m:t>𝑥</m:t>
                    </m:r>
                    <m:r>
                      <a:rPr lang="es-ES" i="1" dirty="0">
                        <a:latin typeface="Cambria Math" panose="02040503050406030204" pitchFamily="18" charset="0"/>
                      </a:rPr>
                      <m:t> = </m:t>
                    </m:r>
                    <m:r>
                      <a:rPr lang="es-ES" i="1" dirty="0">
                        <a:latin typeface="Cambria Math" panose="02040503050406030204" pitchFamily="18" charset="0"/>
                      </a:rPr>
                      <m:t>𝑥</m:t>
                    </m:r>
                    <m:r>
                      <a:rPr lang="en-US" b="0" i="1" dirty="0" smtClean="0">
                        <a:latin typeface="Cambria Math" panose="02040503050406030204" pitchFamily="18" charset="0"/>
                      </a:rPr>
                      <m:t>        </m:t>
                    </m:r>
                    <m:r>
                      <a:rPr lang="es-ES" i="1" dirty="0">
                        <a:latin typeface="Cambria Math" panose="02040503050406030204" pitchFamily="18" charset="0"/>
                      </a:rPr>
                      <m:t>∀ </m:t>
                    </m:r>
                    <m:r>
                      <a:rPr lang="es-ES" i="1" dirty="0">
                        <a:latin typeface="Cambria Math" panose="02040503050406030204" pitchFamily="18" charset="0"/>
                      </a:rPr>
                      <m:t>𝑥</m:t>
                    </m:r>
                    <m:r>
                      <a:rPr lang="es-ES" i="1" dirty="0">
                        <a:latin typeface="Cambria Math" panose="02040503050406030204" pitchFamily="18" charset="0"/>
                      </a:rPr>
                      <m:t>, </m:t>
                    </m:r>
                    <m:r>
                      <a:rPr lang="es-ES" i="1" dirty="0">
                        <a:latin typeface="Cambria Math" panose="02040503050406030204" pitchFamily="18" charset="0"/>
                      </a:rPr>
                      <m:t>𝑦</m:t>
                    </m:r>
                    <m:r>
                      <a:rPr lang="es-ES" i="1" dirty="0">
                        <a:latin typeface="Cambria Math" panose="02040503050406030204" pitchFamily="18" charset="0"/>
                      </a:rPr>
                      <m:t> </m:t>
                    </m:r>
                    <m:r>
                      <a:rPr lang="es-ES" i="1" dirty="0">
                        <a:latin typeface="Cambria Math" panose="02040503050406030204" pitchFamily="18" charset="0"/>
                      </a:rPr>
                      <m:t>𝑥</m:t>
                    </m:r>
                    <m:r>
                      <a:rPr lang="es-ES" i="1" dirty="0">
                        <a:latin typeface="Cambria Math" panose="02040503050406030204" pitchFamily="18" charset="0"/>
                      </a:rPr>
                      <m:t> = </m:t>
                    </m:r>
                    <m:r>
                      <a:rPr lang="es-ES" i="1" dirty="0">
                        <a:latin typeface="Cambria Math" panose="02040503050406030204" pitchFamily="18" charset="0"/>
                      </a:rPr>
                      <m:t>𝑦</m:t>
                    </m:r>
                    <m:r>
                      <a:rPr lang="es-ES" i="1" dirty="0">
                        <a:latin typeface="Cambria Math" panose="02040503050406030204" pitchFamily="18" charset="0"/>
                      </a:rPr>
                      <m:t> ⇒ </m:t>
                    </m:r>
                    <m:r>
                      <a:rPr lang="es-ES" i="1" dirty="0">
                        <a:latin typeface="Cambria Math" panose="02040503050406030204" pitchFamily="18" charset="0"/>
                      </a:rPr>
                      <m:t>𝑦</m:t>
                    </m:r>
                    <m:r>
                      <a:rPr lang="es-ES" i="1" dirty="0">
                        <a:latin typeface="Cambria Math" panose="02040503050406030204" pitchFamily="18" charset="0"/>
                      </a:rPr>
                      <m:t> = </m:t>
                    </m:r>
                    <m:r>
                      <a:rPr lang="es-ES" i="1" dirty="0">
                        <a:latin typeface="Cambria Math" panose="02040503050406030204" pitchFamily="18" charset="0"/>
                      </a:rPr>
                      <m:t>𝑥</m:t>
                    </m:r>
                  </m:oMath>
                </a14:m>
                <a:endParaRPr lang="en-US"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s-ES" i="1" dirty="0">
                          <a:latin typeface="Cambria Math" panose="02040503050406030204" pitchFamily="18" charset="0"/>
                        </a:rPr>
                        <m:t>∀ </m:t>
                      </m:r>
                      <m:r>
                        <a:rPr lang="es-ES" i="1" dirty="0">
                          <a:latin typeface="Cambria Math" panose="02040503050406030204" pitchFamily="18" charset="0"/>
                        </a:rPr>
                        <m:t>𝑥</m:t>
                      </m:r>
                      <m:r>
                        <a:rPr lang="es-ES" i="1" dirty="0">
                          <a:latin typeface="Cambria Math" panose="02040503050406030204" pitchFamily="18" charset="0"/>
                        </a:rPr>
                        <m:t>, </m:t>
                      </m:r>
                      <m:r>
                        <a:rPr lang="es-ES" i="1" dirty="0">
                          <a:latin typeface="Cambria Math" panose="02040503050406030204" pitchFamily="18" charset="0"/>
                        </a:rPr>
                        <m:t>𝑦</m:t>
                      </m:r>
                      <m:r>
                        <a:rPr lang="es-ES" i="1" dirty="0">
                          <a:latin typeface="Cambria Math" panose="02040503050406030204" pitchFamily="18" charset="0"/>
                        </a:rPr>
                        <m:t>, </m:t>
                      </m:r>
                      <m:r>
                        <a:rPr lang="es-ES" i="1" dirty="0">
                          <a:latin typeface="Cambria Math" panose="02040503050406030204" pitchFamily="18" charset="0"/>
                        </a:rPr>
                        <m:t>𝑧</m:t>
                      </m:r>
                      <m:r>
                        <a:rPr lang="es-ES" i="1" dirty="0">
                          <a:latin typeface="Cambria Math" panose="02040503050406030204" pitchFamily="18" charset="0"/>
                        </a:rPr>
                        <m:t>   </m:t>
                      </m:r>
                      <m:r>
                        <a:rPr lang="es-ES" i="1" dirty="0">
                          <a:latin typeface="Cambria Math" panose="02040503050406030204" pitchFamily="18" charset="0"/>
                        </a:rPr>
                        <m:t>𝑥</m:t>
                      </m:r>
                      <m:r>
                        <a:rPr lang="es-ES" i="1" dirty="0">
                          <a:latin typeface="Cambria Math" panose="02040503050406030204" pitchFamily="18" charset="0"/>
                        </a:rPr>
                        <m:t> = </m:t>
                      </m:r>
                      <m:r>
                        <a:rPr lang="es-ES" i="1" dirty="0">
                          <a:latin typeface="Cambria Math" panose="02040503050406030204" pitchFamily="18" charset="0"/>
                        </a:rPr>
                        <m:t>𝑦</m:t>
                      </m:r>
                      <m:r>
                        <a:rPr lang="es-ES" i="1" dirty="0">
                          <a:latin typeface="Cambria Math" panose="02040503050406030204" pitchFamily="18" charset="0"/>
                        </a:rPr>
                        <m:t> ∧ </m:t>
                      </m:r>
                      <m:r>
                        <a:rPr lang="es-ES" i="1" dirty="0">
                          <a:latin typeface="Cambria Math" panose="02040503050406030204" pitchFamily="18" charset="0"/>
                        </a:rPr>
                        <m:t>𝑦</m:t>
                      </m:r>
                      <m:r>
                        <a:rPr lang="es-ES" i="1" dirty="0">
                          <a:latin typeface="Cambria Math" panose="02040503050406030204" pitchFamily="18" charset="0"/>
                        </a:rPr>
                        <m:t> = </m:t>
                      </m:r>
                      <m:r>
                        <a:rPr lang="es-ES" i="1" dirty="0">
                          <a:latin typeface="Cambria Math" panose="02040503050406030204" pitchFamily="18" charset="0"/>
                        </a:rPr>
                        <m:t>𝑧</m:t>
                      </m:r>
                      <m:r>
                        <a:rPr lang="es-ES" i="1" dirty="0">
                          <a:latin typeface="Cambria Math" panose="02040503050406030204" pitchFamily="18" charset="0"/>
                        </a:rPr>
                        <m:t> ⇒ </m:t>
                      </m:r>
                      <m:r>
                        <a:rPr lang="es-ES" i="1" dirty="0">
                          <a:latin typeface="Cambria Math" panose="02040503050406030204" pitchFamily="18" charset="0"/>
                        </a:rPr>
                        <m:t>𝑥</m:t>
                      </m:r>
                      <m:r>
                        <a:rPr lang="es-ES" i="1" dirty="0">
                          <a:latin typeface="Cambria Math" panose="02040503050406030204" pitchFamily="18" charset="0"/>
                        </a:rPr>
                        <m:t> = </m:t>
                      </m:r>
                      <m:r>
                        <a:rPr lang="es-ES" i="1" dirty="0">
                          <a:latin typeface="Cambria Math" panose="02040503050406030204" pitchFamily="18" charset="0"/>
                        </a:rPr>
                        <m:t>𝑧</m:t>
                      </m:r>
                    </m:oMath>
                  </m:oMathPara>
                </a14:m>
                <a:endParaRPr lang="en-US"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s-ES" i="1" dirty="0">
                          <a:latin typeface="Cambria Math" panose="02040503050406030204" pitchFamily="18" charset="0"/>
                        </a:rPr>
                        <m:t>∀ </m:t>
                      </m:r>
                      <m:r>
                        <a:rPr lang="es-ES" i="1" dirty="0">
                          <a:latin typeface="Cambria Math" panose="02040503050406030204" pitchFamily="18" charset="0"/>
                        </a:rPr>
                        <m:t>𝑥</m:t>
                      </m:r>
                      <m:r>
                        <a:rPr lang="es-ES" i="1" dirty="0">
                          <a:latin typeface="Cambria Math" panose="02040503050406030204" pitchFamily="18" charset="0"/>
                        </a:rPr>
                        <m:t>, </m:t>
                      </m:r>
                      <m:r>
                        <a:rPr lang="es-ES" i="1" dirty="0">
                          <a:latin typeface="Cambria Math" panose="02040503050406030204" pitchFamily="18" charset="0"/>
                        </a:rPr>
                        <m:t>𝑦</m:t>
                      </m:r>
                      <m:r>
                        <a:rPr lang="es-ES" i="1" dirty="0">
                          <a:latin typeface="Cambria Math" panose="02040503050406030204" pitchFamily="18" charset="0"/>
                        </a:rPr>
                        <m:t>   </m:t>
                      </m:r>
                      <m:r>
                        <a:rPr lang="es-ES" i="1" dirty="0">
                          <a:latin typeface="Cambria Math" panose="02040503050406030204" pitchFamily="18" charset="0"/>
                        </a:rPr>
                        <m:t>𝑥</m:t>
                      </m:r>
                      <m:r>
                        <a:rPr lang="es-ES" i="1" dirty="0">
                          <a:latin typeface="Cambria Math" panose="02040503050406030204" pitchFamily="18" charset="0"/>
                        </a:rPr>
                        <m:t> = </m:t>
                      </m:r>
                      <m:r>
                        <a:rPr lang="es-ES" i="1" dirty="0">
                          <a:latin typeface="Cambria Math" panose="02040503050406030204" pitchFamily="18" charset="0"/>
                        </a:rPr>
                        <m:t>𝑦</m:t>
                      </m:r>
                      <m:r>
                        <a:rPr lang="es-ES" i="1" dirty="0">
                          <a:latin typeface="Cambria Math" panose="02040503050406030204" pitchFamily="18" charset="0"/>
                        </a:rPr>
                        <m:t> ⇒ </m:t>
                      </m:r>
                      <m:d>
                        <m:dPr>
                          <m:ctrlPr>
                            <a:rPr lang="es-ES" i="1" dirty="0">
                              <a:latin typeface="Cambria Math" panose="02040503050406030204" pitchFamily="18" charset="0"/>
                            </a:rPr>
                          </m:ctrlPr>
                        </m:dPr>
                        <m:e>
                          <m:r>
                            <a:rPr lang="es-ES" i="1" dirty="0">
                              <a:latin typeface="Cambria Math" panose="02040503050406030204" pitchFamily="18" charset="0"/>
                            </a:rPr>
                            <m:t>𝑃</m:t>
                          </m:r>
                          <m:r>
                            <a:rPr lang="es-ES" i="1" dirty="0">
                              <a:latin typeface="Cambria Math" panose="02040503050406030204" pitchFamily="18" charset="0"/>
                            </a:rPr>
                            <m:t>1</m:t>
                          </m:r>
                          <m:d>
                            <m:dPr>
                              <m:ctrlPr>
                                <a:rPr lang="es-ES" i="1" dirty="0">
                                  <a:latin typeface="Cambria Math" panose="02040503050406030204" pitchFamily="18" charset="0"/>
                                </a:rPr>
                              </m:ctrlPr>
                            </m:dPr>
                            <m:e>
                              <m:r>
                                <a:rPr lang="es-ES" i="1" dirty="0">
                                  <a:latin typeface="Cambria Math" panose="02040503050406030204" pitchFamily="18" charset="0"/>
                                </a:rPr>
                                <m:t>𝑥</m:t>
                              </m:r>
                            </m:e>
                          </m:d>
                          <m:r>
                            <a:rPr lang="es-ES" i="1" dirty="0">
                              <a:latin typeface="Cambria Math" panose="02040503050406030204" pitchFamily="18" charset="0"/>
                            </a:rPr>
                            <m:t>⇔ </m:t>
                          </m:r>
                          <m:r>
                            <a:rPr lang="es-ES" i="1" dirty="0">
                              <a:latin typeface="Cambria Math" panose="02040503050406030204" pitchFamily="18" charset="0"/>
                            </a:rPr>
                            <m:t>𝑃</m:t>
                          </m:r>
                          <m:r>
                            <a:rPr lang="es-ES" i="1" dirty="0">
                              <a:latin typeface="Cambria Math" panose="02040503050406030204" pitchFamily="18" charset="0"/>
                            </a:rPr>
                            <m:t>1</m:t>
                          </m:r>
                          <m:d>
                            <m:dPr>
                              <m:ctrlPr>
                                <a:rPr lang="es-ES" i="1" dirty="0">
                                  <a:latin typeface="Cambria Math" panose="02040503050406030204" pitchFamily="18" charset="0"/>
                                </a:rPr>
                              </m:ctrlPr>
                            </m:dPr>
                            <m:e>
                              <m:r>
                                <a:rPr lang="es-ES" i="1" dirty="0">
                                  <a:latin typeface="Cambria Math" panose="02040503050406030204" pitchFamily="18" charset="0"/>
                                </a:rPr>
                                <m:t>𝑦</m:t>
                              </m:r>
                            </m:e>
                          </m:d>
                        </m:e>
                      </m:d>
                    </m:oMath>
                  </m:oMathPara>
                </a14:m>
                <a:endParaRPr lang="en-US"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s-ES" i="1" dirty="0">
                          <a:latin typeface="Cambria Math" panose="02040503050406030204" pitchFamily="18" charset="0"/>
                        </a:rPr>
                        <m:t>∀ </m:t>
                      </m:r>
                      <m:r>
                        <a:rPr lang="es-ES" i="1" dirty="0">
                          <a:latin typeface="Cambria Math" panose="02040503050406030204" pitchFamily="18" charset="0"/>
                        </a:rPr>
                        <m:t>𝑥</m:t>
                      </m:r>
                      <m:r>
                        <a:rPr lang="es-ES" i="1" dirty="0">
                          <a:latin typeface="Cambria Math" panose="02040503050406030204" pitchFamily="18" charset="0"/>
                        </a:rPr>
                        <m:t>, </m:t>
                      </m:r>
                      <m:r>
                        <a:rPr lang="es-ES" i="1" dirty="0">
                          <a:latin typeface="Cambria Math" panose="02040503050406030204" pitchFamily="18" charset="0"/>
                        </a:rPr>
                        <m:t>𝑦</m:t>
                      </m:r>
                      <m:r>
                        <a:rPr lang="es-ES" i="1" dirty="0">
                          <a:latin typeface="Cambria Math" panose="02040503050406030204" pitchFamily="18" charset="0"/>
                        </a:rPr>
                        <m:t>   </m:t>
                      </m:r>
                      <m:r>
                        <a:rPr lang="es-ES" i="1" dirty="0">
                          <a:latin typeface="Cambria Math" panose="02040503050406030204" pitchFamily="18" charset="0"/>
                        </a:rPr>
                        <m:t>𝑥</m:t>
                      </m:r>
                      <m:r>
                        <a:rPr lang="es-ES" i="1" dirty="0">
                          <a:latin typeface="Cambria Math" panose="02040503050406030204" pitchFamily="18" charset="0"/>
                        </a:rPr>
                        <m:t> = </m:t>
                      </m:r>
                      <m:r>
                        <a:rPr lang="es-ES" i="1" dirty="0">
                          <a:latin typeface="Cambria Math" panose="02040503050406030204" pitchFamily="18" charset="0"/>
                        </a:rPr>
                        <m:t>𝑦</m:t>
                      </m:r>
                      <m:r>
                        <a:rPr lang="es-ES" i="1" dirty="0">
                          <a:latin typeface="Cambria Math" panose="02040503050406030204" pitchFamily="18" charset="0"/>
                        </a:rPr>
                        <m:t> ⇒ (</m:t>
                      </m:r>
                      <m:r>
                        <a:rPr lang="es-ES" i="1" dirty="0">
                          <a:latin typeface="Cambria Math" panose="02040503050406030204" pitchFamily="18" charset="0"/>
                        </a:rPr>
                        <m:t>𝑃</m:t>
                      </m:r>
                      <m:r>
                        <a:rPr lang="es-ES" i="1" dirty="0">
                          <a:latin typeface="Cambria Math" panose="02040503050406030204" pitchFamily="18" charset="0"/>
                        </a:rPr>
                        <m:t>2</m:t>
                      </m:r>
                      <m:r>
                        <a:rPr lang="es-ES" i="1" dirty="0">
                          <a:latin typeface="Cambria Math" panose="02040503050406030204" pitchFamily="18" charset="0"/>
                        </a:rPr>
                        <m:t>(</m:t>
                      </m:r>
                      <m:r>
                        <a:rPr lang="es-ES" i="1" dirty="0">
                          <a:latin typeface="Cambria Math" panose="02040503050406030204" pitchFamily="18" charset="0"/>
                        </a:rPr>
                        <m:t>𝑥</m:t>
                      </m:r>
                      <m:r>
                        <a:rPr lang="es-ES" i="1" dirty="0">
                          <a:latin typeface="Cambria Math" panose="02040503050406030204" pitchFamily="18" charset="0"/>
                        </a:rPr>
                        <m:t>) ⇔ </m:t>
                      </m:r>
                      <m:r>
                        <a:rPr lang="es-ES" i="1" dirty="0">
                          <a:latin typeface="Cambria Math" panose="02040503050406030204" pitchFamily="18" charset="0"/>
                        </a:rPr>
                        <m:t>𝑃</m:t>
                      </m:r>
                      <m:r>
                        <a:rPr lang="es-ES" i="1" dirty="0">
                          <a:latin typeface="Cambria Math" panose="02040503050406030204" pitchFamily="18" charset="0"/>
                        </a:rPr>
                        <m:t>2</m:t>
                      </m:r>
                      <m:r>
                        <a:rPr lang="es-ES" i="1" dirty="0">
                          <a:latin typeface="Cambria Math" panose="02040503050406030204" pitchFamily="18" charset="0"/>
                        </a:rPr>
                        <m:t>(</m:t>
                      </m:r>
                      <m:r>
                        <a:rPr lang="es-ES" i="1" dirty="0">
                          <a:latin typeface="Cambria Math" panose="02040503050406030204" pitchFamily="18" charset="0"/>
                        </a:rPr>
                        <m:t>𝑦</m:t>
                      </m:r>
                      <m:r>
                        <a:rPr lang="es-ES" i="1" dirty="0">
                          <a:latin typeface="Cambria Math" panose="02040503050406030204" pitchFamily="18" charset="0"/>
                        </a:rPr>
                        <m:t>))</m:t>
                      </m:r>
                    </m:oMath>
                  </m:oMathPara>
                </a14:m>
                <a:endParaRPr lang="en-US" dirty="0"/>
              </a:p>
            </p:txBody>
          </p:sp>
        </mc:Choice>
        <mc:Fallback xmlns="">
          <p:sp>
            <p:nvSpPr>
              <p:cNvPr id="3" name="Content Placeholder 2">
                <a:extLst>
                  <a:ext uri="{FF2B5EF4-FFF2-40B4-BE49-F238E27FC236}">
                    <a16:creationId xmlns:a16="http://schemas.microsoft.com/office/drawing/2014/main" id="{47F0FDA2-60D0-43C2-C924-FC9C75676800}"/>
                  </a:ext>
                </a:extLst>
              </p:cNvPr>
              <p:cNvSpPr>
                <a:spLocks noGrp="1" noRot="1" noChangeAspect="1" noMove="1" noResize="1" noEditPoints="1" noAdjustHandles="1" noChangeArrowheads="1" noChangeShapeType="1" noTextEdit="1"/>
              </p:cNvSpPr>
              <p:nvPr>
                <p:ph idx="1"/>
              </p:nvPr>
            </p:nvSpPr>
            <p:spPr>
              <a:blipFill>
                <a:blip r:embed="rId2"/>
                <a:stretch>
                  <a:fillRect l="-1043" t="-2381"/>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119CF708-B428-4E75-F92E-C28FA8C0BF13}"/>
              </a:ext>
            </a:extLst>
          </p:cNvPr>
          <p:cNvSpPr>
            <a:spLocks noGrp="1"/>
          </p:cNvSpPr>
          <p:nvPr>
            <p:ph type="dt" sz="half" idx="10"/>
          </p:nvPr>
        </p:nvSpPr>
        <p:spPr/>
        <p:txBody>
          <a:bodyPr/>
          <a:lstStyle/>
          <a:p>
            <a:fld id="{1332600A-A7B8-4674-AAE3-A37177B883E5}" type="datetime1">
              <a:rPr lang="en-GB" smtClean="0"/>
              <a:t>20/10/2025</a:t>
            </a:fld>
            <a:endParaRPr lang="en-GB"/>
          </a:p>
        </p:txBody>
      </p:sp>
      <p:sp>
        <p:nvSpPr>
          <p:cNvPr id="5" name="Slide Number Placeholder 4">
            <a:extLst>
              <a:ext uri="{FF2B5EF4-FFF2-40B4-BE49-F238E27FC236}">
                <a16:creationId xmlns:a16="http://schemas.microsoft.com/office/drawing/2014/main" id="{8CC9534E-62E6-CF22-32B4-B3E56756B8DB}"/>
              </a:ext>
            </a:extLst>
          </p:cNvPr>
          <p:cNvSpPr>
            <a:spLocks noGrp="1"/>
          </p:cNvSpPr>
          <p:nvPr>
            <p:ph type="sldNum" sz="quarter" idx="12"/>
          </p:nvPr>
        </p:nvSpPr>
        <p:spPr/>
        <p:txBody>
          <a:bodyPr/>
          <a:lstStyle/>
          <a:p>
            <a:fld id="{9EB268CF-8001-41B5-ADCD-92A7738D3D9B}" type="slidenum">
              <a:rPr lang="en-GB" smtClean="0"/>
              <a:t>62</a:t>
            </a:fld>
            <a:endParaRPr lang="en-GB"/>
          </a:p>
        </p:txBody>
      </p:sp>
    </p:spTree>
    <p:extLst>
      <p:ext uri="{BB962C8B-B14F-4D97-AF65-F5344CB8AC3E}">
        <p14:creationId xmlns:p14="http://schemas.microsoft.com/office/powerpoint/2010/main" val="257692039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78D2F8-CE29-4917-DE7A-64B98810486D}"/>
              </a:ext>
            </a:extLst>
          </p:cNvPr>
          <p:cNvSpPr>
            <a:spLocks noGrp="1"/>
          </p:cNvSpPr>
          <p:nvPr>
            <p:ph type="title"/>
          </p:nvPr>
        </p:nvSpPr>
        <p:spPr/>
        <p:txBody>
          <a:bodyPr/>
          <a:lstStyle/>
          <a:p>
            <a:r>
              <a:rPr lang="en-US" dirty="0"/>
              <a:t>Demodulation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D917CBE-9B01-CD2F-140C-1657AFDCF63D}"/>
                  </a:ext>
                </a:extLst>
              </p:cNvPr>
              <p:cNvSpPr>
                <a:spLocks noGrp="1"/>
              </p:cNvSpPr>
              <p:nvPr>
                <p:ph idx="1"/>
              </p:nvPr>
            </p:nvSpPr>
            <p:spPr/>
            <p:txBody>
              <a:bodyPr/>
              <a:lstStyle/>
              <a:p>
                <a:r>
                  <a:rPr lang="en-US" dirty="0"/>
                  <a:t>For any terms x, y, and z, where z appears somewhere in literal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𝑚</m:t>
                        </m:r>
                      </m:e>
                      <m:sub>
                        <m:r>
                          <a:rPr lang="en-US" b="0" i="1" smtClean="0">
                            <a:latin typeface="Cambria Math" panose="02040503050406030204" pitchFamily="18" charset="0"/>
                          </a:rPr>
                          <m:t>𝑖</m:t>
                        </m:r>
                      </m:sub>
                    </m:sSub>
                    <m:r>
                      <a:rPr lang="en-US" b="0" i="1" smtClean="0">
                        <a:latin typeface="Cambria Math" panose="02040503050406030204" pitchFamily="18" charset="0"/>
                      </a:rPr>
                      <m:t> </m:t>
                    </m:r>
                  </m:oMath>
                </a14:m>
                <a:r>
                  <a:rPr lang="en-US" dirty="0"/>
                  <a:t>and where </a:t>
                </a:r>
                <a14:m>
                  <m:oMath xmlns:m="http://schemas.openxmlformats.org/officeDocument/2006/math">
                    <m:r>
                      <a:rPr lang="en-US" i="1" dirty="0" smtClean="0">
                        <a:latin typeface="Cambria Math" panose="02040503050406030204" pitchFamily="18" charset="0"/>
                      </a:rPr>
                      <m:t>𝑈𝑁𝐼𝐹𝑌</m:t>
                    </m:r>
                    <m:r>
                      <a:rPr lang="en-US" i="1" dirty="0">
                        <a:latin typeface="Cambria Math" panose="02040503050406030204" pitchFamily="18" charset="0"/>
                      </a:rPr>
                      <m:t>(</m:t>
                    </m:r>
                    <m:r>
                      <a:rPr lang="en-US" i="1" dirty="0">
                        <a:latin typeface="Cambria Math" panose="02040503050406030204" pitchFamily="18" charset="0"/>
                      </a:rPr>
                      <m:t>𝑥</m:t>
                    </m:r>
                    <m:r>
                      <a:rPr lang="en-US" i="1" dirty="0">
                        <a:latin typeface="Cambria Math" panose="02040503050406030204" pitchFamily="18" charset="0"/>
                      </a:rPr>
                      <m:t>, </m:t>
                    </m:r>
                    <m:r>
                      <a:rPr lang="en-US" i="1" dirty="0">
                        <a:latin typeface="Cambria Math" panose="02040503050406030204" pitchFamily="18" charset="0"/>
                      </a:rPr>
                      <m:t>𝑧</m:t>
                    </m:r>
                    <m:r>
                      <a:rPr lang="en-US" i="1" dirty="0">
                        <a:latin typeface="Cambria Math" panose="02040503050406030204" pitchFamily="18" charset="0"/>
                      </a:rPr>
                      <m:t>) = </m:t>
                    </m:r>
                    <m:r>
                      <a:rPr lang="en-US" i="1" dirty="0">
                        <a:latin typeface="Cambria Math" panose="02040503050406030204" pitchFamily="18" charset="0"/>
                      </a:rPr>
                      <m:t>𝜃</m:t>
                    </m:r>
                  </m:oMath>
                </a14:m>
                <a:endParaRPr lang="en-US" dirty="0"/>
              </a:p>
              <a:p>
                <a:pPr marL="0" indent="0">
                  <a:buNone/>
                </a:pPr>
                <a14:m>
                  <m:oMathPara xmlns:m="http://schemas.openxmlformats.org/officeDocument/2006/math">
                    <m:oMathParaPr>
                      <m:jc m:val="centerGroup"/>
                    </m:oMathParaPr>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𝑚</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𝑚</m:t>
                              </m:r>
                            </m:e>
                            <m:sub>
                              <m:r>
                                <a:rPr lang="en-US" b="0" i="1" smtClean="0">
                                  <a:latin typeface="Cambria Math" panose="02040503050406030204" pitchFamily="18" charset="0"/>
                                </a:rPr>
                                <m:t>𝑛</m:t>
                              </m:r>
                            </m:sub>
                          </m:sSub>
                        </m:num>
                        <m:den>
                          <m:r>
                            <a:rPr lang="en-US" b="0" i="1" smtClean="0">
                              <a:latin typeface="Cambria Math" panose="02040503050406030204" pitchFamily="18" charset="0"/>
                            </a:rPr>
                            <m:t>𝑆𝑈𝐵</m:t>
                          </m:r>
                          <m:d>
                            <m:dPr>
                              <m:ctrlPr>
                                <a:rPr lang="en-US" b="0" i="1" smtClean="0">
                                  <a:latin typeface="Cambria Math" panose="02040503050406030204" pitchFamily="18" charset="0"/>
                                </a:rPr>
                              </m:ctrlPr>
                            </m:dPr>
                            <m:e>
                              <m:r>
                                <a:rPr lang="en-US" b="0" i="1" smtClean="0">
                                  <a:latin typeface="Cambria Math" panose="02040503050406030204" pitchFamily="18" charset="0"/>
                                </a:rPr>
                                <m:t>𝑆𝑈𝐵𝑆𝑇</m:t>
                              </m:r>
                              <m:d>
                                <m:dPr>
                                  <m:ctrlPr>
                                    <a:rPr lang="en-US" b="0" i="1" smtClean="0">
                                      <a:latin typeface="Cambria Math" panose="02040503050406030204" pitchFamily="18" charset="0"/>
                                    </a:rPr>
                                  </m:ctrlPr>
                                </m:dPr>
                                <m:e>
                                  <m:r>
                                    <a:rPr lang="en-US" b="0" i="1" smtClean="0">
                                      <a:latin typeface="Cambria Math" panose="02040503050406030204" pitchFamily="18" charset="0"/>
                                    </a:rPr>
                                    <m:t>𝜃</m:t>
                                  </m:r>
                                  <m:r>
                                    <a:rPr lang="en-US" b="0" i="1" smtClean="0">
                                      <a:latin typeface="Cambria Math" panose="02040503050406030204" pitchFamily="18" charset="0"/>
                                    </a:rPr>
                                    <m:t>,</m:t>
                                  </m:r>
                                  <m:r>
                                    <a:rPr lang="en-US" b="0" i="1" smtClean="0">
                                      <a:latin typeface="Cambria Math" panose="02040503050406030204" pitchFamily="18" charset="0"/>
                                    </a:rPr>
                                    <m:t>𝑥</m:t>
                                  </m:r>
                                </m:e>
                              </m:d>
                              <m:r>
                                <a:rPr lang="en-US" b="0" i="1" smtClean="0">
                                  <a:latin typeface="Cambria Math" panose="02040503050406030204" pitchFamily="18" charset="0"/>
                                </a:rPr>
                                <m:t>, </m:t>
                              </m:r>
                              <m:r>
                                <a:rPr lang="en-US" b="0" i="1" smtClean="0">
                                  <a:latin typeface="Cambria Math" panose="02040503050406030204" pitchFamily="18" charset="0"/>
                                </a:rPr>
                                <m:t>𝑆𝑈𝐵𝑆𝑇</m:t>
                              </m:r>
                              <m:d>
                                <m:dPr>
                                  <m:ctrlPr>
                                    <a:rPr lang="en-US" b="0" i="1" smtClean="0">
                                      <a:latin typeface="Cambria Math" panose="02040503050406030204" pitchFamily="18" charset="0"/>
                                    </a:rPr>
                                  </m:ctrlPr>
                                </m:dPr>
                                <m:e>
                                  <m:r>
                                    <a:rPr lang="en-US" b="0" i="1" smtClean="0">
                                      <a:latin typeface="Cambria Math" panose="02040503050406030204" pitchFamily="18" charset="0"/>
                                    </a:rPr>
                                    <m:t>𝜃</m:t>
                                  </m:r>
                                  <m:r>
                                    <a:rPr lang="en-US" b="0" i="1" smtClean="0">
                                      <a:latin typeface="Cambria Math" panose="02040503050406030204" pitchFamily="18" charset="0"/>
                                    </a:rPr>
                                    <m:t>,</m:t>
                                  </m:r>
                                  <m:r>
                                    <a:rPr lang="en-US" b="0" i="1" smtClean="0">
                                      <a:latin typeface="Cambria Math" panose="02040503050406030204" pitchFamily="18" charset="0"/>
                                    </a:rPr>
                                    <m:t>𝑦</m:t>
                                  </m:r>
                                </m:e>
                              </m:d>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𝑚</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𝑚</m:t>
                                  </m:r>
                                </m:e>
                                <m:sub>
                                  <m:r>
                                    <a:rPr lang="en-US" b="0" i="1" smtClean="0">
                                      <a:latin typeface="Cambria Math" panose="02040503050406030204" pitchFamily="18" charset="0"/>
                                    </a:rPr>
                                    <m:t>𝑛</m:t>
                                  </m:r>
                                </m:sub>
                              </m:sSub>
                            </m:e>
                          </m:d>
                        </m:den>
                      </m:f>
                    </m:oMath>
                  </m:oMathPara>
                </a14:m>
                <a:endParaRPr lang="en-US" b="0" dirty="0"/>
              </a:p>
              <a:p>
                <a:pPr marL="0" indent="0">
                  <a:buNone/>
                </a:pPr>
                <a14:m>
                  <m:oMath xmlns:m="http://schemas.openxmlformats.org/officeDocument/2006/math">
                    <m:r>
                      <a:rPr lang="en-US" b="0" i="1" smtClean="0">
                        <a:latin typeface="Cambria Math" panose="02040503050406030204" pitchFamily="18" charset="0"/>
                      </a:rPr>
                      <m:t>𝑆𝑈𝐵</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r>
                      <a:rPr lang="en-US" b="0" i="1" smtClean="0">
                        <a:latin typeface="Cambria Math" panose="02040503050406030204" pitchFamily="18" charset="0"/>
                      </a:rPr>
                      <m:t>,</m:t>
                    </m:r>
                    <m:r>
                      <a:rPr lang="en-US" b="0" i="1" smtClean="0">
                        <a:latin typeface="Cambria Math" panose="02040503050406030204" pitchFamily="18" charset="0"/>
                      </a:rPr>
                      <m:t>𝑚</m:t>
                    </m:r>
                    <m:r>
                      <a:rPr lang="en-US" b="0" i="1" smtClean="0">
                        <a:latin typeface="Cambria Math" panose="02040503050406030204" pitchFamily="18" charset="0"/>
                      </a:rPr>
                      <m:t>)</m:t>
                    </m:r>
                  </m:oMath>
                </a14:m>
                <a:r>
                  <a:rPr lang="en-US" dirty="0"/>
                  <a:t> means to replace x with y everywhere that x occurs within m.</a:t>
                </a:r>
              </a:p>
              <a:p>
                <a:pPr marL="0" indent="0">
                  <a:buNone/>
                </a:pPr>
                <a:r>
                  <a:rPr lang="en-US" dirty="0"/>
                  <a:t>The rule can be extended to handle non-unit clauses.</a:t>
                </a:r>
              </a:p>
            </p:txBody>
          </p:sp>
        </mc:Choice>
        <mc:Fallback xmlns="">
          <p:sp>
            <p:nvSpPr>
              <p:cNvPr id="3" name="Content Placeholder 2">
                <a:extLst>
                  <a:ext uri="{FF2B5EF4-FFF2-40B4-BE49-F238E27FC236}">
                    <a16:creationId xmlns:a16="http://schemas.microsoft.com/office/drawing/2014/main" id="{4D917CBE-9B01-CD2F-140C-1657AFDCF63D}"/>
                  </a:ext>
                </a:extLst>
              </p:cNvPr>
              <p:cNvSpPr>
                <a:spLocks noGrp="1" noRot="1" noChangeAspect="1" noMove="1" noResize="1" noEditPoints="1" noAdjustHandles="1" noChangeArrowheads="1" noChangeShapeType="1" noTextEdit="1"/>
              </p:cNvSpPr>
              <p:nvPr>
                <p:ph idx="1"/>
              </p:nvPr>
            </p:nvSpPr>
            <p:spPr>
              <a:blipFill>
                <a:blip r:embed="rId2"/>
                <a:stretch>
                  <a:fillRect l="-1217" t="-2381" r="-1043"/>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FC2D6DB9-933D-817A-C9F8-F115B18BC9B2}"/>
              </a:ext>
            </a:extLst>
          </p:cNvPr>
          <p:cNvSpPr>
            <a:spLocks noGrp="1"/>
          </p:cNvSpPr>
          <p:nvPr>
            <p:ph type="dt" sz="half" idx="10"/>
          </p:nvPr>
        </p:nvSpPr>
        <p:spPr/>
        <p:txBody>
          <a:bodyPr/>
          <a:lstStyle/>
          <a:p>
            <a:fld id="{1332600A-A7B8-4674-AAE3-A37177B883E5}" type="datetime1">
              <a:rPr lang="en-GB" smtClean="0"/>
              <a:t>20/10/2025</a:t>
            </a:fld>
            <a:endParaRPr lang="en-GB"/>
          </a:p>
        </p:txBody>
      </p:sp>
      <p:sp>
        <p:nvSpPr>
          <p:cNvPr id="5" name="Slide Number Placeholder 4">
            <a:extLst>
              <a:ext uri="{FF2B5EF4-FFF2-40B4-BE49-F238E27FC236}">
                <a16:creationId xmlns:a16="http://schemas.microsoft.com/office/drawing/2014/main" id="{ADBAC796-5159-D151-A504-EE297A15288A}"/>
              </a:ext>
            </a:extLst>
          </p:cNvPr>
          <p:cNvSpPr>
            <a:spLocks noGrp="1"/>
          </p:cNvSpPr>
          <p:nvPr>
            <p:ph type="sldNum" sz="quarter" idx="12"/>
          </p:nvPr>
        </p:nvSpPr>
        <p:spPr/>
        <p:txBody>
          <a:bodyPr/>
          <a:lstStyle/>
          <a:p>
            <a:fld id="{9EB268CF-8001-41B5-ADCD-92A7738D3D9B}" type="slidenum">
              <a:rPr lang="en-GB" smtClean="0"/>
              <a:t>63</a:t>
            </a:fld>
            <a:endParaRPr lang="en-GB"/>
          </a:p>
        </p:txBody>
      </p:sp>
    </p:spTree>
    <p:extLst>
      <p:ext uri="{BB962C8B-B14F-4D97-AF65-F5344CB8AC3E}">
        <p14:creationId xmlns:p14="http://schemas.microsoft.com/office/powerpoint/2010/main" val="391517953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68714C-F3CD-62BE-960B-5343D04C35A0}"/>
              </a:ext>
            </a:extLst>
          </p:cNvPr>
          <p:cNvSpPr>
            <a:spLocks noGrp="1"/>
          </p:cNvSpPr>
          <p:nvPr>
            <p:ph type="title"/>
          </p:nvPr>
        </p:nvSpPr>
        <p:spPr/>
        <p:txBody>
          <a:bodyPr/>
          <a:lstStyle/>
          <a:p>
            <a:r>
              <a:rPr lang="en-US"/>
              <a:t>Paramodulation</a:t>
            </a:r>
            <a:endParaRPr lang="en-US"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1129F9F0-6EF9-011A-C705-E6C3EA7C7D7F}"/>
                  </a:ext>
                </a:extLst>
              </p:cNvPr>
              <p:cNvSpPr>
                <a:spLocks noGrp="1"/>
              </p:cNvSpPr>
              <p:nvPr>
                <p:ph idx="1"/>
              </p:nvPr>
            </p:nvSpPr>
            <p:spPr/>
            <p:txBody>
              <a:bodyPr>
                <a:normAutofit fontScale="92500"/>
              </a:bodyPr>
              <a:lstStyle/>
              <a:p>
                <a:r>
                  <a:rPr lang="en-US" dirty="0"/>
                  <a:t>For any terms x, y, and z, where z appears somewhere in literal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𝑚</m:t>
                        </m:r>
                      </m:e>
                      <m:sub>
                        <m:r>
                          <a:rPr lang="en-US" i="1" dirty="0" smtClean="0">
                            <a:latin typeface="Cambria Math" panose="02040503050406030204" pitchFamily="18" charset="0"/>
                          </a:rPr>
                          <m:t>𝑖</m:t>
                        </m:r>
                      </m:sub>
                    </m:sSub>
                  </m:oMath>
                </a14:m>
                <a:r>
                  <a:rPr lang="en-US" dirty="0"/>
                  <a:t>, and where </a:t>
                </a:r>
                <a14:m>
                  <m:oMath xmlns:m="http://schemas.openxmlformats.org/officeDocument/2006/math">
                    <m:r>
                      <a:rPr lang="en-US" i="1" dirty="0" smtClean="0">
                        <a:latin typeface="Cambria Math" panose="02040503050406030204" pitchFamily="18" charset="0"/>
                      </a:rPr>
                      <m:t>𝑈𝑁𝐼𝐹𝑌</m:t>
                    </m:r>
                    <m:r>
                      <a:rPr lang="en-US" i="1" dirty="0">
                        <a:latin typeface="Cambria Math" panose="02040503050406030204" pitchFamily="18" charset="0"/>
                      </a:rPr>
                      <m:t>(</m:t>
                    </m:r>
                    <m:r>
                      <a:rPr lang="en-US" i="1" dirty="0">
                        <a:latin typeface="Cambria Math" panose="02040503050406030204" pitchFamily="18" charset="0"/>
                      </a:rPr>
                      <m:t>𝑥</m:t>
                    </m:r>
                    <m:r>
                      <a:rPr lang="en-US" i="1" dirty="0">
                        <a:latin typeface="Cambria Math" panose="02040503050406030204" pitchFamily="18" charset="0"/>
                      </a:rPr>
                      <m:t>, </m:t>
                    </m:r>
                    <m:r>
                      <a:rPr lang="en-US" i="1" dirty="0">
                        <a:latin typeface="Cambria Math" panose="02040503050406030204" pitchFamily="18" charset="0"/>
                      </a:rPr>
                      <m:t>𝑧</m:t>
                    </m:r>
                    <m:r>
                      <a:rPr lang="en-US" i="1" dirty="0">
                        <a:latin typeface="Cambria Math" panose="02040503050406030204" pitchFamily="18" charset="0"/>
                      </a:rPr>
                      <m:t>) = </m:t>
                    </m:r>
                    <m:r>
                      <a:rPr lang="en-US" i="1" dirty="0">
                        <a:latin typeface="Cambria Math" panose="02040503050406030204" pitchFamily="18" charset="0"/>
                      </a:rPr>
                      <m:t>𝜃</m:t>
                    </m:r>
                  </m:oMath>
                </a14:m>
                <a:endParaRPr lang="en-US" dirty="0"/>
              </a:p>
              <a:p>
                <a:pPr marL="0" indent="0">
                  <a:buNone/>
                </a:pPr>
                <a14:m>
                  <m:oMathPara xmlns:m="http://schemas.openxmlformats.org/officeDocument/2006/math">
                    <m:oMathParaPr>
                      <m:jc m:val="centerGroup"/>
                    </m:oMathParaPr>
                    <m:oMath xmlns:m="http://schemas.openxmlformats.org/officeDocument/2006/math">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𝑙</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𝑙</m:t>
                              </m:r>
                            </m:e>
                            <m:sub>
                              <m:r>
                                <a:rPr lang="en-US" b="0" i="1" smtClean="0">
                                  <a:latin typeface="Cambria Math" panose="02040503050406030204" pitchFamily="18" charset="0"/>
                                </a:rPr>
                                <m:t>𝑘</m:t>
                              </m:r>
                            </m:sub>
                          </m:sSub>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𝑚</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𝑚</m:t>
                              </m:r>
                            </m:e>
                            <m:sub>
                              <m:r>
                                <a:rPr lang="en-US" b="0" i="1" smtClean="0">
                                  <a:latin typeface="Cambria Math" panose="02040503050406030204" pitchFamily="18" charset="0"/>
                                </a:rPr>
                                <m:t>𝑛</m:t>
                              </m:r>
                            </m:sub>
                          </m:sSub>
                        </m:num>
                        <m:den>
                          <m:r>
                            <a:rPr lang="en-US" b="0" i="1" smtClean="0">
                              <a:latin typeface="Cambria Math" panose="02040503050406030204" pitchFamily="18" charset="0"/>
                            </a:rPr>
                            <m:t>𝑆𝑈𝐵</m:t>
                          </m:r>
                          <m:d>
                            <m:dPr>
                              <m:ctrlPr>
                                <a:rPr lang="en-US" b="0" i="1" smtClean="0">
                                  <a:latin typeface="Cambria Math" panose="02040503050406030204" pitchFamily="18" charset="0"/>
                                </a:rPr>
                              </m:ctrlPr>
                            </m:dPr>
                            <m:e>
                              <m:r>
                                <a:rPr lang="en-US" b="0" i="1" smtClean="0">
                                  <a:latin typeface="Cambria Math" panose="02040503050406030204" pitchFamily="18" charset="0"/>
                                </a:rPr>
                                <m:t>𝑆𝑈𝐵𝑆𝑇</m:t>
                              </m:r>
                              <m:d>
                                <m:dPr>
                                  <m:ctrlPr>
                                    <a:rPr lang="en-US" b="0" i="1" smtClean="0">
                                      <a:latin typeface="Cambria Math" panose="02040503050406030204" pitchFamily="18" charset="0"/>
                                    </a:rPr>
                                  </m:ctrlPr>
                                </m:dPr>
                                <m:e>
                                  <m:r>
                                    <a:rPr lang="en-US" b="0" i="1" smtClean="0">
                                      <a:latin typeface="Cambria Math" panose="02040503050406030204" pitchFamily="18" charset="0"/>
                                    </a:rPr>
                                    <m:t>𝜃</m:t>
                                  </m:r>
                                  <m:r>
                                    <a:rPr lang="en-US" b="0" i="1" smtClean="0">
                                      <a:latin typeface="Cambria Math" panose="02040503050406030204" pitchFamily="18" charset="0"/>
                                    </a:rPr>
                                    <m:t>,</m:t>
                                  </m:r>
                                  <m:r>
                                    <a:rPr lang="en-US" b="0" i="1" smtClean="0">
                                      <a:latin typeface="Cambria Math" panose="02040503050406030204" pitchFamily="18" charset="0"/>
                                    </a:rPr>
                                    <m:t>𝑥</m:t>
                                  </m:r>
                                </m:e>
                              </m:d>
                              <m:r>
                                <a:rPr lang="en-US" b="0" i="1" smtClean="0">
                                  <a:latin typeface="Cambria Math" panose="02040503050406030204" pitchFamily="18" charset="0"/>
                                </a:rPr>
                                <m:t>, </m:t>
                              </m:r>
                              <m:r>
                                <a:rPr lang="en-US" b="0" i="1" smtClean="0">
                                  <a:latin typeface="Cambria Math" panose="02040503050406030204" pitchFamily="18" charset="0"/>
                                </a:rPr>
                                <m:t>𝑆𝑈𝐵𝑆𝑇</m:t>
                              </m:r>
                              <m:d>
                                <m:dPr>
                                  <m:ctrlPr>
                                    <a:rPr lang="en-US" b="0" i="1" smtClean="0">
                                      <a:latin typeface="Cambria Math" panose="02040503050406030204" pitchFamily="18" charset="0"/>
                                    </a:rPr>
                                  </m:ctrlPr>
                                </m:dPr>
                                <m:e>
                                  <m:r>
                                    <a:rPr lang="en-US" b="0" i="1" smtClean="0">
                                      <a:latin typeface="Cambria Math" panose="02040503050406030204" pitchFamily="18" charset="0"/>
                                    </a:rPr>
                                    <m:t>𝜃</m:t>
                                  </m:r>
                                  <m:r>
                                    <a:rPr lang="en-US" b="0" i="1" smtClean="0">
                                      <a:latin typeface="Cambria Math" panose="02040503050406030204" pitchFamily="18" charset="0"/>
                                    </a:rPr>
                                    <m:t>, </m:t>
                                  </m:r>
                                  <m:r>
                                    <a:rPr lang="en-US" b="0" i="1" smtClean="0">
                                      <a:latin typeface="Cambria Math" panose="02040503050406030204" pitchFamily="18" charset="0"/>
                                    </a:rPr>
                                    <m:t>𝑦</m:t>
                                  </m:r>
                                </m:e>
                              </m:d>
                              <m:r>
                                <a:rPr lang="en-US" b="0" i="1" smtClean="0">
                                  <a:latin typeface="Cambria Math" panose="02040503050406030204" pitchFamily="18" charset="0"/>
                                </a:rPr>
                                <m:t>, </m:t>
                              </m:r>
                              <m:r>
                                <a:rPr lang="en-US" b="0" i="1" smtClean="0">
                                  <a:latin typeface="Cambria Math" panose="02040503050406030204" pitchFamily="18" charset="0"/>
                                </a:rPr>
                                <m:t>𝑆𝑈𝐵𝑆𝑇</m:t>
                              </m:r>
                              <m:d>
                                <m:dPr>
                                  <m:ctrlPr>
                                    <a:rPr lang="en-US" b="0" i="1" smtClean="0">
                                      <a:latin typeface="Cambria Math" panose="02040503050406030204" pitchFamily="18" charset="0"/>
                                    </a:rPr>
                                  </m:ctrlPr>
                                </m:dPr>
                                <m:e>
                                  <m:r>
                                    <a:rPr lang="en-US" b="0" i="1" smtClean="0">
                                      <a:latin typeface="Cambria Math" panose="02040503050406030204" pitchFamily="18" charset="0"/>
                                    </a:rPr>
                                    <m:t>𝜃</m:t>
                                  </m:r>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𝑙</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𝑙</m:t>
                                      </m:r>
                                    </m:e>
                                    <m:sub>
                                      <m:r>
                                        <a:rPr lang="en-US" b="0" i="1" smtClean="0">
                                          <a:latin typeface="Cambria Math" panose="02040503050406030204" pitchFamily="18" charset="0"/>
                                        </a:rPr>
                                        <m:t>𝑘</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𝑚</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𝑚</m:t>
                                      </m:r>
                                    </m:e>
                                    <m:sub>
                                      <m:r>
                                        <a:rPr lang="en-US" b="0" i="1" smtClean="0">
                                          <a:latin typeface="Cambria Math" panose="02040503050406030204" pitchFamily="18" charset="0"/>
                                        </a:rPr>
                                        <m:t>𝑛</m:t>
                                      </m:r>
                                    </m:sub>
                                  </m:sSub>
                                </m:e>
                              </m:d>
                            </m:e>
                          </m:d>
                        </m:den>
                      </m:f>
                    </m:oMath>
                  </m:oMathPara>
                </a14:m>
                <a:endParaRPr lang="en-US" b="0" dirty="0"/>
              </a:p>
              <a:p>
                <a:pPr marL="0" indent="0">
                  <a:buNone/>
                </a:pPr>
                <a:endParaRPr lang="en-US" dirty="0"/>
              </a:p>
              <a:p>
                <a:r>
                  <a:rPr lang="en-US" dirty="0"/>
                  <a:t>For example, from </a:t>
                </a:r>
                <a14:m>
                  <m:oMath xmlns:m="http://schemas.openxmlformats.org/officeDocument/2006/math">
                    <m:r>
                      <a:rPr lang="en-US" i="1" dirty="0" smtClean="0">
                        <a:latin typeface="Cambria Math" panose="02040503050406030204" pitchFamily="18" charset="0"/>
                      </a:rPr>
                      <m:t>𝑃</m:t>
                    </m:r>
                    <m:r>
                      <a:rPr lang="en-US" i="1" dirty="0" smtClean="0">
                        <a:latin typeface="Cambria Math" panose="02040503050406030204" pitchFamily="18" charset="0"/>
                      </a:rPr>
                      <m:t> (</m:t>
                    </m:r>
                    <m:r>
                      <a:rPr lang="en-US" i="1" dirty="0">
                        <a:latin typeface="Cambria Math" panose="02040503050406030204" pitchFamily="18" charset="0"/>
                      </a:rPr>
                      <m:t>𝐹</m:t>
                    </m:r>
                    <m:r>
                      <a:rPr lang="en-US" i="1" dirty="0">
                        <a:latin typeface="Cambria Math" panose="02040503050406030204" pitchFamily="18" charset="0"/>
                      </a:rPr>
                      <m:t> (</m:t>
                    </m:r>
                    <m:r>
                      <a:rPr lang="en-US" i="1" dirty="0">
                        <a:latin typeface="Cambria Math" panose="02040503050406030204" pitchFamily="18" charset="0"/>
                      </a:rPr>
                      <m:t>𝑥</m:t>
                    </m:r>
                    <m:r>
                      <a:rPr lang="en-US" i="1" dirty="0">
                        <a:latin typeface="Cambria Math" panose="02040503050406030204" pitchFamily="18" charset="0"/>
                      </a:rPr>
                      <m:t>, </m:t>
                    </m:r>
                    <m:r>
                      <a:rPr lang="en-US" i="1" dirty="0">
                        <a:latin typeface="Cambria Math" panose="02040503050406030204" pitchFamily="18" charset="0"/>
                      </a:rPr>
                      <m:t>𝐵</m:t>
                    </m:r>
                    <m:r>
                      <a:rPr lang="en-US" i="1" dirty="0">
                        <a:latin typeface="Cambria Math" panose="02040503050406030204" pitchFamily="18" charset="0"/>
                      </a:rPr>
                      <m:t>), </m:t>
                    </m:r>
                    <m:r>
                      <a:rPr lang="en-US" i="1" dirty="0">
                        <a:latin typeface="Cambria Math" panose="02040503050406030204" pitchFamily="18" charset="0"/>
                      </a:rPr>
                      <m:t>𝑥</m:t>
                    </m:r>
                    <m:r>
                      <a:rPr lang="en-US" i="1" dirty="0">
                        <a:latin typeface="Cambria Math" panose="02040503050406030204" pitchFamily="18" charset="0"/>
                      </a:rPr>
                      <m:t>) ∨ </m:t>
                    </m:r>
                    <m:r>
                      <a:rPr lang="en-US" i="1" dirty="0">
                        <a:latin typeface="Cambria Math" panose="02040503050406030204" pitchFamily="18" charset="0"/>
                      </a:rPr>
                      <m:t>𝑄</m:t>
                    </m:r>
                    <m:r>
                      <a:rPr lang="en-US" i="1" dirty="0">
                        <a:latin typeface="Cambria Math" panose="02040503050406030204" pitchFamily="18" charset="0"/>
                      </a:rPr>
                      <m:t>(</m:t>
                    </m:r>
                    <m:r>
                      <a:rPr lang="en-US" i="1" dirty="0">
                        <a:latin typeface="Cambria Math" panose="02040503050406030204" pitchFamily="18" charset="0"/>
                      </a:rPr>
                      <m:t>𝑥</m:t>
                    </m:r>
                    <m:r>
                      <a:rPr lang="en-US" i="1" dirty="0">
                        <a:latin typeface="Cambria Math" panose="02040503050406030204" pitchFamily="18" charset="0"/>
                      </a:rPr>
                      <m:t>)</m:t>
                    </m:r>
                  </m:oMath>
                </a14:m>
                <a:r>
                  <a:rPr lang="en-US" dirty="0"/>
                  <a:t> and </a:t>
                </a:r>
                <a14:m>
                  <m:oMath xmlns:m="http://schemas.openxmlformats.org/officeDocument/2006/math">
                    <m:r>
                      <a:rPr lang="en-US" i="1" dirty="0" smtClean="0">
                        <a:latin typeface="Cambria Math" panose="02040503050406030204" pitchFamily="18" charset="0"/>
                      </a:rPr>
                      <m:t>𝐹</m:t>
                    </m:r>
                    <m:r>
                      <a:rPr lang="en-US" i="1" dirty="0" smtClean="0">
                        <a:latin typeface="Cambria Math" panose="02040503050406030204" pitchFamily="18" charset="0"/>
                      </a:rPr>
                      <m:t> </m:t>
                    </m:r>
                    <m:d>
                      <m:dPr>
                        <m:ctrlPr>
                          <a:rPr lang="en-US" i="1" dirty="0" smtClean="0">
                            <a:latin typeface="Cambria Math" panose="02040503050406030204" pitchFamily="18" charset="0"/>
                          </a:rPr>
                        </m:ctrlPr>
                      </m:dPr>
                      <m:e>
                        <m:r>
                          <a:rPr lang="en-US" i="1" dirty="0" smtClean="0">
                            <a:latin typeface="Cambria Math" panose="02040503050406030204" pitchFamily="18" charset="0"/>
                          </a:rPr>
                          <m:t>𝐴</m:t>
                        </m:r>
                        <m:r>
                          <a:rPr lang="en-US" i="1" dirty="0" smtClean="0">
                            <a:latin typeface="Cambria Math" panose="02040503050406030204" pitchFamily="18" charset="0"/>
                          </a:rPr>
                          <m:t>, </m:t>
                        </m:r>
                        <m:r>
                          <a:rPr lang="en-US" i="1" dirty="0" smtClean="0">
                            <a:latin typeface="Cambria Math" panose="02040503050406030204" pitchFamily="18" charset="0"/>
                          </a:rPr>
                          <m:t>𝑦</m:t>
                        </m:r>
                      </m:e>
                    </m:d>
                    <m:r>
                      <a:rPr lang="en-US" i="1" dirty="0" smtClean="0">
                        <a:latin typeface="Cambria Math" panose="02040503050406030204" pitchFamily="18" charset="0"/>
                      </a:rPr>
                      <m:t>= </m:t>
                    </m:r>
                    <m:r>
                      <a:rPr lang="en-US" i="1" dirty="0" smtClean="0">
                        <a:latin typeface="Cambria Math" panose="02040503050406030204" pitchFamily="18" charset="0"/>
                      </a:rPr>
                      <m:t>𝑦</m:t>
                    </m:r>
                    <m:r>
                      <a:rPr lang="en-US" i="1" dirty="0" smtClean="0">
                        <a:latin typeface="Cambria Math" panose="02040503050406030204" pitchFamily="18" charset="0"/>
                      </a:rPr>
                      <m:t> ∨ </m:t>
                    </m:r>
                    <m:r>
                      <a:rPr lang="en-US" i="1" dirty="0" smtClean="0">
                        <a:latin typeface="Cambria Math" panose="02040503050406030204" pitchFamily="18" charset="0"/>
                      </a:rPr>
                      <m:t>𝑅</m:t>
                    </m:r>
                    <m:d>
                      <m:dPr>
                        <m:ctrlPr>
                          <a:rPr lang="en-US" i="1" dirty="0" smtClean="0">
                            <a:latin typeface="Cambria Math" panose="02040503050406030204" pitchFamily="18" charset="0"/>
                          </a:rPr>
                        </m:ctrlPr>
                      </m:dPr>
                      <m:e>
                        <m:r>
                          <a:rPr lang="en-US" i="1" dirty="0" smtClean="0">
                            <a:latin typeface="Cambria Math" panose="02040503050406030204" pitchFamily="18" charset="0"/>
                          </a:rPr>
                          <m:t>𝑦</m:t>
                        </m:r>
                      </m:e>
                    </m:d>
                  </m:oMath>
                </a14:m>
                <a:endParaRPr lang="en-US" b="0" dirty="0"/>
              </a:p>
              <a:p>
                <a:r>
                  <a:rPr lang="en-US" dirty="0"/>
                  <a:t>we have </a:t>
                </a:r>
                <a14:m>
                  <m:oMath xmlns:m="http://schemas.openxmlformats.org/officeDocument/2006/math">
                    <m:r>
                      <a:rPr lang="en-US" i="1" dirty="0" smtClean="0">
                        <a:latin typeface="Cambria Math" panose="02040503050406030204" pitchFamily="18" charset="0"/>
                      </a:rPr>
                      <m:t>𝜃</m:t>
                    </m:r>
                    <m:r>
                      <a:rPr lang="en-US" i="1" dirty="0" smtClean="0">
                        <a:latin typeface="Cambria Math" panose="02040503050406030204" pitchFamily="18" charset="0"/>
                      </a:rPr>
                      <m:t> = </m:t>
                    </m:r>
                    <m:r>
                      <a:rPr lang="en-US" i="1" dirty="0" smtClean="0">
                        <a:latin typeface="Cambria Math" panose="02040503050406030204" pitchFamily="18" charset="0"/>
                      </a:rPr>
                      <m:t>𝑈𝑁𝐼𝐹𝑌</m:t>
                    </m:r>
                    <m:r>
                      <a:rPr lang="en-US" i="1" dirty="0">
                        <a:latin typeface="Cambria Math" panose="02040503050406030204" pitchFamily="18" charset="0"/>
                      </a:rPr>
                      <m:t>(</m:t>
                    </m:r>
                    <m:r>
                      <a:rPr lang="en-US" i="1" dirty="0">
                        <a:latin typeface="Cambria Math" panose="02040503050406030204" pitchFamily="18" charset="0"/>
                      </a:rPr>
                      <m:t>𝐹</m:t>
                    </m:r>
                    <m:r>
                      <a:rPr lang="en-US" i="1" dirty="0">
                        <a:latin typeface="Cambria Math" panose="02040503050406030204" pitchFamily="18" charset="0"/>
                      </a:rPr>
                      <m:t> (</m:t>
                    </m:r>
                    <m:r>
                      <a:rPr lang="en-US" i="1" dirty="0">
                        <a:latin typeface="Cambria Math" panose="02040503050406030204" pitchFamily="18" charset="0"/>
                      </a:rPr>
                      <m:t>𝐴</m:t>
                    </m:r>
                    <m:r>
                      <a:rPr lang="en-US" i="1" dirty="0">
                        <a:latin typeface="Cambria Math" panose="02040503050406030204" pitchFamily="18" charset="0"/>
                      </a:rPr>
                      <m:t>, </m:t>
                    </m:r>
                    <m:r>
                      <a:rPr lang="en-US" i="1" dirty="0">
                        <a:latin typeface="Cambria Math" panose="02040503050406030204" pitchFamily="18" charset="0"/>
                      </a:rPr>
                      <m:t>𝑦</m:t>
                    </m:r>
                    <m:r>
                      <a:rPr lang="en-US" i="1" dirty="0">
                        <a:latin typeface="Cambria Math" panose="02040503050406030204" pitchFamily="18" charset="0"/>
                      </a:rPr>
                      <m:t>), </m:t>
                    </m:r>
                    <m:r>
                      <a:rPr lang="en-US" i="1" dirty="0">
                        <a:latin typeface="Cambria Math" panose="02040503050406030204" pitchFamily="18" charset="0"/>
                      </a:rPr>
                      <m:t>𝐹</m:t>
                    </m:r>
                    <m:r>
                      <a:rPr lang="en-US" i="1" dirty="0">
                        <a:latin typeface="Cambria Math" panose="02040503050406030204" pitchFamily="18" charset="0"/>
                      </a:rPr>
                      <m:t> (</m:t>
                    </m:r>
                    <m:r>
                      <a:rPr lang="en-US" i="1" dirty="0">
                        <a:latin typeface="Cambria Math" panose="02040503050406030204" pitchFamily="18" charset="0"/>
                      </a:rPr>
                      <m:t>𝑥</m:t>
                    </m:r>
                    <m:r>
                      <a:rPr lang="en-US" i="1" dirty="0">
                        <a:latin typeface="Cambria Math" panose="02040503050406030204" pitchFamily="18" charset="0"/>
                      </a:rPr>
                      <m:t>, </m:t>
                    </m:r>
                    <m:r>
                      <a:rPr lang="en-US" i="1" dirty="0">
                        <a:latin typeface="Cambria Math" panose="02040503050406030204" pitchFamily="18" charset="0"/>
                      </a:rPr>
                      <m:t>𝐵</m:t>
                    </m:r>
                    <m:r>
                      <a:rPr lang="en-US" i="1" dirty="0">
                        <a:latin typeface="Cambria Math" panose="02040503050406030204" pitchFamily="18" charset="0"/>
                      </a:rPr>
                      <m:t>)) = {</m:t>
                    </m:r>
                    <m:r>
                      <a:rPr lang="en-US" i="1" dirty="0">
                        <a:latin typeface="Cambria Math" panose="02040503050406030204" pitchFamily="18" charset="0"/>
                      </a:rPr>
                      <m:t>𝑥</m:t>
                    </m:r>
                    <m:r>
                      <a:rPr lang="en-US" i="1" dirty="0">
                        <a:latin typeface="Cambria Math" panose="02040503050406030204" pitchFamily="18" charset="0"/>
                      </a:rPr>
                      <m:t>/</m:t>
                    </m:r>
                    <m:r>
                      <a:rPr lang="en-US" i="1" dirty="0">
                        <a:latin typeface="Cambria Math" panose="02040503050406030204" pitchFamily="18" charset="0"/>
                      </a:rPr>
                      <m:t>𝐴</m:t>
                    </m:r>
                    <m:r>
                      <a:rPr lang="en-US" i="1" dirty="0">
                        <a:latin typeface="Cambria Math" panose="02040503050406030204" pitchFamily="18" charset="0"/>
                      </a:rPr>
                      <m:t>, </m:t>
                    </m:r>
                    <m:r>
                      <a:rPr lang="en-US" i="1" dirty="0">
                        <a:latin typeface="Cambria Math" panose="02040503050406030204" pitchFamily="18" charset="0"/>
                      </a:rPr>
                      <m:t>𝑦</m:t>
                    </m:r>
                    <m:r>
                      <a:rPr lang="en-US" i="1" dirty="0">
                        <a:latin typeface="Cambria Math" panose="02040503050406030204" pitchFamily="18" charset="0"/>
                      </a:rPr>
                      <m:t>/</m:t>
                    </m:r>
                    <m:r>
                      <a:rPr lang="en-US" i="1" dirty="0">
                        <a:latin typeface="Cambria Math" panose="02040503050406030204" pitchFamily="18" charset="0"/>
                      </a:rPr>
                      <m:t>𝐵</m:t>
                    </m:r>
                    <m:r>
                      <a:rPr lang="en-US" i="1" dirty="0">
                        <a:latin typeface="Cambria Math" panose="02040503050406030204" pitchFamily="18" charset="0"/>
                      </a:rPr>
                      <m:t>}, </m:t>
                    </m:r>
                  </m:oMath>
                </a14:m>
                <a:r>
                  <a:rPr lang="en-US" dirty="0"/>
                  <a:t>and we can conclude by paramodulation the sentence</a:t>
                </a:r>
                <a:br>
                  <a:rPr lang="en-US" dirty="0"/>
                </a:br>
                <a14:m>
                  <m:oMath xmlns:m="http://schemas.openxmlformats.org/officeDocument/2006/math">
                    <m:r>
                      <a:rPr lang="en-US" i="1" dirty="0" smtClean="0">
                        <a:latin typeface="Cambria Math" panose="02040503050406030204" pitchFamily="18" charset="0"/>
                      </a:rPr>
                      <m:t>𝑃</m:t>
                    </m:r>
                    <m:r>
                      <a:rPr lang="en-US" i="1" dirty="0" smtClean="0">
                        <a:latin typeface="Cambria Math" panose="02040503050406030204" pitchFamily="18" charset="0"/>
                      </a:rPr>
                      <m:t> (</m:t>
                    </m:r>
                    <m:r>
                      <a:rPr lang="en-US" i="1" dirty="0">
                        <a:latin typeface="Cambria Math" panose="02040503050406030204" pitchFamily="18" charset="0"/>
                      </a:rPr>
                      <m:t>𝐵</m:t>
                    </m:r>
                    <m:r>
                      <a:rPr lang="en-US" i="1" dirty="0">
                        <a:latin typeface="Cambria Math" panose="02040503050406030204" pitchFamily="18" charset="0"/>
                      </a:rPr>
                      <m:t>, </m:t>
                    </m:r>
                    <m:r>
                      <a:rPr lang="en-US" i="1" dirty="0">
                        <a:latin typeface="Cambria Math" panose="02040503050406030204" pitchFamily="18" charset="0"/>
                      </a:rPr>
                      <m:t>𝐴</m:t>
                    </m:r>
                    <m:r>
                      <a:rPr lang="en-US" i="1" dirty="0">
                        <a:latin typeface="Cambria Math" panose="02040503050406030204" pitchFamily="18" charset="0"/>
                      </a:rPr>
                      <m:t>) ∨ </m:t>
                    </m:r>
                    <m:r>
                      <a:rPr lang="en-US" i="1" dirty="0">
                        <a:latin typeface="Cambria Math" panose="02040503050406030204" pitchFamily="18" charset="0"/>
                      </a:rPr>
                      <m:t>𝑄</m:t>
                    </m:r>
                    <m:r>
                      <a:rPr lang="en-US" i="1" dirty="0">
                        <a:latin typeface="Cambria Math" panose="02040503050406030204" pitchFamily="18" charset="0"/>
                      </a:rPr>
                      <m:t>(</m:t>
                    </m:r>
                    <m:r>
                      <a:rPr lang="en-US" i="1" dirty="0">
                        <a:latin typeface="Cambria Math" panose="02040503050406030204" pitchFamily="18" charset="0"/>
                      </a:rPr>
                      <m:t>𝐴</m:t>
                    </m:r>
                    <m:r>
                      <a:rPr lang="en-US" i="1" dirty="0">
                        <a:latin typeface="Cambria Math" panose="02040503050406030204" pitchFamily="18" charset="0"/>
                      </a:rPr>
                      <m:t>) ∨ </m:t>
                    </m:r>
                    <m:r>
                      <a:rPr lang="en-US" i="1" dirty="0">
                        <a:latin typeface="Cambria Math" panose="02040503050406030204" pitchFamily="18" charset="0"/>
                      </a:rPr>
                      <m:t>𝑅</m:t>
                    </m:r>
                    <m:r>
                      <a:rPr lang="en-US" i="1" dirty="0">
                        <a:latin typeface="Cambria Math" panose="02040503050406030204" pitchFamily="18" charset="0"/>
                      </a:rPr>
                      <m:t>(</m:t>
                    </m:r>
                    <m:r>
                      <a:rPr lang="en-US" i="1" dirty="0">
                        <a:latin typeface="Cambria Math" panose="02040503050406030204" pitchFamily="18" charset="0"/>
                      </a:rPr>
                      <m:t>𝐵</m:t>
                    </m:r>
                    <m:r>
                      <a:rPr lang="en-US" i="1" dirty="0">
                        <a:latin typeface="Cambria Math" panose="02040503050406030204" pitchFamily="18" charset="0"/>
                      </a:rPr>
                      <m:t>)</m:t>
                    </m:r>
                  </m:oMath>
                </a14:m>
                <a:endParaRPr lang="en-US" dirty="0"/>
              </a:p>
            </p:txBody>
          </p:sp>
        </mc:Choice>
        <mc:Fallback>
          <p:sp>
            <p:nvSpPr>
              <p:cNvPr id="3" name="Content Placeholder 2">
                <a:extLst>
                  <a:ext uri="{FF2B5EF4-FFF2-40B4-BE49-F238E27FC236}">
                    <a16:creationId xmlns:a16="http://schemas.microsoft.com/office/drawing/2014/main" id="{1129F9F0-6EF9-011A-C705-E6C3EA7C7D7F}"/>
                  </a:ext>
                </a:extLst>
              </p:cNvPr>
              <p:cNvSpPr>
                <a:spLocks noGrp="1" noRot="1" noChangeAspect="1" noMove="1" noResize="1" noEditPoints="1" noAdjustHandles="1" noChangeArrowheads="1" noChangeShapeType="1" noTextEdit="1"/>
              </p:cNvSpPr>
              <p:nvPr>
                <p:ph idx="1"/>
              </p:nvPr>
            </p:nvSpPr>
            <p:spPr>
              <a:blipFill>
                <a:blip r:embed="rId2"/>
                <a:stretch>
                  <a:fillRect l="-928" t="-2241"/>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C49ABBF8-7186-FF47-8129-71D2BB6FE9CA}"/>
              </a:ext>
            </a:extLst>
          </p:cNvPr>
          <p:cNvSpPr>
            <a:spLocks noGrp="1"/>
          </p:cNvSpPr>
          <p:nvPr>
            <p:ph type="dt" sz="half" idx="10"/>
          </p:nvPr>
        </p:nvSpPr>
        <p:spPr/>
        <p:txBody>
          <a:bodyPr/>
          <a:lstStyle/>
          <a:p>
            <a:fld id="{1332600A-A7B8-4674-AAE3-A37177B883E5}" type="datetime1">
              <a:rPr lang="en-GB" smtClean="0"/>
              <a:t>20/10/2025</a:t>
            </a:fld>
            <a:endParaRPr lang="en-GB"/>
          </a:p>
        </p:txBody>
      </p:sp>
      <p:sp>
        <p:nvSpPr>
          <p:cNvPr id="5" name="Slide Number Placeholder 4">
            <a:extLst>
              <a:ext uri="{FF2B5EF4-FFF2-40B4-BE49-F238E27FC236}">
                <a16:creationId xmlns:a16="http://schemas.microsoft.com/office/drawing/2014/main" id="{11109357-C171-4905-3DDF-5C39B0A0BECE}"/>
              </a:ext>
            </a:extLst>
          </p:cNvPr>
          <p:cNvSpPr>
            <a:spLocks noGrp="1"/>
          </p:cNvSpPr>
          <p:nvPr>
            <p:ph type="sldNum" sz="quarter" idx="12"/>
          </p:nvPr>
        </p:nvSpPr>
        <p:spPr/>
        <p:txBody>
          <a:bodyPr/>
          <a:lstStyle/>
          <a:p>
            <a:fld id="{9EB268CF-8001-41B5-ADCD-92A7738D3D9B}" type="slidenum">
              <a:rPr lang="en-GB" smtClean="0"/>
              <a:t>64</a:t>
            </a:fld>
            <a:endParaRPr lang="en-GB"/>
          </a:p>
        </p:txBody>
      </p:sp>
    </p:spTree>
    <p:extLst>
      <p:ext uri="{BB962C8B-B14F-4D97-AF65-F5344CB8AC3E}">
        <p14:creationId xmlns:p14="http://schemas.microsoft.com/office/powerpoint/2010/main" val="251996971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DE4FAD-0025-9A2F-FE8B-1CC51E064CAC}"/>
              </a:ext>
            </a:extLst>
          </p:cNvPr>
          <p:cNvSpPr>
            <a:spLocks noGrp="1"/>
          </p:cNvSpPr>
          <p:nvPr>
            <p:ph type="title"/>
          </p:nvPr>
        </p:nvSpPr>
        <p:spPr/>
        <p:txBody>
          <a:bodyPr/>
          <a:lstStyle/>
          <a:p>
            <a:r>
              <a:rPr lang="en-US" dirty="0"/>
              <a:t>Resolution Strategies</a:t>
            </a:r>
          </a:p>
        </p:txBody>
      </p:sp>
      <p:sp>
        <p:nvSpPr>
          <p:cNvPr id="3" name="Content Placeholder 2">
            <a:extLst>
              <a:ext uri="{FF2B5EF4-FFF2-40B4-BE49-F238E27FC236}">
                <a16:creationId xmlns:a16="http://schemas.microsoft.com/office/drawing/2014/main" id="{1D24513A-3395-28EF-2BA4-13DDD09F9DBC}"/>
              </a:ext>
            </a:extLst>
          </p:cNvPr>
          <p:cNvSpPr>
            <a:spLocks noGrp="1"/>
          </p:cNvSpPr>
          <p:nvPr>
            <p:ph idx="1"/>
          </p:nvPr>
        </p:nvSpPr>
        <p:spPr/>
        <p:txBody>
          <a:bodyPr/>
          <a:lstStyle/>
          <a:p>
            <a:r>
              <a:rPr lang="en-US" dirty="0"/>
              <a:t>Unit Preference</a:t>
            </a:r>
          </a:p>
          <a:p>
            <a:pPr lvl="1"/>
            <a:r>
              <a:rPr lang="en-US" dirty="0"/>
              <a:t>Use sentence that has a single literal.</a:t>
            </a:r>
          </a:p>
          <a:p>
            <a:pPr lvl="1"/>
            <a:r>
              <a:rPr lang="en-US" dirty="0"/>
              <a:t>Always produces shorter clause.</a:t>
            </a:r>
          </a:p>
          <a:p>
            <a:r>
              <a:rPr lang="en-US" dirty="0"/>
              <a:t>Set of Support</a:t>
            </a:r>
          </a:p>
          <a:p>
            <a:pPr lvl="1"/>
            <a:r>
              <a:rPr lang="en-US" dirty="0"/>
              <a:t>It is effective to try to eliminate some potential resolutions.</a:t>
            </a:r>
          </a:p>
          <a:p>
            <a:pPr lvl="1"/>
            <a:r>
              <a:rPr lang="en-US" dirty="0"/>
              <a:t>We start with a small set and add the resolvents into it.</a:t>
            </a:r>
          </a:p>
          <a:p>
            <a:pPr lvl="1"/>
            <a:r>
              <a:rPr lang="en-US" dirty="0"/>
              <a:t>Need to be careful with the set selection.</a:t>
            </a:r>
          </a:p>
        </p:txBody>
      </p:sp>
      <p:sp>
        <p:nvSpPr>
          <p:cNvPr id="4" name="Date Placeholder 3">
            <a:extLst>
              <a:ext uri="{FF2B5EF4-FFF2-40B4-BE49-F238E27FC236}">
                <a16:creationId xmlns:a16="http://schemas.microsoft.com/office/drawing/2014/main" id="{711AA002-0704-D0E8-649D-5A4ADE339D9C}"/>
              </a:ext>
            </a:extLst>
          </p:cNvPr>
          <p:cNvSpPr>
            <a:spLocks noGrp="1"/>
          </p:cNvSpPr>
          <p:nvPr>
            <p:ph type="dt" sz="half" idx="10"/>
          </p:nvPr>
        </p:nvSpPr>
        <p:spPr/>
        <p:txBody>
          <a:bodyPr/>
          <a:lstStyle/>
          <a:p>
            <a:fld id="{1332600A-A7B8-4674-AAE3-A37177B883E5}" type="datetime1">
              <a:rPr lang="en-GB" smtClean="0"/>
              <a:t>20/10/2025</a:t>
            </a:fld>
            <a:endParaRPr lang="en-GB"/>
          </a:p>
        </p:txBody>
      </p:sp>
      <p:sp>
        <p:nvSpPr>
          <p:cNvPr id="5" name="Slide Number Placeholder 4">
            <a:extLst>
              <a:ext uri="{FF2B5EF4-FFF2-40B4-BE49-F238E27FC236}">
                <a16:creationId xmlns:a16="http://schemas.microsoft.com/office/drawing/2014/main" id="{9747E057-6ABB-E21A-8E82-A45F631219AB}"/>
              </a:ext>
            </a:extLst>
          </p:cNvPr>
          <p:cNvSpPr>
            <a:spLocks noGrp="1"/>
          </p:cNvSpPr>
          <p:nvPr>
            <p:ph type="sldNum" sz="quarter" idx="12"/>
          </p:nvPr>
        </p:nvSpPr>
        <p:spPr/>
        <p:txBody>
          <a:bodyPr/>
          <a:lstStyle/>
          <a:p>
            <a:fld id="{9EB268CF-8001-41B5-ADCD-92A7738D3D9B}" type="slidenum">
              <a:rPr lang="en-GB" smtClean="0"/>
              <a:t>65</a:t>
            </a:fld>
            <a:endParaRPr lang="en-GB"/>
          </a:p>
        </p:txBody>
      </p:sp>
    </p:spTree>
    <p:extLst>
      <p:ext uri="{BB962C8B-B14F-4D97-AF65-F5344CB8AC3E}">
        <p14:creationId xmlns:p14="http://schemas.microsoft.com/office/powerpoint/2010/main" val="377774595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69B08E-A72A-BEAA-095B-7A811267A177}"/>
              </a:ext>
            </a:extLst>
          </p:cNvPr>
          <p:cNvSpPr>
            <a:spLocks noGrp="1"/>
          </p:cNvSpPr>
          <p:nvPr>
            <p:ph type="title"/>
          </p:nvPr>
        </p:nvSpPr>
        <p:spPr/>
        <p:txBody>
          <a:bodyPr/>
          <a:lstStyle/>
          <a:p>
            <a:r>
              <a:rPr lang="en-US" dirty="0"/>
              <a:t>Resolution Strategies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09FE70DB-A8D1-1539-4045-ACA7CA18E3C8}"/>
                  </a:ext>
                </a:extLst>
              </p:cNvPr>
              <p:cNvSpPr>
                <a:spLocks noGrp="1"/>
              </p:cNvSpPr>
              <p:nvPr>
                <p:ph idx="1"/>
              </p:nvPr>
            </p:nvSpPr>
            <p:spPr/>
            <p:txBody>
              <a:bodyPr/>
              <a:lstStyle/>
              <a:p>
                <a:r>
                  <a:rPr lang="en-US" dirty="0"/>
                  <a:t>Input Resolution</a:t>
                </a:r>
              </a:p>
              <a:p>
                <a:pPr lvl="1"/>
                <a:r>
                  <a:rPr lang="en-US" dirty="0"/>
                  <a:t>Every resolution combines one of the input sentences.</a:t>
                </a:r>
              </a:p>
              <a:p>
                <a:pPr lvl="2"/>
                <a:r>
                  <a:rPr lang="en-US" dirty="0"/>
                  <a:t>From the query or the KB.</a:t>
                </a:r>
              </a:p>
              <a:p>
                <a:endParaRPr lang="en-US" dirty="0"/>
              </a:p>
              <a:p>
                <a:r>
                  <a:rPr lang="en-US" dirty="0"/>
                  <a:t>Subsumption</a:t>
                </a:r>
              </a:p>
              <a:p>
                <a:pPr lvl="1"/>
                <a:r>
                  <a:rPr lang="en-US" dirty="0"/>
                  <a:t>Eliminate all sentences that are subsumed by an existing sentence.</a:t>
                </a:r>
              </a:p>
              <a:p>
                <a:pPr lvl="1"/>
                <a:r>
                  <a:rPr lang="en-US" dirty="0"/>
                  <a:t>If </a:t>
                </a:r>
                <a14:m>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oMath>
                </a14:m>
                <a:r>
                  <a:rPr lang="en-US" dirty="0"/>
                  <a:t> is in KB, no need to add </a:t>
                </a:r>
                <a14:m>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e>
                    </m:d>
                    <m:r>
                      <a:rPr lang="en-US" b="0" i="1" smtClean="0">
                        <a:latin typeface="Cambria Math" panose="02040503050406030204" pitchFamily="18" charset="0"/>
                      </a:rPr>
                      <m:t>  </m:t>
                    </m:r>
                    <m:r>
                      <a:rPr lang="en-US" b="0" i="1" smtClean="0">
                        <a:latin typeface="Cambria Math" panose="02040503050406030204" pitchFamily="18" charset="0"/>
                      </a:rPr>
                      <m:t>𝑜𝑟</m:t>
                    </m:r>
                    <m:r>
                      <a:rPr lang="en-US" b="0" i="1" smtClean="0">
                        <a:latin typeface="Cambria Math" panose="02040503050406030204" pitchFamily="18" charset="0"/>
                      </a:rPr>
                      <m:t> </m:t>
                    </m:r>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e>
                    </m:d>
                    <m:r>
                      <a:rPr lang="en-US" b="0" i="1" smtClean="0">
                        <a:latin typeface="Cambria Math" panose="02040503050406030204" pitchFamily="18" charset="0"/>
                      </a:rPr>
                      <m:t>∨</m:t>
                    </m:r>
                    <m:r>
                      <a:rPr lang="en-US" b="0" i="1" smtClean="0">
                        <a:latin typeface="Cambria Math" panose="02040503050406030204" pitchFamily="18" charset="0"/>
                      </a:rPr>
                      <m:t>𝑄</m:t>
                    </m:r>
                    <m:d>
                      <m:dPr>
                        <m:ctrlPr>
                          <a:rPr lang="en-US" b="0" i="1" smtClean="0">
                            <a:latin typeface="Cambria Math" panose="02040503050406030204" pitchFamily="18" charset="0"/>
                          </a:rPr>
                        </m:ctrlPr>
                      </m:dPr>
                      <m:e>
                        <m:r>
                          <a:rPr lang="en-US" b="0" i="1" smtClean="0">
                            <a:latin typeface="Cambria Math" panose="02040503050406030204" pitchFamily="18" charset="0"/>
                          </a:rPr>
                          <m:t>𝐵</m:t>
                        </m:r>
                      </m:e>
                    </m:d>
                  </m:oMath>
                </a14:m>
                <a:endParaRPr lang="en-US" b="0" dirty="0"/>
              </a:p>
              <a:p>
                <a:pPr lvl="1"/>
                <a:r>
                  <a:rPr lang="en-US" dirty="0"/>
                  <a:t>Keep the KB small.</a:t>
                </a:r>
              </a:p>
            </p:txBody>
          </p:sp>
        </mc:Choice>
        <mc:Fallback>
          <p:sp>
            <p:nvSpPr>
              <p:cNvPr id="3" name="Content Placeholder 2">
                <a:extLst>
                  <a:ext uri="{FF2B5EF4-FFF2-40B4-BE49-F238E27FC236}">
                    <a16:creationId xmlns:a16="http://schemas.microsoft.com/office/drawing/2014/main" id="{09FE70DB-A8D1-1539-4045-ACA7CA18E3C8}"/>
                  </a:ext>
                </a:extLst>
              </p:cNvPr>
              <p:cNvSpPr>
                <a:spLocks noGrp="1" noRot="1" noChangeAspect="1" noMove="1" noResize="1" noEditPoints="1" noAdjustHandles="1" noChangeArrowheads="1" noChangeShapeType="1" noTextEdit="1"/>
              </p:cNvSpPr>
              <p:nvPr>
                <p:ph idx="1"/>
              </p:nvPr>
            </p:nvSpPr>
            <p:spPr>
              <a:blipFill>
                <a:blip r:embed="rId2"/>
                <a:stretch>
                  <a:fillRect l="-1043" t="-2381"/>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66FD339D-FDAE-8B56-D7A0-E747EB0C7AF5}"/>
              </a:ext>
            </a:extLst>
          </p:cNvPr>
          <p:cNvSpPr>
            <a:spLocks noGrp="1"/>
          </p:cNvSpPr>
          <p:nvPr>
            <p:ph type="dt" sz="half" idx="10"/>
          </p:nvPr>
        </p:nvSpPr>
        <p:spPr/>
        <p:txBody>
          <a:bodyPr/>
          <a:lstStyle/>
          <a:p>
            <a:fld id="{1332600A-A7B8-4674-AAE3-A37177B883E5}" type="datetime1">
              <a:rPr lang="en-GB" smtClean="0"/>
              <a:t>21/10/2025</a:t>
            </a:fld>
            <a:endParaRPr lang="en-GB"/>
          </a:p>
        </p:txBody>
      </p:sp>
      <p:sp>
        <p:nvSpPr>
          <p:cNvPr id="5" name="Slide Number Placeholder 4">
            <a:extLst>
              <a:ext uri="{FF2B5EF4-FFF2-40B4-BE49-F238E27FC236}">
                <a16:creationId xmlns:a16="http://schemas.microsoft.com/office/drawing/2014/main" id="{674CB48B-41D2-20C8-7074-F8403485CC70}"/>
              </a:ext>
            </a:extLst>
          </p:cNvPr>
          <p:cNvSpPr>
            <a:spLocks noGrp="1"/>
          </p:cNvSpPr>
          <p:nvPr>
            <p:ph type="sldNum" sz="quarter" idx="12"/>
          </p:nvPr>
        </p:nvSpPr>
        <p:spPr/>
        <p:txBody>
          <a:bodyPr/>
          <a:lstStyle/>
          <a:p>
            <a:fld id="{9EB268CF-8001-41B5-ADCD-92A7738D3D9B}" type="slidenum">
              <a:rPr lang="en-GB" smtClean="0"/>
              <a:t>66</a:t>
            </a:fld>
            <a:endParaRPr lang="en-GB"/>
          </a:p>
        </p:txBody>
      </p:sp>
    </p:spTree>
    <p:extLst>
      <p:ext uri="{BB962C8B-B14F-4D97-AF65-F5344CB8AC3E}">
        <p14:creationId xmlns:p14="http://schemas.microsoft.com/office/powerpoint/2010/main" val="274336708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865A1045-A4E4-E8EE-52CC-442D6ED17F1F}"/>
              </a:ext>
            </a:extLst>
          </p:cNvPr>
          <p:cNvSpPr>
            <a:spLocks noGrp="1"/>
          </p:cNvSpPr>
          <p:nvPr>
            <p:ph type="title"/>
          </p:nvPr>
        </p:nvSpPr>
        <p:spPr/>
        <p:txBody>
          <a:bodyPr/>
          <a:lstStyle/>
          <a:p>
            <a:pPr algn="ctr"/>
            <a:r>
              <a:rPr lang="en-US" dirty="0"/>
              <a:t>Thank You.</a:t>
            </a:r>
          </a:p>
        </p:txBody>
      </p:sp>
      <p:sp>
        <p:nvSpPr>
          <p:cNvPr id="4" name="Date Placeholder 3">
            <a:extLst>
              <a:ext uri="{FF2B5EF4-FFF2-40B4-BE49-F238E27FC236}">
                <a16:creationId xmlns:a16="http://schemas.microsoft.com/office/drawing/2014/main" id="{62D51C54-440D-F12B-A932-A6DEADD12D82}"/>
              </a:ext>
            </a:extLst>
          </p:cNvPr>
          <p:cNvSpPr>
            <a:spLocks noGrp="1"/>
          </p:cNvSpPr>
          <p:nvPr>
            <p:ph type="dt" sz="half" idx="10"/>
          </p:nvPr>
        </p:nvSpPr>
        <p:spPr/>
        <p:txBody>
          <a:bodyPr/>
          <a:lstStyle/>
          <a:p>
            <a:fld id="{1332600A-A7B8-4674-AAE3-A37177B883E5}" type="datetime1">
              <a:rPr lang="en-GB" smtClean="0"/>
              <a:t>21/10/2025</a:t>
            </a:fld>
            <a:endParaRPr lang="en-GB"/>
          </a:p>
        </p:txBody>
      </p:sp>
      <p:sp>
        <p:nvSpPr>
          <p:cNvPr id="5" name="Slide Number Placeholder 4">
            <a:extLst>
              <a:ext uri="{FF2B5EF4-FFF2-40B4-BE49-F238E27FC236}">
                <a16:creationId xmlns:a16="http://schemas.microsoft.com/office/drawing/2014/main" id="{3887E597-FDA0-5642-29CD-74D450CFD60C}"/>
              </a:ext>
            </a:extLst>
          </p:cNvPr>
          <p:cNvSpPr>
            <a:spLocks noGrp="1"/>
          </p:cNvSpPr>
          <p:nvPr>
            <p:ph type="sldNum" sz="quarter" idx="12"/>
          </p:nvPr>
        </p:nvSpPr>
        <p:spPr/>
        <p:txBody>
          <a:bodyPr/>
          <a:lstStyle/>
          <a:p>
            <a:fld id="{9EB268CF-8001-41B5-ADCD-92A7738D3D9B}" type="slidenum">
              <a:rPr lang="en-GB" smtClean="0"/>
              <a:t>67</a:t>
            </a:fld>
            <a:endParaRPr lang="en-GB"/>
          </a:p>
        </p:txBody>
      </p:sp>
    </p:spTree>
    <p:extLst>
      <p:ext uri="{BB962C8B-B14F-4D97-AF65-F5344CB8AC3E}">
        <p14:creationId xmlns:p14="http://schemas.microsoft.com/office/powerpoint/2010/main" val="322037969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8155</TotalTime>
  <Words>4282</Words>
  <Application>Microsoft Office PowerPoint</Application>
  <PresentationFormat>Widescreen</PresentationFormat>
  <Paragraphs>522</Paragraphs>
  <Slides>67</Slides>
  <Notes>0</Notes>
  <HiddenSlides>1</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67</vt:i4>
      </vt:variant>
    </vt:vector>
  </HeadingPairs>
  <TitlesOfParts>
    <vt:vector size="72" baseType="lpstr">
      <vt:lpstr>Aptos</vt:lpstr>
      <vt:lpstr>Arial</vt:lpstr>
      <vt:lpstr>Cambria Math</vt:lpstr>
      <vt:lpstr>Verdana</vt:lpstr>
      <vt:lpstr>Office Theme</vt:lpstr>
      <vt:lpstr>Inference in  First Order Logic</vt:lpstr>
      <vt:lpstr>Propositional vs FOL Inference</vt:lpstr>
      <vt:lpstr>Inference Rule for Quantifiers</vt:lpstr>
      <vt:lpstr>Universal Instantiation (UI)</vt:lpstr>
      <vt:lpstr>Universal Instantiation (UI)</vt:lpstr>
      <vt:lpstr>Existential Instantiation</vt:lpstr>
      <vt:lpstr>Reduction to Propositional Inference</vt:lpstr>
      <vt:lpstr>Reduction to Propositional Inference</vt:lpstr>
      <vt:lpstr>Reduction to Propositional Inference</vt:lpstr>
      <vt:lpstr>Reduction to Propositional Inference</vt:lpstr>
      <vt:lpstr>Reduction to Propositional Inference</vt:lpstr>
      <vt:lpstr>Unification and Lifting</vt:lpstr>
      <vt:lpstr>Generalized Modus Ponens</vt:lpstr>
      <vt:lpstr>Generalized Modus Ponens</vt:lpstr>
      <vt:lpstr>Unification and Lifting</vt:lpstr>
      <vt:lpstr>Unification</vt:lpstr>
      <vt:lpstr>Unification</vt:lpstr>
      <vt:lpstr>The unification algorithm</vt:lpstr>
      <vt:lpstr>Forward Chaining</vt:lpstr>
      <vt:lpstr>First-order definite clauses</vt:lpstr>
      <vt:lpstr>First-order definite clauses</vt:lpstr>
      <vt:lpstr>First-order definite clauses</vt:lpstr>
      <vt:lpstr>First-order definite clauses</vt:lpstr>
      <vt:lpstr>First-order definite clauses</vt:lpstr>
      <vt:lpstr>First-order definite clauses</vt:lpstr>
      <vt:lpstr>First-order definite clauses</vt:lpstr>
      <vt:lpstr>First-order definite clauses</vt:lpstr>
      <vt:lpstr>A simple forward-chaining algorithm</vt:lpstr>
      <vt:lpstr>A simple forward-chaining algorithm</vt:lpstr>
      <vt:lpstr>A simple forward-chaining algorithm</vt:lpstr>
      <vt:lpstr>A simple forward-chaining algorithm</vt:lpstr>
      <vt:lpstr>A simple forward-chaining algorithm</vt:lpstr>
      <vt:lpstr>Efficient forward-chaining</vt:lpstr>
      <vt:lpstr>Matching rules against known facts</vt:lpstr>
      <vt:lpstr>Matching rules against known facts</vt:lpstr>
      <vt:lpstr>Incremental forward chaining</vt:lpstr>
      <vt:lpstr>Irrelevant Facts</vt:lpstr>
      <vt:lpstr>Backward Chaining</vt:lpstr>
      <vt:lpstr>A backward-chaining Algorithm</vt:lpstr>
      <vt:lpstr>A backward-chaining Algorithm</vt:lpstr>
      <vt:lpstr>A backward-chaining Algorithm</vt:lpstr>
      <vt:lpstr>A backward-chaining Algorithm</vt:lpstr>
      <vt:lpstr>Resolution</vt:lpstr>
      <vt:lpstr>CNF for FOL</vt:lpstr>
      <vt:lpstr>CNF of Quantifiers</vt:lpstr>
      <vt:lpstr>CNF of Quantifiers</vt:lpstr>
      <vt:lpstr>CNF of Quantifiers</vt:lpstr>
      <vt:lpstr>CNF of Quantifiers</vt:lpstr>
      <vt:lpstr>CNF of Quantifiers</vt:lpstr>
      <vt:lpstr>The Resolution Inference Rule</vt:lpstr>
      <vt:lpstr>The Resolution Inference Rule</vt:lpstr>
      <vt:lpstr>The Resolution Inference Rule</vt:lpstr>
      <vt:lpstr>Example Proof</vt:lpstr>
      <vt:lpstr>CNFs for Criminal Example</vt:lpstr>
      <vt:lpstr>Proof</vt:lpstr>
      <vt:lpstr>Another Example</vt:lpstr>
      <vt:lpstr>Another Example</vt:lpstr>
      <vt:lpstr>Another Example</vt:lpstr>
      <vt:lpstr>Proof</vt:lpstr>
      <vt:lpstr>A Different Question</vt:lpstr>
      <vt:lpstr>Equality</vt:lpstr>
      <vt:lpstr>Axiomatize Equality</vt:lpstr>
      <vt:lpstr>Demodulation</vt:lpstr>
      <vt:lpstr>Paramodulation</vt:lpstr>
      <vt:lpstr>Resolution Strategies</vt:lpstr>
      <vt:lpstr>Resolution Strategies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Md Mehrab Hossain Opi</dc:creator>
  <cp:lastModifiedBy>Md Mehrab Hossain Opi</cp:lastModifiedBy>
  <cp:revision>227</cp:revision>
  <dcterms:created xsi:type="dcterms:W3CDTF">2025-07-29T06:51:35Z</dcterms:created>
  <dcterms:modified xsi:type="dcterms:W3CDTF">2025-10-20T21:23:09Z</dcterms:modified>
</cp:coreProperties>
</file>