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9"/>
  </p:notesMasterIdLst>
  <p:sldIdLst>
    <p:sldId id="409" r:id="rId3"/>
    <p:sldId id="259" r:id="rId4"/>
    <p:sldId id="260" r:id="rId5"/>
    <p:sldId id="274" r:id="rId6"/>
    <p:sldId id="275" r:id="rId7"/>
    <p:sldId id="261" r:id="rId8"/>
    <p:sldId id="262" r:id="rId9"/>
    <p:sldId id="273" r:id="rId10"/>
    <p:sldId id="276" r:id="rId11"/>
    <p:sldId id="264" r:id="rId12"/>
    <p:sldId id="292" r:id="rId13"/>
    <p:sldId id="281" r:id="rId14"/>
    <p:sldId id="263" r:id="rId15"/>
    <p:sldId id="265" r:id="rId16"/>
    <p:sldId id="272" r:id="rId17"/>
    <p:sldId id="266" r:id="rId18"/>
    <p:sldId id="277" r:id="rId19"/>
    <p:sldId id="269" r:id="rId20"/>
    <p:sldId id="278" r:id="rId21"/>
    <p:sldId id="270" r:id="rId22"/>
    <p:sldId id="279" r:id="rId23"/>
    <p:sldId id="271" r:id="rId24"/>
    <p:sldId id="268" r:id="rId25"/>
    <p:sldId id="410" r:id="rId26"/>
    <p:sldId id="411" r:id="rId27"/>
    <p:sldId id="412" r:id="rId28"/>
    <p:sldId id="413" r:id="rId29"/>
    <p:sldId id="414" r:id="rId30"/>
    <p:sldId id="415" r:id="rId31"/>
    <p:sldId id="416" r:id="rId32"/>
    <p:sldId id="280" r:id="rId33"/>
    <p:sldId id="293" r:id="rId34"/>
    <p:sldId id="290" r:id="rId35"/>
    <p:sldId id="291" r:id="rId36"/>
    <p:sldId id="267" r:id="rId37"/>
    <p:sldId id="282" r:id="rId38"/>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9" d="100"/>
          <a:sy n="89" d="100"/>
        </p:scale>
        <p:origin x="855"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71CA99E0-E95C-4F1B-B0F2-4565A2B40149}" type="datetimeFigureOut">
              <a:rPr lang="en-US" smtClean="0"/>
              <a:pPr/>
              <a:t>6/13/2022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6A2EA70-8A4C-40BF-A25E-4BD4BBF0DDA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31</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32</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33</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34</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35</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C6DDC4A-28AC-4BB0-A17C-4732441B2B82}" type="slidenum">
              <a:rPr lang="en-US" smtClean="0"/>
              <a:pPr/>
              <a:t>36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97502A0-2A22-4053-87DB-A49A1760D22B}"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C7D7D2A-1BAE-400D-B4B6-AE94372DC021}"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89C1415-B1A8-492C-B7C6-94B7FBFAE23F}"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EE5DF07F-76C4-454F-B8DD-1935FAB6C5A5}"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BAFC8E3-4FC0-4047-B5D6-F758D3251C16}"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1BC26D4-932C-478F-A230-EF4C62E6E876}"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3C9A9634-C294-488D-8DB4-6764EAD2AD61}"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06CCE15-091A-4D6A-B3E0-FCFCC42F8FBC}"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71354DA-5701-411B-AE15-165F911C3A8D}"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87ECFB2-8AE7-463F-BA78-3395A84F799B}"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58AD993-E1A1-4830-9832-91AF7F474AEC}"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6">
            <a:extLst>
              <a:ext uri="{FF2B5EF4-FFF2-40B4-BE49-F238E27FC236}">
                <a16:creationId xmlns:a16="http://schemas.microsoft.com/office/drawing/2014/main" id="{9CA0A651-7322-DA7D-6C0E-88259D9D3D67}"/>
              </a:ext>
            </a:extLst>
          </p:cNvPr>
          <p:cNvSpPr>
            <a:spLocks noGrp="1" noChangeArrowheads="1"/>
          </p:cNvSpPr>
          <p:nvPr>
            <p:ph type="sldNum" sz="quarter" idx="10"/>
          </p:nvPr>
        </p:nvSpPr>
        <p:spPr>
          <a:ln/>
        </p:spPr>
        <p:txBody>
          <a:bodyPr/>
          <a:lstStyle>
            <a:lvl1pPr>
              <a:defRPr/>
            </a:lvl1pPr>
          </a:lstStyle>
          <a:p>
            <a:pPr>
              <a:defRPr/>
            </a:pPr>
            <a:fld id="{3717987D-DDAB-48DB-B6BF-11EA983CF709}" type="slidenum">
              <a:rPr lang="en-US" altLang="en-US"/>
              <a:pPr>
                <a:defRPr/>
              </a:pPr>
              <a:t>‹#›</a:t>
            </a:fld>
            <a:endParaRPr lang="en-US" altLang="en-US"/>
          </a:p>
        </p:txBody>
      </p:sp>
    </p:spTree>
    <p:extLst>
      <p:ext uri="{BB962C8B-B14F-4D97-AF65-F5344CB8AC3E}">
        <p14:creationId xmlns:p14="http://schemas.microsoft.com/office/powerpoint/2010/main" val="2604391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F12C061-BBD8-6D82-61A2-2105BD71C4E9}"/>
              </a:ext>
            </a:extLst>
          </p:cNvPr>
          <p:cNvSpPr>
            <a:spLocks noGrp="1" noChangeArrowheads="1"/>
          </p:cNvSpPr>
          <p:nvPr>
            <p:ph type="sldNum" sz="quarter" idx="10"/>
          </p:nvPr>
        </p:nvSpPr>
        <p:spPr>
          <a:ln/>
        </p:spPr>
        <p:txBody>
          <a:bodyPr/>
          <a:lstStyle>
            <a:lvl1pPr>
              <a:defRPr/>
            </a:lvl1pPr>
          </a:lstStyle>
          <a:p>
            <a:pPr>
              <a:defRPr/>
            </a:pPr>
            <a:fld id="{8EAD25B1-0C49-427D-9697-CEAC8BB9ECF9}" type="slidenum">
              <a:rPr lang="en-US" altLang="en-US"/>
              <a:pPr>
                <a:defRPr/>
              </a:pPr>
              <a:t>‹#›</a:t>
            </a:fld>
            <a:endParaRPr lang="en-US" altLang="en-US"/>
          </a:p>
        </p:txBody>
      </p:sp>
    </p:spTree>
    <p:extLst>
      <p:ext uri="{BB962C8B-B14F-4D97-AF65-F5344CB8AC3E}">
        <p14:creationId xmlns:p14="http://schemas.microsoft.com/office/powerpoint/2010/main" val="2580273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D5DB3138-84E7-3408-4CFC-D07B1C583620}"/>
              </a:ext>
            </a:extLst>
          </p:cNvPr>
          <p:cNvSpPr>
            <a:spLocks noGrp="1" noChangeArrowheads="1"/>
          </p:cNvSpPr>
          <p:nvPr>
            <p:ph type="sldNum" sz="quarter" idx="10"/>
          </p:nvPr>
        </p:nvSpPr>
        <p:spPr>
          <a:ln/>
        </p:spPr>
        <p:txBody>
          <a:bodyPr/>
          <a:lstStyle>
            <a:lvl1pPr>
              <a:defRPr/>
            </a:lvl1pPr>
          </a:lstStyle>
          <a:p>
            <a:pPr>
              <a:defRPr/>
            </a:pPr>
            <a:fld id="{E93295DB-ADC9-40D1-8FF2-A736361DE1E6}" type="slidenum">
              <a:rPr lang="en-US" altLang="en-US"/>
              <a:pPr>
                <a:defRPr/>
              </a:pPr>
              <a:t>‹#›</a:t>
            </a:fld>
            <a:endParaRPr lang="en-US" altLang="en-US"/>
          </a:p>
        </p:txBody>
      </p:sp>
    </p:spTree>
    <p:extLst>
      <p:ext uri="{BB962C8B-B14F-4D97-AF65-F5344CB8AC3E}">
        <p14:creationId xmlns:p14="http://schemas.microsoft.com/office/powerpoint/2010/main" val="32785311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9B896666-AC4A-B205-4EAE-D9BB6AEF81AE}"/>
              </a:ext>
            </a:extLst>
          </p:cNvPr>
          <p:cNvSpPr>
            <a:spLocks noGrp="1" noChangeArrowheads="1"/>
          </p:cNvSpPr>
          <p:nvPr>
            <p:ph type="sldNum" sz="quarter" idx="10"/>
          </p:nvPr>
        </p:nvSpPr>
        <p:spPr>
          <a:ln/>
        </p:spPr>
        <p:txBody>
          <a:bodyPr/>
          <a:lstStyle>
            <a:lvl1pPr>
              <a:defRPr/>
            </a:lvl1pPr>
          </a:lstStyle>
          <a:p>
            <a:pPr>
              <a:defRPr/>
            </a:pPr>
            <a:fld id="{5175165D-8545-4C5F-A596-85342B5987FD}" type="slidenum">
              <a:rPr lang="en-US" altLang="en-US"/>
              <a:pPr>
                <a:defRPr/>
              </a:pPr>
              <a:t>‹#›</a:t>
            </a:fld>
            <a:endParaRPr lang="en-US" altLang="en-US"/>
          </a:p>
        </p:txBody>
      </p:sp>
    </p:spTree>
    <p:extLst>
      <p:ext uri="{BB962C8B-B14F-4D97-AF65-F5344CB8AC3E}">
        <p14:creationId xmlns:p14="http://schemas.microsoft.com/office/powerpoint/2010/main" val="1177582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8C05342D-CDCF-DB2D-63F3-64CA4D801EFB}"/>
              </a:ext>
            </a:extLst>
          </p:cNvPr>
          <p:cNvSpPr>
            <a:spLocks noGrp="1" noChangeArrowheads="1"/>
          </p:cNvSpPr>
          <p:nvPr>
            <p:ph type="sldNum" sz="quarter" idx="10"/>
          </p:nvPr>
        </p:nvSpPr>
        <p:spPr>
          <a:ln/>
        </p:spPr>
        <p:txBody>
          <a:bodyPr/>
          <a:lstStyle>
            <a:lvl1pPr>
              <a:defRPr/>
            </a:lvl1pPr>
          </a:lstStyle>
          <a:p>
            <a:pPr>
              <a:defRPr/>
            </a:pPr>
            <a:fld id="{EAB057F0-708F-4773-8F8F-C817822ED3A1}" type="slidenum">
              <a:rPr lang="en-US" altLang="en-US"/>
              <a:pPr>
                <a:defRPr/>
              </a:pPr>
              <a:t>‹#›</a:t>
            </a:fld>
            <a:endParaRPr lang="en-US" altLang="en-US"/>
          </a:p>
        </p:txBody>
      </p:sp>
    </p:spTree>
    <p:extLst>
      <p:ext uri="{BB962C8B-B14F-4D97-AF65-F5344CB8AC3E}">
        <p14:creationId xmlns:p14="http://schemas.microsoft.com/office/powerpoint/2010/main" val="37264956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87AA3DC9-9B42-F48A-CDAE-D39BC10E4D55}"/>
              </a:ext>
            </a:extLst>
          </p:cNvPr>
          <p:cNvSpPr>
            <a:spLocks noGrp="1" noChangeArrowheads="1"/>
          </p:cNvSpPr>
          <p:nvPr>
            <p:ph type="sldNum" sz="quarter" idx="10"/>
          </p:nvPr>
        </p:nvSpPr>
        <p:spPr>
          <a:ln/>
        </p:spPr>
        <p:txBody>
          <a:bodyPr/>
          <a:lstStyle>
            <a:lvl1pPr>
              <a:defRPr/>
            </a:lvl1pPr>
          </a:lstStyle>
          <a:p>
            <a:pPr>
              <a:defRPr/>
            </a:pPr>
            <a:fld id="{E1F78C79-DAD7-4FDC-A4C5-312F6D0858A6}" type="slidenum">
              <a:rPr lang="en-US" altLang="en-US"/>
              <a:pPr>
                <a:defRPr/>
              </a:pPr>
              <a:t>‹#›</a:t>
            </a:fld>
            <a:endParaRPr lang="en-US" altLang="en-US"/>
          </a:p>
        </p:txBody>
      </p:sp>
    </p:spTree>
    <p:extLst>
      <p:ext uri="{BB962C8B-B14F-4D97-AF65-F5344CB8AC3E}">
        <p14:creationId xmlns:p14="http://schemas.microsoft.com/office/powerpoint/2010/main" val="576069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1265EC6-0838-26DF-6F5D-FDC2BB856821}"/>
              </a:ext>
            </a:extLst>
          </p:cNvPr>
          <p:cNvSpPr>
            <a:spLocks noGrp="1" noChangeArrowheads="1"/>
          </p:cNvSpPr>
          <p:nvPr>
            <p:ph type="sldNum" sz="quarter" idx="10"/>
          </p:nvPr>
        </p:nvSpPr>
        <p:spPr>
          <a:ln/>
        </p:spPr>
        <p:txBody>
          <a:bodyPr/>
          <a:lstStyle>
            <a:lvl1pPr>
              <a:defRPr/>
            </a:lvl1pPr>
          </a:lstStyle>
          <a:p>
            <a:pPr>
              <a:defRPr/>
            </a:pPr>
            <a:fld id="{62C5DDDD-0745-4526-B216-CAB0553A2012}" type="slidenum">
              <a:rPr lang="en-US" altLang="en-US"/>
              <a:pPr>
                <a:defRPr/>
              </a:pPr>
              <a:t>‹#›</a:t>
            </a:fld>
            <a:endParaRPr lang="en-US" altLang="en-US"/>
          </a:p>
        </p:txBody>
      </p:sp>
    </p:spTree>
    <p:extLst>
      <p:ext uri="{BB962C8B-B14F-4D97-AF65-F5344CB8AC3E}">
        <p14:creationId xmlns:p14="http://schemas.microsoft.com/office/powerpoint/2010/main" val="8141982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4185DF18-A9A5-289B-F407-3EAC0E7AEA69}"/>
              </a:ext>
            </a:extLst>
          </p:cNvPr>
          <p:cNvSpPr>
            <a:spLocks noGrp="1" noChangeArrowheads="1"/>
          </p:cNvSpPr>
          <p:nvPr>
            <p:ph type="sldNum" sz="quarter" idx="10"/>
          </p:nvPr>
        </p:nvSpPr>
        <p:spPr>
          <a:ln/>
        </p:spPr>
        <p:txBody>
          <a:bodyPr/>
          <a:lstStyle>
            <a:lvl1pPr>
              <a:defRPr/>
            </a:lvl1pPr>
          </a:lstStyle>
          <a:p>
            <a:pPr>
              <a:defRPr/>
            </a:pPr>
            <a:fld id="{E427804F-C263-4445-8698-DEB6EA555534}" type="slidenum">
              <a:rPr lang="en-US" altLang="en-US"/>
              <a:pPr>
                <a:defRPr/>
              </a:pPr>
              <a:t>‹#›</a:t>
            </a:fld>
            <a:endParaRPr lang="en-US" altLang="en-US"/>
          </a:p>
        </p:txBody>
      </p:sp>
    </p:spTree>
    <p:extLst>
      <p:ext uri="{BB962C8B-B14F-4D97-AF65-F5344CB8AC3E}">
        <p14:creationId xmlns:p14="http://schemas.microsoft.com/office/powerpoint/2010/main" val="26835681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672CD4B9-3956-C70A-0335-4270771A23D5}"/>
              </a:ext>
            </a:extLst>
          </p:cNvPr>
          <p:cNvSpPr>
            <a:spLocks noGrp="1" noChangeArrowheads="1"/>
          </p:cNvSpPr>
          <p:nvPr>
            <p:ph type="sldNum" sz="quarter" idx="10"/>
          </p:nvPr>
        </p:nvSpPr>
        <p:spPr>
          <a:ln/>
        </p:spPr>
        <p:txBody>
          <a:bodyPr/>
          <a:lstStyle>
            <a:lvl1pPr>
              <a:defRPr/>
            </a:lvl1pPr>
          </a:lstStyle>
          <a:p>
            <a:pPr>
              <a:defRPr/>
            </a:pPr>
            <a:fld id="{0AA2701A-18B0-4279-9F62-27374832240E}" type="slidenum">
              <a:rPr lang="en-US" altLang="en-US"/>
              <a:pPr>
                <a:defRPr/>
              </a:pPr>
              <a:t>‹#›</a:t>
            </a:fld>
            <a:endParaRPr lang="en-US" altLang="en-US"/>
          </a:p>
        </p:txBody>
      </p:sp>
    </p:spTree>
    <p:extLst>
      <p:ext uri="{BB962C8B-B14F-4D97-AF65-F5344CB8AC3E}">
        <p14:creationId xmlns:p14="http://schemas.microsoft.com/office/powerpoint/2010/main" val="25460159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5F680624-A259-71F2-2B16-672E9F912073}"/>
              </a:ext>
            </a:extLst>
          </p:cNvPr>
          <p:cNvSpPr>
            <a:spLocks noGrp="1" noChangeArrowheads="1"/>
          </p:cNvSpPr>
          <p:nvPr>
            <p:ph type="sldNum" sz="quarter" idx="10"/>
          </p:nvPr>
        </p:nvSpPr>
        <p:spPr>
          <a:ln/>
        </p:spPr>
        <p:txBody>
          <a:bodyPr/>
          <a:lstStyle>
            <a:lvl1pPr>
              <a:defRPr/>
            </a:lvl1pPr>
          </a:lstStyle>
          <a:p>
            <a:pPr>
              <a:defRPr/>
            </a:pPr>
            <a:fld id="{F0421F1E-5B05-4C15-A6C9-79B08AE95F58}" type="slidenum">
              <a:rPr lang="en-US" altLang="en-US"/>
              <a:pPr>
                <a:defRPr/>
              </a:pPr>
              <a:t>‹#›</a:t>
            </a:fld>
            <a:endParaRPr lang="en-US" altLang="en-US"/>
          </a:p>
        </p:txBody>
      </p:sp>
    </p:spTree>
    <p:extLst>
      <p:ext uri="{BB962C8B-B14F-4D97-AF65-F5344CB8AC3E}">
        <p14:creationId xmlns:p14="http://schemas.microsoft.com/office/powerpoint/2010/main" val="2284184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58FFF287-63AB-A2C5-B9AD-D9F2DD5BF416}"/>
              </a:ext>
            </a:extLst>
          </p:cNvPr>
          <p:cNvSpPr>
            <a:spLocks noGrp="1" noChangeArrowheads="1"/>
          </p:cNvSpPr>
          <p:nvPr>
            <p:ph type="sldNum" sz="quarter" idx="10"/>
          </p:nvPr>
        </p:nvSpPr>
        <p:spPr>
          <a:ln/>
        </p:spPr>
        <p:txBody>
          <a:bodyPr/>
          <a:lstStyle>
            <a:lvl1pPr>
              <a:defRPr/>
            </a:lvl1pPr>
          </a:lstStyle>
          <a:p>
            <a:pPr>
              <a:defRPr/>
            </a:pPr>
            <a:fld id="{346BBE46-5920-4C41-BE50-22E557E4AF13}" type="slidenum">
              <a:rPr lang="en-US" altLang="en-US"/>
              <a:pPr>
                <a:defRPr/>
              </a:pPr>
              <a:t>‹#›</a:t>
            </a:fld>
            <a:endParaRPr lang="en-US" altLang="en-US"/>
          </a:p>
        </p:txBody>
      </p:sp>
    </p:spTree>
    <p:extLst>
      <p:ext uri="{BB962C8B-B14F-4D97-AF65-F5344CB8AC3E}">
        <p14:creationId xmlns:p14="http://schemas.microsoft.com/office/powerpoint/2010/main" val="19401888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6">
            <a:extLst>
              <a:ext uri="{FF2B5EF4-FFF2-40B4-BE49-F238E27FC236}">
                <a16:creationId xmlns:a16="http://schemas.microsoft.com/office/drawing/2014/main" id="{4B258C64-F533-D818-2EEF-FF69A79FEF08}"/>
              </a:ext>
            </a:extLst>
          </p:cNvPr>
          <p:cNvSpPr>
            <a:spLocks noGrp="1" noChangeArrowheads="1"/>
          </p:cNvSpPr>
          <p:nvPr>
            <p:ph type="sldNum" sz="quarter" idx="10"/>
          </p:nvPr>
        </p:nvSpPr>
        <p:spPr>
          <a:ln/>
        </p:spPr>
        <p:txBody>
          <a:bodyPr/>
          <a:lstStyle>
            <a:lvl1pPr>
              <a:defRPr/>
            </a:lvl1pPr>
          </a:lstStyle>
          <a:p>
            <a:pPr>
              <a:defRPr/>
            </a:pPr>
            <a:fld id="{16B44C51-652B-4930-BAD4-CFBD1B218CEC}" type="slidenum">
              <a:rPr lang="en-US" altLang="en-US"/>
              <a:pPr>
                <a:defRPr/>
              </a:pPr>
              <a:t>‹#›</a:t>
            </a:fld>
            <a:endParaRPr lang="en-US" altLang="en-US"/>
          </a:p>
        </p:txBody>
      </p:sp>
    </p:spTree>
    <p:extLst>
      <p:ext uri="{BB962C8B-B14F-4D97-AF65-F5344CB8AC3E}">
        <p14:creationId xmlns:p14="http://schemas.microsoft.com/office/powerpoint/2010/main" val="2867575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D5899897-58A2-4F66-9561-F3C357736593}"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DCDB1CC-0301-09B6-94E9-0EE356C1CEB5}"/>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23FA78A-5960-6428-1E68-3FF2F1C6D83B}"/>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a:extLst>
              <a:ext uri="{FF2B5EF4-FFF2-40B4-BE49-F238E27FC236}">
                <a16:creationId xmlns:a16="http://schemas.microsoft.com/office/drawing/2014/main" id="{168C789B-D767-7376-ECA4-2B71A81E5013}"/>
              </a:ext>
            </a:extLst>
          </p:cNvPr>
          <p:cNvSpPr>
            <a:spLocks noGrp="1" noChangeArrowheads="1"/>
          </p:cNvSpPr>
          <p:nvPr>
            <p:ph type="sldNum" sz="quarter" idx="4"/>
          </p:nvPr>
        </p:nvSpPr>
        <p:spPr bwMode="auto">
          <a:xfrm>
            <a:off x="7239000" y="6553200"/>
            <a:ext cx="1905000" cy="3048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000"/>
            </a:lvl1pPr>
          </a:lstStyle>
          <a:p>
            <a:pPr>
              <a:defRPr/>
            </a:pPr>
            <a:fld id="{9D40B9B7-B2DA-4225-BDC9-16B328ECA9AA}" type="slidenum">
              <a:rPr lang="en-US" altLang="en-US"/>
              <a:pPr>
                <a:defRPr/>
              </a:pPr>
              <a:t>‹#›</a:t>
            </a:fld>
            <a:endParaRPr lang="en-US" altLang="en-US"/>
          </a:p>
        </p:txBody>
      </p:sp>
    </p:spTree>
    <p:extLst>
      <p:ext uri="{BB962C8B-B14F-4D97-AF65-F5344CB8AC3E}">
        <p14:creationId xmlns:p14="http://schemas.microsoft.com/office/powerpoint/2010/main" val="33024399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rtl="0" eaLnBrk="0" fontAlgn="base" hangingPunct="0">
        <a:spcBef>
          <a:spcPct val="0"/>
        </a:spcBef>
        <a:spcAft>
          <a:spcPct val="0"/>
        </a:spcAft>
        <a:defRPr sz="4000" b="1" kern="1200">
          <a:solidFill>
            <a:schemeClr val="tx2"/>
          </a:solidFill>
          <a:latin typeface="+mj-lt"/>
          <a:ea typeface="+mj-ea"/>
          <a:cs typeface="+mj-cs"/>
        </a:defRPr>
      </a:lvl1pPr>
      <a:lvl2pPr algn="ctr" rtl="0" eaLnBrk="0" fontAlgn="base" hangingPunct="0">
        <a:spcBef>
          <a:spcPct val="0"/>
        </a:spcBef>
        <a:spcAft>
          <a:spcPct val="0"/>
        </a:spcAft>
        <a:defRPr sz="4000" b="1">
          <a:solidFill>
            <a:schemeClr val="tx2"/>
          </a:solidFill>
          <a:latin typeface="Times New Roman" panose="02020603050405020304" pitchFamily="18" charset="0"/>
        </a:defRPr>
      </a:lvl2pPr>
      <a:lvl3pPr algn="ctr" rtl="0" eaLnBrk="0" fontAlgn="base" hangingPunct="0">
        <a:spcBef>
          <a:spcPct val="0"/>
        </a:spcBef>
        <a:spcAft>
          <a:spcPct val="0"/>
        </a:spcAft>
        <a:defRPr sz="4000" b="1">
          <a:solidFill>
            <a:schemeClr val="tx2"/>
          </a:solidFill>
          <a:latin typeface="Times New Roman" panose="02020603050405020304" pitchFamily="18" charset="0"/>
        </a:defRPr>
      </a:lvl3pPr>
      <a:lvl4pPr algn="ctr" rtl="0" eaLnBrk="0" fontAlgn="base" hangingPunct="0">
        <a:spcBef>
          <a:spcPct val="0"/>
        </a:spcBef>
        <a:spcAft>
          <a:spcPct val="0"/>
        </a:spcAft>
        <a:defRPr sz="4000" b="1">
          <a:solidFill>
            <a:schemeClr val="tx2"/>
          </a:solidFill>
          <a:latin typeface="Times New Roman" panose="02020603050405020304" pitchFamily="18" charset="0"/>
        </a:defRPr>
      </a:lvl4pPr>
      <a:lvl5pPr algn="ctr" rtl="0" eaLnBrk="0" fontAlgn="base" hangingPunct="0">
        <a:spcBef>
          <a:spcPct val="0"/>
        </a:spcBef>
        <a:spcAft>
          <a:spcPct val="0"/>
        </a:spcAft>
        <a:defRPr sz="4000" b="1">
          <a:solidFill>
            <a:schemeClr val="tx2"/>
          </a:solidFill>
          <a:latin typeface="Times New Roman" panose="02020603050405020304" pitchFamily="18" charset="0"/>
        </a:defRPr>
      </a:lvl5pPr>
      <a:lvl6pPr marL="457200" algn="ctr" rtl="0" eaLnBrk="0" fontAlgn="base" hangingPunct="0">
        <a:spcBef>
          <a:spcPct val="0"/>
        </a:spcBef>
        <a:spcAft>
          <a:spcPct val="0"/>
        </a:spcAft>
        <a:defRPr sz="4000" b="1">
          <a:solidFill>
            <a:schemeClr val="tx2"/>
          </a:solidFill>
          <a:latin typeface="Times New Roman" panose="02020603050405020304" pitchFamily="18" charset="0"/>
        </a:defRPr>
      </a:lvl6pPr>
      <a:lvl7pPr marL="914400" algn="ctr" rtl="0" eaLnBrk="0" fontAlgn="base" hangingPunct="0">
        <a:spcBef>
          <a:spcPct val="0"/>
        </a:spcBef>
        <a:spcAft>
          <a:spcPct val="0"/>
        </a:spcAft>
        <a:defRPr sz="4000" b="1">
          <a:solidFill>
            <a:schemeClr val="tx2"/>
          </a:solidFill>
          <a:latin typeface="Times New Roman" panose="02020603050405020304" pitchFamily="18" charset="0"/>
        </a:defRPr>
      </a:lvl7pPr>
      <a:lvl8pPr marL="1371600" algn="ctr" rtl="0" eaLnBrk="0" fontAlgn="base" hangingPunct="0">
        <a:spcBef>
          <a:spcPct val="0"/>
        </a:spcBef>
        <a:spcAft>
          <a:spcPct val="0"/>
        </a:spcAft>
        <a:defRPr sz="4000" b="1">
          <a:solidFill>
            <a:schemeClr val="tx2"/>
          </a:solidFill>
          <a:latin typeface="Times New Roman" panose="02020603050405020304" pitchFamily="18" charset="0"/>
        </a:defRPr>
      </a:lvl8pPr>
      <a:lvl9pPr marL="1828800" algn="ctr" rtl="0" eaLnBrk="0" fontAlgn="base" hangingPunct="0">
        <a:spcBef>
          <a:spcPct val="0"/>
        </a:spcBef>
        <a:spcAft>
          <a:spcPct val="0"/>
        </a:spcAft>
        <a:defRPr sz="4000" b="1">
          <a:solidFill>
            <a:schemeClr val="tx2"/>
          </a:solidFill>
          <a:latin typeface="Times New Roman" panose="02020603050405020304" pitchFamily="18" charset="0"/>
        </a:defRPr>
      </a:lvl9pPr>
    </p:titleStyle>
    <p:bodyStyle>
      <a:lvl1pPr marL="225425" indent="-225425" algn="l" rtl="0" eaLnBrk="0" fontAlgn="base" hangingPunct="0">
        <a:spcBef>
          <a:spcPct val="20000"/>
        </a:spcBef>
        <a:spcAft>
          <a:spcPct val="0"/>
        </a:spcAft>
        <a:buChar char="•"/>
        <a:defRPr sz="2400" kern="1200">
          <a:solidFill>
            <a:schemeClr val="tx1"/>
          </a:solidFill>
          <a:latin typeface="+mn-lt"/>
          <a:ea typeface="+mn-ea"/>
          <a:cs typeface="+mn-cs"/>
        </a:defRPr>
      </a:lvl1pPr>
      <a:lvl2pPr marL="566738" indent="-227013" algn="l" rtl="0" eaLnBrk="0" fontAlgn="base" hangingPunct="0">
        <a:spcBef>
          <a:spcPct val="20000"/>
        </a:spcBef>
        <a:spcAft>
          <a:spcPct val="0"/>
        </a:spcAft>
        <a:buChar char="–"/>
        <a:defRPr sz="2000" kern="1200">
          <a:solidFill>
            <a:schemeClr val="tx1"/>
          </a:solidFill>
          <a:latin typeface="+mn-lt"/>
          <a:ea typeface="+mn-ea"/>
          <a:cs typeface="+mn-cs"/>
        </a:defRPr>
      </a:lvl2pPr>
      <a:lvl3pPr marL="914400" indent="-233363" algn="l" rtl="0" eaLnBrk="0" fontAlgn="base" hangingPunct="0">
        <a:spcBef>
          <a:spcPct val="20000"/>
        </a:spcBef>
        <a:spcAft>
          <a:spcPct val="0"/>
        </a:spcAft>
        <a:buChar char="•"/>
        <a:defRPr kern="1200">
          <a:solidFill>
            <a:schemeClr val="tx1"/>
          </a:solidFill>
          <a:latin typeface="+mn-lt"/>
          <a:ea typeface="+mn-ea"/>
          <a:cs typeface="+mn-cs"/>
        </a:defRPr>
      </a:lvl3pPr>
      <a:lvl4pPr marL="1254125" indent="-225425" algn="l" rtl="0" eaLnBrk="0" fontAlgn="base" hangingPunct="0">
        <a:spcBef>
          <a:spcPct val="20000"/>
        </a:spcBef>
        <a:spcAft>
          <a:spcPct val="0"/>
        </a:spcAft>
        <a:buChar char="–"/>
        <a:defRPr sz="1600" kern="1200">
          <a:solidFill>
            <a:schemeClr val="tx1"/>
          </a:solidFill>
          <a:latin typeface="+mn-lt"/>
          <a:ea typeface="+mn-ea"/>
          <a:cs typeface="+mn-cs"/>
        </a:defRPr>
      </a:lvl4pPr>
      <a:lvl5pPr marL="1601788" indent="-233363" algn="l" rtl="0" eaLnBrk="0" fontAlgn="base" hangingPunct="0">
        <a:spcBef>
          <a:spcPct val="20000"/>
        </a:spcBef>
        <a:spcAft>
          <a:spcPct val="0"/>
        </a:spcAft>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hashem@cse.kuet.ac.bd" TargetMode="Externa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AA57466F-1767-C9E0-94D6-9FF89251076B}"/>
              </a:ext>
            </a:extLst>
          </p:cNvPr>
          <p:cNvSpPr>
            <a:spLocks noGrp="1" noChangeArrowheads="1"/>
          </p:cNvSpPr>
          <p:nvPr>
            <p:ph type="title"/>
          </p:nvPr>
        </p:nvSpPr>
        <p:spPr/>
        <p:txBody>
          <a:bodyPr/>
          <a:lstStyle/>
          <a:p>
            <a:r>
              <a:rPr lang="en-US" altLang="en-US"/>
              <a:t>CSE 4109: Artificial Intelligence</a:t>
            </a:r>
          </a:p>
        </p:txBody>
      </p:sp>
      <p:sp>
        <p:nvSpPr>
          <p:cNvPr id="3" name="Content Placeholder 2">
            <a:extLst>
              <a:ext uri="{FF2B5EF4-FFF2-40B4-BE49-F238E27FC236}">
                <a16:creationId xmlns:a16="http://schemas.microsoft.com/office/drawing/2014/main" id="{D9BD3EB2-7DE8-64AD-8611-F600139DC9E8}"/>
              </a:ext>
            </a:extLst>
          </p:cNvPr>
          <p:cNvSpPr>
            <a:spLocks noGrp="1"/>
          </p:cNvSpPr>
          <p:nvPr>
            <p:ph idx="1"/>
          </p:nvPr>
        </p:nvSpPr>
        <p:spPr/>
        <p:txBody>
          <a:bodyPr/>
          <a:lstStyle/>
          <a:p>
            <a:pPr marL="0" indent="0" algn="ctr">
              <a:buFontTx/>
              <a:buNone/>
              <a:defRPr/>
            </a:pPr>
            <a:r>
              <a:rPr kumimoji="1" lang="en-US" altLang="en-US" sz="2800" dirty="0">
                <a:solidFill>
                  <a:srgbClr val="660066"/>
                </a:solidFill>
                <a:latin typeface="Arial Narrow" panose="020B0606020202030204" pitchFamily="34" charset="0"/>
              </a:rPr>
              <a:t>M.M.A. Hashem, PhD</a:t>
            </a:r>
          </a:p>
          <a:p>
            <a:pPr marL="0" indent="0" algn="ctr">
              <a:buFontTx/>
              <a:buNone/>
              <a:defRPr/>
            </a:pPr>
            <a:r>
              <a:rPr kumimoji="1" lang="en-US" altLang="en-US" sz="2800" dirty="0">
                <a:solidFill>
                  <a:srgbClr val="660066"/>
                </a:solidFill>
                <a:latin typeface="Arial Narrow" panose="020B0606020202030204" pitchFamily="34" charset="0"/>
              </a:rPr>
              <a:t>Professor,</a:t>
            </a:r>
          </a:p>
          <a:p>
            <a:pPr marL="0" indent="0" algn="ctr">
              <a:buFontTx/>
              <a:buNone/>
              <a:defRPr/>
            </a:pPr>
            <a:r>
              <a:rPr kumimoji="1" lang="en-US" altLang="en-US" sz="2800" dirty="0">
                <a:solidFill>
                  <a:srgbClr val="660066"/>
                </a:solidFill>
                <a:latin typeface="Arial Narrow" panose="020B0606020202030204" pitchFamily="34" charset="0"/>
              </a:rPr>
              <a:t>Dept. of Computer Science and Engineering</a:t>
            </a:r>
          </a:p>
          <a:p>
            <a:pPr marL="0" indent="0" algn="ctr">
              <a:buFontTx/>
              <a:buNone/>
              <a:defRPr/>
            </a:pPr>
            <a:r>
              <a:rPr kumimoji="1" lang="en-US" altLang="en-US" sz="2800" dirty="0">
                <a:solidFill>
                  <a:srgbClr val="660066"/>
                </a:solidFill>
                <a:latin typeface="Arial Narrow" panose="020B0606020202030204" pitchFamily="34" charset="0"/>
              </a:rPr>
              <a:t>Khulna University of Engineering &amp; Technology (KUET)</a:t>
            </a:r>
          </a:p>
          <a:p>
            <a:pPr marL="0" indent="0" algn="ctr">
              <a:buFontTx/>
              <a:buNone/>
              <a:defRPr/>
            </a:pPr>
            <a:r>
              <a:rPr kumimoji="1" lang="en-US" altLang="en-US" sz="2800" dirty="0">
                <a:solidFill>
                  <a:srgbClr val="660066"/>
                </a:solidFill>
                <a:latin typeface="Arial Narrow" panose="020B0606020202030204" pitchFamily="34" charset="0"/>
              </a:rPr>
              <a:t>Khulna 9203, Bangladesh</a:t>
            </a:r>
          </a:p>
          <a:p>
            <a:pPr marL="0" indent="0" algn="ctr">
              <a:buFontTx/>
              <a:buNone/>
              <a:defRPr/>
            </a:pPr>
            <a:r>
              <a:rPr kumimoji="1" lang="en-US" altLang="en-US" sz="2800" dirty="0">
                <a:solidFill>
                  <a:srgbClr val="660066"/>
                </a:solidFill>
                <a:latin typeface="Arial Narrow" panose="020B0606020202030204" pitchFamily="34" charset="0"/>
              </a:rPr>
              <a:t>Email; </a:t>
            </a:r>
            <a:r>
              <a:rPr kumimoji="1" lang="en-US" altLang="en-US" sz="2800" dirty="0">
                <a:solidFill>
                  <a:srgbClr val="660066"/>
                </a:solidFill>
                <a:latin typeface="Arial Narrow" panose="020B0606020202030204" pitchFamily="34" charset="0"/>
                <a:hlinkClick r:id="rId2"/>
              </a:rPr>
              <a:t>hashem@cse.kuet.ac.bd</a:t>
            </a:r>
            <a:endParaRPr kumimoji="1" lang="en-US" altLang="en-US" sz="2800" dirty="0">
              <a:solidFill>
                <a:srgbClr val="660066"/>
              </a:solidFill>
              <a:latin typeface="Arial Narrow" panose="020B0606020202030204" pitchFamily="34" charset="0"/>
            </a:endParaRPr>
          </a:p>
          <a:p>
            <a:pPr marL="0" indent="0" algn="ctr">
              <a:buFontTx/>
              <a:buNone/>
              <a:defRPr/>
            </a:pPr>
            <a:r>
              <a:rPr kumimoji="1" lang="en-US" altLang="en-US" sz="2800" dirty="0">
                <a:solidFill>
                  <a:srgbClr val="660066"/>
                </a:solidFill>
                <a:latin typeface="Arial Narrow" panose="020B0606020202030204" pitchFamily="34" charset="0"/>
              </a:rPr>
              <a:t>Cell Phone: +880 1714 003949</a:t>
            </a:r>
          </a:p>
          <a:p>
            <a:pPr>
              <a:defRPr/>
            </a:pPr>
            <a:endParaRPr lang="en-US" dirty="0"/>
          </a:p>
        </p:txBody>
      </p:sp>
      <p:sp>
        <p:nvSpPr>
          <p:cNvPr id="4100" name="Slide Number Placeholder 3">
            <a:extLst>
              <a:ext uri="{FF2B5EF4-FFF2-40B4-BE49-F238E27FC236}">
                <a16:creationId xmlns:a16="http://schemas.microsoft.com/office/drawing/2014/main" id="{D8EB77A3-7182-C8B1-6474-D36F2CF93E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838309F-3C3A-449A-977E-2945A501FDAF}" type="slidenum">
              <a:rPr kumimoji="0" lang="en-US" altLang="en-US" sz="10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altLang="en-US" sz="10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Bayesian Networks</a:t>
            </a:r>
          </a:p>
        </p:txBody>
      </p:sp>
      <p:sp>
        <p:nvSpPr>
          <p:cNvPr id="5123" name="Rectangle 3"/>
          <p:cNvSpPr>
            <a:spLocks noGrp="1" noChangeArrowheads="1"/>
          </p:cNvSpPr>
          <p:nvPr>
            <p:ph type="body" idx="1"/>
          </p:nvPr>
        </p:nvSpPr>
        <p:spPr>
          <a:xfrm>
            <a:off x="381000" y="1600200"/>
            <a:ext cx="8382000" cy="4525963"/>
          </a:xfrm>
        </p:spPr>
        <p:txBody>
          <a:bodyPr/>
          <a:lstStyle/>
          <a:p>
            <a:r>
              <a:rPr lang="en-US" sz="2800" dirty="0"/>
              <a:t>More commonly called </a:t>
            </a:r>
            <a:r>
              <a:rPr lang="en-US" sz="2800" i="1" dirty="0">
                <a:solidFill>
                  <a:srgbClr val="0070C0"/>
                </a:solidFill>
              </a:rPr>
              <a:t>graphical models</a:t>
            </a:r>
          </a:p>
          <a:p>
            <a:r>
              <a:rPr lang="en-US" sz="2800" dirty="0"/>
              <a:t>A way to depict conditional independence relationships between random variables</a:t>
            </a:r>
          </a:p>
          <a:p>
            <a:r>
              <a:rPr lang="en-US" sz="2800" dirty="0"/>
              <a:t>A compact specification of full joint distributions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Structure</a:t>
            </a:r>
          </a:p>
        </p:txBody>
      </p:sp>
      <p:sp>
        <p:nvSpPr>
          <p:cNvPr id="6147" name="Rectangle 3"/>
          <p:cNvSpPr>
            <a:spLocks noGrp="1" noChangeArrowheads="1"/>
          </p:cNvSpPr>
          <p:nvPr>
            <p:ph idx="1"/>
          </p:nvPr>
        </p:nvSpPr>
        <p:spPr/>
        <p:txBody>
          <a:bodyPr/>
          <a:lstStyle/>
          <a:p>
            <a:pPr>
              <a:lnSpc>
                <a:spcPct val="90000"/>
              </a:lnSpc>
            </a:pPr>
            <a:r>
              <a:rPr lang="en-US" sz="2800" b="1" dirty="0"/>
              <a:t>Nodes:</a:t>
            </a:r>
            <a:r>
              <a:rPr lang="en-US" sz="2800" dirty="0"/>
              <a:t> random variables</a:t>
            </a:r>
          </a:p>
          <a:p>
            <a:pPr lvl="1">
              <a:lnSpc>
                <a:spcPct val="90000"/>
              </a:lnSpc>
            </a:pPr>
            <a:r>
              <a:rPr lang="en-US" sz="2400" dirty="0"/>
              <a:t>Can be assigned (observed)</a:t>
            </a:r>
            <a:br>
              <a:rPr lang="en-US" sz="2400" dirty="0"/>
            </a:br>
            <a:r>
              <a:rPr lang="en-US" sz="2400" dirty="0"/>
              <a:t>or unassigned (unobserved)</a:t>
            </a:r>
          </a:p>
          <a:p>
            <a:pPr>
              <a:lnSpc>
                <a:spcPct val="90000"/>
              </a:lnSpc>
              <a:buFontTx/>
              <a:buNone/>
            </a:pPr>
            <a:endParaRPr lang="en-US" sz="2400" dirty="0"/>
          </a:p>
          <a:p>
            <a:pPr>
              <a:lnSpc>
                <a:spcPct val="90000"/>
              </a:lnSpc>
            </a:pPr>
            <a:r>
              <a:rPr lang="en-US" sz="2800" b="1" dirty="0"/>
              <a:t>Arcs:</a:t>
            </a:r>
            <a:r>
              <a:rPr lang="en-US" sz="2800" dirty="0"/>
              <a:t> interactions</a:t>
            </a:r>
          </a:p>
          <a:p>
            <a:pPr lvl="1">
              <a:lnSpc>
                <a:spcPct val="90000"/>
              </a:lnSpc>
            </a:pPr>
            <a:r>
              <a:rPr lang="en-US" sz="2400" dirty="0"/>
              <a:t>An arrow from one variable to another indicates direct influence</a:t>
            </a:r>
          </a:p>
          <a:p>
            <a:pPr lvl="1">
              <a:lnSpc>
                <a:spcPct val="90000"/>
              </a:lnSpc>
            </a:pPr>
            <a:r>
              <a:rPr lang="en-US" sz="2400" dirty="0"/>
              <a:t>Encode conditional independence</a:t>
            </a:r>
          </a:p>
          <a:p>
            <a:pPr lvl="2">
              <a:lnSpc>
                <a:spcPct val="90000"/>
              </a:lnSpc>
            </a:pPr>
            <a:r>
              <a:rPr lang="en-US" sz="2000" i="1" dirty="0">
                <a:solidFill>
                  <a:srgbClr val="0066FF"/>
                </a:solidFill>
              </a:rPr>
              <a:t>Weather</a:t>
            </a:r>
            <a:r>
              <a:rPr lang="en-US" sz="2000" dirty="0"/>
              <a:t> is independent of the other variables</a:t>
            </a:r>
          </a:p>
          <a:p>
            <a:pPr lvl="2">
              <a:lnSpc>
                <a:spcPct val="90000"/>
              </a:lnSpc>
            </a:pPr>
            <a:r>
              <a:rPr lang="en-US" sz="2000" i="1" dirty="0">
                <a:solidFill>
                  <a:srgbClr val="0066FF"/>
                </a:solidFill>
              </a:rPr>
              <a:t>Toothache</a:t>
            </a:r>
            <a:r>
              <a:rPr lang="en-US" sz="2000" dirty="0"/>
              <a:t> and </a:t>
            </a:r>
            <a:r>
              <a:rPr lang="en-US" sz="2000" i="1" dirty="0">
                <a:solidFill>
                  <a:srgbClr val="0066FF"/>
                </a:solidFill>
              </a:rPr>
              <a:t>Catch</a:t>
            </a:r>
            <a:r>
              <a:rPr lang="en-US" sz="2000" dirty="0"/>
              <a:t> are conditionally independent given </a:t>
            </a:r>
            <a:r>
              <a:rPr lang="en-US" sz="2000" i="1" dirty="0">
                <a:solidFill>
                  <a:srgbClr val="0066FF"/>
                </a:solidFill>
              </a:rPr>
              <a:t>Cavity</a:t>
            </a:r>
          </a:p>
          <a:p>
            <a:pPr lvl="1">
              <a:lnSpc>
                <a:spcPct val="90000"/>
              </a:lnSpc>
            </a:pPr>
            <a:r>
              <a:rPr lang="en-US" sz="2400" dirty="0"/>
              <a:t>Must form a directed, </a:t>
            </a:r>
            <a:r>
              <a:rPr lang="en-US" sz="2400" i="1" dirty="0"/>
              <a:t>acyclic</a:t>
            </a:r>
            <a:r>
              <a:rPr lang="en-US" sz="2400" dirty="0"/>
              <a:t> graph</a:t>
            </a:r>
          </a:p>
        </p:txBody>
      </p:sp>
      <p:pic>
        <p:nvPicPr>
          <p:cNvPr id="6148" name="Picture 4" descr="dentist-network"/>
          <p:cNvPicPr>
            <a:picLocks noChangeAspect="1" noChangeArrowheads="1"/>
          </p:cNvPicPr>
          <p:nvPr/>
        </p:nvPicPr>
        <p:blipFill>
          <a:blip r:embed="rId3" cstate="print"/>
          <a:srcRect/>
          <a:stretch>
            <a:fillRect/>
          </a:stretch>
        </p:blipFill>
        <p:spPr bwMode="auto">
          <a:xfrm>
            <a:off x="5257800" y="1583969"/>
            <a:ext cx="3581400" cy="176883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N independent </a:t>
            </a:r>
            <a:br>
              <a:rPr lang="en-US" dirty="0"/>
            </a:br>
            <a:r>
              <a:rPr lang="en-US" dirty="0"/>
              <a:t>coin flips</a:t>
            </a:r>
          </a:p>
        </p:txBody>
      </p:sp>
      <p:sp>
        <p:nvSpPr>
          <p:cNvPr id="3" name="Content Placeholder 2"/>
          <p:cNvSpPr>
            <a:spLocks noGrp="1"/>
          </p:cNvSpPr>
          <p:nvPr>
            <p:ph idx="1"/>
          </p:nvPr>
        </p:nvSpPr>
        <p:spPr>
          <a:xfrm>
            <a:off x="457200" y="1905000"/>
            <a:ext cx="8229600" cy="4221163"/>
          </a:xfrm>
        </p:spPr>
        <p:txBody>
          <a:bodyPr/>
          <a:lstStyle/>
          <a:p>
            <a:r>
              <a:rPr lang="en-US" dirty="0"/>
              <a:t>Complete independence: no interactions</a:t>
            </a:r>
          </a:p>
        </p:txBody>
      </p:sp>
      <p:sp>
        <p:nvSpPr>
          <p:cNvPr id="4" name="Oval 3"/>
          <p:cNvSpPr/>
          <p:nvPr/>
        </p:nvSpPr>
        <p:spPr>
          <a:xfrm>
            <a:off x="2362200" y="3810000"/>
            <a:ext cx="914400" cy="914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r>
              <a:rPr lang="en-US" sz="2400" baseline="-25000" dirty="0">
                <a:solidFill>
                  <a:schemeClr val="tx1"/>
                </a:solidFill>
              </a:rPr>
              <a:t>1</a:t>
            </a:r>
          </a:p>
        </p:txBody>
      </p:sp>
      <p:sp>
        <p:nvSpPr>
          <p:cNvPr id="5" name="Oval 4"/>
          <p:cNvSpPr/>
          <p:nvPr/>
        </p:nvSpPr>
        <p:spPr>
          <a:xfrm>
            <a:off x="3733800" y="3810000"/>
            <a:ext cx="914400" cy="914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r>
              <a:rPr lang="en-US" sz="2400" baseline="-25000" dirty="0">
                <a:solidFill>
                  <a:schemeClr val="tx1"/>
                </a:solidFill>
              </a:rPr>
              <a:t>2</a:t>
            </a:r>
          </a:p>
        </p:txBody>
      </p:sp>
      <p:sp>
        <p:nvSpPr>
          <p:cNvPr id="6" name="Oval 5"/>
          <p:cNvSpPr/>
          <p:nvPr/>
        </p:nvSpPr>
        <p:spPr>
          <a:xfrm>
            <a:off x="5791200" y="3810000"/>
            <a:ext cx="914400" cy="914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r>
              <a:rPr lang="en-US" sz="2400" baseline="-25000" dirty="0">
                <a:solidFill>
                  <a:schemeClr val="tx1"/>
                </a:solidFill>
              </a:rPr>
              <a:t>n</a:t>
            </a:r>
          </a:p>
        </p:txBody>
      </p:sp>
      <p:sp>
        <p:nvSpPr>
          <p:cNvPr id="7" name="Rectangle 6"/>
          <p:cNvSpPr/>
          <p:nvPr/>
        </p:nvSpPr>
        <p:spPr>
          <a:xfrm>
            <a:off x="4865717" y="3657600"/>
            <a:ext cx="1283868" cy="769441"/>
          </a:xfrm>
          <a:prstGeom prst="rect">
            <a:avLst/>
          </a:prstGeom>
        </p:spPr>
        <p:txBody>
          <a:bodyPr wrap="square">
            <a:spAutoFit/>
          </a:bodyPr>
          <a:lstStyle/>
          <a:p>
            <a:r>
              <a:rPr lang="en-US" sz="44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91600" cy="1143000"/>
          </a:xfrm>
        </p:spPr>
        <p:txBody>
          <a:bodyPr/>
          <a:lstStyle/>
          <a:p>
            <a:r>
              <a:rPr lang="en-US" dirty="0"/>
              <a:t>Example: Naïve </a:t>
            </a:r>
            <a:r>
              <a:rPr lang="en-US" dirty="0" err="1"/>
              <a:t>Bayes</a:t>
            </a:r>
            <a:r>
              <a:rPr lang="en-US" dirty="0"/>
              <a:t> spam filter</a:t>
            </a:r>
          </a:p>
        </p:txBody>
      </p:sp>
      <p:sp>
        <p:nvSpPr>
          <p:cNvPr id="19" name="Content Placeholder 18"/>
          <p:cNvSpPr>
            <a:spLocks noGrp="1"/>
          </p:cNvSpPr>
          <p:nvPr>
            <p:ph idx="1"/>
          </p:nvPr>
        </p:nvSpPr>
        <p:spPr/>
        <p:txBody>
          <a:bodyPr/>
          <a:lstStyle/>
          <a:p>
            <a:r>
              <a:rPr lang="en-US" dirty="0"/>
              <a:t>Random variables:</a:t>
            </a:r>
          </a:p>
          <a:p>
            <a:pPr lvl="1"/>
            <a:r>
              <a:rPr lang="en-US" dirty="0">
                <a:solidFill>
                  <a:srgbClr val="0066FF"/>
                </a:solidFill>
              </a:rPr>
              <a:t>C</a:t>
            </a:r>
            <a:r>
              <a:rPr lang="en-US" dirty="0"/>
              <a:t>: message class (spam or not spam)</a:t>
            </a:r>
          </a:p>
          <a:p>
            <a:pPr lvl="1"/>
            <a:r>
              <a:rPr lang="en-US" dirty="0">
                <a:solidFill>
                  <a:srgbClr val="0066FF"/>
                </a:solidFill>
              </a:rPr>
              <a:t>W</a:t>
            </a:r>
            <a:r>
              <a:rPr lang="en-US" baseline="-25000" dirty="0">
                <a:solidFill>
                  <a:srgbClr val="0066FF"/>
                </a:solidFill>
              </a:rPr>
              <a:t>1</a:t>
            </a:r>
            <a:r>
              <a:rPr lang="en-US" dirty="0">
                <a:solidFill>
                  <a:srgbClr val="0066FF"/>
                </a:solidFill>
              </a:rPr>
              <a:t>, …, W</a:t>
            </a:r>
            <a:r>
              <a:rPr lang="en-US" baseline="-25000" dirty="0">
                <a:solidFill>
                  <a:srgbClr val="0066FF"/>
                </a:solidFill>
              </a:rPr>
              <a:t>n</a:t>
            </a:r>
            <a:r>
              <a:rPr lang="en-US" dirty="0"/>
              <a:t>: words comprising the message</a:t>
            </a:r>
          </a:p>
        </p:txBody>
      </p:sp>
      <p:sp>
        <p:nvSpPr>
          <p:cNvPr id="4" name="Oval 3"/>
          <p:cNvSpPr/>
          <p:nvPr/>
        </p:nvSpPr>
        <p:spPr>
          <a:xfrm>
            <a:off x="2362200" y="5257800"/>
            <a:ext cx="914400" cy="914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W</a:t>
            </a:r>
            <a:r>
              <a:rPr lang="en-US" sz="2400" baseline="-25000" dirty="0">
                <a:solidFill>
                  <a:schemeClr val="tx1"/>
                </a:solidFill>
              </a:rPr>
              <a:t>1</a:t>
            </a:r>
          </a:p>
        </p:txBody>
      </p:sp>
      <p:sp>
        <p:nvSpPr>
          <p:cNvPr id="5" name="Oval 4"/>
          <p:cNvSpPr/>
          <p:nvPr/>
        </p:nvSpPr>
        <p:spPr>
          <a:xfrm>
            <a:off x="3733800" y="5257800"/>
            <a:ext cx="914400" cy="914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W</a:t>
            </a:r>
            <a:r>
              <a:rPr lang="en-US" sz="2400" baseline="-25000" dirty="0">
                <a:solidFill>
                  <a:schemeClr val="tx1"/>
                </a:solidFill>
              </a:rPr>
              <a:t>2</a:t>
            </a:r>
          </a:p>
        </p:txBody>
      </p:sp>
      <p:sp>
        <p:nvSpPr>
          <p:cNvPr id="6" name="Oval 5"/>
          <p:cNvSpPr/>
          <p:nvPr/>
        </p:nvSpPr>
        <p:spPr>
          <a:xfrm>
            <a:off x="5791200" y="5257800"/>
            <a:ext cx="914400" cy="914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W</a:t>
            </a:r>
            <a:r>
              <a:rPr lang="en-US" sz="2400" baseline="-25000" dirty="0">
                <a:solidFill>
                  <a:schemeClr val="tx1"/>
                </a:solidFill>
              </a:rPr>
              <a:t>n</a:t>
            </a:r>
          </a:p>
        </p:txBody>
      </p:sp>
      <p:sp>
        <p:nvSpPr>
          <p:cNvPr id="7" name="Rectangle 6"/>
          <p:cNvSpPr/>
          <p:nvPr/>
        </p:nvSpPr>
        <p:spPr>
          <a:xfrm>
            <a:off x="4865717" y="5105400"/>
            <a:ext cx="1283868" cy="769441"/>
          </a:xfrm>
          <a:prstGeom prst="rect">
            <a:avLst/>
          </a:prstGeom>
        </p:spPr>
        <p:txBody>
          <a:bodyPr wrap="square">
            <a:spAutoFit/>
          </a:bodyPr>
          <a:lstStyle/>
          <a:p>
            <a:r>
              <a:rPr lang="en-US" sz="4400" dirty="0"/>
              <a:t>…</a:t>
            </a:r>
          </a:p>
        </p:txBody>
      </p:sp>
      <p:sp>
        <p:nvSpPr>
          <p:cNvPr id="8" name="Oval 7"/>
          <p:cNvSpPr/>
          <p:nvPr/>
        </p:nvSpPr>
        <p:spPr>
          <a:xfrm>
            <a:off x="4038600" y="3657600"/>
            <a:ext cx="914400" cy="914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a:t>
            </a:r>
            <a:endParaRPr lang="en-US" sz="2400" baseline="-25000" dirty="0">
              <a:solidFill>
                <a:schemeClr val="tx1"/>
              </a:solidFill>
            </a:endParaRPr>
          </a:p>
        </p:txBody>
      </p:sp>
      <p:cxnSp>
        <p:nvCxnSpPr>
          <p:cNvPr id="9" name="Straight Arrow Connector 8"/>
          <p:cNvCxnSpPr>
            <a:stCxn id="8" idx="3"/>
            <a:endCxn id="4" idx="0"/>
          </p:cNvCxnSpPr>
          <p:nvPr/>
        </p:nvCxnSpPr>
        <p:spPr>
          <a:xfrm rot="5400000">
            <a:off x="3086101" y="4171389"/>
            <a:ext cx="819711" cy="1353111"/>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5" idx="0"/>
          </p:cNvCxnSpPr>
          <p:nvPr/>
        </p:nvCxnSpPr>
        <p:spPr>
          <a:xfrm rot="5400000">
            <a:off x="3924300" y="4838700"/>
            <a:ext cx="685800" cy="1524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5"/>
            <a:endCxn id="6" idx="0"/>
          </p:cNvCxnSpPr>
          <p:nvPr/>
        </p:nvCxnSpPr>
        <p:spPr>
          <a:xfrm rot="16200000" flipH="1">
            <a:off x="5123889" y="4133288"/>
            <a:ext cx="819711" cy="1429311"/>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Example: Burglar Alarm</a:t>
            </a:r>
          </a:p>
        </p:txBody>
      </p:sp>
      <p:sp>
        <p:nvSpPr>
          <p:cNvPr id="7171" name="Rectangle 3"/>
          <p:cNvSpPr>
            <a:spLocks noGrp="1" noChangeArrowheads="1"/>
          </p:cNvSpPr>
          <p:nvPr>
            <p:ph type="body" idx="1"/>
          </p:nvPr>
        </p:nvSpPr>
        <p:spPr/>
        <p:txBody>
          <a:bodyPr/>
          <a:lstStyle/>
          <a:p>
            <a:r>
              <a:rPr lang="en-US" sz="2400" dirty="0"/>
              <a:t>I have a burglar alarm that is sometimes set off by minor earthquakes. My two neighbors, John and Mary, promised to call me at work if they hear the alarm</a:t>
            </a:r>
          </a:p>
          <a:p>
            <a:pPr lvl="1"/>
            <a:r>
              <a:rPr lang="en-US" sz="2000" dirty="0"/>
              <a:t>Example inference task: suppose Mary calls and John doesn’t call. What is the probability of a burglary?</a:t>
            </a:r>
          </a:p>
          <a:p>
            <a:r>
              <a:rPr lang="en-US" sz="2400" dirty="0"/>
              <a:t>What are the random variables? </a:t>
            </a:r>
          </a:p>
          <a:p>
            <a:pPr lvl="1"/>
            <a:r>
              <a:rPr lang="en-US" sz="2000" i="1" dirty="0">
                <a:solidFill>
                  <a:srgbClr val="0070C0"/>
                </a:solidFill>
              </a:rPr>
              <a:t>Burglary</a:t>
            </a:r>
            <a:r>
              <a:rPr lang="en-US" sz="2000" dirty="0">
                <a:solidFill>
                  <a:srgbClr val="0070C0"/>
                </a:solidFill>
              </a:rPr>
              <a:t>, </a:t>
            </a:r>
            <a:r>
              <a:rPr lang="en-US" sz="2000" i="1" dirty="0">
                <a:solidFill>
                  <a:srgbClr val="0070C0"/>
                </a:solidFill>
              </a:rPr>
              <a:t>Earthquake</a:t>
            </a:r>
            <a:r>
              <a:rPr lang="en-US" sz="2000" dirty="0">
                <a:solidFill>
                  <a:srgbClr val="0070C0"/>
                </a:solidFill>
              </a:rPr>
              <a:t>, </a:t>
            </a:r>
            <a:r>
              <a:rPr lang="en-US" sz="2000" i="1" dirty="0">
                <a:solidFill>
                  <a:srgbClr val="0070C0"/>
                </a:solidFill>
              </a:rPr>
              <a:t>Alarm</a:t>
            </a:r>
            <a:r>
              <a:rPr lang="en-US" sz="2000" dirty="0">
                <a:solidFill>
                  <a:srgbClr val="0070C0"/>
                </a:solidFill>
              </a:rPr>
              <a:t>, </a:t>
            </a:r>
            <a:r>
              <a:rPr lang="en-US" sz="2000" i="1" dirty="0" err="1">
                <a:solidFill>
                  <a:srgbClr val="0070C0"/>
                </a:solidFill>
              </a:rPr>
              <a:t>JohnCalls</a:t>
            </a:r>
            <a:r>
              <a:rPr lang="en-US" sz="2000" dirty="0">
                <a:solidFill>
                  <a:srgbClr val="0070C0"/>
                </a:solidFill>
              </a:rPr>
              <a:t>, </a:t>
            </a:r>
            <a:r>
              <a:rPr lang="en-US" sz="2000" i="1" dirty="0" err="1">
                <a:solidFill>
                  <a:srgbClr val="0070C0"/>
                </a:solidFill>
              </a:rPr>
              <a:t>MaryCalls</a:t>
            </a:r>
            <a:endParaRPr lang="en-US" sz="2000" dirty="0"/>
          </a:p>
          <a:p>
            <a:r>
              <a:rPr lang="en-US" sz="2400" dirty="0"/>
              <a:t>What are the direct influence relationships?</a:t>
            </a:r>
          </a:p>
          <a:p>
            <a:pPr lvl="1"/>
            <a:r>
              <a:rPr lang="en-US" sz="2000" dirty="0"/>
              <a:t>A burglar can set the alarm off</a:t>
            </a:r>
          </a:p>
          <a:p>
            <a:pPr lvl="1"/>
            <a:r>
              <a:rPr lang="en-US" sz="2000" dirty="0"/>
              <a:t>An earthquake can set the alarm off</a:t>
            </a:r>
          </a:p>
          <a:p>
            <a:pPr lvl="1"/>
            <a:r>
              <a:rPr lang="en-US" sz="2000" dirty="0"/>
              <a:t>The alarm can cause Mary to call</a:t>
            </a:r>
          </a:p>
          <a:p>
            <a:pPr lvl="1"/>
            <a:r>
              <a:rPr lang="en-US" sz="2000" dirty="0"/>
              <a:t>The alarm can cause John to call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Example: Burglar Alarm</a:t>
            </a:r>
          </a:p>
        </p:txBody>
      </p:sp>
      <p:pic>
        <p:nvPicPr>
          <p:cNvPr id="8197" name="Picture 5"/>
          <p:cNvPicPr>
            <a:picLocks noChangeAspect="1" noChangeArrowheads="1"/>
          </p:cNvPicPr>
          <p:nvPr/>
        </p:nvPicPr>
        <p:blipFill>
          <a:blip r:embed="rId3" cstate="print"/>
          <a:srcRect/>
          <a:stretch>
            <a:fillRect/>
          </a:stretch>
        </p:blipFill>
        <p:spPr bwMode="auto">
          <a:xfrm>
            <a:off x="84011" y="1447800"/>
            <a:ext cx="8983789" cy="4953000"/>
          </a:xfrm>
          <a:prstGeom prst="rect">
            <a:avLst/>
          </a:prstGeom>
          <a:noFill/>
          <a:ln w="9525">
            <a:noFill/>
            <a:miter lim="800000"/>
            <a:headEnd/>
            <a:tailEnd/>
          </a:ln>
        </p:spPr>
      </p:pic>
      <p:sp>
        <p:nvSpPr>
          <p:cNvPr id="7" name="Rectangle 6"/>
          <p:cNvSpPr/>
          <p:nvPr/>
        </p:nvSpPr>
        <p:spPr>
          <a:xfrm>
            <a:off x="3200400" y="1447800"/>
            <a:ext cx="1143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0" y="1447800"/>
            <a:ext cx="12954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2819400"/>
            <a:ext cx="2743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236976" y="5105400"/>
            <a:ext cx="16764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91400" y="5029200"/>
            <a:ext cx="1676400"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105400" y="3124200"/>
            <a:ext cx="3352800" cy="954107"/>
          </a:xfrm>
          <a:prstGeom prst="rect">
            <a:avLst/>
          </a:prstGeom>
          <a:noFill/>
        </p:spPr>
        <p:txBody>
          <a:bodyPr wrap="square" rtlCol="0">
            <a:spAutoFit/>
          </a:bodyPr>
          <a:lstStyle/>
          <a:p>
            <a:r>
              <a:rPr lang="en-US" sz="2800" dirty="0">
                <a:solidFill>
                  <a:srgbClr val="7030A0"/>
                </a:solidFill>
              </a:rPr>
              <a:t>What are the model parameters?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 y="0"/>
            <a:ext cx="8991600" cy="1143000"/>
          </a:xfrm>
        </p:spPr>
        <p:txBody>
          <a:bodyPr/>
          <a:lstStyle/>
          <a:p>
            <a:r>
              <a:rPr lang="en-US" dirty="0"/>
              <a:t>Conditional probability distributions</a:t>
            </a:r>
          </a:p>
        </p:txBody>
      </p:sp>
      <p:sp>
        <p:nvSpPr>
          <p:cNvPr id="5123" name="Rectangle 3"/>
          <p:cNvSpPr>
            <a:spLocks noGrp="1" noChangeArrowheads="1"/>
          </p:cNvSpPr>
          <p:nvPr>
            <p:ph type="body" idx="1"/>
          </p:nvPr>
        </p:nvSpPr>
        <p:spPr>
          <a:xfrm>
            <a:off x="381000" y="1143000"/>
            <a:ext cx="8382000" cy="2438401"/>
          </a:xfrm>
        </p:spPr>
        <p:txBody>
          <a:bodyPr/>
          <a:lstStyle/>
          <a:p>
            <a:r>
              <a:rPr lang="en-US" sz="2400" dirty="0"/>
              <a:t>To specify the full joint distribution, we need to specify a </a:t>
            </a:r>
            <a:r>
              <a:rPr lang="en-US" sz="2400" i="1" dirty="0"/>
              <a:t>conditional</a:t>
            </a:r>
            <a:r>
              <a:rPr lang="en-US" sz="2400" dirty="0"/>
              <a:t> distribution for each node given its parents: </a:t>
            </a:r>
            <a:br>
              <a:rPr lang="en-US" sz="2400" dirty="0"/>
            </a:br>
            <a:r>
              <a:rPr lang="en-US" sz="2200" dirty="0">
                <a:solidFill>
                  <a:srgbClr val="0066FF"/>
                </a:solidFill>
              </a:rPr>
              <a:t>P</a:t>
            </a:r>
            <a:r>
              <a:rPr lang="en-US" sz="2200" b="1" dirty="0">
                <a:solidFill>
                  <a:srgbClr val="0066FF"/>
                </a:solidFill>
              </a:rPr>
              <a:t> </a:t>
            </a:r>
            <a:r>
              <a:rPr lang="en-US" sz="2200" dirty="0">
                <a:solidFill>
                  <a:srgbClr val="0066FF"/>
                </a:solidFill>
              </a:rPr>
              <a:t>(X</a:t>
            </a:r>
            <a:r>
              <a:rPr lang="en-US" sz="2200" baseline="-25000" dirty="0">
                <a:solidFill>
                  <a:srgbClr val="0066FF"/>
                </a:solidFill>
              </a:rPr>
              <a:t> </a:t>
            </a:r>
            <a:r>
              <a:rPr lang="en-US" sz="2200" dirty="0">
                <a:solidFill>
                  <a:srgbClr val="0066FF"/>
                </a:solidFill>
              </a:rPr>
              <a:t>| Parents(X))</a:t>
            </a:r>
          </a:p>
        </p:txBody>
      </p:sp>
      <p:sp>
        <p:nvSpPr>
          <p:cNvPr id="4" name="Oval 3"/>
          <p:cNvSpPr/>
          <p:nvPr/>
        </p:nvSpPr>
        <p:spPr>
          <a:xfrm>
            <a:off x="2231525" y="3429000"/>
            <a:ext cx="533400"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Z</a:t>
            </a:r>
            <a:r>
              <a:rPr lang="en-US" sz="1400" baseline="-25000" dirty="0">
                <a:solidFill>
                  <a:schemeClr val="tx1"/>
                </a:solidFill>
              </a:rPr>
              <a:t>1</a:t>
            </a:r>
          </a:p>
        </p:txBody>
      </p:sp>
      <p:sp>
        <p:nvSpPr>
          <p:cNvPr id="5" name="Oval 4"/>
          <p:cNvSpPr/>
          <p:nvPr/>
        </p:nvSpPr>
        <p:spPr>
          <a:xfrm>
            <a:off x="3298325" y="3429000"/>
            <a:ext cx="533400"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Z</a:t>
            </a:r>
            <a:r>
              <a:rPr lang="en-US" sz="1400" baseline="-25000" dirty="0">
                <a:solidFill>
                  <a:schemeClr val="tx1"/>
                </a:solidFill>
              </a:rPr>
              <a:t>2</a:t>
            </a:r>
          </a:p>
        </p:txBody>
      </p:sp>
      <p:sp>
        <p:nvSpPr>
          <p:cNvPr id="6" name="Oval 5"/>
          <p:cNvSpPr/>
          <p:nvPr/>
        </p:nvSpPr>
        <p:spPr>
          <a:xfrm>
            <a:off x="4898525" y="3429000"/>
            <a:ext cx="533400"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Z</a:t>
            </a:r>
            <a:r>
              <a:rPr lang="en-US" sz="1400" baseline="-25000" dirty="0">
                <a:solidFill>
                  <a:schemeClr val="tx1"/>
                </a:solidFill>
              </a:rPr>
              <a:t>n</a:t>
            </a:r>
          </a:p>
        </p:txBody>
      </p:sp>
      <p:cxnSp>
        <p:nvCxnSpPr>
          <p:cNvPr id="8" name="Straight Arrow Connector 7"/>
          <p:cNvCxnSpPr>
            <a:stCxn id="4" idx="4"/>
            <a:endCxn id="15" idx="1"/>
          </p:cNvCxnSpPr>
          <p:nvPr/>
        </p:nvCxnSpPr>
        <p:spPr>
          <a:xfrm rot="16200000" flipH="1">
            <a:off x="2479175" y="3981449"/>
            <a:ext cx="1221115" cy="1183015"/>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4"/>
            <a:endCxn id="15" idx="0"/>
          </p:cNvCxnSpPr>
          <p:nvPr/>
        </p:nvCxnSpPr>
        <p:spPr>
          <a:xfrm rot="16200000" flipH="1">
            <a:off x="3145925" y="4381500"/>
            <a:ext cx="1143000" cy="3048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4"/>
            <a:endCxn id="15" idx="7"/>
          </p:cNvCxnSpPr>
          <p:nvPr/>
        </p:nvCxnSpPr>
        <p:spPr>
          <a:xfrm rot="5400000">
            <a:off x="4001261" y="4019550"/>
            <a:ext cx="1221115" cy="1106815"/>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3603125" y="5105400"/>
            <a:ext cx="533400"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endParaRPr lang="en-US" dirty="0"/>
          </a:p>
        </p:txBody>
      </p:sp>
      <p:sp>
        <p:nvSpPr>
          <p:cNvPr id="16" name="Rectangle 15"/>
          <p:cNvSpPr/>
          <p:nvPr/>
        </p:nvSpPr>
        <p:spPr>
          <a:xfrm>
            <a:off x="4049242" y="3124200"/>
            <a:ext cx="748923" cy="769441"/>
          </a:xfrm>
          <a:prstGeom prst="rect">
            <a:avLst/>
          </a:prstGeom>
        </p:spPr>
        <p:txBody>
          <a:bodyPr wrap="none">
            <a:spAutoFit/>
          </a:bodyPr>
          <a:lstStyle/>
          <a:p>
            <a:r>
              <a:rPr lang="en-US" sz="4400" dirty="0"/>
              <a:t>…</a:t>
            </a:r>
          </a:p>
        </p:txBody>
      </p:sp>
      <p:sp>
        <p:nvSpPr>
          <p:cNvPr id="22" name="Bent Arrow 21"/>
          <p:cNvSpPr/>
          <p:nvPr/>
        </p:nvSpPr>
        <p:spPr>
          <a:xfrm rot="5400000">
            <a:off x="5355725" y="4343400"/>
            <a:ext cx="990600" cy="1143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Rectangle 22"/>
          <p:cNvSpPr/>
          <p:nvPr/>
        </p:nvSpPr>
        <p:spPr>
          <a:xfrm>
            <a:off x="4669925" y="5562600"/>
            <a:ext cx="2645275" cy="430887"/>
          </a:xfrm>
          <a:prstGeom prst="rect">
            <a:avLst/>
          </a:prstGeom>
        </p:spPr>
        <p:txBody>
          <a:bodyPr wrap="none">
            <a:spAutoFit/>
          </a:bodyPr>
          <a:lstStyle/>
          <a:p>
            <a:pPr lvl="1" algn="ctr">
              <a:buFontTx/>
              <a:buNone/>
            </a:pPr>
            <a:r>
              <a:rPr lang="en-US" sz="2200" dirty="0">
                <a:solidFill>
                  <a:srgbClr val="0066FF"/>
                </a:solidFill>
              </a:rPr>
              <a:t>P</a:t>
            </a:r>
            <a:r>
              <a:rPr lang="en-US" sz="2200" b="1" dirty="0">
                <a:solidFill>
                  <a:srgbClr val="0066FF"/>
                </a:solidFill>
              </a:rPr>
              <a:t> </a:t>
            </a:r>
            <a:r>
              <a:rPr lang="en-US" sz="2200" dirty="0">
                <a:solidFill>
                  <a:srgbClr val="0066FF"/>
                </a:solidFill>
              </a:rPr>
              <a:t>(X</a:t>
            </a:r>
            <a:r>
              <a:rPr lang="en-US" sz="2200" baseline="-25000" dirty="0">
                <a:solidFill>
                  <a:srgbClr val="0066FF"/>
                </a:solidFill>
              </a:rPr>
              <a:t> </a:t>
            </a:r>
            <a:r>
              <a:rPr lang="en-US" sz="2200" dirty="0">
                <a:solidFill>
                  <a:srgbClr val="0066FF"/>
                </a:solidFill>
              </a:rPr>
              <a:t>| Z</a:t>
            </a:r>
            <a:r>
              <a:rPr lang="en-US" sz="2200" baseline="-25000" dirty="0">
                <a:solidFill>
                  <a:srgbClr val="0066FF"/>
                </a:solidFill>
              </a:rPr>
              <a:t>1</a:t>
            </a:r>
            <a:r>
              <a:rPr lang="en-US" sz="2200" dirty="0">
                <a:solidFill>
                  <a:srgbClr val="0066FF"/>
                </a:solidFill>
              </a:rPr>
              <a:t>, …, Z</a:t>
            </a:r>
            <a:r>
              <a:rPr lang="en-US" sz="2200" baseline="-25000" dirty="0">
                <a:solidFill>
                  <a:srgbClr val="0066FF"/>
                </a:solidFill>
              </a:rPr>
              <a:t>n</a:t>
            </a:r>
            <a:r>
              <a:rPr lang="en-US" sz="2200" dirty="0">
                <a:solidFill>
                  <a:srgbClr val="0066FF"/>
                </a:solidFil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Example: Burglar Alarm</a:t>
            </a:r>
          </a:p>
        </p:txBody>
      </p:sp>
      <p:pic>
        <p:nvPicPr>
          <p:cNvPr id="8197" name="Picture 5"/>
          <p:cNvPicPr>
            <a:picLocks noChangeAspect="1" noChangeArrowheads="1"/>
          </p:cNvPicPr>
          <p:nvPr/>
        </p:nvPicPr>
        <p:blipFill>
          <a:blip r:embed="rId3" cstate="print"/>
          <a:srcRect/>
          <a:stretch>
            <a:fillRect/>
          </a:stretch>
        </p:blipFill>
        <p:spPr bwMode="auto">
          <a:xfrm>
            <a:off x="84011" y="1447800"/>
            <a:ext cx="8983789" cy="4953000"/>
          </a:xfrm>
          <a:prstGeom prst="rect">
            <a:avLst/>
          </a:prstGeom>
          <a:noFill/>
          <a:ln w="9525">
            <a:noFill/>
            <a:miter lim="800000"/>
            <a:headEnd/>
            <a:tailEnd/>
          </a:ln>
        </p:spPr>
      </p:pic>
      <p:sp>
        <p:nvSpPr>
          <p:cNvPr id="7" name="Rectangle 6"/>
          <p:cNvSpPr/>
          <p:nvPr/>
        </p:nvSpPr>
        <p:spPr>
          <a:xfrm>
            <a:off x="3200400" y="1447800"/>
            <a:ext cx="1143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0" y="1447800"/>
            <a:ext cx="12954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2819400"/>
            <a:ext cx="2743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236976" y="5105400"/>
            <a:ext cx="16764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91400" y="5029200"/>
            <a:ext cx="1676400"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The joint probability distribution</a:t>
            </a:r>
          </a:p>
        </p:txBody>
      </p:sp>
      <p:sp>
        <p:nvSpPr>
          <p:cNvPr id="10243" name="Rectangle 3"/>
          <p:cNvSpPr>
            <a:spLocks noGrp="1" noChangeArrowheads="1"/>
          </p:cNvSpPr>
          <p:nvPr>
            <p:ph type="body" idx="1"/>
          </p:nvPr>
        </p:nvSpPr>
        <p:spPr/>
        <p:txBody>
          <a:bodyPr/>
          <a:lstStyle/>
          <a:p>
            <a:r>
              <a:rPr lang="en-US" sz="2400" dirty="0"/>
              <a:t>For each node X</a:t>
            </a:r>
            <a:r>
              <a:rPr lang="en-US" sz="2400" baseline="-25000" dirty="0"/>
              <a:t>i</a:t>
            </a:r>
            <a:r>
              <a:rPr lang="en-US" sz="2400" dirty="0"/>
              <a:t>, we know </a:t>
            </a:r>
            <a:r>
              <a:rPr lang="en-US" sz="2400" dirty="0">
                <a:solidFill>
                  <a:srgbClr val="0066FF"/>
                </a:solidFill>
              </a:rPr>
              <a:t>P(X</a:t>
            </a:r>
            <a:r>
              <a:rPr lang="en-US" sz="2400" baseline="-25000" dirty="0">
                <a:solidFill>
                  <a:srgbClr val="0066FF"/>
                </a:solidFill>
              </a:rPr>
              <a:t>i</a:t>
            </a:r>
            <a:r>
              <a:rPr lang="en-US" sz="2400" dirty="0">
                <a:solidFill>
                  <a:srgbClr val="0066FF"/>
                </a:solidFill>
              </a:rPr>
              <a:t> | Parents(X</a:t>
            </a:r>
            <a:r>
              <a:rPr lang="en-US" sz="2400" baseline="-25000" dirty="0">
                <a:solidFill>
                  <a:srgbClr val="0066FF"/>
                </a:solidFill>
              </a:rPr>
              <a:t>i</a:t>
            </a:r>
            <a:r>
              <a:rPr lang="en-US" sz="2400" dirty="0">
                <a:solidFill>
                  <a:srgbClr val="0066FF"/>
                </a:solidFill>
              </a:rPr>
              <a:t>))</a:t>
            </a:r>
          </a:p>
          <a:p>
            <a:r>
              <a:rPr lang="en-US" sz="2400" dirty="0"/>
              <a:t>How do we get the full joint distribution </a:t>
            </a:r>
            <a:r>
              <a:rPr lang="en-US" sz="2400" dirty="0">
                <a:solidFill>
                  <a:srgbClr val="0066FF"/>
                </a:solidFill>
              </a:rPr>
              <a:t>P(X</a:t>
            </a:r>
            <a:r>
              <a:rPr lang="en-US" sz="2400" baseline="-25000" dirty="0">
                <a:solidFill>
                  <a:srgbClr val="0066FF"/>
                </a:solidFill>
              </a:rPr>
              <a:t>1</a:t>
            </a:r>
            <a:r>
              <a:rPr lang="en-US" sz="2400" dirty="0">
                <a:solidFill>
                  <a:srgbClr val="0066FF"/>
                </a:solidFill>
              </a:rPr>
              <a:t>, …, X</a:t>
            </a:r>
            <a:r>
              <a:rPr lang="en-US" sz="2400" baseline="-25000" dirty="0">
                <a:solidFill>
                  <a:srgbClr val="0066FF"/>
                </a:solidFill>
              </a:rPr>
              <a:t>n</a:t>
            </a:r>
            <a:r>
              <a:rPr lang="en-US" sz="2400" dirty="0">
                <a:solidFill>
                  <a:srgbClr val="0066FF"/>
                </a:solidFill>
              </a:rPr>
              <a:t>)</a:t>
            </a:r>
            <a:r>
              <a:rPr lang="en-US" sz="2400" dirty="0"/>
              <a:t>?</a:t>
            </a:r>
          </a:p>
          <a:p>
            <a:r>
              <a:rPr lang="en-US" sz="2400" dirty="0"/>
              <a:t>Using chain rule:</a:t>
            </a:r>
          </a:p>
          <a:p>
            <a:endParaRPr lang="en-US" sz="2400" dirty="0"/>
          </a:p>
          <a:p>
            <a:endParaRPr lang="en-US" sz="2400" dirty="0"/>
          </a:p>
          <a:p>
            <a:endParaRPr lang="en-US" sz="2400" dirty="0"/>
          </a:p>
          <a:p>
            <a:pPr>
              <a:buNone/>
            </a:pPr>
            <a:endParaRPr lang="en-US" sz="2400" dirty="0"/>
          </a:p>
          <a:p>
            <a:endParaRPr lang="en-US" sz="2400" dirty="0"/>
          </a:p>
          <a:p>
            <a:r>
              <a:rPr lang="en-US" sz="2400" dirty="0"/>
              <a:t>For example, </a:t>
            </a:r>
            <a:r>
              <a:rPr lang="en-US" sz="2400" dirty="0">
                <a:solidFill>
                  <a:srgbClr val="0066FF"/>
                </a:solidFill>
              </a:rPr>
              <a:t>P(j, m, a, </a:t>
            </a:r>
            <a:r>
              <a:rPr lang="en-US" sz="2400" dirty="0">
                <a:solidFill>
                  <a:srgbClr val="0066FF"/>
                </a:solidFill>
                <a:sym typeface="Symbol" pitchFamily="18" charset="2"/>
              </a:rPr>
              <a:t></a:t>
            </a:r>
            <a:r>
              <a:rPr lang="en-US" sz="2400" dirty="0">
                <a:solidFill>
                  <a:srgbClr val="0066FF"/>
                </a:solidFill>
              </a:rPr>
              <a:t>b, </a:t>
            </a:r>
            <a:r>
              <a:rPr lang="en-US" sz="2400" dirty="0">
                <a:solidFill>
                  <a:srgbClr val="0066FF"/>
                </a:solidFill>
                <a:sym typeface="Symbol" pitchFamily="18" charset="2"/>
              </a:rPr>
              <a:t></a:t>
            </a:r>
            <a:r>
              <a:rPr lang="en-US" sz="2400" dirty="0">
                <a:solidFill>
                  <a:srgbClr val="0066FF"/>
                </a:solidFill>
              </a:rPr>
              <a:t>e)</a:t>
            </a:r>
          </a:p>
          <a:p>
            <a:pPr>
              <a:buNone/>
            </a:pPr>
            <a:r>
              <a:rPr lang="en-US" sz="2400" dirty="0">
                <a:solidFill>
                  <a:srgbClr val="0066FF"/>
                </a:solidFill>
              </a:rPr>
              <a:t>	= P(</a:t>
            </a:r>
            <a:r>
              <a:rPr lang="en-US" sz="2400" dirty="0">
                <a:solidFill>
                  <a:srgbClr val="0066FF"/>
                </a:solidFill>
                <a:sym typeface="Symbol" pitchFamily="18" charset="2"/>
              </a:rPr>
              <a:t></a:t>
            </a:r>
            <a:r>
              <a:rPr lang="en-US" sz="2400" dirty="0">
                <a:solidFill>
                  <a:srgbClr val="0066FF"/>
                </a:solidFill>
              </a:rPr>
              <a:t>b) P(</a:t>
            </a:r>
            <a:r>
              <a:rPr lang="en-US" sz="2400" dirty="0">
                <a:solidFill>
                  <a:srgbClr val="0066FF"/>
                </a:solidFill>
                <a:sym typeface="Symbol" pitchFamily="18" charset="2"/>
              </a:rPr>
              <a:t></a:t>
            </a:r>
            <a:r>
              <a:rPr lang="en-US" sz="2400" dirty="0">
                <a:solidFill>
                  <a:srgbClr val="0066FF"/>
                </a:solidFill>
              </a:rPr>
              <a:t>e) P(a | </a:t>
            </a:r>
            <a:r>
              <a:rPr lang="en-US" sz="2400" dirty="0">
                <a:solidFill>
                  <a:srgbClr val="0066FF"/>
                </a:solidFill>
                <a:sym typeface="Symbol" pitchFamily="18" charset="2"/>
              </a:rPr>
              <a:t></a:t>
            </a:r>
            <a:r>
              <a:rPr lang="en-US" sz="2400" dirty="0">
                <a:solidFill>
                  <a:srgbClr val="0066FF"/>
                </a:solidFill>
              </a:rPr>
              <a:t>b, </a:t>
            </a:r>
            <a:r>
              <a:rPr lang="en-US" sz="2400" dirty="0">
                <a:solidFill>
                  <a:srgbClr val="0066FF"/>
                </a:solidFill>
                <a:sym typeface="Symbol" pitchFamily="18" charset="2"/>
              </a:rPr>
              <a:t></a:t>
            </a:r>
            <a:r>
              <a:rPr lang="en-US" sz="2400" dirty="0">
                <a:solidFill>
                  <a:srgbClr val="0066FF"/>
                </a:solidFill>
              </a:rPr>
              <a:t>e) P(j | a) P(m | a)
</a:t>
            </a:r>
          </a:p>
        </p:txBody>
      </p:sp>
      <p:graphicFrame>
        <p:nvGraphicFramePr>
          <p:cNvPr id="8" name="Object 7"/>
          <p:cNvGraphicFramePr>
            <a:graphicFrameLocks noChangeAspect="1"/>
          </p:cNvGraphicFramePr>
          <p:nvPr/>
        </p:nvGraphicFramePr>
        <p:xfrm>
          <a:off x="812800" y="3048000"/>
          <a:ext cx="7569200" cy="838200"/>
        </p:xfrm>
        <a:graphic>
          <a:graphicData uri="http://schemas.openxmlformats.org/presentationml/2006/ole">
            <mc:AlternateContent xmlns:mc="http://schemas.openxmlformats.org/markup-compatibility/2006">
              <mc:Choice xmlns:v="urn:schemas-microsoft-com:vml" Requires="v">
                <p:oleObj name="Equation" r:id="rId3" imgW="3898800" imgH="431640" progId="Equation.3">
                  <p:embed/>
                </p:oleObj>
              </mc:Choice>
              <mc:Fallback>
                <p:oleObj name="Equation" r:id="rId3" imgW="3898800" imgH="43164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800" y="3048000"/>
                        <a:ext cx="75692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4" descr="burglary-small"/>
          <p:cNvPicPr>
            <a:picLocks noChangeAspect="1" noChangeArrowheads="1"/>
          </p:cNvPicPr>
          <p:nvPr/>
        </p:nvPicPr>
        <p:blipFill>
          <a:blip r:embed="rId5" cstate="print"/>
          <a:srcRect/>
          <a:stretch>
            <a:fillRect/>
          </a:stretch>
        </p:blipFill>
        <p:spPr bwMode="auto">
          <a:xfrm>
            <a:off x="6705600" y="4114800"/>
            <a:ext cx="1209675" cy="120967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2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 y="0"/>
            <a:ext cx="8991600" cy="1143000"/>
          </a:xfrm>
        </p:spPr>
        <p:txBody>
          <a:bodyPr/>
          <a:lstStyle/>
          <a:p>
            <a:r>
              <a:rPr lang="en-US" dirty="0"/>
              <a:t>Conditional independence</a:t>
            </a:r>
          </a:p>
        </p:txBody>
      </p:sp>
      <p:sp>
        <p:nvSpPr>
          <p:cNvPr id="5123" name="Rectangle 3"/>
          <p:cNvSpPr>
            <a:spLocks noGrp="1" noChangeArrowheads="1"/>
          </p:cNvSpPr>
          <p:nvPr>
            <p:ph type="body" idx="1"/>
          </p:nvPr>
        </p:nvSpPr>
        <p:spPr>
          <a:xfrm>
            <a:off x="381000" y="1143000"/>
            <a:ext cx="8382000" cy="2438401"/>
          </a:xfrm>
        </p:spPr>
        <p:txBody>
          <a:bodyPr/>
          <a:lstStyle/>
          <a:p>
            <a:r>
              <a:rPr lang="en-US" sz="2800" dirty="0"/>
              <a:t>Key assumption: X is conditionally independent of every </a:t>
            </a:r>
            <a:r>
              <a:rPr lang="en-US" sz="2800" i="1" dirty="0"/>
              <a:t>non-descendant node</a:t>
            </a:r>
            <a:r>
              <a:rPr lang="en-US" sz="2800" dirty="0"/>
              <a:t> given its parents</a:t>
            </a:r>
          </a:p>
          <a:p>
            <a:r>
              <a:rPr lang="en-US" sz="2800" dirty="0"/>
              <a:t>Example: </a:t>
            </a:r>
            <a:r>
              <a:rPr lang="en-US" sz="2800" i="1" dirty="0"/>
              <a:t>causal chain</a:t>
            </a:r>
          </a:p>
          <a:p>
            <a:endParaRPr lang="en-US" sz="2800" i="1" dirty="0"/>
          </a:p>
          <a:p>
            <a:endParaRPr lang="en-US" sz="2800" i="1" dirty="0"/>
          </a:p>
          <a:p>
            <a:endParaRPr lang="en-US" sz="2800" i="1" dirty="0"/>
          </a:p>
          <a:p>
            <a:r>
              <a:rPr lang="en-US" sz="2800" dirty="0"/>
              <a:t>Are X and Z independent?</a:t>
            </a:r>
          </a:p>
          <a:p>
            <a:r>
              <a:rPr lang="en-US" sz="2800" dirty="0"/>
              <a:t>Is Z independent of X given Y?</a:t>
            </a:r>
          </a:p>
        </p:txBody>
      </p:sp>
      <p:pic>
        <p:nvPicPr>
          <p:cNvPr id="99330" name="Picture 2"/>
          <p:cNvPicPr>
            <a:picLocks noChangeAspect="1" noChangeArrowheads="1"/>
          </p:cNvPicPr>
          <p:nvPr/>
        </p:nvPicPr>
        <p:blipFill>
          <a:blip r:embed="rId3" cstate="print"/>
          <a:srcRect/>
          <a:stretch>
            <a:fillRect/>
          </a:stretch>
        </p:blipFill>
        <p:spPr bwMode="auto">
          <a:xfrm>
            <a:off x="1128713" y="2705100"/>
            <a:ext cx="6886575" cy="1447800"/>
          </a:xfrm>
          <a:prstGeom prst="rect">
            <a:avLst/>
          </a:prstGeom>
          <a:noFill/>
          <a:ln w="9525">
            <a:noFill/>
            <a:miter lim="800000"/>
            <a:headEnd/>
            <a:tailEnd/>
          </a:ln>
        </p:spPr>
      </p:pic>
      <p:graphicFrame>
        <p:nvGraphicFramePr>
          <p:cNvPr id="17" name="Object 16"/>
          <p:cNvGraphicFramePr>
            <a:graphicFrameLocks noChangeAspect="1"/>
          </p:cNvGraphicFramePr>
          <p:nvPr/>
        </p:nvGraphicFramePr>
        <p:xfrm>
          <a:off x="990600" y="5486400"/>
          <a:ext cx="7467600" cy="838200"/>
        </p:xfrm>
        <a:graphic>
          <a:graphicData uri="http://schemas.openxmlformats.org/presentationml/2006/ole">
            <mc:AlternateContent xmlns:mc="http://schemas.openxmlformats.org/markup-compatibility/2006">
              <mc:Choice xmlns:v="urn:schemas-microsoft-com:vml" Requires="v">
                <p:oleObj name="Equation" r:id="rId4" imgW="3733560" imgH="419040" progId="Equation.3">
                  <p:embed/>
                </p:oleObj>
              </mc:Choice>
              <mc:Fallback>
                <p:oleObj name="Equation" r:id="rId4" imgW="3733560" imgH="4190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5486400"/>
                        <a:ext cx="74676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93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lstStyle/>
          <a:p>
            <a:r>
              <a:rPr lang="en-US" dirty="0"/>
              <a:t>Conditional independence</a:t>
            </a:r>
          </a:p>
        </p:txBody>
      </p:sp>
      <p:sp>
        <p:nvSpPr>
          <p:cNvPr id="3" name="Content Placeholder 2"/>
          <p:cNvSpPr>
            <a:spLocks noGrp="1"/>
          </p:cNvSpPr>
          <p:nvPr>
            <p:ph sz="half" idx="1"/>
          </p:nvPr>
        </p:nvSpPr>
        <p:spPr>
          <a:xfrm>
            <a:off x="457200" y="884237"/>
            <a:ext cx="4038600" cy="4525963"/>
          </a:xfrm>
        </p:spPr>
        <p:txBody>
          <a:bodyPr/>
          <a:lstStyle/>
          <a:p>
            <a:r>
              <a:rPr lang="en-US" dirty="0"/>
              <a:t>Common cause</a:t>
            </a:r>
          </a:p>
          <a:p>
            <a:endParaRPr lang="en-US" dirty="0"/>
          </a:p>
          <a:p>
            <a:endParaRPr lang="en-US" dirty="0"/>
          </a:p>
          <a:p>
            <a:endParaRPr lang="en-US" dirty="0"/>
          </a:p>
          <a:p>
            <a:endParaRPr lang="en-US" dirty="0"/>
          </a:p>
          <a:p>
            <a:endParaRPr lang="en-US" dirty="0"/>
          </a:p>
          <a:p>
            <a:endParaRPr lang="en-US" dirty="0"/>
          </a:p>
          <a:p>
            <a:endParaRPr lang="en-US" dirty="0"/>
          </a:p>
          <a:p>
            <a:r>
              <a:rPr lang="en-US" sz="2000" dirty="0"/>
              <a:t>Are X and Z independent?</a:t>
            </a:r>
          </a:p>
          <a:p>
            <a:pPr lvl="1"/>
            <a:r>
              <a:rPr lang="en-US" sz="2000" dirty="0">
                <a:solidFill>
                  <a:srgbClr val="0066FF"/>
                </a:solidFill>
              </a:rPr>
              <a:t>No</a:t>
            </a:r>
          </a:p>
          <a:p>
            <a:r>
              <a:rPr lang="en-US" sz="2000" dirty="0"/>
              <a:t>Are they conditionally independent given Y?</a:t>
            </a:r>
          </a:p>
          <a:p>
            <a:pPr lvl="1"/>
            <a:r>
              <a:rPr lang="en-US" sz="2000" dirty="0">
                <a:solidFill>
                  <a:srgbClr val="0066FF"/>
                </a:solidFill>
              </a:rPr>
              <a:t>Yes</a:t>
            </a:r>
          </a:p>
        </p:txBody>
      </p:sp>
      <p:sp>
        <p:nvSpPr>
          <p:cNvPr id="5" name="Content Placeholder 4"/>
          <p:cNvSpPr>
            <a:spLocks noGrp="1"/>
          </p:cNvSpPr>
          <p:nvPr>
            <p:ph sz="half" idx="2"/>
          </p:nvPr>
        </p:nvSpPr>
        <p:spPr>
          <a:xfrm>
            <a:off x="4648200" y="884237"/>
            <a:ext cx="4038600" cy="4525963"/>
          </a:xfrm>
        </p:spPr>
        <p:txBody>
          <a:bodyPr/>
          <a:lstStyle/>
          <a:p>
            <a:r>
              <a:rPr lang="en-US" dirty="0"/>
              <a:t>Common effect</a:t>
            </a:r>
          </a:p>
          <a:p>
            <a:endParaRPr lang="en-US" dirty="0"/>
          </a:p>
          <a:p>
            <a:endParaRPr lang="en-US" dirty="0"/>
          </a:p>
          <a:p>
            <a:endParaRPr lang="en-US" dirty="0"/>
          </a:p>
          <a:p>
            <a:endParaRPr lang="en-US" dirty="0"/>
          </a:p>
          <a:p>
            <a:endParaRPr lang="en-US" dirty="0"/>
          </a:p>
          <a:p>
            <a:endParaRPr lang="en-US" dirty="0"/>
          </a:p>
          <a:p>
            <a:endParaRPr lang="en-US" dirty="0"/>
          </a:p>
          <a:p>
            <a:r>
              <a:rPr lang="en-US" sz="2000" dirty="0"/>
              <a:t>Are X and Z independent?</a:t>
            </a:r>
          </a:p>
          <a:p>
            <a:pPr lvl="1"/>
            <a:r>
              <a:rPr lang="en-US" sz="2000" dirty="0">
                <a:solidFill>
                  <a:srgbClr val="0066FF"/>
                </a:solidFill>
              </a:rPr>
              <a:t>Yes</a:t>
            </a:r>
          </a:p>
          <a:p>
            <a:r>
              <a:rPr lang="en-US" sz="2000" dirty="0"/>
              <a:t>Are they conditionally independent given Y?</a:t>
            </a:r>
          </a:p>
          <a:p>
            <a:pPr lvl="1"/>
            <a:r>
              <a:rPr lang="en-US" sz="2000" dirty="0">
                <a:solidFill>
                  <a:srgbClr val="0066FF"/>
                </a:solidFill>
              </a:rPr>
              <a:t>No</a:t>
            </a:r>
          </a:p>
        </p:txBody>
      </p:sp>
      <p:pic>
        <p:nvPicPr>
          <p:cNvPr id="22530" name="Picture 2"/>
          <p:cNvPicPr>
            <a:picLocks noChangeAspect="1" noChangeArrowheads="1"/>
          </p:cNvPicPr>
          <p:nvPr/>
        </p:nvPicPr>
        <p:blipFill>
          <a:blip r:embed="rId3" cstate="print"/>
          <a:srcRect/>
          <a:stretch>
            <a:fillRect/>
          </a:stretch>
        </p:blipFill>
        <p:spPr bwMode="auto">
          <a:xfrm>
            <a:off x="1219200" y="1524000"/>
            <a:ext cx="1729028" cy="2895600"/>
          </a:xfrm>
          <a:prstGeom prst="rect">
            <a:avLst/>
          </a:prstGeom>
          <a:noFill/>
          <a:ln w="9525">
            <a:noFill/>
            <a:miter lim="800000"/>
            <a:headEnd/>
            <a:tailEnd/>
          </a:ln>
        </p:spPr>
      </p:pic>
      <p:pic>
        <p:nvPicPr>
          <p:cNvPr id="22531" name="Picture 3"/>
          <p:cNvPicPr>
            <a:picLocks noChangeAspect="1" noChangeArrowheads="1"/>
          </p:cNvPicPr>
          <p:nvPr/>
        </p:nvPicPr>
        <p:blipFill>
          <a:blip r:embed="rId4" cstate="print"/>
          <a:srcRect/>
          <a:stretch>
            <a:fillRect/>
          </a:stretch>
        </p:blipFill>
        <p:spPr bwMode="auto">
          <a:xfrm>
            <a:off x="5486400" y="1524000"/>
            <a:ext cx="1728019" cy="2819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5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Compactness</a:t>
            </a:r>
          </a:p>
        </p:txBody>
      </p:sp>
      <p:sp>
        <p:nvSpPr>
          <p:cNvPr id="9219" name="Rectangle 3"/>
          <p:cNvSpPr>
            <a:spLocks noGrp="1" noChangeArrowheads="1"/>
          </p:cNvSpPr>
          <p:nvPr>
            <p:ph type="body" idx="1"/>
          </p:nvPr>
        </p:nvSpPr>
        <p:spPr/>
        <p:txBody>
          <a:bodyPr/>
          <a:lstStyle/>
          <a:p>
            <a:r>
              <a:rPr lang="en-US" sz="2400" dirty="0"/>
              <a:t>Suppose we have a Boolean variable X</a:t>
            </a:r>
            <a:r>
              <a:rPr lang="en-US" sz="2400" baseline="-25000" dirty="0"/>
              <a:t>i</a:t>
            </a:r>
            <a:r>
              <a:rPr lang="en-US" sz="2400" dirty="0"/>
              <a:t> with k Boolean parents. How many rows does its conditional probability table have? </a:t>
            </a:r>
          </a:p>
          <a:p>
            <a:pPr lvl="1"/>
            <a:r>
              <a:rPr lang="en-US" sz="2000" dirty="0">
                <a:solidFill>
                  <a:srgbClr val="0066FF"/>
                </a:solidFill>
              </a:rPr>
              <a:t>2</a:t>
            </a:r>
            <a:r>
              <a:rPr lang="en-US" sz="2000" baseline="30000" dirty="0">
                <a:solidFill>
                  <a:srgbClr val="0066FF"/>
                </a:solidFill>
              </a:rPr>
              <a:t>k</a:t>
            </a:r>
            <a:r>
              <a:rPr lang="en-US" sz="2000" dirty="0">
                <a:solidFill>
                  <a:srgbClr val="0066FF"/>
                </a:solidFill>
              </a:rPr>
              <a:t> </a:t>
            </a:r>
            <a:r>
              <a:rPr lang="en-US" sz="2000" dirty="0"/>
              <a:t>rows for all the combinations of parent values</a:t>
            </a:r>
          </a:p>
          <a:p>
            <a:pPr lvl="1"/>
            <a:r>
              <a:rPr lang="en-US" sz="2000" dirty="0"/>
              <a:t>Each row requires one number p for X</a:t>
            </a:r>
            <a:r>
              <a:rPr lang="en-US" sz="2000" baseline="-25000" dirty="0"/>
              <a:t>i</a:t>
            </a:r>
            <a:r>
              <a:rPr lang="en-US" sz="2000" dirty="0"/>
              <a:t> = true</a:t>
            </a:r>
            <a:endParaRPr lang="en-US" sz="2400" dirty="0"/>
          </a:p>
          <a:p>
            <a:r>
              <a:rPr lang="en-US" sz="2400" dirty="0"/>
              <a:t>If each variable has no more than k parents, how many numbers does the complete network require? </a:t>
            </a:r>
          </a:p>
          <a:p>
            <a:pPr lvl="1"/>
            <a:r>
              <a:rPr lang="en-US" sz="2000" dirty="0">
                <a:solidFill>
                  <a:srgbClr val="0066FF"/>
                </a:solidFill>
              </a:rPr>
              <a:t>O(n </a:t>
            </a:r>
            <a:r>
              <a:rPr lang="en-US" sz="2000" dirty="0">
                <a:solidFill>
                  <a:srgbClr val="0066FF"/>
                </a:solidFill>
                <a:cs typeface="Arial" charset="0"/>
              </a:rPr>
              <a:t>·</a:t>
            </a:r>
            <a:r>
              <a:rPr lang="en-US" sz="2000" dirty="0">
                <a:solidFill>
                  <a:srgbClr val="0066FF"/>
                </a:solidFill>
              </a:rPr>
              <a:t> 2</a:t>
            </a:r>
            <a:r>
              <a:rPr lang="en-US" sz="2000" baseline="30000" dirty="0">
                <a:solidFill>
                  <a:srgbClr val="0066FF"/>
                </a:solidFill>
              </a:rPr>
              <a:t>k</a:t>
            </a:r>
            <a:r>
              <a:rPr lang="en-US" sz="2000" dirty="0">
                <a:solidFill>
                  <a:srgbClr val="0066FF"/>
                </a:solidFill>
              </a:rPr>
              <a:t>) </a:t>
            </a:r>
            <a:r>
              <a:rPr lang="en-US" sz="2000" dirty="0"/>
              <a:t>numbers – vs. </a:t>
            </a:r>
            <a:r>
              <a:rPr lang="en-US" sz="2000" dirty="0">
                <a:solidFill>
                  <a:srgbClr val="0066FF"/>
                </a:solidFill>
              </a:rPr>
              <a:t>O(2</a:t>
            </a:r>
            <a:r>
              <a:rPr lang="en-US" sz="2000" baseline="30000" dirty="0">
                <a:solidFill>
                  <a:srgbClr val="0066FF"/>
                </a:solidFill>
              </a:rPr>
              <a:t>n</a:t>
            </a:r>
            <a:r>
              <a:rPr lang="en-US" sz="2000" dirty="0">
                <a:solidFill>
                  <a:srgbClr val="0066FF"/>
                </a:solidFill>
              </a:rPr>
              <a:t>)</a:t>
            </a:r>
            <a:r>
              <a:rPr lang="en-US" sz="2000" dirty="0"/>
              <a:t> for the full joint distribution</a:t>
            </a:r>
            <a:endParaRPr lang="en-US" sz="2400" dirty="0"/>
          </a:p>
          <a:p>
            <a:r>
              <a:rPr lang="en-US" sz="2400" dirty="0"/>
              <a:t>How many nodes for the burglary network? </a:t>
            </a:r>
          </a:p>
          <a:p>
            <a:pPr lvl="1">
              <a:buNone/>
            </a:pPr>
            <a:r>
              <a:rPr lang="en-US" sz="2000" dirty="0"/>
              <a:t>1 + 1 + 4 + 2 + 2 = 10 numbers (vs. 2</a:t>
            </a:r>
            <a:r>
              <a:rPr lang="en-US" sz="2000" baseline="30000" dirty="0"/>
              <a:t>5</a:t>
            </a:r>
            <a:r>
              <a:rPr lang="en-US" sz="2000" dirty="0"/>
              <a:t>-1 = 31)</a:t>
            </a:r>
          </a:p>
        </p:txBody>
      </p:sp>
      <p:pic>
        <p:nvPicPr>
          <p:cNvPr id="9220" name="Picture 4" descr="burglary-small"/>
          <p:cNvPicPr>
            <a:picLocks noChangeAspect="1" noChangeArrowheads="1"/>
          </p:cNvPicPr>
          <p:nvPr/>
        </p:nvPicPr>
        <p:blipFill>
          <a:blip r:embed="rId3" cstate="print"/>
          <a:srcRect/>
          <a:stretch>
            <a:fillRect/>
          </a:stretch>
        </p:blipFill>
        <p:spPr bwMode="auto">
          <a:xfrm>
            <a:off x="7315200" y="304800"/>
            <a:ext cx="1209675" cy="120967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Constructing Bayesian networks</a:t>
            </a:r>
          </a:p>
        </p:txBody>
      </p:sp>
      <p:sp>
        <p:nvSpPr>
          <p:cNvPr id="11267" name="Rectangle 3"/>
          <p:cNvSpPr>
            <a:spLocks noGrp="1" noChangeArrowheads="1"/>
          </p:cNvSpPr>
          <p:nvPr>
            <p:ph type="body" idx="1"/>
          </p:nvPr>
        </p:nvSpPr>
        <p:spPr/>
        <p:txBody>
          <a:bodyPr/>
          <a:lstStyle/>
          <a:p>
            <a:pPr marL="457200" indent="-457200">
              <a:buFont typeface="+mj-lt"/>
              <a:buAutoNum type="arabicPeriod"/>
            </a:pPr>
            <a:r>
              <a:rPr lang="en-US" sz="2400" dirty="0"/>
              <a:t>Choose an ordering of variables X</a:t>
            </a:r>
            <a:r>
              <a:rPr lang="en-US" sz="2400" baseline="-25000" dirty="0"/>
              <a:t>1</a:t>
            </a:r>
            <a:r>
              <a:rPr lang="en-US" sz="2400" dirty="0"/>
              <a:t>, … , X</a:t>
            </a:r>
            <a:r>
              <a:rPr lang="en-US" sz="2400" baseline="-25000" dirty="0"/>
              <a:t>n</a:t>
            </a:r>
            <a:endParaRPr lang="en-US" sz="2400" dirty="0"/>
          </a:p>
          <a:p>
            <a:pPr marL="457200" indent="-457200">
              <a:buFont typeface="+mj-lt"/>
              <a:buAutoNum type="arabicPeriod"/>
            </a:pPr>
            <a:r>
              <a:rPr lang="en-US" sz="2400" dirty="0"/>
              <a:t>For </a:t>
            </a:r>
            <a:r>
              <a:rPr lang="en-US" sz="2400" dirty="0" err="1"/>
              <a:t>i</a:t>
            </a:r>
            <a:r>
              <a:rPr lang="en-US" sz="2400" dirty="0"/>
              <a:t> = 1 to n</a:t>
            </a:r>
          </a:p>
          <a:p>
            <a:pPr marL="914400" lvl="1" indent="-457200"/>
            <a:r>
              <a:rPr lang="en-US" sz="2400" dirty="0"/>
              <a:t>add X</a:t>
            </a:r>
            <a:r>
              <a:rPr lang="en-US" sz="2400" baseline="-25000" dirty="0"/>
              <a:t>i</a:t>
            </a:r>
            <a:r>
              <a:rPr lang="en-US" sz="2400" dirty="0"/>
              <a:t> to the network</a:t>
            </a:r>
          </a:p>
          <a:p>
            <a:pPr marL="914400" lvl="1" indent="-457200"/>
            <a:r>
              <a:rPr lang="en-US" sz="2400" dirty="0"/>
              <a:t>select parents from X</a:t>
            </a:r>
            <a:r>
              <a:rPr lang="en-US" sz="2400" baseline="-25000" dirty="0"/>
              <a:t>1</a:t>
            </a:r>
            <a:r>
              <a:rPr lang="en-US" sz="2400" dirty="0"/>
              <a:t>, … ,X</a:t>
            </a:r>
            <a:r>
              <a:rPr lang="en-US" sz="2400" baseline="-25000" dirty="0"/>
              <a:t>i-1</a:t>
            </a:r>
            <a:r>
              <a:rPr lang="en-US" sz="2400" dirty="0"/>
              <a:t> such that</a:t>
            </a:r>
            <a:br>
              <a:rPr lang="en-US" sz="2400" dirty="0"/>
            </a:br>
            <a:r>
              <a:rPr lang="fr-FR" sz="2400" dirty="0">
                <a:solidFill>
                  <a:srgbClr val="0066FF"/>
                </a:solidFill>
              </a:rPr>
              <a:t>P(X</a:t>
            </a:r>
            <a:r>
              <a:rPr lang="fr-FR" sz="2400" baseline="-25000" dirty="0">
                <a:solidFill>
                  <a:srgbClr val="0066FF"/>
                </a:solidFill>
              </a:rPr>
              <a:t>i</a:t>
            </a:r>
            <a:r>
              <a:rPr lang="fr-FR" sz="2400" dirty="0">
                <a:solidFill>
                  <a:srgbClr val="0066FF"/>
                </a:solidFill>
              </a:rPr>
              <a:t> | Parents(X</a:t>
            </a:r>
            <a:r>
              <a:rPr lang="fr-FR" sz="2400" baseline="-25000" dirty="0">
                <a:solidFill>
                  <a:srgbClr val="0066FF"/>
                </a:solidFill>
              </a:rPr>
              <a:t>i</a:t>
            </a:r>
            <a:r>
              <a:rPr lang="fr-FR" sz="2400" dirty="0">
                <a:solidFill>
                  <a:srgbClr val="0066FF"/>
                </a:solidFill>
              </a:rPr>
              <a:t>)) = P(X</a:t>
            </a:r>
            <a:r>
              <a:rPr lang="fr-FR" sz="2400" baseline="-25000" dirty="0">
                <a:solidFill>
                  <a:srgbClr val="0066FF"/>
                </a:solidFill>
              </a:rPr>
              <a:t>i</a:t>
            </a:r>
            <a:r>
              <a:rPr lang="fr-FR" sz="2400" dirty="0">
                <a:solidFill>
                  <a:srgbClr val="0066FF"/>
                </a:solidFill>
              </a:rPr>
              <a:t> | X</a:t>
            </a:r>
            <a:r>
              <a:rPr lang="fr-FR" sz="2400" baseline="-25000" dirty="0">
                <a:solidFill>
                  <a:srgbClr val="0066FF"/>
                </a:solidFill>
              </a:rPr>
              <a:t>1</a:t>
            </a:r>
            <a:r>
              <a:rPr lang="fr-FR" sz="2400" dirty="0">
                <a:solidFill>
                  <a:srgbClr val="0066FF"/>
                </a:solidFill>
              </a:rPr>
              <a:t>, ... X</a:t>
            </a:r>
            <a:r>
              <a:rPr lang="fr-FR" sz="2400" baseline="-25000" dirty="0">
                <a:solidFill>
                  <a:srgbClr val="0066FF"/>
                </a:solidFill>
              </a:rPr>
              <a:t>i-1</a:t>
            </a:r>
            <a:r>
              <a:rPr lang="fr-FR" sz="2400" dirty="0">
                <a:solidFill>
                  <a:srgbClr val="0066FF"/>
                </a:solidFil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p:txBody>
          <a:bodyPr/>
          <a:lstStyle/>
          <a:p>
            <a:r>
              <a:rPr lang="en-US" sz="2400" dirty="0"/>
              <a:t>Suppose we choose the ordering M, J, A, B, E</a:t>
            </a:r>
          </a:p>
          <a:p>
            <a:pPr>
              <a:buNone/>
            </a:pPr>
            <a:endParaRPr lang="en-US" sz="2400" dirty="0">
              <a:solidFill>
                <a:srgbClr val="0070C0"/>
              </a:solidFill>
            </a:endParaRPr>
          </a:p>
          <a:p>
            <a:pPr>
              <a:buFontTx/>
              <a:buNone/>
            </a:pPr>
            <a:r>
              <a:rPr lang="en-US" sz="2400" dirty="0">
                <a:solidFill>
                  <a:srgbClr val="0066FF"/>
                </a:solidFill>
              </a:rPr>
              <a:t>P(J | M) = P(J)?
</a:t>
            </a:r>
          </a:p>
          <a:p>
            <a:endParaRPr lang="en-US" sz="2400" i="1" dirty="0"/>
          </a:p>
        </p:txBody>
      </p:sp>
      <p:sp>
        <p:nvSpPr>
          <p:cNvPr id="20484" name="Rectangle 4"/>
          <p:cNvSpPr>
            <a:spLocks noGrp="1" noChangeArrowheads="1"/>
          </p:cNvSpPr>
          <p:nvPr>
            <p:ph type="title"/>
          </p:nvPr>
        </p:nvSpPr>
        <p:spPr/>
        <p:txBody>
          <a:bodyPr/>
          <a:lstStyle/>
          <a:p>
            <a:r>
              <a:rPr lang="en-US"/>
              <a:t>Example</a:t>
            </a:r>
          </a:p>
        </p:txBody>
      </p:sp>
      <p:pic>
        <p:nvPicPr>
          <p:cNvPr id="20486" name="Picture 6" descr="burglary-make1c"/>
          <p:cNvPicPr>
            <a:picLocks noChangeAspect="1" noChangeArrowheads="1"/>
          </p:cNvPicPr>
          <p:nvPr/>
        </p:nvPicPr>
        <p:blipFill>
          <a:blip r:embed="rId3" cstate="print"/>
          <a:srcRect/>
          <a:stretch>
            <a:fillRect/>
          </a:stretch>
        </p:blipFill>
        <p:spPr bwMode="auto">
          <a:xfrm>
            <a:off x="5696712" y="2587752"/>
            <a:ext cx="3425571" cy="298151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p:txBody>
          <a:bodyPr/>
          <a:lstStyle/>
          <a:p>
            <a:r>
              <a:rPr lang="en-US" sz="2400" dirty="0"/>
              <a:t>Suppose we choose the ordering M, J, A, B, E</a:t>
            </a:r>
          </a:p>
          <a:p>
            <a:pPr>
              <a:buNone/>
            </a:pPr>
            <a:endParaRPr lang="en-US" sz="2400" dirty="0"/>
          </a:p>
          <a:p>
            <a:pPr>
              <a:buFontTx/>
              <a:buNone/>
            </a:pPr>
            <a:r>
              <a:rPr lang="en-US" sz="2400" dirty="0">
                <a:solidFill>
                  <a:srgbClr val="0066FF"/>
                </a:solidFill>
              </a:rPr>
              <a:t>P(J | M) = P(J)?</a:t>
            </a:r>
            <a:r>
              <a:rPr lang="en-US" sz="2400" dirty="0"/>
              <a:t>			</a:t>
            </a:r>
            <a:r>
              <a:rPr lang="en-US" sz="2400" dirty="0">
                <a:solidFill>
                  <a:srgbClr val="FF0000"/>
                </a:solidFill>
              </a:rPr>
              <a:t>No</a:t>
            </a:r>
          </a:p>
          <a:p>
            <a:pPr>
              <a:buFontTx/>
              <a:buNone/>
            </a:pPr>
            <a:endParaRPr lang="en-US" sz="2400" dirty="0"/>
          </a:p>
          <a:p>
            <a:endParaRPr lang="en-US" sz="2400" dirty="0"/>
          </a:p>
        </p:txBody>
      </p:sp>
      <p:pic>
        <p:nvPicPr>
          <p:cNvPr id="12294" name="Picture 6" descr="burglary-make2c"/>
          <p:cNvPicPr>
            <a:picLocks noChangeAspect="1" noChangeArrowheads="1"/>
          </p:cNvPicPr>
          <p:nvPr/>
        </p:nvPicPr>
        <p:blipFill>
          <a:blip r:embed="rId3" cstate="print"/>
          <a:srcRect/>
          <a:stretch>
            <a:fillRect/>
          </a:stretch>
        </p:blipFill>
        <p:spPr bwMode="auto">
          <a:xfrm>
            <a:off x="5696712" y="2587752"/>
            <a:ext cx="3425571" cy="2981516"/>
          </a:xfrm>
          <a:prstGeom prst="rect">
            <a:avLst/>
          </a:prstGeom>
          <a:noFill/>
        </p:spPr>
      </p:pic>
      <p:sp>
        <p:nvSpPr>
          <p:cNvPr id="12290" name="Rectangle 2"/>
          <p:cNvSpPr>
            <a:spLocks noGrp="1" noChangeArrowheads="1"/>
          </p:cNvSpPr>
          <p:nvPr>
            <p:ph type="title"/>
          </p:nvPr>
        </p:nvSpPr>
        <p:spPr/>
        <p:txBody>
          <a:bodyPr/>
          <a:lstStyle/>
          <a:p>
            <a:r>
              <a:rPr lang="en-US"/>
              <a:t>Example</a:t>
            </a:r>
          </a:p>
        </p:txBody>
      </p:sp>
      <p:sp>
        <p:nvSpPr>
          <p:cNvPr id="7" name="Rectangle 6"/>
          <p:cNvSpPr/>
          <p:nvPr/>
        </p:nvSpPr>
        <p:spPr>
          <a:xfrm>
            <a:off x="6629400" y="3581400"/>
            <a:ext cx="11430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p:txBody>
          <a:bodyPr/>
          <a:lstStyle/>
          <a:p>
            <a:r>
              <a:rPr lang="en-US" sz="2400" dirty="0"/>
              <a:t>Suppose we choose the ordering M, J, A, B, E</a:t>
            </a:r>
          </a:p>
          <a:p>
            <a:pPr>
              <a:buNone/>
            </a:pPr>
            <a:endParaRPr lang="en-US" sz="2400" dirty="0"/>
          </a:p>
          <a:p>
            <a:pPr>
              <a:buFontTx/>
              <a:buNone/>
            </a:pPr>
            <a:r>
              <a:rPr lang="en-US" sz="2400" dirty="0">
                <a:solidFill>
                  <a:srgbClr val="0066FF"/>
                </a:solidFill>
              </a:rPr>
              <a:t>P(J | M) = P(J)?</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a:t>
            </a:r>
          </a:p>
          <a:p>
            <a:pPr>
              <a:buFontTx/>
              <a:buNone/>
            </a:pPr>
            <a:r>
              <a:rPr lang="en-US" sz="2400" dirty="0">
                <a:solidFill>
                  <a:srgbClr val="0066FF"/>
                </a:solidFill>
              </a:rPr>
              <a:t>P(A | J, M) = P(A | J)?</a:t>
            </a:r>
          </a:p>
          <a:p>
            <a:pPr>
              <a:buFontTx/>
              <a:buNone/>
            </a:pPr>
            <a:r>
              <a:rPr lang="en-US" sz="2400" dirty="0">
                <a:solidFill>
                  <a:srgbClr val="0066FF"/>
                </a:solidFill>
              </a:rPr>
              <a:t>P(A | J, M) = P(A | M)?</a:t>
            </a:r>
            <a:endParaRPr lang="en-US" dirty="0">
              <a:solidFill>
                <a:srgbClr val="0066FF"/>
              </a:solidFill>
            </a:endParaRPr>
          </a:p>
          <a:p>
            <a:pPr>
              <a:buFontTx/>
              <a:buNone/>
            </a:pPr>
            <a:endParaRPr lang="en-US" sz="2400" dirty="0"/>
          </a:p>
          <a:p>
            <a:endParaRPr lang="en-US" sz="2400" dirty="0"/>
          </a:p>
        </p:txBody>
      </p:sp>
      <p:pic>
        <p:nvPicPr>
          <p:cNvPr id="12294" name="Picture 6" descr="burglary-make2c"/>
          <p:cNvPicPr>
            <a:picLocks noChangeAspect="1" noChangeArrowheads="1"/>
          </p:cNvPicPr>
          <p:nvPr/>
        </p:nvPicPr>
        <p:blipFill>
          <a:blip r:embed="rId3" cstate="print"/>
          <a:srcRect/>
          <a:stretch>
            <a:fillRect/>
          </a:stretch>
        </p:blipFill>
        <p:spPr bwMode="auto">
          <a:xfrm>
            <a:off x="5696712" y="2587752"/>
            <a:ext cx="3425571" cy="2981516"/>
          </a:xfrm>
          <a:prstGeom prst="rect">
            <a:avLst/>
          </a:prstGeom>
          <a:noFill/>
        </p:spPr>
      </p:pic>
      <p:sp>
        <p:nvSpPr>
          <p:cNvPr id="12290" name="Rectangle 2"/>
          <p:cNvSpPr>
            <a:spLocks noGrp="1" noChangeArrowheads="1"/>
          </p:cNvSpPr>
          <p:nvPr>
            <p:ph type="title"/>
          </p:nvPr>
        </p:nvSpPr>
        <p:spPr/>
        <p:txBody>
          <a:bodyPr/>
          <a:lstStyle/>
          <a:p>
            <a:r>
              <a:rPr lang="en-US" dirty="0"/>
              <a:t>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29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p:txBody>
          <a:bodyPr/>
          <a:lstStyle/>
          <a:p>
            <a:r>
              <a:rPr lang="en-US" sz="2400" dirty="0"/>
              <a:t>Suppose we choose the ordering M, J, A, B, E</a:t>
            </a:r>
            <a:endParaRPr lang="en-US" sz="2400" i="1" dirty="0"/>
          </a:p>
          <a:p>
            <a:pPr>
              <a:buNone/>
            </a:pPr>
            <a:endParaRPr lang="en-US" sz="2400" dirty="0"/>
          </a:p>
          <a:p>
            <a:pPr>
              <a:buFontTx/>
              <a:buNone/>
            </a:pPr>
            <a:r>
              <a:rPr lang="en-US" sz="2400" dirty="0">
                <a:solidFill>
                  <a:srgbClr val="0066FF"/>
                </a:solidFill>
              </a:rPr>
              <a:t>P(J | M) = P(J)?</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 J)?	</a:t>
            </a:r>
            <a:r>
              <a:rPr lang="en-US" sz="2400" dirty="0">
                <a:solidFill>
                  <a:srgbClr val="0070C0"/>
                </a:solidFill>
              </a:rPr>
              <a:t>	</a:t>
            </a:r>
            <a:r>
              <a:rPr lang="en-US" sz="2400" dirty="0">
                <a:solidFill>
                  <a:srgbClr val="FF0000"/>
                </a:solidFill>
              </a:rPr>
              <a:t>No</a:t>
            </a:r>
          </a:p>
          <a:p>
            <a:pPr>
              <a:buNone/>
            </a:pPr>
            <a:r>
              <a:rPr lang="en-US" sz="2400" dirty="0">
                <a:solidFill>
                  <a:srgbClr val="0066FF"/>
                </a:solidFill>
              </a:rPr>
              <a:t>P(A | J, M) = P(A | M)?	</a:t>
            </a:r>
            <a:r>
              <a:rPr lang="en-US" sz="2400" dirty="0">
                <a:solidFill>
                  <a:srgbClr val="0070C0"/>
                </a:solidFill>
              </a:rPr>
              <a:t>	</a:t>
            </a:r>
            <a:r>
              <a:rPr lang="en-US" sz="2400" dirty="0">
                <a:solidFill>
                  <a:srgbClr val="FF0000"/>
                </a:solidFill>
              </a:rPr>
              <a:t>No</a:t>
            </a:r>
          </a:p>
          <a:p>
            <a:pPr>
              <a:buFontTx/>
              <a:buNone/>
            </a:pPr>
            <a:endParaRPr lang="en-US" dirty="0">
              <a:solidFill>
                <a:srgbClr val="FF0000"/>
              </a:solidFill>
            </a:endParaRPr>
          </a:p>
        </p:txBody>
      </p:sp>
      <p:sp>
        <p:nvSpPr>
          <p:cNvPr id="17412" name="Rectangle 4"/>
          <p:cNvSpPr>
            <a:spLocks noGrp="1" noChangeArrowheads="1"/>
          </p:cNvSpPr>
          <p:nvPr>
            <p:ph type="title"/>
          </p:nvPr>
        </p:nvSpPr>
        <p:spPr/>
        <p:txBody>
          <a:bodyPr/>
          <a:lstStyle/>
          <a:p>
            <a:r>
              <a:rPr lang="en-US"/>
              <a:t>Example</a:t>
            </a:r>
          </a:p>
        </p:txBody>
      </p:sp>
      <p:pic>
        <p:nvPicPr>
          <p:cNvPr id="17414" name="Picture 6" descr="burglary-make3c"/>
          <p:cNvPicPr>
            <a:picLocks noChangeAspect="1" noChangeArrowheads="1"/>
          </p:cNvPicPr>
          <p:nvPr/>
        </p:nvPicPr>
        <p:blipFill>
          <a:blip r:embed="rId3" cstate="print"/>
          <a:srcRect/>
          <a:stretch>
            <a:fillRect/>
          </a:stretch>
        </p:blipFill>
        <p:spPr bwMode="auto">
          <a:xfrm>
            <a:off x="5696712" y="2587752"/>
            <a:ext cx="3425571" cy="2981516"/>
          </a:xfrm>
          <a:prstGeom prst="rect">
            <a:avLst/>
          </a:prstGeom>
          <a:noFill/>
        </p:spPr>
      </p:pic>
      <p:sp>
        <p:nvSpPr>
          <p:cNvPr id="7" name="Rectangle 6"/>
          <p:cNvSpPr/>
          <p:nvPr/>
        </p:nvSpPr>
        <p:spPr>
          <a:xfrm>
            <a:off x="5715000" y="449580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p:txBody>
          <a:bodyPr/>
          <a:lstStyle/>
          <a:p>
            <a:r>
              <a:rPr lang="en-US" sz="2400" dirty="0"/>
              <a:t>Suppose we choose the ordering M, J, A, B, E</a:t>
            </a:r>
            <a:endParaRPr lang="en-US" sz="2400" i="1" dirty="0"/>
          </a:p>
          <a:p>
            <a:pPr>
              <a:buNone/>
            </a:pPr>
            <a:endParaRPr lang="en-US" sz="2400" dirty="0"/>
          </a:p>
          <a:p>
            <a:pPr>
              <a:buFontTx/>
              <a:buNone/>
            </a:pPr>
            <a:r>
              <a:rPr lang="en-US" sz="2400" dirty="0">
                <a:solidFill>
                  <a:srgbClr val="0066FF"/>
                </a:solidFill>
              </a:rPr>
              <a:t>P(J | M) = P(J)?</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 J)?</a:t>
            </a:r>
            <a:r>
              <a:rPr lang="en-US" sz="2400" dirty="0">
                <a:solidFill>
                  <a:srgbClr val="0070C0"/>
                </a:solidFill>
              </a:rPr>
              <a:t>		</a:t>
            </a:r>
            <a:r>
              <a:rPr lang="en-US" sz="2400" dirty="0">
                <a:solidFill>
                  <a:srgbClr val="FF0000"/>
                </a:solidFill>
              </a:rPr>
              <a:t>No</a:t>
            </a:r>
            <a:endParaRPr lang="en-US" dirty="0">
              <a:solidFill>
                <a:srgbClr val="FF0000"/>
              </a:solidFill>
            </a:endParaRPr>
          </a:p>
          <a:p>
            <a:pPr>
              <a:buFontTx/>
              <a:buNone/>
            </a:pPr>
            <a:r>
              <a:rPr lang="en-US" sz="2400" dirty="0">
                <a:solidFill>
                  <a:srgbClr val="0066FF"/>
                </a:solidFill>
              </a:rPr>
              <a:t>P(A | J, M) = P(A | M)?		</a:t>
            </a:r>
            <a:r>
              <a:rPr lang="en-US" sz="2400" dirty="0">
                <a:solidFill>
                  <a:srgbClr val="FF0000"/>
                </a:solidFill>
              </a:rPr>
              <a:t>No</a:t>
            </a:r>
          </a:p>
          <a:p>
            <a:pPr>
              <a:buFontTx/>
              <a:buNone/>
            </a:pPr>
            <a:r>
              <a:rPr lang="en-US" sz="2400" dirty="0">
                <a:solidFill>
                  <a:srgbClr val="0066FF"/>
                </a:solidFill>
              </a:rPr>
              <a:t>P(B | A, J, M) = P(B)? </a:t>
            </a:r>
          </a:p>
          <a:p>
            <a:pPr>
              <a:buFontTx/>
              <a:buNone/>
            </a:pPr>
            <a:r>
              <a:rPr lang="en-US" sz="2400" dirty="0">
                <a:solidFill>
                  <a:srgbClr val="0066FF"/>
                </a:solidFill>
              </a:rPr>
              <a:t>P(B | A, J, M) = P(B | A)?</a:t>
            </a:r>
          </a:p>
        </p:txBody>
      </p:sp>
      <p:sp>
        <p:nvSpPr>
          <p:cNvPr id="17412" name="Rectangle 4"/>
          <p:cNvSpPr>
            <a:spLocks noGrp="1" noChangeArrowheads="1"/>
          </p:cNvSpPr>
          <p:nvPr>
            <p:ph type="title"/>
          </p:nvPr>
        </p:nvSpPr>
        <p:spPr/>
        <p:txBody>
          <a:bodyPr/>
          <a:lstStyle/>
          <a:p>
            <a:r>
              <a:rPr lang="en-US"/>
              <a:t>Example</a:t>
            </a:r>
          </a:p>
        </p:txBody>
      </p:sp>
      <p:pic>
        <p:nvPicPr>
          <p:cNvPr id="17414" name="Picture 6" descr="burglary-make3c"/>
          <p:cNvPicPr>
            <a:picLocks noChangeAspect="1" noChangeArrowheads="1"/>
          </p:cNvPicPr>
          <p:nvPr/>
        </p:nvPicPr>
        <p:blipFill>
          <a:blip r:embed="rId3" cstate="print"/>
          <a:srcRect/>
          <a:stretch>
            <a:fillRect/>
          </a:stretch>
        </p:blipFill>
        <p:spPr bwMode="auto">
          <a:xfrm>
            <a:off x="5696712" y="2587752"/>
            <a:ext cx="3425571" cy="2981516"/>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p:txBody>
          <a:bodyPr/>
          <a:lstStyle/>
          <a:p>
            <a:r>
              <a:rPr lang="en-US" sz="2400" dirty="0"/>
              <a:t>Suppose we choose the ordering M, J, A, B, E</a:t>
            </a:r>
          </a:p>
          <a:p>
            <a:pPr>
              <a:buNone/>
            </a:pPr>
            <a:endParaRPr lang="en-US" sz="2400" dirty="0"/>
          </a:p>
          <a:p>
            <a:pPr>
              <a:buFontTx/>
              <a:buNone/>
            </a:pPr>
            <a:r>
              <a:rPr lang="en-US" sz="2400" dirty="0">
                <a:solidFill>
                  <a:srgbClr val="0066FF"/>
                </a:solidFill>
              </a:rPr>
              <a:t>P(J | M) = P(J)?</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 J)?</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 M)?		</a:t>
            </a:r>
            <a:r>
              <a:rPr lang="en-US" sz="2400" dirty="0">
                <a:solidFill>
                  <a:srgbClr val="FF0000"/>
                </a:solidFill>
              </a:rPr>
              <a:t>No</a:t>
            </a:r>
          </a:p>
          <a:p>
            <a:pPr>
              <a:buFontTx/>
              <a:buNone/>
            </a:pPr>
            <a:r>
              <a:rPr lang="en-US" sz="2400" dirty="0">
                <a:solidFill>
                  <a:srgbClr val="0066FF"/>
                </a:solidFill>
              </a:rPr>
              <a:t>P(B | A, J, M) = P(B)? 		</a:t>
            </a:r>
            <a:r>
              <a:rPr lang="en-US" sz="2400" dirty="0">
                <a:solidFill>
                  <a:srgbClr val="FF0000"/>
                </a:solidFill>
              </a:rPr>
              <a:t>No</a:t>
            </a:r>
          </a:p>
          <a:p>
            <a:pPr>
              <a:buFontTx/>
              <a:buNone/>
            </a:pPr>
            <a:r>
              <a:rPr lang="en-US" sz="2400" dirty="0">
                <a:solidFill>
                  <a:srgbClr val="0066FF"/>
                </a:solidFill>
              </a:rPr>
              <a:t>P(B | A, J, M) = P(B | A)?		</a:t>
            </a:r>
            <a:r>
              <a:rPr lang="en-US" sz="2400" dirty="0">
                <a:solidFill>
                  <a:srgbClr val="FF0000"/>
                </a:solidFill>
              </a:rPr>
              <a:t>Yes</a:t>
            </a:r>
          </a:p>
        </p:txBody>
      </p:sp>
      <p:sp>
        <p:nvSpPr>
          <p:cNvPr id="18436" name="Rectangle 4"/>
          <p:cNvSpPr>
            <a:spLocks noGrp="1" noChangeArrowheads="1"/>
          </p:cNvSpPr>
          <p:nvPr>
            <p:ph type="title"/>
          </p:nvPr>
        </p:nvSpPr>
        <p:spPr/>
        <p:txBody>
          <a:bodyPr/>
          <a:lstStyle/>
          <a:p>
            <a:r>
              <a:rPr lang="en-US"/>
              <a:t>Example</a:t>
            </a:r>
          </a:p>
        </p:txBody>
      </p:sp>
      <p:pic>
        <p:nvPicPr>
          <p:cNvPr id="18438" name="Picture 6" descr="burglary-make4c"/>
          <p:cNvPicPr>
            <a:picLocks noChangeAspect="1" noChangeArrowheads="1"/>
          </p:cNvPicPr>
          <p:nvPr/>
        </p:nvPicPr>
        <p:blipFill>
          <a:blip r:embed="rId3" cstate="print"/>
          <a:srcRect/>
          <a:stretch>
            <a:fillRect/>
          </a:stretch>
        </p:blipFill>
        <p:spPr bwMode="auto">
          <a:xfrm>
            <a:off x="5696712" y="2587752"/>
            <a:ext cx="3425571" cy="2981516"/>
          </a:xfrm>
          <a:prstGeom prst="rect">
            <a:avLst/>
          </a:prstGeom>
          <a:noFill/>
        </p:spPr>
      </p:pic>
      <p:sp>
        <p:nvSpPr>
          <p:cNvPr id="7" name="Rectangle 6"/>
          <p:cNvSpPr/>
          <p:nvPr/>
        </p:nvSpPr>
        <p:spPr>
          <a:xfrm>
            <a:off x="7239000" y="464820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p:txBody>
          <a:bodyPr/>
          <a:lstStyle/>
          <a:p>
            <a:r>
              <a:rPr lang="en-US" sz="2400" dirty="0"/>
              <a:t>Suppose we choose the ordering M, J, A, B, E</a:t>
            </a:r>
          </a:p>
          <a:p>
            <a:pPr>
              <a:buNone/>
            </a:pPr>
            <a:endParaRPr lang="en-US" sz="2400" dirty="0"/>
          </a:p>
          <a:p>
            <a:pPr>
              <a:buFontTx/>
              <a:buNone/>
            </a:pPr>
            <a:r>
              <a:rPr lang="en-US" sz="2400" dirty="0">
                <a:solidFill>
                  <a:srgbClr val="0066FF"/>
                </a:solidFill>
              </a:rPr>
              <a:t>P(J | M) = P(J)?</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 J)?</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 M)?		</a:t>
            </a:r>
            <a:r>
              <a:rPr lang="en-US" sz="2400" dirty="0">
                <a:solidFill>
                  <a:srgbClr val="FF0000"/>
                </a:solidFill>
              </a:rPr>
              <a:t>No</a:t>
            </a:r>
          </a:p>
          <a:p>
            <a:pPr>
              <a:buFontTx/>
              <a:buNone/>
            </a:pPr>
            <a:r>
              <a:rPr lang="en-US" sz="2400" dirty="0">
                <a:solidFill>
                  <a:srgbClr val="0066FF"/>
                </a:solidFill>
              </a:rPr>
              <a:t>P(B | A, J, M) = P(B)? 		</a:t>
            </a:r>
            <a:r>
              <a:rPr lang="en-US" sz="2400" dirty="0">
                <a:solidFill>
                  <a:srgbClr val="FF0000"/>
                </a:solidFill>
              </a:rPr>
              <a:t>No</a:t>
            </a:r>
          </a:p>
          <a:p>
            <a:pPr>
              <a:buFontTx/>
              <a:buNone/>
            </a:pPr>
            <a:r>
              <a:rPr lang="en-US" sz="2400" dirty="0">
                <a:solidFill>
                  <a:srgbClr val="0066FF"/>
                </a:solidFill>
              </a:rPr>
              <a:t>P(B | A, J, M) = P(B | A)?		</a:t>
            </a:r>
            <a:r>
              <a:rPr lang="en-US" sz="2400" dirty="0">
                <a:solidFill>
                  <a:srgbClr val="FF0000"/>
                </a:solidFill>
              </a:rPr>
              <a:t>Yes</a:t>
            </a:r>
          </a:p>
          <a:p>
            <a:pPr>
              <a:buFontTx/>
              <a:buNone/>
            </a:pPr>
            <a:r>
              <a:rPr lang="en-US" sz="2400" dirty="0">
                <a:solidFill>
                  <a:srgbClr val="0066FF"/>
                </a:solidFill>
              </a:rPr>
              <a:t>P(E | B, A ,J, M) = P(E)?</a:t>
            </a:r>
          </a:p>
          <a:p>
            <a:pPr>
              <a:buFontTx/>
              <a:buNone/>
            </a:pPr>
            <a:r>
              <a:rPr lang="en-US" sz="2400" dirty="0">
                <a:solidFill>
                  <a:srgbClr val="0066FF"/>
                </a:solidFill>
              </a:rPr>
              <a:t>P(E | B, A, J, M) = P(E | A, B)?</a:t>
            </a:r>
            <a:endParaRPr lang="en-US" dirty="0">
              <a:solidFill>
                <a:srgbClr val="0066FF"/>
              </a:solidFill>
            </a:endParaRPr>
          </a:p>
        </p:txBody>
      </p:sp>
      <p:sp>
        <p:nvSpPr>
          <p:cNvPr id="18436" name="Rectangle 4"/>
          <p:cNvSpPr>
            <a:spLocks noGrp="1" noChangeArrowheads="1"/>
          </p:cNvSpPr>
          <p:nvPr>
            <p:ph type="title"/>
          </p:nvPr>
        </p:nvSpPr>
        <p:spPr/>
        <p:txBody>
          <a:bodyPr/>
          <a:lstStyle/>
          <a:p>
            <a:r>
              <a:rPr lang="en-US"/>
              <a:t>Example</a:t>
            </a:r>
          </a:p>
        </p:txBody>
      </p:sp>
      <p:pic>
        <p:nvPicPr>
          <p:cNvPr id="18438" name="Picture 6" descr="burglary-make4c"/>
          <p:cNvPicPr>
            <a:picLocks noChangeAspect="1" noChangeArrowheads="1"/>
          </p:cNvPicPr>
          <p:nvPr/>
        </p:nvPicPr>
        <p:blipFill>
          <a:blip r:embed="rId3" cstate="print"/>
          <a:srcRect/>
          <a:stretch>
            <a:fillRect/>
          </a:stretch>
        </p:blipFill>
        <p:spPr bwMode="auto">
          <a:xfrm>
            <a:off x="5696712" y="2587752"/>
            <a:ext cx="3425571" cy="2981516"/>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p:txBody>
          <a:bodyPr/>
          <a:lstStyle/>
          <a:p>
            <a:r>
              <a:rPr lang="en-US" sz="2400" dirty="0"/>
              <a:t>Suppose we choose the ordering M, J, A, B, E</a:t>
            </a:r>
          </a:p>
          <a:p>
            <a:pPr>
              <a:buNone/>
            </a:pPr>
            <a:endParaRPr lang="en-US" sz="2400" dirty="0"/>
          </a:p>
          <a:p>
            <a:pPr>
              <a:buFontTx/>
              <a:buNone/>
            </a:pPr>
            <a:r>
              <a:rPr lang="en-US" sz="2400" dirty="0">
                <a:solidFill>
                  <a:srgbClr val="0066FF"/>
                </a:solidFill>
              </a:rPr>
              <a:t>P(J | M) = P(J)?</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 J)?</a:t>
            </a:r>
            <a:r>
              <a:rPr lang="en-US" sz="2400" dirty="0">
                <a:solidFill>
                  <a:srgbClr val="0070C0"/>
                </a:solidFill>
              </a:rPr>
              <a:t>		</a:t>
            </a:r>
            <a:r>
              <a:rPr lang="en-US" sz="2400" dirty="0">
                <a:solidFill>
                  <a:srgbClr val="FF0000"/>
                </a:solidFill>
              </a:rPr>
              <a:t>No</a:t>
            </a:r>
          </a:p>
          <a:p>
            <a:pPr>
              <a:buFontTx/>
              <a:buNone/>
            </a:pPr>
            <a:r>
              <a:rPr lang="en-US" sz="2400" dirty="0">
                <a:solidFill>
                  <a:srgbClr val="0066FF"/>
                </a:solidFill>
              </a:rPr>
              <a:t>P(A | J, M) = P(A | M)?		</a:t>
            </a:r>
            <a:r>
              <a:rPr lang="en-US" sz="2400" dirty="0">
                <a:solidFill>
                  <a:srgbClr val="FF0000"/>
                </a:solidFill>
              </a:rPr>
              <a:t>No</a:t>
            </a:r>
          </a:p>
          <a:p>
            <a:pPr>
              <a:buFontTx/>
              <a:buNone/>
            </a:pPr>
            <a:r>
              <a:rPr lang="en-US" sz="2400" dirty="0">
                <a:solidFill>
                  <a:srgbClr val="0066FF"/>
                </a:solidFill>
              </a:rPr>
              <a:t>P(B | A, J, M) = P(B)? 		</a:t>
            </a:r>
            <a:r>
              <a:rPr lang="en-US" sz="2400" dirty="0">
                <a:solidFill>
                  <a:srgbClr val="FF0000"/>
                </a:solidFill>
              </a:rPr>
              <a:t>No</a:t>
            </a:r>
          </a:p>
          <a:p>
            <a:pPr>
              <a:buFontTx/>
              <a:buNone/>
            </a:pPr>
            <a:r>
              <a:rPr lang="en-US" sz="2400" dirty="0">
                <a:solidFill>
                  <a:srgbClr val="0066FF"/>
                </a:solidFill>
              </a:rPr>
              <a:t>P(B | A, J, M) = P(B | A)?		</a:t>
            </a:r>
            <a:r>
              <a:rPr lang="en-US" sz="2400" dirty="0">
                <a:solidFill>
                  <a:srgbClr val="FF0000"/>
                </a:solidFill>
              </a:rPr>
              <a:t>Yes</a:t>
            </a:r>
          </a:p>
          <a:p>
            <a:pPr>
              <a:buFontTx/>
              <a:buNone/>
            </a:pPr>
            <a:r>
              <a:rPr lang="en-US" sz="2400" dirty="0">
                <a:solidFill>
                  <a:srgbClr val="0066FF"/>
                </a:solidFill>
              </a:rPr>
              <a:t>P(E | B, A ,J, M) = P(E)?		</a:t>
            </a:r>
            <a:r>
              <a:rPr lang="en-US" sz="2400" dirty="0">
                <a:solidFill>
                  <a:srgbClr val="FF0000"/>
                </a:solidFill>
              </a:rPr>
              <a:t>No</a:t>
            </a:r>
          </a:p>
          <a:p>
            <a:pPr>
              <a:buFontTx/>
              <a:buNone/>
            </a:pPr>
            <a:r>
              <a:rPr lang="en-US" sz="2400" dirty="0">
                <a:solidFill>
                  <a:srgbClr val="0066FF"/>
                </a:solidFill>
              </a:rPr>
              <a:t>P(E | B, A, J, M) = P(E | A, B)?	</a:t>
            </a:r>
            <a:r>
              <a:rPr lang="en-US" sz="2400" dirty="0">
                <a:solidFill>
                  <a:srgbClr val="FF0000"/>
                </a:solidFill>
              </a:rPr>
              <a:t>Yes</a:t>
            </a:r>
          </a:p>
        </p:txBody>
      </p:sp>
      <p:sp>
        <p:nvSpPr>
          <p:cNvPr id="19460" name="Rectangle 4"/>
          <p:cNvSpPr>
            <a:spLocks noGrp="1" noChangeArrowheads="1"/>
          </p:cNvSpPr>
          <p:nvPr>
            <p:ph type="title"/>
          </p:nvPr>
        </p:nvSpPr>
        <p:spPr/>
        <p:txBody>
          <a:bodyPr/>
          <a:lstStyle/>
          <a:p>
            <a:r>
              <a:rPr lang="en-US"/>
              <a:t>Example</a:t>
            </a:r>
          </a:p>
        </p:txBody>
      </p:sp>
      <p:pic>
        <p:nvPicPr>
          <p:cNvPr id="19462" name="Picture 6" descr="burglary-make5c"/>
          <p:cNvPicPr>
            <a:picLocks noChangeAspect="1" noChangeArrowheads="1"/>
          </p:cNvPicPr>
          <p:nvPr/>
        </p:nvPicPr>
        <p:blipFill>
          <a:blip r:embed="rId3" cstate="print"/>
          <a:srcRect/>
          <a:stretch>
            <a:fillRect/>
          </a:stretch>
        </p:blipFill>
        <p:spPr bwMode="auto">
          <a:xfrm>
            <a:off x="5699043" y="2590800"/>
            <a:ext cx="3414124" cy="29718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Example contd.</a:t>
            </a:r>
          </a:p>
        </p:txBody>
      </p:sp>
      <p:sp>
        <p:nvSpPr>
          <p:cNvPr id="16387" name="Rectangle 3"/>
          <p:cNvSpPr>
            <a:spLocks noGrp="1" noChangeArrowheads="1"/>
          </p:cNvSpPr>
          <p:nvPr>
            <p:ph type="body" idx="1"/>
          </p:nvPr>
        </p:nvSpPr>
        <p:spPr/>
        <p:txBody>
          <a:bodyPr/>
          <a:lstStyle/>
          <a:p>
            <a:endParaRPr lang="en-US" sz="2000" dirty="0"/>
          </a:p>
          <a:p>
            <a:endParaRPr lang="en-US" sz="2000" dirty="0"/>
          </a:p>
          <a:p>
            <a:endParaRPr lang="en-US" sz="2000" dirty="0"/>
          </a:p>
          <a:p>
            <a:endParaRPr lang="en-US" sz="2000" dirty="0"/>
          </a:p>
          <a:p>
            <a:endParaRPr lang="en-US" sz="2000" dirty="0"/>
          </a:p>
          <a:p>
            <a:endParaRPr lang="en-US" sz="2000" dirty="0"/>
          </a:p>
          <a:p>
            <a:r>
              <a:rPr lang="en-US" sz="2400" dirty="0"/>
              <a:t>Deciding conditional independence is hard in </a:t>
            </a:r>
            <a:r>
              <a:rPr lang="en-US" sz="2400" dirty="0" err="1"/>
              <a:t>noncausal</a:t>
            </a:r>
            <a:r>
              <a:rPr lang="en-US" sz="2400" dirty="0"/>
              <a:t> directions</a:t>
            </a:r>
          </a:p>
          <a:p>
            <a:pPr lvl="1"/>
            <a:r>
              <a:rPr lang="en-US" sz="2000" dirty="0"/>
              <a:t>The causal direction seems much more natural</a:t>
            </a:r>
          </a:p>
          <a:p>
            <a:r>
              <a:rPr lang="en-US" sz="2400" dirty="0"/>
              <a:t>Network is less compact: 1 + 2 + 4 + 2 + 4 = 13 numbers needed</a:t>
            </a:r>
          </a:p>
        </p:txBody>
      </p:sp>
      <p:pic>
        <p:nvPicPr>
          <p:cNvPr id="16389" name="Picture 5" descr="burglary-make5c"/>
          <p:cNvPicPr>
            <a:picLocks noChangeAspect="1" noChangeArrowheads="1"/>
          </p:cNvPicPr>
          <p:nvPr/>
        </p:nvPicPr>
        <p:blipFill>
          <a:blip r:embed="rId3" cstate="print"/>
          <a:srcRect/>
          <a:stretch>
            <a:fillRect/>
          </a:stretch>
        </p:blipFill>
        <p:spPr bwMode="auto">
          <a:xfrm>
            <a:off x="3352800" y="1371600"/>
            <a:ext cx="2743200" cy="23876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B35E7-A4EA-3189-4046-C850B6C5C595}"/>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136C66C-B097-8897-E1D2-7B0F08B86E94}"/>
              </a:ext>
            </a:extLst>
          </p:cNvPr>
          <p:cNvSpPr>
            <a:spLocks noGrp="1"/>
          </p:cNvSpPr>
          <p:nvPr>
            <p:ph idx="1"/>
          </p:nvPr>
        </p:nvSpPr>
        <p:spPr>
          <a:xfrm>
            <a:off x="0" y="1219200"/>
            <a:ext cx="9144000" cy="4525963"/>
          </a:xfrm>
        </p:spPr>
        <p:txBody>
          <a:bodyPr/>
          <a:lstStyle/>
          <a:p>
            <a:pPr marL="0" indent="0" algn="just">
              <a:buNone/>
            </a:pPr>
            <a:r>
              <a:rPr lang="en-US" sz="2800" b="0" i="0" dirty="0">
                <a:solidFill>
                  <a:srgbClr val="000000"/>
                </a:solidFill>
                <a:effectLst/>
                <a:latin typeface="Lucida Grande"/>
              </a:rPr>
              <a:t>Suppose we want to use the diagnostic assistant to diagnose whether there is a fire in a building based on noisy sensor information and possibly conflicting explanations of what could be going on. The agent receives a report about whether everyone is leaving the building. Suppose the report sensor is noisy: It sometimes reports leaving when there is no exodus (a false positive), and it sometimes does not report when everyone is leaving (a false negative). Suppose the fire alarm going off can cause the leaving, but this is not a deterministic relationship. Either tampering or fire could affect the alarm. Fire also causes smoke to rise from the building.</a:t>
            </a:r>
            <a:endParaRPr lang="en-US" sz="2800" dirty="0"/>
          </a:p>
        </p:txBody>
      </p:sp>
    </p:spTree>
    <p:extLst>
      <p:ext uri="{BB962C8B-B14F-4D97-AF65-F5344CB8AC3E}">
        <p14:creationId xmlns:p14="http://schemas.microsoft.com/office/powerpoint/2010/main" val="685426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EEBC-FE4B-9E6B-C77A-345B6CEB50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3C454F-976A-2D6B-C417-6C75A02316EC}"/>
              </a:ext>
            </a:extLst>
          </p:cNvPr>
          <p:cNvSpPr>
            <a:spLocks noGrp="1"/>
          </p:cNvSpPr>
          <p:nvPr>
            <p:ph idx="1"/>
          </p:nvPr>
        </p:nvSpPr>
        <p:spPr>
          <a:xfrm>
            <a:off x="0" y="1600200"/>
            <a:ext cx="9144000" cy="4525963"/>
          </a:xfrm>
        </p:spPr>
        <p:txBody>
          <a:bodyPr/>
          <a:lstStyle/>
          <a:p>
            <a:pPr marL="0" indent="0" algn="l">
              <a:buNone/>
            </a:pPr>
            <a:r>
              <a:rPr lang="en-US" sz="2400" b="0" i="0" dirty="0">
                <a:solidFill>
                  <a:srgbClr val="000000"/>
                </a:solidFill>
                <a:effectLst/>
                <a:latin typeface="Lucida Grande"/>
              </a:rPr>
              <a:t>Suppose we use the following variables, all of which are Boolean, in the following order:</a:t>
            </a:r>
          </a:p>
          <a:p>
            <a:pPr algn="l">
              <a:buFont typeface="Arial" panose="020B0604020202020204" pitchFamily="34" charset="0"/>
              <a:buChar char="•"/>
            </a:pPr>
            <a:r>
              <a:rPr lang="en-US" sz="2400" b="0" i="1" dirty="0">
                <a:solidFill>
                  <a:srgbClr val="FF0000"/>
                </a:solidFill>
                <a:effectLst/>
                <a:latin typeface="Lucida Grande"/>
              </a:rPr>
              <a:t>Tampering</a:t>
            </a:r>
            <a:r>
              <a:rPr lang="en-US" sz="2400" b="0" i="0" dirty="0">
                <a:solidFill>
                  <a:srgbClr val="000000"/>
                </a:solidFill>
                <a:effectLst/>
                <a:latin typeface="Lucida Grande"/>
              </a:rPr>
              <a:t> is true when there is tampering with the alarm.</a:t>
            </a:r>
          </a:p>
          <a:p>
            <a:pPr algn="l">
              <a:buFont typeface="Arial" panose="020B0604020202020204" pitchFamily="34" charset="0"/>
              <a:buChar char="•"/>
            </a:pPr>
            <a:r>
              <a:rPr lang="en-US" sz="2400" b="0" i="1" dirty="0">
                <a:solidFill>
                  <a:srgbClr val="FF0000"/>
                </a:solidFill>
                <a:effectLst/>
                <a:latin typeface="Lucida Grande"/>
              </a:rPr>
              <a:t>Fire</a:t>
            </a:r>
            <a:r>
              <a:rPr lang="en-US" sz="2400" b="0" i="0" dirty="0">
                <a:solidFill>
                  <a:srgbClr val="000000"/>
                </a:solidFill>
                <a:effectLst/>
                <a:latin typeface="Lucida Grande"/>
              </a:rPr>
              <a:t> is true when there is a fire.</a:t>
            </a:r>
          </a:p>
          <a:p>
            <a:pPr algn="l">
              <a:buFont typeface="Arial" panose="020B0604020202020204" pitchFamily="34" charset="0"/>
              <a:buChar char="•"/>
            </a:pPr>
            <a:r>
              <a:rPr lang="en-US" sz="2400" b="0" i="1" dirty="0">
                <a:solidFill>
                  <a:srgbClr val="FF0000"/>
                </a:solidFill>
                <a:effectLst/>
                <a:latin typeface="Lucida Grande"/>
              </a:rPr>
              <a:t>Alarm</a:t>
            </a:r>
            <a:r>
              <a:rPr lang="en-US" sz="2400" b="0" i="0" dirty="0">
                <a:solidFill>
                  <a:srgbClr val="000000"/>
                </a:solidFill>
                <a:effectLst/>
                <a:latin typeface="Lucida Grande"/>
              </a:rPr>
              <a:t> is true when the alarm sounds.</a:t>
            </a:r>
          </a:p>
          <a:p>
            <a:pPr algn="l">
              <a:buFont typeface="Arial" panose="020B0604020202020204" pitchFamily="34" charset="0"/>
              <a:buChar char="•"/>
            </a:pPr>
            <a:r>
              <a:rPr lang="en-US" sz="2400" b="0" i="1" dirty="0">
                <a:solidFill>
                  <a:srgbClr val="FF0000"/>
                </a:solidFill>
                <a:effectLst/>
                <a:latin typeface="Lucida Grande"/>
              </a:rPr>
              <a:t>Smoke</a:t>
            </a:r>
            <a:r>
              <a:rPr lang="en-US" sz="2400" b="0" i="0" dirty="0">
                <a:solidFill>
                  <a:srgbClr val="000000"/>
                </a:solidFill>
                <a:effectLst/>
                <a:latin typeface="Lucida Grande"/>
              </a:rPr>
              <a:t> is true when there is smoke.</a:t>
            </a:r>
          </a:p>
          <a:p>
            <a:pPr algn="l">
              <a:buFont typeface="Arial" panose="020B0604020202020204" pitchFamily="34" charset="0"/>
              <a:buChar char="•"/>
            </a:pPr>
            <a:r>
              <a:rPr lang="en-US" sz="2400" b="0" i="1" dirty="0">
                <a:solidFill>
                  <a:srgbClr val="FF0000"/>
                </a:solidFill>
                <a:effectLst/>
                <a:latin typeface="Lucida Grande"/>
              </a:rPr>
              <a:t>Leaving</a:t>
            </a:r>
            <a:r>
              <a:rPr lang="en-US" sz="2400" b="0" i="0" dirty="0">
                <a:solidFill>
                  <a:srgbClr val="000000"/>
                </a:solidFill>
                <a:effectLst/>
                <a:latin typeface="Lucida Grande"/>
              </a:rPr>
              <a:t> is true if there are many people leaving the building at once.</a:t>
            </a:r>
          </a:p>
          <a:p>
            <a:pPr algn="l">
              <a:buFont typeface="Arial" panose="020B0604020202020204" pitchFamily="34" charset="0"/>
              <a:buChar char="•"/>
            </a:pPr>
            <a:r>
              <a:rPr lang="en-US" sz="2400" b="0" i="1" dirty="0">
                <a:solidFill>
                  <a:srgbClr val="FF0000"/>
                </a:solidFill>
                <a:effectLst/>
                <a:latin typeface="Lucida Grande"/>
              </a:rPr>
              <a:t>Report</a:t>
            </a:r>
            <a:r>
              <a:rPr lang="en-US" sz="2400" b="0" i="0" dirty="0">
                <a:solidFill>
                  <a:srgbClr val="000000"/>
                </a:solidFill>
                <a:effectLst/>
                <a:latin typeface="Lucida Grande"/>
              </a:rPr>
              <a:t> is true if there is a report given by someone of people leaving. </a:t>
            </a:r>
            <a:r>
              <a:rPr lang="en-US" sz="2400" b="0" i="1" dirty="0">
                <a:solidFill>
                  <a:srgbClr val="000000"/>
                </a:solidFill>
                <a:effectLst/>
                <a:latin typeface="Lucida Grande"/>
              </a:rPr>
              <a:t>Report</a:t>
            </a:r>
            <a:r>
              <a:rPr lang="en-US" sz="2400" b="0" i="0" dirty="0">
                <a:solidFill>
                  <a:srgbClr val="000000"/>
                </a:solidFill>
                <a:effectLst/>
                <a:latin typeface="Lucida Grande"/>
              </a:rPr>
              <a:t> is false if there is no report of leaving.</a:t>
            </a:r>
          </a:p>
          <a:p>
            <a:pPr marL="0" indent="0">
              <a:buNone/>
            </a:pPr>
            <a:endParaRPr lang="en-US" dirty="0"/>
          </a:p>
        </p:txBody>
      </p:sp>
    </p:spTree>
    <p:extLst>
      <p:ext uri="{BB962C8B-B14F-4D97-AF65-F5344CB8AC3E}">
        <p14:creationId xmlns:p14="http://schemas.microsoft.com/office/powerpoint/2010/main" val="2510170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9EC56-9D29-31B9-C52F-77D174957B7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66E7867-F1F6-4FE9-4C50-AD619A5974D3}"/>
              </a:ext>
            </a:extLst>
          </p:cNvPr>
          <p:cNvSpPr>
            <a:spLocks noGrp="1"/>
          </p:cNvSpPr>
          <p:nvPr>
            <p:ph idx="1"/>
          </p:nvPr>
        </p:nvSpPr>
        <p:spPr>
          <a:xfrm>
            <a:off x="76200" y="1782762"/>
            <a:ext cx="9067800" cy="4800600"/>
          </a:xfrm>
        </p:spPr>
        <p:txBody>
          <a:bodyPr/>
          <a:lstStyle/>
          <a:p>
            <a:pPr marL="0" indent="0" algn="just">
              <a:buNone/>
            </a:pPr>
            <a:r>
              <a:rPr lang="en-US" sz="2400" b="0" i="0" dirty="0">
                <a:solidFill>
                  <a:srgbClr val="000000"/>
                </a:solidFill>
                <a:effectLst/>
                <a:latin typeface="Lucida Grande"/>
              </a:rPr>
              <a:t>The variable </a:t>
            </a:r>
            <a:r>
              <a:rPr lang="en-US" sz="2400" b="0" i="1" dirty="0">
                <a:solidFill>
                  <a:srgbClr val="FF0000"/>
                </a:solidFill>
                <a:effectLst/>
                <a:latin typeface="Lucida Grande"/>
              </a:rPr>
              <a:t>Report</a:t>
            </a:r>
            <a:r>
              <a:rPr lang="en-US" sz="2400" b="0" i="0" dirty="0">
                <a:solidFill>
                  <a:srgbClr val="000000"/>
                </a:solidFill>
                <a:effectLst/>
                <a:latin typeface="Lucida Grande"/>
              </a:rPr>
              <a:t> denotes the sensor report that people are leaving. This information is unreliable because the person issuing such a report could be playing a practical joke, or no one who could have given such a report may have been paying attention. This variable is introduced to allow conditioning on unreliable sensor data. The agent knows what the sensor reports, but it only has unreliable evidence about people leaving the building. </a:t>
            </a:r>
            <a:endParaRPr lang="en-US" sz="2400" dirty="0"/>
          </a:p>
        </p:txBody>
      </p:sp>
    </p:spTree>
    <p:extLst>
      <p:ext uri="{BB962C8B-B14F-4D97-AF65-F5344CB8AC3E}">
        <p14:creationId xmlns:p14="http://schemas.microsoft.com/office/powerpoint/2010/main" val="533090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7B2E91-2D46-7F4C-C567-433667EAB20B}"/>
              </a:ext>
            </a:extLst>
          </p:cNvPr>
          <p:cNvSpPr>
            <a:spLocks noGrp="1"/>
          </p:cNvSpPr>
          <p:nvPr>
            <p:ph idx="1"/>
          </p:nvPr>
        </p:nvSpPr>
        <p:spPr>
          <a:xfrm>
            <a:off x="152400" y="24205"/>
            <a:ext cx="8229600" cy="4525963"/>
          </a:xfrm>
        </p:spPr>
        <p:txBody>
          <a:bodyPr/>
          <a:lstStyle/>
          <a:p>
            <a:pPr marL="0" indent="0" algn="l">
              <a:buNone/>
            </a:pPr>
            <a:r>
              <a:rPr lang="en-US" sz="2400" b="0" i="0" dirty="0">
                <a:solidFill>
                  <a:srgbClr val="000000"/>
                </a:solidFill>
                <a:effectLst/>
                <a:latin typeface="Lucida Grande"/>
              </a:rPr>
              <a:t>As part of the domain, assume the following conditional independencies:</a:t>
            </a:r>
          </a:p>
          <a:p>
            <a:pPr algn="l">
              <a:buFont typeface="Arial" panose="020B0604020202020204" pitchFamily="34" charset="0"/>
              <a:buChar char="•"/>
            </a:pPr>
            <a:r>
              <a:rPr lang="en-US" sz="2400" b="0" i="1" dirty="0">
                <a:solidFill>
                  <a:srgbClr val="FF0000"/>
                </a:solidFill>
                <a:effectLst/>
                <a:latin typeface="Lucida Grande"/>
              </a:rPr>
              <a:t>Fire</a:t>
            </a:r>
            <a:r>
              <a:rPr lang="en-US" sz="2400" b="0" i="0" dirty="0">
                <a:solidFill>
                  <a:srgbClr val="000000"/>
                </a:solidFill>
                <a:effectLst/>
                <a:latin typeface="Lucida Grande"/>
              </a:rPr>
              <a:t> is conditionally independent of </a:t>
            </a:r>
            <a:r>
              <a:rPr lang="en-US" sz="2400" b="0" i="1" dirty="0">
                <a:solidFill>
                  <a:srgbClr val="000000"/>
                </a:solidFill>
                <a:effectLst/>
                <a:latin typeface="Lucida Grande"/>
              </a:rPr>
              <a:t>Tampering</a:t>
            </a:r>
            <a:r>
              <a:rPr lang="en-US" sz="2400" b="0" i="0" dirty="0">
                <a:solidFill>
                  <a:srgbClr val="000000"/>
                </a:solidFill>
                <a:effectLst/>
                <a:latin typeface="Lucida Grande"/>
              </a:rPr>
              <a:t> (given no other information).</a:t>
            </a:r>
          </a:p>
          <a:p>
            <a:pPr algn="l">
              <a:buFont typeface="Arial" panose="020B0604020202020204" pitchFamily="34" charset="0"/>
              <a:buChar char="•"/>
            </a:pPr>
            <a:r>
              <a:rPr lang="en-US" sz="2400" b="0" i="1" dirty="0">
                <a:solidFill>
                  <a:srgbClr val="FF0000"/>
                </a:solidFill>
                <a:effectLst/>
                <a:latin typeface="Lucida Grande"/>
              </a:rPr>
              <a:t>Alarm</a:t>
            </a:r>
            <a:r>
              <a:rPr lang="en-US" sz="2400" b="0" i="0" dirty="0">
                <a:solidFill>
                  <a:srgbClr val="000000"/>
                </a:solidFill>
                <a:effectLst/>
                <a:latin typeface="Lucida Grande"/>
              </a:rPr>
              <a:t> depends on both </a:t>
            </a:r>
            <a:r>
              <a:rPr lang="en-US" sz="2400" b="0" i="1" dirty="0">
                <a:solidFill>
                  <a:srgbClr val="FF0000"/>
                </a:solidFill>
                <a:effectLst/>
                <a:latin typeface="Lucida Grande"/>
              </a:rPr>
              <a:t>Fire</a:t>
            </a:r>
            <a:r>
              <a:rPr lang="en-US" sz="2400" b="0" i="0" dirty="0">
                <a:solidFill>
                  <a:srgbClr val="000000"/>
                </a:solidFill>
                <a:effectLst/>
                <a:latin typeface="Lucida Grande"/>
              </a:rPr>
              <a:t> and </a:t>
            </a:r>
            <a:r>
              <a:rPr lang="en-US" sz="2400" b="0" i="1" dirty="0">
                <a:solidFill>
                  <a:srgbClr val="FF0000"/>
                </a:solidFill>
                <a:effectLst/>
                <a:latin typeface="Lucida Grande"/>
              </a:rPr>
              <a:t>Tampering</a:t>
            </a:r>
            <a:r>
              <a:rPr lang="en-US" sz="2400" b="0" i="0" dirty="0">
                <a:solidFill>
                  <a:srgbClr val="000000"/>
                </a:solidFill>
                <a:effectLst/>
                <a:latin typeface="Lucida Grande"/>
              </a:rPr>
              <a:t>. That is, we are making no independence assumptions about how </a:t>
            </a:r>
            <a:r>
              <a:rPr lang="en-US" sz="2400" b="0" i="1" dirty="0">
                <a:solidFill>
                  <a:srgbClr val="FF0000"/>
                </a:solidFill>
                <a:effectLst/>
                <a:latin typeface="Lucida Grande"/>
              </a:rPr>
              <a:t>Alarm</a:t>
            </a:r>
            <a:r>
              <a:rPr lang="en-US" sz="2400" b="0" i="0" dirty="0">
                <a:solidFill>
                  <a:srgbClr val="000000"/>
                </a:solidFill>
                <a:effectLst/>
                <a:latin typeface="Lucida Grande"/>
              </a:rPr>
              <a:t> depends on its predecessors given this variable ordering.</a:t>
            </a:r>
          </a:p>
          <a:p>
            <a:pPr algn="l">
              <a:buFont typeface="Arial" panose="020B0604020202020204" pitchFamily="34" charset="0"/>
              <a:buChar char="•"/>
            </a:pPr>
            <a:r>
              <a:rPr lang="en-US" sz="2400" b="0" i="1" dirty="0">
                <a:solidFill>
                  <a:srgbClr val="FF0000"/>
                </a:solidFill>
                <a:effectLst/>
                <a:latin typeface="Lucida Grande"/>
              </a:rPr>
              <a:t>Smoke</a:t>
            </a:r>
            <a:r>
              <a:rPr lang="en-US" sz="2400" b="0" i="0" dirty="0">
                <a:solidFill>
                  <a:srgbClr val="000000"/>
                </a:solidFill>
                <a:effectLst/>
                <a:latin typeface="Lucida Grande"/>
              </a:rPr>
              <a:t> depends only on </a:t>
            </a:r>
            <a:r>
              <a:rPr lang="en-US" sz="2400" b="0" i="1" dirty="0">
                <a:solidFill>
                  <a:srgbClr val="FF0000"/>
                </a:solidFill>
                <a:effectLst/>
                <a:latin typeface="Lucida Grande"/>
              </a:rPr>
              <a:t>Fire</a:t>
            </a:r>
            <a:r>
              <a:rPr lang="en-US" sz="2400" b="0" i="0" dirty="0">
                <a:solidFill>
                  <a:srgbClr val="000000"/>
                </a:solidFill>
                <a:effectLst/>
                <a:latin typeface="Lucida Grande"/>
              </a:rPr>
              <a:t> and is conditionally independent of </a:t>
            </a:r>
            <a:r>
              <a:rPr lang="en-US" sz="2400" b="0" i="1" dirty="0">
                <a:solidFill>
                  <a:srgbClr val="FF0000"/>
                </a:solidFill>
                <a:effectLst/>
                <a:latin typeface="Lucida Grande"/>
              </a:rPr>
              <a:t>Tampering</a:t>
            </a:r>
            <a:r>
              <a:rPr lang="en-US" sz="2400" b="0" i="0" dirty="0">
                <a:solidFill>
                  <a:srgbClr val="000000"/>
                </a:solidFill>
                <a:effectLst/>
                <a:latin typeface="Lucida Grande"/>
              </a:rPr>
              <a:t> and </a:t>
            </a:r>
            <a:r>
              <a:rPr lang="en-US" sz="2400" b="0" i="1" dirty="0">
                <a:solidFill>
                  <a:srgbClr val="FF0000"/>
                </a:solidFill>
                <a:effectLst/>
                <a:latin typeface="Lucida Grande"/>
              </a:rPr>
              <a:t>Alarm</a:t>
            </a:r>
            <a:r>
              <a:rPr lang="en-US" sz="2400" b="0" i="0" dirty="0">
                <a:solidFill>
                  <a:srgbClr val="000000"/>
                </a:solidFill>
                <a:effectLst/>
                <a:latin typeface="Lucida Grande"/>
              </a:rPr>
              <a:t> given whether there is a </a:t>
            </a:r>
            <a:r>
              <a:rPr lang="en-US" sz="2400" b="0" i="1" dirty="0">
                <a:solidFill>
                  <a:srgbClr val="FF0000"/>
                </a:solidFill>
                <a:effectLst/>
                <a:latin typeface="Lucida Grande"/>
              </a:rPr>
              <a:t>Fire</a:t>
            </a:r>
            <a:r>
              <a:rPr lang="en-US" sz="2400" b="0" i="0" dirty="0">
                <a:solidFill>
                  <a:srgbClr val="000000"/>
                </a:solidFill>
                <a:effectLst/>
                <a:latin typeface="Lucida Grande"/>
              </a:rPr>
              <a:t>.</a:t>
            </a:r>
          </a:p>
          <a:p>
            <a:pPr algn="l">
              <a:buFont typeface="Arial" panose="020B0604020202020204" pitchFamily="34" charset="0"/>
              <a:buChar char="•"/>
            </a:pPr>
            <a:r>
              <a:rPr lang="en-US" sz="2400" b="0" i="1" dirty="0">
                <a:solidFill>
                  <a:srgbClr val="FF0000"/>
                </a:solidFill>
                <a:effectLst/>
                <a:latin typeface="Lucida Grande"/>
              </a:rPr>
              <a:t>Leaving</a:t>
            </a:r>
            <a:r>
              <a:rPr lang="en-US" sz="2400" b="0" i="0" dirty="0">
                <a:solidFill>
                  <a:srgbClr val="000000"/>
                </a:solidFill>
                <a:effectLst/>
                <a:latin typeface="Lucida Grande"/>
              </a:rPr>
              <a:t> only depends on </a:t>
            </a:r>
            <a:r>
              <a:rPr lang="en-US" sz="2400" b="0" i="1" dirty="0">
                <a:solidFill>
                  <a:srgbClr val="FF0000"/>
                </a:solidFill>
                <a:effectLst/>
                <a:latin typeface="Lucida Grande"/>
              </a:rPr>
              <a:t>Alarm</a:t>
            </a:r>
            <a:r>
              <a:rPr lang="en-US" sz="2400" b="0" i="0" dirty="0">
                <a:solidFill>
                  <a:srgbClr val="000000"/>
                </a:solidFill>
                <a:effectLst/>
                <a:latin typeface="Lucida Grande"/>
              </a:rPr>
              <a:t> and not directly on </a:t>
            </a:r>
            <a:r>
              <a:rPr lang="en-US" sz="2400" b="0" i="1" dirty="0">
                <a:solidFill>
                  <a:srgbClr val="FF0000"/>
                </a:solidFill>
                <a:effectLst/>
                <a:latin typeface="Lucida Grande"/>
              </a:rPr>
              <a:t>Fire</a:t>
            </a:r>
            <a:r>
              <a:rPr lang="en-US" sz="2400" b="0" i="0" dirty="0">
                <a:solidFill>
                  <a:srgbClr val="000000"/>
                </a:solidFill>
                <a:effectLst/>
                <a:latin typeface="Lucida Grande"/>
              </a:rPr>
              <a:t> or </a:t>
            </a:r>
            <a:r>
              <a:rPr lang="en-US" sz="2400" b="0" i="1" dirty="0">
                <a:solidFill>
                  <a:srgbClr val="FF0000"/>
                </a:solidFill>
                <a:effectLst/>
                <a:latin typeface="Lucida Grande"/>
              </a:rPr>
              <a:t>Tampering</a:t>
            </a:r>
            <a:r>
              <a:rPr lang="en-US" sz="2400" b="0" i="0" dirty="0">
                <a:solidFill>
                  <a:srgbClr val="000000"/>
                </a:solidFill>
                <a:effectLst/>
                <a:latin typeface="Lucida Grande"/>
              </a:rPr>
              <a:t> or </a:t>
            </a:r>
            <a:r>
              <a:rPr lang="en-US" sz="2400" b="0" i="1" dirty="0">
                <a:solidFill>
                  <a:srgbClr val="FF0000"/>
                </a:solidFill>
                <a:effectLst/>
                <a:latin typeface="Lucida Grande"/>
              </a:rPr>
              <a:t>Smoke</a:t>
            </a:r>
            <a:r>
              <a:rPr lang="en-US" sz="2400" b="0" i="0" dirty="0">
                <a:solidFill>
                  <a:srgbClr val="000000"/>
                </a:solidFill>
                <a:effectLst/>
                <a:latin typeface="Lucida Grande"/>
              </a:rPr>
              <a:t>. That is, </a:t>
            </a:r>
            <a:r>
              <a:rPr lang="en-US" sz="2400" b="0" i="1" dirty="0">
                <a:solidFill>
                  <a:srgbClr val="FF0000"/>
                </a:solidFill>
                <a:effectLst/>
                <a:latin typeface="Lucida Grande"/>
              </a:rPr>
              <a:t>Leaving</a:t>
            </a:r>
            <a:r>
              <a:rPr lang="en-US" sz="2400" b="0" i="0" dirty="0">
                <a:solidFill>
                  <a:srgbClr val="000000"/>
                </a:solidFill>
                <a:effectLst/>
                <a:latin typeface="Lucida Grande"/>
              </a:rPr>
              <a:t> is conditionally independent of the other variables given </a:t>
            </a:r>
            <a:r>
              <a:rPr lang="en-US" sz="2400" b="0" i="1" dirty="0">
                <a:solidFill>
                  <a:srgbClr val="FF0000"/>
                </a:solidFill>
                <a:effectLst/>
                <a:latin typeface="Lucida Grande"/>
              </a:rPr>
              <a:t>Alarm</a:t>
            </a:r>
            <a:r>
              <a:rPr lang="en-US" sz="2400" b="0" i="0" dirty="0">
                <a:solidFill>
                  <a:srgbClr val="000000"/>
                </a:solidFill>
                <a:effectLst/>
                <a:latin typeface="Lucida Grande"/>
              </a:rPr>
              <a:t>.</a:t>
            </a:r>
          </a:p>
          <a:p>
            <a:pPr algn="l">
              <a:buFont typeface="Arial" panose="020B0604020202020204" pitchFamily="34" charset="0"/>
              <a:buChar char="•"/>
            </a:pPr>
            <a:r>
              <a:rPr lang="en-US" sz="2400" b="0" i="1" dirty="0">
                <a:solidFill>
                  <a:srgbClr val="FF0000"/>
                </a:solidFill>
                <a:effectLst/>
                <a:latin typeface="Lucida Grande"/>
              </a:rPr>
              <a:t>Report</a:t>
            </a:r>
            <a:r>
              <a:rPr lang="en-US" sz="2400" b="0" i="0" dirty="0">
                <a:solidFill>
                  <a:srgbClr val="000000"/>
                </a:solidFill>
                <a:effectLst/>
                <a:latin typeface="Lucida Grande"/>
              </a:rPr>
              <a:t> only directly depends on </a:t>
            </a:r>
            <a:r>
              <a:rPr lang="en-US" sz="2400" b="0" i="1" dirty="0">
                <a:solidFill>
                  <a:srgbClr val="FF0000"/>
                </a:solidFill>
                <a:effectLst/>
                <a:latin typeface="Lucida Grande"/>
              </a:rPr>
              <a:t>Leaving</a:t>
            </a:r>
            <a:r>
              <a:rPr lang="en-US" sz="2400" b="0" i="0" dirty="0">
                <a:solidFill>
                  <a:srgbClr val="000000"/>
                </a:solidFill>
                <a:effectLst/>
                <a:latin typeface="Lucida Grande"/>
              </a:rPr>
              <a:t>.</a:t>
            </a:r>
          </a:p>
          <a:p>
            <a:pPr marL="0" indent="0">
              <a:buNone/>
            </a:pPr>
            <a:endParaRPr lang="en-US" dirty="0"/>
          </a:p>
        </p:txBody>
      </p:sp>
    </p:spTree>
    <p:extLst>
      <p:ext uri="{BB962C8B-B14F-4D97-AF65-F5344CB8AC3E}">
        <p14:creationId xmlns:p14="http://schemas.microsoft.com/office/powerpoint/2010/main" val="2890099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513B27-D737-DFE8-D83F-A5AB18799C34}"/>
              </a:ext>
            </a:extLst>
          </p:cNvPr>
          <p:cNvSpPr>
            <a:spLocks noGrp="1"/>
          </p:cNvSpPr>
          <p:nvPr>
            <p:ph idx="1"/>
          </p:nvPr>
        </p:nvSpPr>
        <p:spPr>
          <a:xfrm>
            <a:off x="-76200" y="0"/>
            <a:ext cx="9220200" cy="6858000"/>
          </a:xfrm>
        </p:spPr>
        <p:txBody>
          <a:bodyPr/>
          <a:lstStyle/>
          <a:p>
            <a:pPr marL="0" indent="0">
              <a:buNone/>
            </a:pPr>
            <a:r>
              <a:rPr lang="en-US" b="0" i="0" dirty="0">
                <a:solidFill>
                  <a:srgbClr val="000000"/>
                </a:solidFill>
                <a:effectLst/>
                <a:latin typeface="Lucida Grande"/>
              </a:rPr>
              <a:t>The following belief network expresses these dependencies.</a:t>
            </a:r>
            <a:endParaRPr lang="en-US" dirty="0"/>
          </a:p>
        </p:txBody>
      </p:sp>
      <p:pic>
        <p:nvPicPr>
          <p:cNvPr id="4" name="Picture 3">
            <a:extLst>
              <a:ext uri="{FF2B5EF4-FFF2-40B4-BE49-F238E27FC236}">
                <a16:creationId xmlns:a16="http://schemas.microsoft.com/office/drawing/2014/main" id="{67DD9842-76CD-C4AD-D267-1C2B688444D0}"/>
              </a:ext>
            </a:extLst>
          </p:cNvPr>
          <p:cNvPicPr>
            <a:picLocks noChangeAspect="1"/>
          </p:cNvPicPr>
          <p:nvPr/>
        </p:nvPicPr>
        <p:blipFill>
          <a:blip r:embed="rId2"/>
          <a:stretch>
            <a:fillRect/>
          </a:stretch>
        </p:blipFill>
        <p:spPr>
          <a:xfrm>
            <a:off x="3276600" y="787665"/>
            <a:ext cx="3419475" cy="3257550"/>
          </a:xfrm>
          <a:prstGeom prst="rect">
            <a:avLst/>
          </a:prstGeom>
        </p:spPr>
      </p:pic>
      <p:sp>
        <p:nvSpPr>
          <p:cNvPr id="8" name="Rectangle 1">
            <a:extLst>
              <a:ext uri="{FF2B5EF4-FFF2-40B4-BE49-F238E27FC236}">
                <a16:creationId xmlns:a16="http://schemas.microsoft.com/office/drawing/2014/main" id="{B1DCEC07-EA68-4A64-9EE9-603F8065EF5E}"/>
              </a:ext>
            </a:extLst>
          </p:cNvPr>
          <p:cNvSpPr>
            <a:spLocks noChangeArrowheads="1"/>
          </p:cNvSpPr>
          <p:nvPr/>
        </p:nvSpPr>
        <p:spPr bwMode="auto">
          <a:xfrm>
            <a:off x="685800" y="4343400"/>
            <a:ext cx="57523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Lucida Grande"/>
              </a:rPr>
              <a:t>This network represents the factorization</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B25136C4-E357-111C-4033-DC382EF7FAD2}"/>
              </a:ext>
            </a:extLst>
          </p:cNvPr>
          <p:cNvSpPr txBox="1"/>
          <p:nvPr/>
        </p:nvSpPr>
        <p:spPr>
          <a:xfrm>
            <a:off x="0" y="4847224"/>
            <a:ext cx="9220200" cy="1200329"/>
          </a:xfrm>
          <a:prstGeom prst="rect">
            <a:avLst/>
          </a:prstGeom>
          <a:noFill/>
        </p:spPr>
        <p:txBody>
          <a:bodyPr wrap="square">
            <a:spAutoFit/>
          </a:bodyPr>
          <a:lstStyle/>
          <a:p>
            <a:r>
              <a:rPr lang="en-US" sz="2400" dirty="0"/>
              <a:t>P(</a:t>
            </a:r>
            <a:r>
              <a:rPr lang="en-US" sz="2400" dirty="0" err="1"/>
              <a:t>Tampering,Fire,Alarm,Smoke,Leaving,Report</a:t>
            </a:r>
            <a:r>
              <a:rPr lang="en-US" sz="2400" dirty="0"/>
              <a:t>) =P(Tampering) ×P(Fire) ×P(</a:t>
            </a:r>
            <a:r>
              <a:rPr lang="en-US" sz="2400" dirty="0" err="1"/>
              <a:t>Alarm|Tampering,Fire</a:t>
            </a:r>
            <a:r>
              <a:rPr lang="en-US" sz="2400" dirty="0"/>
              <a:t>)</a:t>
            </a:r>
          </a:p>
          <a:p>
            <a:r>
              <a:rPr lang="en-US" sz="2400" dirty="0"/>
              <a:t>×P(</a:t>
            </a:r>
            <a:r>
              <a:rPr lang="en-US" sz="2400" dirty="0" err="1"/>
              <a:t>Smoke|Fire</a:t>
            </a:r>
            <a:r>
              <a:rPr lang="en-US" sz="2400" dirty="0"/>
              <a:t>) ×P(</a:t>
            </a:r>
            <a:r>
              <a:rPr lang="en-US" sz="2400" dirty="0" err="1"/>
              <a:t>Leaving|Alarm</a:t>
            </a:r>
            <a:r>
              <a:rPr lang="en-US" sz="2400" dirty="0"/>
              <a:t>) ×P(</a:t>
            </a:r>
            <a:r>
              <a:rPr lang="en-US" sz="2400" dirty="0" err="1"/>
              <a:t>Report|Leaving</a:t>
            </a:r>
            <a:r>
              <a:rPr lang="en-US" sz="2400" dirty="0"/>
              <a:t>).</a:t>
            </a:r>
          </a:p>
        </p:txBody>
      </p:sp>
    </p:spTree>
    <p:extLst>
      <p:ext uri="{BB962C8B-B14F-4D97-AF65-F5344CB8AC3E}">
        <p14:creationId xmlns:p14="http://schemas.microsoft.com/office/powerpoint/2010/main" val="27589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F49893-7978-7A42-12EF-18C3596F122F}"/>
              </a:ext>
            </a:extLst>
          </p:cNvPr>
          <p:cNvSpPr>
            <a:spLocks noGrp="1"/>
          </p:cNvSpPr>
          <p:nvPr>
            <p:ph idx="1"/>
          </p:nvPr>
        </p:nvSpPr>
        <p:spPr>
          <a:xfrm>
            <a:off x="-49306" y="0"/>
            <a:ext cx="9193306" cy="6781800"/>
          </a:xfrm>
        </p:spPr>
        <p:txBody>
          <a:bodyPr/>
          <a:lstStyle/>
          <a:p>
            <a:pPr marL="0" indent="0" algn="just">
              <a:buNone/>
            </a:pPr>
            <a:r>
              <a:rPr lang="en-US" b="0" i="0" dirty="0">
                <a:solidFill>
                  <a:srgbClr val="000000"/>
                </a:solidFill>
                <a:effectLst/>
                <a:latin typeface="Lucida Grande"/>
              </a:rPr>
              <a:t>We also must define the domain of each variable. Assume that the variables are Boolean; that is, they have domain </a:t>
            </a:r>
            <a:r>
              <a:rPr lang="en-US" b="0" i="1" dirty="0">
                <a:solidFill>
                  <a:srgbClr val="000000"/>
                </a:solidFill>
                <a:effectLst/>
                <a:latin typeface="Lucida Grande"/>
              </a:rPr>
              <a:t>{</a:t>
            </a:r>
            <a:r>
              <a:rPr lang="en-US" b="0" i="1" dirty="0" err="1">
                <a:solidFill>
                  <a:srgbClr val="000000"/>
                </a:solidFill>
                <a:effectLst/>
                <a:latin typeface="Lucida Grande"/>
              </a:rPr>
              <a:t>true,false</a:t>
            </a:r>
            <a:r>
              <a:rPr lang="en-US" b="0" i="1" dirty="0">
                <a:solidFill>
                  <a:srgbClr val="000000"/>
                </a:solidFill>
                <a:effectLst/>
                <a:latin typeface="Lucida Grande"/>
              </a:rPr>
              <a:t>}</a:t>
            </a:r>
            <a:r>
              <a:rPr lang="en-US" b="0" i="0" dirty="0">
                <a:solidFill>
                  <a:srgbClr val="000000"/>
                </a:solidFill>
                <a:effectLst/>
                <a:latin typeface="Lucida Grande"/>
              </a:rPr>
              <a:t>. We use the lower-case variant of the variable to represent the true value and use negation for the false value. Thus, for example, </a:t>
            </a:r>
            <a:r>
              <a:rPr lang="en-US" b="0" i="1" dirty="0">
                <a:solidFill>
                  <a:srgbClr val="000000"/>
                </a:solidFill>
                <a:effectLst/>
                <a:latin typeface="Lucida Grande"/>
              </a:rPr>
              <a:t>Tampering=true</a:t>
            </a:r>
            <a:r>
              <a:rPr lang="en-US" b="0" i="0" dirty="0">
                <a:solidFill>
                  <a:srgbClr val="000000"/>
                </a:solidFill>
                <a:effectLst/>
                <a:latin typeface="Lucida Grande"/>
              </a:rPr>
              <a:t> is written as </a:t>
            </a:r>
            <a:r>
              <a:rPr lang="en-US" b="0" i="1" dirty="0">
                <a:solidFill>
                  <a:srgbClr val="000000"/>
                </a:solidFill>
                <a:effectLst/>
                <a:latin typeface="Lucida Grande"/>
              </a:rPr>
              <a:t>tampering</a:t>
            </a:r>
            <a:r>
              <a:rPr lang="en-US" b="0" i="0" dirty="0">
                <a:solidFill>
                  <a:srgbClr val="000000"/>
                </a:solidFill>
                <a:effectLst/>
                <a:latin typeface="Lucida Grande"/>
              </a:rPr>
              <a:t>, and </a:t>
            </a:r>
            <a:r>
              <a:rPr lang="en-US" b="0" i="1" dirty="0">
                <a:solidFill>
                  <a:srgbClr val="000000"/>
                </a:solidFill>
                <a:effectLst/>
                <a:latin typeface="Lucida Grande"/>
              </a:rPr>
              <a:t>Tampering=false</a:t>
            </a:r>
            <a:r>
              <a:rPr lang="en-US" b="0" i="0" dirty="0">
                <a:solidFill>
                  <a:srgbClr val="000000"/>
                </a:solidFill>
                <a:effectLst/>
                <a:latin typeface="Lucida Grande"/>
              </a:rPr>
              <a:t> is written as </a:t>
            </a:r>
            <a:r>
              <a:rPr lang="en-US" b="0" i="1" dirty="0">
                <a:solidFill>
                  <a:srgbClr val="000000"/>
                </a:solidFill>
                <a:effectLst/>
                <a:latin typeface="Lucida Grande"/>
              </a:rPr>
              <a:t>¬tampering</a:t>
            </a:r>
            <a:r>
              <a:rPr lang="en-US" b="0" i="0" dirty="0">
                <a:solidFill>
                  <a:srgbClr val="000000"/>
                </a:solidFill>
                <a:effectLst/>
                <a:latin typeface="Lucida Grande"/>
              </a:rPr>
              <a:t>.</a:t>
            </a:r>
          </a:p>
          <a:p>
            <a:pPr marL="0" indent="0">
              <a:buNone/>
            </a:pPr>
            <a:endParaRPr lang="en-US" dirty="0"/>
          </a:p>
        </p:txBody>
      </p:sp>
    </p:spTree>
    <p:extLst>
      <p:ext uri="{BB962C8B-B14F-4D97-AF65-F5344CB8AC3E}">
        <p14:creationId xmlns:p14="http://schemas.microsoft.com/office/powerpoint/2010/main" val="35211386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AE1259-9024-7384-2145-7C4838B91432}"/>
              </a:ext>
            </a:extLst>
          </p:cNvPr>
          <p:cNvSpPr>
            <a:spLocks noGrp="1"/>
          </p:cNvSpPr>
          <p:nvPr>
            <p:ph idx="1"/>
          </p:nvPr>
        </p:nvSpPr>
        <p:spPr>
          <a:xfrm>
            <a:off x="76200" y="0"/>
            <a:ext cx="9144000" cy="4525963"/>
          </a:xfrm>
        </p:spPr>
        <p:txBody>
          <a:bodyPr/>
          <a:lstStyle/>
          <a:p>
            <a:pPr marL="0" indent="0" algn="l">
              <a:buNone/>
            </a:pPr>
            <a:r>
              <a:rPr lang="en-US" sz="2400" b="0" i="0" dirty="0">
                <a:solidFill>
                  <a:srgbClr val="000000"/>
                </a:solidFill>
                <a:effectLst/>
                <a:latin typeface="Lucida Grande"/>
              </a:rPr>
              <a:t>The examples that follow assume the following conditional probabilities:</a:t>
            </a:r>
          </a:p>
          <a:p>
            <a:pPr algn="l"/>
            <a:r>
              <a:rPr lang="en-US" sz="2400" b="0" i="1" dirty="0">
                <a:solidFill>
                  <a:srgbClr val="000000"/>
                </a:solidFill>
                <a:effectLst/>
                <a:latin typeface="Lucida Grande"/>
              </a:rPr>
              <a:t>P(tampering) = 0.02</a:t>
            </a:r>
            <a:br>
              <a:rPr lang="en-US" sz="2400" b="0" i="0" dirty="0">
                <a:solidFill>
                  <a:srgbClr val="000000"/>
                </a:solidFill>
                <a:effectLst/>
                <a:latin typeface="Lucida Grande"/>
              </a:rPr>
            </a:br>
            <a:r>
              <a:rPr lang="en-US" sz="2400" b="0" i="1" dirty="0">
                <a:solidFill>
                  <a:srgbClr val="000000"/>
                </a:solidFill>
                <a:effectLst/>
                <a:latin typeface="Lucida Grande"/>
              </a:rPr>
              <a:t>P(fire) = 0.01</a:t>
            </a:r>
            <a:br>
              <a:rPr lang="en-US" sz="2400" b="0" i="0" dirty="0">
                <a:solidFill>
                  <a:srgbClr val="000000"/>
                </a:solidFill>
                <a:effectLst/>
                <a:latin typeface="Lucida Grande"/>
              </a:rPr>
            </a:br>
            <a:r>
              <a:rPr lang="en-US" sz="2400" b="0" i="1" dirty="0">
                <a:solidFill>
                  <a:srgbClr val="000000"/>
                </a:solidFill>
                <a:effectLst/>
                <a:latin typeface="Lucida Grande"/>
              </a:rPr>
              <a:t>P(alarm | fire ∧tampering) = 0.5</a:t>
            </a:r>
            <a:br>
              <a:rPr lang="en-US" sz="2400" b="0" i="0" dirty="0">
                <a:solidFill>
                  <a:srgbClr val="000000"/>
                </a:solidFill>
                <a:effectLst/>
                <a:latin typeface="Lucida Grande"/>
              </a:rPr>
            </a:br>
            <a:r>
              <a:rPr lang="en-US" sz="2400" b="0" i="1" dirty="0">
                <a:solidFill>
                  <a:srgbClr val="000000"/>
                </a:solidFill>
                <a:effectLst/>
                <a:latin typeface="Lucida Grande"/>
              </a:rPr>
              <a:t>P(alarm | fire ∧¬tampering) = 0.99</a:t>
            </a:r>
            <a:br>
              <a:rPr lang="en-US" sz="2400" b="0" i="0" dirty="0">
                <a:solidFill>
                  <a:srgbClr val="000000"/>
                </a:solidFill>
                <a:effectLst/>
                <a:latin typeface="Lucida Grande"/>
              </a:rPr>
            </a:br>
            <a:r>
              <a:rPr lang="en-US" sz="2400" b="0" i="1" dirty="0">
                <a:solidFill>
                  <a:srgbClr val="000000"/>
                </a:solidFill>
                <a:effectLst/>
                <a:latin typeface="Lucida Grande"/>
              </a:rPr>
              <a:t>P(alarm | ¬fire ∧tampering) = 0.85</a:t>
            </a:r>
            <a:br>
              <a:rPr lang="en-US" sz="2400" b="0" i="0" dirty="0">
                <a:solidFill>
                  <a:srgbClr val="000000"/>
                </a:solidFill>
                <a:effectLst/>
                <a:latin typeface="Lucida Grande"/>
              </a:rPr>
            </a:br>
            <a:r>
              <a:rPr lang="en-US" sz="2400" b="0" i="1" dirty="0">
                <a:solidFill>
                  <a:srgbClr val="000000"/>
                </a:solidFill>
                <a:effectLst/>
                <a:latin typeface="Lucida Grande"/>
              </a:rPr>
              <a:t>P(alarm | ¬fire ∧¬tampering) = 0.0001</a:t>
            </a:r>
            <a:br>
              <a:rPr lang="en-US" sz="2400" b="0" i="0" dirty="0">
                <a:solidFill>
                  <a:srgbClr val="000000"/>
                </a:solidFill>
                <a:effectLst/>
                <a:latin typeface="Lucida Grande"/>
              </a:rPr>
            </a:br>
            <a:r>
              <a:rPr lang="en-US" sz="2400" b="0" i="1" dirty="0">
                <a:solidFill>
                  <a:srgbClr val="000000"/>
                </a:solidFill>
                <a:effectLst/>
                <a:latin typeface="Lucida Grande"/>
              </a:rPr>
              <a:t>P(smoke | fire ) = 0.9</a:t>
            </a:r>
            <a:br>
              <a:rPr lang="en-US" sz="2400" b="0" i="0" dirty="0">
                <a:solidFill>
                  <a:srgbClr val="000000"/>
                </a:solidFill>
                <a:effectLst/>
                <a:latin typeface="Lucida Grande"/>
              </a:rPr>
            </a:br>
            <a:r>
              <a:rPr lang="en-US" sz="2400" b="0" i="1" dirty="0">
                <a:solidFill>
                  <a:srgbClr val="000000"/>
                </a:solidFill>
                <a:effectLst/>
                <a:latin typeface="Lucida Grande"/>
              </a:rPr>
              <a:t>P(smoke | ¬fire ) = 0.01</a:t>
            </a:r>
            <a:br>
              <a:rPr lang="en-US" sz="2400" b="0" i="0" dirty="0">
                <a:solidFill>
                  <a:srgbClr val="000000"/>
                </a:solidFill>
                <a:effectLst/>
                <a:latin typeface="Lucida Grande"/>
              </a:rPr>
            </a:br>
            <a:r>
              <a:rPr lang="en-US" sz="2400" b="0" i="1" dirty="0">
                <a:solidFill>
                  <a:srgbClr val="000000"/>
                </a:solidFill>
                <a:effectLst/>
                <a:latin typeface="Lucida Grande"/>
              </a:rPr>
              <a:t>P(leaving | alarm) = 0.88</a:t>
            </a:r>
            <a:br>
              <a:rPr lang="en-US" sz="2400" b="0" i="0" dirty="0">
                <a:solidFill>
                  <a:srgbClr val="000000"/>
                </a:solidFill>
                <a:effectLst/>
                <a:latin typeface="Lucida Grande"/>
              </a:rPr>
            </a:br>
            <a:r>
              <a:rPr lang="en-US" sz="2400" b="0" i="1" dirty="0">
                <a:solidFill>
                  <a:srgbClr val="000000"/>
                </a:solidFill>
                <a:effectLst/>
                <a:latin typeface="Lucida Grande"/>
              </a:rPr>
              <a:t>P(leaving | ¬alarm ) = 0.001</a:t>
            </a:r>
            <a:br>
              <a:rPr lang="en-US" sz="2400" b="0" i="0" dirty="0">
                <a:solidFill>
                  <a:srgbClr val="000000"/>
                </a:solidFill>
                <a:effectLst/>
                <a:latin typeface="Lucida Grande"/>
              </a:rPr>
            </a:br>
            <a:r>
              <a:rPr lang="en-US" sz="2400" b="0" i="1" dirty="0">
                <a:solidFill>
                  <a:srgbClr val="000000"/>
                </a:solidFill>
                <a:effectLst/>
                <a:latin typeface="Lucida Grande"/>
              </a:rPr>
              <a:t>P(report | leaving ) = 0.75</a:t>
            </a:r>
            <a:br>
              <a:rPr lang="en-US" sz="2400" b="0" i="0" dirty="0">
                <a:solidFill>
                  <a:srgbClr val="000000"/>
                </a:solidFill>
                <a:effectLst/>
                <a:latin typeface="Lucida Grande"/>
              </a:rPr>
            </a:br>
            <a:r>
              <a:rPr lang="en-US" sz="2400" b="0" i="1" dirty="0">
                <a:solidFill>
                  <a:srgbClr val="000000"/>
                </a:solidFill>
                <a:effectLst/>
                <a:latin typeface="Lucida Grande"/>
              </a:rPr>
              <a:t>P(report | ¬leaving ) = 0.01</a:t>
            </a:r>
            <a:endParaRPr lang="en-US" sz="2400" b="0" i="0" dirty="0">
              <a:solidFill>
                <a:srgbClr val="000000"/>
              </a:solidFill>
              <a:effectLst/>
              <a:latin typeface="Lucida Grande"/>
            </a:endParaRPr>
          </a:p>
          <a:p>
            <a:pPr marL="0" indent="0">
              <a:buNone/>
            </a:pPr>
            <a:endParaRPr lang="en-US" dirty="0"/>
          </a:p>
        </p:txBody>
      </p:sp>
    </p:spTree>
    <p:extLst>
      <p:ext uri="{BB962C8B-B14F-4D97-AF65-F5344CB8AC3E}">
        <p14:creationId xmlns:p14="http://schemas.microsoft.com/office/powerpoint/2010/main" val="2052685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66800"/>
          </a:xfrm>
        </p:spPr>
        <p:txBody>
          <a:bodyPr/>
          <a:lstStyle/>
          <a:p>
            <a:r>
              <a:rPr lang="en-US" sz="3600" dirty="0"/>
              <a:t>A more realistic </a:t>
            </a:r>
            <a:r>
              <a:rPr lang="en-US" sz="3600" dirty="0" err="1"/>
              <a:t>Bayes</a:t>
            </a:r>
            <a:r>
              <a:rPr lang="en-US" sz="3600" dirty="0"/>
              <a:t> Network: </a:t>
            </a:r>
            <a:br>
              <a:rPr lang="en-US" sz="3600" dirty="0"/>
            </a:br>
            <a:r>
              <a:rPr lang="en-US" sz="3600" dirty="0"/>
              <a:t>Car diagnosis</a:t>
            </a:r>
          </a:p>
        </p:txBody>
      </p:sp>
      <p:sp>
        <p:nvSpPr>
          <p:cNvPr id="3" name="Content Placeholder 2"/>
          <p:cNvSpPr>
            <a:spLocks noGrp="1"/>
          </p:cNvSpPr>
          <p:nvPr>
            <p:ph idx="1"/>
          </p:nvPr>
        </p:nvSpPr>
        <p:spPr>
          <a:xfrm>
            <a:off x="228600" y="1219200"/>
            <a:ext cx="8686800" cy="4906963"/>
          </a:xfrm>
        </p:spPr>
        <p:txBody>
          <a:bodyPr/>
          <a:lstStyle/>
          <a:p>
            <a:r>
              <a:rPr lang="en-US" sz="2000" dirty="0">
                <a:solidFill>
                  <a:srgbClr val="FF0000"/>
                </a:solidFill>
              </a:rPr>
              <a:t>Initial observation:</a:t>
            </a:r>
            <a:r>
              <a:rPr lang="en-US" sz="2000" dirty="0"/>
              <a:t> car won’t start</a:t>
            </a:r>
          </a:p>
          <a:p>
            <a:r>
              <a:rPr lang="en-US" sz="2000" dirty="0">
                <a:solidFill>
                  <a:srgbClr val="FFC000"/>
                </a:solidFill>
              </a:rPr>
              <a:t>Orange:</a:t>
            </a:r>
            <a:r>
              <a:rPr lang="en-US" sz="2000" dirty="0"/>
              <a:t> “broken, so fix it” nodes</a:t>
            </a:r>
          </a:p>
          <a:p>
            <a:r>
              <a:rPr lang="en-US" sz="2000" dirty="0">
                <a:solidFill>
                  <a:srgbClr val="00B050"/>
                </a:solidFill>
              </a:rPr>
              <a:t>Green:</a:t>
            </a:r>
            <a:r>
              <a:rPr lang="en-US" sz="2000" dirty="0"/>
              <a:t> testable evidence</a:t>
            </a:r>
          </a:p>
          <a:p>
            <a:r>
              <a:rPr lang="en-US" sz="2000" dirty="0">
                <a:solidFill>
                  <a:srgbClr val="B2B2B2"/>
                </a:solidFill>
              </a:rPr>
              <a:t>Gray:</a:t>
            </a:r>
            <a:r>
              <a:rPr lang="en-US" sz="2000" dirty="0"/>
              <a:t> “hidden variables” to ensure sparse structure, reduce </a:t>
            </a:r>
            <a:r>
              <a:rPr lang="en-US" sz="2000" dirty="0" err="1"/>
              <a:t>parameteres</a:t>
            </a:r>
            <a:endParaRPr lang="en-US" sz="2000" dirty="0"/>
          </a:p>
        </p:txBody>
      </p:sp>
      <p:pic>
        <p:nvPicPr>
          <p:cNvPr id="21506" name="Picture 2"/>
          <p:cNvPicPr>
            <a:picLocks noChangeAspect="1" noChangeArrowheads="1"/>
          </p:cNvPicPr>
          <p:nvPr/>
        </p:nvPicPr>
        <p:blipFill>
          <a:blip r:embed="rId3" cstate="print"/>
          <a:srcRect/>
          <a:stretch>
            <a:fillRect/>
          </a:stretch>
        </p:blipFill>
        <p:spPr bwMode="auto">
          <a:xfrm>
            <a:off x="914400" y="2819400"/>
            <a:ext cx="7543800" cy="3972276"/>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lstStyle/>
          <a:p>
            <a:r>
              <a:rPr lang="en-US" dirty="0"/>
              <a:t>Car insurance</a:t>
            </a:r>
          </a:p>
        </p:txBody>
      </p:sp>
      <p:sp>
        <p:nvSpPr>
          <p:cNvPr id="3" name="Content Placeholder 2"/>
          <p:cNvSpPr>
            <a:spLocks noGrp="1"/>
          </p:cNvSpPr>
          <p:nvPr>
            <p:ph idx="1"/>
          </p:nvPr>
        </p:nvSpPr>
        <p:spPr/>
        <p:txBody>
          <a:bodyPr/>
          <a:lstStyle/>
          <a:p>
            <a:endParaRPr lang="en-US"/>
          </a:p>
        </p:txBody>
      </p:sp>
      <p:pic>
        <p:nvPicPr>
          <p:cNvPr id="100354" name="Picture 2"/>
          <p:cNvPicPr>
            <a:picLocks noChangeAspect="1" noChangeArrowheads="1"/>
          </p:cNvPicPr>
          <p:nvPr/>
        </p:nvPicPr>
        <p:blipFill>
          <a:blip r:embed="rId3" cstate="print"/>
          <a:srcRect/>
          <a:stretch>
            <a:fillRect/>
          </a:stretch>
        </p:blipFill>
        <p:spPr bwMode="auto">
          <a:xfrm>
            <a:off x="145234" y="990601"/>
            <a:ext cx="8846366" cy="57150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lstStyle/>
          <a:p>
            <a:r>
              <a:rPr lang="en-US" dirty="0"/>
              <a:t>In research literature…</a:t>
            </a:r>
          </a:p>
        </p:txBody>
      </p:sp>
      <p:sp>
        <p:nvSpPr>
          <p:cNvPr id="3" name="Content Placeholder 2"/>
          <p:cNvSpPr>
            <a:spLocks noGrp="1"/>
          </p:cNvSpPr>
          <p:nvPr>
            <p:ph idx="1"/>
          </p:nvPr>
        </p:nvSpPr>
        <p:spPr>
          <a:xfrm>
            <a:off x="457200" y="5562600"/>
            <a:ext cx="8229600" cy="944563"/>
          </a:xfrm>
        </p:spPr>
        <p:txBody>
          <a:bodyPr/>
          <a:lstStyle/>
          <a:p>
            <a:pPr>
              <a:buNone/>
            </a:pPr>
            <a:r>
              <a:rPr lang="en-US" sz="1600" b="1" dirty="0"/>
              <a:t>Causal Protein-Signaling Networks Derived from </a:t>
            </a:r>
            <a:r>
              <a:rPr lang="en-US" sz="1600" b="1" dirty="0" err="1"/>
              <a:t>Multiparameter</a:t>
            </a:r>
            <a:r>
              <a:rPr lang="en-US" sz="1600" b="1" dirty="0"/>
              <a:t> Single-Cell Data </a:t>
            </a:r>
          </a:p>
          <a:p>
            <a:pPr>
              <a:buNone/>
            </a:pPr>
            <a:r>
              <a:rPr lang="en-US" sz="1600" dirty="0"/>
              <a:t>Karen Sachs, Omar Perez, Dana </a:t>
            </a:r>
            <a:r>
              <a:rPr lang="en-US" sz="1600" dirty="0" err="1"/>
              <a:t>Pe'er</a:t>
            </a:r>
            <a:r>
              <a:rPr lang="en-US" sz="1600" dirty="0"/>
              <a:t>, Douglas A. </a:t>
            </a:r>
            <a:r>
              <a:rPr lang="en-US" sz="1600" dirty="0" err="1"/>
              <a:t>Lauffenburger</a:t>
            </a:r>
            <a:r>
              <a:rPr lang="en-US" sz="1600" dirty="0"/>
              <a:t>, and Garry P. Nolan</a:t>
            </a:r>
          </a:p>
          <a:p>
            <a:pPr>
              <a:buNone/>
            </a:pPr>
            <a:r>
              <a:rPr lang="en-US" sz="1600" dirty="0"/>
              <a:t>(22 April 2005) </a:t>
            </a:r>
            <a:r>
              <a:rPr lang="en-US" sz="1600" i="1" dirty="0"/>
              <a:t>Science</a:t>
            </a:r>
            <a:r>
              <a:rPr lang="en-US" sz="1600" dirty="0"/>
              <a:t> </a:t>
            </a:r>
            <a:r>
              <a:rPr lang="en-US" sz="1600" b="1" dirty="0"/>
              <a:t>308</a:t>
            </a:r>
            <a:r>
              <a:rPr lang="en-US" sz="1600" dirty="0"/>
              <a:t> (5721), 523.</a:t>
            </a:r>
          </a:p>
        </p:txBody>
      </p:sp>
      <p:pic>
        <p:nvPicPr>
          <p:cNvPr id="97282" name="Picture 2"/>
          <p:cNvPicPr>
            <a:picLocks noChangeAspect="1" noChangeArrowheads="1"/>
          </p:cNvPicPr>
          <p:nvPr/>
        </p:nvPicPr>
        <p:blipFill>
          <a:blip r:embed="rId3" cstate="print"/>
          <a:srcRect/>
          <a:stretch>
            <a:fillRect/>
          </a:stretch>
        </p:blipFill>
        <p:spPr bwMode="auto">
          <a:xfrm>
            <a:off x="1752600" y="914400"/>
            <a:ext cx="5403338" cy="4453533"/>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lstStyle/>
          <a:p>
            <a:r>
              <a:rPr lang="en-US" dirty="0"/>
              <a:t>In research literature…</a:t>
            </a:r>
          </a:p>
        </p:txBody>
      </p:sp>
      <p:sp>
        <p:nvSpPr>
          <p:cNvPr id="3" name="Content Placeholder 2"/>
          <p:cNvSpPr>
            <a:spLocks noGrp="1"/>
          </p:cNvSpPr>
          <p:nvPr>
            <p:ph idx="1"/>
          </p:nvPr>
        </p:nvSpPr>
        <p:spPr>
          <a:xfrm>
            <a:off x="1143000" y="5562600"/>
            <a:ext cx="7010400" cy="944563"/>
          </a:xfrm>
        </p:spPr>
        <p:txBody>
          <a:bodyPr/>
          <a:lstStyle/>
          <a:p>
            <a:pPr>
              <a:buNone/>
            </a:pPr>
            <a:r>
              <a:rPr lang="en-US" sz="1600" b="1" dirty="0"/>
              <a:t>Describing Visual Scenes Using Transformed Objects and Parts</a:t>
            </a:r>
          </a:p>
          <a:p>
            <a:pPr>
              <a:buNone/>
            </a:pPr>
            <a:r>
              <a:rPr lang="en-US" sz="1600" dirty="0"/>
              <a:t>E. </a:t>
            </a:r>
            <a:r>
              <a:rPr lang="en-US" sz="1600" dirty="0" err="1"/>
              <a:t>Sudderth</a:t>
            </a:r>
            <a:r>
              <a:rPr lang="en-US" sz="1600" dirty="0"/>
              <a:t>, A. </a:t>
            </a:r>
            <a:r>
              <a:rPr lang="en-US" sz="1600" dirty="0" err="1"/>
              <a:t>Torralba</a:t>
            </a:r>
            <a:r>
              <a:rPr lang="en-US" sz="1600" dirty="0"/>
              <a:t>, W. T. Freeman, and A. </a:t>
            </a:r>
            <a:r>
              <a:rPr lang="en-US" sz="1600" dirty="0" err="1"/>
              <a:t>Willsky</a:t>
            </a:r>
            <a:r>
              <a:rPr lang="en-US" sz="1600" dirty="0"/>
              <a:t>.</a:t>
            </a:r>
          </a:p>
          <a:p>
            <a:pPr>
              <a:buNone/>
            </a:pPr>
            <a:r>
              <a:rPr lang="en-US" sz="1600" dirty="0"/>
              <a:t>International Journal of Computer Vision, No. 1-3, May 2008, pp. 291-330.</a:t>
            </a:r>
          </a:p>
        </p:txBody>
      </p:sp>
      <p:pic>
        <p:nvPicPr>
          <p:cNvPr id="98306" name="Picture 2"/>
          <p:cNvPicPr>
            <a:picLocks noChangeAspect="1" noChangeArrowheads="1"/>
          </p:cNvPicPr>
          <p:nvPr/>
        </p:nvPicPr>
        <p:blipFill>
          <a:blip r:embed="rId3" cstate="print"/>
          <a:srcRect/>
          <a:stretch>
            <a:fillRect/>
          </a:stretch>
        </p:blipFill>
        <p:spPr bwMode="auto">
          <a:xfrm>
            <a:off x="42863" y="1076325"/>
            <a:ext cx="9058275" cy="418147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Summary</a:t>
            </a:r>
          </a:p>
        </p:txBody>
      </p:sp>
      <p:sp>
        <p:nvSpPr>
          <p:cNvPr id="13315" name="Rectangle 3"/>
          <p:cNvSpPr>
            <a:spLocks noGrp="1" noChangeArrowheads="1"/>
          </p:cNvSpPr>
          <p:nvPr>
            <p:ph type="body" idx="1"/>
          </p:nvPr>
        </p:nvSpPr>
        <p:spPr/>
        <p:txBody>
          <a:bodyPr/>
          <a:lstStyle/>
          <a:p>
            <a:r>
              <a:rPr lang="en-US" dirty="0"/>
              <a:t>Bayesian networks provide a natural representation for (causally induced) conditional independence</a:t>
            </a:r>
          </a:p>
          <a:p>
            <a:r>
              <a:rPr lang="en-US" dirty="0"/>
              <a:t>Topology + conditional probability tables</a:t>
            </a:r>
          </a:p>
          <a:p>
            <a:r>
              <a:rPr lang="en-US" dirty="0"/>
              <a:t>Generally easy for domain experts to construct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a:t>Probabilistic inference</a:t>
            </a:r>
          </a:p>
        </p:txBody>
      </p:sp>
      <p:sp>
        <p:nvSpPr>
          <p:cNvPr id="3" name="Content Placeholder 2"/>
          <p:cNvSpPr>
            <a:spLocks noGrp="1"/>
          </p:cNvSpPr>
          <p:nvPr>
            <p:ph idx="1"/>
          </p:nvPr>
        </p:nvSpPr>
        <p:spPr>
          <a:xfrm>
            <a:off x="457200" y="1066800"/>
            <a:ext cx="8229600" cy="5486400"/>
          </a:xfrm>
        </p:spPr>
        <p:txBody>
          <a:bodyPr/>
          <a:lstStyle/>
          <a:p>
            <a:r>
              <a:rPr lang="en-US" sz="2400" dirty="0"/>
              <a:t>A general scenario:</a:t>
            </a:r>
          </a:p>
          <a:p>
            <a:pPr lvl="1"/>
            <a:r>
              <a:rPr lang="en-US" sz="2400" dirty="0"/>
              <a:t>Query </a:t>
            </a:r>
            <a:r>
              <a:rPr lang="en-US" sz="2400" i="1" dirty="0"/>
              <a:t>variables:</a:t>
            </a:r>
            <a:r>
              <a:rPr lang="en-US" sz="2400" dirty="0"/>
              <a:t> </a:t>
            </a:r>
            <a:r>
              <a:rPr lang="en-US" sz="2400" b="1" dirty="0">
                <a:solidFill>
                  <a:srgbClr val="0066FF"/>
                </a:solidFill>
              </a:rPr>
              <a:t>X</a:t>
            </a:r>
          </a:p>
          <a:p>
            <a:pPr lvl="1"/>
            <a:r>
              <a:rPr lang="en-US" sz="2400" i="1" dirty="0"/>
              <a:t>Evidence </a:t>
            </a:r>
            <a:r>
              <a:rPr lang="en-US" sz="2400" dirty="0"/>
              <a:t>(</a:t>
            </a:r>
            <a:r>
              <a:rPr lang="en-US" sz="2400" i="1" dirty="0"/>
              <a:t>observed</a:t>
            </a:r>
            <a:r>
              <a:rPr lang="en-US" sz="2400" dirty="0"/>
              <a:t>) variables: </a:t>
            </a:r>
            <a:r>
              <a:rPr lang="en-US" sz="2400" b="1" dirty="0">
                <a:solidFill>
                  <a:srgbClr val="0066FF"/>
                </a:solidFill>
              </a:rPr>
              <a:t>E</a:t>
            </a:r>
            <a:r>
              <a:rPr lang="en-US" sz="2400" dirty="0">
                <a:solidFill>
                  <a:srgbClr val="0066FF"/>
                </a:solidFill>
              </a:rPr>
              <a:t> = </a:t>
            </a:r>
            <a:r>
              <a:rPr lang="en-US" sz="2400" b="1" dirty="0">
                <a:solidFill>
                  <a:srgbClr val="0066FF"/>
                </a:solidFill>
              </a:rPr>
              <a:t>e</a:t>
            </a:r>
            <a:r>
              <a:rPr lang="en-US" sz="2400" dirty="0">
                <a:solidFill>
                  <a:srgbClr val="0066FF"/>
                </a:solidFill>
              </a:rPr>
              <a:t> </a:t>
            </a:r>
          </a:p>
          <a:p>
            <a:pPr lvl="1"/>
            <a:r>
              <a:rPr lang="en-US" sz="2400" i="1" dirty="0"/>
              <a:t>Unobserved </a:t>
            </a:r>
            <a:r>
              <a:rPr lang="en-US" sz="2400" dirty="0"/>
              <a:t>variables: </a:t>
            </a:r>
            <a:r>
              <a:rPr lang="en-US" sz="2400" b="1" dirty="0">
                <a:solidFill>
                  <a:srgbClr val="0066FF"/>
                </a:solidFill>
              </a:rPr>
              <a:t>Y</a:t>
            </a:r>
            <a:r>
              <a:rPr lang="en-US" sz="2400" dirty="0"/>
              <a:t>  </a:t>
            </a:r>
            <a:endParaRPr lang="en-US" sz="2400" dirty="0">
              <a:solidFill>
                <a:srgbClr val="0066FF"/>
              </a:solidFill>
            </a:endParaRPr>
          </a:p>
          <a:p>
            <a:r>
              <a:rPr lang="en-US" sz="2400" dirty="0"/>
              <a:t>If we know the full joint distribution </a:t>
            </a:r>
            <a:r>
              <a:rPr lang="en-US" sz="2400" dirty="0">
                <a:solidFill>
                  <a:srgbClr val="0066FF"/>
                </a:solidFill>
              </a:rPr>
              <a:t>P(</a:t>
            </a:r>
            <a:r>
              <a:rPr lang="en-US" sz="2400" b="1" dirty="0">
                <a:solidFill>
                  <a:srgbClr val="0066FF"/>
                </a:solidFill>
              </a:rPr>
              <a:t>X</a:t>
            </a:r>
            <a:r>
              <a:rPr lang="en-US" sz="2400" dirty="0">
                <a:solidFill>
                  <a:srgbClr val="0066FF"/>
                </a:solidFill>
              </a:rPr>
              <a:t>, </a:t>
            </a:r>
            <a:r>
              <a:rPr lang="en-US" sz="2400" b="1" dirty="0">
                <a:solidFill>
                  <a:srgbClr val="0066FF"/>
                </a:solidFill>
              </a:rPr>
              <a:t>E</a:t>
            </a:r>
            <a:r>
              <a:rPr lang="en-US" sz="2400" dirty="0">
                <a:solidFill>
                  <a:srgbClr val="0066FF"/>
                </a:solidFill>
              </a:rPr>
              <a:t>, </a:t>
            </a:r>
            <a:r>
              <a:rPr lang="en-US" sz="2400" b="1" dirty="0">
                <a:solidFill>
                  <a:srgbClr val="0066FF"/>
                </a:solidFill>
              </a:rPr>
              <a:t>Y</a:t>
            </a:r>
            <a:r>
              <a:rPr lang="en-US" sz="2400" dirty="0">
                <a:solidFill>
                  <a:srgbClr val="0066FF"/>
                </a:solidFill>
              </a:rPr>
              <a:t>)</a:t>
            </a:r>
            <a:r>
              <a:rPr lang="en-US" sz="2400" dirty="0"/>
              <a:t>, how can we perform inference about </a:t>
            </a:r>
            <a:r>
              <a:rPr lang="en-US" sz="2400" b="1" dirty="0">
                <a:solidFill>
                  <a:srgbClr val="0066FF"/>
                </a:solidFill>
              </a:rPr>
              <a:t>X</a:t>
            </a:r>
            <a:r>
              <a:rPr lang="en-US" sz="2400" dirty="0"/>
              <a:t>?</a:t>
            </a:r>
          </a:p>
          <a:p>
            <a:pPr lvl="1">
              <a:buNone/>
            </a:pPr>
            <a:br>
              <a:rPr lang="en-US" sz="2400" dirty="0"/>
            </a:br>
            <a:br>
              <a:rPr lang="en-US" sz="2400" dirty="0"/>
            </a:br>
            <a:br>
              <a:rPr lang="en-US" sz="2400" dirty="0"/>
            </a:br>
            <a:endParaRPr lang="en-US" sz="2400" dirty="0">
              <a:solidFill>
                <a:srgbClr val="0066FF"/>
              </a:solidFill>
            </a:endParaRPr>
          </a:p>
          <a:p>
            <a:r>
              <a:rPr lang="en-US" sz="2400" dirty="0"/>
              <a:t>Problems</a:t>
            </a:r>
          </a:p>
          <a:p>
            <a:pPr lvl="1"/>
            <a:r>
              <a:rPr lang="en-US" sz="2000" dirty="0"/>
              <a:t>Full joint distributions are too large</a:t>
            </a:r>
          </a:p>
          <a:p>
            <a:pPr lvl="1"/>
            <a:r>
              <a:rPr lang="en-US" sz="2000" dirty="0"/>
              <a:t>Marginalizing out Y may involve too many summation terms</a:t>
            </a:r>
          </a:p>
        </p:txBody>
      </p:sp>
      <p:graphicFrame>
        <p:nvGraphicFramePr>
          <p:cNvPr id="4" name="Object 3"/>
          <p:cNvGraphicFramePr>
            <a:graphicFrameLocks noChangeAspect="1"/>
          </p:cNvGraphicFramePr>
          <p:nvPr/>
        </p:nvGraphicFramePr>
        <p:xfrm>
          <a:off x="1509713" y="3783013"/>
          <a:ext cx="6076950" cy="1017587"/>
        </p:xfrm>
        <a:graphic>
          <a:graphicData uri="http://schemas.openxmlformats.org/presentationml/2006/ole">
            <mc:AlternateContent xmlns:mc="http://schemas.openxmlformats.org/markup-compatibility/2006">
              <mc:Choice xmlns:v="urn:schemas-microsoft-com:vml" Requires="v">
                <p:oleObj name="Equation" r:id="rId3" imgW="2501640" imgH="419040" progId="Equation.3">
                  <p:embed/>
                </p:oleObj>
              </mc:Choice>
              <mc:Fallback>
                <p:oleObj name="Equation" r:id="rId3" imgW="2501640" imgH="419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9713" y="3783013"/>
                        <a:ext cx="6076950" cy="1017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21_bayes_nets">
  <a:themeElements>
    <a:clrScheme name="c21_bayes_net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21_bayes_nets">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c21_bayes_net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21_bayes_net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21_bayes_net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21_bayes_net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21_bayes_net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21_bayes_net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21_bayes_net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2827</TotalTime>
  <Words>2403</Words>
  <Application>Microsoft Office PowerPoint</Application>
  <PresentationFormat>On-screen Show (4:3)</PresentationFormat>
  <Paragraphs>267</Paragraphs>
  <Slides>36</Slides>
  <Notes>28</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36</vt:i4>
      </vt:variant>
    </vt:vector>
  </HeadingPairs>
  <TitlesOfParts>
    <vt:vector size="44" baseType="lpstr">
      <vt:lpstr>Arial</vt:lpstr>
      <vt:lpstr>Arial Narrow</vt:lpstr>
      <vt:lpstr>Calibri</vt:lpstr>
      <vt:lpstr>Lucida Grande</vt:lpstr>
      <vt:lpstr>Times New Roman</vt:lpstr>
      <vt:lpstr>Default Design</vt:lpstr>
      <vt:lpstr>c21_bayes_nets</vt:lpstr>
      <vt:lpstr>Equation</vt:lpstr>
      <vt:lpstr>CSE 4109: Artificial Intelligence</vt:lpstr>
      <vt:lpstr>Bayesian Networks</vt:lpstr>
      <vt:lpstr>Structure</vt:lpstr>
      <vt:lpstr>Example: N independent  coin flips</vt:lpstr>
      <vt:lpstr>Example: Naïve Bayes spam filter</vt:lpstr>
      <vt:lpstr>Example: Burglar Alarm</vt:lpstr>
      <vt:lpstr>Example: Burglar Alarm</vt:lpstr>
      <vt:lpstr>Conditional probability distributions</vt:lpstr>
      <vt:lpstr>Example: Burglar Alarm</vt:lpstr>
      <vt:lpstr>The joint probability distribution</vt:lpstr>
      <vt:lpstr>Conditional independence</vt:lpstr>
      <vt:lpstr>Conditional independence</vt:lpstr>
      <vt:lpstr>Compactness</vt:lpstr>
      <vt:lpstr>Constructing Bayesian networks</vt:lpstr>
      <vt:lpstr>Example</vt:lpstr>
      <vt:lpstr>Example</vt:lpstr>
      <vt:lpstr>Example</vt:lpstr>
      <vt:lpstr>Example</vt:lpstr>
      <vt:lpstr>Example</vt:lpstr>
      <vt:lpstr>Example</vt:lpstr>
      <vt:lpstr>Example</vt:lpstr>
      <vt:lpstr>Example</vt:lpstr>
      <vt:lpstr>Example contd.</vt:lpstr>
      <vt:lpstr>Example</vt:lpstr>
      <vt:lpstr>PowerPoint Presentation</vt:lpstr>
      <vt:lpstr>PowerPoint Presentation</vt:lpstr>
      <vt:lpstr>PowerPoint Presentation</vt:lpstr>
      <vt:lpstr>PowerPoint Presentation</vt:lpstr>
      <vt:lpstr>PowerPoint Presentation</vt:lpstr>
      <vt:lpstr>PowerPoint Presentation</vt:lpstr>
      <vt:lpstr>A more realistic Bayes Network:  Car diagnosis</vt:lpstr>
      <vt:lpstr>Car insurance</vt:lpstr>
      <vt:lpstr>In research literature…</vt:lpstr>
      <vt:lpstr>In research literature…</vt:lpstr>
      <vt:lpstr>Summary</vt:lpstr>
      <vt:lpstr>Probabilistic inference</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networks </dc:title>
  <dc:creator>Min-Yen Kan</dc:creator>
  <cp:lastModifiedBy>Prof. Dr. M.M.A. Hashem</cp:lastModifiedBy>
  <cp:revision>143</cp:revision>
  <dcterms:created xsi:type="dcterms:W3CDTF">2003-12-17T16:38:09Z</dcterms:created>
  <dcterms:modified xsi:type="dcterms:W3CDTF">2022-06-13T14:58:22Z</dcterms:modified>
</cp:coreProperties>
</file>