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1" r:id="rId1"/>
  </p:sldMasterIdLst>
  <p:notesMasterIdLst>
    <p:notesMasterId r:id="rId25"/>
  </p:notesMasterIdLst>
  <p:sldIdLst>
    <p:sldId id="256" r:id="rId2"/>
    <p:sldId id="270" r:id="rId3"/>
    <p:sldId id="278" r:id="rId4"/>
    <p:sldId id="276" r:id="rId5"/>
    <p:sldId id="277" r:id="rId6"/>
    <p:sldId id="271" r:id="rId7"/>
    <p:sldId id="257" r:id="rId8"/>
    <p:sldId id="272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73" r:id="rId19"/>
    <p:sldId id="267" r:id="rId20"/>
    <p:sldId id="274" r:id="rId21"/>
    <p:sldId id="268" r:id="rId22"/>
    <p:sldId id="269" r:id="rId23"/>
    <p:sldId id="275" r:id="rId24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00"/>
    <a:srgbClr val="FF0000"/>
    <a:srgbClr val="006600"/>
    <a:srgbClr val="CC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488" autoAdjust="0"/>
    <p:restoredTop sz="94660" autoAdjust="0"/>
  </p:normalViewPr>
  <p:slideViewPr>
    <p:cSldViewPr showGuides="1">
      <p:cViewPr varScale="1">
        <p:scale>
          <a:sx n="88" d="100"/>
          <a:sy n="88" d="100"/>
        </p:scale>
        <p:origin x="810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5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A153C5-EF4C-44A3-B2B1-5CC11E0BE774}" type="datetimeFigureOut">
              <a:rPr lang="en-US" smtClean="0"/>
              <a:t>6/15/2023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4AD9CB-29E7-4C25-B16E-0F38C02B51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8260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5867400" cy="6858000"/>
            <a:chOff x="0" y="0"/>
            <a:chExt cx="3696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auto">
            <a:xfrm>
              <a:off x="0" y="0"/>
              <a:ext cx="2880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kumimoji="1"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6" name="AutoShape 4"/>
            <p:cNvSpPr>
              <a:spLocks noChangeArrowheads="1"/>
            </p:cNvSpPr>
            <p:nvPr/>
          </p:nvSpPr>
          <p:spPr bwMode="white">
            <a:xfrm>
              <a:off x="432" y="624"/>
              <a:ext cx="3264" cy="12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kumimoji="1" lang="en-US" altLang="en-US" sz="24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7" name="Group 5"/>
          <p:cNvGrpSpPr>
            <a:grpSpLocks/>
          </p:cNvGrpSpPr>
          <p:nvPr/>
        </p:nvGrpSpPr>
        <p:grpSpPr bwMode="auto">
          <a:xfrm>
            <a:off x="3632200" y="4889500"/>
            <a:ext cx="4876800" cy="319088"/>
            <a:chOff x="2288" y="3080"/>
            <a:chExt cx="3072" cy="201"/>
          </a:xfrm>
        </p:grpSpPr>
        <p:sp>
          <p:nvSpPr>
            <p:cNvPr id="8" name="AutoShape 6"/>
            <p:cNvSpPr>
              <a:spLocks noChangeArrowheads="1"/>
            </p:cNvSpPr>
            <p:nvPr/>
          </p:nvSpPr>
          <p:spPr bwMode="auto">
            <a:xfrm flipH="1">
              <a:off x="2288" y="3080"/>
              <a:ext cx="2914" cy="200"/>
            </a:xfrm>
            <a:prstGeom prst="roundRect">
              <a:avLst>
                <a:gd name="adj" fmla="val 0"/>
              </a:avLst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9" name="AutoShape 7"/>
            <p:cNvSpPr>
              <a:spLocks noChangeArrowheads="1"/>
            </p:cNvSpPr>
            <p:nvPr/>
          </p:nvSpPr>
          <p:spPr bwMode="auto">
            <a:xfrm>
              <a:off x="5196" y="3080"/>
              <a:ext cx="164" cy="201"/>
            </a:xfrm>
            <a:prstGeom prst="flowChartDelay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15368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4673600" y="2927350"/>
            <a:ext cx="4013200" cy="1822450"/>
          </a:xfrm>
        </p:spPr>
        <p:txBody>
          <a:bodyPr anchor="b"/>
          <a:lstStyle>
            <a:lvl1pPr marL="0" indent="0">
              <a:buFont typeface="Wingdings" pitchFamily="2" charset="2"/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15372" name="AutoShape 12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990600"/>
            <a:ext cx="8229600" cy="1905000"/>
          </a:xfrm>
          <a:prstGeom prst="roundRect">
            <a:avLst>
              <a:gd name="adj" fmla="val 50000"/>
            </a:avLst>
          </a:prstGeo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10" name="Date Placeholder 9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D849F247-46E0-494E-81DE-F536493B2710}" type="datetime3">
              <a:rPr lang="en-US" smtClean="0"/>
              <a:t>15 June 2023</a:t>
            </a:fld>
            <a:endParaRPr lang="en-US"/>
          </a:p>
        </p:txBody>
      </p:sp>
      <p:sp>
        <p:nvSpPr>
          <p:cNvPr id="11" name="Footer Placeholder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r>
              <a:rPr lang="en-US"/>
              <a:t>NLP - Prof. M.M.A. Hashem</a:t>
            </a:r>
          </a:p>
        </p:txBody>
      </p:sp>
      <p:sp>
        <p:nvSpPr>
          <p:cNvPr id="12" name="Slide Number Placeholder 11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6200" y="6248400"/>
            <a:ext cx="587375" cy="488950"/>
          </a:xfrm>
        </p:spPr>
        <p:txBody>
          <a:bodyPr anchorCtr="0"/>
          <a:lstStyle>
            <a:lvl1pPr>
              <a:defRPr smtClean="0"/>
            </a:lvl1pPr>
          </a:lstStyle>
          <a:p>
            <a:pPr>
              <a:defRPr/>
            </a:pPr>
            <a:fld id="{4D383E04-41D5-422B-84B3-B7930C2613F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75396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6B3208-E821-4AD3-B117-671BABBD2FE6}" type="datetime3">
              <a:rPr lang="en-US" smtClean="0"/>
              <a:t>15 June 2023</a:t>
            </a:fld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NLP - Prof. M.M.A. Hashem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04A440-B4B2-4D15-B49F-45C10BDD1D9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544808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AA74BB-7B68-4FA7-BCB3-2AA6DB4F2F3D}" type="datetime3">
              <a:rPr lang="en-US" smtClean="0"/>
              <a:t>15 June 2023</a:t>
            </a:fld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NLP - Prof. M.M.A. Hashem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2DC32F-86CC-4828-9536-BF0DED102DC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981603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2362200"/>
            <a:ext cx="3770313" cy="3724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0913" y="2362200"/>
            <a:ext cx="3770312" cy="3724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851F92-D5D3-4C2B-B232-1FE6E231BAA7}" type="datetime3">
              <a:rPr lang="en-US" smtClean="0"/>
              <a:t>15 June 2023</a:t>
            </a:fld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NLP - Prof. M.M.A. Hashem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4A344A-0C5B-41FF-BF60-2E8965137E5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868985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90393E-5B39-4DF4-A0EC-87D117EF6574}" type="datetime3">
              <a:rPr lang="en-US" smtClean="0"/>
              <a:t>15 June 2023</a:t>
            </a:fld>
            <a:endParaRPr lang="en-US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NLP - Prof. M.M.A. Hashem</a:t>
            </a:r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77B7AA-195F-453A-90EB-54E825191CE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75104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93D29E-E587-48CC-B59E-AF775E7F75E1}" type="datetime3">
              <a:rPr lang="en-US" smtClean="0"/>
              <a:t>15 June 2023</a:t>
            </a:fld>
            <a:endParaRPr lang="en-US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NLP - Prof. M.M.A. Hashem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31FAB8-C739-4B24-A2A8-4DE3A5605E2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226579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6C431F-1354-4ACA-88A2-59F22EEFB034}" type="datetime3">
              <a:rPr lang="en-US" smtClean="0"/>
              <a:t>15 June 2023</a:t>
            </a:fld>
            <a:endParaRPr lang="en-US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NLP - Prof. M.M.A. Hashem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5B632E-4963-4600-B938-262B8853840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3539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F244B6-E2BB-411F-A115-513BBE1A2C3A}" type="datetime3">
              <a:rPr lang="en-US" smtClean="0"/>
              <a:t>15 June 2023</a:t>
            </a:fld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NLP - Prof. M.M.A. Hashem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1792CB-54EF-4254-B17F-5BF3F1C95F7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881884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85467A-42D3-4EC0-A9FA-845EE5D09D28}" type="datetime3">
              <a:rPr lang="en-US" smtClean="0"/>
              <a:t>15 June 2023</a:t>
            </a:fld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NLP - Prof. M.M.A. Hashem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1EBB3C-CD6E-4DAD-8AE7-7E81D983B0F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452538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F3012C-2613-4FF5-A06D-2344FCA236C5}" type="datetime3">
              <a:rPr lang="en-US" smtClean="0"/>
              <a:t>15 June 2023</a:t>
            </a:fld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NLP - Prof. M.M.A. Hashem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2B665E-3A30-4043-8261-3BDA8ABF1F1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527432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05600" y="762000"/>
            <a:ext cx="1981200" cy="53244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762000"/>
            <a:ext cx="5791200" cy="53244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8138CB-1F14-4ED3-BCCD-14EB4EFC4A14}" type="datetime3">
              <a:rPr lang="en-US" smtClean="0"/>
              <a:t>15 June 2023</a:t>
            </a:fld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NLP - Prof. M.M.A. Hashem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0F4276-0D01-43A1-9128-11D28FA12AD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313381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/>
          </p:cNvGrpSpPr>
          <p:nvPr userDrawn="1"/>
        </p:nvGrpSpPr>
        <p:grpSpPr bwMode="auto">
          <a:xfrm>
            <a:off x="0" y="0"/>
            <a:ext cx="7620000" cy="6858000"/>
            <a:chOff x="0" y="0"/>
            <a:chExt cx="4800" cy="4320"/>
          </a:xfrm>
        </p:grpSpPr>
        <p:grpSp>
          <p:nvGrpSpPr>
            <p:cNvPr id="1032" name="Group 3"/>
            <p:cNvGrpSpPr>
              <a:grpSpLocks/>
            </p:cNvGrpSpPr>
            <p:nvPr userDrawn="1"/>
          </p:nvGrpSpPr>
          <p:grpSpPr bwMode="auto">
            <a:xfrm>
              <a:off x="0" y="0"/>
              <a:ext cx="2016" cy="4320"/>
              <a:chOff x="0" y="0"/>
              <a:chExt cx="2016" cy="4320"/>
            </a:xfrm>
          </p:grpSpPr>
          <p:sp>
            <p:nvSpPr>
              <p:cNvPr id="1036" name="Rectangle 4"/>
              <p:cNvSpPr>
                <a:spLocks noChangeArrowheads="1"/>
              </p:cNvSpPr>
              <p:nvPr userDrawn="1"/>
            </p:nvSpPr>
            <p:spPr bwMode="auto">
              <a:xfrm>
                <a:off x="0" y="0"/>
                <a:ext cx="480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  <p:sp>
            <p:nvSpPr>
              <p:cNvPr id="1037" name="Freeform 5"/>
              <p:cNvSpPr>
                <a:spLocks/>
              </p:cNvSpPr>
              <p:nvPr userDrawn="1"/>
            </p:nvSpPr>
            <p:spPr bwMode="auto">
              <a:xfrm>
                <a:off x="288" y="0"/>
                <a:ext cx="1728" cy="735"/>
              </a:xfrm>
              <a:custGeom>
                <a:avLst/>
                <a:gdLst>
                  <a:gd name="T0" fmla="*/ 1728 w 1728"/>
                  <a:gd name="T1" fmla="*/ 0 h 735"/>
                  <a:gd name="T2" fmla="*/ 1728 w 1728"/>
                  <a:gd name="T3" fmla="*/ 480 h 735"/>
                  <a:gd name="T4" fmla="*/ 380 w 1728"/>
                  <a:gd name="T5" fmla="*/ 482 h 735"/>
                  <a:gd name="T6" fmla="*/ 354 w 1728"/>
                  <a:gd name="T7" fmla="*/ 480 h 735"/>
                  <a:gd name="T8" fmla="*/ 308 w 1728"/>
                  <a:gd name="T9" fmla="*/ 489 h 735"/>
                  <a:gd name="T10" fmla="*/ 246 w 1728"/>
                  <a:gd name="T11" fmla="*/ 531 h 735"/>
                  <a:gd name="T12" fmla="*/ 206 w 1728"/>
                  <a:gd name="T13" fmla="*/ 597 h 735"/>
                  <a:gd name="T14" fmla="*/ 192 w 1728"/>
                  <a:gd name="T15" fmla="*/ 666 h 735"/>
                  <a:gd name="T16" fmla="*/ 192 w 1728"/>
                  <a:gd name="T17" fmla="*/ 735 h 735"/>
                  <a:gd name="T18" fmla="*/ 0 w 1728"/>
                  <a:gd name="T19" fmla="*/ 735 h 735"/>
                  <a:gd name="T20" fmla="*/ 0 w 1728"/>
                  <a:gd name="T21" fmla="*/ 480 h 735"/>
                  <a:gd name="T22" fmla="*/ 0 w 1728"/>
                  <a:gd name="T23" fmla="*/ 0 h 735"/>
                  <a:gd name="T24" fmla="*/ 1728 w 1728"/>
                  <a:gd name="T25" fmla="*/ 0 h 735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1728" h="735">
                    <a:moveTo>
                      <a:pt x="1728" y="0"/>
                    </a:moveTo>
                    <a:lnTo>
                      <a:pt x="1728" y="480"/>
                    </a:lnTo>
                    <a:lnTo>
                      <a:pt x="380" y="482"/>
                    </a:lnTo>
                    <a:lnTo>
                      <a:pt x="354" y="480"/>
                    </a:lnTo>
                    <a:lnTo>
                      <a:pt x="308" y="489"/>
                    </a:lnTo>
                    <a:cubicBezTo>
                      <a:pt x="290" y="498"/>
                      <a:pt x="263" y="513"/>
                      <a:pt x="246" y="531"/>
                    </a:cubicBezTo>
                    <a:cubicBezTo>
                      <a:pt x="229" y="549"/>
                      <a:pt x="215" y="574"/>
                      <a:pt x="206" y="597"/>
                    </a:cubicBezTo>
                    <a:cubicBezTo>
                      <a:pt x="197" y="620"/>
                      <a:pt x="194" y="643"/>
                      <a:pt x="192" y="666"/>
                    </a:cubicBezTo>
                    <a:lnTo>
                      <a:pt x="192" y="735"/>
                    </a:lnTo>
                    <a:lnTo>
                      <a:pt x="0" y="735"/>
                    </a:lnTo>
                    <a:lnTo>
                      <a:pt x="0" y="480"/>
                    </a:lnTo>
                    <a:lnTo>
                      <a:pt x="0" y="0"/>
                    </a:lnTo>
                    <a:lnTo>
                      <a:pt x="172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miter lim="800000"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1033" name="Group 6"/>
            <p:cNvGrpSpPr>
              <a:grpSpLocks/>
            </p:cNvGrpSpPr>
            <p:nvPr userDrawn="1"/>
          </p:nvGrpSpPr>
          <p:grpSpPr bwMode="auto">
            <a:xfrm>
              <a:off x="144" y="1248"/>
              <a:ext cx="4656" cy="201"/>
              <a:chOff x="144" y="1248"/>
              <a:chExt cx="4656" cy="201"/>
            </a:xfrm>
          </p:grpSpPr>
          <p:sp>
            <p:nvSpPr>
              <p:cNvPr id="1034" name="AutoShape 7"/>
              <p:cNvSpPr>
                <a:spLocks noChangeArrowheads="1"/>
              </p:cNvSpPr>
              <p:nvPr userDrawn="1"/>
            </p:nvSpPr>
            <p:spPr bwMode="auto">
              <a:xfrm>
                <a:off x="384" y="1248"/>
                <a:ext cx="4416" cy="200"/>
              </a:xfrm>
              <a:prstGeom prst="roundRect">
                <a:avLst>
                  <a:gd name="adj" fmla="val 0"/>
                </a:avLst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  <p:sp>
            <p:nvSpPr>
              <p:cNvPr id="1035" name="AutoShape 8"/>
              <p:cNvSpPr>
                <a:spLocks noChangeArrowheads="1"/>
              </p:cNvSpPr>
              <p:nvPr userDrawn="1"/>
            </p:nvSpPr>
            <p:spPr bwMode="auto">
              <a:xfrm flipH="1">
                <a:off x="144" y="1248"/>
                <a:ext cx="248" cy="201"/>
              </a:xfrm>
              <a:prstGeom prst="flowChartDelay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</p:grpSp>
      </p:grpSp>
      <p:sp>
        <p:nvSpPr>
          <p:cNvPr id="1027" name="AutoShape 9"/>
          <p:cNvSpPr>
            <a:spLocks noGrp="1" noChangeArrowheads="1"/>
          </p:cNvSpPr>
          <p:nvPr>
            <p:ph type="title"/>
          </p:nvPr>
        </p:nvSpPr>
        <p:spPr bwMode="auto">
          <a:xfrm>
            <a:off x="762000" y="762000"/>
            <a:ext cx="7924800" cy="1143000"/>
          </a:xfrm>
          <a:prstGeom prst="roundRect">
            <a:avLst>
              <a:gd name="adj" fmla="val 21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2362200"/>
            <a:ext cx="7693025" cy="3724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4347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438400" y="6248400"/>
            <a:ext cx="2130425" cy="474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fld id="{940B1758-EFBC-4501-8709-2CBE8DAB7809}" type="datetime3">
              <a:rPr lang="en-US" smtClean="0"/>
              <a:t>15 June 2023</a:t>
            </a:fld>
            <a:endParaRPr lang="en-US"/>
          </a:p>
        </p:txBody>
      </p:sp>
      <p:sp>
        <p:nvSpPr>
          <p:cNvPr id="14348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791200" y="6248400"/>
            <a:ext cx="2897188" cy="474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r>
              <a:rPr lang="en-US"/>
              <a:t>NLP - Prof. M.M.A. Hashem</a:t>
            </a:r>
          </a:p>
        </p:txBody>
      </p:sp>
      <p:sp>
        <p:nvSpPr>
          <p:cNvPr id="14349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138" y="6242050"/>
            <a:ext cx="587375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1" compatLnSpc="1">
            <a:prstTxWarp prst="textNoShape">
              <a:avLst/>
            </a:prstTxWarp>
          </a:bodyPr>
          <a:lstStyle>
            <a:lvl1pPr eaLnBrk="1" hangingPunct="1">
              <a:defRPr sz="2600" b="1" smtClean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4C8A3F0F-CE6C-4D67-9AEC-224EC1EDF22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hf hdr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anose="05000000000000000000" pitchFamily="2" charset="2"/>
        <a:buChar char="l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5000"/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anose="05000000000000000000" pitchFamily="2" charset="2"/>
        <a:buChar char="l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80000"/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l"/>
        <a:defRPr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AutoShape 2"/>
          <p:cNvSpPr>
            <a:spLocks noGrp="1" noChangeArrowheads="1"/>
          </p:cNvSpPr>
          <p:nvPr>
            <p:ph type="ctrTitle"/>
          </p:nvPr>
        </p:nvSpPr>
        <p:spPr>
          <a:xfrm>
            <a:off x="609600" y="838200"/>
            <a:ext cx="8229600" cy="1905000"/>
          </a:xfrm>
        </p:spPr>
        <p:txBody>
          <a:bodyPr/>
          <a:lstStyle/>
          <a:p>
            <a:pPr eaLnBrk="1" hangingPunct="1">
              <a:lnSpc>
                <a:spcPct val="100000"/>
              </a:lnSpc>
            </a:pPr>
            <a:r>
              <a:rPr lang="en-US" altLang="en-US" dirty="0"/>
              <a:t>CSE 4109: Artificial Intelligence</a:t>
            </a:r>
            <a:br>
              <a:rPr lang="en-US" altLang="en-US" dirty="0"/>
            </a:br>
            <a:r>
              <a:rPr lang="en-US" altLang="en-US" dirty="0"/>
              <a:t>Natural Language Processing (NLP)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05000" y="2927350"/>
            <a:ext cx="7239000" cy="1822450"/>
          </a:xfrm>
        </p:spPr>
        <p:txBody>
          <a:bodyPr/>
          <a:lstStyle/>
          <a:p>
            <a:pPr algn="r" eaLnBrk="1" hangingPunct="1">
              <a:spcBef>
                <a:spcPts val="0"/>
              </a:spcBef>
            </a:pPr>
            <a:r>
              <a:rPr lang="en-US" altLang="en-US" dirty="0"/>
              <a:t>M.M.A. Hashem, PhD</a:t>
            </a:r>
          </a:p>
          <a:p>
            <a:pPr algn="r" eaLnBrk="1" hangingPunct="1">
              <a:spcBef>
                <a:spcPts val="0"/>
              </a:spcBef>
            </a:pPr>
            <a:r>
              <a:rPr lang="en-US" altLang="en-US" dirty="0"/>
              <a:t>Professor,</a:t>
            </a:r>
          </a:p>
          <a:p>
            <a:pPr algn="r" eaLnBrk="1" hangingPunct="1">
              <a:spcBef>
                <a:spcPts val="0"/>
              </a:spcBef>
            </a:pPr>
            <a:r>
              <a:rPr lang="en-US" altLang="en-US" dirty="0"/>
              <a:t>Dept of Computer Science and Engineering</a:t>
            </a:r>
          </a:p>
          <a:p>
            <a:pPr algn="r" eaLnBrk="1" hangingPunct="1">
              <a:spcBef>
                <a:spcPts val="0"/>
              </a:spcBef>
            </a:pPr>
            <a:r>
              <a:rPr lang="en-US" altLang="en-US" dirty="0"/>
              <a:t>KUET, Khulna 9203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8000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NLP - Prof. M.M.A. Hashem</a:t>
            </a:r>
          </a:p>
        </p:txBody>
      </p:sp>
      <p:sp>
        <p:nvSpPr>
          <p:cNvPr id="4099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References</a:t>
            </a:r>
          </a:p>
        </p:txBody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2362200"/>
            <a:ext cx="7693025" cy="40386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000" dirty="0"/>
              <a:t>The essence of Artificial Intelligence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1800" dirty="0"/>
              <a:t>By A. </a:t>
            </a:r>
            <a:r>
              <a:rPr lang="en-US" altLang="en-US" sz="1800" dirty="0" err="1"/>
              <a:t>Cawsey</a:t>
            </a:r>
            <a:endParaRPr lang="en-US" altLang="en-US" sz="1800" dirty="0"/>
          </a:p>
          <a:p>
            <a:pPr lvl="1" eaLnBrk="1" hangingPunct="1">
              <a:lnSpc>
                <a:spcPct val="80000"/>
              </a:lnSpc>
            </a:pPr>
            <a:r>
              <a:rPr lang="en-US" altLang="en-US" sz="1800" dirty="0"/>
              <a:t>Prentice Hall Europe 1998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000" dirty="0"/>
              <a:t>Artificial Intelligence: Theory and Practice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1800" dirty="0"/>
              <a:t>By T. Dean, J. Allen, and Y. </a:t>
            </a:r>
            <a:r>
              <a:rPr lang="en-US" altLang="en-US" sz="1800" dirty="0" err="1"/>
              <a:t>Aloimonos</a:t>
            </a:r>
            <a:r>
              <a:rPr lang="en-US" altLang="en-US" sz="1800" dirty="0"/>
              <a:t>.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1800" dirty="0"/>
              <a:t>The Benjamin/Cummings Publishing Company, 1995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000" dirty="0"/>
              <a:t>Artificial Intelligence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1800" dirty="0"/>
              <a:t>By P. Winston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1800" dirty="0"/>
              <a:t>Addison Wesley, 1992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000" dirty="0"/>
              <a:t>Artificial Intelligence: A Modern Approach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1800" dirty="0"/>
              <a:t>By Russell and Norvig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1800" dirty="0"/>
              <a:t>Prentice Hall, 2003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000" dirty="0"/>
              <a:t>Recent Deep Learning + NLP developments, circa 2010-2020</a:t>
            </a:r>
          </a:p>
          <a:p>
            <a:pPr eaLnBrk="1" hangingPunct="1">
              <a:lnSpc>
                <a:spcPct val="80000"/>
              </a:lnSpc>
            </a:pPr>
            <a:endParaRPr lang="en-US" altLang="en-US" sz="240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7C8621-6E8A-4DFB-2F3E-DB1CF6F3A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1135B4F-5748-479B-B42E-F65CBA0CD17D}" type="datetime3">
              <a:rPr lang="en-US" smtClean="0"/>
              <a:t>15 June 2023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89E2907-B912-FDA9-FCFF-2204783F0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04A440-B4B2-4D15-B49F-45C10BDD1D92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327D0-2AF6-AF05-D13B-A18DF09D5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Artificial Intelligence Demystified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B794F2E-2CBD-6778-EDCA-42C793165B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4400" y="2286000"/>
            <a:ext cx="7166266" cy="4118214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66B5DA-4EC0-0ED3-6FCA-A4072EBAB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66B3208-E821-4AD3-B117-671BABBD2FE6}" type="datetime3">
              <a:rPr lang="en-US" smtClean="0"/>
              <a:t>15 June 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3641D6-2CDC-71CD-28FC-D334BE880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NLP - Prof. M.M.A. Hashem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62C4B1-042A-0F71-DD70-57B34B668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04A440-B4B2-4D15-B49F-45C10BDD1D92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987759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F48CA-FDE8-9D42-BD41-E59264DE7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NLP?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9BD893-24D0-82DD-9801-A12C7A3DF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66B3208-E821-4AD3-B117-671BABBD2FE6}" type="datetime3">
              <a:rPr lang="en-US" smtClean="0"/>
              <a:t>15 June 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2C2BF7-1EBF-2BBB-6FE8-2AAFAA27E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NLP - Prof. M.M.A. Hashem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99AC3C-F010-603D-F9A6-8B6D1CE1E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04A440-B4B2-4D15-B49F-45C10BDD1D92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CABAEA34-4C80-8EC7-036E-7ED603EF33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3733800"/>
            <a:ext cx="6553200" cy="227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6">
            <a:extLst>
              <a:ext uri="{FF2B5EF4-FFF2-40B4-BE49-F238E27FC236}">
                <a16:creationId xmlns:a16="http://schemas.microsoft.com/office/drawing/2014/main" id="{BBF17E9B-D921-499F-7682-C1CFB0191E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362200"/>
            <a:ext cx="8153400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indent="0" eaLnBrk="1" hangingPunct="1">
              <a:spcBef>
                <a:spcPct val="20000"/>
              </a:spcBef>
              <a:buClr>
                <a:srgbClr val="009999"/>
              </a:buClr>
              <a:buSzPct val="70000"/>
              <a:defRPr/>
            </a:pPr>
            <a:r>
              <a:rPr lang="en-US" altLang="en-US" sz="240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Natural Language Processing (NLP) is a field in Artificial Intelligence (AI) devoted to creating computer Systems that use natural language as input and/or output.</a:t>
            </a:r>
            <a:r>
              <a:rPr lang="en-US" altLang="en-US" sz="240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418672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F0435-946A-10E8-1986-F1E02DAB4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NLP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A37269-B744-9082-F94A-0BE34BEF41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Ø"/>
              <a:defRPr/>
            </a:pPr>
            <a:r>
              <a:rPr lang="en-US" altLang="en-US" sz="24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To interact with computing devices using human (natural) languages.  For example,</a:t>
            </a:r>
          </a:p>
          <a:p>
            <a:pPr lvl="1"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Ø"/>
              <a:defRPr/>
            </a:pPr>
            <a:r>
              <a:rPr lang="en-US" altLang="en-US" sz="24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Building intelligent robots (AI).</a:t>
            </a:r>
          </a:p>
          <a:p>
            <a:pPr lvl="1"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Ø"/>
              <a:defRPr/>
            </a:pPr>
            <a:r>
              <a:rPr lang="en-US" altLang="en-US" sz="24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Enabling voice-controlled operation.</a:t>
            </a: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Ø"/>
              <a:defRPr/>
            </a:pPr>
            <a:r>
              <a:rPr lang="en-US" altLang="en-US" sz="24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To access (large amount of) information and knowledge stored in the form of human languages quickly.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82622A-DB72-5DF8-72CB-4397C31A2C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66B3208-E821-4AD3-B117-671BABBD2FE6}" type="datetime3">
              <a:rPr lang="en-US" smtClean="0"/>
              <a:t>15 June 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73B512-6463-3FFD-6542-8E7242FC2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NLP - Prof. M.M.A. Hashem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65E67A-4F8F-228C-B26F-E729E8154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04A440-B4B2-4D15-B49F-45C10BDD1D92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801933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8000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NLP - Prof. M.M.A. Hashem</a:t>
            </a:r>
          </a:p>
        </p:txBody>
      </p:sp>
      <p:sp>
        <p:nvSpPr>
          <p:cNvPr id="5123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Communication </a:t>
            </a:r>
            <a:r>
              <a:rPr lang="en-US" altLang="en-US" sz="1800" dirty="0">
                <a:solidFill>
                  <a:schemeClr val="tx1"/>
                </a:solidFill>
              </a:rPr>
              <a:t>Typical communication episode</a:t>
            </a:r>
            <a:br>
              <a:rPr lang="en-US" altLang="en-US" sz="1800" b="0" dirty="0">
                <a:solidFill>
                  <a:schemeClr val="tx1"/>
                </a:solidFill>
              </a:rPr>
            </a:br>
            <a:r>
              <a:rPr lang="en-US" altLang="en-US" sz="2000" b="0" dirty="0">
                <a:solidFill>
                  <a:schemeClr val="tx1"/>
                </a:solidFill>
              </a:rPr>
              <a:t>S (speaker) wants to convey P (proposition) to H (hearer) using W (words in a formal or natural language)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marL="533400" indent="-533400" eaLnBrk="1" hangingPunct="1">
              <a:buFont typeface="Wingdings" panose="05000000000000000000" pitchFamily="2" charset="2"/>
              <a:buNone/>
            </a:pPr>
            <a:r>
              <a:rPr lang="en-US" altLang="en-US" sz="2000" dirty="0"/>
              <a:t>1. </a:t>
            </a:r>
            <a:r>
              <a:rPr lang="en-US" altLang="en-US" sz="2000" dirty="0">
                <a:solidFill>
                  <a:srgbClr val="006600"/>
                </a:solidFill>
              </a:rPr>
              <a:t>Speaker</a:t>
            </a:r>
          </a:p>
          <a:p>
            <a:pPr marL="533400" indent="-533400" eaLnBrk="1" hangingPunct="1"/>
            <a:r>
              <a:rPr lang="en-US" altLang="en-US" sz="2000" b="1" dirty="0"/>
              <a:t>Intention:</a:t>
            </a:r>
            <a:r>
              <a:rPr lang="en-US" altLang="en-US" sz="2000" dirty="0"/>
              <a:t> S wants H to believe P</a:t>
            </a:r>
          </a:p>
          <a:p>
            <a:pPr marL="533400" indent="-533400" eaLnBrk="1" hangingPunct="1"/>
            <a:r>
              <a:rPr lang="en-US" altLang="en-US" sz="2000" b="1" dirty="0"/>
              <a:t>Generation: </a:t>
            </a:r>
            <a:r>
              <a:rPr lang="en-US" altLang="en-US" sz="2000" dirty="0"/>
              <a:t>S chooses words W</a:t>
            </a:r>
          </a:p>
          <a:p>
            <a:pPr marL="533400" indent="-533400" eaLnBrk="1" hangingPunct="1"/>
            <a:r>
              <a:rPr lang="en-US" altLang="en-US" sz="2000" b="1" dirty="0"/>
              <a:t>Synthesis: </a:t>
            </a:r>
            <a:r>
              <a:rPr lang="en-US" altLang="en-US" sz="2000" dirty="0"/>
              <a:t>S utters words W</a:t>
            </a:r>
            <a:endParaRPr lang="en-US" altLang="en-US" sz="2000" b="1" dirty="0"/>
          </a:p>
          <a:p>
            <a:pPr marL="533400" indent="-533400" eaLnBrk="1" hangingPunct="1">
              <a:buFont typeface="Wingdings" panose="05000000000000000000" pitchFamily="2" charset="2"/>
              <a:buNone/>
            </a:pPr>
            <a:endParaRPr lang="en-US" altLang="en-US" sz="2000" dirty="0"/>
          </a:p>
        </p:txBody>
      </p:sp>
      <p:sp>
        <p:nvSpPr>
          <p:cNvPr id="5125" name="Rectangle 4"/>
          <p:cNvSpPr>
            <a:spLocks noGrp="1" noChangeArrowheads="1"/>
          </p:cNvSpPr>
          <p:nvPr>
            <p:ph type="body" sz="half" idx="2"/>
          </p:nvPr>
        </p:nvSpPr>
        <p:spPr/>
        <p:txBody>
          <a:bodyPr/>
          <a:lstStyle/>
          <a:p>
            <a:pPr marL="457200" indent="-457200" eaLnBrk="1" hangingPunct="1">
              <a:buFont typeface="Wingdings" panose="05000000000000000000" pitchFamily="2" charset="2"/>
              <a:buNone/>
            </a:pPr>
            <a:r>
              <a:rPr lang="en-US" altLang="en-US" sz="2000" dirty="0"/>
              <a:t>2. </a:t>
            </a:r>
            <a:r>
              <a:rPr lang="en-US" altLang="en-US" sz="2000" dirty="0">
                <a:solidFill>
                  <a:srgbClr val="006600"/>
                </a:solidFill>
              </a:rPr>
              <a:t>Hearer</a:t>
            </a:r>
          </a:p>
          <a:p>
            <a:pPr marL="457200" indent="-457200" eaLnBrk="1" hangingPunct="1"/>
            <a:r>
              <a:rPr lang="en-US" altLang="en-US" sz="2000" b="1" dirty="0"/>
              <a:t>Perception:</a:t>
            </a:r>
            <a:r>
              <a:rPr lang="en-US" altLang="en-US" sz="2000" dirty="0"/>
              <a:t> H perceives words W” (ideally W” = W)</a:t>
            </a:r>
          </a:p>
          <a:p>
            <a:pPr marL="457200" indent="-457200" eaLnBrk="1" hangingPunct="1"/>
            <a:r>
              <a:rPr lang="en-US" altLang="en-US" sz="2000" b="1" dirty="0"/>
              <a:t>Analysis:</a:t>
            </a:r>
            <a:r>
              <a:rPr lang="en-US" altLang="en-US" sz="2000" dirty="0"/>
              <a:t> H infers possible meanings P1,P2,…,</a:t>
            </a:r>
            <a:r>
              <a:rPr lang="en-US" altLang="en-US" sz="2000" dirty="0" err="1"/>
              <a:t>Pn</a:t>
            </a:r>
            <a:r>
              <a:rPr lang="en-US" altLang="en-US" sz="2000" dirty="0"/>
              <a:t> for W”</a:t>
            </a:r>
          </a:p>
          <a:p>
            <a:pPr marL="457200" indent="-457200" eaLnBrk="1" hangingPunct="1"/>
            <a:r>
              <a:rPr lang="en-US" altLang="en-US" sz="2000" b="1" dirty="0"/>
              <a:t>Disambiguation:</a:t>
            </a:r>
            <a:r>
              <a:rPr lang="en-US" altLang="en-US" sz="2000" dirty="0"/>
              <a:t> H infers that S intended to convey Pi (ideally Pi=P)</a:t>
            </a:r>
          </a:p>
          <a:p>
            <a:pPr marL="457200" indent="-457200" eaLnBrk="1" hangingPunct="1"/>
            <a:r>
              <a:rPr lang="en-US" altLang="en-US" sz="2000" b="1" dirty="0"/>
              <a:t>Incorporation:</a:t>
            </a:r>
            <a:r>
              <a:rPr lang="en-US" altLang="en-US" sz="2000" dirty="0"/>
              <a:t> H decides to believe or disbelieve Pi</a:t>
            </a:r>
            <a:endParaRPr lang="en-US" altLang="en-US" sz="2000" b="1" dirty="0"/>
          </a:p>
          <a:p>
            <a:pPr marL="1257300" lvl="2" indent="-342900" eaLnBrk="1" hangingPunct="1"/>
            <a:endParaRPr lang="en-US" altLang="en-US" sz="160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BE0914-C34A-C0F8-84A0-73457BAC4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27AC745-9114-4C8F-BA1F-33DA2B373D2F}" type="datetime3">
              <a:rPr lang="en-US" smtClean="0"/>
              <a:t>15 June 2023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B2779B4-0DE2-33A9-5D91-0C0CE770B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54A344A-0C5B-41FF-BF60-2E8965137E57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8000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NLP - Prof. M.M.A. Hashem</a:t>
            </a:r>
          </a:p>
        </p:txBody>
      </p:sp>
      <p:sp>
        <p:nvSpPr>
          <p:cNvPr id="6147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/>
              <a:t>Natural Language Processing (NLP)</a:t>
            </a:r>
          </a:p>
        </p:txBody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33400" indent="-533400" eaLnBrk="1" hangingPunct="1">
              <a:buFont typeface="Wingdings" panose="05000000000000000000" pitchFamily="2" charset="2"/>
              <a:buAutoNum type="arabicPeriod"/>
            </a:pPr>
            <a:r>
              <a:rPr lang="en-US" altLang="en-US"/>
              <a:t>Natural Language Understanding</a:t>
            </a:r>
          </a:p>
          <a:p>
            <a:pPr marL="914400" lvl="1" indent="-457200" eaLnBrk="1" hangingPunct="1">
              <a:buFont typeface="Wingdings" panose="05000000000000000000" pitchFamily="2" charset="2"/>
              <a:buChar char="l"/>
            </a:pPr>
            <a:r>
              <a:rPr lang="en-US" altLang="en-US"/>
              <a:t>Taking some spoken/typed sentence and working out what it means</a:t>
            </a:r>
          </a:p>
          <a:p>
            <a:pPr marL="533400" indent="-533400" eaLnBrk="1" hangingPunct="1">
              <a:lnSpc>
                <a:spcPct val="140000"/>
              </a:lnSpc>
              <a:buFont typeface="Wingdings" panose="05000000000000000000" pitchFamily="2" charset="2"/>
              <a:buAutoNum type="arabicPeriod"/>
            </a:pPr>
            <a:r>
              <a:rPr lang="en-US" altLang="en-US"/>
              <a:t>Natural Language Generation	</a:t>
            </a:r>
          </a:p>
          <a:p>
            <a:pPr marL="914400" lvl="1" indent="-457200" eaLnBrk="1" hangingPunct="1">
              <a:buFont typeface="Wingdings" panose="05000000000000000000" pitchFamily="2" charset="2"/>
              <a:buChar char="l"/>
            </a:pPr>
            <a:r>
              <a:rPr lang="en-US" altLang="en-US"/>
              <a:t>Taking some formal representation of what you want to say and working out a way to express it in a natural (human) language (e.g., English)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DB15B0-F881-CB99-4B84-13BAE5450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79F8BC6-0E50-4E7B-80B4-F5A9ED44FF6F}" type="datetime3">
              <a:rPr lang="en-US" smtClean="0"/>
              <a:t>15 June 2023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86A3865-EA92-6D87-8574-F0C6D649A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04A440-B4B2-4D15-B49F-45C10BDD1D92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8000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NLP - Prof. M.M.A. Hashem</a:t>
            </a:r>
          </a:p>
        </p:txBody>
      </p:sp>
      <p:sp>
        <p:nvSpPr>
          <p:cNvPr id="7171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/>
              <a:t>Applications of Nat. Lang. Processing</a:t>
            </a:r>
          </a:p>
        </p:txBody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2362200"/>
            <a:ext cx="8077200" cy="40386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400"/>
              <a:t>Machine Translation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/>
              <a:t>Database Access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/>
              <a:t>Information Retrieval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/>
              <a:t>Selecting from a set of documents the ones that are relevant to a query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/>
              <a:t>Text Categorization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/>
              <a:t>Sorting text into fixed topic categories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/>
              <a:t>Extracting data from text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/>
              <a:t>Converting unstructured text into structured data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/>
              <a:t>Spoken language control systems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/>
              <a:t>Spelling and grammar checkers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D56A22-52BF-6084-8C3F-B104BA977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738F27D-7138-4258-8DBD-86715C26CB5C}" type="datetime3">
              <a:rPr lang="en-US" smtClean="0"/>
              <a:t>15 June 2023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F8212A2-B090-923C-C784-0345A60D7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04A440-B4B2-4D15-B49F-45C10BDD1D92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8000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NLP - Prof. M.M.A. Hashem</a:t>
            </a:r>
          </a:p>
        </p:txBody>
      </p:sp>
      <p:sp>
        <p:nvSpPr>
          <p:cNvPr id="8195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Natural language understanding</a:t>
            </a:r>
          </a:p>
        </p:txBody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2438400"/>
            <a:ext cx="7620000" cy="3659188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>
                <a:solidFill>
                  <a:schemeClr val="tx2"/>
                </a:solidFill>
              </a:rPr>
              <a:t>Raw speech signal</a:t>
            </a:r>
          </a:p>
          <a:p>
            <a:pPr lvl="2" eaLnBrk="1" hangingPunct="1">
              <a:lnSpc>
                <a:spcPct val="140000"/>
              </a:lnSpc>
            </a:pPr>
            <a:r>
              <a:rPr lang="en-US" altLang="en-US" sz="1800" b="1"/>
              <a:t>Speech recognition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>
                <a:solidFill>
                  <a:schemeClr val="tx2"/>
                </a:solidFill>
              </a:rPr>
              <a:t>Sequence of words spoken</a:t>
            </a:r>
          </a:p>
          <a:p>
            <a:pPr lvl="2" eaLnBrk="1" hangingPunct="1">
              <a:lnSpc>
                <a:spcPct val="130000"/>
              </a:lnSpc>
            </a:pPr>
            <a:r>
              <a:rPr lang="en-US" altLang="en-US" sz="1800" b="1"/>
              <a:t>Syntactic analysis</a:t>
            </a:r>
            <a:r>
              <a:rPr lang="en-US" altLang="en-US" sz="1800"/>
              <a:t> using knowledge of the grammar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>
                <a:solidFill>
                  <a:schemeClr val="tx2"/>
                </a:solidFill>
              </a:rPr>
              <a:t>Structure of the sentence</a:t>
            </a:r>
          </a:p>
          <a:p>
            <a:pPr lvl="2" eaLnBrk="1" hangingPunct="1">
              <a:lnSpc>
                <a:spcPct val="160000"/>
              </a:lnSpc>
            </a:pPr>
            <a:r>
              <a:rPr lang="en-US" altLang="en-US" sz="1800" b="1"/>
              <a:t>Semantic analysis</a:t>
            </a:r>
            <a:r>
              <a:rPr lang="en-US" altLang="en-US" sz="1800"/>
              <a:t> using info. about meaning of words</a:t>
            </a:r>
            <a:endParaRPr lang="en-US" altLang="en-US" sz="1800" b="1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>
                <a:solidFill>
                  <a:schemeClr val="tx2"/>
                </a:solidFill>
              </a:rPr>
              <a:t>Partial representation of meaning of sentence</a:t>
            </a:r>
          </a:p>
          <a:p>
            <a:pPr lvl="2" eaLnBrk="1" hangingPunct="1">
              <a:lnSpc>
                <a:spcPct val="150000"/>
              </a:lnSpc>
            </a:pPr>
            <a:r>
              <a:rPr lang="en-US" altLang="en-US" sz="1800" b="1"/>
              <a:t>Pragmatic analysis</a:t>
            </a:r>
            <a:r>
              <a:rPr lang="en-US" altLang="en-US" sz="1800"/>
              <a:t> using info. about context</a:t>
            </a:r>
            <a:endParaRPr lang="en-US" altLang="en-US" sz="1800" b="1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>
                <a:solidFill>
                  <a:schemeClr val="tx2"/>
                </a:solidFill>
              </a:rPr>
              <a:t>Final representation of meaning of sentence</a:t>
            </a:r>
          </a:p>
        </p:txBody>
      </p:sp>
      <p:sp>
        <p:nvSpPr>
          <p:cNvPr id="8197" name="Line 4"/>
          <p:cNvSpPr>
            <a:spLocks noChangeShapeType="1"/>
          </p:cNvSpPr>
          <p:nvPr/>
        </p:nvSpPr>
        <p:spPr bwMode="auto">
          <a:xfrm>
            <a:off x="1676400" y="2819400"/>
            <a:ext cx="0" cy="381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198" name="Line 5"/>
          <p:cNvSpPr>
            <a:spLocks noChangeShapeType="1"/>
          </p:cNvSpPr>
          <p:nvPr/>
        </p:nvSpPr>
        <p:spPr bwMode="auto">
          <a:xfrm>
            <a:off x="1676400" y="3733800"/>
            <a:ext cx="0" cy="381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199" name="Line 6"/>
          <p:cNvSpPr>
            <a:spLocks noChangeShapeType="1"/>
          </p:cNvSpPr>
          <p:nvPr/>
        </p:nvSpPr>
        <p:spPr bwMode="auto">
          <a:xfrm>
            <a:off x="1676400" y="4495800"/>
            <a:ext cx="0" cy="381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00" name="Line 7"/>
          <p:cNvSpPr>
            <a:spLocks noChangeShapeType="1"/>
          </p:cNvSpPr>
          <p:nvPr/>
        </p:nvSpPr>
        <p:spPr bwMode="auto">
          <a:xfrm>
            <a:off x="1676400" y="5410200"/>
            <a:ext cx="0" cy="381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838CD5-99D3-11F8-0315-BB646DD38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AA9F051-9018-450D-AF4E-8B876452CB01}" type="datetime3">
              <a:rPr lang="en-US" smtClean="0"/>
              <a:t>15 June 2023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0A92E9D-4DB8-B266-8173-3FA99CEE0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04A440-B4B2-4D15-B49F-45C10BDD1D92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8000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NLP - Prof. M.M.A. Hashem</a:t>
            </a:r>
          </a:p>
        </p:txBody>
      </p:sp>
      <p:sp>
        <p:nvSpPr>
          <p:cNvPr id="9219" name="Rectangle 22"/>
          <p:cNvSpPr>
            <a:spLocks noChangeArrowheads="1"/>
          </p:cNvSpPr>
          <p:nvPr/>
        </p:nvSpPr>
        <p:spPr bwMode="auto">
          <a:xfrm>
            <a:off x="4343400" y="5029200"/>
            <a:ext cx="2286000" cy="381000"/>
          </a:xfrm>
          <a:prstGeom prst="rect">
            <a:avLst/>
          </a:prstGeom>
          <a:solidFill>
            <a:srgbClr val="CC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8000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9220" name="Rectangle 21"/>
          <p:cNvSpPr>
            <a:spLocks noChangeArrowheads="1"/>
          </p:cNvSpPr>
          <p:nvPr/>
        </p:nvSpPr>
        <p:spPr bwMode="auto">
          <a:xfrm>
            <a:off x="4343400" y="4038600"/>
            <a:ext cx="2286000" cy="381000"/>
          </a:xfrm>
          <a:prstGeom prst="rect">
            <a:avLst/>
          </a:prstGeom>
          <a:solidFill>
            <a:srgbClr val="CC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8000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9221" name="Rectangle 20"/>
          <p:cNvSpPr>
            <a:spLocks noChangeArrowheads="1"/>
          </p:cNvSpPr>
          <p:nvPr/>
        </p:nvSpPr>
        <p:spPr bwMode="auto">
          <a:xfrm>
            <a:off x="4343400" y="3276600"/>
            <a:ext cx="2286000" cy="381000"/>
          </a:xfrm>
          <a:prstGeom prst="rect">
            <a:avLst/>
          </a:prstGeom>
          <a:solidFill>
            <a:srgbClr val="CC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8000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9222" name="Rectangle 19"/>
          <p:cNvSpPr>
            <a:spLocks noChangeArrowheads="1"/>
          </p:cNvSpPr>
          <p:nvPr/>
        </p:nvSpPr>
        <p:spPr bwMode="auto">
          <a:xfrm>
            <a:off x="4343400" y="2590800"/>
            <a:ext cx="2286000" cy="381000"/>
          </a:xfrm>
          <a:prstGeom prst="rect">
            <a:avLst/>
          </a:prstGeom>
          <a:solidFill>
            <a:srgbClr val="CC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8000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92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524000"/>
            <a:ext cx="8229600" cy="48768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000"/>
              <a:t>Input/Output data    		Processing stage     Other data used</a:t>
            </a:r>
          </a:p>
          <a:p>
            <a:pPr eaLnBrk="1" hangingPunct="1">
              <a:lnSpc>
                <a:spcPct val="80000"/>
              </a:lnSpc>
            </a:pPr>
            <a:endParaRPr lang="en-US" altLang="en-US" sz="2000"/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en-US" sz="1800" b="1" i="1"/>
              <a:t>Frequency spectrogram</a:t>
            </a:r>
            <a:r>
              <a:rPr lang="en-US" altLang="en-US" sz="1800"/>
              <a:t>					freq. of diff.</a:t>
            </a:r>
            <a:endParaRPr lang="en-US" altLang="en-US" sz="1800" i="1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800" i="1"/>
              <a:t>                                        		</a:t>
            </a:r>
            <a:r>
              <a:rPr lang="en-US" altLang="en-US" sz="1800" b="1"/>
              <a:t>speech recognition	</a:t>
            </a:r>
            <a:r>
              <a:rPr lang="en-US" altLang="en-US" sz="1800"/>
              <a:t>sounds</a:t>
            </a:r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en-US" altLang="en-US" sz="1800" b="1" i="1"/>
              <a:t>Word sequence</a:t>
            </a:r>
            <a:r>
              <a:rPr lang="en-US" altLang="en-US" sz="1800"/>
              <a:t>						grammar of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800"/>
              <a:t> “He loves Mary”             		</a:t>
            </a:r>
            <a:r>
              <a:rPr lang="en-US" altLang="en-US" sz="1800" b="1"/>
              <a:t>syntactic analysis</a:t>
            </a:r>
            <a:r>
              <a:rPr lang="en-US" altLang="en-US" sz="1800"/>
              <a:t>	language</a:t>
            </a:r>
          </a:p>
          <a:p>
            <a:pPr eaLnBrk="1" hangingPunct="1">
              <a:lnSpc>
                <a:spcPct val="170000"/>
              </a:lnSpc>
              <a:buFont typeface="Wingdings" panose="05000000000000000000" pitchFamily="2" charset="2"/>
              <a:buNone/>
            </a:pPr>
            <a:r>
              <a:rPr lang="en-US" altLang="en-US" sz="1800" b="1" i="1"/>
              <a:t>Sentence structure</a:t>
            </a:r>
            <a:r>
              <a:rPr lang="en-US" altLang="en-US" sz="1800"/>
              <a:t>					meanings of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800"/>
              <a:t>					</a:t>
            </a:r>
            <a:r>
              <a:rPr lang="en-US" altLang="en-US" sz="1800" b="1"/>
              <a:t>semantic analysis</a:t>
            </a:r>
            <a:r>
              <a:rPr lang="en-US" altLang="en-US" sz="1800"/>
              <a:t>	words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800"/>
              <a:t>  He  loves  Mary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en-US" sz="1800" b="1" i="1"/>
              <a:t>Partial Meaning</a:t>
            </a:r>
            <a:r>
              <a:rPr lang="en-US" altLang="en-US" sz="1800" i="1"/>
              <a:t>	</a:t>
            </a:r>
            <a:r>
              <a:rPr lang="en-US" altLang="en-US" sz="1800"/>
              <a:t>					context of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800">
                <a:sym typeface="Symbol" panose="05050102010706020507" pitchFamily="18" charset="2"/>
              </a:rPr>
              <a:t>x loves(x,Mary)            		</a:t>
            </a:r>
            <a:r>
              <a:rPr lang="en-US" altLang="en-US" sz="1800" b="1">
                <a:sym typeface="Symbol" panose="05050102010706020507" pitchFamily="18" charset="2"/>
              </a:rPr>
              <a:t>pragmatics</a:t>
            </a:r>
            <a:r>
              <a:rPr lang="en-US" altLang="en-US" sz="1800">
                <a:sym typeface="Symbol" panose="05050102010706020507" pitchFamily="18" charset="2"/>
              </a:rPr>
              <a:t>		utterance</a:t>
            </a:r>
          </a:p>
          <a:p>
            <a:pPr eaLnBrk="1" hangingPunct="1">
              <a:lnSpc>
                <a:spcPct val="170000"/>
              </a:lnSpc>
              <a:buFont typeface="Wingdings" panose="05000000000000000000" pitchFamily="2" charset="2"/>
              <a:buNone/>
            </a:pPr>
            <a:r>
              <a:rPr lang="en-US" altLang="en-US" sz="1800" b="1" i="1">
                <a:sym typeface="Symbol" panose="05050102010706020507" pitchFamily="18" charset="2"/>
              </a:rPr>
              <a:t>Sentence meaning</a:t>
            </a:r>
            <a:endParaRPr lang="en-US" altLang="en-US" sz="1800" b="1"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800">
                <a:sym typeface="Symbol" panose="05050102010706020507" pitchFamily="18" charset="2"/>
              </a:rPr>
              <a:t>  loves(John,Mary)</a:t>
            </a:r>
            <a:endParaRPr lang="en-US" altLang="en-US" sz="1800" i="1">
              <a:sym typeface="Symbol" panose="05050102010706020507" pitchFamily="18" charset="2"/>
            </a:endParaRPr>
          </a:p>
        </p:txBody>
      </p:sp>
      <p:sp>
        <p:nvSpPr>
          <p:cNvPr id="9224" name="AutoShape 2"/>
          <p:cNvSpPr>
            <a:spLocks noGrp="1" noChangeArrowheads="1"/>
          </p:cNvSpPr>
          <p:nvPr>
            <p:ph type="title"/>
          </p:nvPr>
        </p:nvSpPr>
        <p:spPr>
          <a:xfrm>
            <a:off x="838200" y="228600"/>
            <a:ext cx="7924800" cy="1143000"/>
          </a:xfrm>
        </p:spPr>
        <p:txBody>
          <a:bodyPr/>
          <a:lstStyle/>
          <a:p>
            <a:pPr eaLnBrk="1" hangingPunct="1"/>
            <a:r>
              <a:rPr lang="en-US" altLang="en-US"/>
              <a:t>Natural Language Understanding</a:t>
            </a:r>
          </a:p>
        </p:txBody>
      </p:sp>
      <p:sp>
        <p:nvSpPr>
          <p:cNvPr id="9225" name="Line 7"/>
          <p:cNvSpPr>
            <a:spLocks noChangeShapeType="1"/>
          </p:cNvSpPr>
          <p:nvPr/>
        </p:nvSpPr>
        <p:spPr bwMode="auto">
          <a:xfrm flipH="1">
            <a:off x="990600" y="4114800"/>
            <a:ext cx="4572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26" name="Line 8"/>
          <p:cNvSpPr>
            <a:spLocks noChangeShapeType="1"/>
          </p:cNvSpPr>
          <p:nvPr/>
        </p:nvSpPr>
        <p:spPr bwMode="auto">
          <a:xfrm>
            <a:off x="1447800" y="4114800"/>
            <a:ext cx="609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27" name="Line 9"/>
          <p:cNvSpPr>
            <a:spLocks noChangeShapeType="1"/>
          </p:cNvSpPr>
          <p:nvPr/>
        </p:nvSpPr>
        <p:spPr bwMode="auto">
          <a:xfrm flipH="1">
            <a:off x="1676400" y="4267200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28" name="Line 10"/>
          <p:cNvSpPr>
            <a:spLocks noChangeShapeType="1"/>
          </p:cNvSpPr>
          <p:nvPr/>
        </p:nvSpPr>
        <p:spPr bwMode="auto">
          <a:xfrm>
            <a:off x="990600" y="42672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9229" name="Group 18"/>
          <p:cNvGrpSpPr>
            <a:grpSpLocks/>
          </p:cNvGrpSpPr>
          <p:nvPr/>
        </p:nvGrpSpPr>
        <p:grpSpPr bwMode="auto">
          <a:xfrm>
            <a:off x="1143000" y="2514600"/>
            <a:ext cx="838200" cy="457200"/>
            <a:chOff x="2208" y="3408"/>
            <a:chExt cx="528" cy="288"/>
          </a:xfrm>
        </p:grpSpPr>
        <p:sp>
          <p:nvSpPr>
            <p:cNvPr id="9246" name="Line 4"/>
            <p:cNvSpPr>
              <a:spLocks noChangeShapeType="1"/>
            </p:cNvSpPr>
            <p:nvPr/>
          </p:nvSpPr>
          <p:spPr bwMode="auto">
            <a:xfrm>
              <a:off x="2208" y="3456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47" name="Line 5"/>
            <p:cNvSpPr>
              <a:spLocks noChangeShapeType="1"/>
            </p:cNvSpPr>
            <p:nvPr/>
          </p:nvSpPr>
          <p:spPr bwMode="auto">
            <a:xfrm>
              <a:off x="2208" y="3696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48" name="Line 11"/>
            <p:cNvSpPr>
              <a:spLocks noChangeShapeType="1"/>
            </p:cNvSpPr>
            <p:nvPr/>
          </p:nvSpPr>
          <p:spPr bwMode="auto">
            <a:xfrm>
              <a:off x="2304" y="3456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49" name="Line 12"/>
            <p:cNvSpPr>
              <a:spLocks noChangeShapeType="1"/>
            </p:cNvSpPr>
            <p:nvPr/>
          </p:nvSpPr>
          <p:spPr bwMode="auto">
            <a:xfrm>
              <a:off x="2400" y="3504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50" name="Line 13"/>
            <p:cNvSpPr>
              <a:spLocks noChangeShapeType="1"/>
            </p:cNvSpPr>
            <p:nvPr/>
          </p:nvSpPr>
          <p:spPr bwMode="auto">
            <a:xfrm>
              <a:off x="2496" y="345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51" name="Line 15"/>
            <p:cNvSpPr>
              <a:spLocks noChangeShapeType="1"/>
            </p:cNvSpPr>
            <p:nvPr/>
          </p:nvSpPr>
          <p:spPr bwMode="auto">
            <a:xfrm>
              <a:off x="2592" y="355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52" name="Line 16"/>
            <p:cNvSpPr>
              <a:spLocks noChangeShapeType="1"/>
            </p:cNvSpPr>
            <p:nvPr/>
          </p:nvSpPr>
          <p:spPr bwMode="auto">
            <a:xfrm flipV="1">
              <a:off x="2688" y="340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230" name="Line 23"/>
          <p:cNvSpPr>
            <a:spLocks noChangeShapeType="1"/>
          </p:cNvSpPr>
          <p:nvPr/>
        </p:nvSpPr>
        <p:spPr bwMode="auto">
          <a:xfrm>
            <a:off x="6705600" y="27432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31" name="Line 24"/>
          <p:cNvSpPr>
            <a:spLocks noChangeShapeType="1"/>
          </p:cNvSpPr>
          <p:nvPr/>
        </p:nvSpPr>
        <p:spPr bwMode="auto">
          <a:xfrm>
            <a:off x="6705600" y="34290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32" name="Line 25"/>
          <p:cNvSpPr>
            <a:spLocks noChangeShapeType="1"/>
          </p:cNvSpPr>
          <p:nvPr/>
        </p:nvSpPr>
        <p:spPr bwMode="auto">
          <a:xfrm>
            <a:off x="6705600" y="41910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33" name="Line 26"/>
          <p:cNvSpPr>
            <a:spLocks noChangeShapeType="1"/>
          </p:cNvSpPr>
          <p:nvPr/>
        </p:nvSpPr>
        <p:spPr bwMode="auto">
          <a:xfrm>
            <a:off x="6705600" y="51816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9234" name="Group 29"/>
          <p:cNvGrpSpPr>
            <a:grpSpLocks/>
          </p:cNvGrpSpPr>
          <p:nvPr/>
        </p:nvGrpSpPr>
        <p:grpSpPr bwMode="auto">
          <a:xfrm>
            <a:off x="3505200" y="2438400"/>
            <a:ext cx="762000" cy="609600"/>
            <a:chOff x="2208" y="1536"/>
            <a:chExt cx="480" cy="384"/>
          </a:xfrm>
        </p:grpSpPr>
        <p:sp>
          <p:nvSpPr>
            <p:cNvPr id="9244" name="Line 27"/>
            <p:cNvSpPr>
              <a:spLocks noChangeShapeType="1"/>
            </p:cNvSpPr>
            <p:nvPr/>
          </p:nvSpPr>
          <p:spPr bwMode="auto">
            <a:xfrm>
              <a:off x="2208" y="1536"/>
              <a:ext cx="48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45" name="Line 28"/>
            <p:cNvSpPr>
              <a:spLocks noChangeShapeType="1"/>
            </p:cNvSpPr>
            <p:nvPr/>
          </p:nvSpPr>
          <p:spPr bwMode="auto">
            <a:xfrm flipH="1">
              <a:off x="2208" y="1776"/>
              <a:ext cx="48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235" name="Group 30"/>
          <p:cNvGrpSpPr>
            <a:grpSpLocks/>
          </p:cNvGrpSpPr>
          <p:nvPr/>
        </p:nvGrpSpPr>
        <p:grpSpPr bwMode="auto">
          <a:xfrm>
            <a:off x="3505200" y="3200400"/>
            <a:ext cx="762000" cy="609600"/>
            <a:chOff x="2208" y="1536"/>
            <a:chExt cx="480" cy="384"/>
          </a:xfrm>
        </p:grpSpPr>
        <p:sp>
          <p:nvSpPr>
            <p:cNvPr id="9242" name="Line 31"/>
            <p:cNvSpPr>
              <a:spLocks noChangeShapeType="1"/>
            </p:cNvSpPr>
            <p:nvPr/>
          </p:nvSpPr>
          <p:spPr bwMode="auto">
            <a:xfrm>
              <a:off x="2208" y="1536"/>
              <a:ext cx="48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43" name="Line 32"/>
            <p:cNvSpPr>
              <a:spLocks noChangeShapeType="1"/>
            </p:cNvSpPr>
            <p:nvPr/>
          </p:nvSpPr>
          <p:spPr bwMode="auto">
            <a:xfrm flipH="1">
              <a:off x="2208" y="1776"/>
              <a:ext cx="48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236" name="Group 33"/>
          <p:cNvGrpSpPr>
            <a:grpSpLocks/>
          </p:cNvGrpSpPr>
          <p:nvPr/>
        </p:nvGrpSpPr>
        <p:grpSpPr bwMode="auto">
          <a:xfrm>
            <a:off x="3505200" y="3962400"/>
            <a:ext cx="762000" cy="609600"/>
            <a:chOff x="2208" y="1536"/>
            <a:chExt cx="480" cy="384"/>
          </a:xfrm>
        </p:grpSpPr>
        <p:sp>
          <p:nvSpPr>
            <p:cNvPr id="9240" name="Line 34"/>
            <p:cNvSpPr>
              <a:spLocks noChangeShapeType="1"/>
            </p:cNvSpPr>
            <p:nvPr/>
          </p:nvSpPr>
          <p:spPr bwMode="auto">
            <a:xfrm>
              <a:off x="2208" y="1536"/>
              <a:ext cx="48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41" name="Line 35"/>
            <p:cNvSpPr>
              <a:spLocks noChangeShapeType="1"/>
            </p:cNvSpPr>
            <p:nvPr/>
          </p:nvSpPr>
          <p:spPr bwMode="auto">
            <a:xfrm flipH="1">
              <a:off x="2208" y="1776"/>
              <a:ext cx="48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237" name="Group 36"/>
          <p:cNvGrpSpPr>
            <a:grpSpLocks/>
          </p:cNvGrpSpPr>
          <p:nvPr/>
        </p:nvGrpSpPr>
        <p:grpSpPr bwMode="auto">
          <a:xfrm>
            <a:off x="3505200" y="5029200"/>
            <a:ext cx="762000" cy="609600"/>
            <a:chOff x="2208" y="1536"/>
            <a:chExt cx="480" cy="384"/>
          </a:xfrm>
        </p:grpSpPr>
        <p:sp>
          <p:nvSpPr>
            <p:cNvPr id="9238" name="Line 37"/>
            <p:cNvSpPr>
              <a:spLocks noChangeShapeType="1"/>
            </p:cNvSpPr>
            <p:nvPr/>
          </p:nvSpPr>
          <p:spPr bwMode="auto">
            <a:xfrm>
              <a:off x="2208" y="1536"/>
              <a:ext cx="48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39" name="Line 38"/>
            <p:cNvSpPr>
              <a:spLocks noChangeShapeType="1"/>
            </p:cNvSpPr>
            <p:nvPr/>
          </p:nvSpPr>
          <p:spPr bwMode="auto">
            <a:xfrm flipH="1">
              <a:off x="2208" y="1776"/>
              <a:ext cx="48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CA96E0-9598-C470-9A08-91610DEB8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E779EFA-9C2B-4B3C-B4DB-AE5856A4E4B0}" type="datetime3">
              <a:rPr lang="en-US" smtClean="0"/>
              <a:t>15 June 2023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234CAAC-8EDE-6DC6-B614-037625E2B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04A440-B4B2-4D15-B49F-45C10BDD1D92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8000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NLP - Prof. M.M.A. Hashem</a:t>
            </a:r>
          </a:p>
        </p:txBody>
      </p:sp>
      <p:sp>
        <p:nvSpPr>
          <p:cNvPr id="10243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Speech Recognition (1 of 3)</a:t>
            </a:r>
          </a:p>
        </p:txBody>
      </p:sp>
      <p:pic>
        <p:nvPicPr>
          <p:cNvPr id="10244" name="Picture 5" descr="j0302953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66800" y="3048000"/>
            <a:ext cx="1685925" cy="2362200"/>
          </a:xfrm>
        </p:spPr>
      </p:pic>
      <p:pic>
        <p:nvPicPr>
          <p:cNvPr id="10245" name="Picture 6" descr="BD18249_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1869692">
            <a:off x="2362200" y="3886200"/>
            <a:ext cx="609600" cy="609600"/>
          </a:xfrm>
          <a:noFill/>
        </p:spPr>
      </p:pic>
      <p:sp>
        <p:nvSpPr>
          <p:cNvPr id="10246" name="Line 9"/>
          <p:cNvSpPr>
            <a:spLocks noChangeShapeType="1"/>
          </p:cNvSpPr>
          <p:nvPr/>
        </p:nvSpPr>
        <p:spPr bwMode="auto">
          <a:xfrm>
            <a:off x="3871913" y="3581400"/>
            <a:ext cx="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47" name="Line 10"/>
          <p:cNvSpPr>
            <a:spLocks noChangeShapeType="1"/>
          </p:cNvSpPr>
          <p:nvPr/>
        </p:nvSpPr>
        <p:spPr bwMode="auto">
          <a:xfrm>
            <a:off x="3871913" y="5410200"/>
            <a:ext cx="228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48" name="Freeform 15"/>
          <p:cNvSpPr>
            <a:spLocks/>
          </p:cNvSpPr>
          <p:nvPr/>
        </p:nvSpPr>
        <p:spPr bwMode="auto">
          <a:xfrm>
            <a:off x="3886200" y="3733800"/>
            <a:ext cx="2043113" cy="990600"/>
          </a:xfrm>
          <a:custGeom>
            <a:avLst/>
            <a:gdLst>
              <a:gd name="T0" fmla="*/ 0 w 1287"/>
              <a:gd name="T1" fmla="*/ 980341575 h 624"/>
              <a:gd name="T2" fmla="*/ 211693177 w 1287"/>
              <a:gd name="T3" fmla="*/ 791329063 h 624"/>
              <a:gd name="T4" fmla="*/ 304939775 w 1287"/>
              <a:gd name="T5" fmla="*/ 698084075 h 624"/>
              <a:gd name="T6" fmla="*/ 446068559 w 1287"/>
              <a:gd name="T7" fmla="*/ 627519700 h 624"/>
              <a:gd name="T8" fmla="*/ 703124560 w 1287"/>
              <a:gd name="T9" fmla="*/ 120967500 h 624"/>
              <a:gd name="T10" fmla="*/ 945059619 w 1287"/>
              <a:gd name="T11" fmla="*/ 967740000 h 624"/>
              <a:gd name="T12" fmla="*/ 1186994678 w 1287"/>
              <a:gd name="T13" fmla="*/ 483870000 h 624"/>
              <a:gd name="T14" fmla="*/ 1428929737 w 1287"/>
              <a:gd name="T15" fmla="*/ 1572577500 h 624"/>
              <a:gd name="T16" fmla="*/ 1670864796 w 1287"/>
              <a:gd name="T17" fmla="*/ 1088707500 h 624"/>
              <a:gd name="T18" fmla="*/ 2147483646 w 1287"/>
              <a:gd name="T19" fmla="*/ 1451610000 h 624"/>
              <a:gd name="T20" fmla="*/ 2147483646 w 1287"/>
              <a:gd name="T21" fmla="*/ 241935000 h 624"/>
              <a:gd name="T22" fmla="*/ 2147483646 w 1287"/>
              <a:gd name="T23" fmla="*/ 725805000 h 624"/>
              <a:gd name="T24" fmla="*/ 2147483646 w 1287"/>
              <a:gd name="T25" fmla="*/ 0 h 624"/>
              <a:gd name="T26" fmla="*/ 2147483646 w 1287"/>
              <a:gd name="T27" fmla="*/ 483870000 h 624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0" t="0" r="r" b="b"/>
            <a:pathLst>
              <a:path w="1287" h="624">
                <a:moveTo>
                  <a:pt x="0" y="389"/>
                </a:moveTo>
                <a:cubicBezTo>
                  <a:pt x="27" y="362"/>
                  <a:pt x="57" y="341"/>
                  <a:pt x="84" y="314"/>
                </a:cubicBezTo>
                <a:cubicBezTo>
                  <a:pt x="101" y="261"/>
                  <a:pt x="78" y="305"/>
                  <a:pt x="121" y="277"/>
                </a:cubicBezTo>
                <a:cubicBezTo>
                  <a:pt x="173" y="242"/>
                  <a:pt x="123" y="249"/>
                  <a:pt x="177" y="249"/>
                </a:cubicBezTo>
                <a:lnTo>
                  <a:pt x="279" y="48"/>
                </a:lnTo>
                <a:lnTo>
                  <a:pt x="375" y="384"/>
                </a:lnTo>
                <a:lnTo>
                  <a:pt x="471" y="192"/>
                </a:lnTo>
                <a:lnTo>
                  <a:pt x="567" y="624"/>
                </a:lnTo>
                <a:lnTo>
                  <a:pt x="663" y="432"/>
                </a:lnTo>
                <a:lnTo>
                  <a:pt x="855" y="576"/>
                </a:lnTo>
                <a:lnTo>
                  <a:pt x="999" y="96"/>
                </a:lnTo>
                <a:lnTo>
                  <a:pt x="1095" y="288"/>
                </a:lnTo>
                <a:lnTo>
                  <a:pt x="1239" y="0"/>
                </a:lnTo>
                <a:lnTo>
                  <a:pt x="1287" y="192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49" name="Line 16"/>
          <p:cNvSpPr>
            <a:spLocks noChangeShapeType="1"/>
          </p:cNvSpPr>
          <p:nvPr/>
        </p:nvSpPr>
        <p:spPr bwMode="auto">
          <a:xfrm>
            <a:off x="7010400" y="3581400"/>
            <a:ext cx="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50" name="Line 17"/>
          <p:cNvSpPr>
            <a:spLocks noChangeShapeType="1"/>
          </p:cNvSpPr>
          <p:nvPr/>
        </p:nvSpPr>
        <p:spPr bwMode="auto">
          <a:xfrm>
            <a:off x="7010400" y="5410200"/>
            <a:ext cx="1752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51" name="Line 18"/>
          <p:cNvSpPr>
            <a:spLocks noChangeShapeType="1"/>
          </p:cNvSpPr>
          <p:nvPr/>
        </p:nvSpPr>
        <p:spPr bwMode="auto">
          <a:xfrm>
            <a:off x="7239000" y="3810000"/>
            <a:ext cx="0" cy="99060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52" name="Line 19"/>
          <p:cNvSpPr>
            <a:spLocks noChangeShapeType="1"/>
          </p:cNvSpPr>
          <p:nvPr/>
        </p:nvSpPr>
        <p:spPr bwMode="auto">
          <a:xfrm>
            <a:off x="7391400" y="3962400"/>
            <a:ext cx="0" cy="129540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53" name="Line 20"/>
          <p:cNvSpPr>
            <a:spLocks noChangeShapeType="1"/>
          </p:cNvSpPr>
          <p:nvPr/>
        </p:nvSpPr>
        <p:spPr bwMode="auto">
          <a:xfrm>
            <a:off x="7543800" y="3657600"/>
            <a:ext cx="0" cy="144780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54" name="Line 21"/>
          <p:cNvSpPr>
            <a:spLocks noChangeShapeType="1"/>
          </p:cNvSpPr>
          <p:nvPr/>
        </p:nvSpPr>
        <p:spPr bwMode="auto">
          <a:xfrm>
            <a:off x="7696200" y="3886200"/>
            <a:ext cx="0" cy="99060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55" name="Line 22"/>
          <p:cNvSpPr>
            <a:spLocks noChangeShapeType="1"/>
          </p:cNvSpPr>
          <p:nvPr/>
        </p:nvSpPr>
        <p:spPr bwMode="auto">
          <a:xfrm>
            <a:off x="7848600" y="3733800"/>
            <a:ext cx="0" cy="60960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56" name="Line 23"/>
          <p:cNvSpPr>
            <a:spLocks noChangeShapeType="1"/>
          </p:cNvSpPr>
          <p:nvPr/>
        </p:nvSpPr>
        <p:spPr bwMode="auto">
          <a:xfrm>
            <a:off x="8001000" y="4038600"/>
            <a:ext cx="0" cy="99060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57" name="Line 24"/>
          <p:cNvSpPr>
            <a:spLocks noChangeShapeType="1"/>
          </p:cNvSpPr>
          <p:nvPr/>
        </p:nvSpPr>
        <p:spPr bwMode="auto">
          <a:xfrm>
            <a:off x="8153400" y="4191000"/>
            <a:ext cx="0" cy="99060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58" name="Line 25"/>
          <p:cNvSpPr>
            <a:spLocks noChangeShapeType="1"/>
          </p:cNvSpPr>
          <p:nvPr/>
        </p:nvSpPr>
        <p:spPr bwMode="auto">
          <a:xfrm>
            <a:off x="8305800" y="4419600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59" name="AutoShape 26"/>
          <p:cNvSpPr>
            <a:spLocks noChangeArrowheads="1"/>
          </p:cNvSpPr>
          <p:nvPr/>
        </p:nvSpPr>
        <p:spPr bwMode="auto">
          <a:xfrm>
            <a:off x="3200400" y="4648200"/>
            <a:ext cx="457200" cy="152400"/>
          </a:xfrm>
          <a:prstGeom prst="rightArrow">
            <a:avLst>
              <a:gd name="adj1" fmla="val 50000"/>
              <a:gd name="adj2" fmla="val 7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8000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0260" name="AutoShape 28"/>
          <p:cNvSpPr>
            <a:spLocks noChangeArrowheads="1"/>
          </p:cNvSpPr>
          <p:nvPr/>
        </p:nvSpPr>
        <p:spPr bwMode="auto">
          <a:xfrm>
            <a:off x="6324600" y="4572000"/>
            <a:ext cx="457200" cy="152400"/>
          </a:xfrm>
          <a:prstGeom prst="rightArrow">
            <a:avLst>
              <a:gd name="adj1" fmla="val 50000"/>
              <a:gd name="adj2" fmla="val 7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8000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0261" name="Text Box 29"/>
          <p:cNvSpPr txBox="1">
            <a:spLocks noChangeArrowheads="1"/>
          </p:cNvSpPr>
          <p:nvPr/>
        </p:nvSpPr>
        <p:spPr bwMode="auto">
          <a:xfrm>
            <a:off x="762000" y="2365375"/>
            <a:ext cx="8199438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8000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Input                           Analog Signal        Freq. spectrogram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(microphone records voice)                                (e.g., Fourier transform)</a:t>
            </a:r>
            <a:r>
              <a:rPr lang="en-US" altLang="en-US" sz="1800"/>
              <a:t> </a:t>
            </a:r>
          </a:p>
        </p:txBody>
      </p:sp>
      <p:sp>
        <p:nvSpPr>
          <p:cNvPr id="10262" name="Text Box 30"/>
          <p:cNvSpPr txBox="1">
            <a:spLocks noChangeArrowheads="1"/>
          </p:cNvSpPr>
          <p:nvPr/>
        </p:nvSpPr>
        <p:spPr bwMode="auto">
          <a:xfrm>
            <a:off x="7451725" y="5370513"/>
            <a:ext cx="6159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8000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time</a:t>
            </a:r>
          </a:p>
        </p:txBody>
      </p:sp>
      <p:sp>
        <p:nvSpPr>
          <p:cNvPr id="10263" name="Text Box 31"/>
          <p:cNvSpPr txBox="1">
            <a:spLocks noChangeArrowheads="1"/>
          </p:cNvSpPr>
          <p:nvPr/>
        </p:nvSpPr>
        <p:spPr bwMode="auto">
          <a:xfrm>
            <a:off x="6553200" y="3810000"/>
            <a:ext cx="4635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8000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Hz</a:t>
            </a:r>
          </a:p>
        </p:txBody>
      </p:sp>
      <p:sp>
        <p:nvSpPr>
          <p:cNvPr id="10264" name="Text Box 32"/>
          <p:cNvSpPr txBox="1">
            <a:spLocks noChangeArrowheads="1"/>
          </p:cNvSpPr>
          <p:nvPr/>
        </p:nvSpPr>
        <p:spPr bwMode="auto">
          <a:xfrm>
            <a:off x="593725" y="6894513"/>
            <a:ext cx="184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8000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D16D5D-7DD6-F626-57C9-1BF791A3D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90F2376-FA37-41E1-81E3-3C2CA75ADA02}" type="datetime3">
              <a:rPr lang="en-US" smtClean="0"/>
              <a:t>15 June 2023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C15B0B-259A-AE3A-CF64-0117CC202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54A344A-0C5B-41FF-BF60-2E8965137E57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8000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NLP - Prof. M.M.A. Hashem</a:t>
            </a:r>
          </a:p>
        </p:txBody>
      </p:sp>
      <p:sp>
        <p:nvSpPr>
          <p:cNvPr id="11267" name="AutoShap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Speech Recognition (2 of 3)</a:t>
            </a:r>
          </a:p>
        </p:txBody>
      </p:sp>
      <p:sp>
        <p:nvSpPr>
          <p:cNvPr id="11268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762000" y="2362200"/>
            <a:ext cx="8153400" cy="38862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/>
              <a:t>Frequency spectrogram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/>
              <a:t>Basic sounds in the signal (40-50 </a:t>
            </a:r>
            <a:r>
              <a:rPr lang="en-US" altLang="en-US" b="1"/>
              <a:t>phonemes)</a:t>
            </a:r>
            <a:r>
              <a:rPr lang="en-US" altLang="en-US" sz="2000"/>
              <a:t>                        (e.g., “a” in “cat”)        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sz="1800"/>
              <a:t>Template matching against a database of phonemes</a:t>
            </a:r>
          </a:p>
          <a:p>
            <a:pPr lvl="3" eaLnBrk="1" hangingPunct="1">
              <a:lnSpc>
                <a:spcPct val="80000"/>
              </a:lnSpc>
            </a:pPr>
            <a:r>
              <a:rPr lang="en-US" altLang="en-US" sz="1600"/>
              <a:t>Using dynamic time warping (speech speed)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/>
              <a:t>Constructing words from phonemes                          </a:t>
            </a:r>
            <a:r>
              <a:rPr lang="en-US" altLang="en-US" sz="2000"/>
              <a:t>(e.g.,</a:t>
            </a:r>
            <a:r>
              <a:rPr lang="en-US" altLang="en-US"/>
              <a:t> </a:t>
            </a:r>
            <a:r>
              <a:rPr lang="en-US" altLang="en-US" sz="2000"/>
              <a:t>“th”+”i”+”ng”=thing)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sz="1800"/>
              <a:t>Unreliable/probabilistic phonemes (e.g.,  “th” 50%, “f” 30%, …)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sz="1800"/>
              <a:t>Non-unique pronunciations (e.g., tomato), 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sz="1800"/>
              <a:t>statistics of transitions phonemes/words (hidden Markov models)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/>
              <a:t>Words</a:t>
            </a:r>
          </a:p>
          <a:p>
            <a:pPr lvl="1" eaLnBrk="1" hangingPunct="1">
              <a:lnSpc>
                <a:spcPct val="80000"/>
              </a:lnSpc>
            </a:pPr>
            <a:endParaRPr lang="en-US" altLang="en-US"/>
          </a:p>
        </p:txBody>
      </p:sp>
      <p:sp>
        <p:nvSpPr>
          <p:cNvPr id="11269" name="AutoShape 10"/>
          <p:cNvSpPr>
            <a:spLocks noChangeArrowheads="1"/>
          </p:cNvSpPr>
          <p:nvPr/>
        </p:nvSpPr>
        <p:spPr bwMode="auto">
          <a:xfrm>
            <a:off x="914400" y="2819400"/>
            <a:ext cx="152400" cy="2895600"/>
          </a:xfrm>
          <a:prstGeom prst="downArrow">
            <a:avLst>
              <a:gd name="adj1" fmla="val 50000"/>
              <a:gd name="adj2" fmla="val 47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8000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1635B3-CD9A-DFB2-E4F3-53C7861C6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F0BFFC4-F147-479C-AA6D-37730C40FA80}" type="datetime3">
              <a:rPr lang="en-US" smtClean="0"/>
              <a:t>15 June 2023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C09D5D7-9243-C72C-519E-EB0927CF2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04A440-B4B2-4D15-B49F-45C10BDD1D92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8000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NLP - Prof. M.M.A. Hashem</a:t>
            </a:r>
          </a:p>
        </p:txBody>
      </p:sp>
      <p:sp>
        <p:nvSpPr>
          <p:cNvPr id="12291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/>
              <a:t>Speech Recognition - Complications</a:t>
            </a:r>
          </a:p>
        </p:txBody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2362200"/>
            <a:ext cx="8077200" cy="3724275"/>
          </a:xfrm>
        </p:spPr>
        <p:txBody>
          <a:bodyPr/>
          <a:lstStyle/>
          <a:p>
            <a:pPr eaLnBrk="1" hangingPunct="1"/>
            <a:r>
              <a:rPr lang="en-US" altLang="en-US"/>
              <a:t>No simple mapping between sounds and words</a:t>
            </a:r>
          </a:p>
          <a:p>
            <a:pPr lvl="1" eaLnBrk="1" hangingPunct="1"/>
            <a:r>
              <a:rPr lang="en-US" altLang="en-US"/>
              <a:t>Variance in pronunciation due to gender, dialect, …</a:t>
            </a:r>
          </a:p>
          <a:p>
            <a:pPr lvl="2" eaLnBrk="1" hangingPunct="1"/>
            <a:r>
              <a:rPr lang="en-US" altLang="en-US"/>
              <a:t>Restriction to handle just one speaker</a:t>
            </a:r>
          </a:p>
          <a:p>
            <a:pPr lvl="1" eaLnBrk="1" hangingPunct="1"/>
            <a:r>
              <a:rPr lang="en-US" altLang="en-US"/>
              <a:t>Same sound corresponding to diff. words</a:t>
            </a:r>
          </a:p>
          <a:p>
            <a:pPr lvl="2" eaLnBrk="1" hangingPunct="1"/>
            <a:r>
              <a:rPr lang="en-US" altLang="en-US" sz="1800"/>
              <a:t>e.g., bear, bare</a:t>
            </a:r>
            <a:endParaRPr lang="en-US" altLang="en-US"/>
          </a:p>
          <a:p>
            <a:pPr lvl="1" eaLnBrk="1" hangingPunct="1"/>
            <a:r>
              <a:rPr lang="en-US" altLang="en-US"/>
              <a:t>Finding gaps between words</a:t>
            </a:r>
            <a:r>
              <a:rPr lang="en-US" altLang="en-US" sz="2000"/>
              <a:t> </a:t>
            </a:r>
          </a:p>
          <a:p>
            <a:pPr lvl="2" eaLnBrk="1" hangingPunct="1"/>
            <a:r>
              <a:rPr lang="en-US" altLang="en-US" sz="1800"/>
              <a:t>“how to recognize speech”</a:t>
            </a:r>
          </a:p>
          <a:p>
            <a:pPr lvl="2" eaLnBrk="1" hangingPunct="1"/>
            <a:r>
              <a:rPr lang="en-US" altLang="en-US" sz="1800"/>
              <a:t>“how to wreck a nice beach”</a:t>
            </a:r>
          </a:p>
          <a:p>
            <a:pPr lvl="1" eaLnBrk="1" hangingPunct="1"/>
            <a:r>
              <a:rPr lang="en-US" altLang="en-US"/>
              <a:t>Noise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4D872C-0C8A-E172-2A2D-AECF33064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279756C-CEDA-43E8-BBE9-668B22EF6F57}" type="datetime3">
              <a:rPr lang="en-US" smtClean="0"/>
              <a:t>15 June 2023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37ADAB6-3087-0C2A-B598-2A0BF3402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04A440-B4B2-4D15-B49F-45C10BDD1D92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8000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NLP - Prof. M.M.A. Hashem</a:t>
            </a:r>
          </a:p>
        </p:txBody>
      </p:sp>
      <p:sp>
        <p:nvSpPr>
          <p:cNvPr id="13315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Syntactic Analysis</a:t>
            </a:r>
          </a:p>
        </p:txBody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Rules of syntax (grammar) specify the possible organization of words in sentences and allows us to determine sentence’s structure(s)</a:t>
            </a:r>
          </a:p>
          <a:p>
            <a:pPr lvl="1" eaLnBrk="1" hangingPunct="1"/>
            <a:r>
              <a:rPr lang="en-US" altLang="en-US" sz="2000"/>
              <a:t>“John saw Mary with a telescope”</a:t>
            </a:r>
          </a:p>
          <a:p>
            <a:pPr lvl="2" eaLnBrk="1" hangingPunct="1"/>
            <a:r>
              <a:rPr lang="en-US" altLang="en-US" sz="1800"/>
              <a:t>John saw (Mary with a telescope)</a:t>
            </a:r>
          </a:p>
          <a:p>
            <a:pPr lvl="2" eaLnBrk="1" hangingPunct="1"/>
            <a:r>
              <a:rPr lang="en-US" altLang="en-US" sz="1800"/>
              <a:t>John (saw Mary with a telescope)</a:t>
            </a:r>
          </a:p>
          <a:p>
            <a:pPr eaLnBrk="1" hangingPunct="1"/>
            <a:r>
              <a:rPr lang="en-US" altLang="en-US" sz="2400"/>
              <a:t>Parsing: given a sentence and a grammar</a:t>
            </a:r>
          </a:p>
          <a:p>
            <a:pPr lvl="1" eaLnBrk="1" hangingPunct="1"/>
            <a:r>
              <a:rPr lang="en-US" altLang="en-US" sz="2000"/>
              <a:t>Checks that the sentence is correct according with the grammar and if so returns a </a:t>
            </a:r>
            <a:r>
              <a:rPr lang="en-US" altLang="en-US" sz="2000" b="1"/>
              <a:t>parse tree</a:t>
            </a:r>
            <a:r>
              <a:rPr lang="en-US" altLang="en-US" sz="2000"/>
              <a:t> representing the structure of the sentence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EBCD99-7AC0-7C56-1CFA-77F93E3A3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5CB8F82-BD1D-41BA-B732-5BA561369EC4}" type="datetime3">
              <a:rPr lang="en-US" smtClean="0"/>
              <a:t>15 June 2023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82CA35-17ED-4068-C951-F97D1B574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04A440-B4B2-4D15-B49F-45C10BDD1D92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8000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NLP - Prof. M.M.A. Hashem</a:t>
            </a:r>
          </a:p>
        </p:txBody>
      </p:sp>
      <p:sp>
        <p:nvSpPr>
          <p:cNvPr id="14339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Syntactic Analysis - Grammar</a:t>
            </a:r>
          </a:p>
        </p:txBody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400" b="1">
                <a:latin typeface="Courier New" panose="02070309020205020404" pitchFamily="49" charset="0"/>
              </a:rPr>
              <a:t>sentence -&gt; noun_phrase, verb_phrase</a:t>
            </a:r>
          </a:p>
          <a:p>
            <a:pPr eaLnBrk="1" hangingPunct="1"/>
            <a:r>
              <a:rPr lang="en-US" altLang="en-US" sz="2400" b="1">
                <a:latin typeface="Courier New" panose="02070309020205020404" pitchFamily="49" charset="0"/>
              </a:rPr>
              <a:t>noun_phrase -&gt; proper_noun</a:t>
            </a:r>
          </a:p>
          <a:p>
            <a:pPr eaLnBrk="1" hangingPunct="1"/>
            <a:r>
              <a:rPr lang="en-US" altLang="en-US" sz="2400" b="1">
                <a:latin typeface="Courier New" panose="02070309020205020404" pitchFamily="49" charset="0"/>
              </a:rPr>
              <a:t>noun_phrase -&gt; determiner, noun</a:t>
            </a:r>
          </a:p>
          <a:p>
            <a:pPr eaLnBrk="1" hangingPunct="1"/>
            <a:r>
              <a:rPr lang="en-US" altLang="en-US" sz="2400" b="1">
                <a:latin typeface="Courier New" panose="02070309020205020404" pitchFamily="49" charset="0"/>
              </a:rPr>
              <a:t>verb_phrase -&gt; verb, noun_phrase</a:t>
            </a:r>
          </a:p>
          <a:p>
            <a:pPr eaLnBrk="1" hangingPunct="1"/>
            <a:r>
              <a:rPr lang="en-US" altLang="en-US" sz="2400" b="1">
                <a:latin typeface="Courier New" panose="02070309020205020404" pitchFamily="49" charset="0"/>
              </a:rPr>
              <a:t>proper_noun -&gt; [mary]</a:t>
            </a:r>
          </a:p>
          <a:p>
            <a:pPr eaLnBrk="1" hangingPunct="1"/>
            <a:r>
              <a:rPr lang="en-US" altLang="en-US" sz="2400" b="1">
                <a:latin typeface="Courier New" panose="02070309020205020404" pitchFamily="49" charset="0"/>
              </a:rPr>
              <a:t>noun -&gt; [apple]</a:t>
            </a:r>
          </a:p>
          <a:p>
            <a:pPr eaLnBrk="1" hangingPunct="1"/>
            <a:r>
              <a:rPr lang="en-US" altLang="en-US" sz="2400" b="1">
                <a:latin typeface="Courier New" panose="02070309020205020404" pitchFamily="49" charset="0"/>
              </a:rPr>
              <a:t>verb -&gt; [ate]</a:t>
            </a:r>
          </a:p>
          <a:p>
            <a:pPr eaLnBrk="1" hangingPunct="1"/>
            <a:r>
              <a:rPr lang="en-US" altLang="en-US" sz="2400" b="1">
                <a:latin typeface="Courier New" panose="02070309020205020404" pitchFamily="49" charset="0"/>
              </a:rPr>
              <a:t>determiner -&gt; [the]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F56EAD-38C4-C17C-7745-E11B7C0FE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AF15024-BEC2-4261-9077-EAC2CD5D9E11}" type="datetime3">
              <a:rPr lang="en-US" smtClean="0"/>
              <a:t>15 June 2023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CB59A03-6E4B-601B-5AFC-E704A915F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04A440-B4B2-4D15-B49F-45C10BDD1D92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8000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NLP - Prof. M.M.A. Hashem</a:t>
            </a:r>
          </a:p>
        </p:txBody>
      </p:sp>
      <p:sp>
        <p:nvSpPr>
          <p:cNvPr id="15363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Syntactic Analysis - Parsing</a:t>
            </a:r>
          </a:p>
        </p:txBody>
      </p:sp>
      <p:sp>
        <p:nvSpPr>
          <p:cNvPr id="15364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/>
              <a:t>sentence</a:t>
            </a:r>
          </a:p>
          <a:p>
            <a:pPr algn="ctr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400"/>
          </a:p>
          <a:p>
            <a:pPr algn="ctr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/>
              <a:t>noun_phrase        verb_phrase</a:t>
            </a:r>
          </a:p>
          <a:p>
            <a:pPr algn="ctr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40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/>
              <a:t>                   proper_noun     verb      noun_phrase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40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/>
              <a:t>                                                        determiner     noun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40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/>
              <a:t>                         </a:t>
            </a:r>
            <a:r>
              <a:rPr lang="en-US" altLang="en-US" sz="2400" i="1">
                <a:solidFill>
                  <a:srgbClr val="006600"/>
                </a:solidFill>
              </a:rPr>
              <a:t>“Mary”         “ate”        “the”        “apple”</a:t>
            </a:r>
          </a:p>
        </p:txBody>
      </p:sp>
      <p:sp>
        <p:nvSpPr>
          <p:cNvPr id="15365" name="Line 6"/>
          <p:cNvSpPr>
            <a:spLocks noChangeShapeType="1"/>
          </p:cNvSpPr>
          <p:nvPr/>
        </p:nvSpPr>
        <p:spPr bwMode="auto">
          <a:xfrm flipH="1">
            <a:off x="3962400" y="2895600"/>
            <a:ext cx="685800" cy="3048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66" name="Line 7"/>
          <p:cNvSpPr>
            <a:spLocks noChangeShapeType="1"/>
          </p:cNvSpPr>
          <p:nvPr/>
        </p:nvSpPr>
        <p:spPr bwMode="auto">
          <a:xfrm>
            <a:off x="4648200" y="2895600"/>
            <a:ext cx="685800" cy="3048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67" name="Line 8"/>
          <p:cNvSpPr>
            <a:spLocks noChangeShapeType="1"/>
          </p:cNvSpPr>
          <p:nvPr/>
        </p:nvSpPr>
        <p:spPr bwMode="auto">
          <a:xfrm>
            <a:off x="3429000" y="3657600"/>
            <a:ext cx="0" cy="3810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68" name="Line 9"/>
          <p:cNvSpPr>
            <a:spLocks noChangeShapeType="1"/>
          </p:cNvSpPr>
          <p:nvPr/>
        </p:nvSpPr>
        <p:spPr bwMode="auto">
          <a:xfrm>
            <a:off x="3429000" y="4495800"/>
            <a:ext cx="0" cy="10668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69" name="Line 10"/>
          <p:cNvSpPr>
            <a:spLocks noChangeShapeType="1"/>
          </p:cNvSpPr>
          <p:nvPr/>
        </p:nvSpPr>
        <p:spPr bwMode="auto">
          <a:xfrm flipH="1">
            <a:off x="5334000" y="3657600"/>
            <a:ext cx="381000" cy="3048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70" name="Line 11"/>
          <p:cNvSpPr>
            <a:spLocks noChangeShapeType="1"/>
          </p:cNvSpPr>
          <p:nvPr/>
        </p:nvSpPr>
        <p:spPr bwMode="auto">
          <a:xfrm>
            <a:off x="5715000" y="3657600"/>
            <a:ext cx="457200" cy="3810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71" name="Line 12"/>
          <p:cNvSpPr>
            <a:spLocks noChangeShapeType="1"/>
          </p:cNvSpPr>
          <p:nvPr/>
        </p:nvSpPr>
        <p:spPr bwMode="auto">
          <a:xfrm flipH="1">
            <a:off x="6400800" y="4419600"/>
            <a:ext cx="228600" cy="3810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72" name="Line 13"/>
          <p:cNvSpPr>
            <a:spLocks noChangeShapeType="1"/>
          </p:cNvSpPr>
          <p:nvPr/>
        </p:nvSpPr>
        <p:spPr bwMode="auto">
          <a:xfrm>
            <a:off x="6629400" y="4419600"/>
            <a:ext cx="838200" cy="3810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73" name="Line 14"/>
          <p:cNvSpPr>
            <a:spLocks noChangeShapeType="1"/>
          </p:cNvSpPr>
          <p:nvPr/>
        </p:nvSpPr>
        <p:spPr bwMode="auto">
          <a:xfrm>
            <a:off x="5029200" y="4419600"/>
            <a:ext cx="0" cy="11430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74" name="Line 15"/>
          <p:cNvSpPr>
            <a:spLocks noChangeShapeType="1"/>
          </p:cNvSpPr>
          <p:nvPr/>
        </p:nvSpPr>
        <p:spPr bwMode="auto">
          <a:xfrm>
            <a:off x="6324600" y="5181600"/>
            <a:ext cx="0" cy="4572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75" name="Line 16"/>
          <p:cNvSpPr>
            <a:spLocks noChangeShapeType="1"/>
          </p:cNvSpPr>
          <p:nvPr/>
        </p:nvSpPr>
        <p:spPr bwMode="auto">
          <a:xfrm>
            <a:off x="7848600" y="5181600"/>
            <a:ext cx="0" cy="4572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5D4C8C4-1999-CDFD-E926-7E2E1BC40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3552E63-7F89-4279-AE4D-C92FF9E9F35F}" type="datetime3">
              <a:rPr lang="en-US" smtClean="0"/>
              <a:t>15 June 2023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8BB844E-5C7E-F750-64B6-95FAC1A12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04A440-B4B2-4D15-B49F-45C10BDD1D92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8000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NLP - Prof. M.M.A. Hashem</a:t>
            </a:r>
          </a:p>
        </p:txBody>
      </p:sp>
      <p:sp>
        <p:nvSpPr>
          <p:cNvPr id="16387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/>
              <a:t>Syntactic Analysis – Complications (1)</a:t>
            </a:r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2286000"/>
            <a:ext cx="8229600" cy="4038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/>
              <a:t>Number (singular vs. plural) and gender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b="1">
                <a:solidFill>
                  <a:srgbClr val="006600"/>
                </a:solidFill>
                <a:latin typeface="Courier New" panose="02070309020205020404" pitchFamily="49" charset="0"/>
              </a:rPr>
              <a:t>sentence-&gt; noun_phrase</a:t>
            </a:r>
            <a:r>
              <a:rPr lang="en-US" altLang="en-US" b="1">
                <a:solidFill>
                  <a:srgbClr val="CC0000"/>
                </a:solidFill>
                <a:latin typeface="Courier New" panose="02070309020205020404" pitchFamily="49" charset="0"/>
              </a:rPr>
              <a:t>(n)</a:t>
            </a:r>
            <a:r>
              <a:rPr lang="en-US" altLang="en-US" b="1">
                <a:solidFill>
                  <a:srgbClr val="006600"/>
                </a:solidFill>
                <a:latin typeface="Courier New" panose="02070309020205020404" pitchFamily="49" charset="0"/>
              </a:rPr>
              <a:t>,verb_phrase</a:t>
            </a:r>
            <a:r>
              <a:rPr lang="en-US" altLang="en-US" b="1">
                <a:solidFill>
                  <a:srgbClr val="CC0000"/>
                </a:solidFill>
                <a:latin typeface="Courier New" panose="02070309020205020404" pitchFamily="49" charset="0"/>
              </a:rPr>
              <a:t>(n)</a:t>
            </a:r>
            <a:endParaRPr lang="en-US" altLang="en-US" b="1">
              <a:solidFill>
                <a:srgbClr val="006600"/>
              </a:solidFill>
              <a:latin typeface="Courier New" panose="02070309020205020404" pitchFamily="49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en-US" b="1">
                <a:solidFill>
                  <a:srgbClr val="006600"/>
                </a:solidFill>
                <a:latin typeface="Courier New" panose="02070309020205020404" pitchFamily="49" charset="0"/>
              </a:rPr>
              <a:t>proper_noun</a:t>
            </a:r>
            <a:r>
              <a:rPr lang="en-US" altLang="en-US" b="1">
                <a:solidFill>
                  <a:srgbClr val="CC0000"/>
                </a:solidFill>
                <a:latin typeface="Courier New" panose="02070309020205020404" pitchFamily="49" charset="0"/>
              </a:rPr>
              <a:t>(s)</a:t>
            </a:r>
            <a:r>
              <a:rPr lang="en-US" altLang="en-US" b="1">
                <a:solidFill>
                  <a:srgbClr val="006600"/>
                </a:solidFill>
                <a:latin typeface="Courier New" panose="02070309020205020404" pitchFamily="49" charset="0"/>
              </a:rPr>
              <a:t> -&gt; [mary]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b="1">
                <a:solidFill>
                  <a:srgbClr val="006600"/>
                </a:solidFill>
                <a:latin typeface="Courier New" panose="02070309020205020404" pitchFamily="49" charset="0"/>
              </a:rPr>
              <a:t>noun</a:t>
            </a:r>
            <a:r>
              <a:rPr lang="en-US" altLang="en-US" b="1">
                <a:solidFill>
                  <a:srgbClr val="CC0000"/>
                </a:solidFill>
                <a:latin typeface="Courier New" panose="02070309020205020404" pitchFamily="49" charset="0"/>
              </a:rPr>
              <a:t>(p)</a:t>
            </a:r>
            <a:r>
              <a:rPr lang="en-US" altLang="en-US" b="1">
                <a:solidFill>
                  <a:srgbClr val="006600"/>
                </a:solidFill>
                <a:latin typeface="Courier New" panose="02070309020205020404" pitchFamily="49" charset="0"/>
              </a:rPr>
              <a:t> -&gt; [apples]</a:t>
            </a:r>
            <a:endParaRPr lang="en-US" altLang="en-US" b="1">
              <a:solidFill>
                <a:srgbClr val="006600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Adjective	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b="1">
                <a:solidFill>
                  <a:srgbClr val="006600"/>
                </a:solidFill>
                <a:latin typeface="Courier New" panose="02070309020205020404" pitchFamily="49" charset="0"/>
              </a:rPr>
              <a:t>noun_phrase-&gt; determiner,adjectives,noun</a:t>
            </a:r>
            <a:endParaRPr lang="en-US" altLang="en-US">
              <a:solidFill>
                <a:srgbClr val="006600"/>
              </a:solidFill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en-US">
                <a:solidFill>
                  <a:srgbClr val="006600"/>
                </a:solidFill>
              </a:rPr>
              <a:t>adjectives-&gt; adjective, adjectives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>
                <a:solidFill>
                  <a:srgbClr val="006600"/>
                </a:solidFill>
              </a:rPr>
              <a:t>adjective-&gt;[ferocious]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Adverbs, …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b="1">
              <a:latin typeface="Courier New" panose="02070309020205020404" pitchFamily="49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8CBD6B-F93E-4120-DA2F-7421DF2B6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B3E1319-CB61-4FBD-8B87-EA291FE0E015}" type="datetime3">
              <a:rPr lang="en-US" smtClean="0"/>
              <a:t>15 June 2023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CAB3673-7068-DAD8-094B-DA1B0C774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04A440-B4B2-4D15-B49F-45C10BDD1D92}" type="slidenum">
              <a:rPr lang="en-US" altLang="en-US" smtClean="0"/>
              <a:pPr>
                <a:defRPr/>
              </a:pPr>
              <a:t>17</a:t>
            </a:fld>
            <a:endParaRPr lang="en-US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8000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NLP - Prof. M.M.A. Hashem</a:t>
            </a:r>
          </a:p>
        </p:txBody>
      </p:sp>
      <p:sp>
        <p:nvSpPr>
          <p:cNvPr id="17411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/>
              <a:t>Syntactic Analysis – Complications (2)</a:t>
            </a:r>
          </a:p>
        </p:txBody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2286000"/>
            <a:ext cx="8229600" cy="4038600"/>
          </a:xfrm>
        </p:spPr>
        <p:txBody>
          <a:bodyPr/>
          <a:lstStyle/>
          <a:p>
            <a:pPr eaLnBrk="1" hangingPunct="1"/>
            <a:r>
              <a:rPr lang="en-US" altLang="en-US"/>
              <a:t>Handling ambiguity </a:t>
            </a:r>
          </a:p>
          <a:p>
            <a:pPr lvl="1" eaLnBrk="1" hangingPunct="1"/>
            <a:r>
              <a:rPr lang="en-US" altLang="en-US"/>
              <a:t>Syntactic ambiguity: </a:t>
            </a:r>
            <a:r>
              <a:rPr lang="en-US" altLang="en-US">
                <a:solidFill>
                  <a:srgbClr val="CC0000"/>
                </a:solidFill>
              </a:rPr>
              <a:t>“fruit flies like a banana”</a:t>
            </a:r>
          </a:p>
          <a:p>
            <a:pPr lvl="1" eaLnBrk="1" hangingPunct="1">
              <a:buFontTx/>
              <a:buNone/>
            </a:pPr>
            <a:endParaRPr lang="en-US" altLang="en-US"/>
          </a:p>
          <a:p>
            <a:pPr eaLnBrk="1" hangingPunct="1"/>
            <a:r>
              <a:rPr lang="en-US" altLang="en-US"/>
              <a:t>Having to parse syntactically incorrect sentences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56230C-C2F6-048C-F2B4-082386F9C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76091A5-E7DC-41DB-94F1-5641FA2AD979}" type="datetime3">
              <a:rPr lang="en-US" smtClean="0"/>
              <a:t>15 June 2023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AD6612F-A1F1-7FAC-36FA-F96B9C808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04A440-B4B2-4D15-B49F-45C10BDD1D92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8000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NLP - Prof. M.M.A. Hashem</a:t>
            </a:r>
          </a:p>
        </p:txBody>
      </p:sp>
      <p:sp>
        <p:nvSpPr>
          <p:cNvPr id="18435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Semantic Analysis</a:t>
            </a:r>
          </a:p>
        </p:txBody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2362200"/>
            <a:ext cx="8001000" cy="372427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/>
              <a:t>Generates (partial) meaning/representation of the sentence from its syntactic structure(s)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400">
                <a:sym typeface="Symbol" panose="05050102010706020507" pitchFamily="18" charset="2"/>
              </a:rPr>
              <a:t>Compositional semantics: meaning of the sentence from the meaning of its parts: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>
                <a:solidFill>
                  <a:srgbClr val="006600"/>
                </a:solidFill>
              </a:rPr>
              <a:t>Sentence: A tall man likes Mary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>
                <a:solidFill>
                  <a:srgbClr val="006600"/>
                </a:solidFill>
              </a:rPr>
              <a:t>Representation: </a:t>
            </a:r>
            <a:r>
              <a:rPr lang="en-US" altLang="en-US" sz="2000">
                <a:solidFill>
                  <a:srgbClr val="006600"/>
                </a:solidFill>
                <a:sym typeface="Symbol" panose="05050102010706020507" pitchFamily="18" charset="2"/>
              </a:rPr>
              <a:t>x man(x) &amp; tall(x) &amp; likes(x,Mary)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>
                <a:sym typeface="Symbol" panose="05050102010706020507" pitchFamily="18" charset="2"/>
              </a:rPr>
              <a:t>Grammar + Semantics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b="1">
                <a:solidFill>
                  <a:srgbClr val="006600"/>
                </a:solidFill>
                <a:latin typeface="Courier New" panose="02070309020205020404" pitchFamily="49" charset="0"/>
              </a:rPr>
              <a:t>Sentence </a:t>
            </a:r>
            <a:r>
              <a:rPr lang="en-US" altLang="en-US" sz="2000" b="1">
                <a:solidFill>
                  <a:srgbClr val="CC0000"/>
                </a:solidFill>
                <a:latin typeface="Courier New" panose="02070309020205020404" pitchFamily="49" charset="0"/>
              </a:rPr>
              <a:t>(Smeaning)</a:t>
            </a:r>
            <a:r>
              <a:rPr lang="en-US" altLang="en-US" sz="2000" b="1">
                <a:solidFill>
                  <a:srgbClr val="006600"/>
                </a:solidFill>
                <a:latin typeface="Courier New" panose="02070309020205020404" pitchFamily="49" charset="0"/>
              </a:rPr>
              <a:t>-&gt; noun_phrase</a:t>
            </a:r>
            <a:r>
              <a:rPr lang="en-US" altLang="en-US" sz="2000" b="1">
                <a:solidFill>
                  <a:srgbClr val="CC0000"/>
                </a:solidFill>
                <a:latin typeface="Courier New" panose="02070309020205020404" pitchFamily="49" charset="0"/>
              </a:rPr>
              <a:t>(NPmeaning)</a:t>
            </a:r>
            <a:r>
              <a:rPr lang="en-US" altLang="en-US" sz="2000" b="1">
                <a:solidFill>
                  <a:srgbClr val="006600"/>
                </a:solidFill>
                <a:latin typeface="Courier New" panose="02070309020205020404" pitchFamily="49" charset="0"/>
              </a:rPr>
              <a:t>,verb_phrase</a:t>
            </a:r>
            <a:r>
              <a:rPr lang="en-US" altLang="en-US" sz="2000" b="1">
                <a:solidFill>
                  <a:srgbClr val="CC0000"/>
                </a:solidFill>
                <a:latin typeface="Courier New" panose="02070309020205020404" pitchFamily="49" charset="0"/>
              </a:rPr>
              <a:t>(VPmeaning)</a:t>
            </a:r>
            <a:r>
              <a:rPr lang="en-US" altLang="en-US" sz="2000" b="1">
                <a:solidFill>
                  <a:srgbClr val="006600"/>
                </a:solidFill>
                <a:latin typeface="Courier New" panose="02070309020205020404" pitchFamily="49" charset="0"/>
              </a:rPr>
              <a:t>, combine</a:t>
            </a:r>
            <a:r>
              <a:rPr lang="en-US" altLang="en-US" sz="2000" b="1">
                <a:solidFill>
                  <a:srgbClr val="CC0000"/>
                </a:solidFill>
                <a:latin typeface="Courier New" panose="02070309020205020404" pitchFamily="49" charset="0"/>
              </a:rPr>
              <a:t>(NPmeaning,VPmeaning,Smeaning)</a:t>
            </a:r>
            <a:endParaRPr lang="en-US" altLang="en-US" sz="2000">
              <a:sym typeface="Symbol" panose="05050102010706020507" pitchFamily="18" charset="2"/>
            </a:endParaRPr>
          </a:p>
          <a:p>
            <a:pPr lvl="1" eaLnBrk="1" hangingPunct="1">
              <a:lnSpc>
                <a:spcPct val="90000"/>
              </a:lnSpc>
              <a:buFontTx/>
              <a:buNone/>
            </a:pPr>
            <a:endParaRPr lang="en-US" altLang="en-US" sz="2000">
              <a:sym typeface="Symbol" panose="05050102010706020507" pitchFamily="18" charset="2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3E9FC1-B172-04B1-803C-23E659327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B576AC5-01B0-4233-8627-D2B45C0108E8}" type="datetime3">
              <a:rPr lang="en-US" smtClean="0"/>
              <a:t>15 June 2023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769C05-6BEF-0E7B-7F7C-E22C1E247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04A440-B4B2-4D15-B49F-45C10BDD1D92}" type="slidenum">
              <a:rPr lang="en-US" altLang="en-US" smtClean="0"/>
              <a:pPr>
                <a:defRPr/>
              </a:pPr>
              <a:t>19</a:t>
            </a:fld>
            <a:endParaRPr lang="en-US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8000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NLP - Prof. M.M.A. Hashem</a:t>
            </a:r>
          </a:p>
        </p:txBody>
      </p:sp>
      <p:sp>
        <p:nvSpPr>
          <p:cNvPr id="19459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/>
              <a:t>Semantic Analysis – Complications</a:t>
            </a:r>
          </a:p>
        </p:txBody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2286000"/>
            <a:ext cx="8229600" cy="4038600"/>
          </a:xfrm>
        </p:spPr>
        <p:txBody>
          <a:bodyPr/>
          <a:lstStyle/>
          <a:p>
            <a:pPr eaLnBrk="1" hangingPunct="1"/>
            <a:r>
              <a:rPr lang="en-US" altLang="en-US"/>
              <a:t>Handling ambiguity </a:t>
            </a:r>
          </a:p>
          <a:p>
            <a:pPr lvl="1" eaLnBrk="1" hangingPunct="1"/>
            <a:r>
              <a:rPr lang="en-US" altLang="en-US"/>
              <a:t>Semantic ambiguity: </a:t>
            </a:r>
            <a:r>
              <a:rPr lang="en-US" altLang="en-US">
                <a:solidFill>
                  <a:srgbClr val="CC0000"/>
                </a:solidFill>
              </a:rPr>
              <a:t>“I saw the Prudential building flying into Boston”</a:t>
            </a:r>
          </a:p>
          <a:p>
            <a:pPr lvl="1" eaLnBrk="1" hangingPunct="1"/>
            <a:endParaRPr lang="en-US" altLang="en-US" b="1">
              <a:latin typeface="Courier New" panose="02070309020205020404" pitchFamily="49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D83165-BE35-1DD2-3D0E-3139FC88A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0BAF671-C6BC-40C4-842C-0DED520FB905}" type="datetime3">
              <a:rPr lang="en-US" smtClean="0"/>
              <a:t>15 June 2023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1762758-1289-7E6F-7272-AD180127C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04A440-B4B2-4D15-B49F-45C10BDD1D92}" type="slidenum">
              <a:rPr lang="en-US" altLang="en-US" smtClean="0"/>
              <a:pPr>
                <a:defRPr/>
              </a:pPr>
              <a:t>20</a:t>
            </a:fld>
            <a:endParaRPr lang="en-US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8000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NLP - Prof. M.M.A. Hashem</a:t>
            </a:r>
          </a:p>
        </p:txBody>
      </p:sp>
      <p:sp>
        <p:nvSpPr>
          <p:cNvPr id="20483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Pragmatics</a:t>
            </a:r>
          </a:p>
        </p:txBody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/>
              <a:t>Uses context of utterance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Where, by who, to whom, why, when it was said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Intentions: </a:t>
            </a:r>
            <a:r>
              <a:rPr lang="en-US" altLang="en-US" i="1"/>
              <a:t>inform, request, promise</a:t>
            </a:r>
            <a:r>
              <a:rPr lang="en-US" altLang="en-US"/>
              <a:t>, </a:t>
            </a:r>
            <a:r>
              <a:rPr lang="en-US" altLang="en-US" i="1"/>
              <a:t>criticize,</a:t>
            </a:r>
            <a:r>
              <a:rPr lang="en-US" altLang="en-US"/>
              <a:t> …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Handling Pronouns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“Mary eats apples. She likes them.”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/>
              <a:t>She=“Mary”, them=“apples”.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Handling ambiguity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Pragmatic ambiguity: </a:t>
            </a:r>
            <a:r>
              <a:rPr lang="en-US" altLang="en-US">
                <a:solidFill>
                  <a:srgbClr val="CC0000"/>
                </a:solidFill>
              </a:rPr>
              <a:t>“you’re late”</a:t>
            </a:r>
            <a:r>
              <a:rPr lang="en-US" altLang="en-US"/>
              <a:t>: What’s the speaker’s intention: informing or criticizing?</a:t>
            </a:r>
          </a:p>
        </p:txBody>
      </p:sp>
      <p:cxnSp>
        <p:nvCxnSpPr>
          <p:cNvPr id="20485" name="AutoShape 4"/>
          <p:cNvCxnSpPr>
            <a:cxnSpLocks noChangeShapeType="1"/>
            <a:stCxn id="20484" idx="1"/>
            <a:endCxn id="20484" idx="1"/>
          </p:cNvCxnSpPr>
          <p:nvPr/>
        </p:nvCxnSpPr>
        <p:spPr bwMode="auto">
          <a:xfrm>
            <a:off x="838200" y="4224338"/>
            <a:ext cx="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BF17FF-9827-0057-8464-C87E99676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6FDC0B6-84DC-473C-AD9C-DDD62A1E333E}" type="datetime3">
              <a:rPr lang="en-US" smtClean="0"/>
              <a:t>15 June 2023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E3B558-4EAB-D8F0-3338-6DB3C5D97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04A440-B4B2-4D15-B49F-45C10BDD1D92}" type="slidenum">
              <a:rPr lang="en-US" altLang="en-US" smtClean="0"/>
              <a:pPr>
                <a:defRPr/>
              </a:pPr>
              <a:t>21</a:t>
            </a:fld>
            <a:endParaRPr lang="en-US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8000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NLP - Prof. M.M.A. Hashem</a:t>
            </a:r>
          </a:p>
        </p:txBody>
      </p:sp>
      <p:sp>
        <p:nvSpPr>
          <p:cNvPr id="21507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Natural Language Generation</a:t>
            </a:r>
          </a:p>
        </p:txBody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2362200"/>
            <a:ext cx="7848600" cy="40386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400"/>
              <a:t>Talking back! </a:t>
            </a:r>
            <a:r>
              <a:rPr lang="en-US" altLang="en-US" sz="2400">
                <a:sym typeface="Wingdings" panose="05000000000000000000" pitchFamily="2" charset="2"/>
              </a:rPr>
              <a:t>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>
                <a:sym typeface="Wingdings" panose="05000000000000000000" pitchFamily="2" charset="2"/>
              </a:rPr>
              <a:t>What to say or text planning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>
                <a:solidFill>
                  <a:srgbClr val="006600"/>
                </a:solidFill>
                <a:sym typeface="Wingdings" panose="05000000000000000000" pitchFamily="2" charset="2"/>
              </a:rPr>
              <a:t>flight(AA,london,boston,$560,2pm),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>
                <a:solidFill>
                  <a:srgbClr val="006600"/>
                </a:solidFill>
                <a:sym typeface="Wingdings" panose="05000000000000000000" pitchFamily="2" charset="2"/>
              </a:rPr>
              <a:t>flight(BA,london,boston,$640,10am),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>
                <a:sym typeface="Wingdings" panose="05000000000000000000" pitchFamily="2" charset="2"/>
              </a:rPr>
              <a:t>How to say it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>
                <a:solidFill>
                  <a:srgbClr val="006600"/>
                </a:solidFill>
              </a:rPr>
              <a:t>“There are two flights from London to Boston. The first one is with American Airlines, leaves at 2 pm, and costs $560 …”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/>
              <a:t>Speech synthesis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/>
              <a:t>Simple: Human recordings of basic templates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/>
              <a:t>More complex: string together phonemes in phonetic spelling of each word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sz="1800"/>
              <a:t>Difficult due to stress, intonation, timing, liaisons between words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D00D5D-481E-C5B0-3203-4E3FF284F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71F8B2F-14B6-4497-AB1D-97663CC07785}" type="datetime3">
              <a:rPr lang="en-US" smtClean="0"/>
              <a:t>15 June 2023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AACB3D3-5416-B1B9-5855-27D4AB10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04A440-B4B2-4D15-B49F-45C10BDD1D92}" type="slidenum">
              <a:rPr lang="en-US" altLang="en-US" smtClean="0"/>
              <a:pPr>
                <a:defRPr/>
              </a:pPr>
              <a:t>22</a:t>
            </a:fld>
            <a:endParaRPr lang="en-US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New advancements in NLP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Tremendous advances in the 2010’s have yielded synergistic connections between machine learning and NLP</a:t>
            </a:r>
            <a:endParaRPr lang="en-US" sz="900" dirty="0"/>
          </a:p>
          <a:p>
            <a:pPr>
              <a:defRPr/>
            </a:pPr>
            <a:r>
              <a:rPr lang="en-US" dirty="0"/>
              <a:t>Work in Deep Learning in recent years has revolutionized NLP both in terms of:</a:t>
            </a:r>
          </a:p>
          <a:p>
            <a:pPr lvl="1">
              <a:defRPr/>
            </a:pPr>
            <a:r>
              <a:rPr lang="en-US" dirty="0"/>
              <a:t>Natural language understanding</a:t>
            </a:r>
          </a:p>
          <a:p>
            <a:pPr lvl="1">
              <a:defRPr/>
            </a:pPr>
            <a:r>
              <a:rPr lang="en-US" dirty="0"/>
              <a:t>Natural language generation</a:t>
            </a:r>
          </a:p>
          <a:p>
            <a:pPr>
              <a:defRPr/>
            </a:pPr>
            <a:r>
              <a:rPr lang="en-US" dirty="0"/>
              <a:t>Emergence of highly accomplished NLP academic prototypes &amp; commercial products</a:t>
            </a:r>
          </a:p>
          <a:p>
            <a:pPr>
              <a:defRPr/>
            </a:pPr>
            <a:endParaRPr lang="en-US" dirty="0"/>
          </a:p>
          <a:p>
            <a:pPr marL="457200" lvl="1" indent="0">
              <a:buFontTx/>
              <a:buNone/>
              <a:defRPr/>
            </a:pPr>
            <a:endParaRPr lang="en-US" dirty="0"/>
          </a:p>
          <a:p>
            <a:pPr marL="457200" lvl="1" indent="0">
              <a:buFontTx/>
              <a:buNone/>
              <a:defRPr/>
            </a:pPr>
            <a:endParaRPr lang="en-US" dirty="0"/>
          </a:p>
        </p:txBody>
      </p:sp>
      <p:sp>
        <p:nvSpPr>
          <p:cNvPr id="22532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/>
              <a:t>NLP - Prof. M.M.A. Hashem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20E44E-8415-C964-0CC4-1C4E9DCC5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7B037E2-4958-4CD3-8512-B4239EE76CFC}" type="datetime3">
              <a:rPr lang="en-US" smtClean="0"/>
              <a:t>15 June 2023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A4F7E8-1778-4A3C-8D24-9B0E755EA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04A440-B4B2-4D15-B49F-45C10BDD1D92}" type="slidenum">
              <a:rPr lang="en-US" altLang="en-US" smtClean="0"/>
              <a:pPr>
                <a:defRPr/>
              </a:pPr>
              <a:t>23</a:t>
            </a:fld>
            <a:endParaRPr lang="en-US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Capsules">
  <a:themeElements>
    <a:clrScheme name="1_Capsules 1">
      <a:dk1>
        <a:srgbClr val="003366"/>
      </a:dk1>
      <a:lt1>
        <a:srgbClr val="FFFFFF"/>
      </a:lt1>
      <a:dk2>
        <a:srgbClr val="006666"/>
      </a:dk2>
      <a:lt2>
        <a:srgbClr val="666699"/>
      </a:lt2>
      <a:accent1>
        <a:srgbClr val="33CCCC"/>
      </a:accent1>
      <a:accent2>
        <a:srgbClr val="99CC99"/>
      </a:accent2>
      <a:accent3>
        <a:srgbClr val="FFFFFF"/>
      </a:accent3>
      <a:accent4>
        <a:srgbClr val="002A56"/>
      </a:accent4>
      <a:accent5>
        <a:srgbClr val="ADE2E2"/>
      </a:accent5>
      <a:accent6>
        <a:srgbClr val="8AB98A"/>
      </a:accent6>
      <a:hlink>
        <a:srgbClr val="003366"/>
      </a:hlink>
      <a:folHlink>
        <a:srgbClr val="CC99FF"/>
      </a:folHlink>
    </a:clrScheme>
    <a:fontScheme name="1_Capsule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1_Capsules 1">
        <a:dk1>
          <a:srgbClr val="003366"/>
        </a:dk1>
        <a:lt1>
          <a:srgbClr val="FFFFFF"/>
        </a:lt1>
        <a:dk2>
          <a:srgbClr val="006666"/>
        </a:dk2>
        <a:lt2>
          <a:srgbClr val="666699"/>
        </a:lt2>
        <a:accent1>
          <a:srgbClr val="33CCCC"/>
        </a:accent1>
        <a:accent2>
          <a:srgbClr val="99CC99"/>
        </a:accent2>
        <a:accent3>
          <a:srgbClr val="FFFFFF"/>
        </a:accent3>
        <a:accent4>
          <a:srgbClr val="002A56"/>
        </a:accent4>
        <a:accent5>
          <a:srgbClr val="ADE2E2"/>
        </a:accent5>
        <a:accent6>
          <a:srgbClr val="8AB98A"/>
        </a:accent6>
        <a:hlink>
          <a:srgbClr val="003366"/>
        </a:hlink>
        <a:folHlink>
          <a:srgbClr val="CC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apsules 2">
        <a:dk1>
          <a:srgbClr val="000000"/>
        </a:dk1>
        <a:lt1>
          <a:srgbClr val="FFFFFF"/>
        </a:lt1>
        <a:dk2>
          <a:srgbClr val="000000"/>
        </a:dk2>
        <a:lt2>
          <a:srgbClr val="808000"/>
        </a:lt2>
        <a:accent1>
          <a:srgbClr val="FFCC99"/>
        </a:accent1>
        <a:accent2>
          <a:srgbClr val="99CC00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8AB900"/>
        </a:accent6>
        <a:hlink>
          <a:srgbClr val="336600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apsules 3">
        <a:dk1>
          <a:srgbClr val="006699"/>
        </a:dk1>
        <a:lt1>
          <a:srgbClr val="FFFFFF"/>
        </a:lt1>
        <a:dk2>
          <a:srgbClr val="6699FF"/>
        </a:dk2>
        <a:lt2>
          <a:srgbClr val="FFFFFF"/>
        </a:lt2>
        <a:accent1>
          <a:srgbClr val="33CCCC"/>
        </a:accent1>
        <a:accent2>
          <a:srgbClr val="006699"/>
        </a:accent2>
        <a:accent3>
          <a:srgbClr val="B8CAFF"/>
        </a:accent3>
        <a:accent4>
          <a:srgbClr val="DADADA"/>
        </a:accent4>
        <a:accent5>
          <a:srgbClr val="ADE2E2"/>
        </a:accent5>
        <a:accent6>
          <a:srgbClr val="005C8A"/>
        </a:accent6>
        <a:hlink>
          <a:srgbClr val="99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apsules 4">
        <a:dk1>
          <a:srgbClr val="000000"/>
        </a:dk1>
        <a:lt1>
          <a:srgbClr val="FFFFFF"/>
        </a:lt1>
        <a:dk2>
          <a:srgbClr val="9900CC"/>
        </a:dk2>
        <a:lt2>
          <a:srgbClr val="006600"/>
        </a:lt2>
        <a:accent1>
          <a:srgbClr val="33CC33"/>
        </a:accent1>
        <a:accent2>
          <a:srgbClr val="FFCC66"/>
        </a:accent2>
        <a:accent3>
          <a:srgbClr val="FFFFFF"/>
        </a:accent3>
        <a:accent4>
          <a:srgbClr val="000000"/>
        </a:accent4>
        <a:accent5>
          <a:srgbClr val="ADE2AD"/>
        </a:accent5>
        <a:accent6>
          <a:srgbClr val="E7B95C"/>
        </a:accent6>
        <a:hlink>
          <a:srgbClr val="0033CC"/>
        </a:hlink>
        <a:folHlink>
          <a:srgbClr val="CC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apsules 5">
        <a:dk1>
          <a:srgbClr val="000066"/>
        </a:dk1>
        <a:lt1>
          <a:srgbClr val="FFFFFF"/>
        </a:lt1>
        <a:dk2>
          <a:srgbClr val="336699"/>
        </a:dk2>
        <a:lt2>
          <a:srgbClr val="FFFFEB"/>
        </a:lt2>
        <a:accent1>
          <a:srgbClr val="99CCFF"/>
        </a:accent1>
        <a:accent2>
          <a:srgbClr val="9999FF"/>
        </a:accent2>
        <a:accent3>
          <a:srgbClr val="ADB8CA"/>
        </a:accent3>
        <a:accent4>
          <a:srgbClr val="DADADA"/>
        </a:accent4>
        <a:accent5>
          <a:srgbClr val="CAE2FF"/>
        </a:accent5>
        <a:accent6>
          <a:srgbClr val="8A8AE7"/>
        </a:accent6>
        <a:hlink>
          <a:srgbClr val="CCCCFF"/>
        </a:hlink>
        <a:folHlink>
          <a:srgbClr val="C68D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apsules 6">
        <a:dk1>
          <a:srgbClr val="808000"/>
        </a:dk1>
        <a:lt1>
          <a:srgbClr val="FFFFFF"/>
        </a:lt1>
        <a:dk2>
          <a:srgbClr val="006666"/>
        </a:dk2>
        <a:lt2>
          <a:srgbClr val="FFFFFF"/>
        </a:lt2>
        <a:accent1>
          <a:srgbClr val="FFCC66"/>
        </a:accent1>
        <a:accent2>
          <a:srgbClr val="00ACA8"/>
        </a:accent2>
        <a:accent3>
          <a:srgbClr val="AAB8B8"/>
        </a:accent3>
        <a:accent4>
          <a:srgbClr val="DADADA"/>
        </a:accent4>
        <a:accent5>
          <a:srgbClr val="FFE2B8"/>
        </a:accent5>
        <a:accent6>
          <a:srgbClr val="009B98"/>
        </a:accent6>
        <a:hlink>
          <a:srgbClr val="CCCC00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apsules 7">
        <a:dk1>
          <a:srgbClr val="FFFFCC"/>
        </a:dk1>
        <a:lt1>
          <a:srgbClr val="FFFFFF"/>
        </a:lt1>
        <a:dk2>
          <a:srgbClr val="660033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B8AAAD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FFCC00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apsules 8">
        <a:dk1>
          <a:srgbClr val="FF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CC00"/>
        </a:accent1>
        <a:accent2>
          <a:srgbClr val="CC3300"/>
        </a:accent2>
        <a:accent3>
          <a:srgbClr val="AA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FF6600"/>
        </a:hlink>
        <a:folHlink>
          <a:srgbClr val="FF7C8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Capsules</Template>
  <TotalTime>416</TotalTime>
  <Words>1643</Words>
  <Application>Microsoft Office PowerPoint</Application>
  <PresentationFormat>On-screen Show (4:3)</PresentationFormat>
  <Paragraphs>246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Arial</vt:lpstr>
      <vt:lpstr>Calibri</vt:lpstr>
      <vt:lpstr>Courier New</vt:lpstr>
      <vt:lpstr>Tahoma</vt:lpstr>
      <vt:lpstr>Times New Roman</vt:lpstr>
      <vt:lpstr>Wingdings</vt:lpstr>
      <vt:lpstr>1_Capsules</vt:lpstr>
      <vt:lpstr>CSE 4109: Artificial Intelligence Natural Language Processing (NLP)</vt:lpstr>
      <vt:lpstr>References</vt:lpstr>
      <vt:lpstr>Artificial Intelligence Demystified</vt:lpstr>
      <vt:lpstr>What is NLP?</vt:lpstr>
      <vt:lpstr>Why NLP</vt:lpstr>
      <vt:lpstr>Communication Typical communication episode S (speaker) wants to convey P (proposition) to H (hearer) using W (words in a formal or natural language)</vt:lpstr>
      <vt:lpstr>Natural Language Processing (NLP)</vt:lpstr>
      <vt:lpstr>Applications of Nat. Lang. Processing</vt:lpstr>
      <vt:lpstr>Natural language understanding</vt:lpstr>
      <vt:lpstr>Natural Language Understanding</vt:lpstr>
      <vt:lpstr>Speech Recognition (1 of 3)</vt:lpstr>
      <vt:lpstr>Speech Recognition (2 of 3)</vt:lpstr>
      <vt:lpstr>Speech Recognition - Complications</vt:lpstr>
      <vt:lpstr>Syntactic Analysis</vt:lpstr>
      <vt:lpstr>Syntactic Analysis - Grammar</vt:lpstr>
      <vt:lpstr>Syntactic Analysis - Parsing</vt:lpstr>
      <vt:lpstr>Syntactic Analysis – Complications (1)</vt:lpstr>
      <vt:lpstr>Syntactic Analysis – Complications (2)</vt:lpstr>
      <vt:lpstr>Semantic Analysis</vt:lpstr>
      <vt:lpstr>Semantic Analysis – Complications</vt:lpstr>
      <vt:lpstr>Pragmatics</vt:lpstr>
      <vt:lpstr>Natural Language Generation</vt:lpstr>
      <vt:lpstr>New advancements in NLP </vt:lpstr>
    </vt:vector>
  </TitlesOfParts>
  <Company>Worcester Polytechnic Institute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Natural Language Processing</dc:title>
  <dc:creator>Academic Technology Center</dc:creator>
  <cp:lastModifiedBy>Prof. Dr. M.M.A. Hashem</cp:lastModifiedBy>
  <cp:revision>144</cp:revision>
  <dcterms:created xsi:type="dcterms:W3CDTF">2002-02-24T23:59:18Z</dcterms:created>
  <dcterms:modified xsi:type="dcterms:W3CDTF">2023-06-15T10:48:38Z</dcterms:modified>
</cp:coreProperties>
</file>