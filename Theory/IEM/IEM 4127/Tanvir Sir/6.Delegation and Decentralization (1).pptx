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61" r:id="rId5"/>
    <p:sldId id="270" r:id="rId6"/>
    <p:sldId id="272" r:id="rId7"/>
    <p:sldId id="263" r:id="rId8"/>
    <p:sldId id="264" r:id="rId9"/>
    <p:sldId id="265" r:id="rId10"/>
    <p:sldId id="268"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6C0A465A-9D2F-45C8-8D13-9E96677D7A9D}" type="datetimeFigureOut">
              <a:rPr lang="en-US" smtClean="0"/>
              <a:t>9/17/2025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2FB9C9C-08BF-4A2E-A672-CACC5D47829E}" type="slidenum">
              <a:rPr lang="en-US" smtClean="0"/>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6C0A465A-9D2F-45C8-8D13-9E96677D7A9D}"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FB9C9C-08BF-4A2E-A672-CACC5D47829E}" type="slidenum">
              <a:rPr lang="en-US" smtClean="0"/>
              <a:t>‹#›</a:t>
            </a:fld>
            <a:endParaRPr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C0A465A-9D2F-45C8-8D13-9E96677D7A9D}" type="datetimeFigureOut">
              <a:rPr lang="en-US" smtClean="0"/>
              <a:t>9/17/2025</a:t>
            </a:fld>
            <a:endParaRPr lang="en-US"/>
          </a:p>
        </p:txBody>
      </p:sp>
      <p:sp>
        <p:nvSpPr>
          <p:cNvPr id="5" name="Footer Placeholder 4"/>
          <p:cNvSpPr>
            <a:spLocks noGrp="1"/>
          </p:cNvSpPr>
          <p:nvPr>
            <p:ph type="ftr" sz="quarter" idx="11"/>
          </p:nvPr>
        </p:nvSpPr>
        <p:spPr>
          <a:xfrm>
            <a:off x="1066800" y="6172200"/>
            <a:ext cx="5334000" cy="457200"/>
          </a:xfrm>
        </p:spPr>
        <p:txBody>
          <a:bodyPr/>
          <a:lstStyle/>
          <a:p>
            <a:endParaRPr lang="en-US"/>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F2FB9C9C-08BF-4A2E-A672-CACC5D47829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C0A465A-9D2F-45C8-8D13-9E96677D7A9D}"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FB9C9C-08BF-4A2E-A672-CACC5D47829E}" type="slidenum">
              <a:rPr lang="en-US" smtClean="0"/>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C0A465A-9D2F-45C8-8D13-9E96677D7A9D}" type="datetimeFigureOut">
              <a:rPr lang="en-US" smtClean="0"/>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FB9C9C-08BF-4A2E-A672-CACC5D47829E}" type="slidenum">
              <a:rPr lang="en-US" smtClean="0"/>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C0A465A-9D2F-45C8-8D13-9E96677D7A9D}" type="datetimeFigureOut">
              <a:rPr lang="en-US" smtClean="0"/>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FB9C9C-08BF-4A2E-A672-CACC5D47829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A465A-9D2F-45C8-8D13-9E96677D7A9D}" type="datetimeFigureOut">
              <a:rPr lang="en-US" smtClean="0"/>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FB9C9C-08BF-4A2E-A672-CACC5D47829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C0A465A-9D2F-45C8-8D13-9E96677D7A9D}"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FB9C9C-08BF-4A2E-A672-CACC5D47829E}" type="slidenum">
              <a:rPr lang="en-US" smtClean="0"/>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C0A465A-9D2F-45C8-8D13-9E96677D7A9D}" type="datetimeFigureOut">
              <a:rPr lang="en-US" smtClean="0"/>
              <a:t>9/17/2025</a:t>
            </a:fld>
            <a:endParaRPr lang="en-US"/>
          </a:p>
        </p:txBody>
      </p:sp>
      <p:sp>
        <p:nvSpPr>
          <p:cNvPr id="6" name="Footer Placeholder 5"/>
          <p:cNvSpPr>
            <a:spLocks noGrp="1"/>
          </p:cNvSpPr>
          <p:nvPr>
            <p:ph type="ftr" sz="quarter" idx="11"/>
          </p:nvPr>
        </p:nvSpPr>
        <p:spPr>
          <a:xfrm>
            <a:off x="1219200" y="6172200"/>
            <a:ext cx="5181600" cy="457200"/>
          </a:xfrm>
        </p:spPr>
        <p:txBody>
          <a:bodyPr/>
          <a:lstStyle/>
          <a:p>
            <a:endParaRPr lang="en-US"/>
          </a:p>
        </p:txBody>
      </p:sp>
      <p:sp>
        <p:nvSpPr>
          <p:cNvPr id="7" name="Slide Number Placeholder 6"/>
          <p:cNvSpPr>
            <a:spLocks noGrp="1"/>
          </p:cNvSpPr>
          <p:nvPr>
            <p:ph type="sldNum" sz="quarter" idx="12"/>
          </p:nvPr>
        </p:nvSpPr>
        <p:spPr>
          <a:xfrm>
            <a:off x="195072" y="6208776"/>
            <a:ext cx="609600" cy="457200"/>
          </a:xfrm>
        </p:spPr>
        <p:txBody>
          <a:bodyPr/>
          <a:lstStyle/>
          <a:p>
            <a:fld id="{F2FB9C9C-08BF-4A2E-A672-CACC5D47829E}" type="slidenum">
              <a:rPr lang="en-US" smtClean="0"/>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C0A465A-9D2F-45C8-8D13-9E96677D7A9D}"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FB9C9C-08BF-4A2E-A672-CACC5D47829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C0A465A-9D2F-45C8-8D13-9E96677D7A9D}"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FB9C9C-08BF-4A2E-A672-CACC5D47829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6C0A465A-9D2F-45C8-8D13-9E96677D7A9D}" type="datetimeFigureOut">
              <a:rPr lang="en-US" smtClean="0"/>
              <a:t>9/17/2025</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2FB9C9C-08BF-4A2E-A672-CACC5D47829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endParaRPr lang="en-US"/>
          </a:p>
        </p:txBody>
      </p:sp>
      <p:sp>
        <p:nvSpPr>
          <p:cNvPr id="2" name="Title 1"/>
          <p:cNvSpPr>
            <a:spLocks noGrp="1"/>
          </p:cNvSpPr>
          <p:nvPr>
            <p:ph type="ctrTitle"/>
          </p:nvPr>
        </p:nvSpPr>
        <p:spPr>
          <a:xfrm>
            <a:off x="2692398" y="1871131"/>
            <a:ext cx="6815669" cy="1539581"/>
          </a:xfrm>
        </p:spPr>
        <p:txBody>
          <a:bodyPr>
            <a:normAutofit fontScale="90000"/>
          </a:bodyPr>
          <a:lstStyle/>
          <a:p>
            <a:r>
              <a:rPr lang="en-US" sz="4900" b="1" dirty="0">
                <a:solidFill>
                  <a:schemeClr val="tx1"/>
                </a:solidFill>
                <a:latin typeface="Times New Roman" panose="02020603050405020304" pitchFamily="18" charset="0"/>
                <a:cs typeface="Times New Roman" panose="02020603050405020304" pitchFamily="18" charset="0"/>
              </a:rPr>
              <a:t>Delegation and Decentralization</a:t>
            </a:r>
            <a:br>
              <a:rPr lang="en-US" b="1"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93354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67266" y="857839"/>
            <a:ext cx="10492033" cy="3477875"/>
          </a:xfrm>
          <a:prstGeom prst="rect">
            <a:avLst/>
          </a:prstGeom>
          <a:noFill/>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Ref: Chapter 11, Organization and Management By R.D Agarwal</a:t>
            </a:r>
          </a:p>
          <a:p>
            <a:pPr algn="ctr"/>
            <a:endParaRPr lang="en-US" sz="2000" b="1" u="sng" dirty="0">
              <a:latin typeface="Times New Roman" panose="02020603050405020304" pitchFamily="18" charset="0"/>
              <a:cs typeface="Times New Roman" panose="02020603050405020304" pitchFamily="18" charset="0"/>
            </a:endParaRPr>
          </a:p>
          <a:p>
            <a:pPr algn="just"/>
            <a:endParaRPr lang="en-US" sz="2000" b="1" u="sng" dirty="0">
              <a:latin typeface="Times New Roman" panose="02020603050405020304" pitchFamily="18" charset="0"/>
              <a:cs typeface="Times New Roman" panose="02020603050405020304" pitchFamily="18" charset="0"/>
            </a:endParaRPr>
          </a:p>
          <a:p>
            <a:pPr algn="just"/>
            <a:r>
              <a:rPr lang="en-US" sz="3200" b="1" u="sng" dirty="0">
                <a:solidFill>
                  <a:srgbClr val="FF0000"/>
                </a:solidFill>
                <a:latin typeface="Times New Roman" panose="02020603050405020304" pitchFamily="18" charset="0"/>
                <a:cs typeface="Times New Roman" panose="02020603050405020304" pitchFamily="18" charset="0"/>
              </a:rPr>
              <a:t>Delegation: </a:t>
            </a:r>
          </a:p>
          <a:p>
            <a:pPr algn="just"/>
            <a:r>
              <a:rPr lang="en-US" sz="3200" dirty="0">
                <a:latin typeface="Times New Roman" panose="02020603050405020304" pitchFamily="18" charset="0"/>
                <a:cs typeface="Times New Roman" panose="02020603050405020304" pitchFamily="18" charset="0"/>
              </a:rPr>
              <a:t>	Delegation is the primary mechanism through which organization work is distributed among its employees, authority is vested in them for performance of assigned tasks, and obligation is imposed on them to perform adequately. </a:t>
            </a:r>
            <a:r>
              <a:rPr lang="en-US" sz="32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23339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4524315"/>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Objectives of Delegation:</a:t>
            </a:r>
          </a:p>
          <a:p>
            <a:endParaRPr lang="en-US" sz="3600" b="1" u="sng"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Less important work need not to done by executives. He can devote </a:t>
            </a:r>
            <a:r>
              <a:rPr lang="en-US" sz="3600" dirty="0">
                <a:solidFill>
                  <a:srgbClr val="00B0F0"/>
                </a:solidFill>
                <a:latin typeface="Times New Roman" panose="02020603050405020304" pitchFamily="18" charset="0"/>
                <a:cs typeface="Times New Roman" panose="02020603050405020304" pitchFamily="18" charset="0"/>
              </a:rPr>
              <a:t>more time on important areas of his duties </a:t>
            </a:r>
            <a:r>
              <a:rPr lang="en-US" sz="3600" dirty="0">
                <a:latin typeface="Times New Roman" panose="02020603050405020304" pitchFamily="18" charset="0"/>
                <a:cs typeface="Times New Roman" panose="02020603050405020304" pitchFamily="18" charset="0"/>
              </a:rPr>
              <a:t>like planning, co-ordination and control.</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Develop the </a:t>
            </a:r>
            <a:r>
              <a:rPr lang="en-US" sz="3600" dirty="0">
                <a:solidFill>
                  <a:srgbClr val="00B0F0"/>
                </a:solidFill>
                <a:latin typeface="Times New Roman" panose="02020603050405020304" pitchFamily="18" charset="0"/>
                <a:cs typeface="Times New Roman" panose="02020603050405020304" pitchFamily="18" charset="0"/>
              </a:rPr>
              <a:t>subordinate to take more responsibilities</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Push lowest level to make </a:t>
            </a:r>
            <a:r>
              <a:rPr lang="en-US" sz="3600" dirty="0">
                <a:solidFill>
                  <a:srgbClr val="00B0F0"/>
                </a:solidFill>
                <a:latin typeface="Times New Roman" panose="02020603050405020304" pitchFamily="18" charset="0"/>
                <a:cs typeface="Times New Roman" panose="02020603050405020304" pitchFamily="18" charset="0"/>
              </a:rPr>
              <a:t>decision making</a:t>
            </a:r>
          </a:p>
          <a:p>
            <a:pPr marL="342900" indent="-342900">
              <a:buFont typeface="+mj-lt"/>
              <a:buAutoNum type="arabicPeriod"/>
            </a:pPr>
            <a:r>
              <a:rPr lang="en-US" sz="3600" dirty="0">
                <a:solidFill>
                  <a:srgbClr val="00B0F0"/>
                </a:solidFill>
                <a:latin typeface="Times New Roman" panose="02020603050405020304" pitchFamily="18" charset="0"/>
                <a:cs typeface="Times New Roman" panose="02020603050405020304" pitchFamily="18" charset="0"/>
              </a:rPr>
              <a:t>Motivate</a:t>
            </a:r>
            <a:r>
              <a:rPr lang="en-US" sz="3600" dirty="0">
                <a:latin typeface="Times New Roman" panose="02020603050405020304" pitchFamily="18" charset="0"/>
                <a:cs typeface="Times New Roman" panose="02020603050405020304" pitchFamily="18" charset="0"/>
              </a:rPr>
              <a:t> the subordinate.</a:t>
            </a:r>
          </a:p>
        </p:txBody>
      </p:sp>
    </p:spTree>
    <p:extLst>
      <p:ext uri="{BB962C8B-B14F-4D97-AF65-F5344CB8AC3E}">
        <p14:creationId xmlns:p14="http://schemas.microsoft.com/office/powerpoint/2010/main" val="1826962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3970318"/>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Advantages of Delegation:</a:t>
            </a:r>
          </a:p>
          <a:p>
            <a:endParaRPr lang="en-US" sz="3600" b="1" u="sng"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Enhancement of organizational effectiveness</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Frees from less important work</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Tool of employee and development and motivation</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Decisions are likely to be more timely and realistic</a:t>
            </a: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1501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5632311"/>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Obstacles to Effective Delegation:</a:t>
            </a:r>
          </a:p>
          <a:p>
            <a:r>
              <a:rPr lang="en-US" sz="3600" u="sng" dirty="0">
                <a:latin typeface="Times New Roman" panose="02020603050405020304" pitchFamily="18" charset="0"/>
                <a:cs typeface="Times New Roman" panose="02020603050405020304" pitchFamily="18" charset="0"/>
              </a:rPr>
              <a:t>Superior related reasons </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Belief that he can make better decisions</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Fear of losing importance</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Fear of loss of control</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Fear of being exposed</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Tendency to be autocratic</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Unwillingness to take risks</a:t>
            </a: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65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5078313"/>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Obstacles to Effective Delegation:</a:t>
            </a:r>
          </a:p>
          <a:p>
            <a:r>
              <a:rPr lang="en-US" sz="3600" u="sng" dirty="0">
                <a:latin typeface="Times New Roman" panose="02020603050405020304" pitchFamily="18" charset="0"/>
                <a:cs typeface="Times New Roman" panose="02020603050405020304" pitchFamily="18" charset="0"/>
              </a:rPr>
              <a:t>Subordinate related reasons </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Lack of self confidence</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Fear of making mistake</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Dependent personality</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Unclear delegation</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Lack of motivation</a:t>
            </a: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39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5755422"/>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Principles of Effective Delegation:</a:t>
            </a:r>
          </a:p>
          <a:p>
            <a:endParaRPr lang="en-US" sz="3600" b="1" u="sng"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Authority should be commensurate with responsibility</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Interference should be minimum</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Tolerances of mistakes</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Adequate controls should be established</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Goals should be predetermined</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Policies, Rules and Procedures should be establish to guide decision</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Upward delegation should not be allowed</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Delegation should be rewarded.</a:t>
            </a: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468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876693"/>
            <a:ext cx="10360058" cy="4031873"/>
          </a:xfrm>
          <a:prstGeom prst="rect">
            <a:avLst/>
          </a:prstGeom>
          <a:noFill/>
        </p:spPr>
        <p:txBody>
          <a:bodyPr wrap="square" rtlCol="0">
            <a:spAutoFit/>
          </a:bodyPr>
          <a:lstStyle/>
          <a:p>
            <a:pPr algn="ctr"/>
            <a:r>
              <a:rPr lang="en-US" sz="3600" b="1" u="sng" dirty="0">
                <a:solidFill>
                  <a:srgbClr val="FF0000"/>
                </a:solidFill>
                <a:latin typeface="Times New Roman" panose="02020603050405020304" pitchFamily="18" charset="0"/>
                <a:cs typeface="Times New Roman" panose="02020603050405020304" pitchFamily="18" charset="0"/>
              </a:rPr>
              <a:t>Decentralization:</a:t>
            </a:r>
          </a:p>
          <a:p>
            <a:endParaRPr lang="en-US" sz="2800" b="1" u="sng" dirty="0">
              <a:latin typeface="Times New Roman" panose="02020603050405020304" pitchFamily="18" charset="0"/>
              <a:cs typeface="Times New Roman" panose="02020603050405020304" pitchFamily="18" charset="0"/>
            </a:endParaRPr>
          </a:p>
          <a:p>
            <a:r>
              <a:rPr lang="en-US" sz="2400" b="1" u="sng" dirty="0">
                <a:latin typeface="Times New Roman" panose="02020603050405020304" pitchFamily="18" charset="0"/>
                <a:cs typeface="Times New Roman" panose="02020603050405020304" pitchFamily="18" charset="0"/>
              </a:rPr>
              <a:t>Decentralization:</a:t>
            </a:r>
          </a:p>
          <a:p>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	Decentralization means wide distribution of authority throughout the organization so that managers at various levels have adequate authority to make their job related decisions.</a:t>
            </a:r>
          </a:p>
          <a:p>
            <a:endParaRPr lang="en-US" sz="36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688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5078313"/>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Principles of Decentralization:</a:t>
            </a:r>
          </a:p>
          <a:p>
            <a:endParaRPr lang="en-US" sz="3600" b="1" u="sng"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Role of Top management should be defined</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Centralized controls and measurements should be established</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Authority of division should be clarified</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Balance should be defined between decentralization and centralization</a:t>
            </a: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058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76693"/>
            <a:ext cx="10360058" cy="4524315"/>
          </a:xfrm>
          <a:prstGeom prst="rect">
            <a:avLst/>
          </a:prstGeom>
          <a:noFill/>
        </p:spPr>
        <p:txBody>
          <a:bodyPr wrap="square" rtlCol="0">
            <a:spAutoFit/>
          </a:bodyPr>
          <a:lstStyle/>
          <a:p>
            <a:r>
              <a:rPr lang="en-US" sz="3600" b="1" u="sng" dirty="0">
                <a:solidFill>
                  <a:srgbClr val="FF0000"/>
                </a:solidFill>
                <a:latin typeface="Times New Roman" panose="02020603050405020304" pitchFamily="18" charset="0"/>
                <a:cs typeface="Times New Roman" panose="02020603050405020304" pitchFamily="18" charset="0"/>
              </a:rPr>
              <a:t>Advantages of Decentralization:</a:t>
            </a:r>
          </a:p>
          <a:p>
            <a:endParaRPr lang="en-US" sz="3600" b="1" u="sng"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Frees top management from operational responsibility</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Manager Development</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Better and Speedier decision</a:t>
            </a:r>
          </a:p>
          <a:p>
            <a:pPr marL="342900" indent="-342900">
              <a:buFont typeface="+mj-lt"/>
              <a:buAutoNum type="arabicPeriod"/>
            </a:pPr>
            <a:r>
              <a:rPr lang="en-US" sz="3600" dirty="0">
                <a:latin typeface="Times New Roman" panose="02020603050405020304" pitchFamily="18" charset="0"/>
                <a:cs typeface="Times New Roman" panose="02020603050405020304" pitchFamily="18" charset="0"/>
              </a:rPr>
              <a:t>Permits management by objectives and self control</a:t>
            </a:r>
          </a:p>
          <a:p>
            <a:pPr marL="342900" indent="-342900">
              <a:buFont typeface="+mj-lt"/>
              <a:buAutoNum type="arabicPeriod"/>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459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5546" y="725865"/>
            <a:ext cx="10256363" cy="954107"/>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Group Dynamics:</a:t>
            </a:r>
          </a:p>
          <a:p>
            <a:endParaRPr lang="en-US" b="1" u="sng" dirty="0"/>
          </a:p>
          <a:p>
            <a:endParaRPr lang="en-US" dirty="0"/>
          </a:p>
        </p:txBody>
      </p:sp>
      <p:pic>
        <p:nvPicPr>
          <p:cNvPr id="3" name="Picture 2"/>
          <p:cNvPicPr>
            <a:picLocks noChangeAspect="1"/>
          </p:cNvPicPr>
          <p:nvPr/>
        </p:nvPicPr>
        <p:blipFill>
          <a:blip r:embed="rId2"/>
          <a:stretch>
            <a:fillRect/>
          </a:stretch>
        </p:blipFill>
        <p:spPr>
          <a:xfrm>
            <a:off x="2182894" y="1492676"/>
            <a:ext cx="7505700" cy="4400550"/>
          </a:xfrm>
          <a:prstGeom prst="rect">
            <a:avLst/>
          </a:prstGeom>
        </p:spPr>
      </p:pic>
    </p:spTree>
    <p:extLst>
      <p:ext uri="{BB962C8B-B14F-4D97-AF65-F5344CB8AC3E}">
        <p14:creationId xmlns:p14="http://schemas.microsoft.com/office/powerpoint/2010/main" val="38524716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160</TotalTime>
  <Words>332</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Franklin Gothic Book</vt:lpstr>
      <vt:lpstr>Perpetua</vt:lpstr>
      <vt:lpstr>Times New Roman</vt:lpstr>
      <vt:lpstr>Wingdings 2</vt:lpstr>
      <vt:lpstr>Equity</vt:lpstr>
      <vt:lpstr>Delegation and Decentralization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Management IEM - 4127</dc:title>
  <dc:creator>ASUS</dc:creator>
  <cp:lastModifiedBy>pc</cp:lastModifiedBy>
  <cp:revision>16</cp:revision>
  <dcterms:created xsi:type="dcterms:W3CDTF">2022-06-06T01:06:28Z</dcterms:created>
  <dcterms:modified xsi:type="dcterms:W3CDTF">2025-09-17T03:47:12Z</dcterms:modified>
</cp:coreProperties>
</file>