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7"/>
  </p:notesMasterIdLst>
  <p:sldIdLst>
    <p:sldId id="256" r:id="rId2"/>
    <p:sldId id="257" r:id="rId3"/>
    <p:sldId id="258" r:id="rId4"/>
    <p:sldId id="259" r:id="rId5"/>
    <p:sldId id="260" r:id="rId6"/>
    <p:sldId id="279" r:id="rId7"/>
    <p:sldId id="261" r:id="rId8"/>
    <p:sldId id="280" r:id="rId9"/>
    <p:sldId id="262" r:id="rId10"/>
    <p:sldId id="263" r:id="rId11"/>
    <p:sldId id="264" r:id="rId12"/>
    <p:sldId id="265" r:id="rId13"/>
    <p:sldId id="266" r:id="rId14"/>
    <p:sldId id="281"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3C27A-6475-476E-AD77-B72781CBBF97}" type="datetimeFigureOut">
              <a:rPr lang="en-US" smtClean="0"/>
              <a:t>3/11/2024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4B9E13-7095-4DF6-B54A-EE0E700DF76E}" type="slidenum">
              <a:rPr lang="en-US" smtClean="0"/>
              <a:t>‹#›</a:t>
            </a:fld>
            <a:endParaRPr lang="en-US"/>
          </a:p>
        </p:txBody>
      </p:sp>
    </p:spTree>
    <p:extLst>
      <p:ext uri="{BB962C8B-B14F-4D97-AF65-F5344CB8AC3E}">
        <p14:creationId xmlns:p14="http://schemas.microsoft.com/office/powerpoint/2010/main" val="40804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4B9E13-7095-4DF6-B54A-EE0E700DF76E}" type="slidenum">
              <a:rPr lang="en-US" smtClean="0"/>
              <a:t>4</a:t>
            </a:fld>
            <a:endParaRPr lang="en-US"/>
          </a:p>
        </p:txBody>
      </p:sp>
    </p:spTree>
    <p:extLst>
      <p:ext uri="{BB962C8B-B14F-4D97-AF65-F5344CB8AC3E}">
        <p14:creationId xmlns:p14="http://schemas.microsoft.com/office/powerpoint/2010/main" val="573152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2F894CD-DE45-47C4-9C95-07AA8EAF8069}" type="datetimeFigureOut">
              <a:rPr lang="en-US" smtClean="0"/>
              <a:t>3/11/2024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BC75D7EA-7D6E-496A-8F3C-21F5B79CFE1F}"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2F894CD-DE45-47C4-9C95-07AA8EAF8069}"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3"/>
            <a:ext cx="609600" cy="441325"/>
          </a:xfrm>
        </p:spPr>
        <p:txBody>
          <a:bodyPr/>
          <a:lstStyle/>
          <a:p>
            <a:fld id="{BC75D7EA-7D6E-496A-8F3C-21F5B79CFE1F}"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C2F894CD-DE45-47C4-9C95-07AA8EAF8069}" type="datetimeFigureOut">
              <a:rPr lang="en-US" smtClean="0"/>
              <a:t>3/11/2024</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BC75D7EA-7D6E-496A-8F3C-21F5B79CFE1F}"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C2F894CD-DE45-47C4-9C95-07AA8EAF8069}" type="datetimeFigureOut">
              <a:rPr lang="en-US" smtClean="0"/>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75D7EA-7D6E-496A-8F3C-21F5B79CFE1F}" type="slidenum">
              <a:rPr lang="en-US" smtClean="0"/>
              <a:t>‹#›</a:t>
            </a:fld>
            <a:endParaRPr lang="en-US"/>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2F894CD-DE45-47C4-9C95-07AA8EAF8069}" type="datetimeFigureOut">
              <a:rPr lang="en-US" smtClean="0"/>
              <a:t>3/11/2024</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BC75D7EA-7D6E-496A-8F3C-21F5B79CFE1F}"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2F894CD-DE45-47C4-9C95-07AA8EAF8069}" type="datetimeFigureOut">
              <a:rPr lang="en-US" smtClean="0"/>
              <a:t>3/11/2024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1"/>
            <a:ext cx="609600" cy="441325"/>
          </a:xfrm>
        </p:spPr>
        <p:txBody>
          <a:bodyPr/>
          <a:lstStyle/>
          <a:p>
            <a:fld id="{BC75D7EA-7D6E-496A-8F3C-21F5B79CFE1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C2F894CD-DE45-47C4-9C95-07AA8EAF8069}" type="datetimeFigureOut">
              <a:rPr lang="en-US" smtClean="0"/>
              <a:t>3/11/2024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BC75D7EA-7D6E-496A-8F3C-21F5B79CFE1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BC75D7EA-7D6E-496A-8F3C-21F5B79CFE1F}" type="slidenum">
              <a:rPr lang="en-US" smtClean="0"/>
              <a:t>‹#›</a:t>
            </a:fld>
            <a:endParaRPr lang="en-US"/>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C2F894CD-DE45-47C4-9C95-07AA8EAF8069}" type="datetimeFigureOut">
              <a:rPr lang="en-US" smtClean="0"/>
              <a:t>3/11/2024</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p>
            <a:fld id="{BC75D7EA-7D6E-496A-8F3C-21F5B79CFE1F}"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C2F894CD-DE45-47C4-9C95-07AA8EAF8069}" type="datetimeFigureOut">
              <a:rPr lang="en-US" smtClean="0"/>
              <a:t>3/11/2024</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2F894CD-DE45-47C4-9C95-07AA8EAF8069}"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75D7EA-7D6E-496A-8F3C-21F5B79CFE1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2"/>
            <a:ext cx="609600" cy="441325"/>
          </a:xfrm>
        </p:spPr>
        <p:txBody>
          <a:bodyPr/>
          <a:lstStyle/>
          <a:p>
            <a:fld id="{BC75D7EA-7D6E-496A-8F3C-21F5B79CFE1F}"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2F894CD-DE45-47C4-9C95-07AA8EAF8069}" type="datetimeFigureOut">
              <a:rPr lang="en-US" smtClean="0"/>
              <a:t>3/11/2024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2"/>
            <a:ext cx="19304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C2F894CD-DE45-47C4-9C95-07AA8EAF8069}" type="datetimeFigureOut">
              <a:rPr lang="en-US" smtClean="0"/>
              <a:t>3/11/2024</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C75D7EA-7D6E-496A-8F3C-21F5B79CFE1F}"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Industrial Management</a:t>
            </a:r>
            <a:br>
              <a:rPr lang="en-US" dirty="0" smtClean="0"/>
            </a:br>
            <a:r>
              <a:rPr lang="en-US" dirty="0" smtClean="0"/>
              <a:t>IEM - 4127</a:t>
            </a:r>
            <a:endParaRPr lang="en-US" dirty="0"/>
          </a:p>
        </p:txBody>
      </p:sp>
      <p:sp>
        <p:nvSpPr>
          <p:cNvPr id="4" name="Subtitle 3"/>
          <p:cNvSpPr>
            <a:spLocks noGrp="1"/>
          </p:cNvSpPr>
          <p:nvPr>
            <p:ph type="subTitle" idx="1"/>
          </p:nvPr>
        </p:nvSpPr>
        <p:spPr/>
        <p:txBody>
          <a:bodyPr/>
          <a:lstStyle/>
          <a:p>
            <a:r>
              <a:rPr lang="en-US" dirty="0" smtClean="0"/>
              <a:t>Management Thoughts</a:t>
            </a:r>
            <a:endParaRPr lang="en-US" dirty="0"/>
          </a:p>
        </p:txBody>
      </p:sp>
    </p:spTree>
    <p:extLst>
      <p:ext uri="{BB962C8B-B14F-4D97-AF65-F5344CB8AC3E}">
        <p14:creationId xmlns:p14="http://schemas.microsoft.com/office/powerpoint/2010/main" val="162423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67266" y="820132"/>
            <a:ext cx="10473179" cy="5878532"/>
          </a:xfrm>
          <a:prstGeom prst="rect">
            <a:avLst/>
          </a:prstGeom>
          <a:noFill/>
        </p:spPr>
        <p:txBody>
          <a:bodyPr wrap="square" rtlCol="0">
            <a:spAutoFit/>
          </a:bodyPr>
          <a:lstStyle/>
          <a:p>
            <a:pPr algn="ctr"/>
            <a:r>
              <a:rPr lang="en-US" sz="3600" b="1" u="sng" dirty="0" smtClean="0">
                <a:latin typeface="Times New Roman" panose="02020603050405020304" pitchFamily="18" charset="0"/>
                <a:cs typeface="Times New Roman" panose="02020603050405020304" pitchFamily="18" charset="0"/>
              </a:rPr>
              <a:t>Management</a:t>
            </a:r>
          </a:p>
          <a:p>
            <a:pPr algn="just">
              <a:spcBef>
                <a:spcPct val="50000"/>
              </a:spcBef>
            </a:pPr>
            <a:r>
              <a:rPr lang="en-US" altLang="en-US" sz="3400" dirty="0" smtClean="0">
                <a:latin typeface="Times New Roman" panose="02020603050405020304" pitchFamily="18" charset="0"/>
                <a:cs typeface="Times New Roman" panose="02020603050405020304" pitchFamily="18" charset="0"/>
              </a:rPr>
              <a:t>“Management is  the process of designing and maintaining the environment in which individual work together in group, and efficiently and effectively accomplish the selected aim” 	</a:t>
            </a:r>
          </a:p>
          <a:p>
            <a:pPr algn="just">
              <a:spcBef>
                <a:spcPct val="50000"/>
              </a:spcBef>
            </a:pPr>
            <a:r>
              <a:rPr lang="en-US" altLang="en-US" sz="3400" dirty="0" smtClean="0">
                <a:latin typeface="Times New Roman" panose="02020603050405020304" pitchFamily="18" charset="0"/>
                <a:cs typeface="Times New Roman" panose="02020603050405020304" pitchFamily="18" charset="0"/>
              </a:rPr>
              <a:t>		-</a:t>
            </a:r>
            <a:r>
              <a:rPr lang="en-US" altLang="en-US" sz="3400" b="1" dirty="0" smtClean="0">
                <a:latin typeface="Times New Roman" panose="02020603050405020304" pitchFamily="18" charset="0"/>
                <a:cs typeface="Times New Roman" panose="02020603050405020304" pitchFamily="18" charset="0"/>
              </a:rPr>
              <a:t>Basic definition</a:t>
            </a:r>
          </a:p>
          <a:p>
            <a:pPr algn="just">
              <a:spcBef>
                <a:spcPct val="50000"/>
              </a:spcBef>
            </a:pPr>
            <a:r>
              <a:rPr lang="en-US" altLang="en-US" sz="3400" dirty="0" smtClean="0">
                <a:latin typeface="Times New Roman" panose="02020603050405020304" pitchFamily="18" charset="0"/>
                <a:cs typeface="Times New Roman" panose="02020603050405020304" pitchFamily="18" charset="0"/>
              </a:rPr>
              <a:t>“</a:t>
            </a:r>
            <a:r>
              <a:rPr lang="en-US" altLang="en-US" sz="3400" dirty="0" smtClean="0">
                <a:solidFill>
                  <a:schemeClr val="accent2"/>
                </a:solidFill>
                <a:latin typeface="Times New Roman" panose="02020603050405020304" pitchFamily="18" charset="0"/>
                <a:cs typeface="Times New Roman" panose="02020603050405020304" pitchFamily="18" charset="0"/>
              </a:rPr>
              <a:t>Art of getting things done through people</a:t>
            </a:r>
            <a:r>
              <a:rPr lang="en-US" altLang="en-US" sz="3400" dirty="0" smtClean="0">
                <a:latin typeface="Times New Roman" panose="02020603050405020304" pitchFamily="18" charset="0"/>
                <a:cs typeface="Times New Roman" panose="02020603050405020304" pitchFamily="18" charset="0"/>
              </a:rPr>
              <a:t>” 		</a:t>
            </a:r>
          </a:p>
          <a:p>
            <a:pPr algn="just">
              <a:spcBef>
                <a:spcPct val="50000"/>
              </a:spcBef>
            </a:pPr>
            <a:r>
              <a:rPr lang="en-US" altLang="en-US" sz="3400" dirty="0">
                <a:latin typeface="Times New Roman" panose="02020603050405020304" pitchFamily="18" charset="0"/>
                <a:cs typeface="Times New Roman" panose="02020603050405020304" pitchFamily="18" charset="0"/>
              </a:rPr>
              <a:t>	</a:t>
            </a:r>
            <a:r>
              <a:rPr lang="en-US" altLang="en-US" sz="3400" dirty="0" smtClean="0">
                <a:latin typeface="Times New Roman" panose="02020603050405020304" pitchFamily="18" charset="0"/>
                <a:cs typeface="Times New Roman" panose="02020603050405020304" pitchFamily="18" charset="0"/>
              </a:rPr>
              <a:t>	- </a:t>
            </a:r>
            <a:r>
              <a:rPr lang="en-US" altLang="en-US" sz="3400" b="1" dirty="0" smtClean="0">
                <a:latin typeface="Times New Roman" panose="02020603050405020304" pitchFamily="18" charset="0"/>
                <a:cs typeface="Times New Roman" panose="02020603050405020304" pitchFamily="18" charset="0"/>
              </a:rPr>
              <a:t>Mary Parker Follett</a:t>
            </a:r>
            <a:r>
              <a:rPr lang="en-US" altLang="en-US" sz="3400" dirty="0" smtClean="0">
                <a:latin typeface="Times New Roman" panose="02020603050405020304" pitchFamily="18" charset="0"/>
                <a:cs typeface="Times New Roman" panose="02020603050405020304" pitchFamily="18" charset="0"/>
              </a:rPr>
              <a:t>.</a:t>
            </a:r>
          </a:p>
          <a:p>
            <a:pPr algn="just"/>
            <a:endParaRPr lang="en-US"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034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986" y="820132"/>
            <a:ext cx="10407191" cy="5447645"/>
          </a:xfrm>
          <a:prstGeom prst="rect">
            <a:avLst/>
          </a:prstGeom>
          <a:noFill/>
        </p:spPr>
        <p:txBody>
          <a:bodyPr wrap="square" rtlCol="0">
            <a:spAutoFit/>
          </a:bodyPr>
          <a:lstStyle/>
          <a:p>
            <a:pPr algn="ctr"/>
            <a:r>
              <a:rPr lang="en-US" sz="3200" b="1" u="sng" dirty="0" smtClean="0">
                <a:latin typeface="Times New Roman" panose="02020603050405020304" pitchFamily="18" charset="0"/>
                <a:cs typeface="Times New Roman" panose="02020603050405020304" pitchFamily="18" charset="0"/>
              </a:rPr>
              <a:t>Management Thoughts</a:t>
            </a:r>
          </a:p>
          <a:p>
            <a:pPr algn="ctr"/>
            <a:r>
              <a:rPr lang="en-US" b="1" u="sng" dirty="0" smtClean="0">
                <a:latin typeface="Times New Roman" panose="02020603050405020304" pitchFamily="18" charset="0"/>
                <a:cs typeface="Times New Roman" panose="02020603050405020304" pitchFamily="18" charset="0"/>
              </a:rPr>
              <a:t>(Ref: Organization and Management by R.D Agarwal; CHAPTER-2)</a:t>
            </a:r>
          </a:p>
          <a:p>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Management thought is classified in SIX “Schools of Management Theory”</a:t>
            </a:r>
          </a:p>
          <a:p>
            <a:endParaRPr lang="en-US" sz="2400" dirty="0">
              <a:latin typeface="Times New Roman" panose="02020603050405020304" pitchFamily="18" charset="0"/>
              <a:cs typeface="Times New Roman" panose="02020603050405020304" pitchFamily="18" charset="0"/>
            </a:endParaRPr>
          </a:p>
          <a:p>
            <a:pPr marL="342900" indent="-342900">
              <a:buAutoNum type="arabicPeriod"/>
            </a:pPr>
            <a:r>
              <a:rPr lang="en-US" sz="2400" dirty="0" smtClean="0">
                <a:latin typeface="Times New Roman" panose="02020603050405020304" pitchFamily="18" charset="0"/>
                <a:cs typeface="Times New Roman" panose="02020603050405020304" pitchFamily="18" charset="0"/>
              </a:rPr>
              <a:t>The Classical School</a:t>
            </a:r>
          </a:p>
          <a:p>
            <a:pPr marL="1314450" lvl="2" indent="-400050">
              <a:buFont typeface="+mj-lt"/>
              <a:buAutoNum type="romanUcPeriod"/>
            </a:pPr>
            <a:r>
              <a:rPr lang="en-US" sz="2400" dirty="0" smtClean="0">
                <a:latin typeface="Times New Roman" panose="02020603050405020304" pitchFamily="18" charset="0"/>
                <a:cs typeface="Times New Roman" panose="02020603050405020304" pitchFamily="18" charset="0"/>
              </a:rPr>
              <a:t>The Scientific Management School</a:t>
            </a:r>
          </a:p>
          <a:p>
            <a:pPr marL="1314450" lvl="2" indent="-400050">
              <a:buFont typeface="+mj-lt"/>
              <a:buAutoNum type="romanUcPeriod"/>
            </a:pPr>
            <a:r>
              <a:rPr lang="en-US" sz="2400" dirty="0" smtClean="0">
                <a:latin typeface="Times New Roman" panose="02020603050405020304" pitchFamily="18" charset="0"/>
                <a:cs typeface="Times New Roman" panose="02020603050405020304" pitchFamily="18" charset="0"/>
              </a:rPr>
              <a:t>The Management Process School</a:t>
            </a:r>
          </a:p>
          <a:p>
            <a:pPr marL="1314450" lvl="2" indent="-400050">
              <a:buFont typeface="+mj-lt"/>
              <a:buAutoNum type="romanUcPeriod"/>
            </a:pPr>
            <a:r>
              <a:rPr lang="en-US" sz="2400" dirty="0" smtClean="0">
                <a:latin typeface="Times New Roman" panose="02020603050405020304" pitchFamily="18" charset="0"/>
                <a:cs typeface="Times New Roman" panose="02020603050405020304" pitchFamily="18" charset="0"/>
              </a:rPr>
              <a:t>The Bureaucracy Theory School</a:t>
            </a:r>
          </a:p>
          <a:p>
            <a:pPr marL="342900" lvl="2" indent="-342900" algn="just">
              <a:buAutoNum type="arabicPeriod" startAt="2"/>
            </a:pPr>
            <a:r>
              <a:rPr lang="en-US" sz="2400" dirty="0" smtClean="0">
                <a:latin typeface="Times New Roman" panose="02020603050405020304" pitchFamily="18" charset="0"/>
                <a:cs typeface="Times New Roman" panose="02020603050405020304" pitchFamily="18" charset="0"/>
              </a:rPr>
              <a:t>The Human Relations School</a:t>
            </a:r>
          </a:p>
          <a:p>
            <a:pPr marL="342900" lvl="2" indent="-342900" algn="just">
              <a:buAutoNum type="arabicPeriod" startAt="2"/>
            </a:pPr>
            <a:r>
              <a:rPr lang="en-US" sz="2400" dirty="0" smtClean="0">
                <a:latin typeface="Times New Roman" panose="02020603050405020304" pitchFamily="18" charset="0"/>
                <a:cs typeface="Times New Roman" panose="02020603050405020304" pitchFamily="18" charset="0"/>
              </a:rPr>
              <a:t>The Decision Theory School</a:t>
            </a:r>
          </a:p>
          <a:p>
            <a:pPr marL="342900" lvl="2" indent="-342900" algn="just">
              <a:buAutoNum type="arabicPeriod" startAt="2"/>
            </a:pPr>
            <a:r>
              <a:rPr lang="en-US" sz="2400" dirty="0" smtClean="0">
                <a:latin typeface="Times New Roman" panose="02020603050405020304" pitchFamily="18" charset="0"/>
                <a:cs typeface="Times New Roman" panose="02020603050405020304" pitchFamily="18" charset="0"/>
              </a:rPr>
              <a:t>The Management Science School</a:t>
            </a:r>
          </a:p>
          <a:p>
            <a:pPr marL="342900" lvl="2" indent="-342900" algn="just">
              <a:buAutoNum type="arabicPeriod" startAt="2"/>
            </a:pPr>
            <a:r>
              <a:rPr lang="en-US" sz="2400" dirty="0" smtClean="0">
                <a:latin typeface="Times New Roman" panose="02020603050405020304" pitchFamily="18" charset="0"/>
                <a:cs typeface="Times New Roman" panose="02020603050405020304" pitchFamily="18" charset="0"/>
              </a:rPr>
              <a:t>The Systems Theory School</a:t>
            </a:r>
          </a:p>
          <a:p>
            <a:pPr marL="342900" lvl="2" indent="-342900" algn="just">
              <a:buAutoNum type="arabicPeriod" startAt="2"/>
            </a:pPr>
            <a:r>
              <a:rPr lang="en-US" sz="2400" dirty="0" smtClean="0">
                <a:latin typeface="Times New Roman" panose="02020603050405020304" pitchFamily="18" charset="0"/>
                <a:cs typeface="Times New Roman" panose="02020603050405020304" pitchFamily="18" charset="0"/>
              </a:rPr>
              <a:t>The Contingency Theory School</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765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5546" y="904973"/>
            <a:ext cx="10397765" cy="5293757"/>
          </a:xfrm>
          <a:prstGeom prst="rect">
            <a:avLst/>
          </a:prstGeom>
          <a:noFill/>
        </p:spPr>
        <p:txBody>
          <a:bodyPr wrap="square" rtlCol="0">
            <a:spAutoFit/>
          </a:bodyPr>
          <a:lstStyle/>
          <a:p>
            <a:pPr marL="342900" indent="-342900" algn="just">
              <a:buAutoNum type="arabicPeriod"/>
            </a:pPr>
            <a:r>
              <a:rPr lang="en-US" sz="2600" b="1" u="sng" dirty="0" smtClean="0">
                <a:latin typeface="Times New Roman" panose="02020603050405020304" pitchFamily="18" charset="0"/>
                <a:cs typeface="Times New Roman" panose="02020603050405020304" pitchFamily="18" charset="0"/>
              </a:rPr>
              <a:t>The Classical School</a:t>
            </a:r>
          </a:p>
          <a:p>
            <a:pPr algn="just"/>
            <a:endParaRPr lang="en-US" sz="2600" b="1" u="sng" dirty="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The Classical School includes three theories. The theories are:</a:t>
            </a:r>
          </a:p>
          <a:p>
            <a:pPr algn="just"/>
            <a:endParaRPr lang="en-US" sz="2600" dirty="0">
              <a:latin typeface="Times New Roman" panose="02020603050405020304" pitchFamily="18" charset="0"/>
              <a:cs typeface="Times New Roman" panose="02020603050405020304" pitchFamily="18" charset="0"/>
            </a:endParaRPr>
          </a:p>
          <a:p>
            <a:pPr marL="857250" lvl="1" indent="-400050" algn="just">
              <a:buFont typeface="+mj-lt"/>
              <a:buAutoNum type="romanUcPeriod"/>
            </a:pPr>
            <a:r>
              <a:rPr lang="en-US" sz="2600" b="1" u="sng" dirty="0" smtClean="0">
                <a:latin typeface="Times New Roman" panose="02020603050405020304" pitchFamily="18" charset="0"/>
                <a:cs typeface="Times New Roman" panose="02020603050405020304" pitchFamily="18" charset="0"/>
              </a:rPr>
              <a:t>The Scientific Management Theory: </a:t>
            </a:r>
            <a:r>
              <a:rPr lang="en-US" sz="2600" dirty="0" smtClean="0">
                <a:latin typeface="Times New Roman" panose="02020603050405020304" pitchFamily="18" charset="0"/>
                <a:cs typeface="Times New Roman" panose="02020603050405020304" pitchFamily="18" charset="0"/>
              </a:rPr>
              <a:t>Frederick W. Taylor aimed at making management as science based on “Well recognized, clearly defined and fixed principles instead of depending more or less on hazy ideas”</a:t>
            </a:r>
          </a:p>
          <a:p>
            <a:pPr marL="857250" lvl="1" indent="-400050" algn="just">
              <a:buFont typeface="+mj-lt"/>
              <a:buAutoNum type="romanUcPeriod"/>
            </a:pPr>
            <a:r>
              <a:rPr lang="en-US" sz="2600" b="1" u="sng" dirty="0" smtClean="0">
                <a:latin typeface="Times New Roman" panose="02020603050405020304" pitchFamily="18" charset="0"/>
                <a:cs typeface="Times New Roman" panose="02020603050405020304" pitchFamily="18" charset="0"/>
              </a:rPr>
              <a:t>The Management Process Theory: </a:t>
            </a:r>
            <a:r>
              <a:rPr lang="en-US" sz="2600" dirty="0" smtClean="0">
                <a:latin typeface="Times New Roman" panose="02020603050405020304" pitchFamily="18" charset="0"/>
                <a:cs typeface="Times New Roman" panose="02020603050405020304" pitchFamily="18" charset="0"/>
              </a:rPr>
              <a:t>Henri </a:t>
            </a:r>
            <a:r>
              <a:rPr lang="en-US" sz="2600" dirty="0" err="1" smtClean="0">
                <a:latin typeface="Times New Roman" panose="02020603050405020304" pitchFamily="18" charset="0"/>
                <a:cs typeface="Times New Roman" panose="02020603050405020304" pitchFamily="18" charset="0"/>
              </a:rPr>
              <a:t>Fayol</a:t>
            </a:r>
            <a:r>
              <a:rPr lang="en-US" sz="2600" dirty="0" smtClean="0">
                <a:latin typeface="Times New Roman" panose="02020603050405020304" pitchFamily="18" charset="0"/>
                <a:cs typeface="Times New Roman" panose="02020603050405020304" pitchFamily="18" charset="0"/>
              </a:rPr>
              <a:t> focused on a systematic understanding of the overall management process.</a:t>
            </a:r>
          </a:p>
          <a:p>
            <a:pPr marL="857250" lvl="1" indent="-400050" algn="just">
              <a:buFont typeface="+mj-lt"/>
              <a:buAutoNum type="romanUcPeriod"/>
            </a:pPr>
            <a:r>
              <a:rPr lang="en-US" sz="2600" b="1" u="sng" dirty="0" smtClean="0">
                <a:latin typeface="Times New Roman" panose="02020603050405020304" pitchFamily="18" charset="0"/>
                <a:cs typeface="Times New Roman" panose="02020603050405020304" pitchFamily="18" charset="0"/>
              </a:rPr>
              <a:t>The Bureaucratic Theory: </a:t>
            </a:r>
            <a:r>
              <a:rPr lang="en-US" sz="2600" dirty="0" smtClean="0">
                <a:latin typeface="Times New Roman" panose="02020603050405020304" pitchFamily="18" charset="0"/>
                <a:cs typeface="Times New Roman" panose="02020603050405020304" pitchFamily="18" charset="0"/>
              </a:rPr>
              <a:t>Max Weber has provided the point Bureaucratic of for the study of organization structure and function for over half a century</a:t>
            </a:r>
            <a:endParaRPr lang="en-US" sz="2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603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57839"/>
            <a:ext cx="10369485" cy="5170646"/>
          </a:xfrm>
          <a:prstGeom prst="rect">
            <a:avLst/>
          </a:prstGeom>
          <a:noFill/>
        </p:spPr>
        <p:txBody>
          <a:bodyPr wrap="square" rtlCol="0">
            <a:spAutoFit/>
          </a:bodyPr>
          <a:lstStyle/>
          <a:p>
            <a:pPr marL="400050" indent="-400050">
              <a:buFont typeface="+mj-lt"/>
              <a:buAutoNum type="romanUcPeriod"/>
            </a:pPr>
            <a:r>
              <a:rPr lang="en-US" sz="2200" b="1" u="sng" dirty="0" smtClean="0">
                <a:latin typeface="Times New Roman" panose="02020603050405020304" pitchFamily="18" charset="0"/>
                <a:cs typeface="Times New Roman" panose="02020603050405020304" pitchFamily="18" charset="0"/>
              </a:rPr>
              <a:t>The Scientific Management School:</a:t>
            </a:r>
          </a:p>
          <a:p>
            <a:endParaRPr lang="en-US" sz="2200" b="1" u="sng" dirty="0">
              <a:latin typeface="Times New Roman" panose="02020603050405020304" pitchFamily="18" charset="0"/>
              <a:cs typeface="Times New Roman" panose="02020603050405020304" pitchFamily="18" charset="0"/>
            </a:endParaRPr>
          </a:p>
          <a:p>
            <a:r>
              <a:rPr lang="en-US" sz="2200" dirty="0" smtClean="0">
                <a:latin typeface="Times New Roman" panose="02020603050405020304" pitchFamily="18" charset="0"/>
                <a:cs typeface="Times New Roman" panose="02020603050405020304" pitchFamily="18" charset="0"/>
              </a:rPr>
              <a:t>The use of measurement, experimentation, observation, analysis, rationality and reasoning used as the chief instrument for developing managerial systems.</a:t>
            </a:r>
          </a:p>
          <a:p>
            <a:r>
              <a:rPr lang="en-US" sz="2200" dirty="0" smtClean="0">
                <a:latin typeface="Times New Roman" panose="02020603050405020304" pitchFamily="18" charset="0"/>
                <a:cs typeface="Times New Roman" panose="02020603050405020304" pitchFamily="18" charset="0"/>
              </a:rPr>
              <a:t>The basic components of scientific management as proposed by the Taylor are:</a:t>
            </a:r>
          </a:p>
          <a:p>
            <a:endParaRPr lang="en-US" sz="2200" dirty="0">
              <a:latin typeface="Times New Roman" panose="02020603050405020304" pitchFamily="18" charset="0"/>
              <a:cs typeface="Times New Roman" panose="02020603050405020304" pitchFamily="18" charset="0"/>
            </a:endParaRPr>
          </a:p>
          <a:p>
            <a:pPr marL="342900" indent="-342900">
              <a:buAutoNum type="alphaLcParenR"/>
            </a:pPr>
            <a:r>
              <a:rPr lang="en-US" sz="2200" b="1" dirty="0" smtClean="0">
                <a:latin typeface="Times New Roman" panose="02020603050405020304" pitchFamily="18" charset="0"/>
                <a:cs typeface="Times New Roman" panose="02020603050405020304" pitchFamily="18" charset="0"/>
              </a:rPr>
              <a:t>Determination of Standard of Performance: </a:t>
            </a:r>
            <a:r>
              <a:rPr lang="en-US" sz="2200" dirty="0" smtClean="0">
                <a:latin typeface="Times New Roman" panose="02020603050405020304" pitchFamily="18" charset="0"/>
                <a:cs typeface="Times New Roman" panose="02020603050405020304" pitchFamily="18" charset="0"/>
              </a:rPr>
              <a:t>Previously, worker or foreman have no idea about how much works need to be done in an hour or a day. An average number of work was used as a rule of thumb without and specific scientific calculation. But later on. Time and Motion study are introduced and analyzing the time and motion of each work done by the worker, the manager or supervisor now determine a standard of performance. </a:t>
            </a:r>
          </a:p>
          <a:p>
            <a:pPr marL="342900" indent="-342900">
              <a:buAutoNum type="alphaLcParenR"/>
            </a:pPr>
            <a:r>
              <a:rPr lang="en-US" sz="2200" b="1" dirty="0" smtClean="0">
                <a:latin typeface="Times New Roman" panose="02020603050405020304" pitchFamily="18" charset="0"/>
                <a:cs typeface="Times New Roman" panose="02020603050405020304" pitchFamily="18" charset="0"/>
              </a:rPr>
              <a:t>Functional Foremanship: </a:t>
            </a:r>
            <a:r>
              <a:rPr lang="en-US" sz="2200" dirty="0" smtClean="0">
                <a:latin typeface="Times New Roman" panose="02020603050405020304" pitchFamily="18" charset="0"/>
                <a:cs typeface="Times New Roman" panose="02020603050405020304" pitchFamily="18" charset="0"/>
              </a:rPr>
              <a:t> Specialize worker will train the novice or intern worker. By doing this, intern worker will know the exact technique of the work and he can perform the work efficiently and productively without any hassle. </a:t>
            </a:r>
          </a:p>
        </p:txBody>
      </p:sp>
    </p:spTree>
    <p:extLst>
      <p:ext uri="{BB962C8B-B14F-4D97-AF65-F5344CB8AC3E}">
        <p14:creationId xmlns:p14="http://schemas.microsoft.com/office/powerpoint/2010/main" val="267903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2107" y="857839"/>
            <a:ext cx="10369485" cy="5170646"/>
          </a:xfrm>
          <a:prstGeom prst="rect">
            <a:avLst/>
          </a:prstGeom>
          <a:noFill/>
        </p:spPr>
        <p:txBody>
          <a:bodyPr wrap="square" rtlCol="0">
            <a:spAutoFit/>
          </a:bodyPr>
          <a:lstStyle/>
          <a:p>
            <a:pPr marL="457200" indent="-457200" algn="just">
              <a:buAutoNum type="alphaLcParenR" startAt="3"/>
            </a:pPr>
            <a:r>
              <a:rPr lang="en-US" sz="2200" b="1" dirty="0" smtClean="0">
                <a:latin typeface="Times New Roman" panose="02020603050405020304" pitchFamily="18" charset="0"/>
                <a:cs typeface="Times New Roman" panose="02020603050405020304" pitchFamily="18" charset="0"/>
              </a:rPr>
              <a:t>Responsibilities of Management: </a:t>
            </a:r>
            <a:r>
              <a:rPr lang="en-US" sz="2200" dirty="0" smtClean="0">
                <a:latin typeface="Times New Roman" panose="02020603050405020304" pitchFamily="18" charset="0"/>
                <a:cs typeface="Times New Roman" panose="02020603050405020304" pitchFamily="18" charset="0"/>
              </a:rPr>
              <a:t>Managers should accept responsibility for planning, directing and organizing. Managers should perform these functions scientifically. Such as, Management should analyze all the operations and develop scientific methods of operations. Workers should be scientifically selected and trained.</a:t>
            </a:r>
          </a:p>
          <a:p>
            <a:pPr marL="457200" indent="-457200" algn="just">
              <a:buAutoNum type="alphaLcParenR" startAt="3"/>
            </a:pPr>
            <a:endParaRPr lang="en-US" sz="2200" b="1" dirty="0" smtClean="0">
              <a:latin typeface="Times New Roman" panose="02020603050405020304" pitchFamily="18" charset="0"/>
              <a:cs typeface="Times New Roman" panose="02020603050405020304" pitchFamily="18" charset="0"/>
            </a:endParaRPr>
          </a:p>
          <a:p>
            <a:pPr marL="457200" indent="-457200" algn="just">
              <a:buAutoNum type="alphaLcParenR" startAt="3"/>
            </a:pPr>
            <a:r>
              <a:rPr lang="en-US" sz="2200" b="1" dirty="0" smtClean="0">
                <a:latin typeface="Times New Roman" panose="02020603050405020304" pitchFamily="18" charset="0"/>
                <a:cs typeface="Times New Roman" panose="02020603050405020304" pitchFamily="18" charset="0"/>
              </a:rPr>
              <a:t>Differential Piecework System of Wage Payment: </a:t>
            </a:r>
            <a:r>
              <a:rPr lang="en-US" sz="2200" dirty="0" smtClean="0">
                <a:latin typeface="Times New Roman" panose="02020603050405020304" pitchFamily="18" charset="0"/>
                <a:cs typeface="Times New Roman" panose="02020603050405020304" pitchFamily="18" charset="0"/>
              </a:rPr>
              <a:t>The worker should receive a basic piece rate if the number of produced piece by the worker is below the pre determined production pieces. If the worker produced more than the standard production rate, then he/she need to be paid in a differential wage payment system so that he/she can remain motivated towards more production.</a:t>
            </a:r>
          </a:p>
          <a:p>
            <a:pPr marL="457200" indent="-457200" algn="just">
              <a:buAutoNum type="alphaLcParenR" startAt="3"/>
            </a:pPr>
            <a:endParaRPr lang="en-US" sz="2200" dirty="0" smtClean="0">
              <a:latin typeface="Times New Roman" panose="02020603050405020304" pitchFamily="18" charset="0"/>
              <a:cs typeface="Times New Roman" panose="02020603050405020304" pitchFamily="18" charset="0"/>
            </a:endParaRPr>
          </a:p>
          <a:p>
            <a:pPr marL="457200" indent="-457200" algn="just">
              <a:buAutoNum type="alphaLcParenR" startAt="3"/>
            </a:pPr>
            <a:r>
              <a:rPr lang="en-US" sz="2200" b="1" dirty="0" smtClean="0">
                <a:latin typeface="Times New Roman" panose="02020603050405020304" pitchFamily="18" charset="0"/>
                <a:cs typeface="Times New Roman" panose="02020603050405020304" pitchFamily="18" charset="0"/>
              </a:rPr>
              <a:t>Mental Revolution: </a:t>
            </a:r>
            <a:r>
              <a:rPr lang="en-US" sz="2200" dirty="0" smtClean="0">
                <a:latin typeface="Times New Roman" panose="02020603050405020304" pitchFamily="18" charset="0"/>
                <a:cs typeface="Times New Roman" panose="02020603050405020304" pitchFamily="18" charset="0"/>
              </a:rPr>
              <a:t>A co-operative work culture need to introduce to both the worker and the manager. It will involve a complete mental revolution in the attitudes of manager towards their fellowmen, workers. Without this complete mental revolution on both side this scientific management doesn’t exist.</a:t>
            </a:r>
          </a:p>
        </p:txBody>
      </p:sp>
    </p:spTree>
    <p:extLst>
      <p:ext uri="{BB962C8B-B14F-4D97-AF65-F5344CB8AC3E}">
        <p14:creationId xmlns:p14="http://schemas.microsoft.com/office/powerpoint/2010/main" val="279385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6120" y="895546"/>
            <a:ext cx="10444899" cy="5586145"/>
          </a:xfrm>
          <a:prstGeom prst="rect">
            <a:avLst/>
          </a:prstGeom>
          <a:noFill/>
        </p:spPr>
        <p:txBody>
          <a:bodyPr wrap="square" rtlCol="0">
            <a:spAutoFit/>
          </a:bodyPr>
          <a:lstStyle/>
          <a:p>
            <a:r>
              <a:rPr lang="en-US" sz="2100" b="1" u="sng" dirty="0" smtClean="0">
                <a:latin typeface="Times New Roman" panose="02020603050405020304" pitchFamily="18" charset="0"/>
                <a:cs typeface="Times New Roman" panose="02020603050405020304" pitchFamily="18" charset="0"/>
              </a:rPr>
              <a:t>2. The Management Process School:</a:t>
            </a:r>
          </a:p>
          <a:p>
            <a:endParaRPr lang="en-US" sz="2100" b="1" u="sng" dirty="0">
              <a:latin typeface="Times New Roman" panose="02020603050405020304" pitchFamily="18" charset="0"/>
              <a:cs typeface="Times New Roman" panose="02020603050405020304" pitchFamily="18" charset="0"/>
            </a:endParaRPr>
          </a:p>
          <a:p>
            <a:r>
              <a:rPr lang="en-US" sz="2100" dirty="0" smtClean="0">
                <a:latin typeface="Times New Roman" panose="02020603050405020304" pitchFamily="18" charset="0"/>
                <a:cs typeface="Times New Roman" panose="02020603050405020304" pitchFamily="18" charset="0"/>
              </a:rPr>
              <a:t>The management process school regards management as the process of getting things done through people as individual and as members of work groups. It holds that management is a process which can best be understood by analyzing its functions. </a:t>
            </a:r>
          </a:p>
          <a:p>
            <a:endParaRPr lang="en-US" sz="2100" dirty="0">
              <a:latin typeface="Times New Roman" panose="02020603050405020304" pitchFamily="18" charset="0"/>
              <a:cs typeface="Times New Roman" panose="02020603050405020304" pitchFamily="18" charset="0"/>
            </a:endParaRPr>
          </a:p>
          <a:p>
            <a:r>
              <a:rPr lang="en-US" sz="2100" dirty="0" err="1" smtClean="0">
                <a:latin typeface="Times New Roman" panose="02020603050405020304" pitchFamily="18" charset="0"/>
                <a:cs typeface="Times New Roman" panose="02020603050405020304" pitchFamily="18" charset="0"/>
              </a:rPr>
              <a:t>Fayol</a:t>
            </a:r>
            <a:r>
              <a:rPr lang="en-US" sz="2100" dirty="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identified 05 functions of Management:</a:t>
            </a:r>
          </a:p>
          <a:p>
            <a:endParaRPr lang="en-US" sz="2100" dirty="0">
              <a:latin typeface="Times New Roman" panose="02020603050405020304" pitchFamily="18" charset="0"/>
              <a:cs typeface="Times New Roman" panose="02020603050405020304" pitchFamily="18" charset="0"/>
            </a:endParaRPr>
          </a:p>
          <a:p>
            <a:pPr marL="342900" indent="-342900">
              <a:buAutoNum type="alphaLcParenR"/>
            </a:pPr>
            <a:r>
              <a:rPr lang="en-US" sz="2100" b="1" dirty="0" smtClean="0">
                <a:latin typeface="Times New Roman" panose="02020603050405020304" pitchFamily="18" charset="0"/>
                <a:cs typeface="Times New Roman" panose="02020603050405020304" pitchFamily="18" charset="0"/>
              </a:rPr>
              <a:t>Planning: </a:t>
            </a:r>
            <a:r>
              <a:rPr lang="en-US" sz="2100" dirty="0" smtClean="0">
                <a:latin typeface="Times New Roman" panose="02020603050405020304" pitchFamily="18" charset="0"/>
                <a:cs typeface="Times New Roman" panose="02020603050405020304" pitchFamily="18" charset="0"/>
              </a:rPr>
              <a:t>Planning is the most crucial portion of the management as failure to plan causes weakness or disaster to business.</a:t>
            </a:r>
          </a:p>
          <a:p>
            <a:pPr marL="342900" indent="-342900">
              <a:buAutoNum type="alphaLcParenR"/>
            </a:pPr>
            <a:r>
              <a:rPr lang="en-US" sz="2100" b="1" dirty="0" smtClean="0">
                <a:latin typeface="Times New Roman" panose="02020603050405020304" pitchFamily="18" charset="0"/>
                <a:cs typeface="Times New Roman" panose="02020603050405020304" pitchFamily="18" charset="0"/>
              </a:rPr>
              <a:t>Organizing:</a:t>
            </a:r>
            <a:r>
              <a:rPr lang="en-US" sz="2100" dirty="0" smtClean="0">
                <a:latin typeface="Times New Roman" panose="02020603050405020304" pitchFamily="18" charset="0"/>
                <a:cs typeface="Times New Roman" panose="02020603050405020304" pitchFamily="18" charset="0"/>
              </a:rPr>
              <a:t> It is regarded as the problem of organizing man and material.</a:t>
            </a:r>
          </a:p>
          <a:p>
            <a:pPr marL="342900" indent="-342900">
              <a:buAutoNum type="alphaLcParenR"/>
            </a:pPr>
            <a:r>
              <a:rPr lang="en-US" sz="2100" b="1" dirty="0" smtClean="0">
                <a:latin typeface="Times New Roman" panose="02020603050405020304" pitchFamily="18" charset="0"/>
                <a:cs typeface="Times New Roman" panose="02020603050405020304" pitchFamily="18" charset="0"/>
              </a:rPr>
              <a:t>Command: </a:t>
            </a:r>
            <a:r>
              <a:rPr lang="en-US" sz="2100" dirty="0" smtClean="0">
                <a:latin typeface="Times New Roman" panose="02020603050405020304" pitchFamily="18" charset="0"/>
                <a:cs typeface="Times New Roman" panose="02020603050405020304" pitchFamily="18" charset="0"/>
              </a:rPr>
              <a:t>Command requires –</a:t>
            </a:r>
          </a:p>
          <a:p>
            <a:pPr marL="2628900" lvl="5" indent="-342900">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Thorough knowledge of personnel</a:t>
            </a:r>
          </a:p>
          <a:p>
            <a:pPr marL="2628900" lvl="5" indent="-342900">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Elimination of incompetent</a:t>
            </a:r>
          </a:p>
          <a:p>
            <a:pPr marL="2628900" lvl="5" indent="-342900">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Setting a good example</a:t>
            </a:r>
          </a:p>
          <a:p>
            <a:pPr marL="2628900" lvl="5" indent="-342900">
              <a:buFont typeface="Arial" panose="020B0604020202020204" pitchFamily="34" charset="0"/>
              <a:buChar char="•"/>
            </a:pPr>
            <a:r>
              <a:rPr lang="en-US" sz="2100" dirty="0" smtClean="0">
                <a:latin typeface="Times New Roman" panose="02020603050405020304" pitchFamily="18" charset="0"/>
                <a:cs typeface="Times New Roman" panose="02020603050405020304" pitchFamily="18" charset="0"/>
              </a:rPr>
              <a:t>Development of Unity, royalty among people </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4415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6120" y="895546"/>
            <a:ext cx="10444899" cy="4031873"/>
          </a:xfrm>
          <a:prstGeom prst="rect">
            <a:avLst/>
          </a:prstGeom>
          <a:noFill/>
        </p:spPr>
        <p:txBody>
          <a:bodyPr wrap="square" rtlCol="0">
            <a:spAutoFit/>
          </a:bodyPr>
          <a:lstStyle/>
          <a:p>
            <a:endParaRPr lang="en-US" sz="3200" dirty="0" smtClean="0">
              <a:latin typeface="Times New Roman" panose="02020603050405020304" pitchFamily="18" charset="0"/>
              <a:cs typeface="Times New Roman" panose="02020603050405020304" pitchFamily="18" charset="0"/>
            </a:endParaRPr>
          </a:p>
          <a:p>
            <a:r>
              <a:rPr lang="en-US" sz="3200" b="1" dirty="0" smtClean="0">
                <a:latin typeface="Times New Roman" panose="02020603050405020304" pitchFamily="18" charset="0"/>
                <a:cs typeface="Times New Roman" panose="02020603050405020304" pitchFamily="18" charset="0"/>
              </a:rPr>
              <a:t>d) Control: </a:t>
            </a:r>
            <a:r>
              <a:rPr lang="en-US" sz="3200" dirty="0" smtClean="0">
                <a:latin typeface="Times New Roman" panose="02020603050405020304" pitchFamily="18" charset="0"/>
                <a:cs typeface="Times New Roman" panose="02020603050405020304" pitchFamily="18" charset="0"/>
              </a:rPr>
              <a:t>Control aimed at identifying deviations from standards and taking corrective actions. Control should not lead to duality of command by separating it from operation.</a:t>
            </a:r>
          </a:p>
          <a:p>
            <a:pPr marL="342900" indent="-342900">
              <a:buAutoNum type="alphaLcParenR"/>
            </a:pPr>
            <a:endParaRPr lang="en-US" sz="3200" b="1" dirty="0" smtClean="0">
              <a:latin typeface="Times New Roman" panose="02020603050405020304" pitchFamily="18" charset="0"/>
              <a:cs typeface="Times New Roman" panose="02020603050405020304" pitchFamily="18" charset="0"/>
            </a:endParaRPr>
          </a:p>
          <a:p>
            <a:r>
              <a:rPr lang="en-US" sz="3200" b="1" dirty="0" smtClean="0">
                <a:latin typeface="Times New Roman" panose="02020603050405020304" pitchFamily="18" charset="0"/>
                <a:cs typeface="Times New Roman" panose="02020603050405020304" pitchFamily="18" charset="0"/>
              </a:rPr>
              <a:t>e) Co-ordination: </a:t>
            </a:r>
            <a:r>
              <a:rPr lang="en-US" sz="3200" dirty="0" smtClean="0">
                <a:latin typeface="Times New Roman" panose="02020603050405020304" pitchFamily="18" charset="0"/>
                <a:cs typeface="Times New Roman" panose="02020603050405020304" pitchFamily="18" charset="0"/>
              </a:rPr>
              <a:t>Taylor suggested that weekly meeting of departmental head should be held in order to improve co-ordination.</a:t>
            </a:r>
            <a:r>
              <a:rPr lang="en-US" sz="3200" b="1" dirty="0" smtClean="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7430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8730" y="546755"/>
            <a:ext cx="10397765" cy="5324535"/>
          </a:xfrm>
          <a:prstGeom prst="rect">
            <a:avLst/>
          </a:prstGeom>
          <a:noFill/>
        </p:spPr>
        <p:txBody>
          <a:bodyPr wrap="square" rtlCol="0">
            <a:spAutoFit/>
          </a:bodyPr>
          <a:lstStyle/>
          <a:p>
            <a:pPr algn="just"/>
            <a:r>
              <a:rPr lang="en-US" sz="2000" dirty="0" smtClean="0">
                <a:latin typeface="Times New Roman" panose="02020603050405020304" pitchFamily="18" charset="0"/>
                <a:cs typeface="Times New Roman" panose="02020603050405020304" pitchFamily="18" charset="0"/>
              </a:rPr>
              <a:t>III) </a:t>
            </a:r>
            <a:r>
              <a:rPr lang="en-US" sz="2000" b="1" u="sng" dirty="0" smtClean="0">
                <a:latin typeface="Times New Roman" panose="02020603050405020304" pitchFamily="18" charset="0"/>
                <a:cs typeface="Times New Roman" panose="02020603050405020304" pitchFamily="18" charset="0"/>
              </a:rPr>
              <a:t>The Bureaucratic Theory School: </a:t>
            </a:r>
          </a:p>
          <a:p>
            <a:pPr algn="just"/>
            <a:endParaRPr lang="en-US" sz="2000" b="1" u="sng"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Weber viewed Bureaucracy as “the most efficient form that could be used most effectively for complex organizations business, government, military.” It is characterized by: </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Assignment of activities to individual as fixed duties</a:t>
            </a: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A hierarchy of authority and chain of command running throughout the organization, with a regulated system of appeal</a:t>
            </a: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Administration through well defined rules.</a:t>
            </a: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Decision making on objective and rational criteria so that all decisions are impersonal.</a:t>
            </a: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Employment and promotion based on demonstrated competence and training of officials.</a:t>
            </a:r>
          </a:p>
          <a:p>
            <a:pPr marL="342900" indent="-342900" algn="just">
              <a:buFont typeface="+mj-lt"/>
              <a:buAutoNum type="alphaLcPeriod"/>
            </a:pPr>
            <a:r>
              <a:rPr lang="en-US" sz="2000" dirty="0" smtClean="0">
                <a:latin typeface="Times New Roman" panose="02020603050405020304" pitchFamily="18" charset="0"/>
                <a:cs typeface="Times New Roman" panose="02020603050405020304" pitchFamily="18" charset="0"/>
              </a:rPr>
              <a:t>Fixed salary based on status or rank rather than work performed or guaranteed pension or superannuation as  security at old age.</a:t>
            </a:r>
          </a:p>
          <a:p>
            <a:pPr algn="just"/>
            <a:endParaRPr lang="en-US" sz="20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Advantages: </a:t>
            </a:r>
            <a:r>
              <a:rPr lang="en-US" sz="2000" dirty="0" smtClean="0">
                <a:latin typeface="Times New Roman" panose="02020603050405020304" pitchFamily="18" charset="0"/>
                <a:cs typeface="Times New Roman" panose="02020603050405020304" pitchFamily="18" charset="0"/>
              </a:rPr>
              <a:t>Precision, Speed, continuity, unity, discretion, strict subordination, reduction of friction and of material personnel cost are raised to optimal point.</a:t>
            </a:r>
          </a:p>
          <a:p>
            <a:pPr algn="just"/>
            <a:r>
              <a:rPr lang="en-US" sz="2000" b="1" dirty="0" smtClean="0">
                <a:latin typeface="Times New Roman" panose="02020603050405020304" pitchFamily="18" charset="0"/>
                <a:cs typeface="Times New Roman" panose="02020603050405020304" pitchFamily="18" charset="0"/>
              </a:rPr>
              <a:t>Disadvantages: </a:t>
            </a:r>
            <a:r>
              <a:rPr lang="en-US" sz="2000" dirty="0" smtClean="0">
                <a:latin typeface="Times New Roman" panose="02020603050405020304" pitchFamily="18" charset="0"/>
                <a:cs typeface="Times New Roman" panose="02020603050405020304" pitchFamily="18" charset="0"/>
              </a:rPr>
              <a:t>Lie in red tape, rigidity and neglect of human factor.</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357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3827" y="876693"/>
            <a:ext cx="10369484" cy="4801314"/>
          </a:xfrm>
          <a:prstGeom prst="rect">
            <a:avLst/>
          </a:prstGeom>
          <a:noFill/>
        </p:spPr>
        <p:txBody>
          <a:bodyPr wrap="square" rtlCol="0">
            <a:spAutoFit/>
          </a:bodyPr>
          <a:lstStyle/>
          <a:p>
            <a:pPr algn="just"/>
            <a:r>
              <a:rPr lang="en-US" b="1" u="sng" dirty="0" smtClean="0">
                <a:latin typeface="Times New Roman" panose="02020603050405020304" pitchFamily="18" charset="0"/>
                <a:cs typeface="Times New Roman" panose="02020603050405020304" pitchFamily="18" charset="0"/>
              </a:rPr>
              <a:t>2. The Human Relations School:</a:t>
            </a:r>
          </a:p>
          <a:p>
            <a:pPr algn="just"/>
            <a:endParaRPr lang="en-US" dirty="0">
              <a:latin typeface="Times New Roman" panose="02020603050405020304" pitchFamily="18" charset="0"/>
              <a:cs typeface="Times New Roman" panose="02020603050405020304" pitchFamily="18" charset="0"/>
            </a:endParaRPr>
          </a:p>
          <a:p>
            <a:pPr algn="just"/>
            <a:r>
              <a:rPr lang="en-US" dirty="0" err="1" smtClean="0">
                <a:solidFill>
                  <a:srgbClr val="0070C0"/>
                </a:solidFill>
                <a:latin typeface="Times New Roman" panose="02020603050405020304" pitchFamily="18" charset="0"/>
                <a:cs typeface="Times New Roman" panose="02020603050405020304" pitchFamily="18" charset="0"/>
              </a:rPr>
              <a:t>Howthrone</a:t>
            </a:r>
            <a:r>
              <a:rPr lang="en-US" dirty="0" smtClean="0">
                <a:latin typeface="Times New Roman" panose="02020603050405020304" pitchFamily="18" charset="0"/>
                <a:cs typeface="Times New Roman" panose="02020603050405020304" pitchFamily="18" charset="0"/>
              </a:rPr>
              <a:t> conduct an experiment on the human dimensions of the organizations. This school of thought termed as “neo-classical” rather than modern because it follows the theoretical form of classical theory and emphasis on the human dimensions of the management as a counter point against the impersonality of classical theory. </a:t>
            </a:r>
          </a:p>
          <a:p>
            <a:pPr algn="just"/>
            <a:r>
              <a:rPr lang="en-US" dirty="0" smtClean="0">
                <a:latin typeface="Times New Roman" panose="02020603050405020304" pitchFamily="18" charset="0"/>
                <a:cs typeface="Times New Roman" panose="02020603050405020304" pitchFamily="18" charset="0"/>
              </a:rPr>
              <a:t>This theory lead to a new hypothesis : motivation to work, morale and productivity are related to the social relations among the workers, and between the workers and supervisor; and not to the physical condition of the work. </a:t>
            </a:r>
          </a:p>
          <a:p>
            <a:pPr algn="just"/>
            <a:r>
              <a:rPr lang="en-US" dirty="0" smtClean="0">
                <a:latin typeface="Times New Roman" panose="02020603050405020304" pitchFamily="18" charset="0"/>
                <a:cs typeface="Times New Roman" panose="02020603050405020304" pitchFamily="18" charset="0"/>
              </a:rPr>
              <a:t>The researchers found that:</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The worker perceived themselves as a work group.</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The group has developed “norms” related to production as well as personal conduct among themselves and with the supervisors.</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Dexterity and Intelligence tests showed that output isn’t related to either of them. The key to the rate of output was social membership in the clique.</a:t>
            </a:r>
          </a:p>
          <a:p>
            <a:pPr algn="just"/>
            <a:r>
              <a:rPr lang="en-US" dirty="0" smtClean="0">
                <a:latin typeface="Times New Roman" panose="02020603050405020304" pitchFamily="18" charset="0"/>
                <a:cs typeface="Times New Roman" panose="02020603050405020304" pitchFamily="18" charset="0"/>
              </a:rPr>
              <a:t>These studies also revealed that an organization is more than a formal structure of position and authority responsibility relationships.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96781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7887" y="755658"/>
            <a:ext cx="10284022" cy="5355312"/>
          </a:xfrm>
          <a:prstGeom prst="rect">
            <a:avLst/>
          </a:prstGeom>
        </p:spPr>
        <p:txBody>
          <a:bodyPr wrap="square">
            <a:spAutoFit/>
          </a:bodyPr>
          <a:lstStyle/>
          <a:p>
            <a:pPr algn="just"/>
            <a:r>
              <a:rPr lang="en-US" b="1" u="sng" dirty="0" smtClean="0">
                <a:latin typeface="Times New Roman" panose="02020603050405020304" pitchFamily="18" charset="0"/>
                <a:cs typeface="Times New Roman" panose="02020603050405020304" pitchFamily="18" charset="0"/>
              </a:rPr>
              <a:t>3. </a:t>
            </a:r>
            <a:r>
              <a:rPr lang="en-US" b="1" u="sng" dirty="0">
                <a:latin typeface="Times New Roman" panose="02020603050405020304" pitchFamily="18" charset="0"/>
                <a:cs typeface="Times New Roman" panose="02020603050405020304" pitchFamily="18" charset="0"/>
              </a:rPr>
              <a:t>The </a:t>
            </a:r>
            <a:r>
              <a:rPr lang="en-US" b="1" u="sng" dirty="0" smtClean="0">
                <a:latin typeface="Times New Roman" panose="02020603050405020304" pitchFamily="18" charset="0"/>
                <a:cs typeface="Times New Roman" panose="02020603050405020304" pitchFamily="18" charset="0"/>
              </a:rPr>
              <a:t>Decision Theory </a:t>
            </a:r>
            <a:r>
              <a:rPr lang="en-US" b="1" u="sng" dirty="0">
                <a:latin typeface="Times New Roman" panose="02020603050405020304" pitchFamily="18" charset="0"/>
                <a:cs typeface="Times New Roman" panose="02020603050405020304" pitchFamily="18" charset="0"/>
              </a:rPr>
              <a:t>School</a:t>
            </a:r>
            <a:r>
              <a:rPr lang="en-US" b="1" u="sng" dirty="0" smtClean="0">
                <a:latin typeface="Times New Roman" panose="02020603050405020304" pitchFamily="18" charset="0"/>
                <a:cs typeface="Times New Roman" panose="02020603050405020304" pitchFamily="18" charset="0"/>
              </a:rPr>
              <a:t>:</a:t>
            </a:r>
          </a:p>
          <a:p>
            <a:pPr algn="just"/>
            <a:endParaRPr lang="en-US" b="1" u="sng"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decision theory school of management is led by Simon and looks upon the management process as a decision making process. According to this theory, the entire field of management can be studies from the study of the process of decision making. They have expanded their theoretical study through the study of </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The decision</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The Decision maker, and</a:t>
            </a:r>
          </a:p>
          <a:p>
            <a:pPr marL="342900" indent="-342900" algn="just">
              <a:buAutoNum type="arabicPeriod"/>
            </a:pPr>
            <a:r>
              <a:rPr lang="en-US" dirty="0" smtClean="0">
                <a:latin typeface="Times New Roman" panose="02020603050405020304" pitchFamily="18" charset="0"/>
                <a:cs typeface="Times New Roman" panose="02020603050405020304" pitchFamily="18" charset="0"/>
              </a:rPr>
              <a:t>The social and Psychological environment of the decision maker.</a:t>
            </a:r>
          </a:p>
          <a:p>
            <a:pPr algn="just"/>
            <a:r>
              <a:rPr lang="en-US" dirty="0" smtClean="0">
                <a:latin typeface="Times New Roman" panose="02020603050405020304" pitchFamily="18" charset="0"/>
                <a:cs typeface="Times New Roman" panose="02020603050405020304" pitchFamily="18" charset="0"/>
              </a:rPr>
              <a:t>The decision maker start with the small area of decision making and then look at the entire field of the management through this keyhole. </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Decision making is central to managing and whatever a manager do is done through making decisions. But the totality of managing is something more than decision making. The most important task of modern manager are:</a:t>
            </a:r>
          </a:p>
          <a:p>
            <a:pPr algn="just"/>
            <a:r>
              <a:rPr lang="en-US" dirty="0" smtClean="0">
                <a:latin typeface="Times New Roman" panose="02020603050405020304" pitchFamily="18" charset="0"/>
                <a:cs typeface="Times New Roman" panose="02020603050405020304" pitchFamily="18" charset="0"/>
              </a:rPr>
              <a:t>1. Innovating, integrating organization with its external environment, and</a:t>
            </a:r>
          </a:p>
          <a:p>
            <a:pPr algn="just"/>
            <a:r>
              <a:rPr lang="en-US" dirty="0" smtClean="0">
                <a:latin typeface="Times New Roman" panose="02020603050405020304" pitchFamily="18" charset="0"/>
                <a:cs typeface="Times New Roman" panose="02020603050405020304" pitchFamily="18" charset="0"/>
              </a:rPr>
              <a:t>2. Creation of an organization climate conductive to the optimum performance by its members.</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Integrating the organization with the environment and integrating employees and their group with the organization require the art of managing and leadership.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5752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2046" y="746231"/>
            <a:ext cx="10604960" cy="3416320"/>
          </a:xfrm>
          <a:prstGeom prst="rect">
            <a:avLst/>
          </a:prstGeom>
        </p:spPr>
        <p:txBody>
          <a:bodyPr wrap="square">
            <a:spAutoFit/>
          </a:bodyPr>
          <a:lstStyle/>
          <a:p>
            <a:pPr algn="just"/>
            <a:r>
              <a:rPr lang="en-US" b="1" u="sng" dirty="0" smtClean="0">
                <a:latin typeface="Times New Roman" panose="02020603050405020304" pitchFamily="18" charset="0"/>
                <a:cs typeface="Times New Roman" panose="02020603050405020304" pitchFamily="18" charset="0"/>
              </a:rPr>
              <a:t>4. The Management Science </a:t>
            </a:r>
            <a:r>
              <a:rPr lang="en-US" b="1" u="sng" dirty="0">
                <a:latin typeface="Times New Roman" panose="02020603050405020304" pitchFamily="18" charset="0"/>
                <a:cs typeface="Times New Roman" panose="02020603050405020304" pitchFamily="18" charset="0"/>
              </a:rPr>
              <a:t>School</a:t>
            </a:r>
            <a:r>
              <a:rPr lang="en-US" b="1" u="sng" dirty="0" smtClean="0">
                <a:latin typeface="Times New Roman" panose="02020603050405020304" pitchFamily="18" charset="0"/>
                <a:cs typeface="Times New Roman" panose="02020603050405020304" pitchFamily="18" charset="0"/>
              </a:rPr>
              <a:t>:</a:t>
            </a:r>
          </a:p>
          <a:p>
            <a:pPr algn="just"/>
            <a:endParaRPr lang="en-US" b="1" u="sng"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management scientists led by operation researchers and system analyst, see management as “a system of mathematical models and processes”. Since managing is a logical and rational process, it can be expressed in terms of mathematical relationships and models. The basic assumption of management science is, an organization is a system with its parts in interactional and interdependent relationships. These interactions and interdependencies can be expressed in terms of models and equations. </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Management science has made significant contributions by applying the tools of mathematics to the solution of various complex problems of management. They have successfully build models in the area of:</a:t>
            </a: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Quality control, inventory control, production scheduling, machine loading, warehouse operations and 	resource allocation.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89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6314" y="765085"/>
            <a:ext cx="10227888" cy="1754326"/>
          </a:xfrm>
          <a:prstGeom prst="rect">
            <a:avLst/>
          </a:prstGeom>
        </p:spPr>
        <p:txBody>
          <a:bodyPr wrap="square">
            <a:spAutoFit/>
          </a:bodyPr>
          <a:lstStyle/>
          <a:p>
            <a:pPr algn="just"/>
            <a:r>
              <a:rPr lang="en-US" b="1" u="sng" dirty="0">
                <a:latin typeface="Times New Roman" panose="02020603050405020304" pitchFamily="18" charset="0"/>
                <a:cs typeface="Times New Roman" panose="02020603050405020304" pitchFamily="18" charset="0"/>
              </a:rPr>
              <a:t>5</a:t>
            </a:r>
            <a:r>
              <a:rPr lang="en-US" b="1" u="sng" dirty="0" smtClean="0">
                <a:latin typeface="Times New Roman" panose="02020603050405020304" pitchFamily="18" charset="0"/>
                <a:cs typeface="Times New Roman" panose="02020603050405020304" pitchFamily="18" charset="0"/>
              </a:rPr>
              <a:t>. The System Theory </a:t>
            </a:r>
            <a:r>
              <a:rPr lang="en-US" b="1" u="sng" dirty="0">
                <a:latin typeface="Times New Roman" panose="02020603050405020304" pitchFamily="18" charset="0"/>
                <a:cs typeface="Times New Roman" panose="02020603050405020304" pitchFamily="18" charset="0"/>
              </a:rPr>
              <a:t>School</a:t>
            </a:r>
            <a:r>
              <a:rPr lang="en-US" b="1" u="sng" dirty="0" smtClean="0">
                <a:latin typeface="Times New Roman" panose="02020603050405020304" pitchFamily="18" charset="0"/>
                <a:cs typeface="Times New Roman" panose="02020603050405020304" pitchFamily="18" charset="0"/>
              </a:rPr>
              <a:t>:</a:t>
            </a:r>
          </a:p>
          <a:p>
            <a:pPr algn="just"/>
            <a:endParaRPr lang="en-US" b="1" u="sng"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system theorists has viewed organization as an </a:t>
            </a:r>
            <a:r>
              <a:rPr lang="en-US" b="1" dirty="0" smtClean="0">
                <a:solidFill>
                  <a:srgbClr val="0070C0"/>
                </a:solidFill>
                <a:latin typeface="Times New Roman" panose="02020603050405020304" pitchFamily="18" charset="0"/>
                <a:cs typeface="Times New Roman" panose="02020603050405020304" pitchFamily="18" charset="0"/>
              </a:rPr>
              <a:t>open and organic </a:t>
            </a:r>
            <a:r>
              <a:rPr lang="en-US" dirty="0" smtClean="0">
                <a:latin typeface="Times New Roman" panose="02020603050405020304" pitchFamily="18" charset="0"/>
                <a:cs typeface="Times New Roman" panose="02020603050405020304" pitchFamily="18" charset="0"/>
              </a:rPr>
              <a:t>system, which is composed of interacting and interdependent parts, called subsystems. (Showed in figure)</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789575" y="2163216"/>
            <a:ext cx="3626472" cy="3850790"/>
          </a:xfrm>
          <a:prstGeom prst="rect">
            <a:avLst/>
          </a:prstGeom>
        </p:spPr>
      </p:pic>
    </p:spTree>
    <p:extLst>
      <p:ext uri="{BB962C8B-B14F-4D97-AF65-F5344CB8AC3E}">
        <p14:creationId xmlns:p14="http://schemas.microsoft.com/office/powerpoint/2010/main" val="275574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6314" y="765085"/>
            <a:ext cx="10227888" cy="4247317"/>
          </a:xfrm>
          <a:prstGeom prst="rect">
            <a:avLst/>
          </a:prstGeom>
        </p:spPr>
        <p:txBody>
          <a:bodyPr wrap="square">
            <a:spAutoFit/>
          </a:bodyPr>
          <a:lstStyle/>
          <a:p>
            <a:pPr algn="just"/>
            <a:r>
              <a:rPr lang="en-US" b="1" u="sng" dirty="0" smtClean="0">
                <a:latin typeface="Times New Roman" panose="02020603050405020304" pitchFamily="18" charset="0"/>
                <a:cs typeface="Times New Roman" panose="02020603050405020304" pitchFamily="18" charset="0"/>
              </a:rPr>
              <a:t>5. The System Theory </a:t>
            </a:r>
            <a:r>
              <a:rPr lang="en-US" b="1" u="sng" dirty="0">
                <a:latin typeface="Times New Roman" panose="02020603050405020304" pitchFamily="18" charset="0"/>
                <a:cs typeface="Times New Roman" panose="02020603050405020304" pitchFamily="18" charset="0"/>
              </a:rPr>
              <a:t>School</a:t>
            </a:r>
            <a:r>
              <a:rPr lang="en-US" b="1" u="sng" dirty="0" smtClean="0">
                <a:latin typeface="Times New Roman" panose="02020603050405020304" pitchFamily="18" charset="0"/>
                <a:cs typeface="Times New Roman" panose="02020603050405020304" pitchFamily="18" charset="0"/>
              </a:rPr>
              <a:t>: (continue)</a:t>
            </a:r>
          </a:p>
          <a:p>
            <a:pPr algn="just"/>
            <a:endParaRPr lang="en-US" b="1" u="sng"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r>
              <a:rPr lang="en-US" b="1" u="sng" dirty="0" smtClean="0">
                <a:latin typeface="Times New Roman" panose="02020603050405020304" pitchFamily="18" charset="0"/>
                <a:cs typeface="Times New Roman" panose="02020603050405020304" pitchFamily="18" charset="0"/>
              </a:rPr>
              <a:t>Organizations as an Open and Organic System</a:t>
            </a:r>
          </a:p>
          <a:p>
            <a:pPr algn="just"/>
            <a:r>
              <a:rPr lang="en-US" dirty="0" smtClean="0">
                <a:latin typeface="Times New Roman" panose="02020603050405020304" pitchFamily="18" charset="0"/>
                <a:cs typeface="Times New Roman" panose="02020603050405020304" pitchFamily="18" charset="0"/>
              </a:rPr>
              <a:t>Organizations are open systems in that they are in continuous interaction relationship with other systems. These other systems comprise markets, suppliers, bankers, trade unions, governments, educational institutions and other similar enterprises, industry, economy etc., which constitutes its environment. </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Organizations also organic systems or living systems as they must satisfy three conditions for their continuing survival: </a:t>
            </a:r>
          </a:p>
          <a:p>
            <a:pPr algn="just"/>
            <a:r>
              <a:rPr lang="en-US" dirty="0" smtClean="0">
                <a:latin typeface="Times New Roman" panose="02020603050405020304" pitchFamily="18" charset="0"/>
                <a:cs typeface="Times New Roman" panose="02020603050405020304" pitchFamily="18" charset="0"/>
              </a:rPr>
              <a:t>First:	 A organization should be stable in the sense that its various parts should be in balance with one another. </a:t>
            </a:r>
          </a:p>
          <a:p>
            <a:pPr algn="just"/>
            <a:r>
              <a:rPr lang="en-US" dirty="0" smtClean="0">
                <a:latin typeface="Times New Roman" panose="02020603050405020304" pitchFamily="18" charset="0"/>
                <a:cs typeface="Times New Roman" panose="02020603050405020304" pitchFamily="18" charset="0"/>
              </a:rPr>
              <a:t>Second:	 It should grow and mature like other entities.</a:t>
            </a:r>
          </a:p>
          <a:p>
            <a:pPr algn="just"/>
            <a:r>
              <a:rPr lang="en-US" dirty="0" smtClean="0">
                <a:latin typeface="Times New Roman" panose="02020603050405020304" pitchFamily="18" charset="0"/>
                <a:cs typeface="Times New Roman" panose="02020603050405020304" pitchFamily="18" charset="0"/>
              </a:rPr>
              <a:t>Third:	 It should adapt to environmental changes. It is the constant adjustment in response to its changes in environments.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952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7532" y="699097"/>
            <a:ext cx="10376926" cy="3139321"/>
          </a:xfrm>
          <a:prstGeom prst="rect">
            <a:avLst/>
          </a:prstGeom>
        </p:spPr>
        <p:txBody>
          <a:bodyPr wrap="square">
            <a:spAutoFit/>
          </a:bodyPr>
          <a:lstStyle/>
          <a:p>
            <a:pPr algn="just"/>
            <a:r>
              <a:rPr lang="en-US" b="1" u="sng" dirty="0">
                <a:latin typeface="Times New Roman" panose="02020603050405020304" pitchFamily="18" charset="0"/>
                <a:cs typeface="Times New Roman" panose="02020603050405020304" pitchFamily="18" charset="0"/>
              </a:rPr>
              <a:t>6</a:t>
            </a:r>
            <a:r>
              <a:rPr lang="en-US" b="1" u="sng" dirty="0" smtClean="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The </a:t>
            </a:r>
            <a:r>
              <a:rPr lang="en-US" b="1" u="sng" dirty="0" smtClean="0">
                <a:latin typeface="Times New Roman" panose="02020603050405020304" pitchFamily="18" charset="0"/>
                <a:cs typeface="Times New Roman" panose="02020603050405020304" pitchFamily="18" charset="0"/>
              </a:rPr>
              <a:t>Contingency </a:t>
            </a:r>
            <a:r>
              <a:rPr lang="en-US" b="1" u="sng" dirty="0">
                <a:latin typeface="Times New Roman" panose="02020603050405020304" pitchFamily="18" charset="0"/>
                <a:cs typeface="Times New Roman" panose="02020603050405020304" pitchFamily="18" charset="0"/>
              </a:rPr>
              <a:t>Theory School</a:t>
            </a:r>
            <a:r>
              <a:rPr lang="en-US" b="1" u="sng" dirty="0" smtClean="0">
                <a:latin typeface="Times New Roman" panose="02020603050405020304" pitchFamily="18" charset="0"/>
                <a:cs typeface="Times New Roman" panose="02020603050405020304" pitchFamily="18" charset="0"/>
              </a:rPr>
              <a:t>:</a:t>
            </a:r>
          </a:p>
          <a:p>
            <a:pPr algn="just"/>
            <a:endParaRPr lang="en-US" b="1" u="sng"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contingency theories aims at integrating theory in a practice in a systems framework. When an organization behaves in response to forces in its environment, its behavior is said to be contingent on these forces. Hence a contingency approach is an approach where the behavior of the of one subunit is dependent on its environmental relationship to other units or subunits that have some control over the consequences… desired by that subunit.</a:t>
            </a:r>
          </a:p>
          <a:p>
            <a:pPr algn="just"/>
            <a:r>
              <a:rPr lang="en-US" dirty="0" smtClean="0">
                <a:latin typeface="Times New Roman" panose="02020603050405020304" pitchFamily="18" charset="0"/>
                <a:cs typeface="Times New Roman" panose="02020603050405020304" pitchFamily="18" charset="0"/>
              </a:rPr>
              <a:t>Thus, behavior on an organization is contingent on situations, and if the manager wants to change the behavior within an organization, he must attempt to change that part of its environment which is influencing it. Organization system is not a matter of managerial choice, but contingent upon its external environment.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529950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786</TotalTime>
  <Words>1524</Words>
  <Application>Microsoft Office PowerPoint</Application>
  <PresentationFormat>Custom</PresentationFormat>
  <Paragraphs>118</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Civic</vt:lpstr>
      <vt:lpstr>Industrial Management IEM - 4127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Management IEM - 4127</dc:title>
  <dc:creator>ASUS</dc:creator>
  <cp:lastModifiedBy>ECC</cp:lastModifiedBy>
  <cp:revision>32</cp:revision>
  <dcterms:created xsi:type="dcterms:W3CDTF">2022-05-25T17:26:38Z</dcterms:created>
  <dcterms:modified xsi:type="dcterms:W3CDTF">2024-03-10T18:11:49Z</dcterms:modified>
</cp:coreProperties>
</file>