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1"/>
  </p:notesMasterIdLst>
  <p:sldIdLst>
    <p:sldId id="256" r:id="rId2"/>
    <p:sldId id="276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4107ED-0ABA-46B0-9DEB-B708C316076F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F3735-E0AC-4AED-BBFE-E61AD3EB9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193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DC91AFF-888F-41E5-B099-56A5145134B4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1509" name="Date Placeholder 4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1510" name="Footer Placeholder 5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6975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F96CBF8-07F2-4C86-BD6A-3CFDBA3A08FB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27653" name="Date Placeholder 4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7654" name="Footer Placeholder 5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6415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1765-8DF2-4E26-9254-F938B29E649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3A82C-802D-4538-A6E9-08A34BC6D4E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1765-8DF2-4E26-9254-F938B29E649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3A82C-802D-4538-A6E9-08A34BC6D4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1765-8DF2-4E26-9254-F938B29E649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3A82C-802D-4538-A6E9-08A34BC6D4E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2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1765-8DF2-4E26-9254-F938B29E649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3A82C-802D-4538-A6E9-08A34BC6D4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1765-8DF2-4E26-9254-F938B29E649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3A82C-802D-4538-A6E9-08A34BC6D4EE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1765-8DF2-4E26-9254-F938B29E649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3A82C-802D-4538-A6E9-08A34BC6D4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1765-8DF2-4E26-9254-F938B29E649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3A82C-802D-4538-A6E9-08A34BC6D4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1765-8DF2-4E26-9254-F938B29E649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3A82C-802D-4538-A6E9-08A34BC6D4E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2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1765-8DF2-4E26-9254-F938B29E649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3A82C-802D-4538-A6E9-08A34BC6D4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1765-8DF2-4E26-9254-F938B29E649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3A82C-802D-4538-A6E9-08A34BC6D4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1765-8DF2-4E26-9254-F938B29E649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3A82C-802D-4538-A6E9-08A34BC6D4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70EC1765-8DF2-4E26-9254-F938B29E649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18288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FEC3A82C-802D-4538-A6E9-08A34BC6D4E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Breakeven Analysis &amp; Depreciation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63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Ref: Industrial Management by O.P Khanna; </a:t>
            </a:r>
          </a:p>
          <a:p>
            <a:pPr marL="0" indent="0">
              <a:buNone/>
            </a:pPr>
            <a:r>
              <a:rPr lang="en-US" dirty="0"/>
              <a:t>			Chapter 27: Cost Accounting and Control</a:t>
            </a:r>
          </a:p>
        </p:txBody>
      </p:sp>
    </p:spTree>
    <p:extLst>
      <p:ext uri="{BB962C8B-B14F-4D97-AF65-F5344CB8AC3E}">
        <p14:creationId xmlns:p14="http://schemas.microsoft.com/office/powerpoint/2010/main" val="261325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612742"/>
            <a:ext cx="9601196" cy="1673257"/>
          </a:xfrm>
        </p:spPr>
        <p:txBody>
          <a:bodyPr/>
          <a:lstStyle/>
          <a:p>
            <a:r>
              <a:rPr lang="en-US" dirty="0"/>
              <a:t>Breakeven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5402" y="2554665"/>
            <a:ext cx="944565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Breakeven Point : </a:t>
            </a:r>
          </a:p>
          <a:p>
            <a:endParaRPr lang="en-US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point at which there is </a:t>
            </a: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profit or No Loss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your business is known as Breakeven Point.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point, The total revenue is equal to the total cost.</a:t>
            </a:r>
          </a:p>
        </p:txBody>
      </p:sp>
    </p:spTree>
    <p:extLst>
      <p:ext uri="{BB962C8B-B14F-4D97-AF65-F5344CB8AC3E}">
        <p14:creationId xmlns:p14="http://schemas.microsoft.com/office/powerpoint/2010/main" val="2348989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9497" y="1084082"/>
            <a:ext cx="1003954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Finding Break-even Point / Break-Even Point Equation:</a:t>
            </a:r>
          </a:p>
          <a:p>
            <a:endParaRPr lang="en-US" b="1" u="sng" dirty="0"/>
          </a:p>
          <a:p>
            <a:r>
              <a:rPr lang="en-US" dirty="0"/>
              <a:t>		</a:t>
            </a:r>
            <a:r>
              <a:rPr lang="en-US" sz="2400" dirty="0"/>
              <a:t>Profit  = Revenue – Total Cost</a:t>
            </a:r>
          </a:p>
          <a:p>
            <a:r>
              <a:rPr lang="en-US" sz="2400" dirty="0"/>
              <a:t>		           = R – TC</a:t>
            </a:r>
          </a:p>
          <a:p>
            <a:r>
              <a:rPr lang="en-US" sz="2400" dirty="0"/>
              <a:t>In Breakeven point, Profit = 0</a:t>
            </a:r>
          </a:p>
          <a:p>
            <a:endParaRPr lang="en-US" sz="2400" dirty="0"/>
          </a:p>
          <a:p>
            <a:r>
              <a:rPr lang="en-US" sz="2400" dirty="0"/>
              <a:t>So, 		0 = R – TC</a:t>
            </a:r>
          </a:p>
          <a:p>
            <a:r>
              <a:rPr lang="en-US" sz="2400" dirty="0"/>
              <a:t>	           </a:t>
            </a:r>
            <a:r>
              <a:rPr lang="en-US" sz="2400" b="1" dirty="0"/>
              <a:t>Or,  </a:t>
            </a:r>
            <a:r>
              <a:rPr lang="en-US" sz="2400" dirty="0"/>
              <a:t>R = TC</a:t>
            </a:r>
          </a:p>
          <a:p>
            <a:r>
              <a:rPr lang="en-US" sz="2400" dirty="0"/>
              <a:t>                       </a:t>
            </a:r>
            <a:r>
              <a:rPr lang="en-US" sz="2400" b="1" dirty="0"/>
              <a:t>Or,  </a:t>
            </a:r>
            <a:r>
              <a:rPr lang="en-US" sz="2400" dirty="0"/>
              <a:t>r . Q = FC + VC</a:t>
            </a:r>
          </a:p>
          <a:p>
            <a:r>
              <a:rPr lang="en-US" sz="2400" dirty="0"/>
              <a:t>                       </a:t>
            </a:r>
            <a:r>
              <a:rPr lang="en-US" sz="2400" b="1" dirty="0"/>
              <a:t>Or,  </a:t>
            </a:r>
            <a:r>
              <a:rPr lang="en-US" sz="2400" dirty="0"/>
              <a:t>r . Q = FC + v . Q </a:t>
            </a:r>
          </a:p>
          <a:p>
            <a:r>
              <a:rPr lang="en-US" sz="2400" dirty="0"/>
              <a:t>                       </a:t>
            </a:r>
            <a:r>
              <a:rPr lang="en-US" sz="2400" b="1" dirty="0"/>
              <a:t>Or,  </a:t>
            </a:r>
            <a:r>
              <a:rPr lang="en-US" sz="2400" dirty="0"/>
              <a:t>FC = </a:t>
            </a:r>
            <a:r>
              <a:rPr lang="en-US" sz="2400" dirty="0" err="1"/>
              <a:t>r.Q</a:t>
            </a:r>
            <a:r>
              <a:rPr lang="en-US" sz="2400" dirty="0"/>
              <a:t> – v . Q</a:t>
            </a:r>
          </a:p>
          <a:p>
            <a:endParaRPr lang="en-US" sz="2400" dirty="0"/>
          </a:p>
          <a:p>
            <a:r>
              <a:rPr lang="en-US" sz="2400" dirty="0"/>
              <a:t>                          </a:t>
            </a:r>
          </a:p>
          <a:p>
            <a:r>
              <a:rPr lang="en-US" sz="2400" dirty="0"/>
              <a:t>                         Or, 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148" y="5226772"/>
            <a:ext cx="2516957" cy="9356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20552" y="4166648"/>
            <a:ext cx="33182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r = Revenue Per Unit</a:t>
            </a:r>
          </a:p>
          <a:p>
            <a:r>
              <a:rPr lang="en-US" sz="2200" b="1" dirty="0"/>
              <a:t>v = Variable cost per Unit</a:t>
            </a:r>
          </a:p>
        </p:txBody>
      </p:sp>
    </p:spTree>
    <p:extLst>
      <p:ext uri="{BB962C8B-B14F-4D97-AF65-F5344CB8AC3E}">
        <p14:creationId xmlns:p14="http://schemas.microsoft.com/office/powerpoint/2010/main" val="905160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1216" y="1150070"/>
            <a:ext cx="995470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Handheld fiber-optic meters with white light polarization interferometry are useful for measuring temperature, pressure, and strain in electrically noisy environments. The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costs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associated with manufacturing are $800,000 per year. If a base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sells (revenue)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$2950 and its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cost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$2075,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a ) how many units must be sold each year for breakeven and   ( b ) what will the profit be for sales of 3000 units per year?</a:t>
            </a:r>
          </a:p>
        </p:txBody>
      </p:sp>
    </p:spTree>
    <p:extLst>
      <p:ext uri="{BB962C8B-B14F-4D97-AF65-F5344CB8AC3E}">
        <p14:creationId xmlns:p14="http://schemas.microsoft.com/office/powerpoint/2010/main" val="2992750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2936" y="1178351"/>
            <a:ext cx="996413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Solution:</a:t>
            </a:r>
          </a:p>
          <a:p>
            <a:endParaRPr lang="en-US" dirty="0"/>
          </a:p>
          <a:p>
            <a:pPr marL="342900" indent="-342900"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 = FC / (r-v)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800, 000 / (2950 – 2075)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= 914.29 Units per year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= 915 Units Per Year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lphaLcParenR" startAt="2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    = R – TC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= r . Q – (FC + v . Q)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= (2950 x 3000) – (800,000 + 2075 x 3000)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= $1825000 Per Year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6706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1852" y="801278"/>
            <a:ext cx="1056744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and Higher Breakeven Point :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low breakeven point means that the business will start making a profit sooner, whereas a high breakeven point means more products or services need to be sold to reach that point.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Run Analysis:</a:t>
            </a:r>
          </a:p>
          <a:p>
            <a:pPr algn="just"/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breakeven chart is a tool for short run analysis; It can ‘t be used for 8 or 10 years projections because of the difficulty of indicating variables in each of the costs line on the chart.	</a:t>
            </a:r>
          </a:p>
        </p:txBody>
      </p:sp>
    </p:spTree>
    <p:extLst>
      <p:ext uri="{BB962C8B-B14F-4D97-AF65-F5344CB8AC3E}">
        <p14:creationId xmlns:p14="http://schemas.microsoft.com/office/powerpoint/2010/main" val="425002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3571" y="763571"/>
            <a:ext cx="10652289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Depreciation: </a:t>
            </a:r>
          </a:p>
          <a:p>
            <a:endParaRPr lang="en-US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Depreciation is the reduction in value of an asset. Depreciation is represented by D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Depreciation: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 Book Depreciation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2. Tax Depreciation</a:t>
            </a:r>
          </a:p>
        </p:txBody>
      </p:sp>
    </p:spTree>
    <p:extLst>
      <p:ext uri="{BB962C8B-B14F-4D97-AF65-F5344CB8AC3E}">
        <p14:creationId xmlns:p14="http://schemas.microsoft.com/office/powerpoint/2010/main" val="1909077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 txBox="1">
            <a:spLocks noChangeArrowheads="1"/>
          </p:cNvSpPr>
          <p:nvPr/>
        </p:nvSpPr>
        <p:spPr bwMode="auto">
          <a:xfrm>
            <a:off x="1905304" y="373874"/>
            <a:ext cx="8409214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565" tIns="44783" rIns="89565" bIns="44783" anchor="ctr"/>
          <a:lstStyle>
            <a:lvl1pPr defTabSz="836613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 defTabSz="836613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 defTabSz="836613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 defTabSz="836613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 defTabSz="836613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defTabSz="83661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defTabSz="83661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defTabSz="83661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defTabSz="83661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428" dirty="0">
                <a:solidFill>
                  <a:srgbClr val="FF0000"/>
                </a:solidFill>
              </a:rPr>
              <a:t>COMMON DEPRECIATION TERMS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0C2026-8475-4822-8F76-F11BDFEA56E5}"/>
              </a:ext>
            </a:extLst>
          </p:cNvPr>
          <p:cNvSpPr txBox="1"/>
          <p:nvPr/>
        </p:nvSpPr>
        <p:spPr>
          <a:xfrm>
            <a:off x="1850572" y="1387929"/>
            <a:ext cx="8518679" cy="46922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357" b="1" dirty="0">
                <a:latin typeface="Arial Narrow" panose="020B0506020202030204" pitchFamily="34" charset="0"/>
              </a:rPr>
              <a:t>First cost </a:t>
            </a:r>
            <a:r>
              <a:rPr lang="en-US" sz="2357" b="1" i="1" dirty="0">
                <a:latin typeface="Arial Narrow" panose="020B0506020202030204" pitchFamily="34" charset="0"/>
              </a:rPr>
              <a:t>B or Unadjusted Basis</a:t>
            </a:r>
            <a:r>
              <a:rPr lang="en-US" sz="2357" b="1" dirty="0">
                <a:latin typeface="Arial Narrow" panose="020B0506020202030204" pitchFamily="34" charset="0"/>
              </a:rPr>
              <a:t> : </a:t>
            </a:r>
            <a:r>
              <a:rPr lang="en-US" sz="2357" dirty="0">
                <a:solidFill>
                  <a:srgbClr val="7030A0"/>
                </a:solidFill>
                <a:latin typeface="Arial Narrow" panose="020B0506020202030204" pitchFamily="34" charset="0"/>
              </a:rPr>
              <a:t>Total installed cost of asset</a:t>
            </a:r>
          </a:p>
          <a:p>
            <a:pPr>
              <a:defRPr/>
            </a:pPr>
            <a:endParaRPr lang="en-US" sz="964" dirty="0">
              <a:latin typeface="Arial Narrow" panose="020B0506020202030204" pitchFamily="34" charset="0"/>
            </a:endParaRPr>
          </a:p>
          <a:p>
            <a:pPr>
              <a:defRPr/>
            </a:pPr>
            <a:r>
              <a:rPr lang="en-US" sz="2357" b="1" dirty="0">
                <a:latin typeface="Arial Narrow" panose="020B0506020202030204" pitchFamily="34" charset="0"/>
              </a:rPr>
              <a:t>Book value </a:t>
            </a:r>
            <a:r>
              <a:rPr lang="en-US" sz="2357" b="1" i="1" dirty="0">
                <a:latin typeface="Arial Narrow" panose="020B0506020202030204" pitchFamily="34" charset="0"/>
              </a:rPr>
              <a:t>BV</a:t>
            </a:r>
            <a:r>
              <a:rPr lang="en-US" sz="2357" b="1" i="1" baseline="-25000" dirty="0">
                <a:latin typeface="Arial Narrow" panose="020B0506020202030204" pitchFamily="34" charset="0"/>
              </a:rPr>
              <a:t>t</a:t>
            </a:r>
            <a:r>
              <a:rPr lang="en-US" sz="2357" b="1" dirty="0">
                <a:latin typeface="Arial Narrow" panose="020B0506020202030204" pitchFamily="34" charset="0"/>
              </a:rPr>
              <a:t>:</a:t>
            </a:r>
            <a:r>
              <a:rPr lang="en-US" sz="2357" dirty="0">
                <a:latin typeface="Arial Narrow" panose="020B0506020202030204" pitchFamily="34" charset="0"/>
              </a:rPr>
              <a:t> </a:t>
            </a:r>
            <a:r>
              <a:rPr lang="en-US" sz="2357" dirty="0">
                <a:solidFill>
                  <a:srgbClr val="009900"/>
                </a:solidFill>
                <a:latin typeface="Arial Narrow" panose="020B0506020202030204" pitchFamily="34" charset="0"/>
              </a:rPr>
              <a:t>Remaining undepreciated capital investment in year t</a:t>
            </a:r>
          </a:p>
          <a:p>
            <a:pPr>
              <a:defRPr/>
            </a:pPr>
            <a:endParaRPr lang="en-US" sz="964" dirty="0">
              <a:latin typeface="Arial Narrow" panose="020B0506020202030204" pitchFamily="34" charset="0"/>
            </a:endParaRPr>
          </a:p>
          <a:p>
            <a:pPr>
              <a:defRPr/>
            </a:pPr>
            <a:r>
              <a:rPr lang="en-US" sz="2357" b="1" dirty="0">
                <a:latin typeface="Arial Narrow" panose="020B0506020202030204" pitchFamily="34" charset="0"/>
              </a:rPr>
              <a:t>Recovery period </a:t>
            </a:r>
            <a:r>
              <a:rPr lang="en-US" sz="2357" b="1" i="1" dirty="0">
                <a:latin typeface="Arial Narrow" panose="020B0506020202030204" pitchFamily="34" charset="0"/>
              </a:rPr>
              <a:t>n</a:t>
            </a:r>
            <a:r>
              <a:rPr lang="en-US" sz="2357" b="1" dirty="0">
                <a:latin typeface="Arial Narrow" panose="020B0506020202030204" pitchFamily="34" charset="0"/>
              </a:rPr>
              <a:t>: </a:t>
            </a:r>
            <a:r>
              <a:rPr lang="en-US" sz="2357" dirty="0">
                <a:latin typeface="Arial Narrow" panose="020B0506020202030204" pitchFamily="34" charset="0"/>
              </a:rPr>
              <a:t>Depreciable life of asset in years</a:t>
            </a:r>
          </a:p>
          <a:p>
            <a:pPr>
              <a:defRPr/>
            </a:pPr>
            <a:endParaRPr lang="en-US" sz="964" dirty="0">
              <a:latin typeface="Arial Narrow" panose="020B0506020202030204" pitchFamily="34" charset="0"/>
            </a:endParaRPr>
          </a:p>
          <a:p>
            <a:pPr>
              <a:defRPr/>
            </a:pPr>
            <a:r>
              <a:rPr lang="en-US" sz="2357" b="1" dirty="0">
                <a:latin typeface="Arial Narrow" panose="020B0506020202030204" pitchFamily="34" charset="0"/>
              </a:rPr>
              <a:t>Market value </a:t>
            </a:r>
            <a:r>
              <a:rPr lang="en-US" sz="2357" b="1" i="1" dirty="0">
                <a:latin typeface="Arial Narrow" panose="020B0506020202030204" pitchFamily="34" charset="0"/>
              </a:rPr>
              <a:t>MV</a:t>
            </a:r>
            <a:r>
              <a:rPr lang="en-US" sz="2357" b="1" dirty="0">
                <a:latin typeface="Arial Narrow" panose="020B0506020202030204" pitchFamily="34" charset="0"/>
              </a:rPr>
              <a:t>: </a:t>
            </a:r>
            <a:r>
              <a:rPr lang="en-US" sz="2357" dirty="0">
                <a:solidFill>
                  <a:srgbClr val="C00000"/>
                </a:solidFill>
                <a:latin typeface="Arial Narrow" panose="020B0506020202030204" pitchFamily="34" charset="0"/>
              </a:rPr>
              <a:t>Amount realizable if asset were sold on open market</a:t>
            </a:r>
          </a:p>
          <a:p>
            <a:pPr>
              <a:defRPr/>
            </a:pPr>
            <a:endParaRPr lang="en-US" sz="964" dirty="0">
              <a:latin typeface="Arial Narrow" panose="020B0506020202030204" pitchFamily="34" charset="0"/>
            </a:endParaRPr>
          </a:p>
          <a:p>
            <a:pPr>
              <a:defRPr/>
            </a:pPr>
            <a:r>
              <a:rPr lang="en-US" sz="2357" b="1" dirty="0">
                <a:latin typeface="Arial Narrow" panose="020B0506020202030204" pitchFamily="34" charset="0"/>
              </a:rPr>
              <a:t>Salvage value </a:t>
            </a:r>
            <a:r>
              <a:rPr lang="en-US" sz="2357" b="1" i="1" dirty="0">
                <a:latin typeface="Arial Narrow" panose="020B0506020202030204" pitchFamily="34" charset="0"/>
              </a:rPr>
              <a:t>S</a:t>
            </a:r>
            <a:r>
              <a:rPr lang="en-US" sz="2357" b="1" dirty="0">
                <a:latin typeface="Arial Narrow" panose="020B0506020202030204" pitchFamily="34" charset="0"/>
              </a:rPr>
              <a:t>: </a:t>
            </a:r>
            <a:r>
              <a:rPr lang="en-US" sz="2357" dirty="0">
                <a:solidFill>
                  <a:srgbClr val="00B0F0"/>
                </a:solidFill>
                <a:latin typeface="Arial Narrow" panose="020B0506020202030204" pitchFamily="34" charset="0"/>
              </a:rPr>
              <a:t>Estimated trade-in or MV at end of asset’s useful life</a:t>
            </a:r>
          </a:p>
          <a:p>
            <a:pPr>
              <a:defRPr/>
            </a:pPr>
            <a:endParaRPr lang="en-US" sz="964" dirty="0">
              <a:latin typeface="Arial Narrow" panose="020B0506020202030204" pitchFamily="34" charset="0"/>
            </a:endParaRPr>
          </a:p>
          <a:p>
            <a:pPr>
              <a:defRPr/>
            </a:pPr>
            <a:r>
              <a:rPr lang="en-US" sz="2357" b="1" dirty="0">
                <a:latin typeface="Arial Narrow" panose="020B0506020202030204" pitchFamily="34" charset="0"/>
              </a:rPr>
              <a:t>Depreciation rate </a:t>
            </a:r>
            <a:r>
              <a:rPr lang="en-US" sz="2357" b="1" i="1" dirty="0">
                <a:latin typeface="Arial Narrow" panose="020B0506020202030204" pitchFamily="34" charset="0"/>
              </a:rPr>
              <a:t>d</a:t>
            </a:r>
            <a:r>
              <a:rPr lang="en-US" sz="2357" b="1" i="1" baseline="-25000" dirty="0">
                <a:latin typeface="Arial Narrow" panose="020B0506020202030204" pitchFamily="34" charset="0"/>
              </a:rPr>
              <a:t>t</a:t>
            </a:r>
            <a:r>
              <a:rPr lang="en-US" sz="2357" b="1" dirty="0">
                <a:latin typeface="Arial Narrow" panose="020B0506020202030204" pitchFamily="34" charset="0"/>
              </a:rPr>
              <a:t>: </a:t>
            </a:r>
            <a:r>
              <a:rPr lang="en-US" sz="2357" dirty="0">
                <a:solidFill>
                  <a:srgbClr val="9900FF"/>
                </a:solidFill>
                <a:latin typeface="Arial Narrow" panose="020B0506020202030204" pitchFamily="34" charset="0"/>
              </a:rPr>
              <a:t>Fraction of first cost or basis removed each year t</a:t>
            </a:r>
          </a:p>
          <a:p>
            <a:pPr>
              <a:defRPr/>
            </a:pPr>
            <a:endParaRPr lang="en-US" sz="964" dirty="0">
              <a:solidFill>
                <a:srgbClr val="9900FF"/>
              </a:solidFill>
              <a:latin typeface="Arial Narrow" panose="020B0506020202030204" pitchFamily="34" charset="0"/>
            </a:endParaRPr>
          </a:p>
          <a:p>
            <a:pPr>
              <a:defRPr/>
            </a:pPr>
            <a:endParaRPr lang="en-US" sz="964" dirty="0">
              <a:latin typeface="Arial Narrow" panose="020B0506020202030204" pitchFamily="34" charset="0"/>
            </a:endParaRPr>
          </a:p>
          <a:p>
            <a:pPr>
              <a:defRPr/>
            </a:pPr>
            <a:r>
              <a:rPr lang="en-US" sz="2357" b="1" dirty="0">
                <a:latin typeface="Arial Narrow" panose="020B0506020202030204" pitchFamily="34" charset="0"/>
              </a:rPr>
              <a:t>Personal property: </a:t>
            </a:r>
            <a:r>
              <a:rPr lang="en-US" sz="2357" dirty="0">
                <a:solidFill>
                  <a:schemeClr val="bg1">
                    <a:lumMod val="25000"/>
                  </a:schemeClr>
                </a:solidFill>
                <a:latin typeface="Arial Narrow" panose="020B0506020202030204" pitchFamily="34" charset="0"/>
              </a:rPr>
              <a:t>Possessions of company used to conduct business</a:t>
            </a:r>
          </a:p>
          <a:p>
            <a:pPr>
              <a:defRPr/>
            </a:pPr>
            <a:endParaRPr lang="en-US" sz="964" dirty="0">
              <a:latin typeface="Arial Narrow" panose="020B0506020202030204" pitchFamily="34" charset="0"/>
            </a:endParaRPr>
          </a:p>
          <a:p>
            <a:pPr>
              <a:defRPr/>
            </a:pPr>
            <a:r>
              <a:rPr lang="en-US" sz="2357" b="1" dirty="0">
                <a:latin typeface="Arial Narrow" panose="020B0506020202030204" pitchFamily="34" charset="0"/>
              </a:rPr>
              <a:t>Real property: </a:t>
            </a:r>
            <a:r>
              <a:rPr lang="en-US" sz="2357" dirty="0">
                <a:solidFill>
                  <a:srgbClr val="FF0000"/>
                </a:solidFill>
                <a:latin typeface="Arial Narrow" panose="020B0506020202030204" pitchFamily="34" charset="0"/>
              </a:rPr>
              <a:t>Real estate and all improvements </a:t>
            </a:r>
            <a:r>
              <a:rPr lang="en-US" sz="2357" b="1" dirty="0">
                <a:latin typeface="Arial Narrow" panose="020B0506020202030204" pitchFamily="34" charset="0"/>
              </a:rPr>
              <a:t>(land is not depreciable)</a:t>
            </a:r>
          </a:p>
          <a:p>
            <a:pPr>
              <a:defRPr/>
            </a:pPr>
            <a:endParaRPr lang="en-US" sz="964" dirty="0">
              <a:latin typeface="Arial Narrow" panose="020B0506020202030204" pitchFamily="34" charset="0"/>
            </a:endParaRPr>
          </a:p>
          <a:p>
            <a:pPr>
              <a:defRPr/>
            </a:pPr>
            <a:r>
              <a:rPr lang="en-US" sz="2357" b="1" dirty="0">
                <a:latin typeface="Arial Narrow" panose="020B0506020202030204" pitchFamily="34" charset="0"/>
              </a:rPr>
              <a:t>Half-year convention: </a:t>
            </a:r>
            <a:r>
              <a:rPr lang="en-US" sz="2357" dirty="0">
                <a:solidFill>
                  <a:srgbClr val="CC9900"/>
                </a:solidFill>
                <a:latin typeface="Arial Narrow" panose="020B0506020202030204" pitchFamily="34" charset="0"/>
              </a:rPr>
              <a:t>Assumes assets are placed in service in midyear </a:t>
            </a:r>
          </a:p>
        </p:txBody>
      </p:sp>
      <p:cxnSp>
        <p:nvCxnSpPr>
          <p:cNvPr id="20484" name="Straight Connector 8"/>
          <p:cNvCxnSpPr>
            <a:cxnSpLocks noChangeShapeType="1"/>
          </p:cNvCxnSpPr>
          <p:nvPr/>
        </p:nvCxnSpPr>
        <p:spPr bwMode="auto">
          <a:xfrm>
            <a:off x="2013857" y="4490357"/>
            <a:ext cx="8327571" cy="0"/>
          </a:xfrm>
          <a:prstGeom prst="line">
            <a:avLst/>
          </a:prstGeom>
          <a:noFill/>
          <a:ln w="19050" algn="ctr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484395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986" y="867266"/>
            <a:ext cx="1056744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Calculating Depreciation:</a:t>
            </a:r>
          </a:p>
          <a:p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cost B or unadjusted basis 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installed cost of asset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Salvage value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trade-in or MV at end of asset’s useful life</a:t>
            </a:r>
          </a:p>
          <a:p>
            <a:r>
              <a:rPr lang="en-US" sz="2800" b="1" dirty="0">
                <a:latin typeface="Arial Narrow" panose="020B0506020202030204" pitchFamily="34" charset="0"/>
              </a:rPr>
              <a:t>	Recovery period </a:t>
            </a:r>
            <a:r>
              <a:rPr lang="en-US" sz="2800" b="1" i="1" dirty="0">
                <a:latin typeface="Arial Narrow" panose="020B0506020202030204" pitchFamily="34" charset="0"/>
              </a:rPr>
              <a:t>n</a:t>
            </a:r>
            <a:r>
              <a:rPr lang="en-US" sz="2800" b="1" dirty="0">
                <a:latin typeface="Arial Narrow" panose="020B0506020202030204" pitchFamily="34" charset="0"/>
              </a:rPr>
              <a:t>: </a:t>
            </a:r>
            <a:r>
              <a:rPr lang="en-US" sz="2800" dirty="0">
                <a:latin typeface="Arial Narrow" panose="020B0506020202030204" pitchFamily="34" charset="0"/>
              </a:rPr>
              <a:t>Depreciable life of asset in years</a:t>
            </a:r>
          </a:p>
          <a:p>
            <a:endParaRPr lang="en-US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Depreciation Rate,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1/n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So,			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 Depreciation = (B-S)/n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43720" y="5171457"/>
            <a:ext cx="3733015" cy="52790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925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76693" y="886120"/>
            <a:ext cx="10473179" cy="426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Calculating Book Value</a:t>
            </a:r>
          </a:p>
          <a:p>
            <a:endParaRPr lang="en-US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value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BV</a:t>
            </a:r>
            <a:r>
              <a:rPr lang="en-US" sz="32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Remaining undepreciated capital investment in year t</a:t>
            </a:r>
          </a:p>
          <a:p>
            <a:pPr>
              <a:defRPr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 of Book Value:</a:t>
            </a:r>
          </a:p>
          <a:p>
            <a:endParaRPr lang="en-US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BV</a:t>
            </a:r>
            <a:r>
              <a:rPr lang="en-US" sz="32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B – t*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b="1" u="sng" dirty="0"/>
          </a:p>
          <a:p>
            <a:endParaRPr lang="en-US" b="1" u="sng" dirty="0"/>
          </a:p>
        </p:txBody>
      </p:sp>
      <p:sp>
        <p:nvSpPr>
          <p:cNvPr id="4" name="Rectangle 3"/>
          <p:cNvSpPr/>
          <p:nvPr/>
        </p:nvSpPr>
        <p:spPr>
          <a:xfrm>
            <a:off x="3535052" y="3921551"/>
            <a:ext cx="2894028" cy="74471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11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 txBox="1">
            <a:spLocks noChangeArrowheads="1"/>
          </p:cNvSpPr>
          <p:nvPr/>
        </p:nvSpPr>
        <p:spPr bwMode="auto">
          <a:xfrm>
            <a:off x="2340766" y="401145"/>
            <a:ext cx="832757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565" tIns="44783" rIns="89565" bIns="44783" anchor="ctr"/>
          <a:lstStyle>
            <a:lvl1pPr defTabSz="836613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 defTabSz="836613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 defTabSz="836613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 defTabSz="836613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 defTabSz="836613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defTabSz="83661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defTabSz="83661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defTabSz="83661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defTabSz="83661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428" dirty="0">
                <a:solidFill>
                  <a:srgbClr val="FF0000"/>
                </a:solidFill>
              </a:rPr>
              <a:t>STRAIGHT LINE DEPRECIATION</a:t>
            </a:r>
          </a:p>
        </p:txBody>
      </p:sp>
      <p:sp>
        <p:nvSpPr>
          <p:cNvPr id="22531" name="TextBox 1"/>
          <p:cNvSpPr txBox="1">
            <a:spLocks noChangeArrowheads="1"/>
          </p:cNvSpPr>
          <p:nvPr/>
        </p:nvSpPr>
        <p:spPr bwMode="auto">
          <a:xfrm>
            <a:off x="3483429" y="1309687"/>
            <a:ext cx="5301451" cy="487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571" b="1">
                <a:latin typeface="Arial Narrow" panose="020B0606020202030204" pitchFamily="34" charset="0"/>
              </a:rPr>
              <a:t>Book value decreases </a:t>
            </a:r>
            <a:r>
              <a:rPr lang="en-US" altLang="en-US" sz="2571" b="1" i="1">
                <a:solidFill>
                  <a:srgbClr val="931B07"/>
                </a:solidFill>
                <a:latin typeface="Arial Narrow" panose="020B0606020202030204" pitchFamily="34" charset="0"/>
              </a:rPr>
              <a:t>linearly with time</a:t>
            </a:r>
          </a:p>
        </p:txBody>
      </p:sp>
      <p:sp>
        <p:nvSpPr>
          <p:cNvPr id="22532" name="Right Arrow 2"/>
          <p:cNvSpPr>
            <a:spLocks noChangeArrowheads="1"/>
          </p:cNvSpPr>
          <p:nvPr/>
        </p:nvSpPr>
        <p:spPr bwMode="auto">
          <a:xfrm>
            <a:off x="2993572" y="1488282"/>
            <a:ext cx="408214" cy="166688"/>
          </a:xfrm>
          <a:prstGeom prst="rightArrow">
            <a:avLst>
              <a:gd name="adj1" fmla="val 50000"/>
              <a:gd name="adj2" fmla="val 49762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571">
              <a:latin typeface="Arial Narrow" panose="020B0606020202030204" pitchFamily="34" charset="0"/>
            </a:endParaRPr>
          </a:p>
        </p:txBody>
      </p:sp>
      <p:sp>
        <p:nvSpPr>
          <p:cNvPr id="22533" name="TextBox 3"/>
          <p:cNvSpPr txBox="1">
            <a:spLocks noChangeArrowheads="1"/>
          </p:cNvSpPr>
          <p:nvPr/>
        </p:nvSpPr>
        <p:spPr bwMode="auto">
          <a:xfrm>
            <a:off x="2923836" y="2435679"/>
            <a:ext cx="936475" cy="61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428" b="1">
                <a:latin typeface="Arial Narrow" panose="020B0606020202030204" pitchFamily="34" charset="0"/>
              </a:rPr>
              <a:t>D</a:t>
            </a:r>
            <a:r>
              <a:rPr lang="en-US" altLang="en-US" sz="3428" b="1" baseline="-25000">
                <a:latin typeface="Arial Narrow" panose="020B0606020202030204" pitchFamily="34" charset="0"/>
              </a:rPr>
              <a:t>t</a:t>
            </a:r>
            <a:r>
              <a:rPr lang="en-US" altLang="en-US" sz="3428" b="1">
                <a:latin typeface="Arial Narrow" panose="020B0606020202030204" pitchFamily="34" charset="0"/>
              </a:rPr>
              <a:t> = </a:t>
            </a:r>
          </a:p>
        </p:txBody>
      </p:sp>
      <p:sp>
        <p:nvSpPr>
          <p:cNvPr id="22534" name="TextBox 5"/>
          <p:cNvSpPr txBox="1">
            <a:spLocks noChangeArrowheads="1"/>
          </p:cNvSpPr>
          <p:nvPr/>
        </p:nvSpPr>
        <p:spPr bwMode="auto">
          <a:xfrm>
            <a:off x="3651818" y="2224768"/>
            <a:ext cx="1007007" cy="61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428" b="1">
                <a:latin typeface="Arial Narrow" panose="020B0606020202030204" pitchFamily="34" charset="0"/>
              </a:rPr>
              <a:t>B - S</a:t>
            </a:r>
          </a:p>
        </p:txBody>
      </p:sp>
      <p:cxnSp>
        <p:nvCxnSpPr>
          <p:cNvPr id="22535" name="Straight Connector 7"/>
          <p:cNvCxnSpPr>
            <a:cxnSpLocks noChangeShapeType="1"/>
          </p:cNvCxnSpPr>
          <p:nvPr/>
        </p:nvCxnSpPr>
        <p:spPr bwMode="auto">
          <a:xfrm>
            <a:off x="3758973" y="2762250"/>
            <a:ext cx="816429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36" name="TextBox 8"/>
          <p:cNvSpPr txBox="1">
            <a:spLocks noChangeArrowheads="1"/>
          </p:cNvSpPr>
          <p:nvPr/>
        </p:nvSpPr>
        <p:spPr bwMode="auto">
          <a:xfrm>
            <a:off x="3951175" y="2585357"/>
            <a:ext cx="404278" cy="61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428" b="1">
                <a:latin typeface="Arial Narrow" panose="020B0606020202030204" pitchFamily="34" charset="0"/>
              </a:rPr>
              <a:t>n</a:t>
            </a:r>
          </a:p>
        </p:txBody>
      </p:sp>
      <p:sp>
        <p:nvSpPr>
          <p:cNvPr id="22537" name="TextBox 10"/>
          <p:cNvSpPr txBox="1">
            <a:spLocks noChangeArrowheads="1"/>
          </p:cNvSpPr>
          <p:nvPr/>
        </p:nvSpPr>
        <p:spPr bwMode="auto">
          <a:xfrm>
            <a:off x="5191125" y="2435679"/>
            <a:ext cx="4326826" cy="1741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>
                <a:solidFill>
                  <a:srgbClr val="3333CC"/>
                </a:solidFill>
                <a:latin typeface="Arial Narrow" panose="020B0606020202030204" pitchFamily="34" charset="0"/>
              </a:rPr>
              <a:t>Where:</a:t>
            </a:r>
            <a:r>
              <a:rPr lang="en-US" altLang="en-US" sz="2143">
                <a:latin typeface="Arial Narrow" panose="020B0606020202030204" pitchFamily="34" charset="0"/>
              </a:rPr>
              <a:t> </a:t>
            </a:r>
            <a:r>
              <a:rPr lang="en-US" altLang="en-US" sz="2143" b="1">
                <a:latin typeface="Arial Narrow" panose="020B0606020202030204" pitchFamily="34" charset="0"/>
              </a:rPr>
              <a:t>D</a:t>
            </a:r>
            <a:r>
              <a:rPr lang="en-US" altLang="en-US" sz="2143" b="1" baseline="-25000">
                <a:latin typeface="Arial Narrow" panose="020B0606020202030204" pitchFamily="34" charset="0"/>
              </a:rPr>
              <a:t>t</a:t>
            </a:r>
            <a:r>
              <a:rPr lang="en-US" altLang="en-US" sz="2143" b="1">
                <a:latin typeface="Arial Narrow" panose="020B0606020202030204" pitchFamily="34" charset="0"/>
              </a:rPr>
              <a:t> </a:t>
            </a:r>
            <a:r>
              <a:rPr lang="en-US" altLang="en-US" sz="2143">
                <a:latin typeface="Arial Narrow" panose="020B0606020202030204" pitchFamily="34" charset="0"/>
              </a:rPr>
              <a:t>= annual depreciation charge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>
                <a:latin typeface="Arial Narrow" panose="020B0606020202030204" pitchFamily="34" charset="0"/>
              </a:rPr>
              <a:t>               </a:t>
            </a:r>
            <a:r>
              <a:rPr lang="en-US" altLang="en-US" sz="2143" b="1">
                <a:latin typeface="Arial Narrow" panose="020B0606020202030204" pitchFamily="34" charset="0"/>
              </a:rPr>
              <a:t>t</a:t>
            </a:r>
            <a:r>
              <a:rPr lang="en-US" altLang="en-US" sz="2143">
                <a:latin typeface="Arial Narrow" panose="020B0606020202030204" pitchFamily="34" charset="0"/>
              </a:rPr>
              <a:t> = year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>
                <a:latin typeface="Arial Narrow" panose="020B0606020202030204" pitchFamily="34" charset="0"/>
              </a:rPr>
              <a:t>              </a:t>
            </a:r>
            <a:r>
              <a:rPr lang="en-US" altLang="en-US" sz="2143" b="1">
                <a:latin typeface="Arial Narrow" panose="020B0606020202030204" pitchFamily="34" charset="0"/>
              </a:rPr>
              <a:t>B</a:t>
            </a:r>
            <a:r>
              <a:rPr lang="en-US" altLang="en-US" sz="2143">
                <a:latin typeface="Arial Narrow" panose="020B0606020202030204" pitchFamily="34" charset="0"/>
              </a:rPr>
              <a:t> = first cost or unadjusted basis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>
                <a:latin typeface="Arial Narrow" panose="020B0606020202030204" pitchFamily="34" charset="0"/>
              </a:rPr>
              <a:t>              </a:t>
            </a:r>
            <a:r>
              <a:rPr lang="en-US" altLang="en-US" sz="2143" b="1">
                <a:latin typeface="Arial Narrow" panose="020B0606020202030204" pitchFamily="34" charset="0"/>
              </a:rPr>
              <a:t>S</a:t>
            </a:r>
            <a:r>
              <a:rPr lang="en-US" altLang="en-US" sz="2143">
                <a:latin typeface="Arial Narrow" panose="020B0606020202030204" pitchFamily="34" charset="0"/>
              </a:rPr>
              <a:t> = salvage value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>
                <a:latin typeface="Arial Narrow" panose="020B0606020202030204" pitchFamily="34" charset="0"/>
              </a:rPr>
              <a:t>              </a:t>
            </a:r>
            <a:r>
              <a:rPr lang="en-US" altLang="en-US" sz="2143" b="1">
                <a:latin typeface="Arial Narrow" panose="020B0606020202030204" pitchFamily="34" charset="0"/>
              </a:rPr>
              <a:t>n</a:t>
            </a:r>
            <a:r>
              <a:rPr lang="en-US" altLang="en-US" sz="2143">
                <a:latin typeface="Arial Narrow" panose="020B0606020202030204" pitchFamily="34" charset="0"/>
              </a:rPr>
              <a:t> = recovery period </a:t>
            </a:r>
          </a:p>
        </p:txBody>
      </p:sp>
      <p:sp>
        <p:nvSpPr>
          <p:cNvPr id="22538" name="TextBox 15"/>
          <p:cNvSpPr txBox="1">
            <a:spLocks noChangeArrowheads="1"/>
          </p:cNvSpPr>
          <p:nvPr/>
        </p:nvSpPr>
        <p:spPr bwMode="auto">
          <a:xfrm>
            <a:off x="2757149" y="4493759"/>
            <a:ext cx="2218877" cy="61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428" b="1">
                <a:latin typeface="Arial Narrow" panose="020B0606020202030204" pitchFamily="34" charset="0"/>
              </a:rPr>
              <a:t>BV</a:t>
            </a:r>
            <a:r>
              <a:rPr lang="en-US" altLang="en-US" sz="3428" b="1" baseline="-25000">
                <a:latin typeface="Arial Narrow" panose="020B0606020202030204" pitchFamily="34" charset="0"/>
              </a:rPr>
              <a:t>t</a:t>
            </a:r>
            <a:r>
              <a:rPr lang="en-US" altLang="en-US" sz="3428" b="1">
                <a:latin typeface="Arial Narrow" panose="020B0606020202030204" pitchFamily="34" charset="0"/>
              </a:rPr>
              <a:t> = B - tD</a:t>
            </a:r>
            <a:r>
              <a:rPr lang="en-US" altLang="en-US" sz="3428" b="1" baseline="-25000">
                <a:latin typeface="Arial Narrow" panose="020B0606020202030204" pitchFamily="34" charset="0"/>
              </a:rPr>
              <a:t>t</a:t>
            </a:r>
            <a:endParaRPr lang="en-US" altLang="en-US" sz="3428" b="1">
              <a:latin typeface="Arial Narrow" panose="020B0606020202030204" pitchFamily="34" charset="0"/>
            </a:endParaRPr>
          </a:p>
        </p:txBody>
      </p:sp>
      <p:sp>
        <p:nvSpPr>
          <p:cNvPr id="22539" name="Rectangle 12"/>
          <p:cNvSpPr>
            <a:spLocks noChangeArrowheads="1"/>
          </p:cNvSpPr>
          <p:nvPr/>
        </p:nvSpPr>
        <p:spPr bwMode="auto">
          <a:xfrm>
            <a:off x="5197928" y="4572000"/>
            <a:ext cx="3912054" cy="42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>
                <a:solidFill>
                  <a:srgbClr val="3333CC"/>
                </a:solidFill>
                <a:latin typeface="Arial Narrow" panose="020B0606020202030204" pitchFamily="34" charset="0"/>
              </a:rPr>
              <a:t>Where:</a:t>
            </a:r>
            <a:r>
              <a:rPr lang="en-US" altLang="en-US" sz="2143">
                <a:latin typeface="Arial Narrow" panose="020B0606020202030204" pitchFamily="34" charset="0"/>
              </a:rPr>
              <a:t> </a:t>
            </a:r>
            <a:r>
              <a:rPr lang="en-US" altLang="en-US" sz="2143" b="1">
                <a:latin typeface="Arial Narrow" panose="020B0606020202030204" pitchFamily="34" charset="0"/>
              </a:rPr>
              <a:t>BV</a:t>
            </a:r>
            <a:r>
              <a:rPr lang="en-US" altLang="en-US" sz="2143" b="1" baseline="-25000">
                <a:latin typeface="Arial Narrow" panose="020B0606020202030204" pitchFamily="34" charset="0"/>
              </a:rPr>
              <a:t>t</a:t>
            </a:r>
            <a:r>
              <a:rPr lang="en-US" altLang="en-US" sz="2143">
                <a:latin typeface="Arial Narrow" panose="020B0606020202030204" pitchFamily="34" charset="0"/>
              </a:rPr>
              <a:t> = book value after t years</a:t>
            </a:r>
          </a:p>
        </p:txBody>
      </p:sp>
      <p:sp>
        <p:nvSpPr>
          <p:cNvPr id="22540" name="TextBox 14"/>
          <p:cNvSpPr txBox="1">
            <a:spLocks noChangeArrowheads="1"/>
          </p:cNvSpPr>
          <p:nvPr/>
        </p:nvSpPr>
        <p:spPr bwMode="auto">
          <a:xfrm>
            <a:off x="2503715" y="5470072"/>
            <a:ext cx="7184571" cy="487954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571">
                <a:latin typeface="Arial Narrow" panose="020B0606020202030204" pitchFamily="34" charset="0"/>
              </a:rPr>
              <a:t>SL depreciation rate is </a:t>
            </a:r>
            <a:r>
              <a:rPr lang="en-US" altLang="en-US" sz="2571" b="1">
                <a:solidFill>
                  <a:srgbClr val="931B07"/>
                </a:solidFill>
                <a:latin typeface="Arial Narrow" panose="020B0606020202030204" pitchFamily="34" charset="0"/>
              </a:rPr>
              <a:t>constant</a:t>
            </a:r>
            <a:r>
              <a:rPr lang="en-US" altLang="en-US" sz="2571">
                <a:latin typeface="Arial Narrow" panose="020B0606020202030204" pitchFamily="34" charset="0"/>
              </a:rPr>
              <a:t> for each year: d = d</a:t>
            </a:r>
            <a:r>
              <a:rPr lang="en-US" altLang="en-US" sz="2571" baseline="-25000">
                <a:latin typeface="Arial Narrow" panose="020B0606020202030204" pitchFamily="34" charset="0"/>
              </a:rPr>
              <a:t>t</a:t>
            </a:r>
            <a:r>
              <a:rPr lang="en-US" altLang="en-US" sz="2571">
                <a:latin typeface="Arial Narrow" panose="020B0606020202030204" pitchFamily="34" charset="0"/>
              </a:rPr>
              <a:t> = 1/n</a:t>
            </a:r>
          </a:p>
        </p:txBody>
      </p:sp>
    </p:spTree>
    <p:extLst>
      <p:ext uri="{BB962C8B-B14F-4D97-AF65-F5344CB8AC3E}">
        <p14:creationId xmlns:p14="http://schemas.microsoft.com/office/powerpoint/2010/main" val="2791724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 txBox="1">
            <a:spLocks noChangeArrowheads="1"/>
          </p:cNvSpPr>
          <p:nvPr/>
        </p:nvSpPr>
        <p:spPr bwMode="auto">
          <a:xfrm>
            <a:off x="2803072" y="467891"/>
            <a:ext cx="696685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565" tIns="44783" rIns="89565" bIns="44783" anchor="ctr"/>
          <a:lstStyle>
            <a:lvl1pPr defTabSz="836613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 defTabSz="836613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 defTabSz="836613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 defTabSz="836613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 defTabSz="836613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defTabSz="83661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defTabSz="83661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defTabSz="83661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defTabSz="83661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00" dirty="0">
                <a:solidFill>
                  <a:srgbClr val="FF0000"/>
                </a:solidFill>
              </a:rPr>
              <a:t>EXAMPLE: SL DEPRECIATION</a:t>
            </a:r>
          </a:p>
        </p:txBody>
      </p:sp>
      <p:sp>
        <p:nvSpPr>
          <p:cNvPr id="36" name="Text Box 14"/>
          <p:cNvSpPr txBox="1">
            <a:spLocks noChangeArrowheads="1"/>
          </p:cNvSpPr>
          <p:nvPr/>
        </p:nvSpPr>
        <p:spPr bwMode="auto">
          <a:xfrm>
            <a:off x="2413568" y="3265715"/>
            <a:ext cx="4217821" cy="108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 b="1">
                <a:solidFill>
                  <a:srgbClr val="FF0000"/>
                </a:solidFill>
                <a:latin typeface="Arial Narrow" panose="020B0606020202030204" pitchFamily="34" charset="0"/>
              </a:rPr>
              <a:t>Solution:</a:t>
            </a:r>
            <a:r>
              <a:rPr lang="en-US" altLang="en-US" sz="1929">
                <a:latin typeface="Arial Narrow" panose="020B0606020202030204" pitchFamily="34" charset="0"/>
              </a:rPr>
              <a:t>     </a:t>
            </a:r>
            <a:r>
              <a:rPr lang="en-US" altLang="en-US" sz="2143" b="1">
                <a:latin typeface="Arial Narrow" panose="020B0606020202030204" pitchFamily="34" charset="0"/>
              </a:rPr>
              <a:t>(a ) D</a:t>
            </a:r>
            <a:r>
              <a:rPr lang="en-US" altLang="en-US" sz="2143" b="1" baseline="-25000">
                <a:latin typeface="Arial Narrow" panose="020B0606020202030204" pitchFamily="34" charset="0"/>
              </a:rPr>
              <a:t>3</a:t>
            </a:r>
            <a:r>
              <a:rPr lang="en-US" altLang="en-US" sz="2143" b="1">
                <a:latin typeface="Arial Narrow" panose="020B0606020202030204" pitchFamily="34" charset="0"/>
              </a:rPr>
              <a:t> = (B – S)/n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 b="1">
                <a:solidFill>
                  <a:srgbClr val="7030A0"/>
                </a:solidFill>
                <a:latin typeface="Arial Narrow" panose="020B0606020202030204" pitchFamily="34" charset="0"/>
              </a:rPr>
              <a:t>                                = (20,000 – 5,000)/5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 b="1">
                <a:solidFill>
                  <a:srgbClr val="7030A0"/>
                </a:solidFill>
                <a:latin typeface="Arial Narrow" panose="020B0606020202030204" pitchFamily="34" charset="0"/>
              </a:rPr>
              <a:t>                                = </a:t>
            </a:r>
            <a:r>
              <a:rPr lang="en-US" altLang="en-US" sz="2143" b="1">
                <a:solidFill>
                  <a:srgbClr val="00B050"/>
                </a:solidFill>
                <a:latin typeface="Arial Narrow" panose="020B0606020202030204" pitchFamily="34" charset="0"/>
              </a:rPr>
              <a:t>$3,000</a:t>
            </a:r>
          </a:p>
        </p:txBody>
      </p:sp>
      <p:sp>
        <p:nvSpPr>
          <p:cNvPr id="37" name="Text Box 15"/>
          <p:cNvSpPr txBox="1">
            <a:spLocks noChangeArrowheads="1"/>
          </p:cNvSpPr>
          <p:nvPr/>
        </p:nvSpPr>
        <p:spPr bwMode="auto">
          <a:xfrm>
            <a:off x="3646715" y="4735286"/>
            <a:ext cx="3029997" cy="108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 b="1">
                <a:latin typeface="Arial Narrow" panose="020B0606020202030204" pitchFamily="34" charset="0"/>
              </a:rPr>
              <a:t>(b) </a:t>
            </a:r>
            <a:r>
              <a:rPr lang="en-US" altLang="en-US" sz="2143" b="1">
                <a:solidFill>
                  <a:srgbClr val="7030A0"/>
                </a:solidFill>
                <a:latin typeface="Arial Narrow" panose="020B0606020202030204" pitchFamily="34" charset="0"/>
              </a:rPr>
              <a:t> </a:t>
            </a:r>
            <a:r>
              <a:rPr lang="en-US" altLang="en-US" sz="2143" b="1">
                <a:latin typeface="Arial Narrow" panose="020B0606020202030204" pitchFamily="34" charset="0"/>
              </a:rPr>
              <a:t>BV</a:t>
            </a:r>
            <a:r>
              <a:rPr lang="en-US" altLang="en-US" sz="2143" b="1" baseline="-25000">
                <a:latin typeface="Arial Narrow" panose="020B0606020202030204" pitchFamily="34" charset="0"/>
              </a:rPr>
              <a:t>3</a:t>
            </a:r>
            <a:r>
              <a:rPr lang="en-US" altLang="en-US" sz="2143" b="1">
                <a:latin typeface="Arial Narrow" panose="020B0606020202030204" pitchFamily="34" charset="0"/>
              </a:rPr>
              <a:t> = B – tD</a:t>
            </a:r>
            <a:r>
              <a:rPr lang="en-US" altLang="en-US" sz="2143" b="1" baseline="-25000">
                <a:latin typeface="Arial Narrow" panose="020B0606020202030204" pitchFamily="34" charset="0"/>
              </a:rPr>
              <a:t>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 b="1" baseline="-25000">
                <a:solidFill>
                  <a:srgbClr val="7030A0"/>
                </a:solidFill>
                <a:latin typeface="Arial Narrow" panose="020B0606020202030204" pitchFamily="34" charset="0"/>
              </a:rPr>
              <a:t>                     </a:t>
            </a:r>
            <a:r>
              <a:rPr lang="en-US" altLang="en-US" sz="2143" b="1">
                <a:solidFill>
                  <a:srgbClr val="7030A0"/>
                </a:solidFill>
                <a:latin typeface="Arial Narrow" panose="020B0606020202030204" pitchFamily="34" charset="0"/>
              </a:rPr>
              <a:t>= 20,000 – 3(3,000)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 b="1">
                <a:solidFill>
                  <a:srgbClr val="7030A0"/>
                </a:solidFill>
                <a:latin typeface="Arial Narrow" panose="020B0606020202030204" pitchFamily="34" charset="0"/>
              </a:rPr>
              <a:t>              = </a:t>
            </a:r>
            <a:r>
              <a:rPr lang="en-US" altLang="en-US" sz="2143" b="1">
                <a:solidFill>
                  <a:srgbClr val="00B050"/>
                </a:solidFill>
                <a:latin typeface="Arial Narrow" panose="020B0606020202030204" pitchFamily="34" charset="0"/>
              </a:rPr>
              <a:t>$11,000</a:t>
            </a:r>
          </a:p>
        </p:txBody>
      </p:sp>
      <p:sp>
        <p:nvSpPr>
          <p:cNvPr id="23557" name="Rectangle 1"/>
          <p:cNvSpPr>
            <a:spLocks noChangeArrowheads="1"/>
          </p:cNvSpPr>
          <p:nvPr/>
        </p:nvSpPr>
        <p:spPr bwMode="auto">
          <a:xfrm>
            <a:off x="2258786" y="1551215"/>
            <a:ext cx="7511143" cy="1279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altLang="en-US" sz="2571"/>
              <a:t>An argon gas processor has  a first cost of $20,000 with a</a:t>
            </a:r>
          </a:p>
          <a:p>
            <a:r>
              <a:rPr lang="en-US" altLang="en-US" sz="2571"/>
              <a:t> $5,000 salvage value after 5 years. Find (a) D</a:t>
            </a:r>
            <a:r>
              <a:rPr lang="en-US" altLang="en-US" sz="2571" baseline="-25000"/>
              <a:t>3</a:t>
            </a:r>
            <a:r>
              <a:rPr lang="en-US" altLang="en-US" sz="2571"/>
              <a:t> and  (b) BV</a:t>
            </a:r>
            <a:r>
              <a:rPr lang="en-US" altLang="en-US" sz="2571" baseline="-25000"/>
              <a:t>3</a:t>
            </a:r>
            <a:r>
              <a:rPr lang="en-US" altLang="en-US" sz="2571"/>
              <a:t> </a:t>
            </a:r>
          </a:p>
          <a:p>
            <a:r>
              <a:rPr lang="en-US" altLang="en-US" sz="2571"/>
              <a:t> for year three. (c) Plot book value vs. time.</a:t>
            </a:r>
          </a:p>
        </p:txBody>
      </p:sp>
      <p:sp>
        <p:nvSpPr>
          <p:cNvPr id="23558" name="TextBox 8"/>
          <p:cNvSpPr txBox="1">
            <a:spLocks noChangeArrowheads="1"/>
          </p:cNvSpPr>
          <p:nvPr/>
        </p:nvSpPr>
        <p:spPr bwMode="auto">
          <a:xfrm>
            <a:off x="7647214" y="3510643"/>
            <a:ext cx="2286000" cy="2400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 b="1">
                <a:latin typeface="Arial Narrow" panose="020B0606020202030204" pitchFamily="34" charset="0"/>
              </a:rPr>
              <a:t>(c) Plot BV vs. time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143" b="1">
              <a:latin typeface="Arial Narrow" panose="020B060602020203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143" b="1">
              <a:latin typeface="Arial Narrow" panose="020B060602020203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143" b="1">
              <a:latin typeface="Arial Narrow" panose="020B060602020203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143" b="1">
              <a:latin typeface="Arial Narrow" panose="020B060602020203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143" b="1">
              <a:latin typeface="Arial Narrow" panose="020B060602020203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143" b="1">
              <a:latin typeface="Arial Narrow" panose="020B0606020202030204" pitchFamily="34" charset="0"/>
            </a:endParaRPr>
          </a:p>
        </p:txBody>
      </p:sp>
      <p:cxnSp>
        <p:nvCxnSpPr>
          <p:cNvPr id="23559" name="Straight Connector 10"/>
          <p:cNvCxnSpPr>
            <a:cxnSpLocks noChangeShapeType="1"/>
          </p:cNvCxnSpPr>
          <p:nvPr/>
        </p:nvCxnSpPr>
        <p:spPr bwMode="auto">
          <a:xfrm rot="5400000">
            <a:off x="7279822" y="4939393"/>
            <a:ext cx="1551214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0" name="Straight Connector 13"/>
          <p:cNvCxnSpPr>
            <a:cxnSpLocks noChangeShapeType="1"/>
          </p:cNvCxnSpPr>
          <p:nvPr/>
        </p:nvCxnSpPr>
        <p:spPr bwMode="auto">
          <a:xfrm>
            <a:off x="8055429" y="5715000"/>
            <a:ext cx="179614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1" name="Straight Connector 16"/>
          <p:cNvCxnSpPr>
            <a:cxnSpLocks noChangeShapeType="1"/>
          </p:cNvCxnSpPr>
          <p:nvPr/>
        </p:nvCxnSpPr>
        <p:spPr bwMode="auto">
          <a:xfrm>
            <a:off x="7973786" y="4327071"/>
            <a:ext cx="163286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2" name="Straight Connector 24"/>
          <p:cNvCxnSpPr>
            <a:cxnSpLocks noChangeShapeType="1"/>
          </p:cNvCxnSpPr>
          <p:nvPr/>
        </p:nvCxnSpPr>
        <p:spPr bwMode="auto">
          <a:xfrm rot="5400000">
            <a:off x="9361714" y="5715000"/>
            <a:ext cx="163286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3" name="Straight Connector 26"/>
          <p:cNvCxnSpPr>
            <a:cxnSpLocks noChangeShapeType="1"/>
          </p:cNvCxnSpPr>
          <p:nvPr/>
        </p:nvCxnSpPr>
        <p:spPr bwMode="auto">
          <a:xfrm rot="5400000">
            <a:off x="8790214" y="5715000"/>
            <a:ext cx="163286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4" name="Straight Connector 27"/>
          <p:cNvCxnSpPr>
            <a:cxnSpLocks noChangeShapeType="1"/>
          </p:cNvCxnSpPr>
          <p:nvPr/>
        </p:nvCxnSpPr>
        <p:spPr bwMode="auto">
          <a:xfrm>
            <a:off x="7973786" y="4980214"/>
            <a:ext cx="163286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5" name="Straight Connector 29"/>
          <p:cNvCxnSpPr>
            <a:cxnSpLocks noChangeShapeType="1"/>
          </p:cNvCxnSpPr>
          <p:nvPr/>
        </p:nvCxnSpPr>
        <p:spPr bwMode="auto">
          <a:xfrm>
            <a:off x="8055428" y="4327072"/>
            <a:ext cx="1387929" cy="1061357"/>
          </a:xfrm>
          <a:prstGeom prst="line">
            <a:avLst/>
          </a:prstGeom>
          <a:noFill/>
          <a:ln w="57150" algn="ctr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66" name="TextBox 33"/>
          <p:cNvSpPr txBox="1">
            <a:spLocks noChangeArrowheads="1"/>
          </p:cNvSpPr>
          <p:nvPr/>
        </p:nvSpPr>
        <p:spPr bwMode="auto">
          <a:xfrm>
            <a:off x="7320643" y="4163786"/>
            <a:ext cx="739305" cy="356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714">
                <a:latin typeface="Arial Narrow" panose="020B0606020202030204" pitchFamily="34" charset="0"/>
              </a:rPr>
              <a:t>20,000</a:t>
            </a:r>
          </a:p>
        </p:txBody>
      </p:sp>
      <p:sp>
        <p:nvSpPr>
          <p:cNvPr id="23567" name="TextBox 34"/>
          <p:cNvSpPr txBox="1">
            <a:spLocks noChangeArrowheads="1"/>
          </p:cNvSpPr>
          <p:nvPr/>
        </p:nvSpPr>
        <p:spPr bwMode="auto">
          <a:xfrm>
            <a:off x="7320643" y="4816929"/>
            <a:ext cx="726096" cy="356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714">
                <a:latin typeface="Arial Narrow" panose="020B0606020202030204" pitchFamily="34" charset="0"/>
              </a:rPr>
              <a:t>11,000</a:t>
            </a:r>
          </a:p>
        </p:txBody>
      </p:sp>
      <p:sp>
        <p:nvSpPr>
          <p:cNvPr id="23568" name="TextBox 37"/>
          <p:cNvSpPr txBox="1">
            <a:spLocks noChangeArrowheads="1"/>
          </p:cNvSpPr>
          <p:nvPr/>
        </p:nvSpPr>
        <p:spPr bwMode="auto">
          <a:xfrm>
            <a:off x="8708571" y="5796644"/>
            <a:ext cx="285656" cy="356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714">
                <a:latin typeface="Arial Narrow" panose="020B0606020202030204" pitchFamily="34" charset="0"/>
              </a:rPr>
              <a:t>3</a:t>
            </a:r>
          </a:p>
        </p:txBody>
      </p:sp>
      <p:sp>
        <p:nvSpPr>
          <p:cNvPr id="23569" name="TextBox 38"/>
          <p:cNvSpPr txBox="1">
            <a:spLocks noChangeArrowheads="1"/>
          </p:cNvSpPr>
          <p:nvPr/>
        </p:nvSpPr>
        <p:spPr bwMode="auto">
          <a:xfrm>
            <a:off x="9280071" y="5796644"/>
            <a:ext cx="285656" cy="356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714">
                <a:latin typeface="Arial Narrow" panose="020B0606020202030204" pitchFamily="34" charset="0"/>
              </a:rPr>
              <a:t>5</a:t>
            </a:r>
          </a:p>
        </p:txBody>
      </p:sp>
      <p:cxnSp>
        <p:nvCxnSpPr>
          <p:cNvPr id="23570" name="Straight Connector 40"/>
          <p:cNvCxnSpPr>
            <a:cxnSpLocks noChangeShapeType="1"/>
          </p:cNvCxnSpPr>
          <p:nvPr/>
        </p:nvCxnSpPr>
        <p:spPr bwMode="auto">
          <a:xfrm rot="5400000">
            <a:off x="9280072" y="5551714"/>
            <a:ext cx="326571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71" name="TextBox 43"/>
          <p:cNvSpPr txBox="1">
            <a:spLocks noChangeArrowheads="1"/>
          </p:cNvSpPr>
          <p:nvPr/>
        </p:nvSpPr>
        <p:spPr bwMode="auto">
          <a:xfrm>
            <a:off x="7402286" y="5225144"/>
            <a:ext cx="638316" cy="356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714">
                <a:latin typeface="Arial Narrow" panose="020B0606020202030204" pitchFamily="34" charset="0"/>
              </a:rPr>
              <a:t>5,000</a:t>
            </a:r>
          </a:p>
        </p:txBody>
      </p:sp>
      <p:cxnSp>
        <p:nvCxnSpPr>
          <p:cNvPr id="23572" name="Straight Connector 44"/>
          <p:cNvCxnSpPr>
            <a:cxnSpLocks noChangeShapeType="1"/>
          </p:cNvCxnSpPr>
          <p:nvPr/>
        </p:nvCxnSpPr>
        <p:spPr bwMode="auto">
          <a:xfrm rot="10800000">
            <a:off x="8055429" y="5388429"/>
            <a:ext cx="139473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73" name="TextBox 51"/>
          <p:cNvSpPr txBox="1">
            <a:spLocks noChangeArrowheads="1"/>
          </p:cNvSpPr>
          <p:nvPr/>
        </p:nvSpPr>
        <p:spPr bwMode="auto">
          <a:xfrm>
            <a:off x="7892143" y="5796644"/>
            <a:ext cx="285656" cy="356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714"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23574" name="TextBox 52"/>
          <p:cNvSpPr txBox="1">
            <a:spLocks noChangeArrowheads="1"/>
          </p:cNvSpPr>
          <p:nvPr/>
        </p:nvSpPr>
        <p:spPr bwMode="auto">
          <a:xfrm>
            <a:off x="9531804" y="5796643"/>
            <a:ext cx="700768" cy="356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714">
                <a:latin typeface="Arial Narrow" panose="020B0606020202030204" pitchFamily="34" charset="0"/>
              </a:rPr>
              <a:t>Year, t</a:t>
            </a:r>
          </a:p>
        </p:txBody>
      </p:sp>
      <p:sp>
        <p:nvSpPr>
          <p:cNvPr id="23575" name="TextBox 53"/>
          <p:cNvSpPr txBox="1">
            <a:spLocks noChangeArrowheads="1"/>
          </p:cNvSpPr>
          <p:nvPr/>
        </p:nvSpPr>
        <p:spPr bwMode="auto">
          <a:xfrm>
            <a:off x="7810500" y="3918858"/>
            <a:ext cx="508473" cy="356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714">
                <a:latin typeface="Arial Narrow" panose="020B0606020202030204" pitchFamily="34" charset="0"/>
              </a:rPr>
              <a:t>BV</a:t>
            </a:r>
            <a:r>
              <a:rPr lang="en-US" altLang="en-US" sz="1714" baseline="-25000">
                <a:latin typeface="Arial Narrow" panose="020B0606020202030204" pitchFamily="34" charset="0"/>
              </a:rPr>
              <a:t>t</a:t>
            </a:r>
            <a:r>
              <a:rPr lang="en-US" altLang="en-US" sz="1714">
                <a:latin typeface="Arial Narrow" panose="020B0606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0480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utoUpdateAnimBg="0"/>
      <p:bldP spid="37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 txBox="1">
            <a:spLocks noChangeArrowheads="1"/>
          </p:cNvSpPr>
          <p:nvPr/>
        </p:nvSpPr>
        <p:spPr bwMode="auto">
          <a:xfrm>
            <a:off x="1919438" y="505304"/>
            <a:ext cx="85725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36613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 defTabSz="836613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 defTabSz="836613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 defTabSz="836613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 defTabSz="836613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defTabSz="83661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defTabSz="83661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defTabSz="83661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defTabSz="83661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Declining Balance  (DB) and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Double Declining Balance (DDB) Depreciation </a:t>
            </a:r>
          </a:p>
        </p:txBody>
      </p:sp>
      <p:sp>
        <p:nvSpPr>
          <p:cNvPr id="25603" name="TextBox 14"/>
          <p:cNvSpPr txBox="1">
            <a:spLocks noChangeArrowheads="1"/>
          </p:cNvSpPr>
          <p:nvPr/>
        </p:nvSpPr>
        <p:spPr bwMode="auto">
          <a:xfrm>
            <a:off x="2381250" y="1273970"/>
            <a:ext cx="7972054" cy="42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 b="1">
                <a:latin typeface="Arial Narrow" panose="020B0606020202030204" pitchFamily="34" charset="0"/>
              </a:rPr>
              <a:t>Determined by </a:t>
            </a:r>
            <a:r>
              <a:rPr lang="en-US" altLang="en-US" sz="2143" b="1">
                <a:solidFill>
                  <a:srgbClr val="009900"/>
                </a:solidFill>
                <a:latin typeface="Arial Narrow" panose="020B0606020202030204" pitchFamily="34" charset="0"/>
              </a:rPr>
              <a:t>multiplying BV </a:t>
            </a:r>
            <a:r>
              <a:rPr lang="en-US" altLang="en-US" sz="2143" b="1">
                <a:latin typeface="Arial Narrow" panose="020B0606020202030204" pitchFamily="34" charset="0"/>
              </a:rPr>
              <a:t>at beginning of year </a:t>
            </a:r>
            <a:r>
              <a:rPr lang="en-US" altLang="en-US" sz="2143" b="1" i="1">
                <a:solidFill>
                  <a:srgbClr val="931B07"/>
                </a:solidFill>
                <a:latin typeface="Arial Narrow" panose="020B0606020202030204" pitchFamily="34" charset="0"/>
              </a:rPr>
              <a:t>by</a:t>
            </a:r>
            <a:r>
              <a:rPr lang="en-US" altLang="en-US" sz="2143" b="1">
                <a:latin typeface="Arial Narrow" panose="020B0606020202030204" pitchFamily="34" charset="0"/>
              </a:rPr>
              <a:t> </a:t>
            </a:r>
            <a:r>
              <a:rPr lang="en-US" altLang="en-US" sz="2143" b="1" i="1">
                <a:solidFill>
                  <a:srgbClr val="931B07"/>
                </a:solidFill>
                <a:latin typeface="Arial Narrow" panose="020B0606020202030204" pitchFamily="34" charset="0"/>
              </a:rPr>
              <a:t>fixed percentage d</a:t>
            </a:r>
          </a:p>
        </p:txBody>
      </p:sp>
      <p:sp>
        <p:nvSpPr>
          <p:cNvPr id="25604" name="Right Arrow 15"/>
          <p:cNvSpPr>
            <a:spLocks noChangeArrowheads="1"/>
          </p:cNvSpPr>
          <p:nvPr/>
        </p:nvSpPr>
        <p:spPr bwMode="auto">
          <a:xfrm>
            <a:off x="1954326" y="1404938"/>
            <a:ext cx="406513" cy="166688"/>
          </a:xfrm>
          <a:prstGeom prst="rightArrow">
            <a:avLst>
              <a:gd name="adj1" fmla="val 50000"/>
              <a:gd name="adj2" fmla="val 4955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143">
              <a:latin typeface="Arial Narrow" panose="020B0606020202030204" pitchFamily="34" charset="0"/>
            </a:endParaRPr>
          </a:p>
        </p:txBody>
      </p:sp>
      <p:sp>
        <p:nvSpPr>
          <p:cNvPr id="25605" name="TextBox 4"/>
          <p:cNvSpPr txBox="1">
            <a:spLocks noChangeArrowheads="1"/>
          </p:cNvSpPr>
          <p:nvPr/>
        </p:nvSpPr>
        <p:spPr bwMode="auto">
          <a:xfrm>
            <a:off x="3075215" y="1870982"/>
            <a:ext cx="5655715" cy="751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 b="1">
                <a:solidFill>
                  <a:srgbClr val="3333CC"/>
                </a:solidFill>
                <a:latin typeface="Arial Narrow" panose="020B0606020202030204" pitchFamily="34" charset="0"/>
              </a:rPr>
              <a:t>Max rate for d is twice straight line rate, i.e., d ≤ 2/n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 b="1">
                <a:solidFill>
                  <a:srgbClr val="3333CC"/>
                </a:solidFill>
                <a:latin typeface="Arial Narrow" panose="020B0606020202030204" pitchFamily="34" charset="0"/>
              </a:rPr>
              <a:t>Cannot depreciate below salvage value</a:t>
            </a:r>
          </a:p>
        </p:txBody>
      </p:sp>
      <p:sp>
        <p:nvSpPr>
          <p:cNvPr id="25606" name="TextBox 7"/>
          <p:cNvSpPr txBox="1">
            <a:spLocks noChangeArrowheads="1"/>
          </p:cNvSpPr>
          <p:nvPr/>
        </p:nvSpPr>
        <p:spPr bwMode="auto">
          <a:xfrm>
            <a:off x="2425473" y="2857500"/>
            <a:ext cx="7805342" cy="246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 b="1" i="1">
                <a:solidFill>
                  <a:srgbClr val="FF0000"/>
                </a:solidFill>
                <a:latin typeface="Arial Narrow" panose="020B0606020202030204" pitchFamily="34" charset="0"/>
              </a:rPr>
              <a:t>Depreciation</a:t>
            </a:r>
            <a:r>
              <a:rPr lang="en-US" altLang="en-US" sz="2143">
                <a:latin typeface="Arial Narrow" panose="020B0606020202030204" pitchFamily="34" charset="0"/>
              </a:rPr>
              <a:t> for year t is obtained by either relation: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>
                <a:latin typeface="Arial Narrow" panose="020B0606020202030204" pitchFamily="34" charset="0"/>
              </a:rPr>
              <a:t>                                </a:t>
            </a:r>
            <a:r>
              <a:rPr lang="en-US" altLang="en-US" sz="2571" b="1">
                <a:latin typeface="Arial Narrow" panose="020B0606020202030204" pitchFamily="34" charset="0"/>
              </a:rPr>
              <a:t>D</a:t>
            </a:r>
            <a:r>
              <a:rPr lang="en-US" altLang="en-US" sz="2571" b="1" baseline="-25000">
                <a:latin typeface="Arial Narrow" panose="020B0606020202030204" pitchFamily="34" charset="0"/>
              </a:rPr>
              <a:t>t</a:t>
            </a:r>
            <a:r>
              <a:rPr lang="en-US" altLang="en-US" sz="2571" b="1">
                <a:latin typeface="Arial Narrow" panose="020B0606020202030204" pitchFamily="34" charset="0"/>
              </a:rPr>
              <a:t> = dB(1 – d)</a:t>
            </a:r>
            <a:r>
              <a:rPr lang="en-US" altLang="en-US" sz="2571" b="1" baseline="30000">
                <a:latin typeface="Arial Narrow" panose="020B0606020202030204" pitchFamily="34" charset="0"/>
              </a:rPr>
              <a:t>t-1</a:t>
            </a:r>
            <a:r>
              <a:rPr lang="en-US" altLang="en-US" sz="2571" b="1">
                <a:latin typeface="Arial Narrow" panose="020B0606020202030204" pitchFamily="34" charset="0"/>
              </a:rPr>
              <a:t> = dBV</a:t>
            </a:r>
            <a:r>
              <a:rPr lang="en-US" altLang="en-US" sz="2571" b="1" baseline="-25000">
                <a:latin typeface="Arial Narrow" panose="020B0606020202030204" pitchFamily="34" charset="0"/>
              </a:rPr>
              <a:t>t-1</a:t>
            </a:r>
            <a:r>
              <a:rPr lang="en-US" altLang="en-US" sz="2571" b="1">
                <a:latin typeface="Arial Narrow" panose="020B0606020202030204" pitchFamily="34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>
                <a:latin typeface="Arial Narrow" panose="020B0606020202030204" pitchFamily="34" charset="0"/>
              </a:rPr>
              <a:t>                                        </a:t>
            </a:r>
            <a:r>
              <a:rPr lang="en-US" altLang="en-US" sz="2143">
                <a:solidFill>
                  <a:srgbClr val="9900FF"/>
                </a:solidFill>
                <a:latin typeface="Arial Narrow" panose="020B0606020202030204" pitchFamily="34" charset="0"/>
              </a:rPr>
              <a:t>Where:  </a:t>
            </a:r>
            <a:r>
              <a:rPr lang="en-US" altLang="en-US" sz="2143">
                <a:latin typeface="Arial Narrow" panose="020B0606020202030204" pitchFamily="34" charset="0"/>
              </a:rPr>
              <a:t>D</a:t>
            </a:r>
            <a:r>
              <a:rPr lang="en-US" altLang="en-US" sz="2143" baseline="-25000">
                <a:latin typeface="Arial Narrow" panose="020B0606020202030204" pitchFamily="34" charset="0"/>
              </a:rPr>
              <a:t>t</a:t>
            </a:r>
            <a:r>
              <a:rPr lang="en-US" altLang="en-US" sz="2143">
                <a:latin typeface="Arial Narrow" panose="020B0606020202030204" pitchFamily="34" charset="0"/>
              </a:rPr>
              <a:t> = depreciation for year 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>
                <a:latin typeface="Arial Narrow" panose="020B0606020202030204" pitchFamily="34" charset="0"/>
              </a:rPr>
              <a:t>                                                       d = uniform depreciation rate (2/n for DDB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>
                <a:latin typeface="Arial Narrow" panose="020B0606020202030204" pitchFamily="34" charset="0"/>
              </a:rPr>
              <a:t>						        1.5/n for DB)</a:t>
            </a:r>
            <a:r>
              <a:rPr lang="en-US" altLang="en-US" sz="2143" baseline="30000">
                <a:latin typeface="Arial Narrow" panose="020B0606020202030204" pitchFamily="34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 baseline="30000">
                <a:latin typeface="Arial Narrow" panose="020B0606020202030204" pitchFamily="34" charset="0"/>
              </a:rPr>
              <a:t>                                                                                  </a:t>
            </a:r>
            <a:r>
              <a:rPr lang="en-US" altLang="en-US" sz="2143">
                <a:latin typeface="Arial Narrow" panose="020B0606020202030204" pitchFamily="34" charset="0"/>
              </a:rPr>
              <a:t>B = first cost or unadjusted basis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>
                <a:latin typeface="Arial Narrow" panose="020B0606020202030204" pitchFamily="34" charset="0"/>
              </a:rPr>
              <a:t>			 BV</a:t>
            </a:r>
            <a:r>
              <a:rPr lang="en-US" altLang="en-US" sz="2143" baseline="-25000">
                <a:latin typeface="Arial Narrow" panose="020B0606020202030204" pitchFamily="34" charset="0"/>
              </a:rPr>
              <a:t>t -1</a:t>
            </a:r>
            <a:r>
              <a:rPr lang="en-US" altLang="en-US" sz="2143">
                <a:latin typeface="Arial Narrow" panose="020B0606020202030204" pitchFamily="34" charset="0"/>
              </a:rPr>
              <a:t> = book value at end of previous year</a:t>
            </a:r>
          </a:p>
        </p:txBody>
      </p:sp>
      <p:sp>
        <p:nvSpPr>
          <p:cNvPr id="25607" name="TextBox 9"/>
          <p:cNvSpPr txBox="1">
            <a:spLocks noChangeArrowheads="1"/>
          </p:cNvSpPr>
          <p:nvPr/>
        </p:nvSpPr>
        <p:spPr bwMode="auto">
          <a:xfrm>
            <a:off x="2342130" y="5330599"/>
            <a:ext cx="3863558" cy="949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 b="1" i="1">
                <a:solidFill>
                  <a:srgbClr val="FF0000"/>
                </a:solidFill>
                <a:latin typeface="Arial Narrow" panose="020B0606020202030204" pitchFamily="34" charset="0"/>
              </a:rPr>
              <a:t>Book value</a:t>
            </a:r>
            <a:r>
              <a:rPr lang="en-US" altLang="en-US" sz="2143" i="1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en-US" altLang="en-US" sz="2143">
                <a:latin typeface="Arial Narrow" panose="020B0606020202030204" pitchFamily="34" charset="0"/>
              </a:rPr>
              <a:t>for year t is given by: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857">
              <a:latin typeface="Arial Narrow" panose="020B060602020203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571">
                <a:latin typeface="Arial Narrow" panose="020B0606020202030204" pitchFamily="34" charset="0"/>
              </a:rPr>
              <a:t>                         </a:t>
            </a:r>
            <a:r>
              <a:rPr lang="en-US" altLang="en-US" sz="2571" b="1">
                <a:latin typeface="Arial Narrow" panose="020B0606020202030204" pitchFamily="34" charset="0"/>
              </a:rPr>
              <a:t>BV</a:t>
            </a:r>
            <a:r>
              <a:rPr lang="en-US" altLang="en-US" sz="2571" b="1" baseline="-25000">
                <a:latin typeface="Arial Narrow" panose="020B0606020202030204" pitchFamily="34" charset="0"/>
              </a:rPr>
              <a:t>t</a:t>
            </a:r>
            <a:r>
              <a:rPr lang="en-US" altLang="en-US" sz="2571" b="1">
                <a:latin typeface="Arial Narrow" panose="020B0606020202030204" pitchFamily="34" charset="0"/>
              </a:rPr>
              <a:t> = B(1 – d)</a:t>
            </a:r>
            <a:r>
              <a:rPr lang="en-US" altLang="en-US" sz="2571" b="1" baseline="30000">
                <a:latin typeface="Arial Narrow" panose="020B0606020202030204" pitchFamily="34" charset="0"/>
              </a:rPr>
              <a:t>t</a:t>
            </a:r>
          </a:p>
        </p:txBody>
      </p:sp>
      <p:sp>
        <p:nvSpPr>
          <p:cNvPr id="25608" name="4-Point Star 21"/>
          <p:cNvSpPr>
            <a:spLocks noChangeArrowheads="1"/>
          </p:cNvSpPr>
          <p:nvPr/>
        </p:nvSpPr>
        <p:spPr bwMode="auto">
          <a:xfrm>
            <a:off x="2667000" y="1870983"/>
            <a:ext cx="408214" cy="379300"/>
          </a:xfrm>
          <a:prstGeom prst="star4">
            <a:avLst>
              <a:gd name="adj" fmla="val 12500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143">
              <a:latin typeface="Arial Narrow" panose="020B0606020202030204" pitchFamily="34" charset="0"/>
            </a:endParaRPr>
          </a:p>
        </p:txBody>
      </p:sp>
      <p:sp>
        <p:nvSpPr>
          <p:cNvPr id="25609" name="4-Point Star 22"/>
          <p:cNvSpPr>
            <a:spLocks noChangeArrowheads="1"/>
          </p:cNvSpPr>
          <p:nvPr/>
        </p:nvSpPr>
        <p:spPr bwMode="auto">
          <a:xfrm>
            <a:off x="2667000" y="2223067"/>
            <a:ext cx="408214" cy="379299"/>
          </a:xfrm>
          <a:prstGeom prst="star4">
            <a:avLst>
              <a:gd name="adj" fmla="val 12500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143">
              <a:latin typeface="Arial Narrow" panose="020B0606020202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702514-F2F9-48BD-9C0C-96B6BAB9C61C}"/>
              </a:ext>
            </a:extLst>
          </p:cNvPr>
          <p:cNvCxnSpPr/>
          <p:nvPr/>
        </p:nvCxnSpPr>
        <p:spPr bwMode="auto">
          <a:xfrm>
            <a:off x="1932214" y="1306286"/>
            <a:ext cx="8164286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882687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8413" y="895547"/>
            <a:ext cx="10482606" cy="4811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 The Book Value for DB method never goes to ZERO, because book value is always decreased by a fixed percentage. The implied salvage value after n years is the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BV</a:t>
            </a:r>
            <a:r>
              <a:rPr lang="en-US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amount, that is,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Implied Salvage value = Implied S =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BV</a:t>
            </a:r>
            <a:r>
              <a:rPr lang="en-US" sz="2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B*(1-d)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endParaRPr lang="en-US" sz="28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fixed percentage d is not stated, it is possible to determine an implied fixed rate using the estimated S value, if S&gt;0.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Implied d = 1- (S/B)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772239" y="2545237"/>
            <a:ext cx="8041064" cy="64102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411744" y="4458878"/>
            <a:ext cx="3751868" cy="72586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527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>
            <a:extLst>
              <a:ext uri="{FF2B5EF4-FFF2-40B4-BE49-F238E27FC236}">
                <a16:creationId xmlns:a16="http://schemas.microsoft.com/office/drawing/2014/main" id="{DE07A6B0-C093-47EC-ACDA-75F5FE6392B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78263" y="576263"/>
            <a:ext cx="8313737" cy="9017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286" dirty="0"/>
              <a:t>Example: Double Declining Balance</a:t>
            </a:r>
          </a:p>
        </p:txBody>
      </p:sp>
      <p:sp>
        <p:nvSpPr>
          <p:cNvPr id="28" name="Rectangle 17">
            <a:extLst>
              <a:ext uri="{FF2B5EF4-FFF2-40B4-BE49-F238E27FC236}">
                <a16:creationId xmlns:a16="http://schemas.microsoft.com/office/drawing/2014/main" id="{05C5966A-F950-4F70-840E-1EBC896FD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4562" y="1714500"/>
            <a:ext cx="8177609" cy="1224643"/>
          </a:xfrm>
          <a:prstGeom prst="rect">
            <a:avLst/>
          </a:prstGeom>
          <a:solidFill>
            <a:schemeClr val="accent1"/>
          </a:solidFill>
          <a:ln w="12700" cap="sq">
            <a:miter lim="800000"/>
            <a:headEnd type="none" w="sm" len="sm"/>
            <a:tailEnd type="none" w="sm" len="sm"/>
          </a:ln>
          <a:effectLst>
            <a:glow rad="139700">
              <a:schemeClr val="accent2">
                <a:satMod val="175000"/>
                <a:alpha val="40000"/>
              </a:schemeClr>
            </a:glow>
            <a:outerShdw dist="342900" dir="3000000" sx="64000" sy="64000" algn="ctr" rotWithShape="0">
              <a:schemeClr val="tx1">
                <a:lumMod val="65000"/>
                <a:lumOff val="35000"/>
              </a:schemeClr>
            </a:outerShdw>
          </a:effectLst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70C0"/>
            </a:extrusionClr>
          </a:sp3d>
        </p:spPr>
        <p:txBody>
          <a:bodyPr wrap="none" anchor="ctr">
            <a:flatTx/>
          </a:bodyPr>
          <a:lstStyle/>
          <a:p>
            <a:pPr>
              <a:defRPr/>
            </a:pPr>
            <a:r>
              <a:rPr lang="en-US" sz="2143" b="1" dirty="0">
                <a:solidFill>
                  <a:srgbClr val="002060"/>
                </a:solidFill>
                <a:latin typeface="Arial Narrow" panose="020B0506020202030204" pitchFamily="34" charset="0"/>
              </a:rPr>
              <a:t> </a:t>
            </a:r>
          </a:p>
        </p:txBody>
      </p:sp>
      <p:sp>
        <p:nvSpPr>
          <p:cNvPr id="29" name="Text Box 15"/>
          <p:cNvSpPr txBox="1">
            <a:spLocks noChangeArrowheads="1"/>
          </p:cNvSpPr>
          <p:nvPr/>
        </p:nvSpPr>
        <p:spPr bwMode="auto">
          <a:xfrm>
            <a:off x="4051527" y="4816929"/>
            <a:ext cx="2925801" cy="108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 b="1">
                <a:latin typeface="Arial Narrow" panose="020B0606020202030204" pitchFamily="34" charset="0"/>
              </a:rPr>
              <a:t>(b)</a:t>
            </a:r>
            <a:r>
              <a:rPr lang="en-US" altLang="en-US" sz="2143">
                <a:latin typeface="Arial Narrow" panose="020B0606020202030204" pitchFamily="34" charset="0"/>
              </a:rPr>
              <a:t> </a:t>
            </a:r>
            <a:r>
              <a:rPr lang="en-US" altLang="en-US" sz="2143" b="1">
                <a:latin typeface="Arial Narrow" panose="020B0606020202030204" pitchFamily="34" charset="0"/>
              </a:rPr>
              <a:t>BV</a:t>
            </a:r>
            <a:r>
              <a:rPr lang="en-US" altLang="en-US" sz="2143" b="1" baseline="-25000">
                <a:latin typeface="Arial Narrow" panose="020B0606020202030204" pitchFamily="34" charset="0"/>
              </a:rPr>
              <a:t>3</a:t>
            </a:r>
            <a:r>
              <a:rPr lang="en-US" altLang="en-US" sz="2143" b="1">
                <a:latin typeface="Arial Narrow" panose="020B0606020202030204" pitchFamily="34" charset="0"/>
              </a:rPr>
              <a:t> = B(1 – d)</a:t>
            </a:r>
            <a:r>
              <a:rPr lang="en-US" altLang="en-US" sz="2143" b="1" baseline="30000">
                <a:latin typeface="Arial Narrow" panose="020B0606020202030204" pitchFamily="34" charset="0"/>
              </a:rPr>
              <a:t>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>
                <a:latin typeface="Arial Narrow" panose="020B0606020202030204" pitchFamily="34" charset="0"/>
              </a:rPr>
              <a:t>             = 20,000(1 – 0.4)</a:t>
            </a:r>
            <a:r>
              <a:rPr lang="en-US" altLang="en-US" sz="2143" baseline="30000">
                <a:latin typeface="Arial Narrow" panose="020B0606020202030204" pitchFamily="34" charset="0"/>
              </a:rPr>
              <a:t>3</a:t>
            </a:r>
            <a:r>
              <a:rPr lang="en-US" altLang="en-US" sz="2143">
                <a:latin typeface="Arial Narrow" panose="020B060602020203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>
                <a:latin typeface="Arial Narrow" panose="020B0606020202030204" pitchFamily="34" charset="0"/>
              </a:rPr>
              <a:t>             </a:t>
            </a:r>
            <a:r>
              <a:rPr lang="en-US" altLang="en-US" sz="2143" b="1">
                <a:solidFill>
                  <a:srgbClr val="7030A0"/>
                </a:solidFill>
                <a:latin typeface="Arial Narrow" panose="020B0606020202030204" pitchFamily="34" charset="0"/>
              </a:rPr>
              <a:t>= $4320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03BFBA-C160-45B2-8B32-98EFAD416ECF}"/>
              </a:ext>
            </a:extLst>
          </p:cNvPr>
          <p:cNvSpPr/>
          <p:nvPr/>
        </p:nvSpPr>
        <p:spPr>
          <a:xfrm>
            <a:off x="1932215" y="1714500"/>
            <a:ext cx="8899071" cy="118051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2357" b="1" dirty="0">
                <a:solidFill>
                  <a:schemeClr val="bg2"/>
                </a:solidFill>
                <a:latin typeface="Arial Narrow" panose="020B0506020202030204" pitchFamily="34" charset="0"/>
              </a:rPr>
              <a:t>A depreciable construction </a:t>
            </a:r>
            <a:r>
              <a:rPr lang="en-US" sz="2357" b="1" dirty="0">
                <a:solidFill>
                  <a:schemeClr val="bg1">
                    <a:lumMod val="90000"/>
                  </a:schemeClr>
                </a:solidFill>
                <a:latin typeface="Arial Narrow" panose="020B0506020202030204" pitchFamily="34" charset="0"/>
              </a:rPr>
              <a:t>truck has a first cost of $20,000 with a </a:t>
            </a:r>
          </a:p>
          <a:p>
            <a:pPr>
              <a:defRPr/>
            </a:pPr>
            <a:r>
              <a:rPr lang="en-US" sz="2357" b="1" dirty="0">
                <a:solidFill>
                  <a:schemeClr val="bg1">
                    <a:lumMod val="90000"/>
                  </a:schemeClr>
                </a:solidFill>
                <a:latin typeface="Arial Narrow" panose="020B0506020202030204" pitchFamily="34" charset="0"/>
              </a:rPr>
              <a:t>$4,000 salvage value after 5 years. Find the (a) depreciation, and </a:t>
            </a:r>
          </a:p>
          <a:p>
            <a:pPr>
              <a:defRPr/>
            </a:pPr>
            <a:r>
              <a:rPr lang="en-US" sz="2357" b="1" dirty="0">
                <a:solidFill>
                  <a:schemeClr val="bg1">
                    <a:lumMod val="90000"/>
                  </a:schemeClr>
                </a:solidFill>
                <a:latin typeface="Arial Narrow" panose="020B0506020202030204" pitchFamily="34" charset="0"/>
              </a:rPr>
              <a:t>(b) book value after 3 years using DDB depreciation. </a:t>
            </a:r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2413568" y="3265714"/>
            <a:ext cx="5272597" cy="141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2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5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 b="1" dirty="0">
                <a:solidFill>
                  <a:srgbClr val="FF0000"/>
                </a:solidFill>
                <a:latin typeface="Arial Narrow" panose="020B0606020202030204" pitchFamily="34" charset="0"/>
              </a:rPr>
              <a:t>Solution:</a:t>
            </a:r>
            <a:r>
              <a:rPr lang="en-US" altLang="en-US" sz="1929" dirty="0">
                <a:latin typeface="Arial Narrow" panose="020B0606020202030204" pitchFamily="34" charset="0"/>
              </a:rPr>
              <a:t>              </a:t>
            </a:r>
            <a:r>
              <a:rPr lang="en-US" altLang="en-US" sz="2143" b="1" dirty="0">
                <a:latin typeface="Arial Narrow" panose="020B0606020202030204" pitchFamily="34" charset="0"/>
              </a:rPr>
              <a:t>(a)  d = 2/n = 2/5 = 0.4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 b="1" dirty="0">
                <a:latin typeface="Arial Narrow" panose="020B0606020202030204" pitchFamily="34" charset="0"/>
              </a:rPr>
              <a:t>                                  D</a:t>
            </a:r>
            <a:r>
              <a:rPr lang="en-US" altLang="en-US" sz="2143" b="1" baseline="-25000" dirty="0">
                <a:latin typeface="Arial Narrow" panose="020B0606020202030204" pitchFamily="34" charset="0"/>
              </a:rPr>
              <a:t>3</a:t>
            </a:r>
            <a:r>
              <a:rPr lang="en-US" altLang="en-US" sz="2143" b="1" dirty="0">
                <a:latin typeface="Arial Narrow" panose="020B0606020202030204" pitchFamily="34" charset="0"/>
              </a:rPr>
              <a:t> = dB(1 – d)</a:t>
            </a:r>
            <a:r>
              <a:rPr lang="en-US" altLang="en-US" sz="2143" b="1" baseline="30000" dirty="0">
                <a:latin typeface="Arial Narrow" panose="020B0606020202030204" pitchFamily="34" charset="0"/>
              </a:rPr>
              <a:t>t-1</a:t>
            </a:r>
            <a:r>
              <a:rPr lang="en-US" altLang="en-US" sz="2143" b="1" dirty="0">
                <a:latin typeface="Arial Narrow" panose="020B0606020202030204" pitchFamily="34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 b="1" dirty="0">
                <a:latin typeface="Arial Narrow" panose="020B0606020202030204" pitchFamily="34" charset="0"/>
              </a:rPr>
              <a:t>                                       = 0.4(20,000)(1 – 0.40)</a:t>
            </a:r>
            <a:r>
              <a:rPr lang="en-US" altLang="en-US" sz="2143" b="1" baseline="30000" dirty="0">
                <a:latin typeface="Arial Narrow" panose="020B0606020202030204" pitchFamily="34" charset="0"/>
              </a:rPr>
              <a:t>3-1</a:t>
            </a:r>
            <a:r>
              <a:rPr lang="en-US" altLang="en-US" sz="2143" b="1" dirty="0">
                <a:solidFill>
                  <a:srgbClr val="7030A0"/>
                </a:solidFill>
                <a:latin typeface="Arial Narrow" panose="020B060602020203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43" b="1" dirty="0">
                <a:solidFill>
                  <a:srgbClr val="7030A0"/>
                </a:solidFill>
                <a:latin typeface="Arial Narrow" panose="020B0606020202030204" pitchFamily="34" charset="0"/>
              </a:rPr>
              <a:t>                                       = $2880             </a:t>
            </a:r>
            <a:endParaRPr lang="en-US" altLang="en-US" sz="2143" b="1" dirty="0">
              <a:solidFill>
                <a:srgbClr val="00B05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576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utoUpdateAnimBg="0"/>
      <p:bldP spid="10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986" y="838986"/>
            <a:ext cx="1053916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r>
              <a:rPr lang="en-US" dirty="0"/>
              <a:t>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cooling-water pumping station at the LCRA plant costs $600,000 to construct, and it is projected to have a 25-year life with an estimated salvage value of 15% of the construction cost. However, the station will be book-depreciated to zero over a recovery period of 30 years. Calculate the annual depreciation charge for years 4, 10, and 25, using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straight line depreciation and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DDB depreciation.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What is the implied salvage value for DDB?</a:t>
            </a:r>
          </a:p>
        </p:txBody>
      </p:sp>
    </p:spTree>
    <p:extLst>
      <p:ext uri="{BB962C8B-B14F-4D97-AF65-F5344CB8AC3E}">
        <p14:creationId xmlns:p14="http://schemas.microsoft.com/office/powerpoint/2010/main" val="1248990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2999" y="904973"/>
            <a:ext cx="1059572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for all years = (600,000 – 0)/30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= $20,000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 = 2/30 = 0.067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(0.067)(600,000)(1 – 0.067)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= $32,649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(0.067)(600,000)(1 – 0.067)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= $21,536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(0.067)(600,000)(1 – 0.067)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= $7610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Implied S = 600,000(1 – 0.067)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= $74,920</a:t>
            </a:r>
          </a:p>
        </p:txBody>
      </p:sp>
    </p:spTree>
    <p:extLst>
      <p:ext uri="{BB962C8B-B14F-4D97-AF65-F5344CB8AC3E}">
        <p14:creationId xmlns:p14="http://schemas.microsoft.com/office/powerpoint/2010/main" val="2093188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52627" y="2639504"/>
            <a:ext cx="60614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 Study: 27.1 – 27.12</a:t>
            </a:r>
          </a:p>
        </p:txBody>
      </p:sp>
    </p:spTree>
    <p:extLst>
      <p:ext uri="{BB962C8B-B14F-4D97-AF65-F5344CB8AC3E}">
        <p14:creationId xmlns:p14="http://schemas.microsoft.com/office/powerpoint/2010/main" val="8780799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416</TotalTime>
  <Words>1384</Words>
  <Application>Microsoft Office PowerPoint</Application>
  <PresentationFormat>Widescreen</PresentationFormat>
  <Paragraphs>184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Narrow</vt:lpstr>
      <vt:lpstr>Calibri</vt:lpstr>
      <vt:lpstr>Times New Roman</vt:lpstr>
      <vt:lpstr>Clarity</vt:lpstr>
      <vt:lpstr>Breakeven Analysis &amp; Depreciation</vt:lpstr>
      <vt:lpstr>PowerPoint Presentation</vt:lpstr>
      <vt:lpstr>Breakeven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Double Declining Balance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Economy IPE - 3115</dc:title>
  <dc:creator>ASUS</dc:creator>
  <cp:lastModifiedBy>pc</cp:lastModifiedBy>
  <cp:revision>10</cp:revision>
  <dcterms:created xsi:type="dcterms:W3CDTF">2022-06-12T03:18:47Z</dcterms:created>
  <dcterms:modified xsi:type="dcterms:W3CDTF">2025-09-23T05:20:28Z</dcterms:modified>
</cp:coreProperties>
</file>