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wM3t0CckExpgHpZYKCuqG1RkE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5AEC62B-3CEF-40C1-955E-229B3BBDE0DA}">
  <a:tblStyle styleId="{C5AEC62B-3CEF-40C1-955E-229B3BBDE0DA}" styleName="Table_0">
    <a:wholeTbl>
      <a:tcTxStyle b="off" i="off">
        <a:font>
          <a:latin typeface="Georgia"/>
          <a:ea typeface="Georgia"/>
          <a:cs typeface="Georg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AE8"/>
          </a:solidFill>
        </a:fill>
      </a:tcStyle>
    </a:wholeTbl>
    <a:band1H>
      <a:tcTxStyle/>
      <a:tcStyle>
        <a:tcBdr/>
        <a:fill>
          <a:solidFill>
            <a:srgbClr val="EED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96095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sldNum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  <a:defRPr>
                <a:solidFill>
                  <a:srgbClr val="7A97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3"/>
          <p:cNvSpPr/>
          <p:nvPr/>
        </p:nvSpPr>
        <p:spPr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3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3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3"/>
          <p:cNvSpPr txBox="1"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4" name="Google Shape;44;p33"/>
          <p:cNvCxnSpPr/>
          <p:nvPr/>
        </p:nvCxnSpPr>
        <p:spPr>
          <a:xfrm>
            <a:off x="155448" y="2420112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5" name="Google Shape;45;p33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3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eorgia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4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4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4"/>
          <p:cNvSpPr/>
          <p:nvPr/>
        </p:nvSpPr>
        <p:spPr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4"/>
          <p:cNvSpPr/>
          <p:nvPr/>
        </p:nvSpPr>
        <p:spPr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Georgia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4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2" name="Google Shape;62;p34"/>
          <p:cNvCxnSpPr/>
          <p:nvPr/>
        </p:nvCxnSpPr>
        <p:spPr>
          <a:xfrm>
            <a:off x="152400" y="2438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" name="Google Shape;63;p34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4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4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  <a:defRPr sz="42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5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5791200" y="640994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35"/>
          <p:cNvCxnSpPr/>
          <p:nvPr/>
        </p:nvCxnSpPr>
        <p:spPr>
          <a:xfrm rot="10800000" flipH="1">
            <a:off x="4563080" y="1575652"/>
            <a:ext cx="8921" cy="48195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3" name="Google Shape;73;p35"/>
          <p:cNvSpPr txBox="1">
            <a:spLocks noGrp="1"/>
          </p:cNvSpPr>
          <p:nvPr>
            <p:ph type="body" idx="1"/>
          </p:nvPr>
        </p:nvSpPr>
        <p:spPr>
          <a:xfrm>
            <a:off x="301752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7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7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solidFill>
          <a:schemeClr val="l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p36"/>
          <p:cNvCxnSpPr/>
          <p:nvPr/>
        </p:nvCxnSpPr>
        <p:spPr>
          <a:xfrm rot="10800000">
            <a:off x="4572000" y="2200275"/>
            <a:ext cx="0" cy="41879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7" name="Google Shape;77;p36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6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6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6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6"/>
          <p:cNvSpPr/>
          <p:nvPr/>
        </p:nvSpPr>
        <p:spPr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body" idx="2"/>
          </p:nvPr>
        </p:nvSpPr>
        <p:spPr>
          <a:xfrm>
            <a:off x="4791330" y="1524000"/>
            <a:ext cx="4041775" cy="73152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6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ftr" idx="11"/>
          </p:nvPr>
        </p:nvSpPr>
        <p:spPr>
          <a:xfrm>
            <a:off x="304800" y="6409944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7" name="Google Shape;87;p36"/>
          <p:cNvCxnSpPr/>
          <p:nvPr/>
        </p:nvCxnSpPr>
        <p:spPr>
          <a:xfrm>
            <a:off x="152400" y="128016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8" name="Google Shape;88;p36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6"/>
          <p:cNvSpPr txBox="1">
            <a:spLocks noGrp="1"/>
          </p:cNvSpPr>
          <p:nvPr>
            <p:ph type="body" idx="3"/>
          </p:nvPr>
        </p:nvSpPr>
        <p:spPr>
          <a:xfrm>
            <a:off x="301752" y="2471383"/>
            <a:ext cx="4041648" cy="381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6"/>
          <p:cNvSpPr txBox="1">
            <a:spLocks noGrp="1"/>
          </p:cNvSpPr>
          <p:nvPr>
            <p:ph type="body" idx="4"/>
          </p:nvPr>
        </p:nvSpPr>
        <p:spPr>
          <a:xfrm>
            <a:off x="4800600" y="2471383"/>
            <a:ext cx="4038600" cy="382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6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6"/>
          <p:cNvSpPr txBox="1">
            <a:spLocks noGrp="1"/>
          </p:cNvSpPr>
          <p:nvPr>
            <p:ph type="sldNum" idx="12"/>
          </p:nvPr>
        </p:nvSpPr>
        <p:spPr>
          <a:xfrm>
            <a:off x="4343400" y="1042416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6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7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7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7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7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7"/>
          <p:cNvSpPr/>
          <p:nvPr/>
        </p:nvSpPr>
        <p:spPr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7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7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7"/>
          <p:cNvSpPr txBox="1">
            <a:spLocks noGrp="1"/>
          </p:cNvSpPr>
          <p:nvPr>
            <p:ph type="sldNum" idx="12"/>
          </p:nvPr>
        </p:nvSpPr>
        <p:spPr>
          <a:xfrm>
            <a:off x="4267200" y="6324600"/>
            <a:ext cx="609600" cy="44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8"/>
          <p:cNvSpPr/>
          <p:nvPr/>
        </p:nvSpPr>
        <p:spPr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8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8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8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8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8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8"/>
          <p:cNvSpPr txBox="1"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  <a:defRPr sz="2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8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2362200" cy="414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38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38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" name="Google Shape;116;p38"/>
          <p:cNvSpPr txBox="1">
            <a:spLocks noGrp="1"/>
          </p:cNvSpPr>
          <p:nvPr>
            <p:ph type="body" idx="2"/>
          </p:nvPr>
        </p:nvSpPr>
        <p:spPr>
          <a:xfrm>
            <a:off x="3124200" y="685800"/>
            <a:ext cx="5638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8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8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8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8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8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8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39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5" name="Google Shape;125;p39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9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9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9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9"/>
          <p:cNvSpPr/>
          <p:nvPr/>
        </p:nvSpPr>
        <p:spPr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9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9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9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39"/>
          <p:cNvSpPr txBox="1"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9"/>
          <p:cNvSpPr>
            <a:spLocks noGrp="1"/>
          </p:cNvSpPr>
          <p:nvPr>
            <p:ph type="pic" idx="2"/>
          </p:nvPr>
        </p:nvSpPr>
        <p:spPr>
          <a:xfrm>
            <a:off x="3000375" y="609600"/>
            <a:ext cx="5867400" cy="42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39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2438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Font typeface="Georgia"/>
              <a:buNone/>
              <a:defRPr sz="1600">
                <a:solidFill>
                  <a:srgbClr val="FFFFFF"/>
                </a:solidFill>
              </a:defRPr>
            </a:lvl1pPr>
            <a:lvl2pPr marL="914400" lvl="1" indent="-281940" algn="l">
              <a:spcBef>
                <a:spcPts val="1000"/>
              </a:spcBef>
              <a:spcAft>
                <a:spcPts val="0"/>
              </a:spcAft>
              <a:buSzPts val="840"/>
              <a:buChar char="⚪"/>
              <a:defRPr sz="1200"/>
            </a:lvl2pPr>
            <a:lvl3pPr marL="1371600" lvl="2" indent="-276225" algn="l">
              <a:spcBef>
                <a:spcPts val="200"/>
              </a:spcBef>
              <a:spcAft>
                <a:spcPts val="0"/>
              </a:spcAft>
              <a:buSzPts val="750"/>
              <a:buChar char="⯍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🞆"/>
              <a:defRPr sz="900"/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Char char="•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9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9"/>
          <p:cNvSpPr txBox="1">
            <a:spLocks noGrp="1"/>
          </p:cNvSpPr>
          <p:nvPr>
            <p:ph type="dt" idx="10"/>
          </p:nvPr>
        </p:nvSpPr>
        <p:spPr>
          <a:xfrm>
            <a:off x="5788152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9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lt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0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0"/>
          <p:cNvSpPr txBox="1">
            <a:spLocks noGrp="1"/>
          </p:cNvSpPr>
          <p:nvPr>
            <p:ph type="body" idx="1"/>
          </p:nvPr>
        </p:nvSpPr>
        <p:spPr>
          <a:xfrm rot="5400000">
            <a:off x="2269236" y="-443484"/>
            <a:ext cx="4599432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40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0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0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1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1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1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1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1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41"/>
          <p:cNvCxnSpPr/>
          <p:nvPr/>
        </p:nvCxnSpPr>
        <p:spPr>
          <a:xfrm rot="5400000">
            <a:off x="4021836" y="3278124"/>
            <a:ext cx="6245352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5" name="Google Shape;155;p41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1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1"/>
          <p:cNvSpPr txBox="1">
            <a:spLocks noGrp="1"/>
          </p:cNvSpPr>
          <p:nvPr>
            <p:ph type="sldNum" idx="12"/>
          </p:nvPr>
        </p:nvSpPr>
        <p:spPr>
          <a:xfrm>
            <a:off x="6915912" y="3009901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41"/>
          <p:cNvSpPr txBox="1">
            <a:spLocks noGrp="1"/>
          </p:cNvSpPr>
          <p:nvPr>
            <p:ph type="body" idx="1"/>
          </p:nvPr>
        </p:nvSpPr>
        <p:spPr>
          <a:xfrm rot="5400000">
            <a:off x="670717" y="-61117"/>
            <a:ext cx="5821366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4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1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title"/>
          </p:nvPr>
        </p:nvSpPr>
        <p:spPr>
          <a:xfrm rot="5400000">
            <a:off x="5189538" y="2506664"/>
            <a:ext cx="5851525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0"/>
          <p:cNvSpPr/>
          <p:nvPr/>
        </p:nvSpPr>
        <p:spPr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0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0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0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0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30"/>
          <p:cNvCxnSpPr/>
          <p:nvPr/>
        </p:nvCxnSpPr>
        <p:spPr>
          <a:xfrm>
            <a:off x="152400" y="1276743"/>
            <a:ext cx="8833104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19;p30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0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0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600" b="0" u="none">
                <a:solidFill>
                  <a:srgbClr val="7A97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  <a:defRPr sz="33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332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Char char="⚫"/>
              <a:defRPr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2639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40"/>
              <a:buFont typeface="Noto Sans Symbols"/>
              <a:buChar char="⚪"/>
              <a:defRPr sz="2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⯍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oto Sans Symbols"/>
              <a:buChar char="🞆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Georgia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20039" algn="l" rtl="0">
              <a:spcBef>
                <a:spcPts val="320"/>
              </a:spcBef>
              <a:spcAft>
                <a:spcPts val="0"/>
              </a:spcAft>
              <a:buClr>
                <a:srgbClr val="B75640"/>
              </a:buClr>
              <a:buSzPts val="144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7A6B62"/>
              </a:buClr>
              <a:buSzPts val="160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08609" algn="l" rtl="0">
              <a:spcBef>
                <a:spcPts val="280"/>
              </a:spcBef>
              <a:spcAft>
                <a:spcPts val="0"/>
              </a:spcAft>
              <a:buClr>
                <a:srgbClr val="B29D00"/>
              </a:buClr>
              <a:buSzPts val="1260"/>
              <a:buFont typeface="Georgia"/>
              <a:buChar char="•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title"/>
          </p:nvPr>
        </p:nvSpPr>
        <p:spPr>
          <a:xfrm>
            <a:off x="609600" y="2057400"/>
            <a:ext cx="8153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3543"/>
              </a:buClr>
              <a:buSzPct val="100000"/>
              <a:buFont typeface="Times New Roman"/>
              <a:buNone/>
            </a:pPr>
            <a:r>
              <a:rPr lang="en-US" sz="4800">
                <a:solidFill>
                  <a:srgbClr val="3135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1: Fundamentals of Management</a:t>
            </a:r>
            <a:br>
              <a:rPr lang="en-US" sz="4800">
                <a:solidFill>
                  <a:srgbClr val="3135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100">
                <a:solidFill>
                  <a:srgbClr val="3135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100">
                <a:solidFill>
                  <a:srgbClr val="3135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Ref: Organization And Management - Agarwal </a:t>
            </a:r>
            <a:endParaRPr/>
          </a:p>
        </p:txBody>
      </p:sp>
      <p:sp>
        <p:nvSpPr>
          <p:cNvPr id="167" name="Google Shape;167;p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 txBox="1">
            <a:spLocks noGrp="1"/>
          </p:cNvSpPr>
          <p:nvPr>
            <p:ph type="sldNum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Content </a:t>
            </a:r>
            <a:endParaRPr/>
          </a:p>
        </p:txBody>
      </p:sp>
      <p:sp>
        <p:nvSpPr>
          <p:cNvPr id="174" name="Google Shape;174;p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295"/>
              <a:buChar char="⚫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Concept of Management </a:t>
            </a:r>
            <a:endParaRPr/>
          </a:p>
          <a:p>
            <a:pPr marL="274320" lvl="0" indent="-274320" algn="l" rtl="0">
              <a:spcBef>
                <a:spcPts val="540"/>
              </a:spcBef>
              <a:spcAft>
                <a:spcPts val="0"/>
              </a:spcAft>
              <a:buSzPts val="2295"/>
              <a:buChar char="⚫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Management Functions </a:t>
            </a:r>
            <a:endParaRPr/>
          </a:p>
          <a:p>
            <a:pPr marL="274320" lvl="0" indent="-128587" algn="l" rtl="0">
              <a:spcBef>
                <a:spcPts val="540"/>
              </a:spcBef>
              <a:spcAft>
                <a:spcPts val="0"/>
              </a:spcAft>
              <a:buSzPts val="2295"/>
              <a:buNone/>
            </a:pPr>
            <a:endParaRPr/>
          </a:p>
          <a:p>
            <a:pPr marL="274320" lvl="0" indent="-128587" algn="l" rtl="0">
              <a:spcBef>
                <a:spcPts val="54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82" name="Google Shape;182;p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ts val="2295"/>
              <a:buChar char="⚫"/>
            </a:pPr>
            <a:r>
              <a:rPr lang="en-US"/>
              <a:t>“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Management is  the process of designing and maintaining the environment in which individual work together in group, and efficiently and effectively accomplish the selected aim” -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Basic definition</a:t>
            </a:r>
            <a:endParaRPr/>
          </a:p>
          <a:p>
            <a:pPr marL="274320" lvl="0" indent="-128587" algn="just" rtl="0">
              <a:spcBef>
                <a:spcPts val="1350"/>
              </a:spcBef>
              <a:spcAft>
                <a:spcPts val="0"/>
              </a:spcAft>
              <a:buSzPts val="2295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4320" lvl="0" indent="-274320" algn="ctr" rtl="0">
              <a:spcBef>
                <a:spcPts val="1350"/>
              </a:spcBef>
              <a:spcAft>
                <a:spcPts val="0"/>
              </a:spcAft>
              <a:buSzPts val="2295"/>
              <a:buChar char="⚫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 of getting things done through people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” 	-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Mary Parker Follett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/>
          </a:p>
        </p:txBody>
      </p:sp>
      <p:sp>
        <p:nvSpPr>
          <p:cNvPr id="190" name="Google Shape;190;p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“Management is the art of “knowing what you want to do” and then seeing that it is done in the best and cheapest way.             			         		                       ……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F.W.Taylor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4320" lvl="0" indent="-27432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380"/>
              <a:buChar char="⚫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Management as a process “consisting of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planning, organizing, actuating and controlling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, performed to determine and accomplish the objective by the use of people and resources.”</a:t>
            </a:r>
            <a:endParaRPr dirty="0"/>
          </a:p>
          <a:p>
            <a:pPr marL="274320" lvl="0" indent="-27432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38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	           ……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George R. Terry</a:t>
            </a:r>
            <a:endParaRPr dirty="0"/>
          </a:p>
          <a:p>
            <a:pPr marL="274320" lvl="0" indent="-27432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380"/>
              <a:buFont typeface="Georgia"/>
              <a:buNone/>
            </a:pPr>
            <a:endParaRPr sz="2800" dirty="0"/>
          </a:p>
          <a:p>
            <a:pPr marL="274320" lvl="0" indent="-12319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38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endParaRPr/>
          </a:p>
        </p:txBody>
      </p:sp>
      <p:sp>
        <p:nvSpPr>
          <p:cNvPr id="198" name="Google Shape;198;p5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8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 this definition,</a:t>
            </a:r>
            <a:endParaRPr/>
          </a:p>
          <a:p>
            <a:pPr marL="274320" lvl="0" indent="-274320" algn="just" rtl="0">
              <a:lnSpc>
                <a:spcPct val="8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Planning means Plan in advance.</a:t>
            </a:r>
            <a:endParaRPr/>
          </a:p>
          <a:p>
            <a:pPr marL="274320" lvl="0" indent="-274320" algn="just" rtl="0">
              <a:lnSpc>
                <a:spcPct val="8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Organizing means coordination between human resources and material resources.</a:t>
            </a:r>
            <a:endParaRPr/>
          </a:p>
          <a:p>
            <a:pPr marL="274320" lvl="0" indent="-274320" algn="just" rtl="0">
              <a:lnSpc>
                <a:spcPct val="8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Actuating means motivation and giving direction to subordinate.</a:t>
            </a:r>
            <a:endParaRPr/>
          </a:p>
          <a:p>
            <a:pPr marL="274320" lvl="0" indent="-274320" algn="just" rtl="0">
              <a:lnSpc>
                <a:spcPct val="8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Controlling means to ensure about implementation of plan without deviation.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Thus this definition tells that management is act of achieving the organization objectives.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3820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Management </a:t>
            </a:r>
            <a:b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1. Planning</a:t>
            </a:r>
            <a:endParaRPr/>
          </a:p>
        </p:txBody>
      </p:sp>
      <p:sp>
        <p:nvSpPr>
          <p:cNvPr id="206" name="Google Shape;206;p6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304800" y="1524000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It is a process of deciding the business objectives and charting out the plan/ method for achieving the same. This includes </a:t>
            </a:r>
            <a:endParaRPr/>
          </a:p>
          <a:p>
            <a:pPr marL="274320" lvl="0" indent="-274320" algn="just" rtl="0">
              <a:spcBef>
                <a:spcPts val="1120"/>
              </a:spcBef>
              <a:spcAft>
                <a:spcPts val="0"/>
              </a:spcAft>
              <a:buSzPts val="221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Determination of what is to be done, how, and where it is to be done, who will do it and how result are to be evaluated. </a:t>
            </a:r>
            <a:endParaRPr/>
          </a:p>
          <a:p>
            <a:pPr marL="274320" lvl="0" indent="-274320" algn="just" rtl="0">
              <a:spcBef>
                <a:spcPts val="1120"/>
              </a:spcBef>
              <a:spcAft>
                <a:spcPts val="0"/>
              </a:spcAft>
              <a:buSzPts val="221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Determination of short and long range objectives.</a:t>
            </a:r>
            <a:endParaRPr/>
          </a:p>
          <a:p>
            <a:pPr marL="274320" lvl="0" indent="-274320" algn="just" rtl="0">
              <a:spcBef>
                <a:spcPts val="1120"/>
              </a:spcBef>
              <a:spcAft>
                <a:spcPts val="0"/>
              </a:spcAft>
              <a:buSzPts val="221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Development of strategies and courses of action to be followed</a:t>
            </a:r>
            <a:endParaRPr/>
          </a:p>
          <a:p>
            <a:pPr marL="274320" lvl="0" indent="-274320" algn="just" rtl="0">
              <a:spcBef>
                <a:spcPts val="1120"/>
              </a:spcBef>
              <a:spcAft>
                <a:spcPts val="0"/>
              </a:spcAft>
              <a:buSzPts val="221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Formulation of policies, procedures and rules for implementing strategies and plans.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 Organizing</a:t>
            </a:r>
            <a:endParaRPr/>
          </a:p>
        </p:txBody>
      </p:sp>
      <p:sp>
        <p:nvSpPr>
          <p:cNvPr id="214" name="Google Shape;214;p7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>
            <a:spLocks noGrp="1"/>
          </p:cNvSpPr>
          <p:nvPr>
            <p:ph type="body" idx="1"/>
          </p:nvPr>
        </p:nvSpPr>
        <p:spPr>
          <a:xfrm>
            <a:off x="263524" y="1598613"/>
            <a:ext cx="8575675" cy="480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To organize a business is to provide it with everything useful to its functioning i.e. personnel, raw materials, machineries, capital etc.</a:t>
            </a:r>
            <a:endParaRPr/>
          </a:p>
          <a:p>
            <a:pPr marL="274320" lvl="0" indent="-274320" algn="just" rtl="0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Once objectives are established, manager has to develop plan to achieve them with help of human resources as well as material resources.</a:t>
            </a:r>
            <a:endParaRPr/>
          </a:p>
          <a:p>
            <a:pPr marL="274320" lvl="0" indent="-274320" algn="just" rtl="0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Assignment of jobs to employees.</a:t>
            </a:r>
            <a:endParaRPr/>
          </a:p>
          <a:p>
            <a:pPr marL="274320" lvl="0" indent="-274320" algn="just" rtl="0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Delegation of authority.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 Staffing </a:t>
            </a:r>
            <a:endParaRPr/>
          </a:p>
        </p:txBody>
      </p:sp>
      <p:sp>
        <p:nvSpPr>
          <p:cNvPr id="222" name="Google Shape;222;p8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>
            <a:spLocks noGrp="1"/>
          </p:cNvSpPr>
          <p:nvPr>
            <p:ph type="body" idx="1"/>
          </p:nvPr>
        </p:nvSpPr>
        <p:spPr>
          <a:xfrm>
            <a:off x="263524" y="1598613"/>
            <a:ext cx="8423275" cy="480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Manpower planning: determination of no. of and the kind of personnel required.</a:t>
            </a:r>
            <a:endParaRPr/>
          </a:p>
          <a:p>
            <a:pPr marL="274320" lvl="0" indent="-274320" algn="just" rtl="0"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Recruitments of suitable no. of employees</a:t>
            </a:r>
            <a:endParaRPr/>
          </a:p>
          <a:p>
            <a:pPr marL="274320" lvl="0" indent="-274320" algn="just" rtl="0"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Selection of most suitable employees</a:t>
            </a:r>
            <a:endParaRPr/>
          </a:p>
          <a:p>
            <a:pPr marL="274320" lvl="0" indent="-274320" algn="just" rtl="0"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Placement, induction and orientation</a:t>
            </a:r>
            <a:endParaRPr/>
          </a:p>
          <a:p>
            <a:pPr marL="274320" lvl="0" indent="-274320" algn="just" rtl="0"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Transfer, promotions &amp; terminations</a:t>
            </a:r>
            <a:endParaRPr/>
          </a:p>
          <a:p>
            <a:pPr marL="274320" lvl="0" indent="-274320" algn="just" rtl="0">
              <a:spcBef>
                <a:spcPts val="11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Trainings and developments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r>
              <a:rPr lang="en-US"/>
              <a:t>4. Directing</a:t>
            </a:r>
            <a:endParaRPr/>
          </a:p>
        </p:txBody>
      </p:sp>
      <p:sp>
        <p:nvSpPr>
          <p:cNvPr id="230" name="Google Shape;230;p9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74320" lvl="0" indent="-27432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Directing involves communication, leadership and motivation.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Communication is the process of passing the information and understanding it from one person to other person.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Leadership is the function whereby  the person or manager guides and influences the work of his subordinates. 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Motivation is to motivate the employee to give their best to the organization.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5. Coordinating </a:t>
            </a:r>
            <a:endParaRPr/>
          </a:p>
        </p:txBody>
      </p:sp>
      <p:sp>
        <p:nvSpPr>
          <p:cNvPr id="238" name="Google Shape;238;p10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Clear definition of authority-responsibility relationships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Unity of direction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Unity of command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Effective communication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Effective leadership</a:t>
            </a:r>
            <a:endParaRPr/>
          </a:p>
          <a:p>
            <a:pPr marL="274320" lvl="0" indent="-123190" algn="l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None/>
            </a:pP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6. Controlling</a:t>
            </a:r>
            <a:endParaRPr/>
          </a:p>
        </p:txBody>
      </p:sp>
      <p:sp>
        <p:nvSpPr>
          <p:cNvPr id="246" name="Google Shape;246;p1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controlling involves-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1. Establishing standards of performance.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2. Measuring current performance 	and comparing it against the established standard.</a:t>
            </a:r>
            <a:endParaRPr/>
          </a:p>
          <a:p>
            <a:pPr marL="274320" lvl="0" indent="-274320" algn="just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3.Taking corrective action that does not meet the standard.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760"/>
              </a:spcBef>
              <a:spcAft>
                <a:spcPts val="0"/>
              </a:spcAft>
              <a:buSzPts val="2380"/>
              <a:buFont typeface="Georgia"/>
              <a:buNone/>
            </a:pPr>
            <a:r>
              <a:rPr lang="en-US" sz="2800"/>
              <a:t>  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Network of Management Functions</a:t>
            </a:r>
            <a:endParaRPr/>
          </a:p>
        </p:txBody>
      </p:sp>
      <p:sp>
        <p:nvSpPr>
          <p:cNvPr id="254" name="Google Shape;254;p1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24000"/>
            <a:ext cx="8229600" cy="4787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Makes Management A Dynamic Process</a:t>
            </a:r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57338" y="1681163"/>
            <a:ext cx="4462462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And Administration</a:t>
            </a:r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1" indent="0" algn="just" rtl="0">
              <a:spcBef>
                <a:spcPts val="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 b="1" u="sng">
                <a:latin typeface="Times New Roman"/>
                <a:ea typeface="Times New Roman"/>
                <a:cs typeface="Times New Roman"/>
                <a:sym typeface="Times New Roman"/>
              </a:rPr>
              <a:t>On the Basis of Functions: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 -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just" rtl="0">
              <a:spcBef>
                <a:spcPts val="1640"/>
              </a:spcBef>
              <a:spcAft>
                <a:spcPts val="0"/>
              </a:spcAft>
              <a:buSzPts val="1540"/>
              <a:buFont typeface="Georgia"/>
              <a:buNone/>
            </a:pPr>
            <a:endParaRPr/>
          </a:p>
        </p:txBody>
      </p:sp>
      <p:graphicFrame>
        <p:nvGraphicFramePr>
          <p:cNvPr id="273" name="Google Shape;273;p14"/>
          <p:cNvGraphicFramePr/>
          <p:nvPr/>
        </p:nvGraphicFramePr>
        <p:xfrm>
          <a:off x="263525" y="2038350"/>
          <a:ext cx="8728075" cy="4351072"/>
        </p:xfrm>
        <a:graphic>
          <a:graphicData uri="http://schemas.openxmlformats.org/drawingml/2006/table">
            <a:tbl>
              <a:tblPr firstRow="1" firstCol="1" bandRow="1">
                <a:noFill/>
                <a:tableStyleId>{C5AEC62B-3CEF-40C1-955E-229B3BBDE0DA}</a:tableStyleId>
              </a:tblPr>
              <a:tblGrid>
                <a:gridCol w="1108075"/>
                <a:gridCol w="3810000"/>
                <a:gridCol w="3810000"/>
              </a:tblGrid>
              <a:tr h="35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Management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</a:tr>
              <a:tr h="84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Meaning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Management is an art of getting things done through others by directing their efforts towards achievement of pre-determined goals.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concerned with formulation of broad objectives, plans &amp; policies.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</a:tr>
              <a:tr h="51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Nature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Management is an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executing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function.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Administration is a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decision-making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function.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</a:tr>
              <a:tr h="51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Management decides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who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should do it &amp;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should he do it.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Administration decides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to be done &amp;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it is to be done.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</a:tr>
              <a:tr h="67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Management is a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doing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function because managers get work done under their supervision.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Administration is a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thinking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function because plans &amp; policies are determined under it.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</a:tr>
              <a:tr h="35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Skills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Technical and Human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skills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Conceptual and Human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skills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</a:tr>
              <a:tr h="35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Middle &amp; lower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 function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 function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300" marB="9530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And Administration</a:t>
            </a:r>
            <a:endParaRPr/>
          </a:p>
        </p:txBody>
      </p:sp>
      <p:sp>
        <p:nvSpPr>
          <p:cNvPr id="279" name="Google Shape;279;p15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1" indent="0" algn="just" rtl="0">
              <a:spcBef>
                <a:spcPts val="0"/>
              </a:spcBef>
              <a:spcAft>
                <a:spcPts val="0"/>
              </a:spcAft>
              <a:buSzPts val="1540"/>
              <a:buFont typeface="Times New Roman"/>
              <a:buNone/>
            </a:pPr>
            <a:r>
              <a:rPr lang="en-US" b="1" u="sng">
                <a:latin typeface="Times New Roman"/>
                <a:ea typeface="Times New Roman"/>
                <a:cs typeface="Times New Roman"/>
                <a:sym typeface="Times New Roman"/>
              </a:rPr>
              <a:t>On the Basis of Usage:</a:t>
            </a:r>
            <a:r>
              <a:rPr lang="en-US" b="1"/>
              <a:t> -</a:t>
            </a:r>
            <a:endParaRPr/>
          </a:p>
          <a:p>
            <a:pPr marL="457200" lvl="1" indent="0" algn="just" rtl="0">
              <a:spcBef>
                <a:spcPts val="1640"/>
              </a:spcBef>
              <a:spcAft>
                <a:spcPts val="0"/>
              </a:spcAft>
              <a:buSzPts val="1540"/>
              <a:buFont typeface="Georgia"/>
              <a:buNone/>
            </a:pPr>
            <a:endParaRPr/>
          </a:p>
        </p:txBody>
      </p:sp>
      <p:graphicFrame>
        <p:nvGraphicFramePr>
          <p:cNvPr id="282" name="Google Shape;282;p15"/>
          <p:cNvGraphicFramePr/>
          <p:nvPr/>
        </p:nvGraphicFramePr>
        <p:xfrm>
          <a:off x="685800" y="2133600"/>
          <a:ext cx="8305800" cy="4014608"/>
        </p:xfrm>
        <a:graphic>
          <a:graphicData uri="http://schemas.openxmlformats.org/drawingml/2006/table">
            <a:tbl>
              <a:tblPr firstRow="1" firstCol="1" bandRow="1">
                <a:noFill/>
                <a:tableStyleId>{C5AEC62B-3CEF-40C1-955E-229B3BBDE0DA}</a:tableStyleId>
              </a:tblPr>
              <a:tblGrid>
                <a:gridCol w="1371600"/>
                <a:gridCol w="3352800"/>
                <a:gridCol w="3581400"/>
              </a:tblGrid>
              <a:tr h="39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Management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</a:tr>
              <a:tr h="87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Applicability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applicable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business concerns 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i.e. profit-making organization.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applicable to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  and non-business concerns i.e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clubs, schools, hospitals etc.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</a:tr>
              <a:tr h="111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Influence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management decisions are influenced by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values, opinions, beliefs &amp; decisions of the managers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administration is influenced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by public opinion, govt. policies, religious organizations, customs etc.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</a:tr>
              <a:tr h="1543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Management constitutes the employees of the organization who are paid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remuneration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(in the form of salaries &amp; wages).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Administration represents owners of the enterprise who earn return on their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capital invested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&amp; </a:t>
                      </a: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profits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the form of dividend.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25" marB="952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And Administration</a:t>
            </a:r>
            <a:endParaRPr/>
          </a:p>
        </p:txBody>
      </p:sp>
      <p:sp>
        <p:nvSpPr>
          <p:cNvPr id="288" name="Google Shape;288;p16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6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1" indent="0" algn="just" rtl="0">
              <a:spcBef>
                <a:spcPts val="0"/>
              </a:spcBef>
              <a:spcAft>
                <a:spcPts val="0"/>
              </a:spcAft>
              <a:buSzPts val="1540"/>
              <a:buFont typeface="Georgia"/>
              <a:buNone/>
            </a:pPr>
            <a:endParaRPr/>
          </a:p>
        </p:txBody>
      </p:sp>
      <p:pic>
        <p:nvPicPr>
          <p:cNvPr id="291" name="Google Shape;291;p16" descr="http://managementstudyguide.com/images/administratio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648258"/>
            <a:ext cx="624840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6"/>
          <p:cNvSpPr txBox="1"/>
          <p:nvPr/>
        </p:nvSpPr>
        <p:spPr>
          <a:xfrm>
            <a:off x="990600" y="5257800"/>
            <a:ext cx="74676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Figure above clearly shows the degree of administration and management performed by the different levels of management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>
            <a:spLocks noGrp="1"/>
          </p:cNvSpPr>
          <p:nvPr>
            <p:ph type="title"/>
          </p:nvPr>
        </p:nvSpPr>
        <p:spPr>
          <a:xfrm>
            <a:off x="1981200" y="1828800"/>
            <a:ext cx="51054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US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Managerial </a:t>
            </a:r>
            <a:br>
              <a:rPr lang="en-US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</a:t>
            </a:r>
            <a:r>
              <a:rPr lang="en-US">
                <a:solidFill>
                  <a:srgbClr val="FF0000"/>
                </a:solidFill>
              </a:rPr>
              <a:t/>
            </a:r>
            <a:br>
              <a:rPr lang="en-US">
                <a:solidFill>
                  <a:srgbClr val="FF0000"/>
                </a:solidFill>
              </a:rPr>
            </a:br>
            <a:r>
              <a:rPr lang="en-US"/>
              <a:t/>
            </a:r>
            <a:br>
              <a:rPr lang="en-US"/>
            </a:br>
            <a:r>
              <a:rPr lang="en-US" sz="2400"/>
              <a:t/>
            </a:r>
            <a:br>
              <a:rPr lang="en-US" sz="2400"/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Ref: Industrial Engineering and Management – O. P. Khanna </a:t>
            </a:r>
            <a:endParaRPr/>
          </a:p>
        </p:txBody>
      </p:sp>
      <p:sp>
        <p:nvSpPr>
          <p:cNvPr id="298" name="Google Shape;298;p17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18"/>
          <p:cNvGrpSpPr/>
          <p:nvPr/>
        </p:nvGrpSpPr>
        <p:grpSpPr>
          <a:xfrm>
            <a:off x="1975716" y="1595438"/>
            <a:ext cx="4197350" cy="3390178"/>
            <a:chOff x="1074" y="1314"/>
            <a:chExt cx="3526" cy="2548"/>
          </a:xfrm>
        </p:grpSpPr>
        <p:sp>
          <p:nvSpPr>
            <p:cNvPr id="305" name="Google Shape;305;p18"/>
            <p:cNvSpPr/>
            <p:nvPr/>
          </p:nvSpPr>
          <p:spPr>
            <a:xfrm>
              <a:off x="1074" y="1314"/>
              <a:ext cx="3525" cy="2541"/>
            </a:xfrm>
            <a:prstGeom prst="triangle">
              <a:avLst>
                <a:gd name="adj" fmla="val 50000"/>
              </a:avLst>
            </a:prstGeom>
            <a:solidFill>
              <a:srgbClr val="66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endParaRPr sz="13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p18"/>
            <p:cNvCxnSpPr/>
            <p:nvPr/>
          </p:nvCxnSpPr>
          <p:spPr>
            <a:xfrm>
              <a:off x="2835" y="1318"/>
              <a:ext cx="1765" cy="2544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7" name="Google Shape;307;p18"/>
            <p:cNvCxnSpPr/>
            <p:nvPr/>
          </p:nvCxnSpPr>
          <p:spPr>
            <a:xfrm>
              <a:off x="1466" y="3296"/>
              <a:ext cx="2727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8" name="Google Shape;308;p18"/>
            <p:cNvCxnSpPr/>
            <p:nvPr/>
          </p:nvCxnSpPr>
          <p:spPr>
            <a:xfrm>
              <a:off x="1946" y="2563"/>
              <a:ext cx="1753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9" name="Google Shape;309;p18"/>
            <p:cNvSpPr txBox="1"/>
            <p:nvPr/>
          </p:nvSpPr>
          <p:spPr>
            <a:xfrm>
              <a:off x="1623" y="3387"/>
              <a:ext cx="2483" cy="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66"/>
                </a:buClr>
                <a:buSzPts val="1350"/>
                <a:buFont typeface="Times New Roman"/>
                <a:buNone/>
              </a:pPr>
              <a:r>
                <a:rPr lang="en-US" sz="1350" b="1">
                  <a:solidFill>
                    <a:srgbClr val="FFFF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First-Line Management</a:t>
              </a:r>
              <a:r>
                <a:rPr lang="en-US" sz="1350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/>
              </a:r>
              <a:br>
                <a:rPr lang="en-US" sz="1350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Foreman, Supervisors, Office Managers</a:t>
              </a:r>
              <a:endParaRPr/>
            </a:p>
          </p:txBody>
        </p:sp>
        <p:sp>
          <p:nvSpPr>
            <p:cNvPr id="310" name="Google Shape;310;p18"/>
            <p:cNvSpPr txBox="1"/>
            <p:nvPr/>
          </p:nvSpPr>
          <p:spPr>
            <a:xfrm>
              <a:off x="1711" y="2646"/>
              <a:ext cx="2283" cy="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66"/>
                </a:buClr>
                <a:buSzPts val="1350"/>
                <a:buFont typeface="Times New Roman"/>
                <a:buNone/>
              </a:pPr>
              <a:r>
                <a:rPr lang="en-US" sz="1350" b="1">
                  <a:solidFill>
                    <a:srgbClr val="FFFF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Middle Management</a:t>
              </a:r>
              <a:r>
                <a:rPr lang="en-US" sz="1350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/>
              </a:r>
              <a:br>
                <a:rPr lang="en-US" sz="1350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Plant Managers, Division Managers,</a:t>
              </a:r>
              <a:b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Managers</a:t>
              </a:r>
              <a:endParaRPr/>
            </a:p>
          </p:txBody>
        </p:sp>
        <p:sp>
          <p:nvSpPr>
            <p:cNvPr id="311" name="Google Shape;311;p18"/>
            <p:cNvSpPr txBox="1"/>
            <p:nvPr/>
          </p:nvSpPr>
          <p:spPr>
            <a:xfrm>
              <a:off x="2301" y="1633"/>
              <a:ext cx="1096" cy="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66"/>
                </a:buClr>
                <a:buSzPts val="1350"/>
                <a:buFont typeface="Times New Roman"/>
                <a:buNone/>
              </a:pPr>
              <a:r>
                <a:rPr lang="en-US" sz="1350" b="1">
                  <a:solidFill>
                    <a:srgbClr val="FFFF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</a:t>
              </a:r>
              <a:br>
                <a:rPr lang="en-US" sz="1350" b="1">
                  <a:solidFill>
                    <a:srgbClr val="FFFF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350" b="1">
                  <a:solidFill>
                    <a:srgbClr val="FFFF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Management</a:t>
              </a:r>
              <a: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/>
              </a:r>
              <a:b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President, CEO,</a:t>
              </a:r>
              <a:b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Executive</a:t>
              </a:r>
              <a:b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350" b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Vice Presidents</a:t>
              </a:r>
              <a:endParaRPr/>
            </a:p>
          </p:txBody>
        </p:sp>
        <p:cxnSp>
          <p:nvCxnSpPr>
            <p:cNvPr id="312" name="Google Shape;312;p18"/>
            <p:cNvCxnSpPr/>
            <p:nvPr/>
          </p:nvCxnSpPr>
          <p:spPr>
            <a:xfrm rot="10800000" flipH="1">
              <a:off x="4190" y="3223"/>
              <a:ext cx="143" cy="77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3" name="Google Shape;313;p18"/>
            <p:cNvCxnSpPr/>
            <p:nvPr/>
          </p:nvCxnSpPr>
          <p:spPr>
            <a:xfrm rot="10800000" flipH="1">
              <a:off x="3700" y="2486"/>
              <a:ext cx="127" cy="73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4" name="Google Shape;314;p18"/>
          <p:cNvSpPr/>
          <p:nvPr/>
        </p:nvSpPr>
        <p:spPr>
          <a:xfrm>
            <a:off x="1888259" y="5133109"/>
            <a:ext cx="4743450" cy="285750"/>
          </a:xfrm>
          <a:prstGeom prst="trapezoid">
            <a:avLst>
              <a:gd name="adj" fmla="val 25000"/>
            </a:avLst>
          </a:prstGeom>
          <a:solidFill>
            <a:srgbClr val="4B50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 Managerial Employees</a:t>
            </a:r>
            <a:endParaRPr/>
          </a:p>
        </p:txBody>
      </p:sp>
      <p:sp>
        <p:nvSpPr>
          <p:cNvPr id="315" name="Google Shape;315;p18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42A7B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rgbClr val="242A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Management</a:t>
            </a:r>
            <a:endParaRPr sz="3600">
              <a:solidFill>
                <a:srgbClr val="242A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/>
          <p:nvPr/>
        </p:nvSpPr>
        <p:spPr>
          <a:xfrm>
            <a:off x="1506538" y="2676525"/>
            <a:ext cx="250825" cy="2047875"/>
          </a:xfrm>
          <a:prstGeom prst="rect">
            <a:avLst/>
          </a:prstGeom>
          <a:solidFill>
            <a:srgbClr val="4B506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2708275" y="3767138"/>
            <a:ext cx="250825" cy="9572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806575" y="2943225"/>
            <a:ext cx="250825" cy="1781175"/>
          </a:xfrm>
          <a:prstGeom prst="rect">
            <a:avLst/>
          </a:prstGeom>
          <a:solidFill>
            <a:srgbClr val="A0A4B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2106613" y="3222625"/>
            <a:ext cx="250825" cy="1501775"/>
          </a:xfrm>
          <a:prstGeom prst="rect">
            <a:avLst/>
          </a:prstGeom>
          <a:solidFill>
            <a:srgbClr val="BFC2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2406650" y="3490913"/>
            <a:ext cx="250825" cy="1233487"/>
          </a:xfrm>
          <a:prstGeom prst="rect">
            <a:avLst/>
          </a:prstGeom>
          <a:solidFill>
            <a:srgbClr val="DFE0E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/>
          <p:nvPr/>
        </p:nvSpPr>
        <p:spPr>
          <a:xfrm flipH="1">
            <a:off x="6602413" y="2674938"/>
            <a:ext cx="250825" cy="2047875"/>
          </a:xfrm>
          <a:prstGeom prst="rect">
            <a:avLst/>
          </a:prstGeom>
          <a:solidFill>
            <a:srgbClr val="FEF8C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/>
          <p:nvPr/>
        </p:nvSpPr>
        <p:spPr>
          <a:xfrm flipH="1">
            <a:off x="5400675" y="3767138"/>
            <a:ext cx="250825" cy="957262"/>
          </a:xfrm>
          <a:prstGeom prst="rect">
            <a:avLst/>
          </a:prstGeom>
          <a:solidFill>
            <a:srgbClr val="4B506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/>
          <p:nvPr/>
        </p:nvSpPr>
        <p:spPr>
          <a:xfrm flipH="1">
            <a:off x="6302375" y="2941638"/>
            <a:ext cx="250825" cy="1781175"/>
          </a:xfrm>
          <a:prstGeom prst="rect">
            <a:avLst/>
          </a:prstGeom>
          <a:solidFill>
            <a:srgbClr val="DFE0E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/>
          <p:nvPr/>
        </p:nvSpPr>
        <p:spPr>
          <a:xfrm flipH="1">
            <a:off x="6002338" y="3222625"/>
            <a:ext cx="250825" cy="1501775"/>
          </a:xfrm>
          <a:prstGeom prst="rect">
            <a:avLst/>
          </a:prstGeom>
          <a:solidFill>
            <a:srgbClr val="BFC2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/>
          <p:nvPr/>
        </p:nvSpPr>
        <p:spPr>
          <a:xfrm flipH="1">
            <a:off x="5702300" y="3490913"/>
            <a:ext cx="250825" cy="1233487"/>
          </a:xfrm>
          <a:prstGeom prst="rect">
            <a:avLst/>
          </a:prstGeom>
          <a:solidFill>
            <a:srgbClr val="A0A4B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452813" y="2951163"/>
            <a:ext cx="250825" cy="1773237"/>
          </a:xfrm>
          <a:prstGeom prst="rect">
            <a:avLst/>
          </a:prstGeom>
          <a:solidFill>
            <a:srgbClr val="4B506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4654550" y="3767138"/>
            <a:ext cx="250825" cy="9572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3752850" y="2674938"/>
            <a:ext cx="250825" cy="2049462"/>
          </a:xfrm>
          <a:prstGeom prst="rect">
            <a:avLst/>
          </a:prstGeom>
          <a:solidFill>
            <a:srgbClr val="A0A4B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4052888" y="2941638"/>
            <a:ext cx="250825" cy="1776412"/>
          </a:xfrm>
          <a:prstGeom prst="rect">
            <a:avLst/>
          </a:prstGeom>
          <a:solidFill>
            <a:srgbClr val="BFC2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352925" y="3490913"/>
            <a:ext cx="250825" cy="1233487"/>
          </a:xfrm>
          <a:prstGeom prst="rect">
            <a:avLst/>
          </a:prstGeom>
          <a:solidFill>
            <a:srgbClr val="DFE0E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 rot="-5400000">
            <a:off x="1327944" y="4198144"/>
            <a:ext cx="595313" cy="23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 rot="-5400000">
            <a:off x="5117307" y="4166394"/>
            <a:ext cx="8001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 rot="-5400000">
            <a:off x="3157538" y="4165600"/>
            <a:ext cx="8001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 rot="-5400000">
            <a:off x="1455738" y="4102100"/>
            <a:ext cx="960438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Organizing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 rot="-5400000">
            <a:off x="5346700" y="4106863"/>
            <a:ext cx="960437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Organizing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 rot="-5400000">
            <a:off x="3375025" y="4106863"/>
            <a:ext cx="960437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Organizing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 rot="-5400000">
            <a:off x="1866106" y="4191794"/>
            <a:ext cx="7397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Staffing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 rot="-5400000">
            <a:off x="3802856" y="4194969"/>
            <a:ext cx="7397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Staffing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 rot="-5400000">
            <a:off x="5747544" y="4194969"/>
            <a:ext cx="73977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Staffing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 rot="-5400000">
            <a:off x="2105819" y="4144169"/>
            <a:ext cx="83820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Directing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 rot="-5400000">
            <a:off x="6235701" y="4095750"/>
            <a:ext cx="982662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Controlling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 rot="-5400000">
            <a:off x="5997575" y="4148138"/>
            <a:ext cx="839787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Directing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 rot="-5400000">
            <a:off x="4041775" y="4148138"/>
            <a:ext cx="839787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Directing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 rot="-5400000">
            <a:off x="2281119" y="4080714"/>
            <a:ext cx="1090614" cy="276999"/>
          </a:xfrm>
          <a:prstGeom prst="rect">
            <a:avLst/>
          </a:prstGeom>
          <a:solidFill>
            <a:srgbClr val="FEF8C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Controlling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 rot="-5400000">
            <a:off x="4287286" y="4070974"/>
            <a:ext cx="1011815" cy="307777"/>
          </a:xfrm>
          <a:prstGeom prst="rect">
            <a:avLst/>
          </a:prstGeom>
          <a:solidFill>
            <a:srgbClr val="FEF8C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Controlling</a:t>
            </a:r>
            <a:endParaRPr/>
          </a:p>
        </p:txBody>
      </p:sp>
      <p:grpSp>
        <p:nvGrpSpPr>
          <p:cNvPr id="350" name="Google Shape;350;p19"/>
          <p:cNvGrpSpPr/>
          <p:nvPr/>
        </p:nvGrpSpPr>
        <p:grpSpPr>
          <a:xfrm>
            <a:off x="1460499" y="2057400"/>
            <a:ext cx="5930901" cy="2692399"/>
            <a:chOff x="1008" y="1848"/>
            <a:chExt cx="4504" cy="1640"/>
          </a:xfrm>
        </p:grpSpPr>
        <p:cxnSp>
          <p:nvCxnSpPr>
            <p:cNvPr id="351" name="Google Shape;351;p19"/>
            <p:cNvCxnSpPr/>
            <p:nvPr/>
          </p:nvCxnSpPr>
          <p:spPr>
            <a:xfrm>
              <a:off x="1008" y="1848"/>
              <a:ext cx="0" cy="164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19"/>
            <p:cNvCxnSpPr/>
            <p:nvPr/>
          </p:nvCxnSpPr>
          <p:spPr>
            <a:xfrm>
              <a:off x="1008" y="3488"/>
              <a:ext cx="4504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3" name="Google Shape;353;p19"/>
          <p:cNvSpPr txBox="1"/>
          <p:nvPr/>
        </p:nvSpPr>
        <p:spPr>
          <a:xfrm>
            <a:off x="1509333" y="4870450"/>
            <a:ext cx="119455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b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Managers</a:t>
            </a:r>
            <a:endParaRPr/>
          </a:p>
        </p:txBody>
      </p:sp>
      <p:sp>
        <p:nvSpPr>
          <p:cNvPr id="354" name="Google Shape;354;p19"/>
          <p:cNvSpPr txBox="1"/>
          <p:nvPr/>
        </p:nvSpPr>
        <p:spPr>
          <a:xfrm>
            <a:off x="3488874" y="4897437"/>
            <a:ext cx="119455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</a:t>
            </a:r>
            <a:b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Managers</a:t>
            </a: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5524059" y="4904076"/>
            <a:ext cx="120738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First-Line</a:t>
            </a:r>
            <a:b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Managers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368478" y="4352926"/>
            <a:ext cx="98135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Least</a:t>
            </a:r>
            <a:br>
              <a:rPr lang="en-US" sz="1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347696" y="2057400"/>
            <a:ext cx="98135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</a:t>
            </a:r>
            <a:br>
              <a:rPr lang="en-US" sz="1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272653" y="162430"/>
            <a:ext cx="8160543" cy="100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42A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Management Functions to Managers in Each Level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Managerial Skills</a:t>
            </a:r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0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8587" algn="l" rtl="0">
              <a:spcBef>
                <a:spcPts val="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  <p:grpSp>
        <p:nvGrpSpPr>
          <p:cNvPr id="367" name="Google Shape;367;p20"/>
          <p:cNvGrpSpPr/>
          <p:nvPr/>
        </p:nvGrpSpPr>
        <p:grpSpPr>
          <a:xfrm>
            <a:off x="380996" y="2448793"/>
            <a:ext cx="7220438" cy="3155958"/>
            <a:chOff x="79371" y="1153393"/>
            <a:chExt cx="7220438" cy="3155958"/>
          </a:xfrm>
        </p:grpSpPr>
        <p:sp>
          <p:nvSpPr>
            <p:cNvPr id="368" name="Google Shape;368;p20"/>
            <p:cNvSpPr/>
            <p:nvPr/>
          </p:nvSpPr>
          <p:spPr>
            <a:xfrm>
              <a:off x="79371" y="1153393"/>
              <a:ext cx="2229817" cy="694472"/>
            </a:xfrm>
            <a:prstGeom prst="rect">
              <a:avLst/>
            </a:prstGeom>
            <a:solidFill>
              <a:schemeClr val="accent1"/>
            </a:solidFill>
            <a:ln w="114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0"/>
            <p:cNvSpPr txBox="1"/>
            <p:nvPr/>
          </p:nvSpPr>
          <p:spPr>
            <a:xfrm>
              <a:off x="79371" y="1153393"/>
              <a:ext cx="2229817" cy="694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 Skill</a:t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79371" y="1796557"/>
              <a:ext cx="2229817" cy="2512794"/>
            </a:xfrm>
            <a:prstGeom prst="rect">
              <a:avLst/>
            </a:prstGeom>
            <a:solidFill>
              <a:srgbClr val="ECD1CD">
                <a:alpha val="89803"/>
              </a:srgbClr>
            </a:solidFill>
            <a:ln w="11425" cap="flat" cmpd="sng">
              <a:solidFill>
                <a:srgbClr val="ECD1CD">
                  <a:alpha val="89803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0"/>
            <p:cNvSpPr txBox="1"/>
            <p:nvPr/>
          </p:nvSpPr>
          <p:spPr>
            <a:xfrm>
              <a:off x="79371" y="1796557"/>
              <a:ext cx="2229817" cy="2512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42225" bIns="1600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proficiency in handling 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marR="0" lvl="2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Methods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marR="0" lvl="2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Processes &amp;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marR="0" lvl="2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Techniques of a particular kind of business 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2509605" y="1160317"/>
              <a:ext cx="2229817" cy="694472"/>
            </a:xfrm>
            <a:prstGeom prst="rect">
              <a:avLst/>
            </a:prstGeom>
            <a:solidFill>
              <a:schemeClr val="accent1"/>
            </a:solidFill>
            <a:ln w="114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0"/>
            <p:cNvSpPr txBox="1"/>
            <p:nvPr/>
          </p:nvSpPr>
          <p:spPr>
            <a:xfrm>
              <a:off x="2509605" y="1160317"/>
              <a:ext cx="2229817" cy="694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Conceptual Skills</a:t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2476916" y="1890705"/>
              <a:ext cx="2229817" cy="1931409"/>
            </a:xfrm>
            <a:prstGeom prst="rect">
              <a:avLst/>
            </a:prstGeom>
            <a:solidFill>
              <a:srgbClr val="ECD1CD">
                <a:alpha val="89803"/>
              </a:srgbClr>
            </a:solidFill>
            <a:ln w="11425" cap="flat" cmpd="sng">
              <a:solidFill>
                <a:srgbClr val="ECD1CD">
                  <a:alpha val="89803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0"/>
            <p:cNvSpPr txBox="1"/>
            <p:nvPr/>
          </p:nvSpPr>
          <p:spPr>
            <a:xfrm>
              <a:off x="2476916" y="1890705"/>
              <a:ext cx="2229817" cy="1931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000" tIns="96000" rIns="128000" bIns="144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Decision Making Skills</a:t>
              </a: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Organizational Skills</a:t>
              </a: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5068677" y="1238247"/>
              <a:ext cx="2229817" cy="694472"/>
            </a:xfrm>
            <a:prstGeom prst="rect">
              <a:avLst/>
            </a:prstGeom>
            <a:solidFill>
              <a:schemeClr val="accent1"/>
            </a:solidFill>
            <a:ln w="114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0"/>
            <p:cNvSpPr txBox="1"/>
            <p:nvPr/>
          </p:nvSpPr>
          <p:spPr>
            <a:xfrm>
              <a:off x="5068677" y="1238247"/>
              <a:ext cx="2229817" cy="694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Human Relation Skills</a:t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5069992" y="1924006"/>
              <a:ext cx="2229817" cy="2146127"/>
            </a:xfrm>
            <a:prstGeom prst="rect">
              <a:avLst/>
            </a:prstGeom>
            <a:solidFill>
              <a:srgbClr val="ECD1CD">
                <a:alpha val="89803"/>
              </a:srgbClr>
            </a:solidFill>
            <a:ln w="11425" cap="flat" cmpd="sng">
              <a:solidFill>
                <a:srgbClr val="ECD1CD">
                  <a:alpha val="89803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0"/>
            <p:cNvSpPr txBox="1"/>
            <p:nvPr/>
          </p:nvSpPr>
          <p:spPr>
            <a:xfrm>
              <a:off x="5069992" y="1924006"/>
              <a:ext cx="2229817" cy="21461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42225" bIns="1600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Communicating Skills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Motivating Skills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Leadership Skills</a:t>
              </a: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80" name="Google Shape;380;p20"/>
          <p:cNvSpPr/>
          <p:nvPr/>
        </p:nvSpPr>
        <p:spPr>
          <a:xfrm>
            <a:off x="1344001" y="1910207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20"/>
          <p:cNvGrpSpPr/>
          <p:nvPr/>
        </p:nvGrpSpPr>
        <p:grpSpPr>
          <a:xfrm>
            <a:off x="1255586" y="1733559"/>
            <a:ext cx="5410200" cy="633848"/>
            <a:chOff x="1190731" y="1905000"/>
            <a:chExt cx="5410200" cy="633848"/>
          </a:xfrm>
        </p:grpSpPr>
        <p:sp>
          <p:nvSpPr>
            <p:cNvPr id="382" name="Google Shape;382;p20"/>
            <p:cNvSpPr/>
            <p:nvPr/>
          </p:nvSpPr>
          <p:spPr>
            <a:xfrm>
              <a:off x="1190731" y="1905000"/>
              <a:ext cx="5410200" cy="228600"/>
            </a:xfrm>
            <a:prstGeom prst="leftRightArrow">
              <a:avLst>
                <a:gd name="adj1" fmla="val 50000"/>
                <a:gd name="adj2" fmla="val 49963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3667231" y="2081648"/>
              <a:ext cx="228600" cy="4572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0"/>
            <p:cNvSpPr/>
            <p:nvPr/>
          </p:nvSpPr>
          <p:spPr>
            <a:xfrm>
              <a:off x="6372331" y="2081648"/>
              <a:ext cx="228600" cy="4572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Managerial Skills</a:t>
            </a:r>
            <a:endParaRPr/>
          </a:p>
        </p:txBody>
      </p:sp>
      <p:sp>
        <p:nvSpPr>
          <p:cNvPr id="390" name="Google Shape;390;p2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95"/>
              <a:buFont typeface="Georgia"/>
              <a:buNone/>
            </a:pPr>
            <a:endParaRPr/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SzPts val="2295"/>
              <a:buFont typeface="Georgia"/>
              <a:buNone/>
            </a:pPr>
            <a:endParaRPr/>
          </a:p>
        </p:txBody>
      </p:sp>
      <p:pic>
        <p:nvPicPr>
          <p:cNvPr id="393" name="Google Shape;39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174" y="1381125"/>
            <a:ext cx="7083425" cy="411638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1"/>
          <p:cNvSpPr txBox="1"/>
          <p:nvPr/>
        </p:nvSpPr>
        <p:spPr>
          <a:xfrm>
            <a:off x="3170238" y="5724525"/>
            <a:ext cx="33067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Managerial Skills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Managerial Skills</a:t>
            </a:r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2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2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SzPts val="2295"/>
              <a:buFont typeface="Times New Roman"/>
              <a:buAutoNum type="arabicPeriod"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Skills</a:t>
            </a:r>
            <a:endParaRPr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SzPts val="204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proficiency in handling </a:t>
            </a:r>
            <a:endParaRPr/>
          </a:p>
          <a:p>
            <a:pPr marL="1097280" lvl="3" indent="-228600" algn="l" rtl="0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/>
          </a:p>
          <a:p>
            <a:pPr marL="1097280" lvl="3" indent="-228600" algn="l" rtl="0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Processes &amp;</a:t>
            </a:r>
            <a:endParaRPr/>
          </a:p>
          <a:p>
            <a:pPr marL="1097280" lvl="3" indent="-228600" algn="l" rtl="0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 of a particular kind of business </a:t>
            </a:r>
            <a:endParaRPr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SzPts val="204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Essential for lower level management </a:t>
            </a:r>
            <a:endParaRPr/>
          </a:p>
          <a:p>
            <a:pPr marL="514350" lvl="0" indent="-368617" algn="l" rtl="0">
              <a:spcBef>
                <a:spcPts val="540"/>
              </a:spcBef>
              <a:spcAft>
                <a:spcPts val="0"/>
              </a:spcAft>
              <a:buSzPts val="2295"/>
              <a:buFont typeface="Georgia"/>
              <a:buNone/>
            </a:pPr>
            <a:endParaRPr/>
          </a:p>
          <a:p>
            <a:pPr marL="514350" lvl="0" indent="-368617" algn="l" rtl="0">
              <a:spcBef>
                <a:spcPts val="540"/>
              </a:spcBef>
              <a:spcAft>
                <a:spcPts val="0"/>
              </a:spcAft>
              <a:buSzPts val="2295"/>
              <a:buFont typeface="Georgia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Managerial Skills</a:t>
            </a:r>
            <a:endParaRPr/>
          </a:p>
        </p:txBody>
      </p:sp>
      <p:sp>
        <p:nvSpPr>
          <p:cNvPr id="408" name="Google Shape;408;p2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3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3"/>
          <p:cNvSpPr txBox="1">
            <a:spLocks noGrp="1"/>
          </p:cNvSpPr>
          <p:nvPr>
            <p:ph type="body" idx="1"/>
          </p:nvPr>
        </p:nvSpPr>
        <p:spPr>
          <a:xfrm>
            <a:off x="263525" y="1360488"/>
            <a:ext cx="7386638" cy="496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95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Conceptual Skills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SzPts val="204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ability to see organization as a whole, to recognize inter-relationships among different functions, to guide effectively organizational efforts.</a:t>
            </a:r>
            <a:endParaRPr/>
          </a:p>
          <a:p>
            <a:pPr marL="0" lvl="0" indent="-129540" algn="l" rtl="0">
              <a:spcBef>
                <a:spcPts val="480"/>
              </a:spcBef>
              <a:spcAft>
                <a:spcPts val="0"/>
              </a:spcAft>
              <a:buSzPts val="204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Essential for top executive management </a:t>
            </a:r>
            <a:endParaRPr/>
          </a:p>
          <a:p>
            <a:pPr marL="0" lvl="0" indent="-129540" algn="l" rtl="0">
              <a:spcBef>
                <a:spcPts val="480"/>
              </a:spcBef>
              <a:spcAft>
                <a:spcPts val="0"/>
              </a:spcAft>
              <a:buSzPts val="204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Difficult to learn than technical skills.</a:t>
            </a:r>
            <a:endParaRPr/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SzPts val="935"/>
              <a:buFont typeface="Georgia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514350" algn="l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AutoNum type="alphaLcPeriod"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Making Skills</a:t>
            </a:r>
            <a:endParaRPr/>
          </a:p>
          <a:p>
            <a:pPr marL="914400" lvl="1" indent="-514350" algn="l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mental stability and presence of mind.</a:t>
            </a:r>
            <a:endParaRPr/>
          </a:p>
          <a:p>
            <a:pPr marL="914400" lvl="1" indent="-514350" algn="l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AutoNum type="alphaLcPeriod" startAt="2"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Organizational Skills</a:t>
            </a:r>
            <a:endParaRPr/>
          </a:p>
          <a:p>
            <a:pPr marL="914400" lvl="1" indent="-514350" algn="l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 of right people for right job</a:t>
            </a:r>
            <a:endParaRPr/>
          </a:p>
          <a:p>
            <a:pPr marL="914400" lvl="1" indent="-514350" algn="l" rtl="0">
              <a:spcBef>
                <a:spcPts val="440"/>
              </a:spcBef>
              <a:spcAft>
                <a:spcPts val="0"/>
              </a:spcAft>
              <a:buSzPts val="1540"/>
              <a:buFont typeface="Georgia"/>
              <a:buNone/>
            </a:pPr>
            <a:endParaRPr>
              <a:solidFill>
                <a:srgbClr val="3E8853"/>
              </a:solidFill>
            </a:endParaRPr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Managerial Skills</a:t>
            </a:r>
            <a:endParaRPr/>
          </a:p>
        </p:txBody>
      </p:sp>
      <p:sp>
        <p:nvSpPr>
          <p:cNvPr id="416" name="Google Shape;416;p2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4"/>
          <p:cNvSpPr txBox="1">
            <a:spLocks noGrp="1"/>
          </p:cNvSpPr>
          <p:nvPr>
            <p:ph type="body" idx="1"/>
          </p:nvPr>
        </p:nvSpPr>
        <p:spPr>
          <a:xfrm>
            <a:off x="285750" y="1530350"/>
            <a:ext cx="7386638" cy="449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95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Human Relation Skills</a:t>
            </a:r>
            <a:endParaRPr/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SzPts val="850"/>
              <a:buFont typeface="Georgia"/>
              <a:buNone/>
            </a:pPr>
            <a:endParaRPr sz="10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04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ability to select and fix the work effectively with others and build cooperative work groups to achieve organizational goals.</a:t>
            </a:r>
            <a:endParaRPr/>
          </a:p>
          <a:p>
            <a:pPr marL="914400" lvl="1" indent="-514350" algn="l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AutoNum type="alphaLcPeriod"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Communicating Skills</a:t>
            </a:r>
            <a:endParaRPr/>
          </a:p>
          <a:p>
            <a:pPr marL="914400" lvl="1" indent="-514350" algn="l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AutoNum type="alphaLcPeriod"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Motivating Skills</a:t>
            </a:r>
            <a:endParaRPr/>
          </a:p>
          <a:p>
            <a:pPr marL="914400" lvl="1" indent="-514350" algn="l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AutoNum type="alphaLcPeriod"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 Skills</a:t>
            </a:r>
            <a:endParaRPr/>
          </a:p>
          <a:p>
            <a:pPr marL="914400" lvl="1" indent="-416560" algn="l" rtl="0">
              <a:spcBef>
                <a:spcPts val="440"/>
              </a:spcBef>
              <a:spcAft>
                <a:spcPts val="0"/>
              </a:spcAft>
              <a:buSzPts val="1540"/>
              <a:buFont typeface="Georgia"/>
              <a:buNone/>
            </a:pPr>
            <a:endParaRPr/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Managerial Skills</a:t>
            </a:r>
            <a:endParaRPr/>
          </a:p>
        </p:txBody>
      </p:sp>
      <p:sp>
        <p:nvSpPr>
          <p:cNvPr id="424" name="Google Shape;424;p25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5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5"/>
          <p:cNvSpPr txBox="1">
            <a:spLocks noGrp="1"/>
          </p:cNvSpPr>
          <p:nvPr>
            <p:ph type="body" idx="1"/>
          </p:nvPr>
        </p:nvSpPr>
        <p:spPr>
          <a:xfrm>
            <a:off x="285750" y="1530350"/>
            <a:ext cx="7386638" cy="449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850"/>
              <a:buFont typeface="Georgia"/>
              <a:buNone/>
            </a:pPr>
            <a:endParaRPr sz="1000"/>
          </a:p>
          <a:p>
            <a:pPr marL="400050" lvl="1" indent="0" algn="just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Communicating Skills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lvl="1" indent="0" algn="just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pass information to others.</a:t>
            </a:r>
            <a:endParaRPr/>
          </a:p>
          <a:p>
            <a:pPr marL="400050" lvl="1" indent="0" algn="just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Motivating Skills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lvl="1" indent="0" algn="just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inspire people to do what the manager want them to do. (+VE/-VE).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lvl="1" indent="0" algn="just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Leadership Skills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lvl="1" indent="0" algn="just" rtl="0">
              <a:spcBef>
                <a:spcPts val="480"/>
              </a:spcBef>
              <a:spcAft>
                <a:spcPts val="0"/>
              </a:spcAft>
              <a:buSzPts val="168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inspire confidence and trust in the subordinates to have maximum cooperation for getting the work done.</a:t>
            </a:r>
            <a:endParaRPr/>
          </a:p>
          <a:p>
            <a:pPr marL="914400" lvl="1" indent="-416560" algn="just" rtl="0">
              <a:spcBef>
                <a:spcPts val="440"/>
              </a:spcBef>
              <a:spcAft>
                <a:spcPts val="0"/>
              </a:spcAft>
              <a:buSzPts val="1540"/>
              <a:buFont typeface="Georgia"/>
              <a:buNone/>
            </a:pPr>
            <a:endParaRPr/>
          </a:p>
          <a:p>
            <a:pPr marL="0" lvl="0" indent="0" algn="just" rtl="0">
              <a:spcBef>
                <a:spcPts val="54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6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endParaRPr/>
          </a:p>
        </p:txBody>
      </p:sp>
      <p:sp>
        <p:nvSpPr>
          <p:cNvPr id="432" name="Google Shape;432;p26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2/7/2024</a:t>
            </a:r>
            <a:endParaRPr/>
          </a:p>
        </p:txBody>
      </p:sp>
      <p:sp>
        <p:nvSpPr>
          <p:cNvPr id="433" name="Google Shape;433;p26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434" name="Google Shape;434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88392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endParaRPr/>
          </a:p>
        </p:txBody>
      </p:sp>
      <p:sp>
        <p:nvSpPr>
          <p:cNvPr id="440" name="Google Shape;440;p27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2/7/2024</a:t>
            </a:r>
            <a:endParaRPr/>
          </a:p>
        </p:txBody>
      </p:sp>
      <p:sp>
        <p:nvSpPr>
          <p:cNvPr id="441" name="Google Shape;441;p27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42" name="Google Shape;442;p27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8587" algn="l" rtl="0">
              <a:spcBef>
                <a:spcPts val="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  <p:pic>
        <p:nvPicPr>
          <p:cNvPr id="443" name="Google Shape;44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473" y="76200"/>
            <a:ext cx="8839200" cy="63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8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endParaRPr/>
          </a:p>
        </p:txBody>
      </p:sp>
      <p:sp>
        <p:nvSpPr>
          <p:cNvPr id="449" name="Google Shape;449;p28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2/7/2024</a:t>
            </a:r>
            <a:endParaRPr/>
          </a:p>
        </p:txBody>
      </p:sp>
      <p:sp>
        <p:nvSpPr>
          <p:cNvPr id="450" name="Google Shape;450;p28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51" name="Google Shape;451;p28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8587" algn="l" rtl="0">
              <a:spcBef>
                <a:spcPts val="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  <p:pic>
        <p:nvPicPr>
          <p:cNvPr id="452" name="Google Shape;45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0838"/>
            <a:ext cx="8839200" cy="6289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endParaRPr/>
          </a:p>
        </p:txBody>
      </p:sp>
      <p:sp>
        <p:nvSpPr>
          <p:cNvPr id="458" name="Google Shape;458;p29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2/7/2024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9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9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8587" algn="l" rtl="0">
              <a:spcBef>
                <a:spcPts val="0"/>
              </a:spcBef>
              <a:spcAft>
                <a:spcPts val="0"/>
              </a:spcAft>
              <a:buSzPts val="2295"/>
              <a:buNone/>
            </a:pP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2209800" y="2743200"/>
            <a:ext cx="3009900" cy="163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000000"/>
                </a:solidFill>
                <a:latin typeface="Arial Bla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">
  <a:themeElements>
    <a:clrScheme name="Civic">
      <a:dk1>
        <a:srgbClr val="000000"/>
      </a:dk1>
      <a:lt1>
        <a:srgbClr val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</Words>
  <Application>Microsoft Office PowerPoint</Application>
  <PresentationFormat>On-screen Show (4:3)</PresentationFormat>
  <Paragraphs>222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Civic</vt:lpstr>
      <vt:lpstr>Chapter 1: Fundamentals of Management  Ref: Organization And Management - Agarwal </vt:lpstr>
      <vt:lpstr>Content </vt:lpstr>
      <vt:lpstr>Introduction</vt:lpstr>
      <vt:lpstr>Definition</vt:lpstr>
      <vt:lpstr>PowerPoint Presentation</vt:lpstr>
      <vt:lpstr>Functions of Management  1. Planning</vt:lpstr>
      <vt:lpstr>2. Organizing</vt:lpstr>
      <vt:lpstr>3. Staffing </vt:lpstr>
      <vt:lpstr>4. Directing</vt:lpstr>
      <vt:lpstr>5. Coordinating </vt:lpstr>
      <vt:lpstr>6. Controlling</vt:lpstr>
      <vt:lpstr>Network of Management Functions</vt:lpstr>
      <vt:lpstr>Environment Makes Management A Dynamic Process</vt:lpstr>
      <vt:lpstr>Management And Administration</vt:lpstr>
      <vt:lpstr>Management And Administration</vt:lpstr>
      <vt:lpstr>Management And Administration</vt:lpstr>
      <vt:lpstr>Managerial  Skills   Ref: Industrial Engineering and Management – O. P. Khanna </vt:lpstr>
      <vt:lpstr>Levels of Management</vt:lpstr>
      <vt:lpstr>PowerPoint Presentation</vt:lpstr>
      <vt:lpstr>Managerial Skills</vt:lpstr>
      <vt:lpstr>Managerial Skills</vt:lpstr>
      <vt:lpstr>Managerial Skills</vt:lpstr>
      <vt:lpstr>Managerial Skills</vt:lpstr>
      <vt:lpstr>Managerial Skills</vt:lpstr>
      <vt:lpstr>Managerial Skills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Fundamentals of Management  Ref: Organization And Management - Agarwal </dc:title>
  <dc:creator>Tamanna</dc:creator>
  <cp:lastModifiedBy>pc</cp:lastModifiedBy>
  <cp:revision>1</cp:revision>
  <dcterms:created xsi:type="dcterms:W3CDTF">2008-03-24T06:53:28Z</dcterms:created>
  <dcterms:modified xsi:type="dcterms:W3CDTF">2025-08-10T02:56:00Z</dcterms:modified>
</cp:coreProperties>
</file>