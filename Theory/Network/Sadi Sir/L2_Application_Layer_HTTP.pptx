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  <p:sldMasterId id="2147483660" r:id="rId3"/>
  </p:sldMasterIdLst>
  <p:notesMasterIdLst>
    <p:notesMasterId r:id="rId62"/>
  </p:notesMasterIdLst>
  <p:sldIdLst>
    <p:sldId id="1201" r:id="rId4"/>
    <p:sldId id="1041" r:id="rId5"/>
    <p:sldId id="1163" r:id="rId6"/>
    <p:sldId id="1176" r:id="rId7"/>
    <p:sldId id="1177" r:id="rId8"/>
    <p:sldId id="1178" r:id="rId9"/>
    <p:sldId id="1164" r:id="rId10"/>
    <p:sldId id="1165" r:id="rId11"/>
    <p:sldId id="1179" r:id="rId12"/>
    <p:sldId id="1166" r:id="rId13"/>
    <p:sldId id="1167" r:id="rId14"/>
    <p:sldId id="1168" r:id="rId15"/>
    <p:sldId id="1182" r:id="rId16"/>
    <p:sldId id="1181" r:id="rId17"/>
    <p:sldId id="1169" r:id="rId18"/>
    <p:sldId id="1170" r:id="rId19"/>
    <p:sldId id="1171" r:id="rId20"/>
    <p:sldId id="1172" r:id="rId21"/>
    <p:sldId id="1173" r:id="rId22"/>
    <p:sldId id="1174" r:id="rId23"/>
    <p:sldId id="1175" r:id="rId24"/>
    <p:sldId id="1042" r:id="rId25"/>
    <p:sldId id="1183" r:id="rId26"/>
    <p:sldId id="1184" r:id="rId27"/>
    <p:sldId id="1185" r:id="rId28"/>
    <p:sldId id="1068" r:id="rId29"/>
    <p:sldId id="1186" r:id="rId30"/>
    <p:sldId id="1187" r:id="rId31"/>
    <p:sldId id="1069" r:id="rId32"/>
    <p:sldId id="1070" r:id="rId33"/>
    <p:sldId id="1072" r:id="rId34"/>
    <p:sldId id="1073" r:id="rId35"/>
    <p:sldId id="1074" r:id="rId36"/>
    <p:sldId id="1075" r:id="rId37"/>
    <p:sldId id="1076" r:id="rId38"/>
    <p:sldId id="1198" r:id="rId39"/>
    <p:sldId id="1199" r:id="rId40"/>
    <p:sldId id="1200" r:id="rId41"/>
    <p:sldId id="1188" r:id="rId42"/>
    <p:sldId id="1189" r:id="rId43"/>
    <p:sldId id="1192" r:id="rId44"/>
    <p:sldId id="1190" r:id="rId45"/>
    <p:sldId id="1191" r:id="rId46"/>
    <p:sldId id="1193" r:id="rId47"/>
    <p:sldId id="1194" r:id="rId48"/>
    <p:sldId id="1079" r:id="rId49"/>
    <p:sldId id="1082" r:id="rId50"/>
    <p:sldId id="1083" r:id="rId51"/>
    <p:sldId id="1084" r:id="rId52"/>
    <p:sldId id="1085" r:id="rId53"/>
    <p:sldId id="1086" r:id="rId54"/>
    <p:sldId id="965" r:id="rId55"/>
    <p:sldId id="966" r:id="rId56"/>
    <p:sldId id="967" r:id="rId57"/>
    <p:sldId id="968" r:id="rId58"/>
    <p:sldId id="1008" r:id="rId59"/>
    <p:sldId id="1196" r:id="rId60"/>
    <p:sldId id="119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yaz sadi" initials="fs" lastIdx="1" clrIdx="0">
    <p:extLst>
      <p:ext uri="{19B8F6BF-5375-455C-9EA6-DF929625EA0E}">
        <p15:presenceInfo xmlns:p15="http://schemas.microsoft.com/office/powerpoint/2012/main" userId="c1dfa94891d5e8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3883" autoAdjust="0"/>
  </p:normalViewPr>
  <p:slideViewPr>
    <p:cSldViewPr snapToGrid="0" snapToObjects="1">
      <p:cViewPr varScale="1">
        <p:scale>
          <a:sx n="68" d="100"/>
          <a:sy n="68" d="100"/>
        </p:scale>
        <p:origin x="392" y="32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commentAuthors" Target="commentAuthor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9T04:37:23.343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33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878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502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273DCA-2155-471F-8EC6-D0D414FD73D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302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3C26CF-8998-4643-AFAB-FC5F4AD12CA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963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A49930-0A1A-475A-84A2-F2275AEE827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047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246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682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761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200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561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039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538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392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986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032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850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4646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012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911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510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2FBC62-E090-42EF-A645-D2F997187B3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447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12232-250F-404E-92B7-AF052CB70A79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3516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7FC01-05C7-40DA-82D8-1D3C100DE388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107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180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570A3F-AB56-4E57-B4CB-3AA27BAE807B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8153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BF89D3-D27C-40E7-A59D-E56CFF26DF1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90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6679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8983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2820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65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2447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7474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221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681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Can put several requests in a single packet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8F513A4-ED40-4158-87B5-52A3683C8D67}" type="slidenum">
              <a:rPr lang="en-US" altLang="en-US" sz="1300" b="0">
                <a:latin typeface="Times New Roman" panose="02020603050405020304" pitchFamily="18" charset="0"/>
              </a:rPr>
              <a:pPr eaLnBrk="1" hangingPunct="1"/>
              <a:t>36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134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23EDFBA-7D57-4E69-8DAC-6DA2E7DE0DE1}" type="slidenum">
              <a:rPr lang="en-US" altLang="en-US" sz="1300" b="0">
                <a:latin typeface="Times New Roman" panose="02020603050405020304" pitchFamily="18" charset="0"/>
              </a:rPr>
              <a:pPr eaLnBrk="1" hangingPunct="1"/>
              <a:t>37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45335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Head-of-line blocking: if big item is the first request, smaller requests are stuck waiting behind it to finish when they could be issued as a parallel connection</a:t>
            </a: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6435BC0-7B02-45FD-84D9-86EF4FC66268}" type="slidenum">
              <a:rPr lang="en-US" altLang="en-US" sz="1300" b="0">
                <a:latin typeface="Times New Roman" panose="02020603050405020304" pitchFamily="18" charset="0"/>
              </a:rPr>
              <a:pPr eaLnBrk="1" hangingPunct="1"/>
              <a:t>38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1322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3A79DE-9861-4EF4-9267-DDA63F130082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56125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1A38E0-46C4-4E97-8C81-25044CE10FA8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3758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C1B8E1-0F7B-4ADE-920F-E4822E82D22A}" type="slidenum">
              <a:rPr lang="en-US" altLang="en-US" sz="1300">
                <a:latin typeface="Times New Roman" panose="02020603050405020304" pitchFamily="18" charset="0"/>
              </a:rPr>
              <a:pPr/>
              <a:t>41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4139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8CD57-AAA0-401E-89B8-473B1AD915FB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0084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7686D-48EE-4C19-BB84-47CDB9207183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3587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5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2A22E25-0ECA-40AD-9FDC-3F75C202D38B}" type="slidenum">
              <a:rPr lang="en-US" altLang="en-US" sz="1300">
                <a:latin typeface="Times New Roman" panose="02020603050405020304" pitchFamily="18" charset="0"/>
              </a:rPr>
              <a:pPr/>
              <a:t>44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8871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75296F-1949-4998-8680-68D544BF776F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92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93165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018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1360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494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901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2689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792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862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4329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6942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80314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5801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1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274638"/>
            <a:ext cx="105664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71600"/>
            <a:ext cx="10871200" cy="2300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824289"/>
            <a:ext cx="10871200" cy="2301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1BF23FF-1B03-4866-A8A7-28C2FAC0AB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02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3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64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B8D0190D-4589-48D0-AE5D-937D669347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14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C28B-A937-8946-A8B8-E96C4D7F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AB3BC-CF18-5B4B-9EDE-A1DEE9E6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802E-DCBB-6942-892B-5E006FD4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6A4-9D88-F940-8D92-FD0FBF30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AAEC3-9D1A-CF41-9E08-BEB07758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7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0621-8E97-B349-82B8-F5BEB8BB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F4EB-0030-4E4F-9E18-F12D2E22A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B396-855F-5544-9249-E53712C50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F17E-A703-FC4C-9DBC-37F173C9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0F0E7-19E4-134F-9E84-35EA99DA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3A18-9CC1-1341-AF96-7184EEE9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89520-6876-074C-9D1E-480E252E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1A40-B683-6D40-ADC6-D403C9B2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8FEEC-B9ED-7545-B62E-2405FF75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7674-65A6-9346-ACDD-85E2D443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06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807-2E2B-DF4F-AA06-273A39CC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A3A2-9A5D-1D4E-BCC4-2CA4EEC2E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7D900-B000-364D-BFD2-F6CD6080A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2A66-19E1-D541-B7E0-104E938B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C81DD-4A04-1E4B-B64C-43B9657E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D67D9-2DCB-AB4D-B8A5-0CAF567F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88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A7B7-5559-064B-8A50-9F1CBA7A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7FAB1-A4C9-F747-A0BA-DBA0C0C4B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2C787-CD6F-1F4A-9B1D-ACB05AA6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7F7A3-F4D2-F04B-86DF-43E53ADD2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89BA5-1CD5-EB43-A6A4-9F79325D7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49E35-AF34-354F-AAD8-67D4DAD8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7A093-D80D-DD4D-91AF-D56DBB7A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78129-3724-4544-9DCF-17FAAC1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5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4727-9AE4-9147-9FE1-6B42D7C0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2623B-0F62-D64A-BF9C-BEC5EBC2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4969-6D6D-D94E-8509-41072901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EC60E-29D6-F448-A9BD-AC7925F7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26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3E131-141F-2F4C-94A8-B696A277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01CA5-D982-D047-B405-732BD81F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B4559-0995-B147-8DE6-A506023D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39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0973-7C62-9041-8B54-8E64AA52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A1D9-7602-5F46-ADC9-04629AF3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69871-F446-514D-A4D0-A0492C3C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37C1A-E6EB-B349-A191-23573F89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5AF63-95CF-AB44-A078-25763A8E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8E78-495A-F640-8460-A92A9EAC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62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3374-1714-A242-B3DB-DCDD0B5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959A6-24BD-AF43-A38F-D0405076E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55C31-DF90-8747-B196-67292A0E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FDEC8-AC94-4A43-B9A6-707A4F26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4BBFF-DB69-A44C-BA93-6F666898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97DC4-8EE7-5D49-A5DE-1B19FF6E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64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2641-EF8E-7C40-8100-AD8B6C42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18B34-9C39-1047-9303-6694EC83B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1113-D5AC-934B-96D3-7BC31020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59E4E-92CC-2345-838F-5B92552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6054-3F34-4A45-9159-95896DF3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8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CFEDA-4104-A94B-8E13-19FBF6A0D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A2AC8-130C-2F4C-8925-8FC3934A1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5612-79E8-0745-B639-AF2BB505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0366-4ED4-1A4A-8EA5-DC56122A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E45A-CB98-F844-AD9A-FEF0004A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0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72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4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7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1C0D8-3EF9-F24C-8AF1-390E042D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BBBAD-1D0F-1242-B4FE-CCE298C9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D964-692F-454A-9E0F-C006144D4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8797-5417-4944-A83D-4D5FE161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7634-0EA9-654E-96D2-65A8FB16F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3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23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Relationship Id="rId2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png"/><Relationship Id="rId5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png"/><Relationship Id="rId5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2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4196"/>
            <a:ext cx="121920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2</a:t>
            </a:r>
            <a:r>
              <a:rPr lang="en-US" altLang="en-US" sz="6000" b="1" dirty="0">
                <a:solidFill>
                  <a:srgbClr val="000099"/>
                </a:solidFill>
                <a:latin typeface="+mj-lt"/>
              </a:rPr>
              <a:t/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6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layer: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defRPr/>
            </a:pPr>
            <a:r>
              <a:rPr lang="en-US" sz="32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HTTP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22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Some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 apps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914400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social networking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multi-user network games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stored video (YouTube, Hulu, Netflix) 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 file sharing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EDF5219-071B-3D4F-9DD6-1CD36C0FFD4F}"/>
              </a:ext>
            </a:extLst>
          </p:cNvPr>
          <p:cNvSpPr txBox="1">
            <a:spLocks/>
          </p:cNvSpPr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voice over IP (e.g., Skype)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video conferencing (e.g., Zoom)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search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login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17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 layer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016000" y="1376313"/>
            <a:ext cx="8153400" cy="99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This layer allows people to use the Internet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Other 4 layers are just made so people can use application programs</a:t>
            </a: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2320926"/>
            <a:ext cx="5307013" cy="375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3505200" y="3048000"/>
            <a:ext cx="2133600" cy="9906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2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Internet applications</a:t>
            </a:r>
            <a:endParaRPr lang="en-US" altLang="en-US" dirty="0"/>
          </a:p>
        </p:txBody>
      </p:sp>
      <p:graphicFrame>
        <p:nvGraphicFramePr>
          <p:cNvPr id="21507" name="Group 3"/>
          <p:cNvGraphicFramePr>
            <a:graphicFrameLocks noGrp="1"/>
          </p:cNvGraphicFramePr>
          <p:nvPr/>
        </p:nvGraphicFramePr>
        <p:xfrm>
          <a:off x="2286000" y="1905000"/>
          <a:ext cx="8001000" cy="36880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75325692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8697877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78716610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</a:rPr>
                        <a:t>Application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</a:rPr>
                        <a:t>Application layer protocol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panose="020B0604020202020204" pitchFamily="34" charset="0"/>
                        </a:rPr>
                        <a:t>Transport protocol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137485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E-mail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SMTP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TCP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088597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Remote terminal access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telnet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TCP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245096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HTTP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TCP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532621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transfer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TCP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589676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Streaming multimedia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Proprietary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TCP or UDP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403045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Internet telephony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Proprietary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rgbClr val="3333CC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Typically UDP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76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81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04022"/>
            <a:ext cx="10515600" cy="894622"/>
          </a:xfrm>
        </p:spPr>
        <p:txBody>
          <a:bodyPr/>
          <a:lstStyle/>
          <a:p>
            <a:r>
              <a:rPr lang="en-US" altLang="en-US" dirty="0"/>
              <a:t>Application layer</a:t>
            </a:r>
          </a:p>
        </p:txBody>
      </p:sp>
      <p:pic>
        <p:nvPicPr>
          <p:cNvPr id="10244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7925" y="1951038"/>
            <a:ext cx="7677150" cy="359410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96849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1" name="Group 618">
            <a:extLst>
              <a:ext uri="{FF2B5EF4-FFF2-40B4-BE49-F238E27FC236}">
                <a16:creationId xmlns:a16="http://schemas.microsoft.com/office/drawing/2014/main" id="{580255E5-A809-CB45-994D-F69BD8D6F8D7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72" name="Rectangle 227">
              <a:extLst>
                <a:ext uri="{FF2B5EF4-FFF2-40B4-BE49-F238E27FC236}">
                  <a16:creationId xmlns:a16="http://schemas.microsoft.com/office/drawing/2014/main" id="{B2F29371-16FD-D244-80BF-A52E1D7F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Rectangle 228">
              <a:extLst>
                <a:ext uri="{FF2B5EF4-FFF2-40B4-BE49-F238E27FC236}">
                  <a16:creationId xmlns:a16="http://schemas.microsoft.com/office/drawing/2014/main" id="{E66B124A-4E8B-D846-A7C2-C34B559B7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Rectangle 229">
              <a:extLst>
                <a:ext uri="{FF2B5EF4-FFF2-40B4-BE49-F238E27FC236}">
                  <a16:creationId xmlns:a16="http://schemas.microsoft.com/office/drawing/2014/main" id="{80574F4D-DD94-2C4B-B4A1-D4DE0E2DC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Text Box 230">
              <a:extLst>
                <a:ext uri="{FF2B5EF4-FFF2-40B4-BE49-F238E27FC236}">
                  <a16:creationId xmlns:a16="http://schemas.microsoft.com/office/drawing/2014/main" id="{2EABDC18-53BF-7B40-AB0D-A755F80C0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0" name="Line 231">
              <a:extLst>
                <a:ext uri="{FF2B5EF4-FFF2-40B4-BE49-F238E27FC236}">
                  <a16:creationId xmlns:a16="http://schemas.microsoft.com/office/drawing/2014/main" id="{E5CDD0A1-21E2-6748-A493-24F315669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1" name="Line 232">
              <a:extLst>
                <a:ext uri="{FF2B5EF4-FFF2-40B4-BE49-F238E27FC236}">
                  <a16:creationId xmlns:a16="http://schemas.microsoft.com/office/drawing/2014/main" id="{CDA63567-EA65-5A46-877E-710FE9AD1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3" name="Line 233">
              <a:extLst>
                <a:ext uri="{FF2B5EF4-FFF2-40B4-BE49-F238E27FC236}">
                  <a16:creationId xmlns:a16="http://schemas.microsoft.com/office/drawing/2014/main" id="{7FE7B44D-4874-7642-8A70-AE45F5B80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4" name="Freeform 917">
              <a:extLst>
                <a:ext uri="{FF2B5EF4-FFF2-40B4-BE49-F238E27FC236}">
                  <a16:creationId xmlns:a16="http://schemas.microsoft.com/office/drawing/2014/main" id="{9FBAE6C1-0ABD-B849-B7B3-8C34910CE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1" name="Group 619">
            <a:extLst>
              <a:ext uri="{FF2B5EF4-FFF2-40B4-BE49-F238E27FC236}">
                <a16:creationId xmlns:a16="http://schemas.microsoft.com/office/drawing/2014/main" id="{14A407A0-EBD9-3449-9859-9B138D20D5AC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632" name="Rectangle 227">
              <a:extLst>
                <a:ext uri="{FF2B5EF4-FFF2-40B4-BE49-F238E27FC236}">
                  <a16:creationId xmlns:a16="http://schemas.microsoft.com/office/drawing/2014/main" id="{875D12D0-0645-B449-8F48-0AC45EE1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3" name="Rectangle 228">
              <a:extLst>
                <a:ext uri="{FF2B5EF4-FFF2-40B4-BE49-F238E27FC236}">
                  <a16:creationId xmlns:a16="http://schemas.microsoft.com/office/drawing/2014/main" id="{F233A0F6-C3A3-1D47-A777-BFAC1494E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4" name="Rectangle 229">
              <a:extLst>
                <a:ext uri="{FF2B5EF4-FFF2-40B4-BE49-F238E27FC236}">
                  <a16:creationId xmlns:a16="http://schemas.microsoft.com/office/drawing/2014/main" id="{3B52AB0C-7235-834F-A249-28BBCC6D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6" name="Text Box 230">
              <a:extLst>
                <a:ext uri="{FF2B5EF4-FFF2-40B4-BE49-F238E27FC236}">
                  <a16:creationId xmlns:a16="http://schemas.microsoft.com/office/drawing/2014/main" id="{9B5B5523-DD29-8F46-BF07-8ECCDD6C7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7" name="Line 231">
              <a:extLst>
                <a:ext uri="{FF2B5EF4-FFF2-40B4-BE49-F238E27FC236}">
                  <a16:creationId xmlns:a16="http://schemas.microsoft.com/office/drawing/2014/main" id="{00E57763-CBA1-1542-B749-A48E642E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Line 232">
              <a:extLst>
                <a:ext uri="{FF2B5EF4-FFF2-40B4-BE49-F238E27FC236}">
                  <a16:creationId xmlns:a16="http://schemas.microsoft.com/office/drawing/2014/main" id="{E4657539-B4FE-304C-816A-A074251AB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Line 233">
              <a:extLst>
                <a:ext uri="{FF2B5EF4-FFF2-40B4-BE49-F238E27FC236}">
                  <a16:creationId xmlns:a16="http://schemas.microsoft.com/office/drawing/2014/main" id="{DE0F6076-B3CE-C540-BD00-B77A1E45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1" name="Freeform 917">
              <a:extLst>
                <a:ext uri="{FF2B5EF4-FFF2-40B4-BE49-F238E27FC236}">
                  <a16:creationId xmlns:a16="http://schemas.microsoft.com/office/drawing/2014/main" id="{0111663E-DD9D-6043-8338-8C5285F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2" name="Group 628">
            <a:extLst>
              <a:ext uri="{FF2B5EF4-FFF2-40B4-BE49-F238E27FC236}">
                <a16:creationId xmlns:a16="http://schemas.microsoft.com/office/drawing/2014/main" id="{F65FBC4E-EE37-D144-AFDB-E6C408428C1F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643" name="Rectangle 227">
              <a:extLst>
                <a:ext uri="{FF2B5EF4-FFF2-40B4-BE49-F238E27FC236}">
                  <a16:creationId xmlns:a16="http://schemas.microsoft.com/office/drawing/2014/main" id="{E92C3AA2-F23F-C148-8F92-1D04CB500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4" name="Rectangle 228">
              <a:extLst>
                <a:ext uri="{FF2B5EF4-FFF2-40B4-BE49-F238E27FC236}">
                  <a16:creationId xmlns:a16="http://schemas.microsoft.com/office/drawing/2014/main" id="{6330CAEB-E474-6241-9D9F-EEB5C5091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5" name="Rectangle 229">
              <a:extLst>
                <a:ext uri="{FF2B5EF4-FFF2-40B4-BE49-F238E27FC236}">
                  <a16:creationId xmlns:a16="http://schemas.microsoft.com/office/drawing/2014/main" id="{AFA24D83-EF79-8246-AE25-393D0CCB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6" name="Text Box 230">
              <a:extLst>
                <a:ext uri="{FF2B5EF4-FFF2-40B4-BE49-F238E27FC236}">
                  <a16:creationId xmlns:a16="http://schemas.microsoft.com/office/drawing/2014/main" id="{3EEA565E-691A-5943-B9C1-2FBC1E5B7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7" name="Line 231">
              <a:extLst>
                <a:ext uri="{FF2B5EF4-FFF2-40B4-BE49-F238E27FC236}">
                  <a16:creationId xmlns:a16="http://schemas.microsoft.com/office/drawing/2014/main" id="{8E2DC1D5-A1BA-E349-B4E3-5CB27DD1F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8" name="Line 232">
              <a:extLst>
                <a:ext uri="{FF2B5EF4-FFF2-40B4-BE49-F238E27FC236}">
                  <a16:creationId xmlns:a16="http://schemas.microsoft.com/office/drawing/2014/main" id="{0D97E1EE-0440-9746-9909-8846196F3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9" name="Line 233">
              <a:extLst>
                <a:ext uri="{FF2B5EF4-FFF2-40B4-BE49-F238E27FC236}">
                  <a16:creationId xmlns:a16="http://schemas.microsoft.com/office/drawing/2014/main" id="{9453EBF5-7BBF-8943-8161-7DEB7997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0" name="Freeform 917">
              <a:extLst>
                <a:ext uri="{FF2B5EF4-FFF2-40B4-BE49-F238E27FC236}">
                  <a16:creationId xmlns:a16="http://schemas.microsoft.com/office/drawing/2014/main" id="{B9EE01B3-0624-134E-8FD0-E4ADEDFD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Creating a network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334086"/>
            <a:ext cx="5309184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write programs that: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 on (different) end systems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communicate over network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web server software communicates with browser software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need to write software for network-core devices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network-core devices do not run user applications 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applications on end systems  allows for rapid app development, propagation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9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1" grpId="0" animBg="1"/>
      <p:bldP spid="6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Client-server Architecture</a:t>
            </a:r>
          </a:p>
          <a:p>
            <a:r>
              <a:rPr lang="en-US" dirty="0" smtClean="0"/>
              <a:t>Peer to peer Architecture</a:t>
            </a:r>
            <a:endParaRPr lang="en-US" dirty="0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Application Architecture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2189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0623" y="5474824"/>
            <a:ext cx="1423686" cy="28936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0450" y="2297968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 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always-on host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permanent IP address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often in data centers, for scaling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75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clients: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contact, communicate with server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be intermittently connected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have dynamic IP addresses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communicate directly with each other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HTTP, IMAP, FTP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56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289251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CC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84B6293-559E-5D43-AF2B-4CB5E09EC6C5}"/>
              </a:ext>
            </a:extLst>
          </p:cNvPr>
          <p:cNvGrpSpPr/>
          <p:nvPr/>
        </p:nvGrpSpPr>
        <p:grpSpPr>
          <a:xfrm>
            <a:off x="7493518" y="3419140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14715B6C-9A50-FE4B-A8D2-1E669BF891E3}"/>
              </a:ext>
            </a:extLst>
          </p:cNvPr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Peer-peer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always-on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arbitrary end systems directly communicate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request service from other peers, provide service in return to other peers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self scalability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– new peers bring new service capacity, as well as new service demands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are intermittently connected and change IP addresses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 management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P2P file sharing [BitTorrent]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5" name="Rectangle 574">
            <a:extLst>
              <a:ext uri="{FF2B5EF4-FFF2-40B4-BE49-F238E27FC236}">
                <a16:creationId xmlns:a16="http://schemas.microsoft.com/office/drawing/2014/main" id="{2DA99646-DBA9-0746-9A79-29EAA25D43FE}"/>
              </a:ext>
            </a:extLst>
          </p:cNvPr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27275-E754-4D43-889C-5A2BD4A21205}"/>
              </a:ext>
            </a:extLst>
          </p:cNvPr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22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Processes communicating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65977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 running within a host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within same host, two processes communicate using 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inter-process communication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(defined by OS)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processes in different hosts communicate by exchanging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F7AD000-A388-6C4C-8C9C-158A86A0C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applications with P2P architectures have client processes &amp; server processes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7D9C5A-4A0F-3E45-B3EB-48F963F34B69}"/>
              </a:ext>
            </a:extLst>
          </p:cNvPr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96562BEA-C84E-254B-BD55-56C2EB6C50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initiates communication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server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waits to be contacted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0414D3D5-1BB8-5844-8D2A-3C8E3E5DC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4010" y="1786951"/>
              <a:ext cx="4092575" cy="206216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FAA5D4F0-1DCB-7C49-A07F-4729B9F9D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clients, servers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7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process sends/receives messages to/from its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 analogous to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shoves message out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relies on transport infrastructure on other side of door to deliver message to socket at receiving process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sockets involved: one on each side</a:t>
            </a:r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id="{C55660F8-73B5-034B-A597-DD5D87ECF66A}"/>
              </a:ext>
            </a:extLst>
          </p:cNvPr>
          <p:cNvSpPr>
            <a:spLocks/>
          </p:cNvSpPr>
          <p:nvPr/>
        </p:nvSpPr>
        <p:spPr bwMode="auto">
          <a:xfrm>
            <a:off x="8482481" y="4098352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7">
            <a:extLst>
              <a:ext uri="{FF2B5EF4-FFF2-40B4-BE49-F238E27FC236}">
                <a16:creationId xmlns:a16="http://schemas.microsoft.com/office/drawing/2014/main" id="{ABAB43B4-03FC-2A42-98B9-913DD8EC77B7}"/>
              </a:ext>
            </a:extLst>
          </p:cNvPr>
          <p:cNvSpPr>
            <a:spLocks/>
          </p:cNvSpPr>
          <p:nvPr/>
        </p:nvSpPr>
        <p:spPr bwMode="auto">
          <a:xfrm>
            <a:off x="5167781" y="5395339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51">
            <a:extLst>
              <a:ext uri="{FF2B5EF4-FFF2-40B4-BE49-F238E27FC236}">
                <a16:creationId xmlns:a16="http://schemas.microsoft.com/office/drawing/2014/main" id="{66AD3E16-6743-CC4C-9091-25C6B0A9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72" name="Line 52">
            <a:extLst>
              <a:ext uri="{FF2B5EF4-FFF2-40B4-BE49-F238E27FC236}">
                <a16:creationId xmlns:a16="http://schemas.microsoft.com/office/drawing/2014/main" id="{2374F19B-E4B6-644E-AEE0-FC14C13C0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81" y="5938264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Text Box 53">
            <a:extLst>
              <a:ext uri="{FF2B5EF4-FFF2-40B4-BE49-F238E27FC236}">
                <a16:creationId xmlns:a16="http://schemas.microsoft.com/office/drawing/2014/main" id="{AD6E6CB7-7739-BE4D-84DA-1BBDF2D16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56">
            <a:extLst>
              <a:ext uri="{FF2B5EF4-FFF2-40B4-BE49-F238E27FC236}">
                <a16:creationId xmlns:a16="http://schemas.microsoft.com/office/drawing/2014/main" id="{20BE946D-C7D0-4A45-83B1-1480163B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75" name="Freeform 45">
            <a:extLst>
              <a:ext uri="{FF2B5EF4-FFF2-40B4-BE49-F238E27FC236}">
                <a16:creationId xmlns:a16="http://schemas.microsoft.com/office/drawing/2014/main" id="{6780AD31-F16D-1B4A-BC72-926F1B2A7FE8}"/>
              </a:ext>
            </a:extLst>
          </p:cNvPr>
          <p:cNvSpPr>
            <a:spLocks/>
          </p:cNvSpPr>
          <p:nvPr/>
        </p:nvSpPr>
        <p:spPr bwMode="auto">
          <a:xfrm>
            <a:off x="2742081" y="4161852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Rectangle 23">
            <a:extLst>
              <a:ext uri="{FF2B5EF4-FFF2-40B4-BE49-F238E27FC236}">
                <a16:creationId xmlns:a16="http://schemas.microsoft.com/office/drawing/2014/main" id="{F7C1C383-CE46-7C44-B7F2-94606E87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Rectangle 24">
            <a:extLst>
              <a:ext uri="{FF2B5EF4-FFF2-40B4-BE49-F238E27FC236}">
                <a16:creationId xmlns:a16="http://schemas.microsoft.com/office/drawing/2014/main" id="{FD8D123C-B8FD-A64F-9AD3-86943A5D5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Line 25">
            <a:extLst>
              <a:ext uri="{FF2B5EF4-FFF2-40B4-BE49-F238E27FC236}">
                <a16:creationId xmlns:a16="http://schemas.microsoft.com/office/drawing/2014/main" id="{A30BEE8C-0165-984E-888C-91DC647B6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781" y="49317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Text Box 26">
            <a:extLst>
              <a:ext uri="{FF2B5EF4-FFF2-40B4-BE49-F238E27FC236}">
                <a16:creationId xmlns:a16="http://schemas.microsoft.com/office/drawing/2014/main" id="{4E5CE7E7-BE20-B242-B8AA-2C5D47992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id="{9AB6E7C8-3093-D94D-9D3B-10F5749B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718" y="52524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Line 28">
            <a:extLst>
              <a:ext uri="{FF2B5EF4-FFF2-40B4-BE49-F238E27FC236}">
                <a16:creationId xmlns:a16="http://schemas.microsoft.com/office/drawing/2014/main" id="{2F4C67B7-677F-C84F-B3B7-01AAFB2AD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56202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Line 29">
            <a:extLst>
              <a:ext uri="{FF2B5EF4-FFF2-40B4-BE49-F238E27FC236}">
                <a16:creationId xmlns:a16="http://schemas.microsoft.com/office/drawing/2014/main" id="{3E1AB729-CEED-FF4B-AB94-DA2863E62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8477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" name="Text Box 26">
            <a:extLst>
              <a:ext uri="{FF2B5EF4-FFF2-40B4-BE49-F238E27FC236}">
                <a16:creationId xmlns:a16="http://schemas.microsoft.com/office/drawing/2014/main" id="{B3BC3B01-336B-B648-9417-1795AE45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84" name="Text Box 26">
            <a:extLst>
              <a:ext uri="{FF2B5EF4-FFF2-40B4-BE49-F238E27FC236}">
                <a16:creationId xmlns:a16="http://schemas.microsoft.com/office/drawing/2014/main" id="{DC97EC39-5ADE-8D46-9FEE-DBDD51FDB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85" name="Text Box 26">
            <a:extLst>
              <a:ext uri="{FF2B5EF4-FFF2-40B4-BE49-F238E27FC236}">
                <a16:creationId xmlns:a16="http://schemas.microsoft.com/office/drawing/2014/main" id="{8C832346-4F39-4844-8091-F736554D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id="{68FADC82-2C08-DB43-951D-4FB06FD5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87" name="Oval 57">
            <a:extLst>
              <a:ext uri="{FF2B5EF4-FFF2-40B4-BE49-F238E27FC236}">
                <a16:creationId xmlns:a16="http://schemas.microsoft.com/office/drawing/2014/main" id="{FBC4E611-49B5-5546-8E93-C03CEF4C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88" name="Group 58">
            <a:extLst>
              <a:ext uri="{FF2B5EF4-FFF2-40B4-BE49-F238E27FC236}">
                <a16:creationId xmlns:a16="http://schemas.microsoft.com/office/drawing/2014/main" id="{BDB7A80F-EA2D-2740-83B7-DE5AFE13D157}"/>
              </a:ext>
            </a:extLst>
          </p:cNvPr>
          <p:cNvGrpSpPr>
            <a:grpSpLocks/>
          </p:cNvGrpSpPr>
          <p:nvPr/>
        </p:nvGrpSpPr>
        <p:grpSpPr bwMode="auto"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89" name="Rectangle 59">
              <a:extLst>
                <a:ext uri="{FF2B5EF4-FFF2-40B4-BE49-F238E27FC236}">
                  <a16:creationId xmlns:a16="http://schemas.microsoft.com/office/drawing/2014/main" id="{DE66C40C-3B9D-EF46-85B9-52614CA50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60">
              <a:extLst>
                <a:ext uri="{FF2B5EF4-FFF2-40B4-BE49-F238E27FC236}">
                  <a16:creationId xmlns:a16="http://schemas.microsoft.com/office/drawing/2014/main" id="{BB035EC9-3E84-A147-B1F1-334CDBA3D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61">
              <a:extLst>
                <a:ext uri="{FF2B5EF4-FFF2-40B4-BE49-F238E27FC236}">
                  <a16:creationId xmlns:a16="http://schemas.microsoft.com/office/drawing/2014/main" id="{A4F869EE-C3F1-524C-9E52-D9CF58C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62">
              <a:extLst>
                <a:ext uri="{FF2B5EF4-FFF2-40B4-BE49-F238E27FC236}">
                  <a16:creationId xmlns:a16="http://schemas.microsoft.com/office/drawing/2014/main" id="{58E3BF21-8802-5F4C-9E24-B71F0725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3" name="Rectangle 23">
            <a:extLst>
              <a:ext uri="{FF2B5EF4-FFF2-40B4-BE49-F238E27FC236}">
                <a16:creationId xmlns:a16="http://schemas.microsoft.com/office/drawing/2014/main" id="{EA6D85FB-86B2-B745-ADFD-3765EC14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" name="Rectangle 24">
            <a:extLst>
              <a:ext uri="{FF2B5EF4-FFF2-40B4-BE49-F238E27FC236}">
                <a16:creationId xmlns:a16="http://schemas.microsoft.com/office/drawing/2014/main" id="{A1355835-1546-1740-B9B8-CC9141EB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25">
            <a:extLst>
              <a:ext uri="{FF2B5EF4-FFF2-40B4-BE49-F238E27FC236}">
                <a16:creationId xmlns:a16="http://schemas.microsoft.com/office/drawing/2014/main" id="{22344C4F-F96A-944B-9A5E-6962A9AC2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9143" y="490321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6" name="Text Box 26">
            <a:extLst>
              <a:ext uri="{FF2B5EF4-FFF2-40B4-BE49-F238E27FC236}">
                <a16:creationId xmlns:a16="http://schemas.microsoft.com/office/drawing/2014/main" id="{93E8ABA8-42C2-C44C-8972-76E2C7AD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7" name="Line 27">
            <a:extLst>
              <a:ext uri="{FF2B5EF4-FFF2-40B4-BE49-F238E27FC236}">
                <a16:creationId xmlns:a16="http://schemas.microsoft.com/office/drawing/2014/main" id="{4C22E15D-78C1-E143-93B3-4A31B8A25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7081" y="52238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" name="Line 28">
            <a:extLst>
              <a:ext uri="{FF2B5EF4-FFF2-40B4-BE49-F238E27FC236}">
                <a16:creationId xmlns:a16="http://schemas.microsoft.com/office/drawing/2014/main" id="{5648F986-3546-E545-A6F7-3CF9C2DDA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53345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55B6D46E-D326-D64F-A181-AB7274FEB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81920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26">
            <a:extLst>
              <a:ext uri="{FF2B5EF4-FFF2-40B4-BE49-F238E27FC236}">
                <a16:creationId xmlns:a16="http://schemas.microsoft.com/office/drawing/2014/main" id="{704444CB-075A-0948-9F82-6F49A25E3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01" name="Text Box 26">
            <a:extLst>
              <a:ext uri="{FF2B5EF4-FFF2-40B4-BE49-F238E27FC236}">
                <a16:creationId xmlns:a16="http://schemas.microsoft.com/office/drawing/2014/main" id="{40B8469F-1FF4-FE40-9A71-D5EC33D3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02" name="Text Box 26">
            <a:extLst>
              <a:ext uri="{FF2B5EF4-FFF2-40B4-BE49-F238E27FC236}">
                <a16:creationId xmlns:a16="http://schemas.microsoft.com/office/drawing/2014/main" id="{713E03C4-58F2-5D42-92BD-0578A2D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03" name="Text Box 26">
            <a:extLst>
              <a:ext uri="{FF2B5EF4-FFF2-40B4-BE49-F238E27FC236}">
                <a16:creationId xmlns:a16="http://schemas.microsoft.com/office/drawing/2014/main" id="{76001FF3-4EB3-9E44-B006-298749345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04" name="Oval 78">
            <a:extLst>
              <a:ext uri="{FF2B5EF4-FFF2-40B4-BE49-F238E27FC236}">
                <a16:creationId xmlns:a16="http://schemas.microsoft.com/office/drawing/2014/main" id="{8A13F36B-8768-0745-9E90-83E8FC5E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105" name="Group 79">
            <a:extLst>
              <a:ext uri="{FF2B5EF4-FFF2-40B4-BE49-F238E27FC236}">
                <a16:creationId xmlns:a16="http://schemas.microsoft.com/office/drawing/2014/main" id="{535443B2-390F-4D43-AFF5-FF5F8E34F3A9}"/>
              </a:ext>
            </a:extLst>
          </p:cNvPr>
          <p:cNvGrpSpPr>
            <a:grpSpLocks/>
          </p:cNvGrpSpPr>
          <p:nvPr/>
        </p:nvGrpSpPr>
        <p:grpSpPr bwMode="auto"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id="{160B4F41-7E38-6E47-B7F6-C6AA76DC2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Rectangle 81">
              <a:extLst>
                <a:ext uri="{FF2B5EF4-FFF2-40B4-BE49-F238E27FC236}">
                  <a16:creationId xmlns:a16="http://schemas.microsoft.com/office/drawing/2014/main" id="{28B3876F-4677-0D4D-AF89-6E06B2B3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Rectangle 82">
              <a:extLst>
                <a:ext uri="{FF2B5EF4-FFF2-40B4-BE49-F238E27FC236}">
                  <a16:creationId xmlns:a16="http://schemas.microsoft.com/office/drawing/2014/main" id="{51611D2E-921B-804E-9775-6922F75F4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id="{CBFB6CF2-1A50-F741-BAE7-97F8AF134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0" name="Line 88">
            <a:extLst>
              <a:ext uri="{FF2B5EF4-FFF2-40B4-BE49-F238E27FC236}">
                <a16:creationId xmlns:a16="http://schemas.microsoft.com/office/drawing/2014/main" id="{EAAA0F7C-765D-CD49-B290-164DB9D3A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1831" y="4539677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1" name="Line 89">
            <a:extLst>
              <a:ext uri="{FF2B5EF4-FFF2-40B4-BE49-F238E27FC236}">
                <a16:creationId xmlns:a16="http://schemas.microsoft.com/office/drawing/2014/main" id="{D2CD81D4-6282-5749-AF3E-B0E55816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256" y="4965127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2" name="Line 90">
            <a:extLst>
              <a:ext uri="{FF2B5EF4-FFF2-40B4-BE49-F238E27FC236}">
                <a16:creationId xmlns:a16="http://schemas.microsoft.com/office/drawing/2014/main" id="{86899CB5-FD7D-A644-9755-2DA9E5F4A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1068" y="5465189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3" name="Text Box 56">
            <a:extLst>
              <a:ext uri="{FF2B5EF4-FFF2-40B4-BE49-F238E27FC236}">
                <a16:creationId xmlns:a16="http://schemas.microsoft.com/office/drawing/2014/main" id="{2CFC877C-1B09-8849-95D0-2EBA259C9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</a:t>
            </a:r>
          </a:p>
        </p:txBody>
      </p:sp>
      <p:sp>
        <p:nvSpPr>
          <p:cNvPr id="114" name="Line 92">
            <a:extLst>
              <a:ext uri="{FF2B5EF4-FFF2-40B4-BE49-F238E27FC236}">
                <a16:creationId xmlns:a16="http://schemas.microsoft.com/office/drawing/2014/main" id="{F5883250-9436-014C-B8FA-7F184F451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8018" y="4420614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5" name="Line 93">
            <a:extLst>
              <a:ext uri="{FF2B5EF4-FFF2-40B4-BE49-F238E27FC236}">
                <a16:creationId xmlns:a16="http://schemas.microsoft.com/office/drawing/2014/main" id="{F83582A8-D082-E24D-9637-B677A079F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3181" y="4409502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" name="Group 96">
            <a:extLst>
              <a:ext uri="{FF2B5EF4-FFF2-40B4-BE49-F238E27FC236}">
                <a16:creationId xmlns:a16="http://schemas.microsoft.com/office/drawing/2014/main" id="{A4EC689D-3AE5-AC42-8E9A-D41B31DF26A0}"/>
              </a:ext>
            </a:extLst>
          </p:cNvPr>
          <p:cNvGrpSpPr>
            <a:grpSpLocks/>
          </p:cNvGrpSpPr>
          <p:nvPr/>
        </p:nvGrpSpPr>
        <p:grpSpPr bwMode="auto"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id="117" name="Picture 97" descr="desktop_computer_stylized_medium">
              <a:extLst>
                <a:ext uri="{FF2B5EF4-FFF2-40B4-BE49-F238E27FC236}">
                  <a16:creationId xmlns:a16="http://schemas.microsoft.com/office/drawing/2014/main" id="{4EAFAA9B-1FE4-8048-AEF5-4600C1CB3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98">
              <a:extLst>
                <a:ext uri="{FF2B5EF4-FFF2-40B4-BE49-F238E27FC236}">
                  <a16:creationId xmlns:a16="http://schemas.microsoft.com/office/drawing/2014/main" id="{88B1BD01-DE89-6A4D-A050-0D8D405A8F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9" name="Group 99">
            <a:extLst>
              <a:ext uri="{FF2B5EF4-FFF2-40B4-BE49-F238E27FC236}">
                <a16:creationId xmlns:a16="http://schemas.microsoft.com/office/drawing/2014/main" id="{13D0F484-888E-5342-9E3B-6B702B522B8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id="120" name="Picture 100" descr="desktop_computer_stylized_medium">
              <a:extLst>
                <a:ext uri="{FF2B5EF4-FFF2-40B4-BE49-F238E27FC236}">
                  <a16:creationId xmlns:a16="http://schemas.microsoft.com/office/drawing/2014/main" id="{A3C739BC-E497-6E4F-8AF0-1E359C622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101">
              <a:extLst>
                <a:ext uri="{FF2B5EF4-FFF2-40B4-BE49-F238E27FC236}">
                  <a16:creationId xmlns:a16="http://schemas.microsoft.com/office/drawing/2014/main" id="{34D4BA65-175D-534B-96CE-35055DA62B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650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ea typeface="ＭＳ Ｐゴシック" panose="020B0600070205080204" pitchFamily="34" charset="-128"/>
              </a:rPr>
              <a:t>Ports</a:t>
            </a:r>
            <a:endParaRPr lang="en-US" sz="4400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6"/>
            <a:ext cx="10965041" cy="408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>
              <a:defRPr/>
            </a:pPr>
            <a:r>
              <a:rPr lang="en-US" sz="2600" dirty="0">
                <a:latin typeface="+mn-lt"/>
              </a:rPr>
              <a:t>A </a:t>
            </a:r>
            <a:r>
              <a:rPr lang="en-US" sz="2600" dirty="0">
                <a:latin typeface="+mn-lt"/>
              </a:rPr>
              <a:t>numerical identifier (0–65535) used to distinguish different services on the same IP </a:t>
            </a:r>
            <a:r>
              <a:rPr lang="en-US" sz="2600" dirty="0" smtClean="0">
                <a:latin typeface="+mn-lt"/>
              </a:rPr>
              <a:t>address.</a:t>
            </a:r>
            <a:endParaRPr lang="en-US" sz="2600" dirty="0">
              <a:latin typeface="+mn-lt"/>
            </a:endParaRPr>
          </a:p>
          <a:p>
            <a:pPr lvl="0">
              <a:defRPr/>
            </a:pPr>
            <a:r>
              <a:rPr lang="en-US" sz="2600" dirty="0">
                <a:latin typeface="+mn-lt"/>
              </a:rPr>
              <a:t>Example: Port </a:t>
            </a:r>
            <a:r>
              <a:rPr lang="en-US" sz="2600" b="1" dirty="0">
                <a:latin typeface="+mn-lt"/>
              </a:rPr>
              <a:t>80</a:t>
            </a:r>
            <a:r>
              <a:rPr lang="en-US" sz="2600" dirty="0">
                <a:latin typeface="+mn-lt"/>
              </a:rPr>
              <a:t> for HTTP, Port </a:t>
            </a:r>
            <a:r>
              <a:rPr lang="en-US" sz="2600" b="1" dirty="0">
                <a:latin typeface="+mn-lt"/>
              </a:rPr>
              <a:t>443</a:t>
            </a:r>
            <a:r>
              <a:rPr lang="en-US" sz="2600" dirty="0">
                <a:latin typeface="+mn-lt"/>
              </a:rPr>
              <a:t> for HTTPS</a:t>
            </a:r>
            <a:r>
              <a:rPr lang="en-US" sz="2600" dirty="0" smtClean="0">
                <a:latin typeface="+mn-lt"/>
              </a:rPr>
              <a:t>.</a:t>
            </a:r>
          </a:p>
          <a:p>
            <a:pPr lvl="0">
              <a:defRPr/>
            </a:pPr>
            <a:r>
              <a:rPr lang="en-US" sz="2600" dirty="0">
                <a:latin typeface="+mn-lt"/>
              </a:rPr>
              <a:t>Think of it like an </a:t>
            </a:r>
            <a:r>
              <a:rPr lang="en-US" sz="2600" i="1" dirty="0">
                <a:latin typeface="+mn-lt"/>
              </a:rPr>
              <a:t>apartment number</a:t>
            </a:r>
            <a:r>
              <a:rPr lang="en-US" sz="2600" dirty="0">
                <a:latin typeface="+mn-lt"/>
              </a:rPr>
              <a:t> inside a building (the IP address is the building’s street address</a:t>
            </a:r>
            <a:r>
              <a:rPr lang="en-US" sz="2600" dirty="0" smtClean="0">
                <a:latin typeface="+mn-lt"/>
              </a:rPr>
              <a:t>).</a:t>
            </a:r>
            <a:endParaRPr lang="en-US" altLang="en-US" sz="2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46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6"/>
            <a:ext cx="10965041" cy="408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 combination of</a:t>
            </a:r>
          </a:p>
          <a:p>
            <a:pPr lvl="1" indent="-342900">
              <a:buSzPct val="100000"/>
              <a:buFont typeface="Wingdings" pitchFamily="2" charset="2"/>
              <a:buChar char="§"/>
              <a:defRPr/>
            </a:pPr>
            <a:r>
              <a:rPr lang="en-US" altLang="en-US" kern="0" baseline="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IP Address</a:t>
            </a:r>
          </a:p>
          <a:p>
            <a:pPr lvl="1" indent="-342900">
              <a:buSzPct val="100000"/>
              <a:buFont typeface="Wingdings" pitchFamily="2" charset="2"/>
              <a:buChar char="§"/>
              <a:defRPr/>
            </a:pPr>
            <a:r>
              <a:rPr kumimoji="0" lang="en-US" alt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Port Number</a:t>
            </a:r>
          </a:p>
          <a:p>
            <a:pPr lvl="1" indent="-342900">
              <a:buSzPct val="100000"/>
              <a:buFont typeface="Wingdings" pitchFamily="2" charset="2"/>
              <a:buChar char="§"/>
              <a:defRPr/>
            </a:pPr>
            <a:r>
              <a:rPr lang="en-US" altLang="en-US" kern="0" baseline="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Protocol</a:t>
            </a:r>
            <a:r>
              <a:rPr lang="en-US" altLang="en-US" kern="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(TCP/UDP)</a:t>
            </a:r>
          </a:p>
          <a:p>
            <a:pPr>
              <a:defRPr/>
            </a:pPr>
            <a:r>
              <a:rPr lang="en-US" dirty="0">
                <a:latin typeface="+mn-lt"/>
              </a:rPr>
              <a:t>This uniquely identifies one endpoint of a network </a:t>
            </a:r>
            <a:r>
              <a:rPr lang="en-US" dirty="0">
                <a:latin typeface="+mn-lt"/>
              </a:rPr>
              <a:t>connection</a:t>
            </a:r>
            <a:r>
              <a:rPr lang="en-US" altLang="en-US" dirty="0">
                <a:latin typeface="+mn-lt"/>
              </a:rPr>
              <a:t>s message out door</a:t>
            </a:r>
          </a:p>
          <a:p>
            <a:pPr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</a:t>
            </a:r>
          </a:p>
          <a:p>
            <a:pPr lvl="1">
              <a:defRPr/>
            </a:pPr>
            <a:r>
              <a:rPr lang="en-US" altLang="en-US" kern="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192.168.1.10:443 over TCP is one socket</a:t>
            </a:r>
            <a:endParaRPr kumimoji="0" lang="en-US" altLang="en-US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712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Addressing processes</a:t>
            </a:r>
            <a:endParaRPr lang="en-US" sz="4400" dirty="0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4B0603A7-FD76-E142-950F-40A4CCA78957}"/>
              </a:ext>
            </a:extLst>
          </p:cNvPr>
          <p:cNvSpPr txBox="1">
            <a:spLocks noChangeArrowheads="1"/>
          </p:cNvSpPr>
          <p:nvPr/>
        </p:nvSpPr>
        <p:spPr>
          <a:xfrm>
            <a:off x="695101" y="1464896"/>
            <a:ext cx="496447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receive messages, process  must have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device has unique 32-bit IP address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 IP address of host on which process runs suffice for identifying the process?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3FB47D89-608E-6B48-B260-00596EFC3969}"/>
              </a:ext>
            </a:extLst>
          </p:cNvPr>
          <p:cNvSpPr txBox="1">
            <a:spLocks noChangeArrowheads="1"/>
          </p:cNvSpPr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includes both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associated with process on host.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 port numbers: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server: 80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server: 25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send HTTP message to gaia.cs.umass.edu web server: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128.119.245.12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80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shortly…</a:t>
            </a: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E09403B9-43A8-5149-B58E-34440F6A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processes can be running on same host</a:t>
            </a:r>
          </a:p>
        </p:txBody>
      </p:sp>
    </p:spTree>
    <p:extLst>
      <p:ext uri="{BB962C8B-B14F-4D97-AF65-F5344CB8AC3E}">
        <p14:creationId xmlns:p14="http://schemas.microsoft.com/office/powerpoint/2010/main" val="81147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An application-layer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rotocol </a:t>
            </a:r>
            <a:r>
              <a:rPr lang="en-US" altLang="en-US" dirty="0">
                <a:ea typeface="ＭＳ Ｐゴシック" panose="020B0600070205080204" pitchFamily="34" charset="-128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</a:rPr>
              <a:t>efines:</a:t>
            </a:r>
            <a:endParaRPr lang="en-US" sz="4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51B37A-10ED-6C4A-A5F1-4B1BE824E86A}"/>
              </a:ext>
            </a:extLst>
          </p:cNvPr>
          <p:cNvSpPr txBox="1">
            <a:spLocks noChangeArrowheads="1"/>
          </p:cNvSpPr>
          <p:nvPr/>
        </p:nvSpPr>
        <p:spPr>
          <a:xfrm>
            <a:off x="759182" y="1464838"/>
            <a:ext cx="529730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types of messages exchanged,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request, response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syntax: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fields in messages &amp; how fields are delineated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semantics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meaning of information in fields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rules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when and how processes send &amp; respond to messages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3FA004C-2235-334F-8814-1F36401D2A86}"/>
              </a:ext>
            </a:extLst>
          </p:cNvPr>
          <p:cNvSpPr txBox="1">
            <a:spLocks noChangeArrowheads="1"/>
          </p:cNvSpPr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open protocols:</a:t>
            </a:r>
          </a:p>
          <a:p>
            <a:pPr marL="460375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defined in RFCs, everyone has access to protocol definition</a:t>
            </a:r>
          </a:p>
          <a:p>
            <a:pPr marL="460375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allows for interoperability</a:t>
            </a:r>
          </a:p>
          <a:p>
            <a:pPr marL="460375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HTTP,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proprietary protocols:</a:t>
            </a:r>
          </a:p>
          <a:p>
            <a:pPr marL="527050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Skype, Zoom</a:t>
            </a:r>
          </a:p>
        </p:txBody>
      </p:sp>
    </p:spTree>
    <p:extLst>
      <p:ext uri="{BB962C8B-B14F-4D97-AF65-F5344CB8AC3E}">
        <p14:creationId xmlns:p14="http://schemas.microsoft.com/office/powerpoint/2010/main" val="51133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What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does an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 need?</a:t>
            </a:r>
            <a:endParaRPr lang="en-US" sz="4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A2F19F9-C8D7-114F-8257-FB4D95438E3B}"/>
              </a:ext>
            </a:extLst>
          </p:cNvPr>
          <p:cNvSpPr txBox="1">
            <a:spLocks noChangeArrowheads="1"/>
          </p:cNvSpPr>
          <p:nvPr/>
        </p:nvSpPr>
        <p:spPr>
          <a:xfrm>
            <a:off x="676025" y="1406872"/>
            <a:ext cx="4972505" cy="27971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apps (e.g., file transfer, web transactions) require 100% reliable data transfer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apps (e.g., audio) can tolerate some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728678F-8DEF-4046-89DA-20D9B309E935}"/>
              </a:ext>
            </a:extLst>
          </p:cNvPr>
          <p:cNvSpPr txBox="1">
            <a:spLocks noChangeArrowheads="1"/>
          </p:cNvSpPr>
          <p:nvPr/>
        </p:nvSpPr>
        <p:spPr>
          <a:xfrm>
            <a:off x="544999" y="4365808"/>
            <a:ext cx="5572612" cy="24431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Internet telephony, interactive games) require low delay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9205150-A642-0847-95C4-8C48A24DA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multimedia) require minimum amount of throughput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other apps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 apps”) make use of whatever throughput they get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EA7119B-8447-E949-AF1B-51F99BABC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encryption, data integrity, …</a:t>
            </a:r>
          </a:p>
        </p:txBody>
      </p:sp>
    </p:spTree>
    <p:extLst>
      <p:ext uri="{BB962C8B-B14F-4D97-AF65-F5344CB8AC3E}">
        <p14:creationId xmlns:p14="http://schemas.microsoft.com/office/powerpoint/2010/main" val="381421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</a:t>
            </a:r>
            <a:r>
              <a:rPr lang="en-US" altLang="en-US" dirty="0">
                <a:ea typeface="ＭＳ Ｐゴシック" panose="020B0600070205080204" pitchFamily="34" charset="-128"/>
              </a:rPr>
              <a:t>r</a:t>
            </a:r>
            <a:r>
              <a:rPr lang="en-US" altLang="en-US" sz="4400" dirty="0">
                <a:ea typeface="ＭＳ Ｐゴシック" panose="020B0600070205080204" pitchFamily="34" charset="-128"/>
              </a:rPr>
              <a:t>equirements: common apps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AFA70EB7-D6E6-AF43-A3B7-A9035670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loss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B53E900-CFB4-8641-AD80-727AE938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audio: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5Kbps-1Mbps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10Kbps-5Mbps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same as above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Kbps+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7DDCF5FE-9982-C44D-9FFC-E56BA98B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sensitive?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msec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few secs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msec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 and no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702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protocols services</a:t>
            </a:r>
            <a:endParaRPr lang="en-US" sz="44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6016137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service: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transport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between sending and receiving process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won’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overwhelm receiver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throttle sender when network overloaded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connection-oriented: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setup required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not provide: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timing, minimum throughput guarantee, security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81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service: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unreliable data transfer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sending and receiving process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provide: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reliability, flow control, congestion control, timing, throughput guarantee, security, or connection setup.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A063EBCE-3A03-8F4C-B279-46497740F45C}"/>
              </a:ext>
            </a:extLst>
          </p:cNvPr>
          <p:cNvSpPr txBox="1">
            <a:spLocks noChangeArrowheads="1"/>
          </p:cNvSpPr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bother? 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there a UDP?</a:t>
            </a:r>
          </a:p>
        </p:txBody>
      </p:sp>
    </p:spTree>
    <p:extLst>
      <p:ext uri="{BB962C8B-B14F-4D97-AF65-F5344CB8AC3E}">
        <p14:creationId xmlns:p14="http://schemas.microsoft.com/office/powerpoint/2010/main" val="178188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applications, and transport protocols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telephony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4">
            <a:extLst>
              <a:ext uri="{FF2B5EF4-FFF2-40B4-BE49-F238E27FC236}">
                <a16:creationId xmlns:a16="http://schemas.microsoft.com/office/drawing/2014/main" id="{5B1BE3BE-D970-9F49-A4D6-24B7C05F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FTP [RFC 959]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[RFC 5321]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[RFC 7230,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9110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SIP [RFC 3261], RTP [RFC 3550], or proprietary HTTP [RFC 7230], DASH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WOW, FPS (proprietary)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/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</a:b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EC200A6A-DCEC-4843-B6A0-ED8F9266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or UDP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or TCP</a:t>
            </a:r>
          </a:p>
        </p:txBody>
      </p:sp>
    </p:spTree>
    <p:extLst>
      <p:ext uri="{BB962C8B-B14F-4D97-AF65-F5344CB8AC3E}">
        <p14:creationId xmlns:p14="http://schemas.microsoft.com/office/powerpoint/2010/main" val="524292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00A8"/>
                </a:solidFill>
                <a:ea typeface="ＭＳ Ｐゴシック" panose="020B0600070205080204" pitchFamily="34" charset="-128"/>
              </a:rPr>
              <a:t>Securing TCP</a:t>
            </a:r>
            <a:endParaRPr lang="en-US" sz="4400" dirty="0">
              <a:solidFill>
                <a:srgbClr val="0000A8"/>
              </a:solidFill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5957195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Vanilla TCP &amp; UDP sockets: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encryption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cleartext passwords sent into socket traverse Internet  in cleartext (!)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 Security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(TLS) 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encrypted TCP connections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end-point authenticatio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2228B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TLS implemented in application layer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apps use TLS libraries, that use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in turn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22228B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3336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cleartext sent into “socket”  traverse Internet 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23336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more: Chapter 8</a:t>
            </a:r>
          </a:p>
        </p:txBody>
      </p:sp>
    </p:spTree>
    <p:extLst>
      <p:ext uri="{BB962C8B-B14F-4D97-AF65-F5344CB8AC3E}">
        <p14:creationId xmlns:p14="http://schemas.microsoft.com/office/powerpoint/2010/main" val="128837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 and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HTTP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WWW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World Wide Web</a:t>
            </a:r>
          </a:p>
          <a:p>
            <a:r>
              <a:rPr lang="en-US" altLang="en-US"/>
              <a:t>Introduced in 1991</a:t>
            </a:r>
          </a:p>
          <a:p>
            <a:r>
              <a:rPr lang="en-US" altLang="en-US"/>
              <a:t>originated from the CERN High-Energy Physics laboratories in Geneva, Switzerland. </a:t>
            </a:r>
          </a:p>
        </p:txBody>
      </p:sp>
    </p:spTree>
    <p:extLst>
      <p:ext uri="{BB962C8B-B14F-4D97-AF65-F5344CB8AC3E}">
        <p14:creationId xmlns:p14="http://schemas.microsoft.com/office/powerpoint/2010/main" val="1747076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Web: Some Jargon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Web page</a:t>
            </a:r>
          </a:p>
          <a:p>
            <a:pPr lvl="1"/>
            <a:r>
              <a:rPr lang="en-US" altLang="en-US" dirty="0"/>
              <a:t>consists of </a:t>
            </a:r>
            <a:r>
              <a:rPr lang="en-US" altLang="en-US" u="sng" dirty="0"/>
              <a:t>objects </a:t>
            </a:r>
            <a:r>
              <a:rPr lang="en-US" altLang="en-US" dirty="0"/>
              <a:t>(HTML file, JPEG image, GIF image…)</a:t>
            </a:r>
            <a:endParaRPr lang="en-US" altLang="en-US" u="sng" dirty="0"/>
          </a:p>
          <a:p>
            <a:pPr lvl="1"/>
            <a:r>
              <a:rPr lang="en-US" altLang="en-US" dirty="0"/>
              <a:t>addressed by URL</a:t>
            </a:r>
          </a:p>
          <a:p>
            <a:r>
              <a:rPr lang="en-US" altLang="en-US" dirty="0"/>
              <a:t>Most Web pages consist of</a:t>
            </a:r>
          </a:p>
          <a:p>
            <a:pPr lvl="1"/>
            <a:r>
              <a:rPr lang="en-US" altLang="en-US" dirty="0"/>
              <a:t>base HTML page</a:t>
            </a:r>
          </a:p>
          <a:p>
            <a:pPr lvl="1"/>
            <a:r>
              <a:rPr lang="en-US" altLang="en-US" dirty="0"/>
              <a:t>several referenced objects</a:t>
            </a:r>
          </a:p>
          <a:p>
            <a:r>
              <a:rPr lang="en-US" altLang="en-US" dirty="0"/>
              <a:t>URL</a:t>
            </a:r>
          </a:p>
          <a:p>
            <a:pPr lvl="1"/>
            <a:r>
              <a:rPr lang="en-US" altLang="en-US" dirty="0"/>
              <a:t>A standard way of specifying the location of an object, typically a web page, on the Internet </a:t>
            </a:r>
          </a:p>
          <a:p>
            <a:r>
              <a:rPr lang="en-US" altLang="en-US" dirty="0"/>
              <a:t>User agent for Web is called a browser</a:t>
            </a:r>
          </a:p>
          <a:p>
            <a:pPr lvl="1"/>
            <a:r>
              <a:rPr lang="en-US" altLang="en-US" dirty="0"/>
              <a:t>MS Internet Explorer</a:t>
            </a:r>
          </a:p>
          <a:p>
            <a:r>
              <a:rPr lang="en-US" altLang="en-US" dirty="0"/>
              <a:t>Server for Web is called a  </a:t>
            </a:r>
            <a:r>
              <a:rPr lang="en-US" altLang="en-US" u="sng" dirty="0"/>
              <a:t>Web server</a:t>
            </a:r>
          </a:p>
        </p:txBody>
      </p:sp>
    </p:spTree>
    <p:extLst>
      <p:ext uri="{BB962C8B-B14F-4D97-AF65-F5344CB8AC3E}">
        <p14:creationId xmlns:p14="http://schemas.microsoft.com/office/powerpoint/2010/main" val="602275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HyperText</a:t>
            </a:r>
            <a:r>
              <a:rPr lang="en-US" altLang="en-US" dirty="0"/>
              <a:t> Transfer Protocol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Web’s application layer protocol</a:t>
            </a:r>
          </a:p>
          <a:p>
            <a:pPr lvl="1"/>
            <a:r>
              <a:rPr lang="en-US" altLang="en-US" dirty="0"/>
              <a:t>Used to access data on the World Wide Web</a:t>
            </a:r>
          </a:p>
          <a:p>
            <a:pPr lvl="1"/>
            <a:r>
              <a:rPr lang="en-US" altLang="en-US" dirty="0"/>
              <a:t>Rapid jump from one document to another</a:t>
            </a:r>
          </a:p>
          <a:p>
            <a:r>
              <a:rPr lang="en-US" altLang="en-US" dirty="0"/>
              <a:t>Client-server model </a:t>
            </a:r>
          </a:p>
          <a:p>
            <a:pPr lvl="1"/>
            <a:r>
              <a:rPr lang="en-US" altLang="en-US" dirty="0"/>
              <a:t>client: browser that requests, receives, “displays” web objects</a:t>
            </a:r>
          </a:p>
          <a:p>
            <a:pPr lvl="1"/>
            <a:r>
              <a:rPr lang="en-US" altLang="en-US" dirty="0"/>
              <a:t>server: Web server sends objects in response to request</a:t>
            </a:r>
          </a:p>
          <a:p>
            <a:r>
              <a:rPr lang="en-US" altLang="en-US" dirty="0"/>
              <a:t>uses one TCP connection on the well-known port 80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1" y="4343401"/>
            <a:ext cx="4143375" cy="176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64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each of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which can be stored on different Web servers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can be HTML file, JPEG image, Java applet, audio file,…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 HTML-file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which includes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several referenced objects, each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addressable by a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URL,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e.g.,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95116" y="4210137"/>
            <a:ext cx="6719888" cy="1089026"/>
            <a:chOff x="808" y="2550"/>
            <a:chExt cx="4233" cy="686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" y="2550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www.someschool.edu/someDept/pic.gif</a:t>
              </a: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832" y="1866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971" y="1866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2940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5" y="294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path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name</a:t>
              </a:r>
            </a:p>
          </p:txBody>
        </p:sp>
      </p:grp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266" y="5490406"/>
            <a:ext cx="755015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6725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URL - continued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514601"/>
            <a:ext cx="8153400" cy="361156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method</a:t>
            </a:r>
          </a:p>
          <a:p>
            <a:pPr lvl="1"/>
            <a:r>
              <a:rPr lang="en-US" altLang="en-US" dirty="0"/>
              <a:t>protocol used to retrieve the document (FTP, HTTP, …)</a:t>
            </a:r>
          </a:p>
          <a:p>
            <a:r>
              <a:rPr lang="en-US" altLang="en-US" dirty="0"/>
              <a:t>host	</a:t>
            </a:r>
          </a:p>
          <a:p>
            <a:pPr lvl="1"/>
            <a:r>
              <a:rPr lang="en-US" altLang="en-US" dirty="0"/>
              <a:t>a computer where the info is located</a:t>
            </a:r>
          </a:p>
          <a:p>
            <a:pPr lvl="1"/>
            <a:r>
              <a:rPr lang="en-US" altLang="en-US" dirty="0"/>
              <a:t>the name of the computer can be an alias (not necessary www)</a:t>
            </a:r>
          </a:p>
          <a:p>
            <a:r>
              <a:rPr lang="en-US" altLang="en-US" dirty="0"/>
              <a:t>port</a:t>
            </a:r>
          </a:p>
          <a:p>
            <a:pPr lvl="1"/>
            <a:r>
              <a:rPr lang="en-US" altLang="en-US" dirty="0"/>
              <a:t>optional port # of the server</a:t>
            </a:r>
          </a:p>
          <a:p>
            <a:r>
              <a:rPr lang="en-US" altLang="en-US" dirty="0"/>
              <a:t>path</a:t>
            </a:r>
          </a:p>
          <a:p>
            <a:pPr lvl="1"/>
            <a:r>
              <a:rPr lang="en-US" altLang="en-US" dirty="0"/>
              <a:t>the path name of the file where the info is located</a:t>
            </a: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1295401"/>
            <a:ext cx="5489575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3335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9139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9140" name="Text Box 4"/>
          <p:cNvSpPr txBox="1">
            <a:spLocks noChangeArrowheads="1"/>
          </p:cNvSpPr>
          <p:nvPr/>
        </p:nvSpPr>
        <p:spPr bwMode="auto">
          <a:xfrm>
            <a:off x="1828801" y="762000"/>
            <a:ext cx="4132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27.1  </a:t>
            </a:r>
            <a:r>
              <a:rPr lang="en-US" altLang="en-US" sz="2000" i="1">
                <a:latin typeface="Times New Roman" panose="02020603050405020304" pitchFamily="18" charset="0"/>
              </a:rPr>
              <a:t>Architecture of WWW</a:t>
            </a:r>
          </a:p>
        </p:txBody>
      </p:sp>
      <p:sp>
        <p:nvSpPr>
          <p:cNvPr id="859141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591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388" y="1752601"/>
            <a:ext cx="6526212" cy="392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5411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kumimoji="0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67724E3-B9EF-784C-81CF-0208D90CEEBE}"/>
              </a:ext>
            </a:extLst>
          </p:cNvPr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id="{61B2A806-9EFC-9449-97BE-336492E83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iPhone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Safari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87" name="Picture 43" descr="iphone_stylized_small">
              <a:extLst>
                <a:ext uri="{FF2B5EF4-FFF2-40B4-BE49-F238E27FC236}">
                  <a16:creationId xmlns:a16="http://schemas.microsoft.com/office/drawing/2014/main" id="{D1E934F1-FF6C-B341-A221-3811072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E3F8E5-5BB6-9F4D-BD7D-96E3FCFF937E}"/>
              </a:ext>
            </a:extLst>
          </p:cNvPr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id="{EE5DED9F-E1C4-F34D-899C-5E5BAFDA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PC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Firefox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id="{9EAD6FC3-A72E-8241-AA6C-FE53B68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89" name="Picture 45" descr="desktop_computer_stylized_medium">
                <a:extLst>
                  <a:ext uri="{FF2B5EF4-FFF2-40B4-BE49-F238E27FC236}">
                    <a16:creationId xmlns:a16="http://schemas.microsoft.com/office/drawing/2014/main" id="{1ADDC1FA-6D07-3F4E-8F74-21843504B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id="{42A6104A-05E4-B94E-8AC8-1F8524B85F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6FA54E-9DBE-BF46-9FA4-0BD5D56FE85D}"/>
              </a:ext>
            </a:extLst>
          </p:cNvPr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1DB0406D-8424-A242-88CD-CF99DD0C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Apache Web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" name="Group 47">
              <a:extLst>
                <a:ext uri="{FF2B5EF4-FFF2-40B4-BE49-F238E27FC236}">
                  <a16:creationId xmlns:a16="http://schemas.microsoft.com/office/drawing/2014/main" id="{1578750D-9ADE-FF47-A035-3F58F7F95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92" name="Freeform 48">
                <a:extLst>
                  <a:ext uri="{FF2B5EF4-FFF2-40B4-BE49-F238E27FC236}">
                    <a16:creationId xmlns:a16="http://schemas.microsoft.com/office/drawing/2014/main" id="{30FC1D0E-933E-6B40-9A42-0E9717238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Rectangle 49">
                <a:extLst>
                  <a:ext uri="{FF2B5EF4-FFF2-40B4-BE49-F238E27FC236}">
                    <a16:creationId xmlns:a16="http://schemas.microsoft.com/office/drawing/2014/main" id="{B5655423-6CF0-CD49-B3A9-063B782C1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Freeform 50">
                <a:extLst>
                  <a:ext uri="{FF2B5EF4-FFF2-40B4-BE49-F238E27FC236}">
                    <a16:creationId xmlns:a16="http://schemas.microsoft.com/office/drawing/2014/main" id="{A0AC0D67-FA58-B147-A1DC-19113472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Freeform 51">
                <a:extLst>
                  <a:ext uri="{FF2B5EF4-FFF2-40B4-BE49-F238E27FC236}">
                    <a16:creationId xmlns:a16="http://schemas.microsoft.com/office/drawing/2014/main" id="{DE00B670-08D8-5142-A593-67DE6409B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Rectangle 52">
                <a:extLst>
                  <a:ext uri="{FF2B5EF4-FFF2-40B4-BE49-F238E27FC236}">
                    <a16:creationId xmlns:a16="http://schemas.microsoft.com/office/drawing/2014/main" id="{C0F46C25-0562-1D41-A932-B4DCFBC60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7" name="Group 53">
                <a:extLst>
                  <a:ext uri="{FF2B5EF4-FFF2-40B4-BE49-F238E27FC236}">
                    <a16:creationId xmlns:a16="http://schemas.microsoft.com/office/drawing/2014/main" id="{42D2ADD9-FBDF-B348-8727-B1428057A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2" name="AutoShape 54">
                  <a:extLst>
                    <a:ext uri="{FF2B5EF4-FFF2-40B4-BE49-F238E27FC236}">
                      <a16:creationId xmlns:a16="http://schemas.microsoft.com/office/drawing/2014/main" id="{B3A024BC-0571-B343-B957-96A9956CB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3" name="AutoShape 55">
                  <a:extLst>
                    <a:ext uri="{FF2B5EF4-FFF2-40B4-BE49-F238E27FC236}">
                      <a16:creationId xmlns:a16="http://schemas.microsoft.com/office/drawing/2014/main" id="{BCE631BE-5109-0446-9778-CCBD1DF0A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8" name="Rectangle 56">
                <a:extLst>
                  <a:ext uri="{FF2B5EF4-FFF2-40B4-BE49-F238E27FC236}">
                    <a16:creationId xmlns:a16="http://schemas.microsoft.com/office/drawing/2014/main" id="{5D3DFADC-1C8D-AF4C-85AA-0F7A2C55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9" name="Group 57">
                <a:extLst>
                  <a:ext uri="{FF2B5EF4-FFF2-40B4-BE49-F238E27FC236}">
                    <a16:creationId xmlns:a16="http://schemas.microsoft.com/office/drawing/2014/main" id="{C1D33EC1-1E29-8544-B98D-73191F02F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0" name="AutoShape 58">
                  <a:extLst>
                    <a:ext uri="{FF2B5EF4-FFF2-40B4-BE49-F238E27FC236}">
                      <a16:creationId xmlns:a16="http://schemas.microsoft.com/office/drawing/2014/main" id="{82D153A1-613C-9C4E-A2C0-B1C929BC0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AutoShape 59">
                  <a:extLst>
                    <a:ext uri="{FF2B5EF4-FFF2-40B4-BE49-F238E27FC236}">
                      <a16:creationId xmlns:a16="http://schemas.microsoft.com/office/drawing/2014/main" id="{F147FCC4-6131-8F44-A906-F0D80C4D7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0" name="Rectangle 60">
                <a:extLst>
                  <a:ext uri="{FF2B5EF4-FFF2-40B4-BE49-F238E27FC236}">
                    <a16:creationId xmlns:a16="http://schemas.microsoft.com/office/drawing/2014/main" id="{85C735FA-9571-F248-9BA5-6CDBDBE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61">
                <a:extLst>
                  <a:ext uri="{FF2B5EF4-FFF2-40B4-BE49-F238E27FC236}">
                    <a16:creationId xmlns:a16="http://schemas.microsoft.com/office/drawing/2014/main" id="{5812C6A4-3EC0-A249-9E63-F4652754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2" name="Group 62">
                <a:extLst>
                  <a:ext uri="{FF2B5EF4-FFF2-40B4-BE49-F238E27FC236}">
                    <a16:creationId xmlns:a16="http://schemas.microsoft.com/office/drawing/2014/main" id="{7E620A9B-CBE1-F240-88FD-585574663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8" name="AutoShape 63">
                  <a:extLst>
                    <a:ext uri="{FF2B5EF4-FFF2-40B4-BE49-F238E27FC236}">
                      <a16:creationId xmlns:a16="http://schemas.microsoft.com/office/drawing/2014/main" id="{042898BA-1F4B-D343-83D2-32F6B871E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9" name="AutoShape 64">
                  <a:extLst>
                    <a:ext uri="{FF2B5EF4-FFF2-40B4-BE49-F238E27FC236}">
                      <a16:creationId xmlns:a16="http://schemas.microsoft.com/office/drawing/2014/main" id="{43D7819E-9A5B-E741-ACC4-82E6487AE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7CC2BA69-A482-5D4B-8CA5-B5AC73726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4" name="Group 66">
                <a:extLst>
                  <a:ext uri="{FF2B5EF4-FFF2-40B4-BE49-F238E27FC236}">
                    <a16:creationId xmlns:a16="http://schemas.microsoft.com/office/drawing/2014/main" id="{F21B3CA3-EDB9-ED4A-9790-00B635137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6" name="AutoShape 67">
                  <a:extLst>
                    <a:ext uri="{FF2B5EF4-FFF2-40B4-BE49-F238E27FC236}">
                      <a16:creationId xmlns:a16="http://schemas.microsoft.com/office/drawing/2014/main" id="{9EDB1FCF-F653-F642-8D80-BF382D9E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7" name="AutoShape 68">
                  <a:extLst>
                    <a:ext uri="{FF2B5EF4-FFF2-40B4-BE49-F238E27FC236}">
                      <a16:creationId xmlns:a16="http://schemas.microsoft.com/office/drawing/2014/main" id="{609BFCAD-4861-EE43-8362-EA6C48556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5" name="Rectangle 69">
                <a:extLst>
                  <a:ext uri="{FF2B5EF4-FFF2-40B4-BE49-F238E27FC236}">
                    <a16:creationId xmlns:a16="http://schemas.microsoft.com/office/drawing/2014/main" id="{5D47278C-43D3-204F-86FD-15B20209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70">
                <a:extLst>
                  <a:ext uri="{FF2B5EF4-FFF2-40B4-BE49-F238E27FC236}">
                    <a16:creationId xmlns:a16="http://schemas.microsoft.com/office/drawing/2014/main" id="{C4685EB6-AA09-4243-9AED-1759E88D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Freeform 71">
                <a:extLst>
                  <a:ext uri="{FF2B5EF4-FFF2-40B4-BE49-F238E27FC236}">
                    <a16:creationId xmlns:a16="http://schemas.microsoft.com/office/drawing/2014/main" id="{F8013113-6639-D746-8787-464D70E73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Oval 72">
                <a:extLst>
                  <a:ext uri="{FF2B5EF4-FFF2-40B4-BE49-F238E27FC236}">
                    <a16:creationId xmlns:a16="http://schemas.microsoft.com/office/drawing/2014/main" id="{BAF4B182-B231-9044-AFF9-C80B2E27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Freeform 73">
                <a:extLst>
                  <a:ext uri="{FF2B5EF4-FFF2-40B4-BE49-F238E27FC236}">
                    <a16:creationId xmlns:a16="http://schemas.microsoft.com/office/drawing/2014/main" id="{5BF1720C-9B23-A442-9078-1CB2D3EA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AutoShape 74">
                <a:extLst>
                  <a:ext uri="{FF2B5EF4-FFF2-40B4-BE49-F238E27FC236}">
                    <a16:creationId xmlns:a16="http://schemas.microsoft.com/office/drawing/2014/main" id="{5C72D219-90B2-E948-8C51-2DF4C76E6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AutoShape 75">
                <a:extLst>
                  <a:ext uri="{FF2B5EF4-FFF2-40B4-BE49-F238E27FC236}">
                    <a16:creationId xmlns:a16="http://schemas.microsoft.com/office/drawing/2014/main" id="{83107432-CCDD-3F4A-A673-5C965AB66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Oval 76">
                <a:extLst>
                  <a:ext uri="{FF2B5EF4-FFF2-40B4-BE49-F238E27FC236}">
                    <a16:creationId xmlns:a16="http://schemas.microsoft.com/office/drawing/2014/main" id="{93D83AE9-CB35-4043-B0A0-1FFA7908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Oval 77">
                <a:extLst>
                  <a:ext uri="{FF2B5EF4-FFF2-40B4-BE49-F238E27FC236}">
                    <a16:creationId xmlns:a16="http://schemas.microsoft.com/office/drawing/2014/main" id="{C8BA1D5C-380B-5844-9DFE-FB0350399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78">
                <a:extLst>
                  <a:ext uri="{FF2B5EF4-FFF2-40B4-BE49-F238E27FC236}">
                    <a16:creationId xmlns:a16="http://schemas.microsoft.com/office/drawing/2014/main" id="{EF0EACD3-D07B-0F4F-BB94-4F2D6391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79">
                <a:extLst>
                  <a:ext uri="{FF2B5EF4-FFF2-40B4-BE49-F238E27FC236}">
                    <a16:creationId xmlns:a16="http://schemas.microsoft.com/office/drawing/2014/main" id="{C545DB8D-EFCD-9A46-858D-A246B93C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44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 (continued)</a:t>
            </a:r>
            <a:endParaRPr lang="en-US" sz="4400" dirty="0"/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FA4476ED-595B-8542-B50D-C134553D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uses TCP: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client initiates TCP connection (creates socket) to server,  port 80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server accepts TCP connection from client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messages (application-layer protocol messages) exchanged between browser (HTTP client) and Web server (HTTP server)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TCP connection closed</a:t>
            </a: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1CC4B9E5-1262-0749-B776-9A1B2197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HTTP is “</a:t>
            </a:r>
            <a:r>
              <a:rPr kumimoji="0" lang="en-US" altLang="ja-JP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stateless”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server maintains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 no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94DB0D-84CB-6F41-9F45-5FA35ED2C87F}"/>
              </a:ext>
            </a:extLst>
          </p:cNvPr>
          <p:cNvGrpSpPr/>
          <p:nvPr/>
        </p:nvGrpSpPr>
        <p:grpSpPr>
          <a:xfrm>
            <a:off x="6909802" y="3209500"/>
            <a:ext cx="5053013" cy="3248103"/>
            <a:chOff x="6909802" y="3209500"/>
            <a:chExt cx="5053013" cy="3248103"/>
          </a:xfrm>
        </p:grpSpPr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74F3501A-F7F5-FD47-A745-1E00F886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7">
              <a:extLst>
                <a:ext uri="{FF2B5EF4-FFF2-40B4-BE49-F238E27FC236}">
                  <a16:creationId xmlns:a16="http://schemas.microsoft.com/office/drawing/2014/main" id="{21466037-84B8-2C47-8046-BD516C96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Rectangle 9">
              <a:extLst>
                <a:ext uri="{FF2B5EF4-FFF2-40B4-BE49-F238E27FC236}">
                  <a16:creationId xmlns:a16="http://schemas.microsoft.com/office/drawing/2014/main" id="{132EE02F-99A4-C148-8E27-84A38CF87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Rectangle 6">
              <a:extLst>
                <a:ext uri="{FF2B5EF4-FFF2-40B4-BE49-F238E27FC236}">
                  <a16:creationId xmlns:a16="http://schemas.microsoft.com/office/drawing/2014/main" id="{64A41E8B-84D6-BE48-B3C9-3F388FD9B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8987" y="3609628"/>
              <a:ext cx="4565333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protocols that maintain “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state” are complex!</a:t>
              </a:r>
            </a:p>
            <a:p>
              <a:pPr marL="230188" marR="0" lvl="0" indent="-230188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past history (state) must be maintained</a:t>
              </a:r>
            </a:p>
            <a:p>
              <a:pPr marL="230188" marR="0" lvl="0" indent="-230188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if server/client crashes, their views of 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state” may be inconsistent, must be reconciled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Char char="r"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8">
              <a:extLst>
                <a:ext uri="{FF2B5EF4-FFF2-40B4-BE49-F238E27FC236}">
                  <a16:creationId xmlns:a16="http://schemas.microsoft.com/office/drawing/2014/main" id="{ADCE3EE0-3E4E-7741-A055-6E8599605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613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0F92E26-A453-3745-8C0F-BF92C1E3A8B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most one object sent over TCP connection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downloading multiple objects required multiple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E46F3CB-B7A2-6C4C-B085-55F383976BB8}"/>
              </a:ext>
            </a:extLst>
          </p:cNvPr>
          <p:cNvSpPr txBox="1">
            <a:spLocks noChangeArrowheads="1"/>
          </p:cNvSpPr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Persistent HTTP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 to a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 objects can be sent over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single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TCP connection between client, and that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5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</a:t>
            </a:r>
            <a:endParaRPr lang="en-US" sz="4400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944384" y="2447251"/>
            <a:ext cx="4850242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initiates TCP connection to HTTP server (process) at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sends HTTP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(containing URL) into TCP connection socket. Message indicates that client wants object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someDepartment/home.index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at host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waiting for TCP connection at port 80 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accepts” connection, notifying 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server receives request message, forms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containing requested object, and sends message into its socket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530" y="4961816"/>
            <a:ext cx="1800180" cy="60195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9517" y="5671992"/>
            <a:ext cx="1410287" cy="8918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851" y="2779258"/>
            <a:ext cx="155102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2530" y="3366635"/>
            <a:ext cx="1551026" cy="100698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524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 (cont.)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3200188"/>
            <a:ext cx="5085273" cy="20101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receives response message containing html file, displays html.  Parsing html file, finds 10 referenced jpeg  objects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7465" y="3200187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16326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response time</a:t>
            </a:r>
            <a:endParaRPr lang="en-US" sz="4400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6FDB6615-546D-6440-BBC8-3C06990BF0E4}"/>
              </a:ext>
            </a:extLst>
          </p:cNvPr>
          <p:cNvSpPr txBox="1">
            <a:spLocks noChangeArrowheads="1"/>
          </p:cNvSpPr>
          <p:nvPr/>
        </p:nvSpPr>
        <p:spPr>
          <a:xfrm>
            <a:off x="736393" y="1919178"/>
            <a:ext cx="5683502" cy="33373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 (definition):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time for a small packet to travel from client to server and back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 time (per object):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to initiate TCP connection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for HTTP request and first few bytes of HTTP response to return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object/file transmission time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id="{4929D219-0DD0-EE4D-B40F-3D0B3F80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229" y="2671284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id="{8CAAC30A-AACE-CA43-94F8-6356C7DB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7916" y="2664934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Line 17">
            <a:extLst>
              <a:ext uri="{FF2B5EF4-FFF2-40B4-BE49-F238E27FC236}">
                <a16:creationId xmlns:a16="http://schemas.microsoft.com/office/drawing/2014/main" id="{AF42B5BB-493F-1A4F-A479-A45F6B47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516" y="290305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Line 18">
            <a:extLst>
              <a:ext uri="{FF2B5EF4-FFF2-40B4-BE49-F238E27FC236}">
                <a16:creationId xmlns:a16="http://schemas.microsoft.com/office/drawing/2014/main" id="{C9AE042D-B868-CC49-B9F2-374B1A84C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229" y="3341209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99C22C7D-D82A-5C41-99D1-EA13F124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166" y="384920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id="{DD02DF36-65CF-F14E-88DF-53BB17EBFDA7}"/>
              </a:ext>
            </a:extLst>
          </p:cNvPr>
          <p:cNvSpPr>
            <a:spLocks/>
          </p:cNvSpPr>
          <p:nvPr/>
        </p:nvSpPr>
        <p:spPr bwMode="auto"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22">
            <a:extLst>
              <a:ext uri="{FF2B5EF4-FFF2-40B4-BE49-F238E27FC236}">
                <a16:creationId xmlns:a16="http://schemas.microsoft.com/office/drawing/2014/main" id="{CCB0A876-D266-4A45-A302-8A1ECD42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 to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transmit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</a:t>
            </a: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id="{5718D752-EA30-EF40-828E-5D0FFEB1D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704" y="2877659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 Box 24">
            <a:extLst>
              <a:ext uri="{FF2B5EF4-FFF2-40B4-BE49-F238E27FC236}">
                <a16:creationId xmlns:a16="http://schemas.microsoft.com/office/drawing/2014/main" id="{8BC58F30-FF48-FF4E-819B-1E40B909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1676996C-B2C6-6440-BDFC-70D850B75C3C}"/>
              </a:ext>
            </a:extLst>
          </p:cNvPr>
          <p:cNvSpPr>
            <a:spLocks/>
          </p:cNvSpPr>
          <p:nvPr/>
        </p:nvSpPr>
        <p:spPr bwMode="auto"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id="{86DB8643-EF07-8F4F-9625-5A4CA4A1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id="{981309A0-6209-8843-8011-139102021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5916" y="3782534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 Box 28">
            <a:extLst>
              <a:ext uri="{FF2B5EF4-FFF2-40B4-BE49-F238E27FC236}">
                <a16:creationId xmlns:a16="http://schemas.microsoft.com/office/drawing/2014/main" id="{F8F4F9A2-8F8A-0A49-A582-7B28C50C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file</a:t>
            </a:r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38B5D7F5-BB3A-C042-A65C-E340A56B8131}"/>
              </a:ext>
            </a:extLst>
          </p:cNvPr>
          <p:cNvSpPr>
            <a:spLocks/>
          </p:cNvSpPr>
          <p:nvPr/>
        </p:nvSpPr>
        <p:spPr bwMode="auto"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0">
            <a:extLst>
              <a:ext uri="{FF2B5EF4-FFF2-40B4-BE49-F238E27FC236}">
                <a16:creationId xmlns:a16="http://schemas.microsoft.com/office/drawing/2014/main" id="{F6FF37B4-B442-4047-946B-77B07E91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1D97958B-3B35-E742-B7C6-848FC7C17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988" y="4805006"/>
            <a:ext cx="361323" cy="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id="{24A3B2D9-8989-434A-9FC2-223A7BF47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 received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id="{5F7EC06B-E293-DF46-888B-439F61ED3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29F1D00D-DC1A-684B-8E6D-3829DD41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id="{541F6086-47C8-874D-8AA5-F7E42EE4D031}"/>
              </a:ext>
            </a:extLst>
          </p:cNvPr>
          <p:cNvGrpSpPr>
            <a:grpSpLocks/>
          </p:cNvGrpSpPr>
          <p:nvPr/>
        </p:nvGrpSpPr>
        <p:grpSpPr bwMode="auto"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id="{6DAF6B62-B819-F74E-96B5-61332060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50F7D37B-F313-5C49-8576-42FF33D8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id="{87E40F45-93DC-2B4E-ADDC-55D37D40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Freeform 47">
              <a:extLst>
                <a:ext uri="{FF2B5EF4-FFF2-40B4-BE49-F238E27FC236}">
                  <a16:creationId xmlns:a16="http://schemas.microsoft.com/office/drawing/2014/main" id="{7B112D55-79F9-1F4D-B446-8C88751F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48">
              <a:extLst>
                <a:ext uri="{FF2B5EF4-FFF2-40B4-BE49-F238E27FC236}">
                  <a16:creationId xmlns:a16="http://schemas.microsoft.com/office/drawing/2014/main" id="{956D8EF0-FF87-9E4B-887E-2B313EF7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3" name="Group 49">
              <a:extLst>
                <a:ext uri="{FF2B5EF4-FFF2-40B4-BE49-F238E27FC236}">
                  <a16:creationId xmlns:a16="http://schemas.microsoft.com/office/drawing/2014/main" id="{66F581E1-4301-C04A-BC92-0FE36983E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50">
                <a:extLst>
                  <a:ext uri="{FF2B5EF4-FFF2-40B4-BE49-F238E27FC236}">
                    <a16:creationId xmlns:a16="http://schemas.microsoft.com/office/drawing/2014/main" id="{060EE10F-40BB-F147-A18B-D592D49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AutoShape 51">
                <a:extLst>
                  <a:ext uri="{FF2B5EF4-FFF2-40B4-BE49-F238E27FC236}">
                    <a16:creationId xmlns:a16="http://schemas.microsoft.com/office/drawing/2014/main" id="{964C81AE-2600-6248-820C-48DB107C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4" name="Rectangle 52">
              <a:extLst>
                <a:ext uri="{FF2B5EF4-FFF2-40B4-BE49-F238E27FC236}">
                  <a16:creationId xmlns:a16="http://schemas.microsoft.com/office/drawing/2014/main" id="{0B3B5D85-0106-D947-B9AB-3DEF402B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" name="Group 53">
              <a:extLst>
                <a:ext uri="{FF2B5EF4-FFF2-40B4-BE49-F238E27FC236}">
                  <a16:creationId xmlns:a16="http://schemas.microsoft.com/office/drawing/2014/main" id="{21E327E2-0D3F-BB45-88FA-94BE82472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54">
                <a:extLst>
                  <a:ext uri="{FF2B5EF4-FFF2-40B4-BE49-F238E27FC236}">
                    <a16:creationId xmlns:a16="http://schemas.microsoft.com/office/drawing/2014/main" id="{A09779CB-5E1C-FF46-9276-B827DEE6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AutoShape 55">
                <a:extLst>
                  <a:ext uri="{FF2B5EF4-FFF2-40B4-BE49-F238E27FC236}">
                    <a16:creationId xmlns:a16="http://schemas.microsoft.com/office/drawing/2014/main" id="{67162A33-48AB-8447-8BA1-9899B1EFA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6" name="Rectangle 56">
              <a:extLst>
                <a:ext uri="{FF2B5EF4-FFF2-40B4-BE49-F238E27FC236}">
                  <a16:creationId xmlns:a16="http://schemas.microsoft.com/office/drawing/2014/main" id="{C0727CA6-9309-D04B-829F-614EF5BE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Rectangle 57">
              <a:extLst>
                <a:ext uri="{FF2B5EF4-FFF2-40B4-BE49-F238E27FC236}">
                  <a16:creationId xmlns:a16="http://schemas.microsoft.com/office/drawing/2014/main" id="{17B7496E-619F-B745-A3B6-4EDDE39B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" name="Group 58">
              <a:extLst>
                <a:ext uri="{FF2B5EF4-FFF2-40B4-BE49-F238E27FC236}">
                  <a16:creationId xmlns:a16="http://schemas.microsoft.com/office/drawing/2014/main" id="{B3F5CCBA-FB37-F741-A1BE-6A326312A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59">
                <a:extLst>
                  <a:ext uri="{FF2B5EF4-FFF2-40B4-BE49-F238E27FC236}">
                    <a16:creationId xmlns:a16="http://schemas.microsoft.com/office/drawing/2014/main" id="{DEAAF06F-764B-A04C-A4F4-4AF808C8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AutoShape 60">
                <a:extLst>
                  <a:ext uri="{FF2B5EF4-FFF2-40B4-BE49-F238E27FC236}">
                    <a16:creationId xmlns:a16="http://schemas.microsoft.com/office/drawing/2014/main" id="{73A61CB6-ED08-FD4B-8F83-3336B8F82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9" name="Freeform 61">
              <a:extLst>
                <a:ext uri="{FF2B5EF4-FFF2-40B4-BE49-F238E27FC236}">
                  <a16:creationId xmlns:a16="http://schemas.microsoft.com/office/drawing/2014/main" id="{1AB063BC-5497-FD41-9B58-4C27970B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0" name="Group 62">
              <a:extLst>
                <a:ext uri="{FF2B5EF4-FFF2-40B4-BE49-F238E27FC236}">
                  <a16:creationId xmlns:a16="http://schemas.microsoft.com/office/drawing/2014/main" id="{20634D40-DCFD-8449-B684-70B31A9B3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63">
                <a:extLst>
                  <a:ext uri="{FF2B5EF4-FFF2-40B4-BE49-F238E27FC236}">
                    <a16:creationId xmlns:a16="http://schemas.microsoft.com/office/drawing/2014/main" id="{F58EC583-5702-1E4B-A6F2-1309BD87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AutoShape 64">
                <a:extLst>
                  <a:ext uri="{FF2B5EF4-FFF2-40B4-BE49-F238E27FC236}">
                    <a16:creationId xmlns:a16="http://schemas.microsoft.com/office/drawing/2014/main" id="{DB3DA62B-8007-4E4C-93B9-0F102F104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1" name="Rectangle 65">
              <a:extLst>
                <a:ext uri="{FF2B5EF4-FFF2-40B4-BE49-F238E27FC236}">
                  <a16:creationId xmlns:a16="http://schemas.microsoft.com/office/drawing/2014/main" id="{C31A2516-63E0-E740-AE1D-B59F6C976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Freeform 66">
              <a:extLst>
                <a:ext uri="{FF2B5EF4-FFF2-40B4-BE49-F238E27FC236}">
                  <a16:creationId xmlns:a16="http://schemas.microsoft.com/office/drawing/2014/main" id="{B8246D8C-6855-C044-A8BA-8F170062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Freeform 67">
              <a:extLst>
                <a:ext uri="{FF2B5EF4-FFF2-40B4-BE49-F238E27FC236}">
                  <a16:creationId xmlns:a16="http://schemas.microsoft.com/office/drawing/2014/main" id="{924E847A-F4E0-DA4B-8D4E-A56FEAA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Oval 68">
              <a:extLst>
                <a:ext uri="{FF2B5EF4-FFF2-40B4-BE49-F238E27FC236}">
                  <a16:creationId xmlns:a16="http://schemas.microsoft.com/office/drawing/2014/main" id="{8CAE9087-3C8E-F24B-A512-CEB1940F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Freeform 69">
              <a:extLst>
                <a:ext uri="{FF2B5EF4-FFF2-40B4-BE49-F238E27FC236}">
                  <a16:creationId xmlns:a16="http://schemas.microsoft.com/office/drawing/2014/main" id="{2AB5FE84-419E-EB41-B46F-B90EA821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AutoShape 70">
              <a:extLst>
                <a:ext uri="{FF2B5EF4-FFF2-40B4-BE49-F238E27FC236}">
                  <a16:creationId xmlns:a16="http://schemas.microsoft.com/office/drawing/2014/main" id="{5044997C-6434-1F4E-951A-58848E528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AutoShape 71">
              <a:extLst>
                <a:ext uri="{FF2B5EF4-FFF2-40B4-BE49-F238E27FC236}">
                  <a16:creationId xmlns:a16="http://schemas.microsoft.com/office/drawing/2014/main" id="{E0E22BAF-7B23-B44C-827B-153E002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E772A220-7A72-DF4C-B4F3-72E6DDF1F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id="{E52F28FE-19A0-E943-AE0B-DEEA9222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id="{679A21A4-960E-C240-991F-7A91E9D33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Rectangle 75">
              <a:extLst>
                <a:ext uri="{FF2B5EF4-FFF2-40B4-BE49-F238E27FC236}">
                  <a16:creationId xmlns:a16="http://schemas.microsoft.com/office/drawing/2014/main" id="{5FE7BC29-1F3A-FC4D-B0A8-E7C985E21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76">
            <a:extLst>
              <a:ext uri="{FF2B5EF4-FFF2-40B4-BE49-F238E27FC236}">
                <a16:creationId xmlns:a16="http://schemas.microsoft.com/office/drawing/2014/main" id="{ACB35F9B-E584-6A4C-A928-821626F2884C}"/>
              </a:ext>
            </a:extLst>
          </p:cNvPr>
          <p:cNvGrpSpPr>
            <a:grpSpLocks/>
          </p:cNvGrpSpPr>
          <p:nvPr/>
        </p:nvGrpSpPr>
        <p:grpSpPr bwMode="auto"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121" name="Picture 77" descr="desktop_computer_stylized_medium">
              <a:extLst>
                <a:ext uri="{FF2B5EF4-FFF2-40B4-BE49-F238E27FC236}">
                  <a16:creationId xmlns:a16="http://schemas.microsoft.com/office/drawing/2014/main" id="{C2C6AD66-1148-CD4D-99F7-5C6A689E2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78">
              <a:extLst>
                <a:ext uri="{FF2B5EF4-FFF2-40B4-BE49-F238E27FC236}">
                  <a16:creationId xmlns:a16="http://schemas.microsoft.com/office/drawing/2014/main" id="{40C43405-EE8F-6348-9658-64CCF319F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Freeform 1">
            <a:extLst>
              <a:ext uri="{FF2B5EF4-FFF2-40B4-BE49-F238E27FC236}">
                <a16:creationId xmlns:a16="http://schemas.microsoft.com/office/drawing/2014/main" id="{2D3ED81E-7823-0B47-8E02-97411E72ACFD}"/>
              </a:ext>
            </a:extLst>
          </p:cNvPr>
          <p:cNvSpPr/>
          <p:nvPr/>
        </p:nvSpPr>
        <p:spPr>
          <a:xfrm>
            <a:off x="8188984" y="4246818"/>
            <a:ext cx="1700270" cy="558188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AutoShape 21">
            <a:extLst>
              <a:ext uri="{FF2B5EF4-FFF2-40B4-BE49-F238E27FC236}">
                <a16:creationId xmlns:a16="http://schemas.microsoft.com/office/drawing/2014/main" id="{B46E8531-A1AB-F94F-83A6-88018FC274AE}"/>
              </a:ext>
            </a:extLst>
          </p:cNvPr>
          <p:cNvSpPr>
            <a:spLocks/>
          </p:cNvSpPr>
          <p:nvPr/>
        </p:nvSpPr>
        <p:spPr bwMode="auto">
          <a:xfrm flipH="1" flipV="1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F7570-9992-2546-969B-3F60B086818E}"/>
              </a:ext>
            </a:extLst>
          </p:cNvPr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 response time =  2RTT+ file transmission 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7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Persistent HTTP </a:t>
            </a:r>
            <a:r>
              <a:rPr lang="en-US" altLang="en-US" sz="3200" dirty="0">
                <a:cs typeface="Calibri" panose="020F0502020204030204" pitchFamily="34" charset="0"/>
              </a:rPr>
              <a:t>(HTTP 1.1)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14C937-79C9-6642-8B0C-15F130B4AF9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01764"/>
            <a:ext cx="516554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Non-persistent HTTP issues: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2 RTTs per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overhead for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TCP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browsers often open multiple parallel TCP connections to fetch referenced objects in parallel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96C596E-CBDC-1641-AE54-06AC7ADF3759}"/>
              </a:ext>
            </a:extLst>
          </p:cNvPr>
          <p:cNvSpPr txBox="1">
            <a:spLocks noChangeArrowheads="1"/>
          </p:cNvSpPr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Persistent  HTTP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(HTTP1.1):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 leaves connection open after sending response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messages  between same client/server sent over open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sends requests as soon as it encounters a referenced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little as one RTT for all the referenced objects (cutting response time in half)</a:t>
            </a:r>
          </a:p>
        </p:txBody>
      </p:sp>
    </p:spTree>
    <p:extLst>
      <p:ext uri="{BB962C8B-B14F-4D97-AF65-F5344CB8AC3E}">
        <p14:creationId xmlns:p14="http://schemas.microsoft.com/office/powerpoint/2010/main" val="42625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Pipelining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Issue multiple requests at a time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Don’t have to wait for previous response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More efficient use of link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 carefully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POST requests should not be pipelined (changes server state)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GET/HEAD requests are usually okay</a:t>
            </a:r>
          </a:p>
        </p:txBody>
      </p:sp>
    </p:spTree>
    <p:extLst>
      <p:ext uri="{BB962C8B-B14F-4D97-AF65-F5344CB8AC3E}">
        <p14:creationId xmlns:p14="http://schemas.microsoft.com/office/powerpoint/2010/main" val="3346333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169" y="112894"/>
            <a:ext cx="7772400" cy="1122363"/>
          </a:xfrm>
        </p:spPr>
        <p:txBody>
          <a:bodyPr/>
          <a:lstStyle/>
          <a:p>
            <a:pPr eaLnBrk="1" hangingPunct="1"/>
            <a:r>
              <a:rPr lang="en-US" altLang="en-US" dirty="0"/>
              <a:t>Persistent HTTP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003169" y="1234030"/>
            <a:ext cx="3933825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u="sng" dirty="0">
                <a:ea typeface="ＭＳ Ｐゴシック" panose="020B0600070205080204" pitchFamily="34" charset="-128"/>
              </a:rPr>
              <a:t>Non-persistent HTTP issues: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Connection setup for each request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But browsers often open parallel connections</a:t>
            </a:r>
          </a:p>
          <a:p>
            <a:pPr eaLnBrk="1" hangingPunct="1"/>
            <a:endParaRPr lang="en-US" altLang="en-US" sz="18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u="sng" dirty="0">
                <a:ea typeface="ＭＳ Ｐゴシック" panose="020B0600070205080204" pitchFamily="34" charset="-128"/>
              </a:rPr>
              <a:t>Persistent HTTP: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Server leaves connection open after sending response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Subsequent HTTP messages  between same client/server are sent over connection</a:t>
            </a:r>
          </a:p>
          <a:p>
            <a:pPr eaLnBrk="1" hangingPunct="1"/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86724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352953" y="1234030"/>
            <a:ext cx="4181475" cy="56054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u="sng" dirty="0"/>
              <a:t>Persistent without pipelining: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Client issues new request only when previous response has been received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One RTT for each object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u="sng" dirty="0"/>
              <a:t>Persistent with pipelining: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Default in HTTP/1.1 spec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Client sends multiple requests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As little as one RTT for all the referenced objects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Server must handle responses in same order as requests</a:t>
            </a:r>
          </a:p>
          <a:p>
            <a:pPr eaLnBrk="1" hangingPunct="1"/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9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3"/>
          <p:cNvSpPr>
            <a:spLocks noGrp="1"/>
          </p:cNvSpPr>
          <p:nvPr>
            <p:ph type="title"/>
          </p:nvPr>
        </p:nvSpPr>
        <p:spPr>
          <a:xfrm>
            <a:off x="914400" y="406138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200" dirty="0">
                <a:ea typeface="ＭＳ Ｐゴシック" panose="020B0600070205080204" pitchFamily="34" charset="-128"/>
              </a:rPr>
              <a:t>“</a:t>
            </a:r>
            <a:r>
              <a:rPr lang="en-US" altLang="ja-JP" sz="4200" dirty="0">
                <a:ea typeface="ＭＳ Ｐゴシック" panose="020B0600070205080204" pitchFamily="34" charset="-128"/>
              </a:rPr>
              <a:t>Persistent without pipelining</a:t>
            </a:r>
            <a:r>
              <a:rPr lang="ja-JP" altLang="en-US" sz="4200" dirty="0">
                <a:ea typeface="ＭＳ Ｐゴシック" panose="020B0600070205080204" pitchFamily="34" charset="-128"/>
              </a:rPr>
              <a:t>”</a:t>
            </a:r>
            <a:r>
              <a:rPr lang="en-US" altLang="ja-JP" sz="4200" dirty="0">
                <a:ea typeface="ＭＳ Ｐゴシック" panose="020B0600070205080204" pitchFamily="34" charset="-128"/>
              </a:rPr>
              <a:t> most common</a:t>
            </a:r>
            <a:endParaRPr lang="en-US" altLang="en-US" sz="4200" dirty="0">
              <a:ea typeface="ＭＳ Ｐゴシック" panose="020B0600070205080204" pitchFamily="34" charset="-128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991386" y="1872006"/>
            <a:ext cx="8534400" cy="5181600"/>
          </a:xfrm>
        </p:spPr>
        <p:txBody>
          <a:bodyPr/>
          <a:lstStyle/>
          <a:p>
            <a:pPr>
              <a:lnSpc>
                <a:spcPts val="2863"/>
              </a:lnSpc>
              <a:spcAft>
                <a:spcPts val="600"/>
              </a:spcAft>
            </a:pPr>
            <a:r>
              <a:rPr lang="en-US" altLang="en-US" dirty="0"/>
              <a:t>When does pipelining work best?</a:t>
            </a:r>
          </a:p>
          <a:p>
            <a:pPr lvl="1">
              <a:lnSpc>
                <a:spcPts val="2863"/>
              </a:lnSpc>
              <a:spcAft>
                <a:spcPts val="6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Small objects, equal time to serve each object</a:t>
            </a:r>
          </a:p>
          <a:p>
            <a:pPr lvl="1">
              <a:lnSpc>
                <a:spcPts val="2863"/>
              </a:lnSpc>
              <a:spcAft>
                <a:spcPts val="12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Small</a:t>
            </a:r>
            <a:r>
              <a:rPr lang="en-US" altLang="en-US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because pipelining simply removes additional RTT delay to request new content</a:t>
            </a:r>
          </a:p>
        </p:txBody>
      </p:sp>
    </p:spTree>
    <p:extLst>
      <p:ext uri="{BB962C8B-B14F-4D97-AF65-F5344CB8AC3E}">
        <p14:creationId xmlns:p14="http://schemas.microsoft.com/office/powerpoint/2010/main" val="3475996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</a:t>
            </a:r>
            <a:r>
              <a:rPr lang="en-US" altLang="en-US" dirty="0" smtClean="0"/>
              <a:t>protocol – </a:t>
            </a:r>
            <a:r>
              <a:rPr lang="en-US" altLang="en-US" dirty="0"/>
              <a:t>message format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8788" y="1371601"/>
            <a:ext cx="8578850" cy="4754563"/>
          </a:xfrm>
        </p:spPr>
        <p:txBody>
          <a:bodyPr/>
          <a:lstStyle/>
          <a:p>
            <a:r>
              <a:rPr lang="en-US" altLang="en-US" dirty="0"/>
              <a:t>two types of messages: </a:t>
            </a:r>
            <a:r>
              <a:rPr lang="en-US" altLang="en-US" u="sng" dirty="0">
                <a:solidFill>
                  <a:srgbClr val="3333CC"/>
                </a:solidFill>
              </a:rPr>
              <a:t>request</a:t>
            </a:r>
            <a:r>
              <a:rPr lang="en-US" altLang="en-US" dirty="0"/>
              <a:t> &amp; </a:t>
            </a:r>
            <a:r>
              <a:rPr lang="en-US" altLang="en-US" i="1" u="sng" dirty="0">
                <a:solidFill>
                  <a:srgbClr val="3333CC"/>
                </a:solidFill>
              </a:rPr>
              <a:t>response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ASCII (human-readable format)</a:t>
            </a:r>
            <a:endParaRPr lang="en-US" altLang="en-US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7" y="2494129"/>
            <a:ext cx="6240605" cy="400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1088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protocol – message format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HTTP request message</a:t>
            </a: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2743201"/>
            <a:ext cx="2982913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2235" name="Group 11"/>
          <p:cNvGrpSpPr>
            <a:grpSpLocks/>
          </p:cNvGrpSpPr>
          <p:nvPr/>
        </p:nvGrpSpPr>
        <p:grpSpPr bwMode="auto">
          <a:xfrm>
            <a:off x="5029200" y="2209800"/>
            <a:ext cx="5099050" cy="1295400"/>
            <a:chOff x="2208" y="1392"/>
            <a:chExt cx="3212" cy="816"/>
          </a:xfrm>
        </p:grpSpPr>
        <p:pic>
          <p:nvPicPr>
            <p:cNvPr id="5222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1392"/>
              <a:ext cx="2684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2230" name="Line 6"/>
            <p:cNvSpPr>
              <a:spLocks noChangeShapeType="1"/>
            </p:cNvSpPr>
            <p:nvPr/>
          </p:nvSpPr>
          <p:spPr bwMode="auto">
            <a:xfrm flipV="1">
              <a:off x="2208" y="1536"/>
              <a:ext cx="57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1" name="Line 7"/>
            <p:cNvSpPr>
              <a:spLocks noChangeShapeType="1"/>
            </p:cNvSpPr>
            <p:nvPr/>
          </p:nvSpPr>
          <p:spPr bwMode="auto">
            <a:xfrm>
              <a:off x="2208" y="2016"/>
              <a:ext cx="624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236" name="Group 12"/>
          <p:cNvGrpSpPr>
            <a:grpSpLocks/>
          </p:cNvGrpSpPr>
          <p:nvPr/>
        </p:nvGrpSpPr>
        <p:grpSpPr bwMode="auto">
          <a:xfrm>
            <a:off x="6019800" y="3200400"/>
            <a:ext cx="4343400" cy="1341438"/>
            <a:chOff x="2832" y="2016"/>
            <a:chExt cx="2736" cy="845"/>
          </a:xfrm>
        </p:grpSpPr>
        <p:pic>
          <p:nvPicPr>
            <p:cNvPr id="52232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2352"/>
              <a:ext cx="2545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2233" name="Line 9"/>
            <p:cNvSpPr>
              <a:spLocks noChangeShapeType="1"/>
            </p:cNvSpPr>
            <p:nvPr/>
          </p:nvSpPr>
          <p:spPr bwMode="auto">
            <a:xfrm flipH="1">
              <a:off x="2832" y="2016"/>
              <a:ext cx="86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>
              <a:off x="4464" y="2016"/>
              <a:ext cx="1104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9144000" y="1981200"/>
            <a:ext cx="1143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HTTP 0.9 HTTP 1.0 HTTP 1.1</a:t>
            </a:r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5638800" y="4876800"/>
            <a:ext cx="441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8650" indent="-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3333CC"/>
                </a:solidFill>
              </a:rPr>
              <a:t>GET</a:t>
            </a:r>
            <a:r>
              <a:rPr lang="en-US" altLang="en-US" sz="1400"/>
              <a:t> – when the client wants to retrieve a document              from the server</a:t>
            </a:r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5562600" y="5334000"/>
            <a:ext cx="441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85800" indent="-628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3333CC"/>
                </a:solidFill>
              </a:rPr>
              <a:t>HEAD</a:t>
            </a:r>
            <a:r>
              <a:rPr lang="en-US" altLang="en-US" sz="1400"/>
              <a:t> – when the client wants some info about a  document but not document itself</a:t>
            </a:r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5638800" y="5791200"/>
            <a:ext cx="441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8650" indent="-628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3333CC"/>
                </a:solidFill>
              </a:rPr>
              <a:t>COPY</a:t>
            </a:r>
            <a:r>
              <a:rPr lang="en-US" altLang="en-US" sz="1400"/>
              <a:t> – copies the file to another location                     </a:t>
            </a:r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>
            <a:off x="5943600" y="33528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5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7" grpId="0"/>
      <p:bldP spid="52238" grpId="0"/>
      <p:bldP spid="52239" grpId="0"/>
      <p:bldP spid="522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HTTP/1.0: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GET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POST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HEAD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asks server to leave requested object out of response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i.e. request info about a doc</a:t>
            </a:r>
          </a:p>
        </p:txBody>
      </p:sp>
      <p:sp>
        <p:nvSpPr>
          <p:cNvPr id="4813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HTTP/1.1: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GET, POST, HEAD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PUT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uploads file in entity body to path specified in URL field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DELETE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deletes file specified in the URL field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en-US" dirty="0" smtClean="0"/>
              <a:t>Method Types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0741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</a:t>
            </a:r>
            <a:r>
              <a:rPr lang="en-US" altLang="en-US" dirty="0" smtClean="0"/>
              <a:t>protocol – </a:t>
            </a:r>
            <a:r>
              <a:rPr lang="en-US" altLang="en-US" dirty="0"/>
              <a:t>message format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HTTP response message</a:t>
            </a: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433854"/>
            <a:ext cx="3211513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256" name="Group 8"/>
          <p:cNvGrpSpPr>
            <a:grpSpLocks/>
          </p:cNvGrpSpPr>
          <p:nvPr/>
        </p:nvGrpSpPr>
        <p:grpSpPr bwMode="auto">
          <a:xfrm>
            <a:off x="5334000" y="2129053"/>
            <a:ext cx="4718050" cy="1295400"/>
            <a:chOff x="2400" y="1152"/>
            <a:chExt cx="2972" cy="816"/>
          </a:xfrm>
        </p:grpSpPr>
        <p:pic>
          <p:nvPicPr>
            <p:cNvPr id="53253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200"/>
              <a:ext cx="2492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254" name="Line 6"/>
            <p:cNvSpPr>
              <a:spLocks noChangeShapeType="1"/>
            </p:cNvSpPr>
            <p:nvPr/>
          </p:nvSpPr>
          <p:spPr bwMode="auto">
            <a:xfrm flipV="1">
              <a:off x="2400" y="1152"/>
              <a:ext cx="72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5" name="Line 7"/>
            <p:cNvSpPr>
              <a:spLocks noChangeShapeType="1"/>
            </p:cNvSpPr>
            <p:nvPr/>
          </p:nvSpPr>
          <p:spPr bwMode="auto">
            <a:xfrm>
              <a:off x="2400" y="1632"/>
              <a:ext cx="81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5746585" y="1709159"/>
            <a:ext cx="42935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/>
              <a:t>http://www.w3.org/Protocols/HTTP/HTRESP.html</a:t>
            </a:r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 flipH="1">
            <a:off x="6096000" y="3119653"/>
            <a:ext cx="1752600" cy="1482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9296400" y="3195853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8304213" y="3881654"/>
            <a:ext cx="21768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explains the status code</a:t>
            </a:r>
          </a:p>
          <a:p>
            <a:r>
              <a:rPr lang="en-US" altLang="en-US" sz="1600"/>
              <a:t>in text form</a:t>
            </a:r>
          </a:p>
        </p:txBody>
      </p:sp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5867400" y="4572001"/>
            <a:ext cx="45720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200 OK</a:t>
            </a:r>
            <a:r>
              <a:rPr lang="en-US" altLang="en-US" dirty="0"/>
              <a:t> – request succeeded </a:t>
            </a:r>
            <a:endParaRPr lang="en-US" altLang="en-US" dirty="0">
              <a:solidFill>
                <a:srgbClr val="3333CC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301 Moved Permanently</a:t>
            </a:r>
            <a:r>
              <a:rPr lang="en-US" altLang="en-US" dirty="0"/>
              <a:t> –  object moved</a:t>
            </a:r>
            <a:endParaRPr lang="en-US" altLang="en-US" dirty="0">
              <a:solidFill>
                <a:srgbClr val="3333CC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400 Bad Request – </a:t>
            </a:r>
            <a:r>
              <a:rPr lang="en-US" altLang="en-US" sz="1600" dirty="0"/>
              <a:t>not understood by server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404 Not Found</a:t>
            </a:r>
            <a:r>
              <a:rPr lang="en-US" altLang="en-US" dirty="0"/>
              <a:t> – </a:t>
            </a:r>
            <a:r>
              <a:rPr lang="en-US" altLang="en-US" sz="1600" dirty="0"/>
              <a:t>req. document not found</a:t>
            </a:r>
            <a:endParaRPr lang="en-US" altLang="en-US" sz="1600" dirty="0">
              <a:solidFill>
                <a:srgbClr val="3333CC"/>
              </a:solidFill>
            </a:endParaRPr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 flipH="1">
            <a:off x="6715126" y="4415054"/>
            <a:ext cx="1971674" cy="1873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H="1">
            <a:off x="7146878" y="4415054"/>
            <a:ext cx="1539922" cy="620971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1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7" grpId="0"/>
      <p:bldP spid="53260" grpId="0"/>
      <p:bldP spid="5326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HTTP messages – an example</a:t>
            </a: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1" y="1295401"/>
            <a:ext cx="5070475" cy="302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143000"/>
            <a:ext cx="288925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71801"/>
            <a:ext cx="22669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1728788" y="4419600"/>
            <a:ext cx="87963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This example retrieves a document. </a:t>
            </a:r>
          </a:p>
          <a:p>
            <a:r>
              <a:rPr lang="en-US" altLang="en-US" dirty="0"/>
              <a:t>We use the GET method to retrieve an image with the path/</a:t>
            </a:r>
            <a:r>
              <a:rPr lang="en-US" altLang="en-US" dirty="0" err="1"/>
              <a:t>usr</a:t>
            </a:r>
            <a:r>
              <a:rPr lang="en-US" altLang="en-US" dirty="0"/>
              <a:t>/bin/image1. </a:t>
            </a:r>
          </a:p>
          <a:p>
            <a:r>
              <a:rPr lang="en-US" altLang="en-US" dirty="0"/>
              <a:t>The request line shows the method (GET), the URL, and the HTTP version (1.1). </a:t>
            </a:r>
          </a:p>
          <a:p>
            <a:r>
              <a:rPr lang="en-US" altLang="en-US" dirty="0"/>
              <a:t>The header has two lines that show that the client can accept images in GIF and JPEG format.</a:t>
            </a:r>
          </a:p>
        </p:txBody>
      </p:sp>
    </p:spTree>
    <p:extLst>
      <p:ext uri="{BB962C8B-B14F-4D97-AF65-F5344CB8AC3E}">
        <p14:creationId xmlns:p14="http://schemas.microsoft.com/office/powerpoint/2010/main" val="36329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838" y="147639"/>
            <a:ext cx="7772400" cy="979487"/>
          </a:xfrm>
        </p:spPr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HTTP response status codes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0183" name="Rectangle 5"/>
          <p:cNvSpPr>
            <a:spLocks noChangeArrowheads="1"/>
          </p:cNvSpPr>
          <p:nvPr/>
        </p:nvSpPr>
        <p:spPr bwMode="auto">
          <a:xfrm>
            <a:off x="2012951" y="1190625"/>
            <a:ext cx="8112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dirty="0"/>
              <a:t>status code appears in 1st line in server-to-client response message.</a:t>
            </a:r>
          </a:p>
          <a:p>
            <a:pPr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dirty="0"/>
              <a:t>some sample codes</a:t>
            </a:r>
            <a:r>
              <a:rPr lang="en-US" altLang="en-US" sz="2400" dirty="0">
                <a:latin typeface="Comic Sans MS" panose="030F0702030302020204" pitchFamily="66" charset="0"/>
              </a:rPr>
              <a:t>: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220914" y="2622550"/>
            <a:ext cx="7888287" cy="3625850"/>
            <a:chOff x="439" y="1652"/>
            <a:chExt cx="4969" cy="2284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439" y="1652"/>
              <a:ext cx="4969" cy="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" y="1652"/>
              <a:ext cx="4971" cy="2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2418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01838" y="147639"/>
            <a:ext cx="7772400" cy="9794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>
              <a:buClrTx/>
              <a:buSzTx/>
              <a:buFontTx/>
            </a:pPr>
            <a:r>
              <a:rPr lang="en-US" altLang="en-US" sz="4000" kern="0">
                <a:ea typeface="ＭＳ Ｐゴシック" panose="020B0600070205080204" pitchFamily="34" charset="-128"/>
              </a:rPr>
              <a:t>HTTP response status codes</a:t>
            </a:r>
            <a:endParaRPr lang="en-US" altLang="en-US" kern="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2465388" y="1127126"/>
            <a:ext cx="7129462" cy="5205413"/>
            <a:chOff x="593" y="710"/>
            <a:chExt cx="4491" cy="3279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93" y="710"/>
              <a:ext cx="4491" cy="3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" y="710"/>
              <a:ext cx="4493" cy="3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09591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page often includes form input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method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sending data to server):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www.somesite.com/animalsearch?monkeys&amp;banana</a:t>
            </a: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requests headers (only) that would be returned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uploads new file (object) to server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completely replaces file that exists at specified URL with content in entity body of POST HTTP request message</a:t>
            </a:r>
          </a:p>
        </p:txBody>
      </p:sp>
    </p:spTree>
    <p:extLst>
      <p:ext uri="{BB962C8B-B14F-4D97-AF65-F5344CB8AC3E}">
        <p14:creationId xmlns:p14="http://schemas.microsoft.com/office/powerpoint/2010/main" val="369124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Trying out HTTP (client side) for yourself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162CB5-536A-4D40-94FC-6A99B52D37CF}"/>
              </a:ext>
            </a:extLst>
          </p:cNvPr>
          <p:cNvSpPr txBox="1">
            <a:spLocks noChangeArrowheads="1"/>
          </p:cNvSpPr>
          <p:nvPr/>
        </p:nvSpPr>
        <p:spPr>
          <a:xfrm>
            <a:off x="579438" y="1474924"/>
            <a:ext cx="8096250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1. netcat to your favorite Web server: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D8FC5E-7EF6-5D4A-947A-76F9FAC5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1461" y="1932221"/>
            <a:ext cx="5852372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8125" marR="0" lvl="0" indent="-2381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opens TCP connection to port 80 (default HTTP server port)  at gaia.cs.umass.edu.</a:t>
            </a:r>
          </a:p>
          <a:p>
            <a:pPr marL="238125" marR="0" lvl="0" indent="-2381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anything typed in will be sent  to port 80 at 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AC288-3206-534D-929C-FFD2305EC27E}"/>
              </a:ext>
            </a:extLst>
          </p:cNvPr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6E2A86-603C-764E-9AF8-0B2F20CD2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3. look at response message sent by HTTP server!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3659547-E754-6B44-903F-76BD7A300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(or use Wireshark to look at captured HTTP request/response)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E12EFF-E52A-B84D-934A-7405FA201329}"/>
              </a:ext>
            </a:extLst>
          </p:cNvPr>
          <p:cNvGrpSpPr/>
          <p:nvPr/>
        </p:nvGrpSpPr>
        <p:grpSpPr>
          <a:xfrm>
            <a:off x="727530" y="3145663"/>
            <a:ext cx="10979788" cy="2045073"/>
            <a:chOff x="727530" y="3145663"/>
            <a:chExt cx="10979788" cy="2045073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F530C45-E591-C948-8561-E3D1A663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2. type in a GET HTTP request: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4F32261-DA96-6645-A103-A806625BC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GET /kurose_ross/interactive/index.php HTTP/1.1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Host: gaia.cs.umass.edu</a:t>
              </a: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A5628D90-F44C-0944-B370-D9151887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577" y="4175073"/>
              <a:ext cx="5543741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38125" marR="0" lvl="0" indent="-238125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by typing this in (hit carriage return twice), you send this minimal (but complete)  GET request to HTTP server</a:t>
              </a:r>
            </a:p>
          </p:txBody>
        </p:sp>
      </p:grpSp>
      <p:sp>
        <p:nvSpPr>
          <p:cNvPr id="3" name="Text Box 6">
            <a:extLst>
              <a:ext uri="{FF2B5EF4-FFF2-40B4-BE49-F238E27FC236}">
                <a16:creationId xmlns:a16="http://schemas.microsoft.com/office/drawing/2014/main" id="{72EC16EB-48D6-6F60-9003-B5E809F45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3" y="2039943"/>
            <a:ext cx="488762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nc -c -v gaia.cs.umass.edu 80 (for Mac)</a:t>
            </a:r>
            <a:endParaRPr lang="en-US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 –C gaia.cs.umass.edu 80 (for Windows)</a:t>
            </a:r>
          </a:p>
        </p:txBody>
      </p:sp>
    </p:spTree>
    <p:extLst>
      <p:ext uri="{BB962C8B-B14F-4D97-AF65-F5344CB8AC3E}">
        <p14:creationId xmlns:p14="http://schemas.microsoft.com/office/powerpoint/2010/main" val="331342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35EFC9-A521-0240-B257-CD458B330808}"/>
              </a:ext>
            </a:extLst>
          </p:cNvPr>
          <p:cNvSpPr txBox="1">
            <a:spLocks noChangeArrowheads="1"/>
          </p:cNvSpPr>
          <p:nvPr/>
        </p:nvSpPr>
        <p:spPr>
          <a:xfrm>
            <a:off x="751523" y="1368109"/>
            <a:ext cx="5877880" cy="48367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Recall:  HTTP GET/response interaction is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stateless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notion of multi-step exchanges of HTTP messages to complete a Web “transaction”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track “state” of multi-step exchange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all HTTP requests are independent of each other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“recover” from a partially-completed-but-never-completely-completed 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F961A-6387-0345-9591-6D8E9EDB9801}"/>
              </a:ext>
            </a:extLst>
          </p:cNvPr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stateful protocol: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makes two changes to X, or none at all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1896121-77D8-FD42-BC74-F51FD18D8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743" y="2818375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68C468-5627-F641-A1D5-CCCD71D4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2430" y="2812025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id="{4D29A06D-1A18-BA46-8999-A8C319B06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27466D26-729A-A04F-8FFC-34F73F8E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36" name="Group 43">
            <a:extLst>
              <a:ext uri="{FF2B5EF4-FFF2-40B4-BE49-F238E27FC236}">
                <a16:creationId xmlns:a16="http://schemas.microsoft.com/office/drawing/2014/main" id="{FAE9785A-4169-E940-B94F-671A4AB9F406}"/>
              </a:ext>
            </a:extLst>
          </p:cNvPr>
          <p:cNvGrpSpPr>
            <a:grpSpLocks/>
          </p:cNvGrpSpPr>
          <p:nvPr/>
        </p:nvGrpSpPr>
        <p:grpSpPr bwMode="auto"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6CED6B20-429D-A742-A5A8-C560D227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3217673F-28F2-7F49-B23F-A3ED64A05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2C8F4947-7476-8140-9308-A091DA125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C324215D-D2F8-D640-866A-AD06AEA3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AF16B93D-625D-BF47-B9C3-3122406F6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" name="Group 49">
              <a:extLst>
                <a:ext uri="{FF2B5EF4-FFF2-40B4-BE49-F238E27FC236}">
                  <a16:creationId xmlns:a16="http://schemas.microsoft.com/office/drawing/2014/main" id="{E5823F1D-E46B-E542-BA9A-BE7B2ADB2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7" name="AutoShape 50">
                <a:extLst>
                  <a:ext uri="{FF2B5EF4-FFF2-40B4-BE49-F238E27FC236}">
                    <a16:creationId xmlns:a16="http://schemas.microsoft.com/office/drawing/2014/main" id="{5EDFB4BA-9ECC-1D4B-9DE1-6892D81BD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8" name="AutoShape 51">
                <a:extLst>
                  <a:ext uri="{FF2B5EF4-FFF2-40B4-BE49-F238E27FC236}">
                    <a16:creationId xmlns:a16="http://schemas.microsoft.com/office/drawing/2014/main" id="{322B0365-5AB5-FB41-8CFB-D0A89CDC6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29C26A51-8119-1C45-B765-0A6FDC4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" name="Group 53">
              <a:extLst>
                <a:ext uri="{FF2B5EF4-FFF2-40B4-BE49-F238E27FC236}">
                  <a16:creationId xmlns:a16="http://schemas.microsoft.com/office/drawing/2014/main" id="{A0E07450-02B5-944A-993E-ED4E720D6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" name="AutoShape 54">
                <a:extLst>
                  <a:ext uri="{FF2B5EF4-FFF2-40B4-BE49-F238E27FC236}">
                    <a16:creationId xmlns:a16="http://schemas.microsoft.com/office/drawing/2014/main" id="{B895EECE-8814-364B-ABEF-BDFDB5B6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AutoShape 55">
                <a:extLst>
                  <a:ext uri="{FF2B5EF4-FFF2-40B4-BE49-F238E27FC236}">
                    <a16:creationId xmlns:a16="http://schemas.microsoft.com/office/drawing/2014/main" id="{19862CEA-43CD-F949-9939-14C77DA0F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AF3B098B-3C77-8047-942A-938B768E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B55EF1A5-9C91-874D-A21C-9283813B9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" name="Group 58">
              <a:extLst>
                <a:ext uri="{FF2B5EF4-FFF2-40B4-BE49-F238E27FC236}">
                  <a16:creationId xmlns:a16="http://schemas.microsoft.com/office/drawing/2014/main" id="{4BE447F1-4065-604D-9C52-935316AF9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3" name="AutoShape 59">
                <a:extLst>
                  <a:ext uri="{FF2B5EF4-FFF2-40B4-BE49-F238E27FC236}">
                    <a16:creationId xmlns:a16="http://schemas.microsoft.com/office/drawing/2014/main" id="{B6AF28E0-3DFD-B648-BA8B-C954368CE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utoShape 60">
                <a:extLst>
                  <a:ext uri="{FF2B5EF4-FFF2-40B4-BE49-F238E27FC236}">
                    <a16:creationId xmlns:a16="http://schemas.microsoft.com/office/drawing/2014/main" id="{CD352178-7C9F-9247-ADEE-3A9C5EEDD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167E2C73-34F7-5443-B80D-3E31BC266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62">
              <a:extLst>
                <a:ext uri="{FF2B5EF4-FFF2-40B4-BE49-F238E27FC236}">
                  <a16:creationId xmlns:a16="http://schemas.microsoft.com/office/drawing/2014/main" id="{FD3C1C1A-4BE2-8A4D-B7D1-6FE82CCD5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" name="AutoShape 63">
                <a:extLst>
                  <a:ext uri="{FF2B5EF4-FFF2-40B4-BE49-F238E27FC236}">
                    <a16:creationId xmlns:a16="http://schemas.microsoft.com/office/drawing/2014/main" id="{37F891D2-79F1-BA40-9E94-2CB7F92C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64">
                <a:extLst>
                  <a:ext uri="{FF2B5EF4-FFF2-40B4-BE49-F238E27FC236}">
                    <a16:creationId xmlns:a16="http://schemas.microsoft.com/office/drawing/2014/main" id="{A6F14F93-50F0-1D44-A328-C58C4810E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" name="Rectangle 65">
              <a:extLst>
                <a:ext uri="{FF2B5EF4-FFF2-40B4-BE49-F238E27FC236}">
                  <a16:creationId xmlns:a16="http://schemas.microsoft.com/office/drawing/2014/main" id="{002C4B61-E0A4-9947-A2B8-C5E4A183D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03750C04-4651-264E-A820-846CC991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67">
              <a:extLst>
                <a:ext uri="{FF2B5EF4-FFF2-40B4-BE49-F238E27FC236}">
                  <a16:creationId xmlns:a16="http://schemas.microsoft.com/office/drawing/2014/main" id="{8FAC3F30-F8EF-E042-AB16-84DEBD8C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68">
              <a:extLst>
                <a:ext uri="{FF2B5EF4-FFF2-40B4-BE49-F238E27FC236}">
                  <a16:creationId xmlns:a16="http://schemas.microsoft.com/office/drawing/2014/main" id="{0AC7D83A-6568-AE4B-9387-52663F18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1F36BF90-AD45-4E43-863B-F7093519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AutoShape 70">
              <a:extLst>
                <a:ext uri="{FF2B5EF4-FFF2-40B4-BE49-F238E27FC236}">
                  <a16:creationId xmlns:a16="http://schemas.microsoft.com/office/drawing/2014/main" id="{F5B54DD4-D0E2-AF41-9405-9DCDB2D7E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AutoShape 71">
              <a:extLst>
                <a:ext uri="{FF2B5EF4-FFF2-40B4-BE49-F238E27FC236}">
                  <a16:creationId xmlns:a16="http://schemas.microsoft.com/office/drawing/2014/main" id="{23D73537-49F7-C342-B924-696A08B3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Oval 72">
              <a:extLst>
                <a:ext uri="{FF2B5EF4-FFF2-40B4-BE49-F238E27FC236}">
                  <a16:creationId xmlns:a16="http://schemas.microsoft.com/office/drawing/2014/main" id="{BC45042D-B8F2-A44D-9D8F-FC3BBA5D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Oval 73">
              <a:extLst>
                <a:ext uri="{FF2B5EF4-FFF2-40B4-BE49-F238E27FC236}">
                  <a16:creationId xmlns:a16="http://schemas.microsoft.com/office/drawing/2014/main" id="{B9F22805-FC3E-6544-AABA-20E89AF95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9" name="Oval 74">
              <a:extLst>
                <a:ext uri="{FF2B5EF4-FFF2-40B4-BE49-F238E27FC236}">
                  <a16:creationId xmlns:a16="http://schemas.microsoft.com/office/drawing/2014/main" id="{EB68854B-BAC2-D941-B3A2-A5819DC3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Rectangle 75">
              <a:extLst>
                <a:ext uri="{FF2B5EF4-FFF2-40B4-BE49-F238E27FC236}">
                  <a16:creationId xmlns:a16="http://schemas.microsoft.com/office/drawing/2014/main" id="{D02DEB6D-1661-D243-AA4D-D82ACE64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9" name="Group 76">
            <a:extLst>
              <a:ext uri="{FF2B5EF4-FFF2-40B4-BE49-F238E27FC236}">
                <a16:creationId xmlns:a16="http://schemas.microsoft.com/office/drawing/2014/main" id="{DCF55C78-47F8-BB4D-B7DC-932793317724}"/>
              </a:ext>
            </a:extLst>
          </p:cNvPr>
          <p:cNvGrpSpPr>
            <a:grpSpLocks/>
          </p:cNvGrpSpPr>
          <p:nvPr/>
        </p:nvGrpSpPr>
        <p:grpSpPr bwMode="auto"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id="70" name="Picture 77" descr="desktop_computer_stylized_medium">
              <a:extLst>
                <a:ext uri="{FF2B5EF4-FFF2-40B4-BE49-F238E27FC236}">
                  <a16:creationId xmlns:a16="http://schemas.microsoft.com/office/drawing/2014/main" id="{DA88C7F5-3379-274A-B44E-AF12E56C2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FAA003F1-DCEB-8040-A71C-4C8DD7155D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2F7DE24-824D-8B4E-BB5F-5FEDF024EC8E}"/>
              </a:ext>
            </a:extLst>
          </p:cNvPr>
          <p:cNvGrpSpPr/>
          <p:nvPr/>
        </p:nvGrpSpPr>
        <p:grpSpPr>
          <a:xfrm>
            <a:off x="8211743" y="3942941"/>
            <a:ext cx="1673225" cy="337184"/>
            <a:chOff x="8211743" y="3942941"/>
            <a:chExt cx="1673225" cy="337184"/>
          </a:xfrm>
        </p:grpSpPr>
        <p:sp>
          <p:nvSpPr>
            <p:cNvPr id="77" name="Line 18">
              <a:extLst>
                <a:ext uri="{FF2B5EF4-FFF2-40B4-BE49-F238E27FC236}">
                  <a16:creationId xmlns:a16="http://schemas.microsoft.com/office/drawing/2014/main" id="{3D07B504-4294-484D-A15A-873F55BFA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942941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C44DF33-D418-CB41-BFC5-96705F979CCC}"/>
                </a:ext>
              </a:extLst>
            </p:cNvPr>
            <p:cNvSpPr txBox="1"/>
            <p:nvPr/>
          </p:nvSpPr>
          <p:spPr>
            <a:xfrm rot="21106037">
              <a:off x="9382305" y="3972348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C6582D8-E5C3-E94C-91FA-DD082657187F}"/>
              </a:ext>
            </a:extLst>
          </p:cNvPr>
          <p:cNvGrpSpPr/>
          <p:nvPr/>
        </p:nvGrpSpPr>
        <p:grpSpPr>
          <a:xfrm>
            <a:off x="8220565" y="4654247"/>
            <a:ext cx="1673225" cy="307777"/>
            <a:chOff x="8220565" y="4654247"/>
            <a:chExt cx="1673225" cy="307777"/>
          </a:xfrm>
        </p:grpSpPr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C9BF12C-724F-3C4B-9FC7-C0EB27409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0565" y="465532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7DB85B-1569-344D-AC0D-B969F2CD0B87}"/>
                </a:ext>
              </a:extLst>
            </p:cNvPr>
            <p:cNvSpPr txBox="1"/>
            <p:nvPr/>
          </p:nvSpPr>
          <p:spPr>
            <a:xfrm rot="21106037">
              <a:off x="9360647" y="465424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AF2513-9DD5-1A4B-B41D-1AFE8BDB247D}"/>
              </a:ext>
            </a:extLst>
          </p:cNvPr>
          <p:cNvGrpSpPr/>
          <p:nvPr/>
        </p:nvGrpSpPr>
        <p:grpSpPr>
          <a:xfrm>
            <a:off x="8226030" y="4881121"/>
            <a:ext cx="1684338" cy="344172"/>
            <a:chOff x="8226030" y="4881121"/>
            <a:chExt cx="1684338" cy="344172"/>
          </a:xfrm>
        </p:grpSpPr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33143F67-A599-EE4C-988D-1E52584B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499071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421034-4844-1843-9EDF-80D2D2191FFC}"/>
                </a:ext>
              </a:extLst>
            </p:cNvPr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unlock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2E6B42D-EC51-CD42-8E76-639F17FF9C82}"/>
              </a:ext>
            </a:extLst>
          </p:cNvPr>
          <p:cNvGrpSpPr/>
          <p:nvPr/>
        </p:nvGrpSpPr>
        <p:grpSpPr>
          <a:xfrm>
            <a:off x="8211743" y="5253900"/>
            <a:ext cx="1673225" cy="336684"/>
            <a:chOff x="8211743" y="5253900"/>
            <a:chExt cx="1673225" cy="336684"/>
          </a:xfrm>
        </p:grpSpPr>
        <p:sp>
          <p:nvSpPr>
            <p:cNvPr id="87" name="Line 18">
              <a:extLst>
                <a:ext uri="{FF2B5EF4-FFF2-40B4-BE49-F238E27FC236}">
                  <a16:creationId xmlns:a16="http://schemas.microsoft.com/office/drawing/2014/main" id="{981C6A97-493C-1541-8F46-FB6401EE6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525390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E6BC057-143C-EA4C-9758-617A540239BE}"/>
                </a:ext>
              </a:extLst>
            </p:cNvPr>
            <p:cNvSpPr txBox="1"/>
            <p:nvPr/>
          </p:nvSpPr>
          <p:spPr>
            <a:xfrm rot="21106037">
              <a:off x="9373746" y="528280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2585BB-270F-6343-8338-140BA89C7E52}"/>
              </a:ext>
            </a:extLst>
          </p:cNvPr>
          <p:cNvGrpSpPr/>
          <p:nvPr/>
        </p:nvGrpSpPr>
        <p:grpSpPr>
          <a:xfrm>
            <a:off x="8226030" y="3575737"/>
            <a:ext cx="1696234" cy="338597"/>
            <a:chOff x="8226030" y="3575737"/>
            <a:chExt cx="1696234" cy="338597"/>
          </a:xfrm>
        </p:grpSpPr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6976B72-BDF3-7C48-82E3-924EF74F5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3679752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D38CDC-448B-6D46-8D67-92FCAC24452A}"/>
                </a:ext>
              </a:extLst>
            </p:cNvPr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96C1467-1B22-FD48-8EA3-AAA9DBA798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1367" y="3750644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BE549BD-AAEC-8444-851F-3374194952CD}"/>
              </a:ext>
            </a:extLst>
          </p:cNvPr>
          <p:cNvGrpSpPr/>
          <p:nvPr/>
        </p:nvGrpSpPr>
        <p:grpSpPr>
          <a:xfrm>
            <a:off x="8234852" y="4259764"/>
            <a:ext cx="1684338" cy="366949"/>
            <a:chOff x="8234852" y="4259764"/>
            <a:chExt cx="1684338" cy="366949"/>
          </a:xfrm>
        </p:grpSpPr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BD9CD2B5-5BAD-F64E-ABCA-CBF632B90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52" y="439213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C94E783-4022-4840-9168-04845DD3C6E1}"/>
                </a:ext>
              </a:extLst>
            </p:cNvPr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X’’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91273DD-2DB7-7D46-A38E-BB2C16569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9955" y="4436145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AF7376-17A3-D741-91E5-0D8534607D08}"/>
              </a:ext>
            </a:extLst>
          </p:cNvPr>
          <p:cNvGrpSpPr/>
          <p:nvPr/>
        </p:nvGrpSpPr>
        <p:grpSpPr>
          <a:xfrm>
            <a:off x="8226030" y="2820539"/>
            <a:ext cx="1684338" cy="362594"/>
            <a:chOff x="8226030" y="2820539"/>
            <a:chExt cx="1684338" cy="3625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70E437-30BF-E34D-A36A-B1465B8979C1}"/>
                </a:ext>
              </a:extLst>
            </p:cNvPr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lock data record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26EF0C1-2237-8E46-AB56-8D689EE5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294855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140EC4-5DA8-F040-BC23-C3A90A90AE49}"/>
              </a:ext>
            </a:extLst>
          </p:cNvPr>
          <p:cNvGrpSpPr/>
          <p:nvPr/>
        </p:nvGrpSpPr>
        <p:grpSpPr>
          <a:xfrm>
            <a:off x="8211743" y="3211740"/>
            <a:ext cx="1673225" cy="326272"/>
            <a:chOff x="8211743" y="3211740"/>
            <a:chExt cx="1673225" cy="326272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C78912E7-84E1-824B-B855-60DAC36E5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21174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9CDE70-7C81-BB40-B7E7-D376841A3505}"/>
                </a:ext>
              </a:extLst>
            </p:cNvPr>
            <p:cNvSpPr txBox="1"/>
            <p:nvPr/>
          </p:nvSpPr>
          <p:spPr>
            <a:xfrm rot="21106037">
              <a:off x="9368027" y="3230235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FE3FF41-4F60-4C4F-85AB-4CC4494FF63A}"/>
              </a:ext>
            </a:extLst>
          </p:cNvPr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91" name="AutoShape 327">
              <a:extLst>
                <a:ext uri="{FF2B5EF4-FFF2-40B4-BE49-F238E27FC236}">
                  <a16:creationId xmlns:a16="http://schemas.microsoft.com/office/drawing/2014/main" id="{819E3430-D00B-DE4A-BF76-DA4F707F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7AE3A8-B4B7-5D45-9040-2EECD223536E}"/>
                </a:ext>
              </a:extLst>
            </p:cNvPr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64171ED-8243-0748-A18D-E9E66AB8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sp>
        <p:nvSpPr>
          <p:cNvPr id="102" name="AutoShape 327">
            <a:extLst>
              <a:ext uri="{FF2B5EF4-FFF2-40B4-BE49-F238E27FC236}">
                <a16:creationId xmlns:a16="http://schemas.microsoft.com/office/drawing/2014/main" id="{94D2C5FA-36D2-234A-8CDE-D9DE43DC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378" y="2195369"/>
            <a:ext cx="510086" cy="40011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67923B-2554-D94F-98BF-5970F66E0A80}"/>
              </a:ext>
            </a:extLst>
          </p:cNvPr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5B74FE-39C8-5B43-9432-6DE5518154FD}"/>
              </a:ext>
            </a:extLst>
          </p:cNvPr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107" name="AutoShape 327">
              <a:extLst>
                <a:ext uri="{FF2B5EF4-FFF2-40B4-BE49-F238E27FC236}">
                  <a16:creationId xmlns:a16="http://schemas.microsoft.com/office/drawing/2014/main" id="{8B16F450-5DEA-8B45-B210-945CA6750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2167ECA-B9B2-4E40-82B0-9F43976F24FE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6DE726C-08C5-5346-B762-9B140BCB8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E55A0D6-71A5-1D45-8A52-331867F92A1A}"/>
              </a:ext>
            </a:extLst>
          </p:cNvPr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111" name="AutoShape 327">
              <a:extLst>
                <a:ext uri="{FF2B5EF4-FFF2-40B4-BE49-F238E27FC236}">
                  <a16:creationId xmlns:a16="http://schemas.microsoft.com/office/drawing/2014/main" id="{AD90F81E-B5AA-6341-8460-5E051080A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02956FF-BB8D-6149-9012-24692DD7049D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E37BA2D-D932-D14B-9FD2-5FE1BA0B7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B7CAB0-F376-054D-A184-1987E69E5578}"/>
              </a:ext>
            </a:extLst>
          </p:cNvPr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115" name="AutoShape 327">
              <a:extLst>
                <a:ext uri="{FF2B5EF4-FFF2-40B4-BE49-F238E27FC236}">
                  <a16:creationId xmlns:a16="http://schemas.microsoft.com/office/drawing/2014/main" id="{0D7E10F2-D009-F14B-82D2-F08AB221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7935EAA-1BE1-5D4A-BB6F-A7C69F071ADD}"/>
                </a:ext>
              </a:extLst>
            </p:cNvPr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F306746-EF4C-B446-9F1D-1D85D8A99FAC}"/>
              </a:ext>
            </a:extLst>
          </p:cNvPr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0C0AC55-7635-2346-85C0-10B75BF4C445}"/>
              </a:ext>
            </a:extLst>
          </p:cNvPr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happens if network connection or client crashes at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59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044314F4-5E29-A342-9469-ED1D194C2BEE}"/>
              </a:ext>
            </a:extLst>
          </p:cNvPr>
          <p:cNvSpPr txBox="1">
            <a:spLocks noChangeArrowheads="1"/>
          </p:cNvSpPr>
          <p:nvPr/>
        </p:nvSpPr>
        <p:spPr>
          <a:xfrm>
            <a:off x="622608" y="1452389"/>
            <a:ext cx="6335547" cy="488791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sites and client browser  use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maintain some state between transactions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four components: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1) cookie header line of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2) cookie header line in next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3) cookie file kept on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host, managed by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browser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4) back-end database at Web site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26408C84-4366-9C43-B55D-97AC8C9FA33A}"/>
              </a:ext>
            </a:extLst>
          </p:cNvPr>
          <p:cNvSpPr txBox="1">
            <a:spLocks noChangeArrowheads="1"/>
          </p:cNvSpPr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111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Susan uses browser on laptop, visits specific e-commerce site for first time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initial HTTP requests arrives at site, site creates: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 (aka “cookie”)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 in backend database for ID</a:t>
            </a:r>
          </a:p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requests from Susan to this site will contain cookie ID value, allowing site to “identify” Susan</a:t>
            </a:r>
          </a:p>
        </p:txBody>
      </p:sp>
    </p:spTree>
    <p:extLst>
      <p:ext uri="{BB962C8B-B14F-4D97-AF65-F5344CB8AC3E}">
        <p14:creationId xmlns:p14="http://schemas.microsoft.com/office/powerpoint/2010/main" val="14758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6" name="Text Box 5">
            <a:extLst>
              <a:ext uri="{FF2B5EF4-FFF2-40B4-BE49-F238E27FC236}">
                <a16:creationId xmlns:a16="http://schemas.microsoft.com/office/drawing/2014/main" id="{BDD58876-57D5-6242-A5A0-1F4F57BB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id="{2C7DB634-32FD-8242-867E-9B9E0867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557" y="1520844"/>
            <a:ext cx="2052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Amazon server</a:t>
            </a:r>
          </a:p>
        </p:txBody>
      </p:sp>
      <p:grpSp>
        <p:nvGrpSpPr>
          <p:cNvPr id="98" name="Group 90">
            <a:extLst>
              <a:ext uri="{FF2B5EF4-FFF2-40B4-BE49-F238E27FC236}">
                <a16:creationId xmlns:a16="http://schemas.microsoft.com/office/drawing/2014/main" id="{94011BFB-FD4F-E449-8218-8F0FBC795682}"/>
              </a:ext>
            </a:extLst>
          </p:cNvPr>
          <p:cNvGrpSpPr>
            <a:grpSpLocks/>
          </p:cNvGrpSpPr>
          <p:nvPr/>
        </p:nvGrpSpPr>
        <p:grpSpPr bwMode="auto">
          <a:xfrm>
            <a:off x="2996806" y="4057653"/>
            <a:ext cx="3873500" cy="458788"/>
            <a:chOff x="1414" y="2657"/>
            <a:chExt cx="2440" cy="289"/>
          </a:xfrm>
        </p:grpSpPr>
        <p:sp>
          <p:nvSpPr>
            <p:cNvPr id="99" name="Line 16">
              <a:extLst>
                <a:ext uri="{FF2B5EF4-FFF2-40B4-BE49-F238E27FC236}">
                  <a16:creationId xmlns:a16="http://schemas.microsoft.com/office/drawing/2014/main" id="{88BDB1BC-CF22-D740-8FD0-3286D32A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7">
              <a:extLst>
                <a:ext uri="{FF2B5EF4-FFF2-40B4-BE49-F238E27FC236}">
                  <a16:creationId xmlns:a16="http://schemas.microsoft.com/office/drawing/2014/main" id="{1663D802-36E9-1C4C-BFE3-BD3D00335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101" name="Rectangle 18">
                <a:extLst>
                  <a:ext uri="{FF2B5EF4-FFF2-40B4-BE49-F238E27FC236}">
                    <a16:creationId xmlns:a16="http://schemas.microsoft.com/office/drawing/2014/main" id="{F3795387-184E-6040-B5E5-4A94444CF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Text Box 19">
                <a:extLst>
                  <a:ext uri="{FF2B5EF4-FFF2-40B4-BE49-F238E27FC236}">
                    <a16:creationId xmlns:a16="http://schemas.microsoft.com/office/drawing/2014/main" id="{1E8E6531-8FF1-1C40-8C70-630F4E147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usual HTTP response msg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" name="Group 94">
            <a:extLst>
              <a:ext uri="{FF2B5EF4-FFF2-40B4-BE49-F238E27FC236}">
                <a16:creationId xmlns:a16="http://schemas.microsoft.com/office/drawing/2014/main" id="{A02DFDF0-ACF5-0944-BB01-BEA857B2408F}"/>
              </a:ext>
            </a:extLst>
          </p:cNvPr>
          <p:cNvGrpSpPr>
            <a:grpSpLocks/>
          </p:cNvGrpSpPr>
          <p:nvPr/>
        </p:nvGrpSpPr>
        <p:grpSpPr bwMode="auto">
          <a:xfrm>
            <a:off x="3002432" y="5867498"/>
            <a:ext cx="3859213" cy="463549"/>
            <a:chOff x="1392" y="3579"/>
            <a:chExt cx="2431" cy="292"/>
          </a:xfrm>
        </p:grpSpPr>
        <p:sp>
          <p:nvSpPr>
            <p:cNvPr id="104" name="Line 24">
              <a:extLst>
                <a:ext uri="{FF2B5EF4-FFF2-40B4-BE49-F238E27FC236}">
                  <a16:creationId xmlns:a16="http://schemas.microsoft.com/office/drawing/2014/main" id="{EEB16C5E-89E3-9248-A0E9-068D3F51C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id="{474B7C25-022E-B449-BFB7-79520686A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msg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8" name="Text Box 59">
            <a:extLst>
              <a:ext uri="{FF2B5EF4-FFF2-40B4-BE49-F238E27FC236}">
                <a16:creationId xmlns:a16="http://schemas.microsoft.com/office/drawing/2014/main" id="{8FCE1392-BEBB-7649-A72C-5DBA3176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 file</a:t>
            </a: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id="{0A6A1E02-F6BE-5D46-AD20-D1F7027F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week later:</a:t>
            </a:r>
          </a:p>
        </p:txBody>
      </p:sp>
      <p:grpSp>
        <p:nvGrpSpPr>
          <p:cNvPr id="110" name="Group 89">
            <a:extLst>
              <a:ext uri="{FF2B5EF4-FFF2-40B4-BE49-F238E27FC236}">
                <a16:creationId xmlns:a16="http://schemas.microsoft.com/office/drawing/2014/main" id="{40D8E44C-8C6C-D542-9BE7-10406B51CDF5}"/>
              </a:ext>
            </a:extLst>
          </p:cNvPr>
          <p:cNvGrpSpPr>
            <a:grpSpLocks/>
          </p:cNvGrpSpPr>
          <p:nvPr/>
        </p:nvGrpSpPr>
        <p:grpSpPr bwMode="auto">
          <a:xfrm>
            <a:off x="2998327" y="3429000"/>
            <a:ext cx="6777024" cy="1128713"/>
            <a:chOff x="1411" y="2261"/>
            <a:chExt cx="3533" cy="711"/>
          </a:xfrm>
        </p:grpSpPr>
        <p:sp>
          <p:nvSpPr>
            <p:cNvPr id="111" name="Line 12">
              <a:extLst>
                <a:ext uri="{FF2B5EF4-FFF2-40B4-BE49-F238E27FC236}">
                  <a16:creationId xmlns:a16="http://schemas.microsoft.com/office/drawing/2014/main" id="{153DBCD9-AEFE-0D4C-84B4-A29E1AAA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id="{B4EE3ACA-27BC-0046-99A0-E10CEAF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13" name="Text Box 28">
              <a:extLst>
                <a:ext uri="{FF2B5EF4-FFF2-40B4-BE49-F238E27FC236}">
                  <a16:creationId xmlns:a16="http://schemas.microsoft.com/office/drawing/2014/main" id="{E0C8E058-016B-9643-8EC4-38404A2A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14" name="Line 42">
              <a:extLst>
                <a:ext uri="{FF2B5EF4-FFF2-40B4-BE49-F238E27FC236}">
                  <a16:creationId xmlns:a16="http://schemas.microsoft.com/office/drawing/2014/main" id="{AEE1E959-6738-514B-BC11-A0C6268B0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5" name="Group 83">
              <a:extLst>
                <a:ext uri="{FF2B5EF4-FFF2-40B4-BE49-F238E27FC236}">
                  <a16:creationId xmlns:a16="http://schemas.microsoft.com/office/drawing/2014/main" id="{B7857F88-08E3-E240-A20C-5162D2969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116" name="Rectangle 72">
                <a:extLst>
                  <a:ext uri="{FF2B5EF4-FFF2-40B4-BE49-F238E27FC236}">
                    <a16:creationId xmlns:a16="http://schemas.microsoft.com/office/drawing/2014/main" id="{597ACCEC-4FF2-6B40-8454-C2F1F6A7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Text Box 43">
                <a:extLst>
                  <a:ext uri="{FF2B5EF4-FFF2-40B4-BE49-F238E27FC236}">
                    <a16:creationId xmlns:a16="http://schemas.microsoft.com/office/drawing/2014/main" id="{361D7D30-A4D4-5C44-878A-9FE3CEA44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</p:txBody>
          </p:sp>
        </p:grpSp>
      </p:grpSp>
      <p:grpSp>
        <p:nvGrpSpPr>
          <p:cNvPr id="118" name="Group 81">
            <a:extLst>
              <a:ext uri="{FF2B5EF4-FFF2-40B4-BE49-F238E27FC236}">
                <a16:creationId xmlns:a16="http://schemas.microsoft.com/office/drawing/2014/main" id="{CCEC4E82-EFC9-4646-BCEE-C0B8C7E94B5A}"/>
              </a:ext>
            </a:extLst>
          </p:cNvPr>
          <p:cNvGrpSpPr>
            <a:grpSpLocks/>
          </p:cNvGrpSpPr>
          <p:nvPr/>
        </p:nvGrpSpPr>
        <p:grpSpPr bwMode="auto"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FF0F743-E4ED-2B41-96D3-06A33C24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0">
              <a:extLst>
                <a:ext uri="{FF2B5EF4-FFF2-40B4-BE49-F238E27FC236}">
                  <a16:creationId xmlns:a16="http://schemas.microsoft.com/office/drawing/2014/main" id="{6117DA15-C6DD-B847-B11A-0D6EFDBC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 8734</a:t>
              </a:r>
            </a:p>
          </p:txBody>
        </p:sp>
      </p:grpSp>
      <p:grpSp>
        <p:nvGrpSpPr>
          <p:cNvPr id="121" name="Group 95">
            <a:extLst>
              <a:ext uri="{FF2B5EF4-FFF2-40B4-BE49-F238E27FC236}">
                <a16:creationId xmlns:a16="http://schemas.microsoft.com/office/drawing/2014/main" id="{6419469C-19C4-3947-B461-0398BDE5A56E}"/>
              </a:ext>
            </a:extLst>
          </p:cNvPr>
          <p:cNvGrpSpPr>
            <a:grpSpLocks/>
          </p:cNvGrpSpPr>
          <p:nvPr/>
        </p:nvGrpSpPr>
        <p:grpSpPr bwMode="auto">
          <a:xfrm>
            <a:off x="2952356" y="1946272"/>
            <a:ext cx="6972540" cy="1301749"/>
            <a:chOff x="1386" y="1327"/>
            <a:chExt cx="3730" cy="820"/>
          </a:xfrm>
        </p:grpSpPr>
        <p:sp>
          <p:nvSpPr>
            <p:cNvPr id="122" name="Line 4">
              <a:extLst>
                <a:ext uri="{FF2B5EF4-FFF2-40B4-BE49-F238E27FC236}">
                  <a16:creationId xmlns:a16="http://schemas.microsoft.com/office/drawing/2014/main" id="{53358BBA-04B8-9D40-89A7-C1749138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8">
              <a:extLst>
                <a:ext uri="{FF2B5EF4-FFF2-40B4-BE49-F238E27FC236}">
                  <a16:creationId xmlns:a16="http://schemas.microsoft.com/office/drawing/2014/main" id="{437463ED-2B74-A04D-85BF-36A6CD1AD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8689192D-F56C-1640-861C-3C443D41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server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creates ID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1678 for user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5" name="Group 82">
              <a:extLst>
                <a:ext uri="{FF2B5EF4-FFF2-40B4-BE49-F238E27FC236}">
                  <a16:creationId xmlns:a16="http://schemas.microsoft.com/office/drawing/2014/main" id="{03DF1B1A-A9A9-854D-8891-346BB0DBA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7"/>
              <a:chOff x="4377" y="1640"/>
              <a:chExt cx="739" cy="417"/>
            </a:xfrm>
          </p:grpSpPr>
          <p:sp>
            <p:nvSpPr>
              <p:cNvPr id="126" name="Line 40">
                <a:extLst>
                  <a:ext uri="{FF2B5EF4-FFF2-40B4-BE49-F238E27FC236}">
                    <a16:creationId xmlns:a16="http://schemas.microsoft.com/office/drawing/2014/main" id="{52C051AD-65C2-504B-9A70-F8E72303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id="{7F34673E-5298-3241-9317-86EC3DD7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8" name="Text Box 41">
                <a:extLst>
                  <a:ext uri="{FF2B5EF4-FFF2-40B4-BE49-F238E27FC236}">
                    <a16:creationId xmlns:a16="http://schemas.microsoft.com/office/drawing/2014/main" id="{F17F9C36-958E-4C47-BE78-4A1A5F072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create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   entry</a:t>
                </a:r>
              </a:p>
            </p:txBody>
          </p:sp>
        </p:grpSp>
      </p:grpSp>
      <p:grpSp>
        <p:nvGrpSpPr>
          <p:cNvPr id="129" name="Group 88">
            <a:extLst>
              <a:ext uri="{FF2B5EF4-FFF2-40B4-BE49-F238E27FC236}">
                <a16:creationId xmlns:a16="http://schemas.microsoft.com/office/drawing/2014/main" id="{7A1CD3F5-FA12-5E48-9AC5-0FFB79FB2A15}"/>
              </a:ext>
            </a:extLst>
          </p:cNvPr>
          <p:cNvGrpSpPr>
            <a:grpSpLocks/>
          </p:cNvGrpSpPr>
          <p:nvPr/>
        </p:nvGrpSpPr>
        <p:grpSpPr bwMode="auto">
          <a:xfrm>
            <a:off x="1675603" y="2474086"/>
            <a:ext cx="5151555" cy="890270"/>
            <a:chOff x="462" y="1603"/>
            <a:chExt cx="3550" cy="719"/>
          </a:xfrm>
        </p:grpSpPr>
        <p:sp>
          <p:nvSpPr>
            <p:cNvPr id="130" name="Line 9">
              <a:extLst>
                <a:ext uri="{FF2B5EF4-FFF2-40B4-BE49-F238E27FC236}">
                  <a16:creationId xmlns:a16="http://schemas.microsoft.com/office/drawing/2014/main" id="{34D0E0B7-0FCE-BB41-80D4-74036A27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1">
              <a:extLst>
                <a:ext uri="{FF2B5EF4-FFF2-40B4-BE49-F238E27FC236}">
                  <a16:creationId xmlns:a16="http://schemas.microsoft.com/office/drawing/2014/main" id="{C2A582BF-35AD-EC42-8C5E-BCF7C4420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set-cookie: 1678 </a:t>
              </a:r>
            </a:p>
          </p:txBody>
        </p:sp>
        <p:grpSp>
          <p:nvGrpSpPr>
            <p:cNvPr id="132" name="Group 76">
              <a:extLst>
                <a:ext uri="{FF2B5EF4-FFF2-40B4-BE49-F238E27FC236}">
                  <a16:creationId xmlns:a16="http://schemas.microsoft.com/office/drawing/2014/main" id="{9B50E41F-6BE8-5B41-B57A-83E988A05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133" name="AutoShape 74">
                <a:extLst>
                  <a:ext uri="{FF2B5EF4-FFF2-40B4-BE49-F238E27FC236}">
                    <a16:creationId xmlns:a16="http://schemas.microsoft.com/office/drawing/2014/main" id="{0B53BA64-2104-564F-AC68-42F70CD1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Text Box 75">
                <a:extLst>
                  <a:ext uri="{FF2B5EF4-FFF2-40B4-BE49-F238E27FC236}">
                    <a16:creationId xmlns:a16="http://schemas.microsoft.com/office/drawing/2014/main" id="{40EF6721-60A7-E646-8306-ACE2C580A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ebay 8734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amazon 1678</a:t>
                </a:r>
              </a:p>
            </p:txBody>
          </p:sp>
        </p:grpSp>
      </p:grpSp>
      <p:grpSp>
        <p:nvGrpSpPr>
          <p:cNvPr id="135" name="Group 93">
            <a:extLst>
              <a:ext uri="{FF2B5EF4-FFF2-40B4-BE49-F238E27FC236}">
                <a16:creationId xmlns:a16="http://schemas.microsoft.com/office/drawing/2014/main" id="{3301D1A0-4332-D44D-9339-6985DCD61D45}"/>
              </a:ext>
            </a:extLst>
          </p:cNvPr>
          <p:cNvGrpSpPr>
            <a:grpSpLocks/>
          </p:cNvGrpSpPr>
          <p:nvPr/>
        </p:nvGrpSpPr>
        <p:grpSpPr bwMode="auto">
          <a:xfrm>
            <a:off x="2994226" y="4365354"/>
            <a:ext cx="6781125" cy="2001838"/>
            <a:chOff x="1406" y="2641"/>
            <a:chExt cx="3562" cy="1261"/>
          </a:xfrm>
        </p:grpSpPr>
        <p:sp>
          <p:nvSpPr>
            <p:cNvPr id="136" name="Line 20">
              <a:extLst>
                <a:ext uri="{FF2B5EF4-FFF2-40B4-BE49-F238E27FC236}">
                  <a16:creationId xmlns:a16="http://schemas.microsoft.com/office/drawing/2014/main" id="{27A08B61-84D4-974B-B631-032C8342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id="{C0FE6E20-0831-D147-9963-B3CABC0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38" name="Text Box 29">
              <a:extLst>
                <a:ext uri="{FF2B5EF4-FFF2-40B4-BE49-F238E27FC236}">
                  <a16:creationId xmlns:a16="http://schemas.microsoft.com/office/drawing/2014/main" id="{8241B379-77A9-114B-8D91-05EAB5E6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E200A986-F657-7343-BB4C-41C023FA5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Text Box 71">
              <a:extLst>
                <a:ext uri="{FF2B5EF4-FFF2-40B4-BE49-F238E27FC236}">
                  <a16:creationId xmlns:a16="http://schemas.microsoft.com/office/drawing/2014/main" id="{CCBDD99D-1C5A-2749-9C7B-9D0A6E0A3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access</a:t>
              </a:r>
            </a:p>
          </p:txBody>
        </p:sp>
      </p:grpSp>
      <p:grpSp>
        <p:nvGrpSpPr>
          <p:cNvPr id="141" name="Group 77">
            <a:extLst>
              <a:ext uri="{FF2B5EF4-FFF2-40B4-BE49-F238E27FC236}">
                <a16:creationId xmlns:a16="http://schemas.microsoft.com/office/drawing/2014/main" id="{147D74CA-2DA8-1241-A8E8-3EF2E932E88E}"/>
              </a:ext>
            </a:extLst>
          </p:cNvPr>
          <p:cNvGrpSpPr>
            <a:grpSpLocks/>
          </p:cNvGrpSpPr>
          <p:nvPr/>
        </p:nvGrpSpPr>
        <p:grpSpPr bwMode="auto"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142" name="AutoShape 78">
              <a:extLst>
                <a:ext uri="{FF2B5EF4-FFF2-40B4-BE49-F238E27FC236}">
                  <a16:creationId xmlns:a16="http://schemas.microsoft.com/office/drawing/2014/main" id="{19C72BA2-8506-044E-A290-911BA7AE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Text Box 79">
              <a:extLst>
                <a:ext uri="{FF2B5EF4-FFF2-40B4-BE49-F238E27FC236}">
                  <a16:creationId xmlns:a16="http://schemas.microsoft.com/office/drawing/2014/main" id="{DF0A1B9A-EFCF-7042-A14D-D22FE4D3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 8734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1678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4" name="Text Box 80">
            <a:extLst>
              <a:ext uri="{FF2B5EF4-FFF2-40B4-BE49-F238E27FC236}">
                <a16:creationId xmlns:a16="http://schemas.microsoft.com/office/drawing/2014/main" id="{EC583638-A99A-9144-B11A-E459DCD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database</a:t>
            </a:r>
          </a:p>
        </p:txBody>
      </p:sp>
      <p:sp>
        <p:nvSpPr>
          <p:cNvPr id="145" name="AutoShape 327">
            <a:extLst>
              <a:ext uri="{FF2B5EF4-FFF2-40B4-BE49-F238E27FC236}">
                <a16:creationId xmlns:a16="http://schemas.microsoft.com/office/drawing/2014/main" id="{774E3BE6-BFC9-C849-B588-B56E574D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4838" y="3202824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6" name="Group 63">
            <a:extLst>
              <a:ext uri="{FF2B5EF4-FFF2-40B4-BE49-F238E27FC236}">
                <a16:creationId xmlns:a16="http://schemas.microsoft.com/office/drawing/2014/main" id="{1D650FE6-EFAF-DA42-B6C3-89E2D30D6710}"/>
              </a:ext>
            </a:extLst>
          </p:cNvPr>
          <p:cNvGrpSpPr>
            <a:grpSpLocks/>
          </p:cNvGrpSpPr>
          <p:nvPr/>
        </p:nvGrpSpPr>
        <p:grpSpPr bwMode="auto"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147" name="Freeform 64">
              <a:extLst>
                <a:ext uri="{FF2B5EF4-FFF2-40B4-BE49-F238E27FC236}">
                  <a16:creationId xmlns:a16="http://schemas.microsoft.com/office/drawing/2014/main" id="{23F46B7A-88B4-C64E-A298-064AE8ED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Rectangle 65">
              <a:extLst>
                <a:ext uri="{FF2B5EF4-FFF2-40B4-BE49-F238E27FC236}">
                  <a16:creationId xmlns:a16="http://schemas.microsoft.com/office/drawing/2014/main" id="{932E7E2F-358A-204B-ACA1-ECA34C74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Freeform 66">
              <a:extLst>
                <a:ext uri="{FF2B5EF4-FFF2-40B4-BE49-F238E27FC236}">
                  <a16:creationId xmlns:a16="http://schemas.microsoft.com/office/drawing/2014/main" id="{5AD2CC4E-2BC1-3742-B273-CCF955749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Freeform 67">
              <a:extLst>
                <a:ext uri="{FF2B5EF4-FFF2-40B4-BE49-F238E27FC236}">
                  <a16:creationId xmlns:a16="http://schemas.microsoft.com/office/drawing/2014/main" id="{1DBFB074-4990-854E-B454-9FF52C6C4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Rectangle 68">
              <a:extLst>
                <a:ext uri="{FF2B5EF4-FFF2-40B4-BE49-F238E27FC236}">
                  <a16:creationId xmlns:a16="http://schemas.microsoft.com/office/drawing/2014/main" id="{BE0EBEA8-CD1D-5047-B6F1-2FAA1FF32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2" name="Group 69">
              <a:extLst>
                <a:ext uri="{FF2B5EF4-FFF2-40B4-BE49-F238E27FC236}">
                  <a16:creationId xmlns:a16="http://schemas.microsoft.com/office/drawing/2014/main" id="{FB3D83DD-33C0-D64F-AEA3-0EDE47897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7" name="AutoShape 70">
                <a:extLst>
                  <a:ext uri="{FF2B5EF4-FFF2-40B4-BE49-F238E27FC236}">
                    <a16:creationId xmlns:a16="http://schemas.microsoft.com/office/drawing/2014/main" id="{9F58D14A-E308-6E43-8765-29117CEB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AutoShape 71">
                <a:extLst>
                  <a:ext uri="{FF2B5EF4-FFF2-40B4-BE49-F238E27FC236}">
                    <a16:creationId xmlns:a16="http://schemas.microsoft.com/office/drawing/2014/main" id="{990E0E9A-D7D4-F540-994A-F5A32D42A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3" name="Rectangle 72">
              <a:extLst>
                <a:ext uri="{FF2B5EF4-FFF2-40B4-BE49-F238E27FC236}">
                  <a16:creationId xmlns:a16="http://schemas.microsoft.com/office/drawing/2014/main" id="{914BF847-475C-7C47-96A4-CAFCCACE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4" name="Group 73">
              <a:extLst>
                <a:ext uri="{FF2B5EF4-FFF2-40B4-BE49-F238E27FC236}">
                  <a16:creationId xmlns:a16="http://schemas.microsoft.com/office/drawing/2014/main" id="{A276F146-AB6A-8C4E-BD8B-856A510CB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" name="AutoShape 74">
                <a:extLst>
                  <a:ext uri="{FF2B5EF4-FFF2-40B4-BE49-F238E27FC236}">
                    <a16:creationId xmlns:a16="http://schemas.microsoft.com/office/drawing/2014/main" id="{FB783255-C8AF-CD4E-84DF-1573DF917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75">
                <a:extLst>
                  <a:ext uri="{FF2B5EF4-FFF2-40B4-BE49-F238E27FC236}">
                    <a16:creationId xmlns:a16="http://schemas.microsoft.com/office/drawing/2014/main" id="{46E81119-BF44-D945-96D2-7A6A2F1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5" name="Rectangle 76">
              <a:extLst>
                <a:ext uri="{FF2B5EF4-FFF2-40B4-BE49-F238E27FC236}">
                  <a16:creationId xmlns:a16="http://schemas.microsoft.com/office/drawing/2014/main" id="{823BB60D-416A-0746-BBEF-9DC4528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Rectangle 77">
              <a:extLst>
                <a:ext uri="{FF2B5EF4-FFF2-40B4-BE49-F238E27FC236}">
                  <a16:creationId xmlns:a16="http://schemas.microsoft.com/office/drawing/2014/main" id="{500EA440-64F5-FE43-A9CD-EC38855A5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7" name="Group 78">
              <a:extLst>
                <a:ext uri="{FF2B5EF4-FFF2-40B4-BE49-F238E27FC236}">
                  <a16:creationId xmlns:a16="http://schemas.microsoft.com/office/drawing/2014/main" id="{014CE493-B3CF-454F-97A3-BF80992E3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3" name="AutoShape 79">
                <a:extLst>
                  <a:ext uri="{FF2B5EF4-FFF2-40B4-BE49-F238E27FC236}">
                    <a16:creationId xmlns:a16="http://schemas.microsoft.com/office/drawing/2014/main" id="{40259673-2628-3C41-9A32-A9512F4B2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AutoShape 80">
                <a:extLst>
                  <a:ext uri="{FF2B5EF4-FFF2-40B4-BE49-F238E27FC236}">
                    <a16:creationId xmlns:a16="http://schemas.microsoft.com/office/drawing/2014/main" id="{F5B75204-14D3-4949-85E6-E03DC063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8" name="Freeform 81">
              <a:extLst>
                <a:ext uri="{FF2B5EF4-FFF2-40B4-BE49-F238E27FC236}">
                  <a16:creationId xmlns:a16="http://schemas.microsoft.com/office/drawing/2014/main" id="{C088528D-4021-6642-8A80-03351DCF2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9" name="Group 82">
              <a:extLst>
                <a:ext uri="{FF2B5EF4-FFF2-40B4-BE49-F238E27FC236}">
                  <a16:creationId xmlns:a16="http://schemas.microsoft.com/office/drawing/2014/main" id="{1859255F-C0C6-124B-9F92-5E236F8B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1" name="AutoShape 83">
                <a:extLst>
                  <a:ext uri="{FF2B5EF4-FFF2-40B4-BE49-F238E27FC236}">
                    <a16:creationId xmlns:a16="http://schemas.microsoft.com/office/drawing/2014/main" id="{C035ED52-DDB2-C843-9FFF-5BC45A6C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AutoShape 84">
                <a:extLst>
                  <a:ext uri="{FF2B5EF4-FFF2-40B4-BE49-F238E27FC236}">
                    <a16:creationId xmlns:a16="http://schemas.microsoft.com/office/drawing/2014/main" id="{E3C20259-037C-3641-A789-24D0DCCD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id="{AAA45EA2-DB28-264A-8894-70368F48D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Freeform 86">
              <a:extLst>
                <a:ext uri="{FF2B5EF4-FFF2-40B4-BE49-F238E27FC236}">
                  <a16:creationId xmlns:a16="http://schemas.microsoft.com/office/drawing/2014/main" id="{056A9634-8A28-174F-BB52-3C9B4E96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87">
              <a:extLst>
                <a:ext uri="{FF2B5EF4-FFF2-40B4-BE49-F238E27FC236}">
                  <a16:creationId xmlns:a16="http://schemas.microsoft.com/office/drawing/2014/main" id="{28B4EE70-3F36-D84A-BBF7-26FCDCAB2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Oval 88">
              <a:extLst>
                <a:ext uri="{FF2B5EF4-FFF2-40B4-BE49-F238E27FC236}">
                  <a16:creationId xmlns:a16="http://schemas.microsoft.com/office/drawing/2014/main" id="{AFA23CDD-2C19-364F-8CB6-E34A3A50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id="{C80FF08C-B05A-5742-B82B-9D6BFBFA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AutoShape 90">
              <a:extLst>
                <a:ext uri="{FF2B5EF4-FFF2-40B4-BE49-F238E27FC236}">
                  <a16:creationId xmlns:a16="http://schemas.microsoft.com/office/drawing/2014/main" id="{D46EF758-7531-924C-8A33-5AC571E0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AutoShape 91">
              <a:extLst>
                <a:ext uri="{FF2B5EF4-FFF2-40B4-BE49-F238E27FC236}">
                  <a16:creationId xmlns:a16="http://schemas.microsoft.com/office/drawing/2014/main" id="{E252E208-3522-884B-9DE7-7EB1576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id="{957DD520-6280-3E4E-BAD7-651F5141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id="{ECF80637-5F56-1F4E-A6A8-ED0FA8AC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id="{FFEB5237-B81D-9B45-A444-21BB49902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95">
              <a:extLst>
                <a:ext uri="{FF2B5EF4-FFF2-40B4-BE49-F238E27FC236}">
                  <a16:creationId xmlns:a16="http://schemas.microsoft.com/office/drawing/2014/main" id="{8C2A523A-6ED6-094A-8260-B51956D79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9" name="Group 96">
            <a:extLst>
              <a:ext uri="{FF2B5EF4-FFF2-40B4-BE49-F238E27FC236}">
                <a16:creationId xmlns:a16="http://schemas.microsoft.com/office/drawing/2014/main" id="{079DFC6E-4E8A-7B4D-8113-190A0989D0FB}"/>
              </a:ext>
            </a:extLst>
          </p:cNvPr>
          <p:cNvGrpSpPr>
            <a:grpSpLocks/>
          </p:cNvGrpSpPr>
          <p:nvPr/>
        </p:nvGrpSpPr>
        <p:grpSpPr bwMode="auto"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id="180" name="Picture 97" descr="desktop_computer_stylized_medium">
              <a:extLst>
                <a:ext uri="{FF2B5EF4-FFF2-40B4-BE49-F238E27FC236}">
                  <a16:creationId xmlns:a16="http://schemas.microsoft.com/office/drawing/2014/main" id="{FB14A9C2-A921-3747-8B81-81EE5182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98">
              <a:extLst>
                <a:ext uri="{FF2B5EF4-FFF2-40B4-BE49-F238E27FC236}">
                  <a16:creationId xmlns:a16="http://schemas.microsoft.com/office/drawing/2014/main" id="{9C2960BD-B3C9-AE44-9E68-217EF326B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8" name="Line 15">
            <a:extLst>
              <a:ext uri="{FF2B5EF4-FFF2-40B4-BE49-F238E27FC236}">
                <a16:creationId xmlns:a16="http://schemas.microsoft.com/office/drawing/2014/main" id="{9030FA43-2615-A74C-949D-871EDD525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9897" y="1993139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 Box 37">
            <a:extLst>
              <a:ext uri="{FF2B5EF4-FFF2-40B4-BE49-F238E27FC236}">
                <a16:creationId xmlns:a16="http://schemas.microsoft.com/office/drawing/2014/main" id="{7717F97B-37DE-2442-8F9E-81FB9F33A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E5A588C-0539-7140-B8E3-80735DCD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352" y="2001551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Box 37">
            <a:extLst>
              <a:ext uri="{FF2B5EF4-FFF2-40B4-BE49-F238E27FC236}">
                <a16:creationId xmlns:a16="http://schemas.microsoft.com/office/drawing/2014/main" id="{716E4165-7532-204E-993F-D649CD87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68033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 cookies: comments</a:t>
            </a:r>
            <a:endParaRPr lang="en-US" sz="440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CD5F1C3-47BC-1645-A288-078B99127C22}"/>
              </a:ext>
            </a:extLst>
          </p:cNvPr>
          <p:cNvSpPr txBox="1">
            <a:spLocks noChangeArrowheads="1"/>
          </p:cNvSpPr>
          <p:nvPr/>
        </p:nvSpPr>
        <p:spPr>
          <a:xfrm>
            <a:off x="648049" y="1556443"/>
            <a:ext cx="6034668" cy="2641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What cookies can be used for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authorization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shopping carts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recommendations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session state (Web e-mail)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BC2253F6-EA38-7C47-9CAD-4C2EC6B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291" y="1568189"/>
            <a:ext cx="3810000" cy="3553646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and privacy: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permit sites 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learn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a lot about you on their site.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id="{D023EC46-D7D8-D04C-9048-D7EFE18F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568" y="1325611"/>
            <a:ext cx="838691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aside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C2FE22D-B17F-7C44-AE2F-82497658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Challenge: How to keep 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state?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protocol endpoints: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maintain state at sender/receiver over multiple transactions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 messages: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in HTTP messages carry state</a:t>
            </a:r>
          </a:p>
        </p:txBody>
      </p:sp>
    </p:spTree>
    <p:extLst>
      <p:ext uri="{BB962C8B-B14F-4D97-AF65-F5344CB8AC3E}">
        <p14:creationId xmlns:p14="http://schemas.microsoft.com/office/powerpoint/2010/main" val="269649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9806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 displaying a NY Times web page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B3A00-B2D9-7443-B666-0ABA7347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34FE7BC9-B7EB-234C-A2F1-449565BB2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242" y="1223204"/>
            <a:ext cx="1797957" cy="129956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87C6769-19C7-7542-8A41-E79CE4A6A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457" y="4524829"/>
            <a:ext cx="1788365" cy="250371"/>
          </a:xfrm>
          <a:prstGeom prst="rect">
            <a:avLst/>
          </a:pr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643CAC7-5EBE-E949-B25F-69531B9E3B7C}"/>
              </a:ext>
            </a:extLst>
          </p:cNvPr>
          <p:cNvGrpSpPr/>
          <p:nvPr/>
        </p:nvGrpSpPr>
        <p:grpSpPr>
          <a:xfrm>
            <a:off x="4051300" y="2946400"/>
            <a:ext cx="965200" cy="1308100"/>
            <a:chOff x="4051300" y="2946400"/>
            <a:chExt cx="965200" cy="1308100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3AA7140A-7962-EE49-94D6-B5A5ACAE10BF}"/>
                </a:ext>
              </a:extLst>
            </p:cNvPr>
            <p:cNvGrpSpPr/>
            <p:nvPr/>
          </p:nvGrpSpPr>
          <p:grpSpPr>
            <a:xfrm>
              <a:off x="4673600" y="2946400"/>
              <a:ext cx="342900" cy="1308100"/>
              <a:chOff x="4673600" y="2946400"/>
              <a:chExt cx="342900" cy="1308100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F60C25F5-95A8-704C-A0DD-192D2CCC9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1400" y="29464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514DA96-3F9B-EC4E-AD35-91569360871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5FF0112-4C26-5140-866E-E14FB9815DFF}"/>
                  </a:ext>
                </a:extLst>
              </p:cNvPr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79D69ED-D400-0548-82FB-0F9E9B31A721}"/>
                </a:ext>
              </a:extLst>
            </p:cNvPr>
            <p:cNvSpPr txBox="1"/>
            <p:nvPr/>
          </p:nvSpPr>
          <p:spPr>
            <a:xfrm>
              <a:off x="4051300" y="3378200"/>
              <a:ext cx="7366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GET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227CDFD-02C6-A542-A68F-FF9F81C66103}"/>
              </a:ext>
            </a:extLst>
          </p:cNvPr>
          <p:cNvGrpSpPr/>
          <p:nvPr/>
        </p:nvGrpSpPr>
        <p:grpSpPr>
          <a:xfrm>
            <a:off x="5143500" y="2959100"/>
            <a:ext cx="990600" cy="1308100"/>
            <a:chOff x="5143500" y="2959100"/>
            <a:chExt cx="990600" cy="130810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AFDCA678-F389-9146-BC39-44292D21247B}"/>
                </a:ext>
              </a:extLst>
            </p:cNvPr>
            <p:cNvGrpSpPr/>
            <p:nvPr/>
          </p:nvGrpSpPr>
          <p:grpSpPr>
            <a:xfrm>
              <a:off x="5143500" y="2959100"/>
              <a:ext cx="342900" cy="1308100"/>
              <a:chOff x="4673600" y="2946400"/>
              <a:chExt cx="342900" cy="1308100"/>
            </a:xfrm>
          </p:grpSpPr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82E7E0D4-DC33-9248-A8C3-006080F0E2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1400" y="29464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254DDAE-1221-CF4A-8A44-FEBA056F68E6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449B0AA-1D8A-5A44-848E-EAA10CB19354}"/>
                  </a:ext>
                </a:extLst>
              </p:cNvPr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7741EFF-00A6-6340-850A-7076A1D9EAD7}"/>
                </a:ext>
              </a:extLst>
            </p:cNvPr>
            <p:cNvSpPr txBox="1"/>
            <p:nvPr/>
          </p:nvSpPr>
          <p:spPr>
            <a:xfrm>
              <a:off x="5397500" y="3403600"/>
              <a:ext cx="7366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reply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DB30830-E833-BB4F-BE11-9C6A3248D779}"/>
              </a:ext>
            </a:extLst>
          </p:cNvPr>
          <p:cNvGrpSpPr/>
          <p:nvPr/>
        </p:nvGrpSpPr>
        <p:grpSpPr>
          <a:xfrm>
            <a:off x="6261100" y="4914900"/>
            <a:ext cx="1854200" cy="369332"/>
            <a:chOff x="3721100" y="3429000"/>
            <a:chExt cx="1854200" cy="369332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01A36013-C952-FA40-9D4F-692A0CBA7E1F}"/>
                </a:ext>
              </a:extLst>
            </p:cNvPr>
            <p:cNvCxnSpPr>
              <a:cxnSpLocks/>
            </p:cNvCxnSpPr>
            <p:nvPr/>
          </p:nvCxnSpPr>
          <p:spPr>
            <a:xfrm>
              <a:off x="3721100" y="3594100"/>
              <a:ext cx="1854200" cy="0"/>
            </a:xfrm>
            <a:prstGeom prst="straightConnector1">
              <a:avLst/>
            </a:prstGeom>
            <a:ln w="25400">
              <a:solidFill>
                <a:srgbClr val="0E01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01E5BD-9906-834C-B644-A5667DC9D522}"/>
                </a:ext>
              </a:extLst>
            </p:cNvPr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410B9D7-F1BD-5040-9B26-0F638462A0F2}"/>
                </a:ext>
              </a:extLst>
            </p:cNvPr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7C0BEEA-E132-6049-AB80-86336EC7D5A7}"/>
              </a:ext>
            </a:extLst>
          </p:cNvPr>
          <p:cNvGrpSpPr/>
          <p:nvPr/>
        </p:nvGrpSpPr>
        <p:grpSpPr>
          <a:xfrm>
            <a:off x="4749800" y="4826000"/>
            <a:ext cx="342900" cy="369332"/>
            <a:chOff x="2857500" y="6540500"/>
            <a:chExt cx="342900" cy="369332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FE78511-B68D-FB48-9212-A7FDBA452403}"/>
                </a:ext>
              </a:extLst>
            </p:cNvPr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EF5F58F-2D7E-3946-8159-8928CB5C3E5F}"/>
                </a:ext>
              </a:extLst>
            </p:cNvPr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8901295-62DF-6B47-BB6C-F82BA23E955E}"/>
              </a:ext>
            </a:extLst>
          </p:cNvPr>
          <p:cNvGrpSpPr/>
          <p:nvPr/>
        </p:nvGrpSpPr>
        <p:grpSpPr>
          <a:xfrm>
            <a:off x="6273800" y="5308600"/>
            <a:ext cx="1841500" cy="369332"/>
            <a:chOff x="3721100" y="3429000"/>
            <a:chExt cx="1841500" cy="369332"/>
          </a:xfrm>
        </p:grpSpPr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C9B3296C-FBC4-B741-B89E-EB3174633A85}"/>
                </a:ext>
              </a:extLst>
            </p:cNvPr>
            <p:cNvCxnSpPr>
              <a:cxnSpLocks/>
            </p:cNvCxnSpPr>
            <p:nvPr/>
          </p:nvCxnSpPr>
          <p:spPr>
            <a:xfrm>
              <a:off x="3721100" y="3594100"/>
              <a:ext cx="1841500" cy="0"/>
            </a:xfrm>
            <a:prstGeom prst="straightConnector1">
              <a:avLst/>
            </a:prstGeom>
            <a:ln w="25400">
              <a:solidFill>
                <a:srgbClr val="0E01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10E41D9-5E75-A74B-AAF9-EDC9051B91C4}"/>
                </a:ext>
              </a:extLst>
            </p:cNvPr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DFFDE29-91FB-A844-BDB5-7CB514C1EC71}"/>
                </a:ext>
              </a:extLst>
            </p:cNvPr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9CF8CDB-DC01-AA47-85F5-A29BE5D0DF9D}"/>
              </a:ext>
            </a:extLst>
          </p:cNvPr>
          <p:cNvGrpSpPr/>
          <p:nvPr/>
        </p:nvGrpSpPr>
        <p:grpSpPr>
          <a:xfrm>
            <a:off x="4775200" y="5207000"/>
            <a:ext cx="342900" cy="369332"/>
            <a:chOff x="2857500" y="6540500"/>
            <a:chExt cx="342900" cy="369332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382ECF7-AB3B-8E4F-8B8F-444D8E649113}"/>
                </a:ext>
              </a:extLst>
            </p:cNvPr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B6967AA-7479-CD4D-9D2D-E2D06F1CC22F}"/>
                </a:ext>
              </a:extLst>
            </p:cNvPr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</p:grpSp>
      <p:pic>
        <p:nvPicPr>
          <p:cNvPr id="167" name="Picture 166">
            <a:extLst>
              <a:ext uri="{FF2B5EF4-FFF2-40B4-BE49-F238E27FC236}">
                <a16:creationId xmlns:a16="http://schemas.microsoft.com/office/drawing/2014/main" id="{8C0658C3-4371-094D-A3A8-111CD786B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500" y="4394023"/>
            <a:ext cx="1790700" cy="1295576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74251AC0-F2E4-0045-A435-0B349688752E}"/>
              </a:ext>
            </a:extLst>
          </p:cNvPr>
          <p:cNvSpPr txBox="1"/>
          <p:nvPr/>
        </p:nvSpPr>
        <p:spPr>
          <a:xfrm>
            <a:off x="1917701" y="5803900"/>
            <a:ext cx="242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 page with embedded ad displayed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B258242-158D-CE45-B466-E1D5CD19A109}"/>
              </a:ext>
            </a:extLst>
          </p:cNvPr>
          <p:cNvGrpSpPr/>
          <p:nvPr/>
        </p:nvGrpSpPr>
        <p:grpSpPr>
          <a:xfrm>
            <a:off x="584200" y="1511300"/>
            <a:ext cx="3403600" cy="830997"/>
            <a:chOff x="584200" y="1511300"/>
            <a:chExt cx="3403600" cy="83099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62B02ED5-379C-594B-BC28-471D84933F65}"/>
                </a:ext>
              </a:extLst>
            </p:cNvPr>
            <p:cNvSpPr txBox="1"/>
            <p:nvPr/>
          </p:nvSpPr>
          <p:spPr>
            <a:xfrm>
              <a:off x="1016000" y="1511300"/>
              <a:ext cx="29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0800" marR="0" lvl="0" indent="-127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base html file from nytimes.com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5B4B18B-B400-C145-96F8-F232E539CFBE}"/>
                </a:ext>
              </a:extLst>
            </p:cNvPr>
            <p:cNvGrpSpPr/>
            <p:nvPr/>
          </p:nvGrpSpPr>
          <p:grpSpPr>
            <a:xfrm>
              <a:off x="584200" y="1574800"/>
              <a:ext cx="304800" cy="369332"/>
              <a:chOff x="8953500" y="1841500"/>
              <a:chExt cx="304800" cy="369332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FB3CE166-4808-6745-BCA9-C4BEEA1218CA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BBFAD08-585E-5240-9260-EE05AAF71ADC}"/>
                  </a:ext>
                </a:extLst>
              </p:cNvPr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DE29A41-C1EE-5540-AF16-842A0469EC63}"/>
                </a:ext>
              </a:extLst>
            </p:cNvPr>
            <p:cNvGrpSpPr/>
            <p:nvPr/>
          </p:nvGrpSpPr>
          <p:grpSpPr>
            <a:xfrm>
              <a:off x="736600" y="1778000"/>
              <a:ext cx="314386" cy="369332"/>
              <a:chOff x="8953500" y="1841500"/>
              <a:chExt cx="314386" cy="369332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65E8865-B055-EF44-8C2B-640FA0F0A4CA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5813BBC-13DC-5443-B040-D71A8262A6BB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7715A16-8CAE-8B4E-A1FC-B57E478E27DD}"/>
              </a:ext>
            </a:extLst>
          </p:cNvPr>
          <p:cNvGrpSpPr/>
          <p:nvPr/>
        </p:nvGrpSpPr>
        <p:grpSpPr>
          <a:xfrm>
            <a:off x="546100" y="2527300"/>
            <a:ext cx="3162300" cy="830997"/>
            <a:chOff x="546100" y="2527300"/>
            <a:chExt cx="3162300" cy="830997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2D93285-0615-7947-8708-3D8B9BB64404}"/>
                </a:ext>
              </a:extLst>
            </p:cNvPr>
            <p:cNvSpPr txBox="1"/>
            <p:nvPr/>
          </p:nvSpPr>
          <p:spPr>
            <a:xfrm>
              <a:off x="1041400" y="2527300"/>
              <a:ext cx="2667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fetch ad from AdX.com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57AE4D44-F02C-2D4E-9145-D2F6EE3A1885}"/>
                </a:ext>
              </a:extLst>
            </p:cNvPr>
            <p:cNvGrpSpPr/>
            <p:nvPr/>
          </p:nvGrpSpPr>
          <p:grpSpPr>
            <a:xfrm>
              <a:off x="546100" y="2590800"/>
              <a:ext cx="304800" cy="369332"/>
              <a:chOff x="8953500" y="1841500"/>
              <a:chExt cx="304800" cy="369332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249EEB0F-5470-0442-888E-F04587FF52B8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726A5B0-8161-1949-BD7E-B8491563A898}"/>
                  </a:ext>
                </a:extLst>
              </p:cNvPr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DCF0D85B-559C-0043-BC0A-4B9CAAD1277C}"/>
                </a:ext>
              </a:extLst>
            </p:cNvPr>
            <p:cNvGrpSpPr/>
            <p:nvPr/>
          </p:nvGrpSpPr>
          <p:grpSpPr>
            <a:xfrm>
              <a:off x="698500" y="2794000"/>
              <a:ext cx="314386" cy="369332"/>
              <a:chOff x="8953500" y="1841500"/>
              <a:chExt cx="314386" cy="369332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29F5351A-FFDA-9C41-B98D-BAEFD8893FAF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9AA70F9-EC45-1640-B9B3-7A5389667E0F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17A1A69-E5FB-634A-980A-BA06E2B4760D}"/>
              </a:ext>
            </a:extLst>
          </p:cNvPr>
          <p:cNvGrpSpPr/>
          <p:nvPr/>
        </p:nvGrpSpPr>
        <p:grpSpPr>
          <a:xfrm>
            <a:off x="635000" y="3556000"/>
            <a:ext cx="3060700" cy="830997"/>
            <a:chOff x="635000" y="3556000"/>
            <a:chExt cx="3060700" cy="830997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BFA112D4-542F-074B-A5A3-B5D63B615FB7}"/>
                </a:ext>
              </a:extLst>
            </p:cNvPr>
            <p:cNvSpPr txBox="1"/>
            <p:nvPr/>
          </p:nvSpPr>
          <p:spPr>
            <a:xfrm>
              <a:off x="1028700" y="3556000"/>
              <a:ext cx="2667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display composed page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77071AEA-F77B-F647-A058-71FC7F56BC9C}"/>
                </a:ext>
              </a:extLst>
            </p:cNvPr>
            <p:cNvGrpSpPr/>
            <p:nvPr/>
          </p:nvGrpSpPr>
          <p:grpSpPr>
            <a:xfrm>
              <a:off x="635000" y="3619500"/>
              <a:ext cx="314386" cy="369332"/>
              <a:chOff x="8953500" y="1841500"/>
              <a:chExt cx="314386" cy="369332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B3F81B8-82F8-EB45-A850-DEA61F4BA53B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791ABF8-1237-F049-99EC-B939206A2685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49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2 -0.01019 L -0.00013 0.460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-0.00093 L -0.26146 0.0053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371 L -0.22657 0.0018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02" y="27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B3A00-B2D9-7443-B666-0ABA7347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2572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 (sports)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7804DB-C2BE-234C-BAF8-001A3C11A353}"/>
              </a:ext>
            </a:extLst>
          </p:cNvPr>
          <p:cNvGrpSpPr/>
          <p:nvPr/>
        </p:nvGrpSpPr>
        <p:grpSpPr>
          <a:xfrm>
            <a:off x="5029200" y="2971800"/>
            <a:ext cx="1866900" cy="1308100"/>
            <a:chOff x="5232400" y="2959100"/>
            <a:chExt cx="1866900" cy="1308100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2E7E0D4-DC33-9248-A8C3-006080F0E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1300" y="2959100"/>
              <a:ext cx="0" cy="1308100"/>
            </a:xfrm>
            <a:prstGeom prst="straightConnector1">
              <a:avLst/>
            </a:prstGeom>
            <a:ln w="25400">
              <a:solidFill>
                <a:srgbClr val="0E01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7C61A80-CE02-B448-B5E3-EBFF6D673BFC}"/>
                </a:ext>
              </a:extLst>
            </p:cNvPr>
            <p:cNvGrpSpPr/>
            <p:nvPr/>
          </p:nvGrpSpPr>
          <p:grpSpPr>
            <a:xfrm>
              <a:off x="5232400" y="3289300"/>
              <a:ext cx="1866900" cy="763946"/>
              <a:chOff x="6464300" y="3225800"/>
              <a:chExt cx="1866900" cy="763946"/>
            </a:xfrm>
          </p:grpSpPr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7741EFF-00A6-6340-850A-7076A1D9EAD7}"/>
                  </a:ext>
                </a:extLst>
              </p:cNvPr>
              <p:cNvSpPr txBox="1"/>
              <p:nvPr/>
            </p:nvSpPr>
            <p:spPr>
              <a:xfrm>
                <a:off x="6540500" y="3225800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20ECA3E-DA6F-244F-AC0C-FD318708283A}"/>
                  </a:ext>
                </a:extLst>
              </p:cNvPr>
              <p:cNvSpPr txBox="1"/>
              <p:nvPr/>
            </p:nvSpPr>
            <p:spPr>
              <a:xfrm>
                <a:off x="6464300" y="3670300"/>
                <a:ext cx="18669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1634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0BBD88-33EF-3947-884A-6B491783249E}"/>
              </a:ext>
            </a:extLst>
          </p:cNvPr>
          <p:cNvGrpSpPr/>
          <p:nvPr/>
        </p:nvGrpSpPr>
        <p:grpSpPr>
          <a:xfrm>
            <a:off x="5829300" y="4457700"/>
            <a:ext cx="2565400" cy="826532"/>
            <a:chOff x="5829300" y="4457700"/>
            <a:chExt cx="2565400" cy="82653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DB30830-E833-BB4F-BE11-9C6A3248D779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01A36013-C952-FA40-9D4F-692A0CBA7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801E5BD-9906-834C-B644-A5667DC9D522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D410B9D7-F1BD-5040-9B26-0F638462A0F2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8CA521F4-EC55-8C40-BE52-D9669FC5CF74}"/>
                </a:ext>
              </a:extLst>
            </p:cNvPr>
            <p:cNvGrpSpPr/>
            <p:nvPr/>
          </p:nvGrpSpPr>
          <p:grpSpPr>
            <a:xfrm>
              <a:off x="5829300" y="4457700"/>
              <a:ext cx="2565400" cy="522848"/>
              <a:chOff x="6667500" y="3098800"/>
              <a:chExt cx="2565400" cy="522848"/>
            </a:xfrm>
          </p:grpSpPr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7BC8A21-6CB2-204F-A591-9C029E2F841E}"/>
                  </a:ext>
                </a:extLst>
              </p:cNvPr>
              <p:cNvSpPr txBox="1"/>
              <p:nvPr/>
            </p:nvSpPr>
            <p:spPr>
              <a:xfrm>
                <a:off x="6667500" y="30988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AD5EFFE-CDD2-424B-B7F3-2CE29BF214C0}"/>
                  </a:ext>
                </a:extLst>
              </p:cNvPr>
              <p:cNvSpPr txBox="1"/>
              <p:nvPr/>
            </p:nvSpPr>
            <p:spPr>
              <a:xfrm>
                <a:off x="6718300" y="33274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NY Times Sports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8A3665-4E7C-D848-BE58-FE2952708C34}"/>
              </a:ext>
            </a:extLst>
          </p:cNvPr>
          <p:cNvGrpSpPr/>
          <p:nvPr/>
        </p:nvGrpSpPr>
        <p:grpSpPr>
          <a:xfrm>
            <a:off x="6032500" y="5308600"/>
            <a:ext cx="2641600" cy="840348"/>
            <a:chOff x="6032500" y="5308600"/>
            <a:chExt cx="2641600" cy="840348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8901295-62DF-6B47-BB6C-F82BA23E955E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C9B3296C-FBC4-B741-B89E-EB3174633A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10E41D9-5E75-A74B-AAF9-EDC9051B91C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DFFDE29-91FB-A844-BDB5-7CB514C1EC71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22DEA1DD-5EEE-1C4E-A637-02C9F65CF6D5}"/>
                </a:ext>
              </a:extLst>
            </p:cNvPr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E94D7BC-7D81-274A-9509-DEE4B740FB74}"/>
                  </a:ext>
                </a:extLst>
              </p:cNvPr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EAA195E-8C8C-1845-9D1B-8381449D13DE}"/>
                  </a:ext>
                </a:extLst>
              </p:cNvPr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308279-3BAC-D944-AE86-6E42E65336C0}"/>
              </a:ext>
            </a:extLst>
          </p:cNvPr>
          <p:cNvGrpSpPr/>
          <p:nvPr/>
        </p:nvGrpSpPr>
        <p:grpSpPr>
          <a:xfrm>
            <a:off x="3771900" y="2946400"/>
            <a:ext cx="1473200" cy="1308100"/>
            <a:chOff x="3771900" y="2946400"/>
            <a:chExt cx="1473200" cy="1308100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60C25F5-95A8-704C-A0DD-192D2CCC9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1400" y="2946400"/>
              <a:ext cx="0" cy="1308100"/>
            </a:xfrm>
            <a:prstGeom prst="straightConnector1">
              <a:avLst/>
            </a:prstGeom>
            <a:ln w="25400">
              <a:solidFill>
                <a:srgbClr val="0E01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8CF91E3-8CC2-014A-9E16-B2CE362C31BA}"/>
                </a:ext>
              </a:extLst>
            </p:cNvPr>
            <p:cNvSpPr txBox="1"/>
            <p:nvPr/>
          </p:nvSpPr>
          <p:spPr>
            <a:xfrm>
              <a:off x="3771900" y="3276600"/>
              <a:ext cx="14732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</a:t>
              </a: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F53035E-3334-0D4F-B133-C4B1561EA164}"/>
              </a:ext>
            </a:extLst>
          </p:cNvPr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B59CE8A-0F27-A146-A4D1-2760DF031A50}"/>
              </a:ext>
            </a:extLst>
          </p:cNvPr>
          <p:cNvGrpSpPr/>
          <p:nvPr/>
        </p:nvGrpSpPr>
        <p:grpSpPr>
          <a:xfrm>
            <a:off x="5670332" y="2112579"/>
            <a:ext cx="5759667" cy="3920359"/>
            <a:chOff x="5670332" y="2112579"/>
            <a:chExt cx="5759667" cy="392035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9DB321-5A1F-8649-9D26-BF0186CA01CF}"/>
                </a:ext>
              </a:extLst>
            </p:cNvPr>
            <p:cNvSpPr txBox="1"/>
            <p:nvPr/>
          </p:nvSpPr>
          <p:spPr>
            <a:xfrm>
              <a:off x="8623738" y="2427890"/>
              <a:ext cx="280626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“first party” cookie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– from website you chose to visit (provides base html file)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F40397-9A27-6B43-8B1F-E2230399C658}"/>
                </a:ext>
              </a:extLst>
            </p:cNvPr>
            <p:cNvCxnSpPr/>
            <p:nvPr/>
          </p:nvCxnSpPr>
          <p:spPr>
            <a:xfrm flipH="1" flipV="1">
              <a:off x="7425559" y="2112579"/>
              <a:ext cx="1213944" cy="45720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5E86D2A-2489-6B42-BA9F-B2D8B9965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332" y="2585545"/>
              <a:ext cx="2969171" cy="3447393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3FE298-29AC-B44F-87D3-1F8763BA5D0F}"/>
              </a:ext>
            </a:extLst>
          </p:cNvPr>
          <p:cNvGrpSpPr/>
          <p:nvPr/>
        </p:nvGrpSpPr>
        <p:grpSpPr>
          <a:xfrm>
            <a:off x="814558" y="5481147"/>
            <a:ext cx="3877874" cy="1015663"/>
            <a:chOff x="9112474" y="3373822"/>
            <a:chExt cx="3877874" cy="1015663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E0A76CD-2A30-FB4B-86F4-85E1E4848582}"/>
                </a:ext>
              </a:extLst>
            </p:cNvPr>
            <p:cNvSpPr txBox="1"/>
            <p:nvPr/>
          </p:nvSpPr>
          <p:spPr>
            <a:xfrm>
              <a:off x="9112474" y="3373822"/>
              <a:ext cx="280626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“third party” cookie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– from website you did </a:t>
              </a:r>
              <a:r>
                <a:rPr kumimoji="0" lang="en-US" sz="2000" b="0" i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choose to visit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41F550D-F42E-F949-B025-A8099E69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4635" y="4198741"/>
              <a:ext cx="2185713" cy="10651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11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4" grpId="0"/>
      <p:bldP spid="122" grpId="0"/>
      <p:bldP spid="17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57">
            <a:extLst>
              <a:ext uri="{FF2B5EF4-FFF2-40B4-BE49-F238E27FC236}">
                <a16:creationId xmlns:a16="http://schemas.microsoft.com/office/drawing/2014/main" id="{80B9D75A-D707-8E43-938E-72AADC7EE81A}"/>
              </a:ext>
            </a:extLst>
          </p:cNvPr>
          <p:cNvGrpSpPr>
            <a:grpSpLocks/>
          </p:cNvGrpSpPr>
          <p:nvPr/>
        </p:nvGrpSpPr>
        <p:grpSpPr bwMode="auto"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7CF0D145-247E-524F-80BB-FAB3C9AA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4" name="Rectangle 59">
              <a:extLst>
                <a:ext uri="{FF2B5EF4-FFF2-40B4-BE49-F238E27FC236}">
                  <a16:creationId xmlns:a16="http://schemas.microsoft.com/office/drawing/2014/main" id="{B069F6D1-4A45-3B45-83E0-57ADBD28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00EF2C13-EA34-614D-8589-6AD24A5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D8BEAA98-B184-5A41-899C-24A3499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7" name="Rectangle 62">
              <a:extLst>
                <a:ext uri="{FF2B5EF4-FFF2-40B4-BE49-F238E27FC236}">
                  <a16:creationId xmlns:a16="http://schemas.microsoft.com/office/drawing/2014/main" id="{A5091CCD-EAEC-3F45-8E3A-3EE1D4BCC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28" name="Group 63">
              <a:extLst>
                <a:ext uri="{FF2B5EF4-FFF2-40B4-BE49-F238E27FC236}">
                  <a16:creationId xmlns:a16="http://schemas.microsoft.com/office/drawing/2014/main" id="{5807BF3F-C3A0-2E46-9ACB-8160305A8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3" name="AutoShape 64">
                <a:extLst>
                  <a:ext uri="{FF2B5EF4-FFF2-40B4-BE49-F238E27FC236}">
                    <a16:creationId xmlns:a16="http://schemas.microsoft.com/office/drawing/2014/main" id="{A7AECF6C-C86B-5C4F-A239-BF49C2E8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AutoShape 65">
                <a:extLst>
                  <a:ext uri="{FF2B5EF4-FFF2-40B4-BE49-F238E27FC236}">
                    <a16:creationId xmlns:a16="http://schemas.microsoft.com/office/drawing/2014/main" id="{F16A2EA0-90C8-114E-8082-17259C94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Rectangle 66">
              <a:extLst>
                <a:ext uri="{FF2B5EF4-FFF2-40B4-BE49-F238E27FC236}">
                  <a16:creationId xmlns:a16="http://schemas.microsoft.com/office/drawing/2014/main" id="{3A8375E6-EC37-1243-97FB-FE0AF320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1" name="Group 67">
              <a:extLst>
                <a:ext uri="{FF2B5EF4-FFF2-40B4-BE49-F238E27FC236}">
                  <a16:creationId xmlns:a16="http://schemas.microsoft.com/office/drawing/2014/main" id="{3ABEBD29-0886-204E-B875-6CE26C33D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" name="AutoShape 68">
                <a:extLst>
                  <a:ext uri="{FF2B5EF4-FFF2-40B4-BE49-F238E27FC236}">
                    <a16:creationId xmlns:a16="http://schemas.microsoft.com/office/drawing/2014/main" id="{49E137F3-A6CC-AE40-9B90-B02C6316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2" name="AutoShape 69">
                <a:extLst>
                  <a:ext uri="{FF2B5EF4-FFF2-40B4-BE49-F238E27FC236}">
                    <a16:creationId xmlns:a16="http://schemas.microsoft.com/office/drawing/2014/main" id="{57B56BCC-B2FD-9048-9DD3-92A3AC5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2" name="Rectangle 70">
              <a:extLst>
                <a:ext uri="{FF2B5EF4-FFF2-40B4-BE49-F238E27FC236}">
                  <a16:creationId xmlns:a16="http://schemas.microsoft.com/office/drawing/2014/main" id="{6B307B68-C234-DF47-81FF-A0D0C80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33" name="Rectangle 71">
              <a:extLst>
                <a:ext uri="{FF2B5EF4-FFF2-40B4-BE49-F238E27FC236}">
                  <a16:creationId xmlns:a16="http://schemas.microsoft.com/office/drawing/2014/main" id="{995FC4AA-8787-974F-8D33-03E16EC5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7" name="Group 72">
              <a:extLst>
                <a:ext uri="{FF2B5EF4-FFF2-40B4-BE49-F238E27FC236}">
                  <a16:creationId xmlns:a16="http://schemas.microsoft.com/office/drawing/2014/main" id="{FA2AF6E2-6548-EF4F-B726-1227D161F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9" name="AutoShape 73">
                <a:extLst>
                  <a:ext uri="{FF2B5EF4-FFF2-40B4-BE49-F238E27FC236}">
                    <a16:creationId xmlns:a16="http://schemas.microsoft.com/office/drawing/2014/main" id="{A85BFF85-1162-694B-985B-D53B39D5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AutoShape 74">
                <a:extLst>
                  <a:ext uri="{FF2B5EF4-FFF2-40B4-BE49-F238E27FC236}">
                    <a16:creationId xmlns:a16="http://schemas.microsoft.com/office/drawing/2014/main" id="{EFC82C29-79A9-B644-916D-7FC0EF52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8" name="Freeform 75">
              <a:extLst>
                <a:ext uri="{FF2B5EF4-FFF2-40B4-BE49-F238E27FC236}">
                  <a16:creationId xmlns:a16="http://schemas.microsoft.com/office/drawing/2014/main" id="{7EC9C461-F150-1240-8D76-558B6B4F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55" name="Group 76">
              <a:extLst>
                <a:ext uri="{FF2B5EF4-FFF2-40B4-BE49-F238E27FC236}">
                  <a16:creationId xmlns:a16="http://schemas.microsoft.com/office/drawing/2014/main" id="{9299AE05-29C3-2844-B1C6-633C7CFF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77">
                <a:extLst>
                  <a:ext uri="{FF2B5EF4-FFF2-40B4-BE49-F238E27FC236}">
                    <a16:creationId xmlns:a16="http://schemas.microsoft.com/office/drawing/2014/main" id="{06802116-4260-EF43-8FD8-6944FEDD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AutoShape 78">
                <a:extLst>
                  <a:ext uri="{FF2B5EF4-FFF2-40B4-BE49-F238E27FC236}">
                    <a16:creationId xmlns:a16="http://schemas.microsoft.com/office/drawing/2014/main" id="{FD196FB8-2008-F14B-94FF-2664A9A9D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6" name="Rectangle 79">
              <a:extLst>
                <a:ext uri="{FF2B5EF4-FFF2-40B4-BE49-F238E27FC236}">
                  <a16:creationId xmlns:a16="http://schemas.microsoft.com/office/drawing/2014/main" id="{8D1AEBDE-093D-AB41-9F4B-6395A4767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57" name="Freeform 80">
              <a:extLst>
                <a:ext uri="{FF2B5EF4-FFF2-40B4-BE49-F238E27FC236}">
                  <a16:creationId xmlns:a16="http://schemas.microsoft.com/office/drawing/2014/main" id="{E3E9A300-9CB6-5642-9423-B3CE2A84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4" name="Freeform 81">
              <a:extLst>
                <a:ext uri="{FF2B5EF4-FFF2-40B4-BE49-F238E27FC236}">
                  <a16:creationId xmlns:a16="http://schemas.microsoft.com/office/drawing/2014/main" id="{61E95673-E276-B54E-8951-E289380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9B9B3D7E-A0A9-8C43-A374-55DA4D19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6" name="Freeform 83">
              <a:extLst>
                <a:ext uri="{FF2B5EF4-FFF2-40B4-BE49-F238E27FC236}">
                  <a16:creationId xmlns:a16="http://schemas.microsoft.com/office/drawing/2014/main" id="{E4ABD20F-89C5-8C46-BFE6-5CA778E2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7" name="AutoShape 84">
              <a:extLst>
                <a:ext uri="{FF2B5EF4-FFF2-40B4-BE49-F238E27FC236}">
                  <a16:creationId xmlns:a16="http://schemas.microsoft.com/office/drawing/2014/main" id="{ADAAC857-3F17-1A4D-BBD3-254BC3957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8" name="AutoShape 85">
              <a:extLst>
                <a:ext uri="{FF2B5EF4-FFF2-40B4-BE49-F238E27FC236}">
                  <a16:creationId xmlns:a16="http://schemas.microsoft.com/office/drawing/2014/main" id="{B0B35955-7679-1946-9BAF-3CF60ECC5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B0EDAF1F-8C77-A745-BA6A-8E3D60BB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6B44C974-5992-7741-85AD-5B948203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427659D8-BEE1-CA4D-A8D9-708F2BB9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BA908D21-224A-454D-AE40-AACCE66A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9C38943-9B5B-C74A-9AF5-967FC5643352}"/>
              </a:ext>
            </a:extLst>
          </p:cNvPr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EDD2B-FC70-7C4A-89B5-9183AE973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79FB72C-0CE6-6F4A-8318-7BBCBAF80D45}"/>
              </a:ext>
            </a:extLst>
          </p:cNvPr>
          <p:cNvGrpSpPr/>
          <p:nvPr/>
        </p:nvGrpSpPr>
        <p:grpSpPr>
          <a:xfrm>
            <a:off x="2655782" y="3088525"/>
            <a:ext cx="1853925" cy="1453555"/>
            <a:chOff x="2655782" y="3088525"/>
            <a:chExt cx="1853925" cy="1453555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0737EF3-88DE-B24C-8B06-2EC1A067E461}"/>
                </a:ext>
              </a:extLst>
            </p:cNvPr>
            <p:cNvGrpSpPr/>
            <p:nvPr/>
          </p:nvGrpSpPr>
          <p:grpSpPr>
            <a:xfrm rot="18353253">
              <a:off x="2896693" y="3474816"/>
              <a:ext cx="826353" cy="1308176"/>
              <a:chOff x="4220856" y="2946324"/>
              <a:chExt cx="826353" cy="1308176"/>
            </a:xfrm>
          </p:grpSpPr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FA1C25C4-6393-2D45-A39C-53270B6CDDB6}"/>
                  </a:ext>
                </a:extLst>
              </p:cNvPr>
              <p:cNvGrpSpPr/>
              <p:nvPr/>
            </p:nvGrpSpPr>
            <p:grpSpPr>
              <a:xfrm>
                <a:off x="4673600" y="2946400"/>
                <a:ext cx="373609" cy="1308100"/>
                <a:chOff x="4673600" y="2946400"/>
                <a:chExt cx="373609" cy="1308100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12DCD062-8181-A647-955D-683D45502F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3E4A219F-A0E7-8645-8484-086EBA3A6E59}"/>
                    </a:ext>
                  </a:extLst>
                </p:cNvPr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E01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8E738B55-E22B-3A43-A564-F6EA3FC17C98}"/>
                    </a:ext>
                  </a:extLst>
                </p:cNvPr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E9006DF-11BD-C547-A32C-1F00EC824547}"/>
                  </a:ext>
                </a:extLst>
              </p:cNvPr>
              <p:cNvSpPr txBox="1"/>
              <p:nvPr/>
            </p:nvSpPr>
            <p:spPr>
              <a:xfrm rot="3246747">
                <a:off x="4123079" y="3044101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407DB6C2-0CEA-3648-B1B6-77CE57048243}"/>
                </a:ext>
              </a:extLst>
            </p:cNvPr>
            <p:cNvGrpSpPr/>
            <p:nvPr/>
          </p:nvGrpSpPr>
          <p:grpSpPr>
            <a:xfrm rot="18353253">
              <a:off x="3477459" y="2812673"/>
              <a:ext cx="756395" cy="1308100"/>
              <a:chOff x="5143500" y="2959100"/>
              <a:chExt cx="756395" cy="1308100"/>
            </a:xfrm>
          </p:grpSpPr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54115DA7-DE3B-4447-845E-235ACC3FAAAA}"/>
                  </a:ext>
                </a:extLst>
              </p:cNvPr>
              <p:cNvGrpSpPr/>
              <p:nvPr/>
            </p:nvGrpSpPr>
            <p:grpSpPr>
              <a:xfrm>
                <a:off x="5143500" y="2959100"/>
                <a:ext cx="373609" cy="1308100"/>
                <a:chOff x="4673600" y="2946400"/>
                <a:chExt cx="373609" cy="1308100"/>
              </a:xfrm>
            </p:grpSpPr>
            <p:cxnSp>
              <p:nvCxnSpPr>
                <p:cNvPr id="202" name="Straight Arrow Connector 201">
                  <a:extLst>
                    <a:ext uri="{FF2B5EF4-FFF2-40B4-BE49-F238E27FC236}">
                      <a16:creationId xmlns:a16="http://schemas.microsoft.com/office/drawing/2014/main" id="{F9E6592C-CDC7-B141-8823-F0A2C3118C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0DE26BA7-BAE1-8A4D-B468-465A4FCB9C96}"/>
                    </a:ext>
                  </a:extLst>
                </p:cNvPr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E01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694AEC2-DCB9-F84B-AD91-BF0427B65907}"/>
                    </a:ext>
                  </a:extLst>
                </p:cNvPr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DED2786-F044-3447-B63A-D53A273462BC}"/>
                  </a:ext>
                </a:extLst>
              </p:cNvPr>
              <p:cNvSpPr txBox="1"/>
              <p:nvPr/>
            </p:nvSpPr>
            <p:spPr>
              <a:xfrm rot="3077103">
                <a:off x="5261072" y="3063392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54A1081-6C53-E145-BDD1-3FA5A22FACF9}"/>
              </a:ext>
            </a:extLst>
          </p:cNvPr>
          <p:cNvGrpSpPr/>
          <p:nvPr/>
        </p:nvGrpSpPr>
        <p:grpSpPr>
          <a:xfrm>
            <a:off x="5130800" y="4368800"/>
            <a:ext cx="3136900" cy="890032"/>
            <a:chOff x="5461000" y="4394200"/>
            <a:chExt cx="3136900" cy="890032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E0A9E9E-A06F-CB45-B0B3-17C467D78C53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3F23167E-A119-EC4E-B146-6F516A808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4353B75-74F1-0C48-B057-0887FAA78A7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D88345D-2B6C-F447-AAFA-9A1065757E2F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BFC66-485F-2147-A211-2CAC1D00C204}"/>
                </a:ext>
              </a:extLst>
            </p:cNvPr>
            <p:cNvGrpSpPr/>
            <p:nvPr/>
          </p:nvGrpSpPr>
          <p:grpSpPr>
            <a:xfrm>
              <a:off x="5461000" y="4394200"/>
              <a:ext cx="3136900" cy="535548"/>
              <a:chOff x="6299200" y="3035300"/>
              <a:chExt cx="3136900" cy="535548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D133E31-40C7-874C-B037-5CF94EEA15C1}"/>
                  </a:ext>
                </a:extLst>
              </p:cNvPr>
              <p:cNvSpPr txBox="1"/>
              <p:nvPr/>
            </p:nvSpPr>
            <p:spPr>
              <a:xfrm>
                <a:off x="6299200" y="30353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CBB6DD5-8489-9846-AEE8-A4EFC46C4CF0}"/>
                  </a:ext>
                </a:extLst>
              </p:cNvPr>
              <p:cNvSpPr txBox="1"/>
              <p:nvPr/>
            </p:nvSpPr>
            <p:spPr>
              <a:xfrm>
                <a:off x="6413500" y="3276600"/>
                <a:ext cx="3022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socks.com, cookie: 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2A26446-4AA7-B74D-AACE-7134BEC552EB}"/>
              </a:ext>
            </a:extLst>
          </p:cNvPr>
          <p:cNvGrpSpPr/>
          <p:nvPr/>
        </p:nvGrpSpPr>
        <p:grpSpPr>
          <a:xfrm>
            <a:off x="5651500" y="5346700"/>
            <a:ext cx="2641600" cy="840348"/>
            <a:chOff x="6032500" y="5308600"/>
            <a:chExt cx="2641600" cy="840348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9498B2A-276E-DC44-BBE4-90FD27C63891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AEE3B8A3-63AD-A948-AAE1-A57FF9C5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4E74045F-FC9E-C748-9CF5-2D715A8ECF5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B50E822-27A5-7D49-BF52-0C0C70B85C66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04A4CDB-638B-244C-BB86-A5BEFC684334}"/>
                </a:ext>
              </a:extLst>
            </p:cNvPr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ADF513-A7C3-0143-9B0C-2D1C1BD238A3}"/>
                  </a:ext>
                </a:extLst>
              </p:cNvPr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A2FC18F-0291-6D46-A3C7-EB72BDA4044F}"/>
                  </a:ext>
                </a:extLst>
              </p:cNvPr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DE7219FE-2D26-9D42-AE4E-0D7F7B3AF5E9}"/>
              </a:ext>
            </a:extLst>
          </p:cNvPr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socks.com, 2/16/22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17062-774D-454B-8E37-CAF7A9BA9A3F}"/>
              </a:ext>
            </a:extLst>
          </p:cNvPr>
          <p:cNvSpPr/>
          <p:nvPr/>
        </p:nvSpPr>
        <p:spPr>
          <a:xfrm>
            <a:off x="4216838" y="1104901"/>
            <a:ext cx="4737100" cy="1828800"/>
          </a:xfrm>
          <a:prstGeom prst="rect">
            <a:avLst/>
          </a:prstGeom>
          <a:solidFill>
            <a:schemeClr val="bg1">
              <a:alpha val="6708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6CAEE-15FB-EE40-8BF7-814EA1DACBFC}"/>
              </a:ext>
            </a:extLst>
          </p:cNvPr>
          <p:cNvSpPr txBox="1"/>
          <p:nvPr/>
        </p:nvSpPr>
        <p:spPr>
          <a:xfrm>
            <a:off x="7973060" y="2425700"/>
            <a:ext cx="38862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</a:t>
            </a:r>
          </a:p>
          <a:p>
            <a:pPr marL="2857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tracks my web browsing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 sites with AdX ads</a:t>
            </a:r>
          </a:p>
          <a:p>
            <a:pPr marL="2857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return targeted ads based on browsing history</a:t>
            </a:r>
          </a:p>
        </p:txBody>
      </p:sp>
    </p:spTree>
    <p:extLst>
      <p:ext uri="{BB962C8B-B14F-4D97-AF65-F5344CB8AC3E}">
        <p14:creationId xmlns:p14="http://schemas.microsoft.com/office/powerpoint/2010/main" val="43884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110684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(one day later)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2349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 (arts)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57">
            <a:extLst>
              <a:ext uri="{FF2B5EF4-FFF2-40B4-BE49-F238E27FC236}">
                <a16:creationId xmlns:a16="http://schemas.microsoft.com/office/drawing/2014/main" id="{80B9D75A-D707-8E43-938E-72AADC7EE81A}"/>
              </a:ext>
            </a:extLst>
          </p:cNvPr>
          <p:cNvGrpSpPr>
            <a:grpSpLocks/>
          </p:cNvGrpSpPr>
          <p:nvPr/>
        </p:nvGrpSpPr>
        <p:grpSpPr bwMode="auto"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7CF0D145-247E-524F-80BB-FAB3C9AA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4" name="Rectangle 59">
              <a:extLst>
                <a:ext uri="{FF2B5EF4-FFF2-40B4-BE49-F238E27FC236}">
                  <a16:creationId xmlns:a16="http://schemas.microsoft.com/office/drawing/2014/main" id="{B069F6D1-4A45-3B45-83E0-57ADBD28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00EF2C13-EA34-614D-8589-6AD24A5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D8BEAA98-B184-5A41-899C-24A3499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7" name="Rectangle 62">
              <a:extLst>
                <a:ext uri="{FF2B5EF4-FFF2-40B4-BE49-F238E27FC236}">
                  <a16:creationId xmlns:a16="http://schemas.microsoft.com/office/drawing/2014/main" id="{A5091CCD-EAEC-3F45-8E3A-3EE1D4BCC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28" name="Group 63">
              <a:extLst>
                <a:ext uri="{FF2B5EF4-FFF2-40B4-BE49-F238E27FC236}">
                  <a16:creationId xmlns:a16="http://schemas.microsoft.com/office/drawing/2014/main" id="{5807BF3F-C3A0-2E46-9ACB-8160305A8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3" name="AutoShape 64">
                <a:extLst>
                  <a:ext uri="{FF2B5EF4-FFF2-40B4-BE49-F238E27FC236}">
                    <a16:creationId xmlns:a16="http://schemas.microsoft.com/office/drawing/2014/main" id="{A7AECF6C-C86B-5C4F-A239-BF49C2E8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AutoShape 65">
                <a:extLst>
                  <a:ext uri="{FF2B5EF4-FFF2-40B4-BE49-F238E27FC236}">
                    <a16:creationId xmlns:a16="http://schemas.microsoft.com/office/drawing/2014/main" id="{F16A2EA0-90C8-114E-8082-17259C94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Rectangle 66">
              <a:extLst>
                <a:ext uri="{FF2B5EF4-FFF2-40B4-BE49-F238E27FC236}">
                  <a16:creationId xmlns:a16="http://schemas.microsoft.com/office/drawing/2014/main" id="{3A8375E6-EC37-1243-97FB-FE0AF320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1" name="Group 67">
              <a:extLst>
                <a:ext uri="{FF2B5EF4-FFF2-40B4-BE49-F238E27FC236}">
                  <a16:creationId xmlns:a16="http://schemas.microsoft.com/office/drawing/2014/main" id="{3ABEBD29-0886-204E-B875-6CE26C33D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" name="AutoShape 68">
                <a:extLst>
                  <a:ext uri="{FF2B5EF4-FFF2-40B4-BE49-F238E27FC236}">
                    <a16:creationId xmlns:a16="http://schemas.microsoft.com/office/drawing/2014/main" id="{49E137F3-A6CC-AE40-9B90-B02C6316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2" name="AutoShape 69">
                <a:extLst>
                  <a:ext uri="{FF2B5EF4-FFF2-40B4-BE49-F238E27FC236}">
                    <a16:creationId xmlns:a16="http://schemas.microsoft.com/office/drawing/2014/main" id="{57B56BCC-B2FD-9048-9DD3-92A3AC5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2" name="Rectangle 70">
              <a:extLst>
                <a:ext uri="{FF2B5EF4-FFF2-40B4-BE49-F238E27FC236}">
                  <a16:creationId xmlns:a16="http://schemas.microsoft.com/office/drawing/2014/main" id="{6B307B68-C234-DF47-81FF-A0D0C80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33" name="Rectangle 71">
              <a:extLst>
                <a:ext uri="{FF2B5EF4-FFF2-40B4-BE49-F238E27FC236}">
                  <a16:creationId xmlns:a16="http://schemas.microsoft.com/office/drawing/2014/main" id="{995FC4AA-8787-974F-8D33-03E16EC5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7" name="Group 72">
              <a:extLst>
                <a:ext uri="{FF2B5EF4-FFF2-40B4-BE49-F238E27FC236}">
                  <a16:creationId xmlns:a16="http://schemas.microsoft.com/office/drawing/2014/main" id="{FA2AF6E2-6548-EF4F-B726-1227D161F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9" name="AutoShape 73">
                <a:extLst>
                  <a:ext uri="{FF2B5EF4-FFF2-40B4-BE49-F238E27FC236}">
                    <a16:creationId xmlns:a16="http://schemas.microsoft.com/office/drawing/2014/main" id="{A85BFF85-1162-694B-985B-D53B39D5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AutoShape 74">
                <a:extLst>
                  <a:ext uri="{FF2B5EF4-FFF2-40B4-BE49-F238E27FC236}">
                    <a16:creationId xmlns:a16="http://schemas.microsoft.com/office/drawing/2014/main" id="{EFC82C29-79A9-B644-916D-7FC0EF52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8" name="Freeform 75">
              <a:extLst>
                <a:ext uri="{FF2B5EF4-FFF2-40B4-BE49-F238E27FC236}">
                  <a16:creationId xmlns:a16="http://schemas.microsoft.com/office/drawing/2014/main" id="{7EC9C461-F150-1240-8D76-558B6B4F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55" name="Group 76">
              <a:extLst>
                <a:ext uri="{FF2B5EF4-FFF2-40B4-BE49-F238E27FC236}">
                  <a16:creationId xmlns:a16="http://schemas.microsoft.com/office/drawing/2014/main" id="{9299AE05-29C3-2844-B1C6-633C7CFF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77">
                <a:extLst>
                  <a:ext uri="{FF2B5EF4-FFF2-40B4-BE49-F238E27FC236}">
                    <a16:creationId xmlns:a16="http://schemas.microsoft.com/office/drawing/2014/main" id="{06802116-4260-EF43-8FD8-6944FEDD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AutoShape 78">
                <a:extLst>
                  <a:ext uri="{FF2B5EF4-FFF2-40B4-BE49-F238E27FC236}">
                    <a16:creationId xmlns:a16="http://schemas.microsoft.com/office/drawing/2014/main" id="{FD196FB8-2008-F14B-94FF-2664A9A9D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6" name="Rectangle 79">
              <a:extLst>
                <a:ext uri="{FF2B5EF4-FFF2-40B4-BE49-F238E27FC236}">
                  <a16:creationId xmlns:a16="http://schemas.microsoft.com/office/drawing/2014/main" id="{8D1AEBDE-093D-AB41-9F4B-6395A4767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57" name="Freeform 80">
              <a:extLst>
                <a:ext uri="{FF2B5EF4-FFF2-40B4-BE49-F238E27FC236}">
                  <a16:creationId xmlns:a16="http://schemas.microsoft.com/office/drawing/2014/main" id="{E3E9A300-9CB6-5642-9423-B3CE2A84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4" name="Freeform 81">
              <a:extLst>
                <a:ext uri="{FF2B5EF4-FFF2-40B4-BE49-F238E27FC236}">
                  <a16:creationId xmlns:a16="http://schemas.microsoft.com/office/drawing/2014/main" id="{61E95673-E276-B54E-8951-E289380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9B9B3D7E-A0A9-8C43-A374-55DA4D19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6" name="Freeform 83">
              <a:extLst>
                <a:ext uri="{FF2B5EF4-FFF2-40B4-BE49-F238E27FC236}">
                  <a16:creationId xmlns:a16="http://schemas.microsoft.com/office/drawing/2014/main" id="{E4ABD20F-89C5-8C46-BFE6-5CA778E2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7" name="AutoShape 84">
              <a:extLst>
                <a:ext uri="{FF2B5EF4-FFF2-40B4-BE49-F238E27FC236}">
                  <a16:creationId xmlns:a16="http://schemas.microsoft.com/office/drawing/2014/main" id="{ADAAC857-3F17-1A4D-BBD3-254BC3957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8" name="AutoShape 85">
              <a:extLst>
                <a:ext uri="{FF2B5EF4-FFF2-40B4-BE49-F238E27FC236}">
                  <a16:creationId xmlns:a16="http://schemas.microsoft.com/office/drawing/2014/main" id="{B0B35955-7679-1946-9BAF-3CF60ECC5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B0EDAF1F-8C77-A745-BA6A-8E3D60BB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6B44C974-5992-7741-85AD-5B948203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427659D8-BEE1-CA4D-A8D9-708F2BB9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BA908D21-224A-454D-AE40-AACCE66A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9C38943-9B5B-C74A-9AF5-967FC5643352}"/>
              </a:ext>
            </a:extLst>
          </p:cNvPr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EDD2B-FC70-7C4A-89B5-9183AE973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</p:spPr>
      </p:pic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54A1081-6C53-E145-BDD1-3FA5A22FACF9}"/>
              </a:ext>
            </a:extLst>
          </p:cNvPr>
          <p:cNvGrpSpPr/>
          <p:nvPr/>
        </p:nvGrpSpPr>
        <p:grpSpPr>
          <a:xfrm>
            <a:off x="4978400" y="4381500"/>
            <a:ext cx="3536404" cy="877332"/>
            <a:chOff x="5308600" y="4406900"/>
            <a:chExt cx="3536404" cy="877332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E0A9E9E-A06F-CB45-B0B3-17C467D78C53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3F23167E-A119-EC4E-B146-6F516A808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4353B75-74F1-0C48-B057-0887FAA78A7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D88345D-2B6C-F447-AAFA-9A1065757E2F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BFC66-485F-2147-A211-2CAC1D00C204}"/>
                </a:ext>
              </a:extLst>
            </p:cNvPr>
            <p:cNvGrpSpPr/>
            <p:nvPr/>
          </p:nvGrpSpPr>
          <p:grpSpPr>
            <a:xfrm>
              <a:off x="5308600" y="4406900"/>
              <a:ext cx="3536404" cy="548045"/>
              <a:chOff x="6146800" y="3048000"/>
              <a:chExt cx="3536404" cy="548045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D133E31-40C7-874C-B037-5CF94EEA15C1}"/>
                  </a:ext>
                </a:extLst>
              </p:cNvPr>
              <p:cNvSpPr txBox="1"/>
              <p:nvPr/>
            </p:nvSpPr>
            <p:spPr>
              <a:xfrm>
                <a:off x="6146800" y="30480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CBB6DD5-8489-9846-AEE8-A4EFC46C4CF0}"/>
                  </a:ext>
                </a:extLst>
              </p:cNvPr>
              <p:cNvSpPr txBox="1"/>
              <p:nvPr/>
            </p:nvSpPr>
            <p:spPr>
              <a:xfrm>
                <a:off x="6273800" y="3276599"/>
                <a:ext cx="3409404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nytimes.com,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2A26446-4AA7-B74D-AACE-7134BEC552EB}"/>
              </a:ext>
            </a:extLst>
          </p:cNvPr>
          <p:cNvGrpSpPr/>
          <p:nvPr/>
        </p:nvGrpSpPr>
        <p:grpSpPr>
          <a:xfrm>
            <a:off x="5626100" y="5346700"/>
            <a:ext cx="2641600" cy="865546"/>
            <a:chOff x="6007100" y="5308600"/>
            <a:chExt cx="2641600" cy="86554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9498B2A-276E-DC44-BBE4-90FD27C63891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AEE3B8A3-63AD-A948-AAE1-A57FF9C5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4E74045F-FC9E-C748-9CF5-2D715A8ECF5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B50E822-27A5-7D49-BF52-0C0C70B85C66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04A4CDB-638B-244C-BB86-A5BEFC684334}"/>
                </a:ext>
              </a:extLst>
            </p:cNvPr>
            <p:cNvGrpSpPr/>
            <p:nvPr/>
          </p:nvGrpSpPr>
          <p:grpSpPr>
            <a:xfrm>
              <a:off x="6007100" y="5600700"/>
              <a:ext cx="2641600" cy="573446"/>
              <a:chOff x="6654800" y="3187700"/>
              <a:chExt cx="2641600" cy="573446"/>
            </a:xfrm>
          </p:grpSpPr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ADF513-A7C3-0143-9B0C-2D1C1BD238A3}"/>
                  </a:ext>
                </a:extLst>
              </p:cNvPr>
              <p:cNvSpPr txBox="1"/>
              <p:nvPr/>
            </p:nvSpPr>
            <p:spPr>
              <a:xfrm>
                <a:off x="66548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A2FC18F-0291-6D46-A3C7-EB72BDA4044F}"/>
                  </a:ext>
                </a:extLst>
              </p:cNvPr>
              <p:cNvSpPr txBox="1"/>
              <p:nvPr/>
            </p:nvSpPr>
            <p:spPr>
              <a:xfrm>
                <a:off x="6781800" y="3441700"/>
                <a:ext cx="25146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DE7219FE-2D26-9D42-AE4E-0D7F7B3AF5E9}"/>
              </a:ext>
            </a:extLst>
          </p:cNvPr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socks.com, 2/16/22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17062-774D-454B-8E37-CAF7A9BA9A3F}"/>
              </a:ext>
            </a:extLst>
          </p:cNvPr>
          <p:cNvSpPr/>
          <p:nvPr/>
        </p:nvSpPr>
        <p:spPr>
          <a:xfrm>
            <a:off x="152400" y="1257300"/>
            <a:ext cx="3035300" cy="2273300"/>
          </a:xfrm>
          <a:prstGeom prst="rect">
            <a:avLst/>
          </a:prstGeom>
          <a:solidFill>
            <a:schemeClr val="bg1">
              <a:alpha val="6708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3E8AE-1256-8543-903F-14016A3284D0}"/>
              </a:ext>
            </a:extLst>
          </p:cNvPr>
          <p:cNvSpPr/>
          <p:nvPr/>
        </p:nvSpPr>
        <p:spPr>
          <a:xfrm>
            <a:off x="5041900" y="1663700"/>
            <a:ext cx="1676400" cy="825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C1C141-45F3-B748-A65C-DC6615D1E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900" y="1705046"/>
            <a:ext cx="1447800" cy="77707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EFDBB5A-1D49-7740-BFA3-76D3B419C8FA}"/>
              </a:ext>
            </a:extLst>
          </p:cNvPr>
          <p:cNvGrpSpPr/>
          <p:nvPr/>
        </p:nvGrpSpPr>
        <p:grpSpPr>
          <a:xfrm>
            <a:off x="2946400" y="2946400"/>
            <a:ext cx="3797300" cy="1333500"/>
            <a:chOff x="2946400" y="2946400"/>
            <a:chExt cx="3797300" cy="1333500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8EEB57-D796-A44F-AABC-98D2692E45FA}"/>
                </a:ext>
              </a:extLst>
            </p:cNvPr>
            <p:cNvSpPr txBox="1"/>
            <p:nvPr/>
          </p:nvSpPr>
          <p:spPr>
            <a:xfrm>
              <a:off x="2946400" y="3733800"/>
              <a:ext cx="186690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cookie: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1634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F4D187-FD30-4243-9DC3-FEED945AA79A}"/>
                </a:ext>
              </a:extLst>
            </p:cNvPr>
            <p:cNvGrpSpPr/>
            <p:nvPr/>
          </p:nvGrpSpPr>
          <p:grpSpPr>
            <a:xfrm>
              <a:off x="3771900" y="2946400"/>
              <a:ext cx="2971800" cy="1333500"/>
              <a:chOff x="3771900" y="2946400"/>
              <a:chExt cx="2971800" cy="1333500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B1744345-32CD-D945-8799-A1B7A26C0F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18100" y="29718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55889BE-7365-4243-803E-53D3F804C2DC}"/>
                  </a:ext>
                </a:extLst>
              </p:cNvPr>
              <p:cNvSpPr txBox="1"/>
              <p:nvPr/>
            </p:nvSpPr>
            <p:spPr>
              <a:xfrm>
                <a:off x="5105400" y="3302000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CEF64886-9C2F-0540-8430-13E580BAFE5B}"/>
                  </a:ext>
                </a:extLst>
              </p:cNvPr>
              <p:cNvGrpSpPr/>
              <p:nvPr/>
            </p:nvGrpSpPr>
            <p:grpSpPr>
              <a:xfrm>
                <a:off x="3771900" y="2946400"/>
                <a:ext cx="1473200" cy="1308100"/>
                <a:chOff x="3771900" y="2946400"/>
                <a:chExt cx="1473200" cy="1308100"/>
              </a:xfrm>
            </p:grpSpPr>
            <p:cxnSp>
              <p:nvCxnSpPr>
                <p:cNvPr id="188" name="Straight Arrow Connector 187">
                  <a:extLst>
                    <a:ext uri="{FF2B5EF4-FFF2-40B4-BE49-F238E27FC236}">
                      <a16:creationId xmlns:a16="http://schemas.microsoft.com/office/drawing/2014/main" id="{1584FBF9-445E-9940-944C-DEF9B15F5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200226F-2290-A54B-916F-CB43D1EF79D6}"/>
                    </a:ext>
                  </a:extLst>
                </p:cNvPr>
                <p:cNvSpPr txBox="1"/>
                <p:nvPr/>
              </p:nvSpPr>
              <p:spPr>
                <a:xfrm>
                  <a:off x="3771900" y="3276600"/>
                  <a:ext cx="1473200" cy="5410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HTTP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GET</a:t>
                  </a:r>
                </a:p>
              </p:txBody>
            </p:sp>
          </p:grp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53EEF58-8AF1-E74B-834B-1AE029DD3520}"/>
                  </a:ext>
                </a:extLst>
              </p:cNvPr>
              <p:cNvSpPr txBox="1"/>
              <p:nvPr/>
            </p:nvSpPr>
            <p:spPr>
              <a:xfrm>
                <a:off x="4876800" y="3746500"/>
                <a:ext cx="18669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1634</a:t>
                </a:r>
              </a:p>
            </p:txBody>
          </p:sp>
        </p:grpSp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2DA4981F-F39B-3A49-A46E-25D2EC80F748}"/>
              </a:ext>
            </a:extLst>
          </p:cNvPr>
          <p:cNvSpPr txBox="1"/>
          <p:nvPr/>
        </p:nvSpPr>
        <p:spPr>
          <a:xfrm>
            <a:off x="7010400" y="2019300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arts, 2/17/22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E2282F4-4356-234C-94F2-286B1CE1E2A1}"/>
              </a:ext>
            </a:extLst>
          </p:cNvPr>
          <p:cNvSpPr txBox="1"/>
          <p:nvPr/>
        </p:nvSpPr>
        <p:spPr>
          <a:xfrm>
            <a:off x="9251409" y="5626100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arts, 2/15/22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C850B-40A2-CC4E-92FB-CE11DA696EF3}"/>
              </a:ext>
            </a:extLst>
          </p:cNvPr>
          <p:cNvSpPr txBox="1"/>
          <p:nvPr/>
        </p:nvSpPr>
        <p:spPr>
          <a:xfrm>
            <a:off x="5753100" y="6108700"/>
            <a:ext cx="2269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Returned ad for socks!</a:t>
            </a:r>
          </a:p>
        </p:txBody>
      </p:sp>
    </p:spTree>
    <p:extLst>
      <p:ext uri="{BB962C8B-B14F-4D97-AF65-F5344CB8AC3E}">
        <p14:creationId xmlns:p14="http://schemas.microsoft.com/office/powerpoint/2010/main" val="395101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222" grpId="0"/>
      <p:bldP spid="2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10790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Cookies can be used to: 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 user behavior on a given website (</a:t>
            </a:r>
            <a:r>
              <a:rPr lang="en-US" dirty="0">
                <a:solidFill>
                  <a:srgbClr val="C00000"/>
                </a:solidFill>
              </a:rPr>
              <a:t>first party cookies</a:t>
            </a:r>
            <a:r>
              <a:rPr lang="en-US" dirty="0"/>
              <a:t>)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 user behavior across multiple websites (</a:t>
            </a:r>
            <a:r>
              <a:rPr lang="en-US" dirty="0">
                <a:solidFill>
                  <a:srgbClr val="C00000"/>
                </a:solidFill>
              </a:rPr>
              <a:t>third party cookies</a:t>
            </a:r>
            <a:r>
              <a:rPr lang="en-US" dirty="0"/>
              <a:t>) without user ever choosing to visit tracker site (!)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tracking may be </a:t>
            </a:r>
            <a:r>
              <a:rPr lang="en-US" i="1" dirty="0"/>
              <a:t>invisible</a:t>
            </a:r>
            <a:r>
              <a:rPr lang="en-US" dirty="0"/>
              <a:t> to user:</a:t>
            </a:r>
          </a:p>
          <a:p>
            <a:pPr marL="860425" lvl="1" indent="-168275">
              <a:buClr>
                <a:srgbClr val="0A14A3"/>
              </a:buClr>
            </a:pPr>
            <a:r>
              <a:rPr lang="en-US" dirty="0"/>
              <a:t>rather than displayed ad triggering HTTP GET to tracker, could be an invisible link</a:t>
            </a:r>
          </a:p>
          <a:p>
            <a:pPr marL="920750" lvl="1" indent="-227013">
              <a:buClr>
                <a:srgbClr val="0A14A3"/>
              </a:buClr>
              <a:buFont typeface="Wingdings" pitchFamily="2" charset="2"/>
              <a:buChar char="§"/>
            </a:pPr>
            <a:endParaRPr lang="en-US" dirty="0"/>
          </a:p>
          <a:p>
            <a:pPr marL="236537" indent="0">
              <a:buClr>
                <a:srgbClr val="0A14A3"/>
              </a:buClr>
              <a:buNone/>
            </a:pPr>
            <a:r>
              <a:rPr lang="en-US" dirty="0"/>
              <a:t>third party tracking via cookies:</a:t>
            </a:r>
          </a:p>
          <a:p>
            <a:pPr marL="692150" indent="-3413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disabled by default in Firefox, Safari browsers</a:t>
            </a:r>
          </a:p>
          <a:p>
            <a:pPr marL="692150" indent="-3413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to be disabled in Chrome browser in 2023</a:t>
            </a:r>
          </a:p>
        </p:txBody>
      </p:sp>
    </p:spTree>
    <p:extLst>
      <p:ext uri="{BB962C8B-B14F-4D97-AF65-F5344CB8AC3E}">
        <p14:creationId xmlns:p14="http://schemas.microsoft.com/office/powerpoint/2010/main" val="41158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Computer Networking: A Top-Down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Chapter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TCP/IP Protocol Suite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Chapter 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9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97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18357</TotalTime>
  <Words>3634</Words>
  <Application>Microsoft Office PowerPoint</Application>
  <PresentationFormat>Widescreen</PresentationFormat>
  <Paragraphs>871</Paragraphs>
  <Slides>58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58</vt:i4>
      </vt:variant>
    </vt:vector>
  </HeadingPairs>
  <TitlesOfParts>
    <vt:vector size="73" baseType="lpstr">
      <vt:lpstr>MS PGothic</vt:lpstr>
      <vt:lpstr>MS PGothic</vt:lpstr>
      <vt:lpstr>Arial</vt:lpstr>
      <vt:lpstr>Calibri</vt:lpstr>
      <vt:lpstr>Calibri Light</vt:lpstr>
      <vt:lpstr>Comic Sans MS</vt:lpstr>
      <vt:lpstr>Courier New</vt:lpstr>
      <vt:lpstr>Gill Sans MT</vt:lpstr>
      <vt:lpstr>Tahoma</vt:lpstr>
      <vt:lpstr>Times New Roman</vt:lpstr>
      <vt:lpstr>Wingdings</vt:lpstr>
      <vt:lpstr>ZapfDingbats</vt:lpstr>
      <vt:lpstr>Office Theme</vt:lpstr>
      <vt:lpstr>1_Office Theme</vt:lpstr>
      <vt:lpstr>3_Office Theme</vt:lpstr>
      <vt:lpstr>PowerPoint Presentation</vt:lpstr>
      <vt:lpstr>Application layer: overview</vt:lpstr>
      <vt:lpstr>Some network apps</vt:lpstr>
      <vt:lpstr>Application layer</vt:lpstr>
      <vt:lpstr>Internet applications</vt:lpstr>
      <vt:lpstr>Application layer</vt:lpstr>
      <vt:lpstr>Creating a network app</vt:lpstr>
      <vt:lpstr>Application Architecture</vt:lpstr>
      <vt:lpstr>Client-server architecture</vt:lpstr>
      <vt:lpstr>Peer-peer architecture</vt:lpstr>
      <vt:lpstr>Processes communicating</vt:lpstr>
      <vt:lpstr>Sockets</vt:lpstr>
      <vt:lpstr>Ports</vt:lpstr>
      <vt:lpstr>Sockets</vt:lpstr>
      <vt:lpstr>Addressing processes</vt:lpstr>
      <vt:lpstr>An application-layer protocol defines:</vt:lpstr>
      <vt:lpstr>What transport service does an app need?</vt:lpstr>
      <vt:lpstr>Transport service requirements: common apps</vt:lpstr>
      <vt:lpstr>Internet transport protocols services</vt:lpstr>
      <vt:lpstr>Internet applications, and transport protocols</vt:lpstr>
      <vt:lpstr>Securing TCP</vt:lpstr>
      <vt:lpstr>Application layer: overview</vt:lpstr>
      <vt:lpstr>WWW</vt:lpstr>
      <vt:lpstr>The Web: Some Jargon</vt:lpstr>
      <vt:lpstr>HyperText Transfer Protocol</vt:lpstr>
      <vt:lpstr>Web and HTTP</vt:lpstr>
      <vt:lpstr>URL - continued</vt:lpstr>
      <vt:lpstr>PowerPoint Presentation</vt:lpstr>
      <vt:lpstr>HTTP overview</vt:lpstr>
      <vt:lpstr>HTTP overview (continued)</vt:lpstr>
      <vt:lpstr>HTTP connections: two types</vt:lpstr>
      <vt:lpstr>Non-persistent HTTP: example</vt:lpstr>
      <vt:lpstr>Non-persistent HTTP: example (cont.)</vt:lpstr>
      <vt:lpstr>Non-persistent HTTP: response time</vt:lpstr>
      <vt:lpstr>Persistent HTTP (HTTP 1.1)</vt:lpstr>
      <vt:lpstr>Pipelining</vt:lpstr>
      <vt:lpstr>Persistent HTTP</vt:lpstr>
      <vt:lpstr>“Persistent without pipelining” most common</vt:lpstr>
      <vt:lpstr>HTTP protocol – message format</vt:lpstr>
      <vt:lpstr>HTTP protocol – message format</vt:lpstr>
      <vt:lpstr>Method Types</vt:lpstr>
      <vt:lpstr>HTTP protocol – message format</vt:lpstr>
      <vt:lpstr>HTTP messages – an example</vt:lpstr>
      <vt:lpstr>HTTP response status codes</vt:lpstr>
      <vt:lpstr>PowerPoint Presentation</vt:lpstr>
      <vt:lpstr>Other HTTP request messages</vt:lpstr>
      <vt:lpstr>Trying out HTTP (client side) for yourself</vt:lpstr>
      <vt:lpstr>Maintaining user/server state: cookies</vt:lpstr>
      <vt:lpstr>Maintaining user/server state: cookies</vt:lpstr>
      <vt:lpstr>Maintaining user/server state: cookies</vt:lpstr>
      <vt:lpstr>HTTP cookies: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User</cp:lastModifiedBy>
  <cp:revision>349</cp:revision>
  <dcterms:created xsi:type="dcterms:W3CDTF">2020-01-18T07:24:59Z</dcterms:created>
  <dcterms:modified xsi:type="dcterms:W3CDTF">2025-08-12T18:10:02Z</dcterms:modified>
</cp:coreProperties>
</file>