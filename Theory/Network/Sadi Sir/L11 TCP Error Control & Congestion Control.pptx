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embeddedFontLst>
    <p:embeddedFont>
      <p:font typeface="Arimo"/>
      <p:regular r:id="rId45"/>
      <p:bold r:id="rId46"/>
      <p:italic r:id="rId47"/>
      <p:boldItalic r:id="rId48"/>
    </p:embeddedFont>
    <p:embeddedFont>
      <p:font typeface="Tahoma"/>
      <p:regular r:id="rId49"/>
      <p:bold r:id="rId50"/>
    </p:embeddedFon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Arimo-bold.fntdata"/><Relationship Id="rId45" Type="http://schemas.openxmlformats.org/officeDocument/2006/relationships/font" Target="fonts/Arim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Arimo-boldItalic.fntdata"/><Relationship Id="rId47" Type="http://schemas.openxmlformats.org/officeDocument/2006/relationships/font" Target="fonts/Arimo-italic.fntdata"/><Relationship Id="rId49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GillSans-regular.fntdata"/><Relationship Id="rId50" Type="http://schemas.openxmlformats.org/officeDocument/2006/relationships/font" Target="fonts/Tahoma-bold.fntdata"/><Relationship Id="rId52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c38211b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8c38211b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8c38211b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8c3bac6a0c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" name="Google Shape;48;g38c3bac6a0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g38c3bac6a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3bac6a0c_0_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" name="Google Shape;58;g38c3bac6a0c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g38c3bac6a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3bac6a0c_0_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8" name="Google Shape;68;g38c3bac6a0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8c3bac6a0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c3bac6a0c_0_6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8c3bac6a0c_0_6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c3bac6a0c_0_4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" name="Google Shape;96;g38c3bac6a0c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8c3bac6a0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c3bac6a0c_0_6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6" name="Google Shape;116;g38c3bac6a0c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38c3bac6a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c3bac6a0c_0_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8c3bac6a0c_0_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3bac6a0c_0_5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c3bac6a0c_0_5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c3bac6a0c_0_1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1" name="Google Shape;151;g38c3bac6a0c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8c3bac6a0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c3bac6a0c_0_1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7" name="Google Shape;167;g38c3bac6a0c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8c3bac6a0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3bac6a0c_0_15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3" name="Google Shape;183;g38c3bac6a0c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g38c3bac6a0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c3bac6a0c_0_17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g38c3bac6a0c_0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8c3bac6a0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c3bac6a0c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8c3bac6a0c_0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c3bac6a0c_0_19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1" name="Google Shape;231;g38c3bac6a0c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8c3bac6a0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c3bac6a0c_0_2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7" name="Google Shape;247;g38c3bac6a0c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8c3bac6a0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c3bac6a0c_0_2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3" name="Google Shape;263;g38c3bac6a0c_0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8c3bac6a0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4f25291c2_0_79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3" name="Google Shape;283;g394f25291c2_0_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94f25291c2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4f25291c2_0_80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3" name="Google Shape;293;g394f25291c2_0_8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94f25291c2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4f25291c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94f25291c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4f25291c2_0_9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94f25291c2_0_9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94f25291c2_0_9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4f25291c2_0_10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94f25291c2_0_10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94f25291c2_0_10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4f25291c2_0_1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94f25291c2_0_1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94f25291c2_0_1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4f25291c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94f25291c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94f25291c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94f25291c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94f25291c2_0_1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94f25291c2_0_12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94f25291c2_0_12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94f25291c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94f25291c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94f25291c2_0_7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94f25291c2_0_7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94f25291c2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94f25291c2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94f25291c2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94f25291c2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94f25291c2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g394f25291c2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94f25291c2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94f25291c2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94f25291c2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4f25291c2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94f25291c2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94f25291c2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94f25291c2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4f25291c2_0_1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g394f25291c2_0_13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94f25291c2_0_13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94f25291c2_0_14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94f25291c2_0_14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94f25291c2_0_14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94f25291c2_0_15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94f25291c2_0_15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94f25291c2_0_15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94f25291c2_0_1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394f25291c2_0_1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94f25291c2_0_1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94f25291c2_0_1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94f25291c2_0_1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94f25291c2_0_1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94f25291c2_0_15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394f25291c2_0_15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94f25291c2_0_15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914400" y="152400"/>
            <a:ext cx="916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914400" y="1828800"/>
            <a:ext cx="10261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18288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4741333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957733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433350" y="1542600"/>
            <a:ext cx="113253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3</a:t>
            </a:r>
            <a:br>
              <a:rPr b="1" lang="en-US" sz="6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endParaRPr b="1" sz="54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TCP - Error Control &amp; 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Congestion Control</a:t>
            </a:r>
            <a:endParaRPr b="1" sz="54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52" name="Google Shape;52;p9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304800" y="355600"/>
            <a:ext cx="11112300" cy="6465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"/>
              <a:buNone/>
            </a:pPr>
            <a:r>
              <a:rPr b="1" i="0" lang="en-US" sz="3600" u="non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15-8  ERROR CONTROL</a:t>
            </a:r>
            <a:endParaRPr/>
          </a:p>
        </p:txBody>
      </p:sp>
      <p:sp>
        <p:nvSpPr>
          <p:cNvPr id="54" name="Google Shape;54;p9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508000" y="1524000"/>
            <a:ext cx="109092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Error control in TCP is achieved through the use of three tools: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mo"/>
              <a:buAutoNum type="arabicPeriod"/>
            </a:pPr>
            <a:r>
              <a:rPr b="1" i="1" lang="en-US" sz="2800" u="non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checksum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AutoNum type="arabicPeriod"/>
            </a:pPr>
            <a:r>
              <a:rPr b="1" i="1" lang="en-US" sz="2800" u="non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acknowledgment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mo"/>
              <a:buAutoNum type="arabicPeriod"/>
            </a:pPr>
            <a:r>
              <a:rPr b="1" i="1" lang="en-US" sz="2800" u="non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time-out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99"/>
            </a:gs>
            <a:gs pos="100000">
              <a:srgbClr val="767647"/>
            </a:gs>
          </a:gsLst>
          <a:lin ang="0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62" name="Google Shape;62;p10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304800" y="152400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Times"/>
              <a:buNone/>
            </a:pPr>
            <a:r>
              <a:rPr b="1" i="1" lang="en-US" sz="3200" u="none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</a:rPr>
              <a:t>Topics Discussed in the Section</a:t>
            </a:r>
            <a:endParaRPr/>
          </a:p>
        </p:txBody>
      </p:sp>
      <p:sp>
        <p:nvSpPr>
          <p:cNvPr id="64" name="Google Shape;64;p10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406400" y="989012"/>
            <a:ext cx="111759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Checksum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Acknowledgment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Retransmission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Out-of-Order Segments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3" name="Google Shape;73;p11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p11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80" name="Google Shape;80;p11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1" name="Google Shape;81;p11"/>
          <p:cNvCxnSpPr/>
          <p:nvPr/>
        </p:nvCxnSpPr>
        <p:spPr>
          <a:xfrm>
            <a:off x="812800" y="43434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" name="Google Shape;82;p11"/>
          <p:cNvSpPr txBox="1"/>
          <p:nvPr/>
        </p:nvSpPr>
        <p:spPr>
          <a:xfrm>
            <a:off x="863600" y="2716212"/>
            <a:ext cx="10769700" cy="15699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ACK segments do not consume sequence numbers and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are not acknowledged.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84" name="Google Shape;8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1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 Protocol Suite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>
            <a:off x="914400" y="228600"/>
            <a:ext cx="9160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CC"/>
                </a:solidFill>
              </a:rPr>
              <a:t>Acknowledgement Type</a:t>
            </a:r>
            <a:endParaRPr/>
          </a:p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914400" y="1406130"/>
            <a:ext cx="10261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/>
              <a:t>In the past, TCP used only one type of acknowledgement: Accumulative Acknowledgement (</a:t>
            </a:r>
            <a:r>
              <a:rPr lang="en-US" sz="2600">
                <a:solidFill>
                  <a:srgbClr val="FF0000"/>
                </a:solidFill>
              </a:rPr>
              <a:t>ACK</a:t>
            </a:r>
            <a:r>
              <a:rPr lang="en-US" sz="2600"/>
              <a:t>), also namely </a:t>
            </a:r>
            <a:r>
              <a:rPr lang="en-US" sz="2600">
                <a:solidFill>
                  <a:schemeClr val="dk2"/>
                </a:solidFill>
              </a:rPr>
              <a:t>accumulative positive acknowledgement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-393700" lvl="0" marL="342900" rtl="0" algn="just">
              <a:spcBef>
                <a:spcPts val="960"/>
              </a:spcBef>
              <a:spcAft>
                <a:spcPts val="0"/>
              </a:spcAft>
              <a:buSzPts val="2600"/>
              <a:buChar char="▪"/>
            </a:pPr>
            <a:r>
              <a:rPr lang="en-US" sz="2600"/>
              <a:t>More and more implementations are adding another type of acknowledgement: </a:t>
            </a:r>
            <a:r>
              <a:rPr lang="en-US" sz="2600">
                <a:solidFill>
                  <a:schemeClr val="dk2"/>
                </a:solidFill>
              </a:rPr>
              <a:t>Selective Acknowledgement (</a:t>
            </a:r>
            <a:r>
              <a:rPr lang="en-US" sz="2600">
                <a:solidFill>
                  <a:srgbClr val="FF0000"/>
                </a:solidFill>
              </a:rPr>
              <a:t>SACK</a:t>
            </a:r>
            <a:r>
              <a:rPr lang="en-US" sz="2600">
                <a:solidFill>
                  <a:schemeClr val="dk2"/>
                </a:solidFill>
              </a:rPr>
              <a:t>)</a:t>
            </a:r>
            <a:r>
              <a:rPr lang="en-US" sz="2600"/>
              <a:t>, SACK is implemented as an option at the end of the TCP header.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8" name="Google Shape;108;p13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" name="Google Shape;109;p13"/>
          <p:cNvCxnSpPr/>
          <p:nvPr/>
        </p:nvCxnSpPr>
        <p:spPr>
          <a:xfrm>
            <a:off x="812800" y="48768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0" name="Google Shape;110;p13"/>
          <p:cNvSpPr txBox="1"/>
          <p:nvPr/>
        </p:nvSpPr>
        <p:spPr>
          <a:xfrm>
            <a:off x="863600" y="2716212"/>
            <a:ext cx="10769700" cy="20625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may arrive out of order and be temporarily stored by the receiving TCP,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TCP guarantees that no out-of-order data are delivered to the process.</a:t>
            </a:r>
            <a:endParaRPr/>
          </a:p>
        </p:txBody>
      </p:sp>
      <p:grpSp>
        <p:nvGrpSpPr>
          <p:cNvPr id="111" name="Google Shape;111;p13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112" name="Google Shape;11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3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8" name="Google Shape;128;p14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812800" y="38862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" name="Google Shape;130;p14"/>
          <p:cNvSpPr txBox="1"/>
          <p:nvPr/>
        </p:nvSpPr>
        <p:spPr>
          <a:xfrm>
            <a:off x="863600" y="2716212"/>
            <a:ext cx="10769700" cy="10773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TCP can be best modeled as a </a:t>
            </a:r>
            <a:b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Selective Repeat protocol.</a:t>
            </a:r>
            <a:endParaRPr/>
          </a:p>
        </p:txBody>
      </p:sp>
      <p:grpSp>
        <p:nvGrpSpPr>
          <p:cNvPr id="131" name="Google Shape;131;p14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132" name="Google Shape;13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4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idx="11" type="ftr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 Protocol Suite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>
            <p:ph type="title"/>
          </p:nvPr>
        </p:nvSpPr>
        <p:spPr>
          <a:xfrm>
            <a:off x="914400" y="228600"/>
            <a:ext cx="9160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CC"/>
                </a:solidFill>
              </a:rPr>
              <a:t>Rules for Generating ACK (1)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914400" y="1324348"/>
            <a:ext cx="10261500" cy="51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1. When one end sends a data segment to the other end, it must include an ACK.  That gives the next sequence number it expects to receive.</a:t>
            </a:r>
            <a:endParaRPr/>
          </a:p>
          <a:p>
            <a:pPr indent="-381000" lvl="0" marL="34290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2.</a:t>
            </a:r>
            <a:r>
              <a:rPr lang="en-US" sz="2400">
                <a:solidFill>
                  <a:schemeClr val="dk2"/>
                </a:solidFill>
              </a:rPr>
              <a:t> </a:t>
            </a:r>
            <a:r>
              <a:rPr lang="en-US" sz="2400"/>
              <a:t>The receiver needs to </a:t>
            </a:r>
            <a:r>
              <a:rPr lang="en-US" sz="2400">
                <a:solidFill>
                  <a:schemeClr val="dk2"/>
                </a:solidFill>
              </a:rPr>
              <a:t>delay sending</a:t>
            </a:r>
            <a:r>
              <a:rPr lang="en-US" sz="2400"/>
              <a:t> (until </a:t>
            </a:r>
            <a:r>
              <a:rPr lang="en-US" sz="2400">
                <a:solidFill>
                  <a:srgbClr val="FF0000"/>
                </a:solidFill>
              </a:rPr>
              <a:t>another segment arrives or 500ms</a:t>
            </a:r>
            <a:r>
              <a:rPr lang="en-US" sz="2400"/>
              <a:t>) an ACK segment if there is only one outstanding in-order segment. It prevents ACK segments from creating extra traffic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/>
          </a:p>
          <a:p>
            <a:pPr indent="-381000" lvl="0" marL="34290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3. There </a:t>
            </a:r>
            <a:r>
              <a:rPr lang="en-US" sz="2400">
                <a:solidFill>
                  <a:schemeClr val="dk2"/>
                </a:solidFill>
              </a:rPr>
              <a:t>should not be more than 2 in-order unacknowledged segments</a:t>
            </a:r>
            <a:r>
              <a:rPr lang="en-US" sz="2400"/>
              <a:t> at any time. It prevent the unnecessary retransmission.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1" type="ftr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 Protocol Suite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914400" y="228600"/>
            <a:ext cx="9160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CC"/>
                </a:solidFill>
              </a:rPr>
              <a:t>Rules for Generating ACK (2)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914400" y="1511278"/>
            <a:ext cx="10261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4. When a </a:t>
            </a:r>
            <a:r>
              <a:rPr lang="en-US" sz="2400">
                <a:solidFill>
                  <a:srgbClr val="FF0000"/>
                </a:solidFill>
              </a:rPr>
              <a:t>segment arrives with an out-of-order sequence number </a:t>
            </a:r>
            <a:r>
              <a:rPr lang="en-US" sz="2400"/>
              <a:t>that is higher than expected, the receiver immediately sends an ACK segment announcing the sequence number of the next expected segment. (for </a:t>
            </a:r>
            <a:r>
              <a:rPr lang="en-US" sz="2400">
                <a:solidFill>
                  <a:schemeClr val="dk2"/>
                </a:solidFill>
              </a:rPr>
              <a:t>fast retransmission</a:t>
            </a:r>
            <a:r>
              <a:rPr lang="en-US" sz="2400"/>
              <a:t>)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5.</a:t>
            </a:r>
            <a:r>
              <a:rPr lang="en-US" sz="2400">
                <a:solidFill>
                  <a:schemeClr val="dk2"/>
                </a:solidFill>
              </a:rPr>
              <a:t> </a:t>
            </a:r>
            <a:r>
              <a:rPr lang="en-US" sz="2400"/>
              <a:t>When a </a:t>
            </a:r>
            <a:r>
              <a:rPr lang="en-US" sz="2400">
                <a:solidFill>
                  <a:srgbClr val="FF0000"/>
                </a:solidFill>
              </a:rPr>
              <a:t>missing segment </a:t>
            </a:r>
            <a:r>
              <a:rPr lang="en-US" sz="2400"/>
              <a:t>arrives, the receiver sends an ACK segment to announce the next sequence number expected.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6. If a </a:t>
            </a:r>
            <a:r>
              <a:rPr lang="en-US" sz="2400">
                <a:solidFill>
                  <a:srgbClr val="FF0000"/>
                </a:solidFill>
              </a:rPr>
              <a:t>duplicate segment </a:t>
            </a:r>
            <a:r>
              <a:rPr lang="en-US" sz="2400"/>
              <a:t>arrives, the receiver immediately sends an ACK.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15.29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operation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250" y="742950"/>
            <a:ext cx="9580150" cy="522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15.30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segment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725" y="779450"/>
            <a:ext cx="10156326" cy="475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95" name="Google Shape;195;p19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" name="Google Shape;196;p19"/>
          <p:cNvCxnSpPr/>
          <p:nvPr/>
        </p:nvCxnSpPr>
        <p:spPr>
          <a:xfrm>
            <a:off x="812800" y="38862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7" name="Google Shape;197;p19"/>
          <p:cNvSpPr txBox="1"/>
          <p:nvPr/>
        </p:nvSpPr>
        <p:spPr>
          <a:xfrm>
            <a:off x="863600" y="2716212"/>
            <a:ext cx="10769700" cy="10773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receiver TCP delivers only ordered data to the process.</a:t>
            </a:r>
            <a:endParaRPr/>
          </a:p>
        </p:txBody>
      </p:sp>
      <p:grpSp>
        <p:nvGrpSpPr>
          <p:cNvPr id="198" name="Google Shape;198;p19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199" name="Google Shape;19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9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15.31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retransmission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375" y="696900"/>
            <a:ext cx="7649625" cy="533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9300" y="3433762"/>
            <a:ext cx="11811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3533" y="3719512"/>
            <a:ext cx="12192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3900" y="4419600"/>
            <a:ext cx="1228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9833" y="4445000"/>
            <a:ext cx="5238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9300" y="5265737"/>
            <a:ext cx="122872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type="title"/>
          </p:nvPr>
        </p:nvSpPr>
        <p:spPr>
          <a:xfrm>
            <a:off x="1117600" y="475200"/>
            <a:ext cx="107442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  Retransmit</a:t>
            </a:r>
            <a:endParaRPr/>
          </a:p>
        </p:txBody>
      </p:sp>
      <p:sp>
        <p:nvSpPr>
          <p:cNvPr id="227" name="Google Shape;227;p21"/>
          <p:cNvSpPr txBox="1"/>
          <p:nvPr>
            <p:ph idx="1" type="body"/>
          </p:nvPr>
        </p:nvSpPr>
        <p:spPr>
          <a:xfrm>
            <a:off x="1117600" y="1615329"/>
            <a:ext cx="5169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120"/>
              <a:buChar char="▪"/>
            </a:pPr>
            <a:r>
              <a:rPr lang="en-US" sz="2600"/>
              <a:t>Time-out period  often relatively long:</a:t>
            </a:r>
            <a:endParaRPr sz="3000"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long delay before resending lost packet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SzPts val="2120"/>
              <a:buChar char="▪"/>
            </a:pPr>
            <a:r>
              <a:rPr lang="en-US" sz="2600"/>
              <a:t>Detect lost segments via duplicate ACKs.</a:t>
            </a:r>
            <a:endParaRPr sz="3000"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1"/>
                </a:solidFill>
              </a:rPr>
              <a:t>Sender often sends many segments back-to-back</a:t>
            </a:r>
            <a:endParaRPr sz="2600"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1"/>
                </a:solidFill>
              </a:rPr>
              <a:t>If segment is lost, there will likely be many duplicate ACKs.</a:t>
            </a:r>
            <a:endParaRPr sz="2200"/>
          </a:p>
        </p:txBody>
      </p:sp>
      <p:sp>
        <p:nvSpPr>
          <p:cNvPr id="228" name="Google Shape;228;p21"/>
          <p:cNvSpPr txBox="1"/>
          <p:nvPr>
            <p:ph idx="2" type="body"/>
          </p:nvPr>
        </p:nvSpPr>
        <p:spPr>
          <a:xfrm>
            <a:off x="5994400" y="1600200"/>
            <a:ext cx="5283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spcBef>
                <a:spcPts val="0"/>
              </a:spcBef>
              <a:spcAft>
                <a:spcPts val="0"/>
              </a:spcAft>
              <a:buSzPts val="2220"/>
              <a:buChar char="▪"/>
            </a:pPr>
            <a:r>
              <a:rPr lang="en-US" sz="2700"/>
              <a:t>If sender receives 3 ACKs for the same data, it supposes that segment after ACKed data was lost:</a:t>
            </a:r>
            <a:endParaRPr sz="3100"/>
          </a:p>
          <a:p>
            <a:pPr indent="-304800" lvl="1" marL="742950" rtl="0" algn="l">
              <a:spcBef>
                <a:spcPts val="400"/>
              </a:spcBef>
              <a:spcAft>
                <a:spcPts val="0"/>
              </a:spcAft>
              <a:buSzPts val="2300"/>
              <a:buChar char="•"/>
            </a:pPr>
            <a:r>
              <a:rPr lang="en-US" sz="2300" u="sng">
                <a:solidFill>
                  <a:srgbClr val="FF0000"/>
                </a:solidFill>
              </a:rPr>
              <a:t>fast retransmit:</a:t>
            </a:r>
            <a:r>
              <a:rPr lang="en-US" sz="2300">
                <a:solidFill>
                  <a:srgbClr val="FF0000"/>
                </a:solidFill>
              </a:rPr>
              <a:t> </a:t>
            </a:r>
            <a:r>
              <a:rPr lang="en-US" sz="2300"/>
              <a:t>resend segment before timer expires</a:t>
            </a:r>
            <a:endParaRPr sz="2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15.32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acknowledgment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626" y="857250"/>
            <a:ext cx="8754976" cy="47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320800" y="90487"/>
            <a:ext cx="105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15.33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acknowledgment corrected by resending a segment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574" y="1079500"/>
            <a:ext cx="9378721" cy="434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75" name="Google Shape;275;p24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6" name="Google Shape;276;p24"/>
          <p:cNvCxnSpPr/>
          <p:nvPr/>
        </p:nvCxnSpPr>
        <p:spPr>
          <a:xfrm>
            <a:off x="812800" y="43434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7" name="Google Shape;277;p24"/>
          <p:cNvSpPr txBox="1"/>
          <p:nvPr/>
        </p:nvSpPr>
        <p:spPr>
          <a:xfrm>
            <a:off x="863600" y="2716212"/>
            <a:ext cx="10769700" cy="15699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Lost acknowledgments may create deadlock if they are not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properly handled.</a:t>
            </a:r>
            <a:endParaRPr/>
          </a:p>
        </p:txBody>
      </p:sp>
      <p:grpSp>
        <p:nvGrpSpPr>
          <p:cNvPr id="278" name="Google Shape;278;p24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279" name="Google Shape;27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4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304800" y="355600"/>
            <a:ext cx="11204400" cy="6465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"/>
              <a:buNone/>
            </a:pPr>
            <a:r>
              <a:rPr b="1" i="0" lang="en-US" sz="3600" u="non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15-9  CONGESTION CONTROL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203200" y="1524000"/>
            <a:ext cx="11785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TCP uses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lang="en-US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1. 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congestion window and 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lang="en-US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2. 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congestion policy 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lang="en-US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to 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avoid congestion and detect and alleviate congestion after it has occurred.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99"/>
            </a:gs>
            <a:gs pos="100000">
              <a:srgbClr val="767647"/>
            </a:gs>
          </a:gsLst>
          <a:lin ang="0" scaled="0"/>
        </a:gra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304800" y="152400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Times"/>
              <a:buNone/>
            </a:pPr>
            <a:r>
              <a:rPr b="1" i="1" lang="en-US" sz="3200" u="none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</a:rPr>
              <a:t>Topics Discussed in the Section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406400" y="989012"/>
            <a:ext cx="111759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Congestion Window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Congestion Policy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 txBox="1"/>
          <p:nvPr>
            <p:ph type="title"/>
          </p:nvPr>
        </p:nvSpPr>
        <p:spPr>
          <a:xfrm>
            <a:off x="827689" y="152400"/>
            <a:ext cx="105297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</a:t>
            </a:r>
            <a:endParaRPr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762000" y="1638225"/>
            <a:ext cx="10385100" cy="4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Informally: “too many sources sending too much data too fast for </a:t>
            </a:r>
            <a:r>
              <a:rPr i="1" lang="en-US">
                <a:solidFill>
                  <a:schemeClr val="accent2"/>
                </a:solidFill>
              </a:rPr>
              <a:t>network</a:t>
            </a:r>
            <a:r>
              <a:rPr lang="en-US"/>
              <a:t> to handle”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Appears if the </a:t>
            </a:r>
            <a:r>
              <a:rPr lang="en-US" u="sng"/>
              <a:t>load</a:t>
            </a:r>
            <a:r>
              <a:rPr lang="en-US"/>
              <a:t> on the network is greater than the </a:t>
            </a:r>
            <a:r>
              <a:rPr lang="en-US" u="sng"/>
              <a:t>capacity</a:t>
            </a:r>
            <a:r>
              <a:rPr lang="en-US"/>
              <a:t> of the network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b="1" lang="en-US"/>
              <a:t>load:</a:t>
            </a:r>
            <a:r>
              <a:rPr lang="en-US"/>
              <a:t> the number of packets sent to the network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b="1" lang="en-US"/>
              <a:t>capacity:</a:t>
            </a:r>
            <a:r>
              <a:rPr lang="en-US"/>
              <a:t> the number of packets a network can handle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manifestations: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buffer overflow at routers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queuing in router buffers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798690" y="20864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Causes/costs of congestion: insights</a:t>
            </a:r>
            <a:endParaRPr b="0" sz="4000"/>
          </a:p>
        </p:txBody>
      </p:sp>
      <p:grpSp>
        <p:nvGrpSpPr>
          <p:cNvPr id="314" name="Google Shape;314;p28"/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315" name="Google Shape;315;p28"/>
            <p:cNvSpPr/>
            <p:nvPr/>
          </p:nvSpPr>
          <p:spPr>
            <a:xfrm>
              <a:off x="1206500" y="5114925"/>
              <a:ext cx="8267700" cy="40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1054099" y="4926013"/>
              <a:ext cx="67359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upstream transmission capacity / buffering wasted for packets lost downstream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7" name="Google Shape;31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28"/>
          <p:cNvGrpSpPr/>
          <p:nvPr/>
        </p:nvGrpSpPr>
        <p:grpSpPr>
          <a:xfrm>
            <a:off x="1028700" y="2052023"/>
            <a:ext cx="10080600" cy="1334790"/>
            <a:chOff x="1028700" y="1860299"/>
            <a:chExt cx="10080600" cy="1334790"/>
          </a:xfrm>
        </p:grpSpPr>
        <p:sp>
          <p:nvSpPr>
            <p:cNvPr id="319" name="Google Shape;319;p28"/>
            <p:cNvSpPr/>
            <p:nvPr/>
          </p:nvSpPr>
          <p:spPr>
            <a:xfrm>
              <a:off x="1028700" y="2139156"/>
              <a:ext cx="10080600" cy="4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 increases as capacity approached </a:t>
              </a:r>
              <a:endParaRPr/>
            </a:p>
          </p:txBody>
        </p:sp>
        <p:pic>
          <p:nvPicPr>
            <p:cNvPr id="320" name="Google Shape;32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51601" y="1860299"/>
              <a:ext cx="1402989" cy="13347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28"/>
          <p:cNvGrpSpPr/>
          <p:nvPr/>
        </p:nvGrpSpPr>
        <p:grpSpPr>
          <a:xfrm>
            <a:off x="1041400" y="4167737"/>
            <a:ext cx="9952138" cy="1463042"/>
            <a:chOff x="1041400" y="4167737"/>
            <a:chExt cx="9952138" cy="1463042"/>
          </a:xfrm>
        </p:grpSpPr>
        <p:sp>
          <p:nvSpPr>
            <p:cNvPr id="322" name="Google Shape;322;p28"/>
            <p:cNvSpPr/>
            <p:nvPr/>
          </p:nvSpPr>
          <p:spPr>
            <a:xfrm>
              <a:off x="1041400" y="4352873"/>
              <a:ext cx="6769200" cy="7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un-needed duplicates further decreases effective throughput</a:t>
              </a:r>
              <a:endParaRPr/>
            </a:p>
          </p:txBody>
        </p:sp>
        <p:pic>
          <p:nvPicPr>
            <p:cNvPr id="323" name="Google Shape;323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64995" y="4167737"/>
              <a:ext cx="1628543" cy="14630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28"/>
          <p:cNvGrpSpPr/>
          <p:nvPr/>
        </p:nvGrpSpPr>
        <p:grpSpPr>
          <a:xfrm>
            <a:off x="1041400" y="2983830"/>
            <a:ext cx="8301120" cy="1447534"/>
            <a:chOff x="1041400" y="2983830"/>
            <a:chExt cx="8301120" cy="1447534"/>
          </a:xfrm>
        </p:grpSpPr>
        <p:sp>
          <p:nvSpPr>
            <p:cNvPr id="325" name="Google Shape;325;p28"/>
            <p:cNvSpPr/>
            <p:nvPr/>
          </p:nvSpPr>
          <p:spPr>
            <a:xfrm>
              <a:off x="1041400" y="3256108"/>
              <a:ext cx="6332700" cy="4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loss/retransmission decreases effective throughput</a:t>
              </a:r>
              <a:endParaRPr/>
            </a:p>
          </p:txBody>
        </p:sp>
        <p:pic>
          <p:nvPicPr>
            <p:cNvPr id="326" name="Google Shape;326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23915" y="2983830"/>
              <a:ext cx="1618605" cy="14475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" name="Google Shape;327;p28"/>
          <p:cNvGrpSpPr/>
          <p:nvPr/>
        </p:nvGrpSpPr>
        <p:grpSpPr>
          <a:xfrm>
            <a:off x="1041400" y="1190115"/>
            <a:ext cx="8210814" cy="1330482"/>
            <a:chOff x="1041400" y="1190115"/>
            <a:chExt cx="8210814" cy="1330482"/>
          </a:xfrm>
        </p:grpSpPr>
        <p:sp>
          <p:nvSpPr>
            <p:cNvPr id="328" name="Google Shape;328;p28"/>
            <p:cNvSpPr/>
            <p:nvPr/>
          </p:nvSpPr>
          <p:spPr>
            <a:xfrm>
              <a:off x="1041400" y="1395413"/>
              <a:ext cx="6538800" cy="4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throughput can never exceed capacity </a:t>
              </a:r>
              <a:endParaRPr/>
            </a:p>
          </p:txBody>
        </p:sp>
        <p:pic>
          <p:nvPicPr>
            <p:cNvPr id="329" name="Google Shape;329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29084" y="1190115"/>
              <a:ext cx="1523130" cy="13304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28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9"/>
          <p:cNvGrpSpPr/>
          <p:nvPr/>
        </p:nvGrpSpPr>
        <p:grpSpPr>
          <a:xfrm>
            <a:off x="10476914" y="2368655"/>
            <a:ext cx="717898" cy="1154400"/>
            <a:chOff x="7664720" y="2795550"/>
            <a:chExt cx="717898" cy="1154400"/>
          </a:xfrm>
        </p:grpSpPr>
        <p:sp>
          <p:nvSpPr>
            <p:cNvPr id="337" name="Google Shape;337;p29"/>
            <p:cNvSpPr/>
            <p:nvPr/>
          </p:nvSpPr>
          <p:spPr>
            <a:xfrm>
              <a:off x="7671781" y="2795550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29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9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9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9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42" name="Google Shape;342;p29"/>
          <p:cNvSpPr/>
          <p:nvPr/>
        </p:nvSpPr>
        <p:spPr>
          <a:xfrm flipH="1">
            <a:off x="6810066" y="2305050"/>
            <a:ext cx="250825" cy="1201737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43" name="Google Shape;343;p29"/>
          <p:cNvGrpSpPr/>
          <p:nvPr/>
        </p:nvGrpSpPr>
        <p:grpSpPr>
          <a:xfrm>
            <a:off x="6405254" y="3243263"/>
            <a:ext cx="525462" cy="434992"/>
            <a:chOff x="-44" y="1473"/>
            <a:chExt cx="981" cy="1105"/>
          </a:xfrm>
        </p:grpSpPr>
        <p:pic>
          <p:nvPicPr>
            <p:cNvPr descr="desktop_computer_stylized_medium" id="344" name="Google Shape;344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6" name="Google Shape;346;p29"/>
          <p:cNvGrpSpPr/>
          <p:nvPr/>
        </p:nvGrpSpPr>
        <p:grpSpPr>
          <a:xfrm>
            <a:off x="7045286" y="2362077"/>
            <a:ext cx="717898" cy="1154400"/>
            <a:chOff x="7664720" y="2799688"/>
            <a:chExt cx="717898" cy="1154400"/>
          </a:xfrm>
        </p:grpSpPr>
        <p:sp>
          <p:nvSpPr>
            <p:cNvPr id="347" name="Google Shape;347;p29"/>
            <p:cNvSpPr/>
            <p:nvPr/>
          </p:nvSpPr>
          <p:spPr>
            <a:xfrm>
              <a:off x="7671781" y="2799688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8" name="Google Shape;348;p29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9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9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" name="Google Shape;351;p29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2" name="Google Shape;352;p29"/>
          <p:cNvSpPr txBox="1"/>
          <p:nvPr>
            <p:ph idx="1" type="body"/>
          </p:nvPr>
        </p:nvSpPr>
        <p:spPr>
          <a:xfrm>
            <a:off x="884903" y="1939313"/>
            <a:ext cx="55626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</a:rPr>
              <a:t>End-end congestion control: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no explicit feedback from network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congestion </a:t>
            </a:r>
            <a:r>
              <a:rPr i="1" lang="en-US" sz="3200">
                <a:solidFill>
                  <a:srgbClr val="C00000"/>
                </a:solidFill>
              </a:rPr>
              <a:t>inferred</a:t>
            </a:r>
            <a:r>
              <a:rPr lang="en-US" sz="3200"/>
              <a:t> from observed loss, delay</a:t>
            </a:r>
            <a:endParaRPr/>
          </a:p>
        </p:txBody>
      </p:sp>
      <p:sp>
        <p:nvSpPr>
          <p:cNvPr id="353" name="Google Shape;353;p29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Approaches towards congestion control</a:t>
            </a:r>
            <a:endParaRPr sz="4000"/>
          </a:p>
        </p:txBody>
      </p:sp>
      <p:sp>
        <p:nvSpPr>
          <p:cNvPr id="354" name="Google Shape;354;p29"/>
          <p:cNvSpPr/>
          <p:nvPr/>
        </p:nvSpPr>
        <p:spPr>
          <a:xfrm>
            <a:off x="7675918" y="3459066"/>
            <a:ext cx="2848872" cy="1480907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8314293" y="3762231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9356021" y="3755882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8290473" y="4147933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9238509" y="4124124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9905469" y="4178091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8670005" y="4711407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8133261" y="4171742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29"/>
          <p:cNvGrpSpPr/>
          <p:nvPr/>
        </p:nvGrpSpPr>
        <p:grpSpPr>
          <a:xfrm>
            <a:off x="9719388" y="3946464"/>
            <a:ext cx="581264" cy="284549"/>
            <a:chOff x="7493876" y="2774731"/>
            <a:chExt cx="1490420" cy="890885"/>
          </a:xfrm>
        </p:grpSpPr>
        <p:sp>
          <p:nvSpPr>
            <p:cNvPr id="363" name="Google Shape;363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65" name="Google Shape;365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66" name="Google Shape;366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0" name="Google Shape;370;p29"/>
          <p:cNvGrpSpPr/>
          <p:nvPr/>
        </p:nvGrpSpPr>
        <p:grpSpPr>
          <a:xfrm>
            <a:off x="9351260" y="4600224"/>
            <a:ext cx="581264" cy="284549"/>
            <a:chOff x="7493876" y="2774731"/>
            <a:chExt cx="1490420" cy="890885"/>
          </a:xfrm>
        </p:grpSpPr>
        <p:sp>
          <p:nvSpPr>
            <p:cNvPr id="371" name="Google Shape;371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3" name="Google Shape;373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74" name="Google Shape;374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8" name="Google Shape;378;p29"/>
          <p:cNvGrpSpPr/>
          <p:nvPr/>
        </p:nvGrpSpPr>
        <p:grpSpPr>
          <a:xfrm>
            <a:off x="8194786" y="4551555"/>
            <a:ext cx="581264" cy="284549"/>
            <a:chOff x="7493876" y="2774731"/>
            <a:chExt cx="1490420" cy="890885"/>
          </a:xfrm>
        </p:grpSpPr>
        <p:sp>
          <p:nvSpPr>
            <p:cNvPr id="379" name="Google Shape;379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1" name="Google Shape;381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82" name="Google Shape;382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9"/>
          <p:cNvGrpSpPr/>
          <p:nvPr/>
        </p:nvGrpSpPr>
        <p:grpSpPr>
          <a:xfrm>
            <a:off x="8800286" y="3636156"/>
            <a:ext cx="581264" cy="284549"/>
            <a:chOff x="7493876" y="2774731"/>
            <a:chExt cx="1490420" cy="890885"/>
          </a:xfrm>
        </p:grpSpPr>
        <p:sp>
          <p:nvSpPr>
            <p:cNvPr id="387" name="Google Shape;387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9" name="Google Shape;389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90" name="Google Shape;390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4" name="Google Shape;394;p29"/>
          <p:cNvGrpSpPr/>
          <p:nvPr/>
        </p:nvGrpSpPr>
        <p:grpSpPr>
          <a:xfrm>
            <a:off x="8710947" y="4233995"/>
            <a:ext cx="581264" cy="284549"/>
            <a:chOff x="7493876" y="2774731"/>
            <a:chExt cx="1490420" cy="890885"/>
          </a:xfrm>
        </p:grpSpPr>
        <p:sp>
          <p:nvSpPr>
            <p:cNvPr id="395" name="Google Shape;395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7" name="Google Shape;397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98" name="Google Shape;398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2" name="Google Shape;402;p29"/>
          <p:cNvGrpSpPr/>
          <p:nvPr/>
        </p:nvGrpSpPr>
        <p:grpSpPr>
          <a:xfrm>
            <a:off x="7764268" y="3944292"/>
            <a:ext cx="581264" cy="284549"/>
            <a:chOff x="7493876" y="2774731"/>
            <a:chExt cx="1490420" cy="890885"/>
          </a:xfrm>
        </p:grpSpPr>
        <p:sp>
          <p:nvSpPr>
            <p:cNvPr id="403" name="Google Shape;403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5" name="Google Shape;405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06" name="Google Shape;406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" name="Google Shape;410;p29"/>
          <p:cNvGrpSpPr/>
          <p:nvPr/>
        </p:nvGrpSpPr>
        <p:grpSpPr>
          <a:xfrm>
            <a:off x="8867832" y="4245561"/>
            <a:ext cx="456600" cy="226500"/>
            <a:chOff x="6859123" y="5156933"/>
            <a:chExt cx="456600" cy="226500"/>
          </a:xfrm>
        </p:grpSpPr>
        <p:sp>
          <p:nvSpPr>
            <p:cNvPr id="411" name="Google Shape;411;p29"/>
            <p:cNvSpPr/>
            <p:nvPr/>
          </p:nvSpPr>
          <p:spPr>
            <a:xfrm>
              <a:off x="6859123" y="5156933"/>
              <a:ext cx="456600" cy="226500"/>
            </a:xfrm>
            <a:prstGeom prst="rect">
              <a:avLst/>
            </a:prstGeom>
            <a:solidFill>
              <a:srgbClr val="F989B2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2" name="Google Shape;412;p29"/>
            <p:cNvCxnSpPr/>
            <p:nvPr/>
          </p:nvCxnSpPr>
          <p:spPr>
            <a:xfrm rot="10800000">
              <a:off x="724911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" name="Google Shape;413;p29"/>
            <p:cNvCxnSpPr/>
            <p:nvPr/>
          </p:nvCxnSpPr>
          <p:spPr>
            <a:xfrm rot="10800000">
              <a:off x="7197800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" name="Google Shape;414;p29"/>
            <p:cNvCxnSpPr/>
            <p:nvPr/>
          </p:nvCxnSpPr>
          <p:spPr>
            <a:xfrm rot="10800000">
              <a:off x="714648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" name="Google Shape;415;p29"/>
            <p:cNvCxnSpPr/>
            <p:nvPr/>
          </p:nvCxnSpPr>
          <p:spPr>
            <a:xfrm rot="10800000">
              <a:off x="709517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" name="Google Shape;416;p29"/>
            <p:cNvCxnSpPr/>
            <p:nvPr/>
          </p:nvCxnSpPr>
          <p:spPr>
            <a:xfrm rot="10800000">
              <a:off x="7043856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7" name="Google Shape;417;p29"/>
            <p:cNvCxnSpPr/>
            <p:nvPr/>
          </p:nvCxnSpPr>
          <p:spPr>
            <a:xfrm rot="10800000">
              <a:off x="699254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8" name="Google Shape;418;p29"/>
            <p:cNvCxnSpPr/>
            <p:nvPr/>
          </p:nvCxnSpPr>
          <p:spPr>
            <a:xfrm rot="10800000">
              <a:off x="6941227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19" name="Google Shape;419;p29"/>
          <p:cNvGrpSpPr/>
          <p:nvPr/>
        </p:nvGrpSpPr>
        <p:grpSpPr>
          <a:xfrm>
            <a:off x="7428575" y="2677315"/>
            <a:ext cx="3355703" cy="1705017"/>
            <a:chOff x="7428575" y="2677315"/>
            <a:chExt cx="3355703" cy="1705017"/>
          </a:xfrm>
        </p:grpSpPr>
        <p:sp>
          <p:nvSpPr>
            <p:cNvPr id="420" name="Google Shape;420;p29"/>
            <p:cNvSpPr/>
            <p:nvPr/>
          </p:nvSpPr>
          <p:spPr>
            <a:xfrm>
              <a:off x="9335149" y="2701273"/>
              <a:ext cx="1406439" cy="1681059"/>
            </a:xfrm>
            <a:custGeom>
              <a:rect b="b" l="l" r="r" t="t"/>
              <a:pathLst>
                <a:path extrusionOk="0" h="1681059" w="1541303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cap="flat" cmpd="sng" w="4445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7473006" y="2677315"/>
              <a:ext cx="1448585" cy="1701024"/>
            </a:xfrm>
            <a:custGeom>
              <a:rect b="b" l="l" r="r" t="t"/>
              <a:pathLst>
                <a:path extrusionOk="0" h="1701024" w="1549289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cap="flat" cmpd="sng" w="3810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9"/>
            <p:cNvSpPr txBox="1"/>
            <p:nvPr/>
          </p:nvSpPr>
          <p:spPr>
            <a:xfrm>
              <a:off x="10184578" y="355661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423" name="Google Shape;423;p29"/>
            <p:cNvSpPr txBox="1"/>
            <p:nvPr/>
          </p:nvSpPr>
          <p:spPr>
            <a:xfrm>
              <a:off x="7428575" y="351769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grpSp>
        <p:nvGrpSpPr>
          <p:cNvPr id="424" name="Google Shape;424;p29"/>
          <p:cNvGrpSpPr/>
          <p:nvPr/>
        </p:nvGrpSpPr>
        <p:grpSpPr>
          <a:xfrm>
            <a:off x="6799618" y="2691243"/>
            <a:ext cx="4657185" cy="1827509"/>
            <a:chOff x="6799618" y="2691243"/>
            <a:chExt cx="4657185" cy="1827509"/>
          </a:xfrm>
        </p:grpSpPr>
        <p:sp>
          <p:nvSpPr>
            <p:cNvPr id="425" name="Google Shape;425;p29"/>
            <p:cNvSpPr/>
            <p:nvPr/>
          </p:nvSpPr>
          <p:spPr>
            <a:xfrm>
              <a:off x="7353946" y="2691243"/>
              <a:ext cx="3497252" cy="1827509"/>
            </a:xfrm>
            <a:custGeom>
              <a:rect b="b" l="l" r="r" t="t"/>
              <a:pathLst>
                <a:path extrusionOk="0" h="1827509" w="3832605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9"/>
            <p:cNvSpPr txBox="1"/>
            <p:nvPr/>
          </p:nvSpPr>
          <p:spPr>
            <a:xfrm>
              <a:off x="6799618" y="3650736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  <p:sp>
          <p:nvSpPr>
            <p:cNvPr id="427" name="Google Shape;427;p29"/>
            <p:cNvSpPr txBox="1"/>
            <p:nvPr/>
          </p:nvSpPr>
          <p:spPr>
            <a:xfrm>
              <a:off x="10809403" y="3772400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</p:grpSp>
      <p:sp>
        <p:nvSpPr>
          <p:cNvPr id="428" name="Google Shape;428;p29"/>
          <p:cNvSpPr/>
          <p:nvPr/>
        </p:nvSpPr>
        <p:spPr>
          <a:xfrm>
            <a:off x="11178866" y="2363683"/>
            <a:ext cx="250825" cy="12128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9" name="Google Shape;429;p29"/>
          <p:cNvGrpSpPr/>
          <p:nvPr/>
        </p:nvGrpSpPr>
        <p:grpSpPr>
          <a:xfrm>
            <a:off x="11355079" y="3260620"/>
            <a:ext cx="230793" cy="442062"/>
            <a:chOff x="4140" y="429"/>
            <a:chExt cx="1419" cy="2400"/>
          </a:xfrm>
        </p:grpSpPr>
        <p:sp>
          <p:nvSpPr>
            <p:cNvPr id="430" name="Google Shape;430;p29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4208" y="696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5" name="Google Shape;435;p29"/>
            <p:cNvGrpSpPr/>
            <p:nvPr/>
          </p:nvGrpSpPr>
          <p:grpSpPr>
            <a:xfrm>
              <a:off x="4745" y="670"/>
              <a:ext cx="490" cy="18"/>
              <a:chOff x="609" y="2570"/>
              <a:chExt cx="612" cy="17"/>
            </a:xfrm>
          </p:grpSpPr>
          <p:sp>
            <p:nvSpPr>
              <p:cNvPr id="436" name="Google Shape;436;p29"/>
              <p:cNvSpPr/>
              <p:nvPr/>
            </p:nvSpPr>
            <p:spPr>
              <a:xfrm>
                <a:off x="609" y="2570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7" name="Google Shape;437;p29"/>
              <p:cNvSpPr/>
              <p:nvPr/>
            </p:nvSpPr>
            <p:spPr>
              <a:xfrm>
                <a:off x="621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38" name="Google Shape;438;p29"/>
            <p:cNvSpPr/>
            <p:nvPr/>
          </p:nvSpPr>
          <p:spPr>
            <a:xfrm>
              <a:off x="4228" y="1015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9" name="Google Shape;439;p29"/>
            <p:cNvGrpSpPr/>
            <p:nvPr/>
          </p:nvGrpSpPr>
          <p:grpSpPr>
            <a:xfrm>
              <a:off x="4745" y="998"/>
              <a:ext cx="490" cy="17"/>
              <a:chOff x="612" y="2572"/>
              <a:chExt cx="612" cy="18"/>
            </a:xfrm>
          </p:grpSpPr>
          <p:sp>
            <p:nvSpPr>
              <p:cNvPr id="440" name="Google Shape;440;p29"/>
              <p:cNvSpPr/>
              <p:nvPr/>
            </p:nvSpPr>
            <p:spPr>
              <a:xfrm>
                <a:off x="612" y="2572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1" name="Google Shape;441;p29"/>
              <p:cNvSpPr/>
              <p:nvPr/>
            </p:nvSpPr>
            <p:spPr>
              <a:xfrm>
                <a:off x="624" y="2590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42" name="Google Shape;442;p29"/>
            <p:cNvSpPr/>
            <p:nvPr/>
          </p:nvSpPr>
          <p:spPr>
            <a:xfrm>
              <a:off x="4218" y="1360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4228" y="1653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44" name="Google Shape;444;p29"/>
            <p:cNvGrpSpPr/>
            <p:nvPr/>
          </p:nvGrpSpPr>
          <p:grpSpPr>
            <a:xfrm>
              <a:off x="4735" y="1627"/>
              <a:ext cx="492" cy="326"/>
              <a:chOff x="614" y="2568"/>
              <a:chExt cx="613" cy="300"/>
            </a:xfrm>
          </p:grpSpPr>
          <p:sp>
            <p:nvSpPr>
              <p:cNvPr id="445" name="Google Shape;445;p29"/>
              <p:cNvSpPr/>
              <p:nvPr/>
            </p:nvSpPr>
            <p:spPr>
              <a:xfrm>
                <a:off x="614" y="2568"/>
                <a:ext cx="600" cy="30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6" name="Google Shape;446;p29"/>
              <p:cNvSpPr/>
              <p:nvPr/>
            </p:nvSpPr>
            <p:spPr>
              <a:xfrm>
                <a:off x="627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47" name="Google Shape;447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48" name="Google Shape;448;p29"/>
            <p:cNvGrpSpPr/>
            <p:nvPr/>
          </p:nvGrpSpPr>
          <p:grpSpPr>
            <a:xfrm>
              <a:off x="4735" y="1325"/>
              <a:ext cx="492" cy="18"/>
              <a:chOff x="609" y="2566"/>
              <a:chExt cx="613" cy="18"/>
            </a:xfrm>
          </p:grpSpPr>
          <p:sp>
            <p:nvSpPr>
              <p:cNvPr id="449" name="Google Shape;449;p29"/>
              <p:cNvSpPr/>
              <p:nvPr/>
            </p:nvSpPr>
            <p:spPr>
              <a:xfrm>
                <a:off x="609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0" name="Google Shape;450;p29"/>
              <p:cNvSpPr/>
              <p:nvPr/>
            </p:nvSpPr>
            <p:spPr>
              <a:xfrm>
                <a:off x="622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51" name="Google Shape;451;p29"/>
            <p:cNvSpPr/>
            <p:nvPr/>
          </p:nvSpPr>
          <p:spPr>
            <a:xfrm>
              <a:off x="5253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5516" y="2610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4140" y="2678"/>
              <a:ext cx="1200" cy="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4208" y="2713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4306" y="2385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4482" y="2385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4657" y="2377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5057" y="1834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62" name="Google Shape;462;p29"/>
          <p:cNvSpPr txBox="1"/>
          <p:nvPr/>
        </p:nvSpPr>
        <p:spPr>
          <a:xfrm>
            <a:off x="921800" y="4257398"/>
            <a:ext cx="5562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taken by TCP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 txBox="1"/>
          <p:nvPr>
            <p:ph idx="1" type="body"/>
          </p:nvPr>
        </p:nvSpPr>
        <p:spPr>
          <a:xfrm>
            <a:off x="718945" y="5640403"/>
            <a:ext cx="57813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2" lvl="0" marL="40798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3000"/>
              <a:t>TCP ECN, ATM, DECbit protocols</a:t>
            </a:r>
            <a:endParaRPr sz="3500"/>
          </a:p>
        </p:txBody>
      </p:sp>
      <p:sp>
        <p:nvSpPr>
          <p:cNvPr id="470" name="Google Shape;470;p30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Approaches towards congestion control</a:t>
            </a:r>
            <a:endParaRPr sz="4000"/>
          </a:p>
        </p:txBody>
      </p:sp>
      <p:sp>
        <p:nvSpPr>
          <p:cNvPr id="471" name="Google Shape;471;p30"/>
          <p:cNvSpPr/>
          <p:nvPr/>
        </p:nvSpPr>
        <p:spPr>
          <a:xfrm>
            <a:off x="7675918" y="3459066"/>
            <a:ext cx="2848872" cy="1480907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8314293" y="3762231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9356021" y="3755882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8290473" y="4147933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9238509" y="4124124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9905469" y="4178091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8670005" y="4711407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8133261" y="4171742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30"/>
          <p:cNvGrpSpPr/>
          <p:nvPr/>
        </p:nvGrpSpPr>
        <p:grpSpPr>
          <a:xfrm>
            <a:off x="9719388" y="3946464"/>
            <a:ext cx="581264" cy="284549"/>
            <a:chOff x="7493876" y="2774731"/>
            <a:chExt cx="1490420" cy="890885"/>
          </a:xfrm>
        </p:grpSpPr>
        <p:sp>
          <p:nvSpPr>
            <p:cNvPr id="480" name="Google Shape;480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2" name="Google Shape;482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83" name="Google Shape;483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7" name="Google Shape;487;p30"/>
          <p:cNvGrpSpPr/>
          <p:nvPr/>
        </p:nvGrpSpPr>
        <p:grpSpPr>
          <a:xfrm>
            <a:off x="9351260" y="4600224"/>
            <a:ext cx="581264" cy="284549"/>
            <a:chOff x="7493876" y="2774731"/>
            <a:chExt cx="1490420" cy="890885"/>
          </a:xfrm>
        </p:grpSpPr>
        <p:sp>
          <p:nvSpPr>
            <p:cNvPr id="488" name="Google Shape;488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0" name="Google Shape;490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91" name="Google Shape;491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30"/>
          <p:cNvGrpSpPr/>
          <p:nvPr/>
        </p:nvGrpSpPr>
        <p:grpSpPr>
          <a:xfrm>
            <a:off x="8194786" y="4551555"/>
            <a:ext cx="581264" cy="284549"/>
            <a:chOff x="7493876" y="2774731"/>
            <a:chExt cx="1490420" cy="890885"/>
          </a:xfrm>
        </p:grpSpPr>
        <p:sp>
          <p:nvSpPr>
            <p:cNvPr id="496" name="Google Shape;496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8" name="Google Shape;498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99" name="Google Shape;499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3" name="Google Shape;503;p30"/>
          <p:cNvGrpSpPr/>
          <p:nvPr/>
        </p:nvGrpSpPr>
        <p:grpSpPr>
          <a:xfrm>
            <a:off x="8800286" y="3636156"/>
            <a:ext cx="581264" cy="284549"/>
            <a:chOff x="7493876" y="2774731"/>
            <a:chExt cx="1490420" cy="890885"/>
          </a:xfrm>
        </p:grpSpPr>
        <p:sp>
          <p:nvSpPr>
            <p:cNvPr id="504" name="Google Shape;504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6" name="Google Shape;506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07" name="Google Shape;507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1" name="Google Shape;511;p30"/>
          <p:cNvGrpSpPr/>
          <p:nvPr/>
        </p:nvGrpSpPr>
        <p:grpSpPr>
          <a:xfrm>
            <a:off x="8710947" y="4233995"/>
            <a:ext cx="581264" cy="284549"/>
            <a:chOff x="7493876" y="2774731"/>
            <a:chExt cx="1490420" cy="890885"/>
          </a:xfrm>
        </p:grpSpPr>
        <p:sp>
          <p:nvSpPr>
            <p:cNvPr id="512" name="Google Shape;512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4" name="Google Shape;514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15" name="Google Shape;515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9" name="Google Shape;519;p30"/>
          <p:cNvGrpSpPr/>
          <p:nvPr/>
        </p:nvGrpSpPr>
        <p:grpSpPr>
          <a:xfrm>
            <a:off x="7764268" y="3944292"/>
            <a:ext cx="581264" cy="284549"/>
            <a:chOff x="7493876" y="2774731"/>
            <a:chExt cx="1490420" cy="890885"/>
          </a:xfrm>
        </p:grpSpPr>
        <p:sp>
          <p:nvSpPr>
            <p:cNvPr id="520" name="Google Shape;520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2" name="Google Shape;522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23" name="Google Shape;523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7" name="Google Shape;527;p30"/>
          <p:cNvSpPr/>
          <p:nvPr/>
        </p:nvSpPr>
        <p:spPr>
          <a:xfrm>
            <a:off x="11178866" y="2363683"/>
            <a:ext cx="250825" cy="12128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28" name="Google Shape;528;p30"/>
          <p:cNvGrpSpPr/>
          <p:nvPr/>
        </p:nvGrpSpPr>
        <p:grpSpPr>
          <a:xfrm>
            <a:off x="11355079" y="3260620"/>
            <a:ext cx="230793" cy="442062"/>
            <a:chOff x="4140" y="429"/>
            <a:chExt cx="1419" cy="2400"/>
          </a:xfrm>
        </p:grpSpPr>
        <p:sp>
          <p:nvSpPr>
            <p:cNvPr id="529" name="Google Shape;529;p30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4208" y="696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34" name="Google Shape;534;p30"/>
            <p:cNvGrpSpPr/>
            <p:nvPr/>
          </p:nvGrpSpPr>
          <p:grpSpPr>
            <a:xfrm>
              <a:off x="4745" y="670"/>
              <a:ext cx="490" cy="18"/>
              <a:chOff x="609" y="2570"/>
              <a:chExt cx="612" cy="17"/>
            </a:xfrm>
          </p:grpSpPr>
          <p:sp>
            <p:nvSpPr>
              <p:cNvPr id="535" name="Google Shape;535;p30"/>
              <p:cNvSpPr/>
              <p:nvPr/>
            </p:nvSpPr>
            <p:spPr>
              <a:xfrm>
                <a:off x="609" y="2570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36" name="Google Shape;536;p30"/>
              <p:cNvSpPr/>
              <p:nvPr/>
            </p:nvSpPr>
            <p:spPr>
              <a:xfrm>
                <a:off x="621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37" name="Google Shape;537;p30"/>
            <p:cNvSpPr/>
            <p:nvPr/>
          </p:nvSpPr>
          <p:spPr>
            <a:xfrm>
              <a:off x="4228" y="1015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38" name="Google Shape;538;p30"/>
            <p:cNvGrpSpPr/>
            <p:nvPr/>
          </p:nvGrpSpPr>
          <p:grpSpPr>
            <a:xfrm>
              <a:off x="4745" y="998"/>
              <a:ext cx="490" cy="17"/>
              <a:chOff x="612" y="2572"/>
              <a:chExt cx="612" cy="18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612" y="2572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624" y="2590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41" name="Google Shape;541;p30"/>
            <p:cNvSpPr/>
            <p:nvPr/>
          </p:nvSpPr>
          <p:spPr>
            <a:xfrm>
              <a:off x="4218" y="1360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4228" y="1653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43" name="Google Shape;543;p30"/>
            <p:cNvGrpSpPr/>
            <p:nvPr/>
          </p:nvGrpSpPr>
          <p:grpSpPr>
            <a:xfrm>
              <a:off x="4735" y="1627"/>
              <a:ext cx="492" cy="326"/>
              <a:chOff x="614" y="2568"/>
              <a:chExt cx="613" cy="300"/>
            </a:xfrm>
          </p:grpSpPr>
          <p:sp>
            <p:nvSpPr>
              <p:cNvPr id="544" name="Google Shape;544;p30"/>
              <p:cNvSpPr/>
              <p:nvPr/>
            </p:nvSpPr>
            <p:spPr>
              <a:xfrm>
                <a:off x="614" y="2568"/>
                <a:ext cx="600" cy="30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45" name="Google Shape;545;p30"/>
              <p:cNvSpPr/>
              <p:nvPr/>
            </p:nvSpPr>
            <p:spPr>
              <a:xfrm>
                <a:off x="627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46" name="Google Shape;546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47" name="Google Shape;547;p30"/>
            <p:cNvGrpSpPr/>
            <p:nvPr/>
          </p:nvGrpSpPr>
          <p:grpSpPr>
            <a:xfrm>
              <a:off x="4735" y="1325"/>
              <a:ext cx="492" cy="18"/>
              <a:chOff x="609" y="2566"/>
              <a:chExt cx="613" cy="18"/>
            </a:xfrm>
          </p:grpSpPr>
          <p:sp>
            <p:nvSpPr>
              <p:cNvPr id="548" name="Google Shape;548;p30"/>
              <p:cNvSpPr/>
              <p:nvPr/>
            </p:nvSpPr>
            <p:spPr>
              <a:xfrm>
                <a:off x="609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49" name="Google Shape;549;p30"/>
              <p:cNvSpPr/>
              <p:nvPr/>
            </p:nvSpPr>
            <p:spPr>
              <a:xfrm>
                <a:off x="622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50" name="Google Shape;550;p30"/>
            <p:cNvSpPr/>
            <p:nvPr/>
          </p:nvSpPr>
          <p:spPr>
            <a:xfrm>
              <a:off x="5253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5516" y="2610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4140" y="2678"/>
              <a:ext cx="1200" cy="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4208" y="2713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4306" y="2385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4482" y="2385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4657" y="2377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5057" y="1834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61" name="Google Shape;561;p30"/>
          <p:cNvSpPr/>
          <p:nvPr/>
        </p:nvSpPr>
        <p:spPr>
          <a:xfrm flipH="1">
            <a:off x="6810066" y="2305050"/>
            <a:ext cx="250825" cy="1201737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62" name="Google Shape;562;p30"/>
          <p:cNvGrpSpPr/>
          <p:nvPr/>
        </p:nvGrpSpPr>
        <p:grpSpPr>
          <a:xfrm>
            <a:off x="6405254" y="3243263"/>
            <a:ext cx="525462" cy="434992"/>
            <a:chOff x="-44" y="1473"/>
            <a:chExt cx="981" cy="1105"/>
          </a:xfrm>
        </p:grpSpPr>
        <p:pic>
          <p:nvPicPr>
            <p:cNvPr descr="desktop_computer_stylized_medium" id="563" name="Google Shape;56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65" name="Google Shape;565;p30"/>
          <p:cNvGrpSpPr/>
          <p:nvPr/>
        </p:nvGrpSpPr>
        <p:grpSpPr>
          <a:xfrm>
            <a:off x="7045286" y="2362077"/>
            <a:ext cx="717898" cy="1154400"/>
            <a:chOff x="7664720" y="2799688"/>
            <a:chExt cx="717898" cy="1154400"/>
          </a:xfrm>
        </p:grpSpPr>
        <p:sp>
          <p:nvSpPr>
            <p:cNvPr id="566" name="Google Shape;566;p30"/>
            <p:cNvSpPr/>
            <p:nvPr/>
          </p:nvSpPr>
          <p:spPr>
            <a:xfrm>
              <a:off x="7671781" y="2799688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7" name="Google Shape;567;p30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8" name="Google Shape;568;p30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9" name="Google Shape;569;p30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0" name="Google Shape;570;p30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1" name="Google Shape;571;p30"/>
          <p:cNvGrpSpPr/>
          <p:nvPr/>
        </p:nvGrpSpPr>
        <p:grpSpPr>
          <a:xfrm>
            <a:off x="10476914" y="2368655"/>
            <a:ext cx="717898" cy="1154400"/>
            <a:chOff x="7664720" y="2795550"/>
            <a:chExt cx="717898" cy="1154400"/>
          </a:xfrm>
        </p:grpSpPr>
        <p:sp>
          <p:nvSpPr>
            <p:cNvPr id="572" name="Google Shape;572;p30"/>
            <p:cNvSpPr/>
            <p:nvPr/>
          </p:nvSpPr>
          <p:spPr>
            <a:xfrm>
              <a:off x="7671781" y="2795550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3" name="Google Shape;573;p30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" name="Google Shape;574;p30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" name="Google Shape;575;p30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6" name="Google Shape;576;p30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7" name="Google Shape;577;p30"/>
          <p:cNvGrpSpPr/>
          <p:nvPr/>
        </p:nvGrpSpPr>
        <p:grpSpPr>
          <a:xfrm>
            <a:off x="8867832" y="4245561"/>
            <a:ext cx="456600" cy="226500"/>
            <a:chOff x="6859123" y="5156933"/>
            <a:chExt cx="456600" cy="226500"/>
          </a:xfrm>
        </p:grpSpPr>
        <p:sp>
          <p:nvSpPr>
            <p:cNvPr id="578" name="Google Shape;578;p30"/>
            <p:cNvSpPr/>
            <p:nvPr/>
          </p:nvSpPr>
          <p:spPr>
            <a:xfrm>
              <a:off x="6859123" y="5156933"/>
              <a:ext cx="456600" cy="226500"/>
            </a:xfrm>
            <a:prstGeom prst="rect">
              <a:avLst/>
            </a:prstGeom>
            <a:solidFill>
              <a:srgbClr val="F989B2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9" name="Google Shape;579;p30"/>
            <p:cNvCxnSpPr/>
            <p:nvPr/>
          </p:nvCxnSpPr>
          <p:spPr>
            <a:xfrm rot="10800000">
              <a:off x="724911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" name="Google Shape;580;p30"/>
            <p:cNvCxnSpPr/>
            <p:nvPr/>
          </p:nvCxnSpPr>
          <p:spPr>
            <a:xfrm rot="10800000">
              <a:off x="7197800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1" name="Google Shape;581;p30"/>
            <p:cNvCxnSpPr/>
            <p:nvPr/>
          </p:nvCxnSpPr>
          <p:spPr>
            <a:xfrm rot="10800000">
              <a:off x="714648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" name="Google Shape;582;p30"/>
            <p:cNvCxnSpPr/>
            <p:nvPr/>
          </p:nvCxnSpPr>
          <p:spPr>
            <a:xfrm rot="10800000">
              <a:off x="709517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3" name="Google Shape;583;p30"/>
            <p:cNvCxnSpPr/>
            <p:nvPr/>
          </p:nvCxnSpPr>
          <p:spPr>
            <a:xfrm rot="10800000">
              <a:off x="7043856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4" name="Google Shape;584;p30"/>
            <p:cNvCxnSpPr/>
            <p:nvPr/>
          </p:nvCxnSpPr>
          <p:spPr>
            <a:xfrm rot="10800000">
              <a:off x="699254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5" name="Google Shape;585;p30"/>
            <p:cNvCxnSpPr/>
            <p:nvPr/>
          </p:nvCxnSpPr>
          <p:spPr>
            <a:xfrm rot="10800000">
              <a:off x="6941227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6" name="Google Shape;586;p30"/>
          <p:cNvGrpSpPr/>
          <p:nvPr/>
        </p:nvGrpSpPr>
        <p:grpSpPr>
          <a:xfrm>
            <a:off x="7552398" y="2762175"/>
            <a:ext cx="3061681" cy="1432100"/>
            <a:chOff x="7552398" y="2762175"/>
            <a:chExt cx="3061681" cy="1432100"/>
          </a:xfrm>
        </p:grpSpPr>
        <p:sp>
          <p:nvSpPr>
            <p:cNvPr id="587" name="Google Shape;587;p30"/>
            <p:cNvSpPr/>
            <p:nvPr/>
          </p:nvSpPr>
          <p:spPr>
            <a:xfrm flipH="1">
              <a:off x="9104671" y="2771139"/>
              <a:ext cx="1509408" cy="1423136"/>
            </a:xfrm>
            <a:custGeom>
              <a:rect b="b" l="l" r="r" t="t"/>
              <a:pathLst>
                <a:path extrusionOk="0" h="1378340" w="1509408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7552398" y="2762175"/>
              <a:ext cx="1509408" cy="1423136"/>
            </a:xfrm>
            <a:custGeom>
              <a:rect b="b" l="l" r="r" t="t"/>
              <a:pathLst>
                <a:path extrusionOk="0" h="1378340" w="1509408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30"/>
          <p:cNvGrpSpPr/>
          <p:nvPr/>
        </p:nvGrpSpPr>
        <p:grpSpPr>
          <a:xfrm>
            <a:off x="7428575" y="2677315"/>
            <a:ext cx="3355703" cy="1705017"/>
            <a:chOff x="7428575" y="2677315"/>
            <a:chExt cx="3355703" cy="1705017"/>
          </a:xfrm>
        </p:grpSpPr>
        <p:sp>
          <p:nvSpPr>
            <p:cNvPr id="590" name="Google Shape;590;p30"/>
            <p:cNvSpPr/>
            <p:nvPr/>
          </p:nvSpPr>
          <p:spPr>
            <a:xfrm>
              <a:off x="9335149" y="2701273"/>
              <a:ext cx="1406439" cy="1681059"/>
            </a:xfrm>
            <a:custGeom>
              <a:rect b="b" l="l" r="r" t="t"/>
              <a:pathLst>
                <a:path extrusionOk="0" h="1681059" w="1541303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cap="flat" cmpd="sng" w="4445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7473006" y="2677315"/>
              <a:ext cx="1448585" cy="1701024"/>
            </a:xfrm>
            <a:custGeom>
              <a:rect b="b" l="l" r="r" t="t"/>
              <a:pathLst>
                <a:path extrusionOk="0" h="1701024" w="1549289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cap="flat" cmpd="sng" w="3810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0"/>
            <p:cNvSpPr txBox="1"/>
            <p:nvPr/>
          </p:nvSpPr>
          <p:spPr>
            <a:xfrm>
              <a:off x="10184578" y="355661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593" name="Google Shape;593;p30"/>
            <p:cNvSpPr txBox="1"/>
            <p:nvPr/>
          </p:nvSpPr>
          <p:spPr>
            <a:xfrm>
              <a:off x="7428575" y="351769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grpSp>
        <p:nvGrpSpPr>
          <p:cNvPr id="594" name="Google Shape;594;p30"/>
          <p:cNvGrpSpPr/>
          <p:nvPr/>
        </p:nvGrpSpPr>
        <p:grpSpPr>
          <a:xfrm>
            <a:off x="6799618" y="2691243"/>
            <a:ext cx="4657185" cy="1827509"/>
            <a:chOff x="6799618" y="2691243"/>
            <a:chExt cx="4657185" cy="1827509"/>
          </a:xfrm>
        </p:grpSpPr>
        <p:sp>
          <p:nvSpPr>
            <p:cNvPr id="595" name="Google Shape;595;p30"/>
            <p:cNvSpPr/>
            <p:nvPr/>
          </p:nvSpPr>
          <p:spPr>
            <a:xfrm>
              <a:off x="7353946" y="2691243"/>
              <a:ext cx="3497252" cy="1827509"/>
            </a:xfrm>
            <a:custGeom>
              <a:rect b="b" l="l" r="r" t="t"/>
              <a:pathLst>
                <a:path extrusionOk="0" h="1827509" w="3832605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0"/>
            <p:cNvSpPr txBox="1"/>
            <p:nvPr/>
          </p:nvSpPr>
          <p:spPr>
            <a:xfrm>
              <a:off x="6799618" y="3650736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  <p:sp>
          <p:nvSpPr>
            <p:cNvPr id="597" name="Google Shape;597;p30"/>
            <p:cNvSpPr txBox="1"/>
            <p:nvPr/>
          </p:nvSpPr>
          <p:spPr>
            <a:xfrm>
              <a:off x="10809403" y="3772400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</p:grpSp>
      <p:sp>
        <p:nvSpPr>
          <p:cNvPr id="598" name="Google Shape;598;p30"/>
          <p:cNvSpPr txBox="1"/>
          <p:nvPr/>
        </p:nvSpPr>
        <p:spPr>
          <a:xfrm>
            <a:off x="8061221" y="2622756"/>
            <a:ext cx="209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explicit congestion info</a:t>
            </a: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698090" y="1818967"/>
            <a:ext cx="5781300" cy="3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5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Network-assisted congestion control:</a:t>
            </a:r>
            <a:endParaRPr/>
          </a:p>
          <a:p>
            <a:pPr indent="-277812" lvl="0" marL="4079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 provide </a:t>
            </a: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feedback to sending/receiving hosts with flows passing through congested router</a:t>
            </a:r>
            <a:endParaRPr/>
          </a:p>
          <a:p>
            <a:pPr indent="-277812" lvl="0" marL="4079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indicate congestion level or explicitly set sending rate</a:t>
            </a:r>
            <a:endParaRPr/>
          </a:p>
        </p:txBody>
      </p:sp>
      <p:sp>
        <p:nvSpPr>
          <p:cNvPr id="600" name="Google Shape;600;p30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1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 txBox="1"/>
          <p:nvPr>
            <p:ph type="title"/>
          </p:nvPr>
        </p:nvSpPr>
        <p:spPr>
          <a:xfrm>
            <a:off x="762000" y="152400"/>
            <a:ext cx="106158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607" name="Google Shape;607;p31"/>
          <p:cNvSpPr txBox="1"/>
          <p:nvPr>
            <p:ph idx="1" type="body"/>
          </p:nvPr>
        </p:nvSpPr>
        <p:spPr>
          <a:xfrm>
            <a:off x="762000" y="1427450"/>
            <a:ext cx="10079700" cy="5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u="sng">
                <a:solidFill>
                  <a:srgbClr val="FF0000"/>
                </a:solidFill>
              </a:rPr>
              <a:t>How does  sender perceive congestion?</a:t>
            </a:r>
            <a:endParaRPr/>
          </a:p>
          <a:p>
            <a:pPr indent="-304800" lvl="1" marL="742950" rtl="0" algn="l">
              <a:spcBef>
                <a:spcPts val="4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loss event = timeout </a:t>
            </a:r>
            <a:r>
              <a:rPr i="1" lang="en-US" sz="2300"/>
              <a:t>or</a:t>
            </a:r>
            <a:r>
              <a:rPr lang="en-US" sz="2300"/>
              <a:t> 3 duplicate acks</a:t>
            </a:r>
            <a:endParaRPr sz="2700"/>
          </a:p>
          <a:p>
            <a:pPr indent="-3619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2300"/>
              <a:t>Retransmission of the lost packets does not solve congestion problem – it aggravates it</a:t>
            </a:r>
            <a:endParaRPr sz="3100"/>
          </a:p>
          <a:p>
            <a:pPr indent="-3619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2300"/>
              <a:t>In flow control, sender window size determined by the receiver window – no information about the network congestion</a:t>
            </a:r>
            <a:endParaRPr sz="3100"/>
          </a:p>
          <a:p>
            <a:pPr indent="-3619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2300"/>
              <a:t>TCP sender</a:t>
            </a:r>
            <a:endParaRPr sz="3100"/>
          </a:p>
          <a:p>
            <a:pPr indent="-304800" lvl="1" marL="742950" rtl="0" algn="l">
              <a:spcBef>
                <a:spcPts val="440"/>
              </a:spcBef>
              <a:spcAft>
                <a:spcPts val="0"/>
              </a:spcAft>
              <a:buSzPts val="2500"/>
              <a:buChar char="•"/>
            </a:pPr>
            <a:r>
              <a:rPr lang="en-US" sz="2700"/>
              <a:t>Maintains congestion window</a:t>
            </a: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CongWin</a:t>
            </a:r>
            <a:r>
              <a:rPr lang="en-US" sz="2700"/>
              <a:t> </a:t>
            </a:r>
            <a:endParaRPr sz="2700"/>
          </a:p>
          <a:p>
            <a:pPr indent="-247650" lvl="2" marL="1143000" rtl="0" algn="l">
              <a:spcBef>
                <a:spcPts val="4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dynamic function of perceived network congestion</a:t>
            </a:r>
            <a:endParaRPr sz="2300"/>
          </a:p>
          <a:p>
            <a:pPr indent="-285750" lvl="1" marL="742950" rtl="0" algn="l">
              <a:spcBef>
                <a:spcPts val="620"/>
              </a:spcBef>
              <a:spcAft>
                <a:spcPts val="0"/>
              </a:spcAft>
              <a:buSzPts val="2200"/>
              <a:buChar char="•"/>
            </a:pPr>
            <a:r>
              <a:rPr lang="en-US" sz="2700"/>
              <a:t>Limits sender window to</a:t>
            </a:r>
            <a:r>
              <a:rPr lang="en-US" sz="3400"/>
              <a:t> </a:t>
            </a:r>
            <a:r>
              <a:rPr lang="en-US" sz="2700">
                <a:solidFill>
                  <a:srgbClr val="3333CC"/>
                </a:solidFill>
              </a:rPr>
              <a:t>min (receiver window size, congestion window size) </a:t>
            </a:r>
            <a:endParaRPr sz="27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rPr b="1" lang="en-US" sz="2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LastByteSent-LastByteAcked ≤ min{CongWin,RcvWindow}</a:t>
            </a:r>
            <a:endParaRPr sz="3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2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2"/>
          <p:cNvSpPr txBox="1"/>
          <p:nvPr>
            <p:ph type="title"/>
          </p:nvPr>
        </p:nvSpPr>
        <p:spPr>
          <a:xfrm>
            <a:off x="685800" y="228600"/>
            <a:ext cx="10218600" cy="13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614" name="Google Shape;614;p32"/>
          <p:cNvSpPr txBox="1"/>
          <p:nvPr>
            <p:ph idx="1" type="body"/>
          </p:nvPr>
        </p:nvSpPr>
        <p:spPr>
          <a:xfrm>
            <a:off x="685800" y="1905000"/>
            <a:ext cx="10135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3000"/>
              <a:t>What is the size of </a:t>
            </a: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CongWin?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3000" u="sng">
                <a:solidFill>
                  <a:srgbClr val="FF0000"/>
                </a:solidFill>
              </a:rPr>
              <a:t>three mechanisms:</a:t>
            </a:r>
            <a:endParaRPr sz="3000"/>
          </a:p>
          <a:p>
            <a:pPr indent="-2984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600"/>
              <a:t>Slow Start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600"/>
              <a:t>Additive increase (AI)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600"/>
              <a:t>Multiplicative Decrease (MD)</a:t>
            </a:r>
            <a:endParaRPr sz="3000"/>
          </a:p>
          <a:p>
            <a:pPr indent="-210820" lvl="0" marL="342900" rtl="0" algn="l"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3"/>
          <p:cNvSpPr txBox="1"/>
          <p:nvPr>
            <p:ph type="title"/>
          </p:nvPr>
        </p:nvSpPr>
        <p:spPr>
          <a:xfrm>
            <a:off x="811390" y="25815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TCP congestion control: AIMD</a:t>
            </a:r>
            <a:endParaRPr b="0" sz="4000"/>
          </a:p>
        </p:txBody>
      </p:sp>
      <p:sp>
        <p:nvSpPr>
          <p:cNvPr id="621" name="Google Shape;621;p33"/>
          <p:cNvSpPr/>
          <p:nvPr/>
        </p:nvSpPr>
        <p:spPr>
          <a:xfrm>
            <a:off x="901700" y="1168400"/>
            <a:ext cx="10274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senders can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sending rate until packet loss (congestion) occurs, then decrease sending rate on loss event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2" name="Google Shape;622;p33"/>
          <p:cNvSpPr txBox="1"/>
          <p:nvPr/>
        </p:nvSpPr>
        <p:spPr>
          <a:xfrm>
            <a:off x="8688708" y="4380805"/>
            <a:ext cx="27693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AIMD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sawtooth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behavior: </a:t>
            </a:r>
            <a:r>
              <a:rPr b="0" i="1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probing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bandwidth</a:t>
            </a: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4717339" y="3774454"/>
            <a:ext cx="6858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24" name="Google Shape;624;p33"/>
          <p:cNvCxnSpPr/>
          <p:nvPr/>
        </p:nvCxnSpPr>
        <p:spPr>
          <a:xfrm flipH="1" rot="10800000">
            <a:off x="3898189" y="5196916"/>
            <a:ext cx="169800" cy="16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33"/>
          <p:cNvCxnSpPr/>
          <p:nvPr/>
        </p:nvCxnSpPr>
        <p:spPr>
          <a:xfrm>
            <a:off x="4079164" y="5185741"/>
            <a:ext cx="0" cy="64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33"/>
          <p:cNvCxnSpPr/>
          <p:nvPr/>
        </p:nvCxnSpPr>
        <p:spPr>
          <a:xfrm flipH="1" rot="10800000">
            <a:off x="4068052" y="4869904"/>
            <a:ext cx="982800" cy="9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33"/>
          <p:cNvCxnSpPr/>
          <p:nvPr/>
        </p:nvCxnSpPr>
        <p:spPr>
          <a:xfrm>
            <a:off x="5039602" y="4871416"/>
            <a:ext cx="0" cy="80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3"/>
          <p:cNvCxnSpPr/>
          <p:nvPr/>
        </p:nvCxnSpPr>
        <p:spPr>
          <a:xfrm flipH="1" rot="10800000">
            <a:off x="5031664" y="5168354"/>
            <a:ext cx="525600" cy="52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3"/>
          <p:cNvCxnSpPr/>
          <p:nvPr/>
        </p:nvCxnSpPr>
        <p:spPr>
          <a:xfrm>
            <a:off x="5557127" y="5163516"/>
            <a:ext cx="0" cy="68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3"/>
          <p:cNvCxnSpPr/>
          <p:nvPr/>
        </p:nvCxnSpPr>
        <p:spPr>
          <a:xfrm flipH="1" rot="10800000">
            <a:off x="5568240" y="4849266"/>
            <a:ext cx="969900" cy="9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3"/>
          <p:cNvCxnSpPr/>
          <p:nvPr/>
        </p:nvCxnSpPr>
        <p:spPr>
          <a:xfrm>
            <a:off x="6533440" y="4849191"/>
            <a:ext cx="11100" cy="83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3"/>
          <p:cNvCxnSpPr/>
          <p:nvPr/>
        </p:nvCxnSpPr>
        <p:spPr>
          <a:xfrm flipH="1" rot="10800000">
            <a:off x="6538202" y="5012854"/>
            <a:ext cx="666900" cy="66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3"/>
          <p:cNvCxnSpPr/>
          <p:nvPr/>
        </p:nvCxnSpPr>
        <p:spPr>
          <a:xfrm>
            <a:off x="7204952" y="4998416"/>
            <a:ext cx="0" cy="7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3"/>
          <p:cNvCxnSpPr/>
          <p:nvPr/>
        </p:nvCxnSpPr>
        <p:spPr>
          <a:xfrm flipH="1" rot="10800000">
            <a:off x="7195427" y="4746116"/>
            <a:ext cx="876300" cy="101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35" name="Google Shape;635;p33"/>
          <p:cNvGrpSpPr/>
          <p:nvPr/>
        </p:nvGrpSpPr>
        <p:grpSpPr>
          <a:xfrm>
            <a:off x="3439504" y="4254399"/>
            <a:ext cx="4601986" cy="2568617"/>
            <a:chOff x="4099904" y="3936900"/>
            <a:chExt cx="4601986" cy="2568617"/>
          </a:xfrm>
        </p:grpSpPr>
        <p:sp>
          <p:nvSpPr>
            <p:cNvPr id="636" name="Google Shape;636;p33"/>
            <p:cNvSpPr txBox="1"/>
            <p:nvPr/>
          </p:nvSpPr>
          <p:spPr>
            <a:xfrm rot="-5400000">
              <a:off x="3117104" y="4919700"/>
              <a:ext cx="2273400" cy="30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TCP sender  Sending rate</a:t>
              </a:r>
              <a:endParaRPr/>
            </a:p>
          </p:txBody>
        </p:sp>
        <p:cxnSp>
          <p:nvCxnSpPr>
            <p:cNvPr id="637" name="Google Shape;637;p33"/>
            <p:cNvCxnSpPr/>
            <p:nvPr/>
          </p:nvCxnSpPr>
          <p:spPr>
            <a:xfrm>
              <a:off x="4558589" y="6176341"/>
              <a:ext cx="414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8" name="Google Shape;638;p33"/>
            <p:cNvCxnSpPr/>
            <p:nvPr/>
          </p:nvCxnSpPr>
          <p:spPr>
            <a:xfrm>
              <a:off x="4546600" y="4203700"/>
              <a:ext cx="900" cy="197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9" name="Google Shape;639;p33"/>
            <p:cNvSpPr txBox="1"/>
            <p:nvPr/>
          </p:nvSpPr>
          <p:spPr>
            <a:xfrm>
              <a:off x="6125452" y="6166816"/>
              <a:ext cx="576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time</a:t>
              </a:r>
              <a:endParaRPr/>
            </a:p>
          </p:txBody>
        </p:sp>
      </p:grpSp>
      <p:grpSp>
        <p:nvGrpSpPr>
          <p:cNvPr id="640" name="Google Shape;640;p33"/>
          <p:cNvGrpSpPr/>
          <p:nvPr/>
        </p:nvGrpSpPr>
        <p:grpSpPr>
          <a:xfrm>
            <a:off x="965200" y="2146300"/>
            <a:ext cx="5054441" cy="1905000"/>
            <a:chOff x="0" y="4533900"/>
            <a:chExt cx="4762500" cy="1905000"/>
          </a:xfrm>
        </p:grpSpPr>
        <p:sp>
          <p:nvSpPr>
            <p:cNvPr id="641" name="Google Shape;641;p33"/>
            <p:cNvSpPr/>
            <p:nvPr/>
          </p:nvSpPr>
          <p:spPr>
            <a:xfrm>
              <a:off x="406846" y="4737100"/>
              <a:ext cx="4335000" cy="14352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600"/>
                <a:buFont typeface="Calibri"/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increase sending rate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by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maximum segment size every RTT until loss detected</a:t>
              </a:r>
              <a:endParaRPr b="0" i="1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508000" y="4533900"/>
              <a:ext cx="2667000" cy="444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1" lang="en-US" sz="2800" u="sng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1" lang="en-US" sz="2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dditive </a:t>
              </a:r>
              <a:r>
                <a:rPr b="0" i="1" lang="en-US" sz="2800" u="sng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r>
                <a:rPr b="0" i="1" lang="en-US" sz="2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ncrease</a:t>
              </a:r>
              <a:endParaRPr b="0" i="0" sz="28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644" name="Google Shape;644;p33"/>
          <p:cNvGrpSpPr/>
          <p:nvPr/>
        </p:nvGrpSpPr>
        <p:grpSpPr>
          <a:xfrm>
            <a:off x="6007100" y="2197100"/>
            <a:ext cx="4749900" cy="1422300"/>
            <a:chOff x="38100" y="4533900"/>
            <a:chExt cx="4749900" cy="1422300"/>
          </a:xfrm>
        </p:grpSpPr>
        <p:sp>
          <p:nvSpPr>
            <p:cNvPr id="645" name="Google Shape;645;p33"/>
            <p:cNvSpPr/>
            <p:nvPr/>
          </p:nvSpPr>
          <p:spPr>
            <a:xfrm>
              <a:off x="342900" y="4686300"/>
              <a:ext cx="4267200" cy="12699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38100" y="4991100"/>
              <a:ext cx="4749900" cy="8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600"/>
                <a:buFont typeface="Calibri"/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cut sending rate in half at each loss event</a:t>
              </a:r>
              <a:endParaRPr b="0" i="1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508000" y="4533900"/>
              <a:ext cx="3746400" cy="444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1" lang="en-US" sz="2800" u="sng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ultiplicative </a:t>
              </a:r>
              <a:r>
                <a:rPr b="0" i="1" lang="en-US" sz="2800" u="sng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ecrease</a:t>
              </a:r>
              <a:endParaRPr b="0" i="0" sz="28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648" name="Google Shape;648;p33"/>
          <p:cNvGrpSpPr/>
          <p:nvPr/>
        </p:nvGrpSpPr>
        <p:grpSpPr>
          <a:xfrm>
            <a:off x="3952943" y="3784600"/>
            <a:ext cx="3599100" cy="1591338"/>
            <a:chOff x="3965643" y="3797300"/>
            <a:chExt cx="3599100" cy="1591338"/>
          </a:xfrm>
        </p:grpSpPr>
        <p:grpSp>
          <p:nvGrpSpPr>
            <p:cNvPr id="649" name="Google Shape;649;p33"/>
            <p:cNvGrpSpPr/>
            <p:nvPr/>
          </p:nvGrpSpPr>
          <p:grpSpPr>
            <a:xfrm>
              <a:off x="3965643" y="4159386"/>
              <a:ext cx="3599100" cy="1229252"/>
              <a:chOff x="3965643" y="4159386"/>
              <a:chExt cx="3599100" cy="1229252"/>
            </a:xfrm>
          </p:grpSpPr>
          <p:cxnSp>
            <p:nvCxnSpPr>
              <p:cNvPr id="650" name="Google Shape;650;p33"/>
              <p:cNvCxnSpPr/>
              <p:nvPr/>
            </p:nvCxnSpPr>
            <p:spPr>
              <a:xfrm>
                <a:off x="3972128" y="4163438"/>
                <a:ext cx="0" cy="10563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1" name="Google Shape;651;p33"/>
              <p:cNvCxnSpPr/>
              <p:nvPr/>
            </p:nvCxnSpPr>
            <p:spPr>
              <a:xfrm>
                <a:off x="4480128" y="4163438"/>
                <a:ext cx="0" cy="12213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2" name="Google Shape;652;p33"/>
              <p:cNvCxnSpPr/>
              <p:nvPr/>
            </p:nvCxnSpPr>
            <p:spPr>
              <a:xfrm>
                <a:off x="5295630" y="4163438"/>
                <a:ext cx="0" cy="12252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3" name="Google Shape;653;p33"/>
              <p:cNvCxnSpPr/>
              <p:nvPr/>
            </p:nvCxnSpPr>
            <p:spPr>
              <a:xfrm>
                <a:off x="5964941" y="4171542"/>
                <a:ext cx="0" cy="12042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4" name="Google Shape;654;p33"/>
              <p:cNvCxnSpPr/>
              <p:nvPr/>
            </p:nvCxnSpPr>
            <p:spPr>
              <a:xfrm>
                <a:off x="6794500" y="4165056"/>
                <a:ext cx="0" cy="1193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5" name="Google Shape;655;p33"/>
              <p:cNvCxnSpPr/>
              <p:nvPr/>
            </p:nvCxnSpPr>
            <p:spPr>
              <a:xfrm>
                <a:off x="7559743" y="4159386"/>
                <a:ext cx="0" cy="11064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6" name="Google Shape;656;p33"/>
              <p:cNvCxnSpPr/>
              <p:nvPr/>
            </p:nvCxnSpPr>
            <p:spPr>
              <a:xfrm>
                <a:off x="3965643" y="4162357"/>
                <a:ext cx="35991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57" name="Google Shape;657;p33"/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noFill/>
            <a:ln cap="flat" cmpd="sng" w="12700">
              <a:solidFill>
                <a:srgbClr val="00B05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8" name="Google Shape;658;p33"/>
          <p:cNvGrpSpPr/>
          <p:nvPr/>
        </p:nvGrpSpPr>
        <p:grpSpPr>
          <a:xfrm>
            <a:off x="4108500" y="3622650"/>
            <a:ext cx="3819476" cy="1695475"/>
            <a:chOff x="4108500" y="3622650"/>
            <a:chExt cx="3819476" cy="1695475"/>
          </a:xfrm>
        </p:grpSpPr>
        <p:grpSp>
          <p:nvGrpSpPr>
            <p:cNvPr id="659" name="Google Shape;659;p33"/>
            <p:cNvGrpSpPr/>
            <p:nvPr/>
          </p:nvGrpSpPr>
          <p:grpSpPr>
            <a:xfrm>
              <a:off x="4108500" y="3975100"/>
              <a:ext cx="3819476" cy="1343025"/>
              <a:chOff x="4108500" y="3975100"/>
              <a:chExt cx="3819476" cy="1343025"/>
            </a:xfrm>
          </p:grpSpPr>
          <p:cxnSp>
            <p:nvCxnSpPr>
              <p:cNvPr id="660" name="Google Shape;660;p33"/>
              <p:cNvCxnSpPr/>
              <p:nvPr/>
            </p:nvCxnSpPr>
            <p:spPr>
              <a:xfrm flipH="1">
                <a:off x="7245300" y="3981450"/>
                <a:ext cx="679500" cy="1254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1" name="Google Shape;661;p33"/>
              <p:cNvCxnSpPr/>
              <p:nvPr/>
            </p:nvCxnSpPr>
            <p:spPr>
              <a:xfrm flipH="1">
                <a:off x="4108500" y="3975100"/>
                <a:ext cx="3816300" cy="133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2" name="Google Shape;662;p33"/>
              <p:cNvCxnSpPr/>
              <p:nvPr/>
            </p:nvCxnSpPr>
            <p:spPr>
              <a:xfrm flipH="1">
                <a:off x="5070600" y="3978275"/>
                <a:ext cx="2854200" cy="1298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3" name="Google Shape;663;p33"/>
              <p:cNvCxnSpPr/>
              <p:nvPr/>
            </p:nvCxnSpPr>
            <p:spPr>
              <a:xfrm flipH="1">
                <a:off x="5607176" y="3984625"/>
                <a:ext cx="2320800" cy="1333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4" name="Google Shape;664;p33"/>
              <p:cNvCxnSpPr/>
              <p:nvPr/>
            </p:nvCxnSpPr>
            <p:spPr>
              <a:xfrm flipH="1">
                <a:off x="6565800" y="3984625"/>
                <a:ext cx="1359000" cy="1193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665" name="Google Shape;665;p33"/>
            <p:cNvCxnSpPr/>
            <p:nvPr/>
          </p:nvCxnSpPr>
          <p:spPr>
            <a:xfrm rot="10800000">
              <a:off x="7921625" y="3622650"/>
              <a:ext cx="0" cy="35880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6" name="Google Shape;666;p33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4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2" name="Google Shape;672;p34"/>
          <p:cNvSpPr txBox="1"/>
          <p:nvPr>
            <p:ph idx="4294967295" type="title"/>
          </p:nvPr>
        </p:nvSpPr>
        <p:spPr>
          <a:xfrm>
            <a:off x="406400" y="152400"/>
            <a:ext cx="11480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Slow Start</a:t>
            </a:r>
            <a:endParaRPr/>
          </a:p>
        </p:txBody>
      </p:sp>
      <p:sp>
        <p:nvSpPr>
          <p:cNvPr id="673" name="Google Shape;673;p34"/>
          <p:cNvSpPr txBox="1"/>
          <p:nvPr>
            <p:ph idx="4294967295" type="body"/>
          </p:nvPr>
        </p:nvSpPr>
        <p:spPr>
          <a:xfrm>
            <a:off x="406400" y="1143000"/>
            <a:ext cx="117855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When connection begins,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/>
              <a:t> = 1 MSS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Example: MSS = 500 bytes &amp; RTT = 200 msec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initial rate = 20 kbps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available bandwidth may be &gt;&gt; MSS/RTT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It is desirable to quickly ramp up to respectable rate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When connection begins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increase rate exponentially fast until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first loss event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or reaches a threshold (then additive increase)</a:t>
            </a:r>
            <a:endParaRPr/>
          </a:p>
          <a:p>
            <a:pPr indent="-210820" lvl="0" marL="342900" rtl="0" algn="l"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>
                <a:highlight>
                  <a:srgbClr val="EA9999"/>
                </a:highlight>
              </a:rPr>
              <a:t>MSS = Maximum Segment Size</a:t>
            </a:r>
            <a:endParaRPr>
              <a:highlight>
                <a:srgbClr val="EA9999"/>
              </a:highlight>
            </a:endParaRPr>
          </a:p>
        </p:txBody>
      </p:sp>
      <p:sp>
        <p:nvSpPr>
          <p:cNvPr id="674" name="Google Shape;674;p34"/>
          <p:cNvSpPr/>
          <p:nvPr/>
        </p:nvSpPr>
        <p:spPr>
          <a:xfrm>
            <a:off x="6502400" y="1600200"/>
            <a:ext cx="5384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3359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F2936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5" name="Google Shape;675;p34"/>
          <p:cNvSpPr/>
          <p:nvPr/>
        </p:nvSpPr>
        <p:spPr>
          <a:xfrm>
            <a:off x="5892800" y="1447800"/>
            <a:ext cx="5384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3359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F2936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1" name="Google Shape;681;p35"/>
          <p:cNvSpPr txBox="1"/>
          <p:nvPr>
            <p:ph idx="4294967295" type="title"/>
          </p:nvPr>
        </p:nvSpPr>
        <p:spPr>
          <a:xfrm>
            <a:off x="711200" y="228600"/>
            <a:ext cx="11480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Slow Start</a:t>
            </a:r>
            <a:endParaRPr/>
          </a:p>
        </p:txBody>
      </p:sp>
      <p:pic>
        <p:nvPicPr>
          <p:cNvPr id="682" name="Google Shape;6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400" y="905875"/>
            <a:ext cx="7454174" cy="56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5"/>
          <p:cNvSpPr txBox="1"/>
          <p:nvPr>
            <p:ph idx="1" type="body"/>
          </p:nvPr>
        </p:nvSpPr>
        <p:spPr>
          <a:xfrm>
            <a:off x="838200" y="1724025"/>
            <a:ext cx="10515600" cy="508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-US" sz="2500"/>
              <a:t>done by incrementing </a:t>
            </a:r>
            <a:endParaRPr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CongWin</a:t>
            </a:r>
            <a:r>
              <a:rPr lang="en-US" sz="2500"/>
              <a:t> for every</a:t>
            </a:r>
            <a:endParaRPr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/>
              <a:t>     ACK received</a:t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rgbClr val="FF0000"/>
                </a:solidFill>
              </a:rPr>
              <a:t>Summary:</a:t>
            </a:r>
            <a:r>
              <a:rPr lang="en-US" sz="2500"/>
              <a:t> initial rate is slow </a:t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/>
              <a:t>but ramps up exponentially fast</a:t>
            </a:r>
            <a:endParaRPr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6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 txBox="1"/>
          <p:nvPr>
            <p:ph type="title"/>
          </p:nvPr>
        </p:nvSpPr>
        <p:spPr>
          <a:xfrm>
            <a:off x="533400" y="76200"/>
            <a:ext cx="10261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Additive Increase</a:t>
            </a:r>
            <a:endParaRPr/>
          </a:p>
        </p:txBody>
      </p:sp>
      <p:sp>
        <p:nvSpPr>
          <p:cNvPr id="690" name="Google Shape;690;p36"/>
          <p:cNvSpPr txBox="1"/>
          <p:nvPr>
            <p:ph idx="1" type="body"/>
          </p:nvPr>
        </p:nvSpPr>
        <p:spPr>
          <a:xfrm>
            <a:off x="406400" y="1066800"/>
            <a:ext cx="110745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for each successfully received ACK, increase the window size by </a:t>
            </a:r>
            <a:r>
              <a:rPr i="1" lang="en-US"/>
              <a:t>((1/n) * MSS))</a:t>
            </a:r>
            <a:r>
              <a:rPr lang="en-US"/>
              <a:t>.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i="1" lang="en-US"/>
              <a:t>n </a:t>
            </a:r>
            <a:r>
              <a:rPr lang="en-US"/>
              <a:t>= current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/>
              <a:t> size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691" name="Google Shape;69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8775" y="1638225"/>
            <a:ext cx="6754976" cy="483877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6"/>
          <p:cNvSpPr txBox="1"/>
          <p:nvPr/>
        </p:nvSpPr>
        <p:spPr>
          <a:xfrm>
            <a:off x="406400" y="3087188"/>
            <a:ext cx="37389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8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other word, increase 1 MSS after each RTT.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7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7"/>
          <p:cNvSpPr txBox="1"/>
          <p:nvPr>
            <p:ph type="title"/>
          </p:nvPr>
        </p:nvSpPr>
        <p:spPr>
          <a:xfrm>
            <a:off x="762000" y="152400"/>
            <a:ext cx="102666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Multiplicative Decrease</a:t>
            </a:r>
            <a:endParaRPr/>
          </a:p>
        </p:txBody>
      </p:sp>
      <p:sp>
        <p:nvSpPr>
          <p:cNvPr id="699" name="Google Shape;699;p37"/>
          <p:cNvSpPr txBox="1"/>
          <p:nvPr>
            <p:ph idx="1" type="body"/>
          </p:nvPr>
        </p:nvSpPr>
        <p:spPr>
          <a:xfrm>
            <a:off x="762000" y="1676400"/>
            <a:ext cx="10217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after loss event reduce or cut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/>
              <a:t> to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half of previous value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Or any specific value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8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8"/>
          <p:cNvSpPr txBox="1"/>
          <p:nvPr>
            <p:ph type="title"/>
          </p:nvPr>
        </p:nvSpPr>
        <p:spPr>
          <a:xfrm>
            <a:off x="457200" y="76200"/>
            <a:ext cx="105588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707" name="Google Shape;707;p38"/>
          <p:cNvSpPr txBox="1"/>
          <p:nvPr>
            <p:ph idx="1" type="body"/>
          </p:nvPr>
        </p:nvSpPr>
        <p:spPr>
          <a:xfrm>
            <a:off x="406400" y="1416250"/>
            <a:ext cx="11675700" cy="5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SzPts val="2180"/>
              <a:buFont typeface="Arial"/>
              <a:buAutoNum type="arabicPeriod"/>
            </a:pPr>
            <a:r>
              <a:rPr lang="en-US" sz="2900"/>
              <a:t>Slow Start (SS) (Exponential Increase)</a:t>
            </a:r>
            <a:endParaRPr sz="29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start with the congestion window (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 sz="2500"/>
              <a:t>) = 1MSS</a:t>
            </a:r>
            <a:endParaRPr sz="25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for each successfully received ACK increase the cwnd size by 1 until the 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 sz="2500"/>
              <a:t> =  threshold value;</a:t>
            </a:r>
            <a:endParaRPr sz="2500"/>
          </a:p>
          <a:p>
            <a:pPr indent="-508000" lvl="0" marL="457200" rtl="0" algn="l">
              <a:spcBef>
                <a:spcPts val="420"/>
              </a:spcBef>
              <a:spcAft>
                <a:spcPts val="0"/>
              </a:spcAft>
              <a:buSzPts val="2480"/>
              <a:buFont typeface="Arial"/>
              <a:buAutoNum type="arabicPeriod"/>
            </a:pPr>
            <a:r>
              <a:rPr lang="en-US" sz="2900"/>
              <a:t>Additive Increase (AI) (Congestion Avoidance)</a:t>
            </a:r>
            <a:endParaRPr sz="36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after that, for each successfully received ACK, increase the window size by 1/</a:t>
            </a:r>
            <a:r>
              <a:rPr i="1" lang="en-US" sz="2500"/>
              <a:t>n</a:t>
            </a:r>
            <a:r>
              <a:rPr lang="en-US" sz="2500"/>
              <a:t> segments up to a size of the receiver window. </a:t>
            </a:r>
            <a:r>
              <a:rPr i="1" lang="en-US" sz="2500"/>
              <a:t>n</a:t>
            </a:r>
            <a:r>
              <a:rPr lang="en-US" sz="2500"/>
              <a:t>=current 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 sz="2500"/>
              <a:t> size</a:t>
            </a:r>
            <a:endParaRPr sz="2500"/>
          </a:p>
          <a:p>
            <a:pPr indent="-463550" lvl="0" marL="457200" rtl="0" algn="l">
              <a:spcBef>
                <a:spcPts val="520"/>
              </a:spcBef>
              <a:spcAft>
                <a:spcPts val="0"/>
              </a:spcAft>
              <a:buSzPts val="2180"/>
              <a:buFont typeface="Arial"/>
              <a:buAutoNum type="arabicPeriod"/>
            </a:pPr>
            <a:r>
              <a:rPr lang="en-US" sz="2900"/>
              <a:t>Multiplicative Decrease (MD)</a:t>
            </a:r>
            <a:endParaRPr sz="29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if a time-out occurs the (TCP Tahoe, TCP Reno)</a:t>
            </a:r>
            <a:endParaRPr sz="2500"/>
          </a:p>
          <a:p>
            <a:pPr indent="-381000" lvl="2" marL="12954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100"/>
              <a:t>	Threshold = ½ (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CongWin), CongWin</a:t>
            </a:r>
            <a:r>
              <a:rPr lang="en-US" sz="2100"/>
              <a:t> = 1 MSS, 	.</a:t>
            </a:r>
            <a:endParaRPr sz="21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if 3 duplicated ACKs received (TCP Reno)</a:t>
            </a:r>
            <a:endParaRPr sz="2500"/>
          </a:p>
          <a:p>
            <a:pPr indent="-381000" lvl="2" marL="12954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100"/>
              <a:t>	Threshold = ½ (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CongWin), </a:t>
            </a:r>
            <a:r>
              <a:rPr lang="en-US" sz="2100"/>
              <a:t> 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CongWin = threshold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9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9"/>
          <p:cNvSpPr txBox="1"/>
          <p:nvPr>
            <p:ph type="title"/>
          </p:nvPr>
        </p:nvSpPr>
        <p:spPr>
          <a:xfrm>
            <a:off x="381000" y="152400"/>
            <a:ext cx="103602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 control in TCP</a:t>
            </a:r>
            <a:endParaRPr/>
          </a:p>
        </p:txBody>
      </p:sp>
      <p:pic>
        <p:nvPicPr>
          <p:cNvPr id="714" name="Google Shape;714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00" y="1241427"/>
            <a:ext cx="11785500" cy="52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0"/>
          <p:cNvSpPr txBox="1"/>
          <p:nvPr>
            <p:ph type="title"/>
          </p:nvPr>
        </p:nvSpPr>
        <p:spPr>
          <a:xfrm>
            <a:off x="457200" y="152400"/>
            <a:ext cx="1027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 control in TCP</a:t>
            </a:r>
            <a:endParaRPr/>
          </a:p>
        </p:txBody>
      </p:sp>
      <p:pic>
        <p:nvPicPr>
          <p:cNvPr id="721" name="Google Shape;72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5" y="1223945"/>
            <a:ext cx="10799157" cy="49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1"/>
          <p:cNvSpPr txBox="1"/>
          <p:nvPr>
            <p:ph idx="12" type="sldNum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</a:t>
            </a:r>
            <a:endParaRPr/>
          </a:p>
        </p:txBody>
      </p:sp>
      <p:sp>
        <p:nvSpPr>
          <p:cNvPr id="727" name="Google Shape;727;p41"/>
          <p:cNvSpPr txBox="1"/>
          <p:nvPr>
            <p:ph idx="1" type="body"/>
          </p:nvPr>
        </p:nvSpPr>
        <p:spPr>
          <a:xfrm>
            <a:off x="711200" y="1219200"/>
            <a:ext cx="9578100" cy="1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Q:</a:t>
            </a:r>
            <a:r>
              <a:rPr lang="en-US" sz="2400"/>
              <a:t> when should the exponential increase switch to linear?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A:</a:t>
            </a:r>
            <a:r>
              <a:rPr lang="en-US" sz="2400"/>
              <a:t> when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lang="en-US" sz="2400"/>
              <a:t> gets to 1/2 of its value before timeout.</a:t>
            </a:r>
            <a:r>
              <a:rPr lang="en-US"/>
              <a:t> </a:t>
            </a:r>
            <a:endParaRPr/>
          </a:p>
        </p:txBody>
      </p:sp>
      <p:sp>
        <p:nvSpPr>
          <p:cNvPr id="728" name="Google Shape;728;p41"/>
          <p:cNvSpPr txBox="1"/>
          <p:nvPr>
            <p:ph idx="2" type="body"/>
          </p:nvPr>
        </p:nvSpPr>
        <p:spPr>
          <a:xfrm>
            <a:off x="787399" y="3090212"/>
            <a:ext cx="52509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Font typeface="Noto Sans Symbols"/>
              <a:buNone/>
            </a:pPr>
            <a:r>
              <a:rPr lang="en-US" u="sng">
                <a:solidFill>
                  <a:srgbClr val="FF0000"/>
                </a:solidFill>
              </a:rPr>
              <a:t>Implementation: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variable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ssthresh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on loss event,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ssthresh</a:t>
            </a:r>
            <a:r>
              <a:rPr lang="en-US" sz="2400"/>
              <a:t> is set to 1/2 of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/>
              <a:t>just before loss event</a:t>
            </a:r>
            <a:endParaRPr/>
          </a:p>
        </p:txBody>
      </p:sp>
      <p:pic>
        <p:nvPicPr>
          <p:cNvPr id="729" name="Google Shape;7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3100099"/>
            <a:ext cx="5105400" cy="29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1"/>
          <p:cNvSpPr txBox="1"/>
          <p:nvPr>
            <p:ph type="title"/>
          </p:nvPr>
        </p:nvSpPr>
        <p:spPr>
          <a:xfrm>
            <a:off x="609600" y="76200"/>
            <a:ext cx="1123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TCP: Switching from Slow Start to Additive Increase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2"/>
          <p:cNvSpPr txBox="1"/>
          <p:nvPr>
            <p:ph type="title"/>
          </p:nvPr>
        </p:nvSpPr>
        <p:spPr>
          <a:xfrm>
            <a:off x="798690" y="27695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CUBIC</a:t>
            </a:r>
            <a:endParaRPr b="0" sz="4400"/>
          </a:p>
        </p:txBody>
      </p:sp>
      <p:sp>
        <p:nvSpPr>
          <p:cNvPr id="737" name="Google Shape;737;p42"/>
          <p:cNvSpPr txBox="1"/>
          <p:nvPr/>
        </p:nvSpPr>
        <p:spPr>
          <a:xfrm>
            <a:off x="798690" y="1308100"/>
            <a:ext cx="11164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 better way than AIMD to “probe” for usable bandwidth?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8" name="Google Shape;738;p42"/>
          <p:cNvGrpSpPr/>
          <p:nvPr/>
        </p:nvGrpSpPr>
        <p:grpSpPr>
          <a:xfrm>
            <a:off x="1454066" y="4302985"/>
            <a:ext cx="6080602" cy="1989137"/>
            <a:chOff x="73" y="2432"/>
            <a:chExt cx="3830" cy="1253"/>
          </a:xfrm>
        </p:grpSpPr>
        <p:sp>
          <p:nvSpPr>
            <p:cNvPr id="739" name="Google Shape;739;p42"/>
            <p:cNvSpPr/>
            <p:nvPr/>
          </p:nvSpPr>
          <p:spPr>
            <a:xfrm>
              <a:off x="678" y="2556"/>
              <a:ext cx="3225" cy="579"/>
            </a:xfrm>
            <a:custGeom>
              <a:rect b="b" l="l" r="r" t="t"/>
              <a:pathLst>
                <a:path extrusionOk="0" h="579" w="2481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0" name="Google Shape;740;p42"/>
            <p:cNvCxnSpPr/>
            <p:nvPr/>
          </p:nvCxnSpPr>
          <p:spPr>
            <a:xfrm>
              <a:off x="675" y="3685"/>
              <a:ext cx="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p42"/>
            <p:cNvCxnSpPr/>
            <p:nvPr/>
          </p:nvCxnSpPr>
          <p:spPr>
            <a:xfrm>
              <a:off x="682" y="2432"/>
              <a:ext cx="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42"/>
            <p:cNvCxnSpPr/>
            <p:nvPr/>
          </p:nvCxnSpPr>
          <p:spPr>
            <a:xfrm>
              <a:off x="606" y="2571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42"/>
            <p:cNvCxnSpPr/>
            <p:nvPr/>
          </p:nvCxnSpPr>
          <p:spPr>
            <a:xfrm>
              <a:off x="606" y="311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4" name="Google Shape;744;p42"/>
            <p:cNvSpPr txBox="1"/>
            <p:nvPr/>
          </p:nvSpPr>
          <p:spPr>
            <a:xfrm>
              <a:off x="171" y="24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max</a:t>
              </a:r>
              <a:endParaRPr/>
            </a:p>
          </p:txBody>
        </p:sp>
        <p:sp>
          <p:nvSpPr>
            <p:cNvPr id="745" name="Google Shape;745;p42"/>
            <p:cNvSpPr txBox="1"/>
            <p:nvPr/>
          </p:nvSpPr>
          <p:spPr>
            <a:xfrm>
              <a:off x="73" y="297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max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/2</a:t>
              </a:r>
              <a:endParaRPr/>
            </a:p>
          </p:txBody>
        </p:sp>
      </p:grpSp>
      <p:grpSp>
        <p:nvGrpSpPr>
          <p:cNvPr id="746" name="Google Shape;746;p42"/>
          <p:cNvGrpSpPr/>
          <p:nvPr/>
        </p:nvGrpSpPr>
        <p:grpSpPr>
          <a:xfrm>
            <a:off x="2427206" y="4523647"/>
            <a:ext cx="843458" cy="852092"/>
            <a:chOff x="4111628" y="4803047"/>
            <a:chExt cx="843458" cy="852092"/>
          </a:xfrm>
        </p:grpSpPr>
        <p:sp>
          <p:nvSpPr>
            <p:cNvPr id="747" name="Google Shape;747;p42"/>
            <p:cNvSpPr/>
            <p:nvPr/>
          </p:nvSpPr>
          <p:spPr>
            <a:xfrm>
              <a:off x="4111628" y="4803047"/>
              <a:ext cx="843458" cy="852092"/>
            </a:xfrm>
            <a:custGeom>
              <a:rect b="b" l="l" r="r" t="t"/>
              <a:pathLst>
                <a:path extrusionOk="0" h="2103931" w="1147562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cap="flat" cmpd="sng" w="25400">
              <a:solidFill>
                <a:srgbClr val="0000A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8" name="Google Shape;748;p42"/>
            <p:cNvCxnSpPr/>
            <p:nvPr/>
          </p:nvCxnSpPr>
          <p:spPr>
            <a:xfrm>
              <a:off x="4953802" y="4803047"/>
              <a:ext cx="0" cy="798900"/>
            </a:xfrm>
            <a:prstGeom prst="straightConnector1">
              <a:avLst/>
            </a:prstGeom>
            <a:noFill/>
            <a:ln cap="flat" cmpd="sng" w="28575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49" name="Google Shape;749;p42"/>
          <p:cNvGrpSpPr/>
          <p:nvPr/>
        </p:nvGrpSpPr>
        <p:grpSpPr>
          <a:xfrm>
            <a:off x="7913115" y="4293106"/>
            <a:ext cx="3050575" cy="1377649"/>
            <a:chOff x="7913115" y="4572506"/>
            <a:chExt cx="3050575" cy="1377649"/>
          </a:xfrm>
        </p:grpSpPr>
        <p:cxnSp>
          <p:nvCxnSpPr>
            <p:cNvPr id="750" name="Google Shape;750;p42"/>
            <p:cNvCxnSpPr/>
            <p:nvPr/>
          </p:nvCxnSpPr>
          <p:spPr>
            <a:xfrm>
              <a:off x="7913115" y="4779235"/>
              <a:ext cx="86640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1" name="Google Shape;751;p42"/>
            <p:cNvCxnSpPr/>
            <p:nvPr/>
          </p:nvCxnSpPr>
          <p:spPr>
            <a:xfrm>
              <a:off x="7913115" y="5243961"/>
              <a:ext cx="866400" cy="0"/>
            </a:xfrm>
            <a:prstGeom prst="straightConnector1">
              <a:avLst/>
            </a:prstGeom>
            <a:noFill/>
            <a:ln cap="flat" cmpd="sng" w="38100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752" name="Google Shape;752;p42"/>
            <p:cNvSpPr txBox="1"/>
            <p:nvPr/>
          </p:nvSpPr>
          <p:spPr>
            <a:xfrm>
              <a:off x="8779389" y="4572506"/>
              <a:ext cx="117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classic TCP</a:t>
              </a:r>
              <a:endParaRPr/>
            </a:p>
          </p:txBody>
        </p:sp>
        <p:sp>
          <p:nvSpPr>
            <p:cNvPr id="753" name="Google Shape;753;p42"/>
            <p:cNvSpPr txBox="1"/>
            <p:nvPr/>
          </p:nvSpPr>
          <p:spPr>
            <a:xfrm>
              <a:off x="8779390" y="5109855"/>
              <a:ext cx="2184300" cy="8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CUBIC - higher throughput in this example</a:t>
              </a:r>
              <a:endParaRPr/>
            </a:p>
          </p:txBody>
        </p:sp>
      </p:grpSp>
      <p:sp>
        <p:nvSpPr>
          <p:cNvPr id="754" name="Google Shape;754;p42"/>
          <p:cNvSpPr txBox="1"/>
          <p:nvPr/>
        </p:nvSpPr>
        <p:spPr>
          <a:xfrm>
            <a:off x="798690" y="1787378"/>
            <a:ext cx="11164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Insight/intuition: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sending rate at which congestion loss was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state of bottleneck link probably (?) hasn’t changed much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5" name="Google Shape;755;p42"/>
          <p:cNvGrpSpPr/>
          <p:nvPr/>
        </p:nvGrpSpPr>
        <p:grpSpPr>
          <a:xfrm>
            <a:off x="3268173" y="4514248"/>
            <a:ext cx="4264003" cy="882145"/>
            <a:chOff x="4952595" y="4780948"/>
            <a:chExt cx="4264003" cy="882145"/>
          </a:xfrm>
        </p:grpSpPr>
        <p:grpSp>
          <p:nvGrpSpPr>
            <p:cNvPr id="756" name="Google Shape;756;p42"/>
            <p:cNvGrpSpPr/>
            <p:nvPr/>
          </p:nvGrpSpPr>
          <p:grpSpPr>
            <a:xfrm>
              <a:off x="4952595" y="4811001"/>
              <a:ext cx="843458" cy="852092"/>
              <a:chOff x="4111628" y="4803047"/>
              <a:chExt cx="843458" cy="852092"/>
            </a:xfrm>
          </p:grpSpPr>
          <p:sp>
            <p:nvSpPr>
              <p:cNvPr id="757" name="Google Shape;757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58" name="Google Shape;758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59" name="Google Shape;759;p42"/>
            <p:cNvGrpSpPr/>
            <p:nvPr/>
          </p:nvGrpSpPr>
          <p:grpSpPr>
            <a:xfrm>
              <a:off x="5815757" y="4805638"/>
              <a:ext cx="843458" cy="852092"/>
              <a:chOff x="4111628" y="4803047"/>
              <a:chExt cx="843458" cy="852092"/>
            </a:xfrm>
          </p:grpSpPr>
          <p:sp>
            <p:nvSpPr>
              <p:cNvPr id="760" name="Google Shape;760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61" name="Google Shape;761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2" name="Google Shape;762;p42"/>
            <p:cNvGrpSpPr/>
            <p:nvPr/>
          </p:nvGrpSpPr>
          <p:grpSpPr>
            <a:xfrm>
              <a:off x="6678746" y="4793293"/>
              <a:ext cx="829794" cy="852092"/>
              <a:chOff x="4111628" y="4803047"/>
              <a:chExt cx="843458" cy="852092"/>
            </a:xfrm>
          </p:grpSpPr>
          <p:sp>
            <p:nvSpPr>
              <p:cNvPr id="763" name="Google Shape;763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64" name="Google Shape;764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5" name="Google Shape;765;p42"/>
            <p:cNvGrpSpPr/>
            <p:nvPr/>
          </p:nvGrpSpPr>
          <p:grpSpPr>
            <a:xfrm>
              <a:off x="7533029" y="4780948"/>
              <a:ext cx="829794" cy="852092"/>
              <a:chOff x="4111628" y="4803047"/>
              <a:chExt cx="843458" cy="852092"/>
            </a:xfrm>
          </p:grpSpPr>
          <p:sp>
            <p:nvSpPr>
              <p:cNvPr id="766" name="Google Shape;766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67" name="Google Shape;767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68" name="Google Shape;768;p42"/>
            <p:cNvSpPr/>
            <p:nvPr/>
          </p:nvSpPr>
          <p:spPr>
            <a:xfrm>
              <a:off x="8387484" y="4790798"/>
              <a:ext cx="829114" cy="852092"/>
            </a:xfrm>
            <a:custGeom>
              <a:rect b="b" l="l" r="r" t="t"/>
              <a:pathLst>
                <a:path extrusionOk="0" h="2103931" w="1147562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cap="flat" cmpd="sng" w="25400">
              <a:solidFill>
                <a:srgbClr val="0000A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Google Shape;769;p42"/>
          <p:cNvSpPr txBox="1"/>
          <p:nvPr/>
        </p:nvSpPr>
        <p:spPr>
          <a:xfrm>
            <a:off x="785990" y="3009900"/>
            <a:ext cx="111642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97484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cutting rate/window in half on loss, initially ramp to to 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but then approach 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b="0" i="1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slowly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2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3"/>
          <p:cNvSpPr txBox="1"/>
          <p:nvPr>
            <p:ph type="title"/>
          </p:nvPr>
        </p:nvSpPr>
        <p:spPr>
          <a:xfrm>
            <a:off x="798690" y="27695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CUBIC</a:t>
            </a:r>
            <a:endParaRPr b="0" sz="4400"/>
          </a:p>
        </p:txBody>
      </p:sp>
      <p:sp>
        <p:nvSpPr>
          <p:cNvPr id="777" name="Google Shape;777;p43"/>
          <p:cNvSpPr txBox="1"/>
          <p:nvPr/>
        </p:nvSpPr>
        <p:spPr>
          <a:xfrm>
            <a:off x="798690" y="1308101"/>
            <a:ext cx="1116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45745" lvl="0" marL="412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K: point in time when TCP window size will reach W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/>
          </a:p>
          <a:p>
            <a:pPr indent="-260984" lvl="1" marL="8032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itself is tunable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3"/>
          <p:cNvSpPr txBox="1"/>
          <p:nvPr/>
        </p:nvSpPr>
        <p:spPr>
          <a:xfrm>
            <a:off x="952087" y="3043946"/>
            <a:ext cx="102879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891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increases when further away from K</a:t>
            </a:r>
            <a:endParaRPr/>
          </a:p>
          <a:p>
            <a:pPr indent="-20891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increases (cautious) when nearer K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9" name="Google Shape;779;p43"/>
          <p:cNvGrpSpPr/>
          <p:nvPr/>
        </p:nvGrpSpPr>
        <p:grpSpPr>
          <a:xfrm>
            <a:off x="5030365" y="2893914"/>
            <a:ext cx="5714516" cy="3639313"/>
            <a:chOff x="5030365" y="2893914"/>
            <a:chExt cx="5714516" cy="3639313"/>
          </a:xfrm>
        </p:grpSpPr>
        <p:sp>
          <p:nvSpPr>
            <p:cNvPr id="780" name="Google Shape;780;p43"/>
            <p:cNvSpPr txBox="1"/>
            <p:nvPr/>
          </p:nvSpPr>
          <p:spPr>
            <a:xfrm>
              <a:off x="5030365" y="5185258"/>
              <a:ext cx="808200" cy="8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sending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rate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1" name="Google Shape;781;p43"/>
            <p:cNvCxnSpPr/>
            <p:nvPr/>
          </p:nvCxnSpPr>
          <p:spPr>
            <a:xfrm>
              <a:off x="5801903" y="6262085"/>
              <a:ext cx="4598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82" name="Google Shape;782;p43"/>
            <p:cNvCxnSpPr/>
            <p:nvPr/>
          </p:nvCxnSpPr>
          <p:spPr>
            <a:xfrm rot="10800000">
              <a:off x="5801904" y="4039988"/>
              <a:ext cx="0" cy="222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83" name="Google Shape;783;p43"/>
            <p:cNvSpPr/>
            <p:nvPr/>
          </p:nvSpPr>
          <p:spPr>
            <a:xfrm>
              <a:off x="5815989" y="4445300"/>
              <a:ext cx="481809" cy="1809533"/>
            </a:xfrm>
            <a:custGeom>
              <a:rect b="b" l="l" r="r" t="t"/>
              <a:pathLst>
                <a:path extrusionOk="0" h="3160756" w="892239">
                  <a:moveTo>
                    <a:pt x="892239" y="0"/>
                  </a:moveTo>
                  <a:cubicBezTo>
                    <a:pt x="857076" y="951096"/>
                    <a:pt x="829323" y="1859859"/>
                    <a:pt x="793426" y="2355915"/>
                  </a:cubicBezTo>
                  <a:cubicBezTo>
                    <a:pt x="757529" y="2851971"/>
                    <a:pt x="751946" y="2746980"/>
                    <a:pt x="676858" y="2976336"/>
                  </a:cubicBezTo>
                  <a:cubicBezTo>
                    <a:pt x="601770" y="3205692"/>
                    <a:pt x="160327" y="3152732"/>
                    <a:pt x="0" y="3160551"/>
                  </a:cubicBezTo>
                </a:path>
              </a:pathLst>
            </a:custGeom>
            <a:noFill/>
            <a:ln cap="flat" cmpd="sng" w="12700">
              <a:solidFill>
                <a:srgbClr val="7B7B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4" name="Google Shape;784;p43"/>
            <p:cNvCxnSpPr/>
            <p:nvPr/>
          </p:nvCxnSpPr>
          <p:spPr>
            <a:xfrm>
              <a:off x="6296864" y="4404648"/>
              <a:ext cx="27747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grpSp>
          <p:nvGrpSpPr>
            <p:cNvPr id="785" name="Google Shape;785;p43"/>
            <p:cNvGrpSpPr/>
            <p:nvPr/>
          </p:nvGrpSpPr>
          <p:grpSpPr>
            <a:xfrm>
              <a:off x="6350308" y="4445192"/>
              <a:ext cx="795759" cy="900412"/>
              <a:chOff x="1257299" y="2448186"/>
              <a:chExt cx="919846" cy="1571400"/>
            </a:xfrm>
          </p:grpSpPr>
          <p:cxnSp>
            <p:nvCxnSpPr>
              <p:cNvPr id="786" name="Google Shape;786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87" name="Google Shape;787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43"/>
            <p:cNvGrpSpPr/>
            <p:nvPr/>
          </p:nvGrpSpPr>
          <p:grpSpPr>
            <a:xfrm>
              <a:off x="7112482" y="4441553"/>
              <a:ext cx="795759" cy="900412"/>
              <a:chOff x="1257299" y="2448186"/>
              <a:chExt cx="919846" cy="1571400"/>
            </a:xfrm>
          </p:grpSpPr>
          <p:cxnSp>
            <p:nvCxnSpPr>
              <p:cNvPr id="789" name="Google Shape;789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0" name="Google Shape;790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1" name="Google Shape;791;p43"/>
            <p:cNvGrpSpPr/>
            <p:nvPr/>
          </p:nvGrpSpPr>
          <p:grpSpPr>
            <a:xfrm>
              <a:off x="7915936" y="4439585"/>
              <a:ext cx="795759" cy="900412"/>
              <a:chOff x="1257299" y="2448186"/>
              <a:chExt cx="919846" cy="1571400"/>
            </a:xfrm>
          </p:grpSpPr>
          <p:cxnSp>
            <p:nvCxnSpPr>
              <p:cNvPr id="792" name="Google Shape;792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3" name="Google Shape;793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43"/>
            <p:cNvGrpSpPr/>
            <p:nvPr/>
          </p:nvGrpSpPr>
          <p:grpSpPr>
            <a:xfrm>
              <a:off x="8750353" y="4432784"/>
              <a:ext cx="795759" cy="900412"/>
              <a:chOff x="1257299" y="2448186"/>
              <a:chExt cx="919846" cy="1571400"/>
            </a:xfrm>
          </p:grpSpPr>
          <p:cxnSp>
            <p:nvCxnSpPr>
              <p:cNvPr id="795" name="Google Shape;795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6" name="Google Shape;796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7" name="Google Shape;797;p43"/>
            <p:cNvGrpSpPr/>
            <p:nvPr/>
          </p:nvGrpSpPr>
          <p:grpSpPr>
            <a:xfrm rot="10800000">
              <a:off x="9544572" y="3097171"/>
              <a:ext cx="1128177" cy="1337038"/>
              <a:chOff x="873045" y="2448184"/>
              <a:chExt cx="1304100" cy="2333400"/>
            </a:xfrm>
          </p:grpSpPr>
          <p:cxnSp>
            <p:nvCxnSpPr>
              <p:cNvPr id="798" name="Google Shape;798;p43"/>
              <p:cNvCxnSpPr/>
              <p:nvPr/>
            </p:nvCxnSpPr>
            <p:spPr>
              <a:xfrm flipH="1">
                <a:off x="873045" y="2448184"/>
                <a:ext cx="1304100" cy="2333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9" name="Google Shape;799;p43"/>
              <p:cNvSpPr/>
              <p:nvPr/>
            </p:nvSpPr>
            <p:spPr>
              <a:xfrm>
                <a:off x="1252647" y="2450273"/>
                <a:ext cx="859591" cy="1599842"/>
              </a:xfrm>
              <a:custGeom>
                <a:rect b="b" l="l" r="r" t="t"/>
                <a:pathLst>
                  <a:path extrusionOk="0" h="2154669" w="1153813">
                    <a:moveTo>
                      <a:pt x="1153813" y="0"/>
                    </a:moveTo>
                    <a:cubicBezTo>
                      <a:pt x="-31946" y="56892"/>
                      <a:pt x="50361" y="598465"/>
                      <a:pt x="0" y="2154669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00" name="Google Shape;800;p43"/>
            <p:cNvCxnSpPr/>
            <p:nvPr/>
          </p:nvCxnSpPr>
          <p:spPr>
            <a:xfrm flipH="1">
              <a:off x="10340073" y="2893914"/>
              <a:ext cx="30600" cy="717000"/>
            </a:xfrm>
            <a:prstGeom prst="straightConnector1">
              <a:avLst/>
            </a:prstGeom>
            <a:noFill/>
            <a:ln cap="flat" cmpd="sng" w="25400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01" name="Google Shape;801;p43"/>
            <p:cNvSpPr txBox="1"/>
            <p:nvPr/>
          </p:nvSpPr>
          <p:spPr>
            <a:xfrm>
              <a:off x="9881790" y="5941210"/>
              <a:ext cx="518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43"/>
            <p:cNvSpPr txBox="1"/>
            <p:nvPr/>
          </p:nvSpPr>
          <p:spPr>
            <a:xfrm>
              <a:off x="9472281" y="4611687"/>
              <a:ext cx="12726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 Reno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TCP CUBIC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3"/>
            <p:cNvSpPr txBox="1"/>
            <p:nvPr/>
          </p:nvSpPr>
          <p:spPr>
            <a:xfrm>
              <a:off x="5297976" y="4213131"/>
              <a:ext cx="5493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3"/>
            <p:cNvSpPr txBox="1"/>
            <p:nvPr/>
          </p:nvSpPr>
          <p:spPr>
            <a:xfrm>
              <a:off x="6180953" y="6255332"/>
              <a:ext cx="3129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3"/>
            <p:cNvSpPr txBox="1"/>
            <p:nvPr/>
          </p:nvSpPr>
          <p:spPr>
            <a:xfrm>
              <a:off x="6997088" y="6257827"/>
              <a:ext cx="3054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43"/>
            <p:cNvSpPr txBox="1"/>
            <p:nvPr/>
          </p:nvSpPr>
          <p:spPr>
            <a:xfrm>
              <a:off x="7796251" y="6257147"/>
              <a:ext cx="3129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43"/>
            <p:cNvSpPr txBox="1"/>
            <p:nvPr/>
          </p:nvSpPr>
          <p:spPr>
            <a:xfrm>
              <a:off x="8625086" y="6256467"/>
              <a:ext cx="3054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43"/>
            <p:cNvSpPr txBox="1"/>
            <p:nvPr/>
          </p:nvSpPr>
          <p:spPr>
            <a:xfrm>
              <a:off x="9424249" y="6256467"/>
              <a:ext cx="3129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9" name="Google Shape;809;p43"/>
          <p:cNvSpPr txBox="1"/>
          <p:nvPr/>
        </p:nvSpPr>
        <p:spPr>
          <a:xfrm>
            <a:off x="797674" y="3941197"/>
            <a:ext cx="34557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5275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CUBIC default in Linux, most popular TCP for popular Web servers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3"/>
          <p:cNvSpPr txBox="1"/>
          <p:nvPr/>
        </p:nvSpPr>
        <p:spPr>
          <a:xfrm>
            <a:off x="785990" y="2146300"/>
            <a:ext cx="111642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W as a function of the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cube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distance between current time  and K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3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4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TCP Evolution Timeline</a:t>
            </a:r>
            <a:endParaRPr sz="4800"/>
          </a:p>
        </p:txBody>
      </p:sp>
      <p:sp>
        <p:nvSpPr>
          <p:cNvPr id="818" name="Google Shape;818;p44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9" name="Google Shape;8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75025"/>
            <a:ext cx="10444375" cy="46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5" name="Google Shape;825;p45"/>
          <p:cNvGrpSpPr/>
          <p:nvPr/>
        </p:nvGrpSpPr>
        <p:grpSpPr>
          <a:xfrm>
            <a:off x="7593682" y="3434128"/>
            <a:ext cx="1107084" cy="716094"/>
            <a:chOff x="7493876" y="2774731"/>
            <a:chExt cx="1490420" cy="890885"/>
          </a:xfrm>
        </p:grpSpPr>
        <p:sp>
          <p:nvSpPr>
            <p:cNvPr id="826" name="Google Shape;826;p45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7" name="Google Shape;827;p45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8" name="Google Shape;828;p45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829" name="Google Shape;829;p45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5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45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45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3" name="Google Shape;833;p45"/>
          <p:cNvGrpSpPr/>
          <p:nvPr/>
        </p:nvGrpSpPr>
        <p:grpSpPr>
          <a:xfrm>
            <a:off x="5720048" y="3438509"/>
            <a:ext cx="1107084" cy="716094"/>
            <a:chOff x="7493876" y="2774731"/>
            <a:chExt cx="1490420" cy="890885"/>
          </a:xfrm>
        </p:grpSpPr>
        <p:sp>
          <p:nvSpPr>
            <p:cNvPr id="834" name="Google Shape;834;p45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5" name="Google Shape;835;p45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6" name="Google Shape;836;p45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837" name="Google Shape;837;p45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5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45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5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1" name="Google Shape;841;p45"/>
          <p:cNvSpPr txBox="1"/>
          <p:nvPr>
            <p:ph type="title"/>
          </p:nvPr>
        </p:nvSpPr>
        <p:spPr>
          <a:xfrm>
            <a:off x="798719" y="271755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fairness</a:t>
            </a:r>
            <a:endParaRPr b="0" sz="4400"/>
          </a:p>
        </p:txBody>
      </p:sp>
      <p:sp>
        <p:nvSpPr>
          <p:cNvPr id="842" name="Google Shape;842;p45"/>
          <p:cNvSpPr txBox="1"/>
          <p:nvPr/>
        </p:nvSpPr>
        <p:spPr>
          <a:xfrm>
            <a:off x="876300" y="1271325"/>
            <a:ext cx="101742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Fairness 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sessions share same bottleneck link of bandwidth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each should have average rate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R/K</a:t>
            </a:r>
            <a:endParaRPr/>
          </a:p>
        </p:txBody>
      </p:sp>
      <p:cxnSp>
        <p:nvCxnSpPr>
          <p:cNvPr id="843" name="Google Shape;843;p45"/>
          <p:cNvCxnSpPr/>
          <p:nvPr/>
        </p:nvCxnSpPr>
        <p:spPr>
          <a:xfrm flipH="1" rot="10800000">
            <a:off x="6816123" y="3752768"/>
            <a:ext cx="819300" cy="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45"/>
          <p:cNvSpPr/>
          <p:nvPr/>
        </p:nvSpPr>
        <p:spPr>
          <a:xfrm>
            <a:off x="6986588" y="3552825"/>
            <a:ext cx="147600" cy="200100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5" name="Google Shape;845;p45"/>
          <p:cNvSpPr/>
          <p:nvPr/>
        </p:nvSpPr>
        <p:spPr>
          <a:xfrm>
            <a:off x="6296025" y="3614738"/>
            <a:ext cx="147600" cy="200100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6" name="Google Shape;846;p45"/>
          <p:cNvSpPr/>
          <p:nvPr/>
        </p:nvSpPr>
        <p:spPr>
          <a:xfrm>
            <a:off x="6586538" y="3552825"/>
            <a:ext cx="147600" cy="200100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7" name="Google Shape;847;p45"/>
          <p:cNvSpPr txBox="1"/>
          <p:nvPr/>
        </p:nvSpPr>
        <p:spPr>
          <a:xfrm>
            <a:off x="2370566" y="2468215"/>
            <a:ext cx="23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1</a:t>
            </a:r>
            <a:endParaRPr/>
          </a:p>
        </p:txBody>
      </p:sp>
      <p:sp>
        <p:nvSpPr>
          <p:cNvPr id="848" name="Google Shape;848;p45"/>
          <p:cNvSpPr txBox="1"/>
          <p:nvPr/>
        </p:nvSpPr>
        <p:spPr>
          <a:xfrm>
            <a:off x="5510979" y="4275418"/>
            <a:ext cx="15189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 R</a:t>
            </a:r>
            <a:endParaRPr/>
          </a:p>
        </p:txBody>
      </p:sp>
      <p:sp>
        <p:nvSpPr>
          <p:cNvPr id="849" name="Google Shape;849;p45"/>
          <p:cNvSpPr/>
          <p:nvPr/>
        </p:nvSpPr>
        <p:spPr>
          <a:xfrm>
            <a:off x="4765675" y="2967952"/>
            <a:ext cx="4227325" cy="719138"/>
          </a:xfrm>
          <a:custGeom>
            <a:rect b="b" l="l" r="r" t="t"/>
            <a:pathLst>
              <a:path extrusionOk="0" h="453" w="2412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cap="flat" cmpd="sng" w="38100">
            <a:solidFill>
              <a:srgbClr val="00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0" name="Google Shape;850;p45"/>
          <p:cNvSpPr/>
          <p:nvPr/>
        </p:nvSpPr>
        <p:spPr>
          <a:xfrm>
            <a:off x="6457950" y="3614738"/>
            <a:ext cx="147600" cy="2001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1" name="Google Shape;851;p45"/>
          <p:cNvSpPr/>
          <p:nvPr/>
        </p:nvSpPr>
        <p:spPr>
          <a:xfrm>
            <a:off x="4724400" y="3763963"/>
            <a:ext cx="4268601" cy="719138"/>
          </a:xfrm>
          <a:custGeom>
            <a:rect b="b" l="l" r="r" t="t"/>
            <a:pathLst>
              <a:path extrusionOk="0" h="453" w="2412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cap="flat" cmpd="sng" w="381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2" name="Google Shape;852;p45"/>
          <p:cNvSpPr txBox="1"/>
          <p:nvPr/>
        </p:nvSpPr>
        <p:spPr>
          <a:xfrm>
            <a:off x="2354381" y="4692948"/>
            <a:ext cx="23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2</a:t>
            </a:r>
            <a:endParaRPr/>
          </a:p>
        </p:txBody>
      </p:sp>
      <p:grpSp>
        <p:nvGrpSpPr>
          <p:cNvPr id="853" name="Google Shape;853;p45"/>
          <p:cNvGrpSpPr/>
          <p:nvPr/>
        </p:nvGrpSpPr>
        <p:grpSpPr>
          <a:xfrm>
            <a:off x="3975100" y="2860675"/>
            <a:ext cx="766763" cy="704877"/>
            <a:chOff x="-44" y="1473"/>
            <a:chExt cx="981" cy="1105"/>
          </a:xfrm>
        </p:grpSpPr>
        <p:pic>
          <p:nvPicPr>
            <p:cNvPr descr="desktop_computer_stylized_medium" id="854" name="Google Shape;854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6" name="Google Shape;856;p45"/>
          <p:cNvGrpSpPr/>
          <p:nvPr/>
        </p:nvGrpSpPr>
        <p:grpSpPr>
          <a:xfrm>
            <a:off x="3978275" y="4106863"/>
            <a:ext cx="766763" cy="704877"/>
            <a:chOff x="-44" y="1473"/>
            <a:chExt cx="981" cy="1105"/>
          </a:xfrm>
        </p:grpSpPr>
        <p:pic>
          <p:nvPicPr>
            <p:cNvPr descr="desktop_computer_stylized_medium" id="857" name="Google Shape;857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8" name="Google Shape;858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59" name="Google Shape;859;p4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6"/>
          <p:cNvSpPr txBox="1"/>
          <p:nvPr>
            <p:ph type="title"/>
          </p:nvPr>
        </p:nvSpPr>
        <p:spPr>
          <a:xfrm>
            <a:off x="798690" y="234526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Q: is TCP Fair?</a:t>
            </a:r>
            <a:endParaRPr b="0" sz="4400"/>
          </a:p>
        </p:txBody>
      </p:sp>
      <p:sp>
        <p:nvSpPr>
          <p:cNvPr id="866" name="Google Shape;866;p46"/>
          <p:cNvSpPr txBox="1"/>
          <p:nvPr/>
        </p:nvSpPr>
        <p:spPr>
          <a:xfrm>
            <a:off x="1028116" y="1209675"/>
            <a:ext cx="10643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two competing TCP sessions: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additive increase gives slope of 1, as throughout increases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multiplicative decrease decreases throughput proportionally </a:t>
            </a:r>
            <a:endParaRPr/>
          </a:p>
        </p:txBody>
      </p:sp>
      <p:cxnSp>
        <p:nvCxnSpPr>
          <p:cNvPr id="867" name="Google Shape;867;p46"/>
          <p:cNvCxnSpPr/>
          <p:nvPr/>
        </p:nvCxnSpPr>
        <p:spPr>
          <a:xfrm>
            <a:off x="1701800" y="6091237"/>
            <a:ext cx="363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46"/>
          <p:cNvCxnSpPr/>
          <p:nvPr/>
        </p:nvCxnSpPr>
        <p:spPr>
          <a:xfrm rot="10800000">
            <a:off x="1701800" y="2995612"/>
            <a:ext cx="0" cy="308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46"/>
          <p:cNvCxnSpPr/>
          <p:nvPr/>
        </p:nvCxnSpPr>
        <p:spPr>
          <a:xfrm rot="7861838">
            <a:off x="1095269" y="4730880"/>
            <a:ext cx="3560905" cy="1425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46"/>
          <p:cNvCxnSpPr/>
          <p:nvPr/>
        </p:nvCxnSpPr>
        <p:spPr>
          <a:xfrm>
            <a:off x="1682750" y="3243262"/>
            <a:ext cx="2819400" cy="2809800"/>
          </a:xfrm>
          <a:prstGeom prst="straightConnector1">
            <a:avLst/>
          </a:prstGeom>
          <a:noFill/>
          <a:ln cap="flat" cmpd="sng" w="381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46"/>
          <p:cNvSpPr txBox="1"/>
          <p:nvPr/>
        </p:nvSpPr>
        <p:spPr>
          <a:xfrm>
            <a:off x="1331913" y="3071812"/>
            <a:ext cx="4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6"/>
          <p:cNvSpPr txBox="1"/>
          <p:nvPr/>
        </p:nvSpPr>
        <p:spPr>
          <a:xfrm>
            <a:off x="4284663" y="6119812"/>
            <a:ext cx="4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6"/>
          <p:cNvSpPr txBox="1"/>
          <p:nvPr/>
        </p:nvSpPr>
        <p:spPr>
          <a:xfrm>
            <a:off x="2560638" y="3062287"/>
            <a:ext cx="35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 bandwidth share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6"/>
          <p:cNvSpPr txBox="1"/>
          <p:nvPr/>
        </p:nvSpPr>
        <p:spPr>
          <a:xfrm>
            <a:off x="1141413" y="6100762"/>
            <a:ext cx="35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1 throughput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6"/>
          <p:cNvSpPr txBox="1"/>
          <p:nvPr/>
        </p:nvSpPr>
        <p:spPr>
          <a:xfrm rot="-5396510">
            <a:off x="-272545" y="4638082"/>
            <a:ext cx="35466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2 throughput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46"/>
          <p:cNvCxnSpPr/>
          <p:nvPr/>
        </p:nvCxnSpPr>
        <p:spPr>
          <a:xfrm rot="7861931">
            <a:off x="2805186" y="5348346"/>
            <a:ext cx="1293712" cy="4686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7" name="Google Shape;877;p46"/>
          <p:cNvSpPr txBox="1"/>
          <p:nvPr/>
        </p:nvSpPr>
        <p:spPr>
          <a:xfrm>
            <a:off x="3475038" y="4919662"/>
            <a:ext cx="45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avoidance: additive increase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8" name="Google Shape;878;p46"/>
          <p:cNvCxnSpPr/>
          <p:nvPr/>
        </p:nvCxnSpPr>
        <p:spPr>
          <a:xfrm flipH="1">
            <a:off x="2692475" y="4881562"/>
            <a:ext cx="1171500" cy="6318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9" name="Google Shape;879;p46"/>
          <p:cNvSpPr txBox="1"/>
          <p:nvPr/>
        </p:nvSpPr>
        <p:spPr>
          <a:xfrm>
            <a:off x="4006850" y="4675187"/>
            <a:ext cx="346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loss: decrease window by factor of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0" name="Google Shape;880;p46"/>
          <p:cNvCxnSpPr/>
          <p:nvPr/>
        </p:nvCxnSpPr>
        <p:spPr>
          <a:xfrm rot="7861999">
            <a:off x="2484453" y="5021240"/>
            <a:ext cx="1303279" cy="23819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1" name="Google Shape;881;p46"/>
          <p:cNvSpPr txBox="1"/>
          <p:nvPr/>
        </p:nvSpPr>
        <p:spPr>
          <a:xfrm>
            <a:off x="3189288" y="4433887"/>
            <a:ext cx="45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avoidance: additive increase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2" name="Google Shape;882;p46"/>
          <p:cNvCxnSpPr/>
          <p:nvPr/>
        </p:nvCxnSpPr>
        <p:spPr>
          <a:xfrm flipH="1">
            <a:off x="2549600" y="4595812"/>
            <a:ext cx="981000" cy="7653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46"/>
          <p:cNvSpPr txBox="1"/>
          <p:nvPr/>
        </p:nvSpPr>
        <p:spPr>
          <a:xfrm>
            <a:off x="3606800" y="4227512"/>
            <a:ext cx="346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loss: decrease window by factor of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46"/>
          <p:cNvCxnSpPr/>
          <p:nvPr/>
        </p:nvCxnSpPr>
        <p:spPr>
          <a:xfrm rot="7862132">
            <a:off x="2340778" y="4874422"/>
            <a:ext cx="1279460" cy="1425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5" name="Google Shape;885;p46"/>
          <p:cNvCxnSpPr/>
          <p:nvPr/>
        </p:nvCxnSpPr>
        <p:spPr>
          <a:xfrm flipH="1">
            <a:off x="2482975" y="4414837"/>
            <a:ext cx="911100" cy="8889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46"/>
          <p:cNvCxnSpPr/>
          <p:nvPr/>
        </p:nvCxnSpPr>
        <p:spPr>
          <a:xfrm rot="7862132">
            <a:off x="2261403" y="4810922"/>
            <a:ext cx="1279460" cy="1425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887" name="Google Shape;887;p46"/>
          <p:cNvGrpSpPr/>
          <p:nvPr/>
        </p:nvGrpSpPr>
        <p:grpSpPr>
          <a:xfrm>
            <a:off x="7983110" y="3205277"/>
            <a:ext cx="3864000" cy="2713510"/>
            <a:chOff x="7983110" y="3205277"/>
            <a:chExt cx="3864000" cy="2713510"/>
          </a:xfrm>
        </p:grpSpPr>
        <p:sp>
          <p:nvSpPr>
            <p:cNvPr id="888" name="Google Shape;888;p46"/>
            <p:cNvSpPr txBox="1"/>
            <p:nvPr/>
          </p:nvSpPr>
          <p:spPr>
            <a:xfrm>
              <a:off x="8130707" y="3671674"/>
              <a:ext cx="3703200" cy="21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Yes, under idealized assumptions:</a:t>
              </a:r>
              <a:endParaRPr/>
            </a:p>
            <a:p>
              <a:pPr indent="-2286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same RTT</a:t>
              </a:r>
              <a:endParaRPr/>
            </a:p>
            <a:p>
              <a:pPr indent="-2286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fixed number of sessions only in congestion avoidance </a:t>
              </a: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7983110" y="3468687"/>
              <a:ext cx="3864000" cy="2450100"/>
            </a:xfrm>
            <a:prstGeom prst="rect">
              <a:avLst/>
            </a:prstGeom>
            <a:noFill/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8338252" y="3328994"/>
              <a:ext cx="1762800" cy="25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6"/>
            <p:cNvSpPr txBox="1"/>
            <p:nvPr/>
          </p:nvSpPr>
          <p:spPr>
            <a:xfrm>
              <a:off x="8332482" y="3205277"/>
              <a:ext cx="1768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Is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TCP fair?</a:t>
              </a:r>
              <a:endParaRPr/>
            </a:p>
          </p:txBody>
        </p:sp>
      </p:grpSp>
      <p:sp>
        <p:nvSpPr>
          <p:cNvPr id="892" name="Google Shape;892;p46"/>
          <p:cNvSpPr/>
          <p:nvPr/>
        </p:nvSpPr>
        <p:spPr>
          <a:xfrm>
            <a:off x="2998274" y="5695379"/>
            <a:ext cx="166200" cy="166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6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7"/>
          <p:cNvSpPr txBox="1"/>
          <p:nvPr>
            <p:ph type="title"/>
          </p:nvPr>
        </p:nvSpPr>
        <p:spPr>
          <a:xfrm>
            <a:off x="780345" y="261078"/>
            <a:ext cx="108345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Fairness: must all network apps be “fair”?</a:t>
            </a:r>
            <a:endParaRPr b="0" sz="4400"/>
          </a:p>
        </p:txBody>
      </p:sp>
      <p:sp>
        <p:nvSpPr>
          <p:cNvPr id="900" name="Google Shape;900;p47"/>
          <p:cNvSpPr txBox="1"/>
          <p:nvPr/>
        </p:nvSpPr>
        <p:spPr>
          <a:xfrm>
            <a:off x="749300" y="1219200"/>
            <a:ext cx="5207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Fairness and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multimedia apps often do not use TCP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not want rate throttled by congestion control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instead use UDP: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audio/video at constant rate, tolerate packet loss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“Internet police” policing use of congestion control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7"/>
          <p:cNvSpPr txBox="1"/>
          <p:nvPr/>
        </p:nvSpPr>
        <p:spPr>
          <a:xfrm>
            <a:off x="6210301" y="1193800"/>
            <a:ext cx="557520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Fairness, parallel TCP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 can open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parallel connections between two hosts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browsers do this , e.g., link of rate R with 9 existing connections: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app asks for 1 TCP, gets rate R/10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app asks for 11 TCPs, gets R/2 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7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