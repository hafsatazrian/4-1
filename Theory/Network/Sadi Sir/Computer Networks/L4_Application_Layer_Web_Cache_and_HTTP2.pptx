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EBMXehH/w3EupSA5hV/rVMiaH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57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8.1. Updates throughout, including a lot more animations.  These are the ppt files used to make Chapter 2 online lectures in Sept. 2020.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(April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21" name="Google Shape;1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re: poor content providers – like in real-estate, location is everything.  servers want to be close to clients.</a:t>
            </a:r>
            <a:endParaRPr/>
          </a:p>
        </p:txBody>
      </p:sp>
      <p:sp>
        <p:nvSpPr>
          <p:cNvPr id="225" name="Google Shape;2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238" name="Google Shape;2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458" name="Google Shape;4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why minutes (recall earlier delay versus arrival rate curve from Chapter 1)</a:t>
            </a:r>
            <a:endParaRPr/>
          </a:p>
        </p:txBody>
      </p:sp>
      <p:sp>
        <p:nvSpPr>
          <p:cNvPr id="466" name="Google Shape;4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478" name="Google Shape;4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711" name="Google Shape;7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966" name="Google Shape;9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0" name="Google Shape;1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1" name="Google Shape;1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7" name="Google Shape;1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228" name="Google Shape;12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4" name="Google Shape;12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295" name="Google Shape;12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3" name="Google Shape;13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304" name="Google Shape;13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2" name="Google Shape;131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313" name="Google Shape;131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7" name="Google Shape;140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job first: decreased average delay!</a:t>
            </a:r>
            <a:endParaRPr/>
          </a:p>
        </p:txBody>
      </p:sp>
      <p:sp>
        <p:nvSpPr>
          <p:cNvPr id="1408" name="Google Shape;140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8" name="Google Shape;152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t’</a:t>
            </a:r>
            <a:endParaRPr/>
          </a:p>
        </p:txBody>
      </p:sp>
      <p:sp>
        <p:nvSpPr>
          <p:cNvPr id="1529" name="Google Shape;152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6" name="Google Shape;153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9" name="Google Shape;4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hyperlink" Target="https://www.cloudflare.com/learning/cdn/what-is-a-cdn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dPvztIZWTxU" TargetMode="External"/><Relationship Id="rId4" Type="http://schemas.openxmlformats.org/officeDocument/2006/relationships/hyperlink" Target="https://www.youtube.com/watch?v=6Kh9uXlB0o4" TargetMode="External"/><Relationship Id="rId5" Type="http://schemas.openxmlformats.org/officeDocument/2006/relationships/hyperlink" Target="https://www.youtube.com/watch?v=mXopn7b5Prc" TargetMode="External"/><Relationship Id="rId6" Type="http://schemas.openxmlformats.org/officeDocument/2006/relationships/hyperlink" Target="https://www.cloudflare.com/learning/cdn/what-is-a-cdn/" TargetMode="External"/><Relationship Id="rId7" Type="http://schemas.openxmlformats.org/officeDocument/2006/relationships/hyperlink" Target="https://www.cloudflare.com/learning/performance/http2-vs-http1.1/" TargetMode="External"/><Relationship Id="rId8" Type="http://schemas.openxmlformats.org/officeDocument/2006/relationships/hyperlink" Target="https://www.youtube.com/watch?v=ocGtt0IX0J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0" y="2384201"/>
            <a:ext cx="12192000" cy="21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2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1" i="0" sz="54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Web Cache and HTTP2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Application layer: overview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09242" y="1870563"/>
            <a:ext cx="530918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638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network applications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Web and HTTP</a:t>
            </a:r>
            <a:endParaRPr/>
          </a:p>
          <a:p>
            <a:pPr indent="-401638" lvl="0" marL="4016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Cache and HTTP/2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Web caches</a:t>
            </a:r>
            <a:endParaRPr sz="4400"/>
          </a:p>
        </p:txBody>
      </p:sp>
      <p:grpSp>
        <p:nvGrpSpPr>
          <p:cNvPr id="124" name="Google Shape;124;p3"/>
          <p:cNvGrpSpPr/>
          <p:nvPr/>
        </p:nvGrpSpPr>
        <p:grpSpPr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descr="desktop_computer_stylized_medium" id="125" name="Google Shape;12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descr="desktop_computer_stylized_medium" id="128" name="Google Shape;12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131" name="Google Shape;131;p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3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3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" name="Google Shape;140;p3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141" name="Google Shape;141;p3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" name="Google Shape;143;p3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3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" name="Google Shape;149;p3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150" name="Google Shape;150;p3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" name="Google Shape;152;p3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3"/>
          <p:cNvSpPr txBox="1"/>
          <p:nvPr/>
        </p:nvSpPr>
        <p:spPr>
          <a:xfrm>
            <a:off x="794606" y="2233994"/>
            <a:ext cx="4908362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configures browser to point to a (local)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Web cache</a:t>
            </a:r>
            <a:endParaRPr/>
          </a:p>
          <a:p>
            <a:pPr indent="-233363" lvl="0" marL="2333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browser sends all HTTP requests to cache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object in cache: cache returns object to client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cache requests object from origin server, caches received object, then returns object to client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Calibri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satisfy client requests without involving origin server</a:t>
            </a:r>
            <a:endParaRPr/>
          </a:p>
        </p:txBody>
      </p:sp>
      <p:sp>
        <p:nvSpPr>
          <p:cNvPr id="165" name="Google Shape;165;p3"/>
          <p:cNvSpPr txBox="1"/>
          <p:nvPr/>
        </p:nvSpPr>
        <p:spPr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67" name="Google Shape;167;p3"/>
            <p:cNvGrpSpPr/>
            <p:nvPr/>
          </p:nvGrpSpPr>
          <p:grpSpPr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8" name="Google Shape;168;p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4208" y="429"/>
                <a:ext cx="1046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3" name="Google Shape;173;p3"/>
              <p:cNvGrpSpPr/>
              <p:nvPr/>
            </p:nvGrpSpPr>
            <p:grpSpPr>
              <a:xfrm>
                <a:off x="4751" y="668"/>
                <a:ext cx="577" cy="144"/>
                <a:chOff x="616" y="2568"/>
                <a:chExt cx="720" cy="138"/>
              </a:xfrm>
            </p:grpSpPr>
            <p:sp>
              <p:nvSpPr>
                <p:cNvPr id="174" name="Google Shape;174;p3"/>
                <p:cNvSpPr/>
                <p:nvPr/>
              </p:nvSpPr>
              <p:spPr>
                <a:xfrm>
                  <a:off x="616" y="2568"/>
                  <a:ext cx="720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" name="Google Shape;175;p3"/>
                <p:cNvSpPr/>
                <p:nvPr/>
              </p:nvSpPr>
              <p:spPr>
                <a:xfrm>
                  <a:off x="630" y="2583"/>
                  <a:ext cx="670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6" name="Google Shape;176;p3"/>
              <p:cNvSpPr/>
              <p:nvPr/>
            </p:nvSpPr>
            <p:spPr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7" name="Google Shape;177;p3"/>
              <p:cNvGrpSpPr/>
              <p:nvPr/>
            </p:nvGrpSpPr>
            <p:grpSpPr>
              <a:xfrm>
                <a:off x="4745" y="992"/>
                <a:ext cx="583" cy="138"/>
                <a:chOff x="612" y="2566"/>
                <a:chExt cx="727" cy="143"/>
              </a:xfrm>
            </p:grpSpPr>
            <p:sp>
              <p:nvSpPr>
                <p:cNvPr id="178" name="Google Shape;178;p3"/>
                <p:cNvSpPr/>
                <p:nvPr/>
              </p:nvSpPr>
              <p:spPr>
                <a:xfrm>
                  <a:off x="612" y="2566"/>
                  <a:ext cx="727" cy="143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" name="Google Shape;179;p3"/>
                <p:cNvSpPr/>
                <p:nvPr/>
              </p:nvSpPr>
              <p:spPr>
                <a:xfrm>
                  <a:off x="626" y="2583"/>
                  <a:ext cx="692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0" name="Google Shape;180;p3"/>
              <p:cNvSpPr/>
              <p:nvPr/>
            </p:nvSpPr>
            <p:spPr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2" name="Google Shape;182;p3"/>
              <p:cNvGrpSpPr/>
              <p:nvPr/>
            </p:nvGrpSpPr>
            <p:grpSpPr>
              <a:xfrm>
                <a:off x="4733" y="1629"/>
                <a:ext cx="583" cy="149"/>
                <a:chOff x="612" y="2570"/>
                <a:chExt cx="726" cy="137"/>
              </a:xfrm>
            </p:grpSpPr>
            <p:sp>
              <p:nvSpPr>
                <p:cNvPr id="183" name="Google Shape;183;p3"/>
                <p:cNvSpPr/>
                <p:nvPr/>
              </p:nvSpPr>
              <p:spPr>
                <a:xfrm>
                  <a:off x="612" y="2570"/>
                  <a:ext cx="726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>
                  <a:off x="627" y="2585"/>
                  <a:ext cx="690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5" name="Google Shape;185;p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6" name="Google Shape;186;p3"/>
              <p:cNvGrpSpPr/>
              <p:nvPr/>
            </p:nvGrpSpPr>
            <p:grpSpPr>
              <a:xfrm>
                <a:off x="4740" y="1327"/>
                <a:ext cx="583" cy="138"/>
                <a:chOff x="615" y="2568"/>
                <a:chExt cx="726" cy="138"/>
              </a:xfrm>
            </p:grpSpPr>
            <p:sp>
              <p:nvSpPr>
                <p:cNvPr id="187" name="Google Shape;187;p3"/>
                <p:cNvSpPr/>
                <p:nvPr/>
              </p:nvSpPr>
              <p:spPr>
                <a:xfrm>
                  <a:off x="615" y="2568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3"/>
                <p:cNvSpPr/>
                <p:nvPr/>
              </p:nvSpPr>
              <p:spPr>
                <a:xfrm>
                  <a:off x="629" y="2584"/>
                  <a:ext cx="69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9" name="Google Shape;189;p3"/>
              <p:cNvSpPr/>
              <p:nvPr/>
            </p:nvSpPr>
            <p:spPr>
              <a:xfrm>
                <a:off x="5248" y="429"/>
                <a:ext cx="68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3"/>
              <p:cNvSpPr/>
              <p:nvPr/>
            </p:nvSpPr>
            <p:spPr>
              <a:xfrm>
                <a:off x="4140" y="2676"/>
                <a:ext cx="1199" cy="149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3"/>
              <p:cNvSpPr/>
              <p:nvPr/>
            </p:nvSpPr>
            <p:spPr>
              <a:xfrm>
                <a:off x="4208" y="2713"/>
                <a:ext cx="1069" cy="8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3"/>
              <p:cNvSpPr/>
              <p:nvPr/>
            </p:nvSpPr>
            <p:spPr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3"/>
              <p:cNvSpPr/>
              <p:nvPr/>
            </p:nvSpPr>
            <p:spPr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3"/>
              <p:cNvSpPr/>
              <p:nvPr/>
            </p:nvSpPr>
            <p:spPr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0" name="Google Shape;200;p3"/>
            <p:cNvSpPr txBox="1"/>
            <p:nvPr/>
          </p:nvSpPr>
          <p:spPr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Web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cache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3"/>
          <p:cNvSpPr txBox="1"/>
          <p:nvPr/>
        </p:nvSpPr>
        <p:spPr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" name="Google Shape;202;p3"/>
          <p:cNvGrpSpPr/>
          <p:nvPr/>
        </p:nvGrpSpPr>
        <p:grpSpPr>
          <a:xfrm>
            <a:off x="6912637" y="3660480"/>
            <a:ext cx="1493176" cy="945196"/>
            <a:chOff x="2940" y="2464"/>
            <a:chExt cx="941" cy="595"/>
          </a:xfrm>
        </p:grpSpPr>
        <p:cxnSp>
          <p:nvCxnSpPr>
            <p:cNvPr id="203" name="Google Shape;203;p3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" name="Google Shape;204;p3"/>
            <p:cNvSpPr txBox="1"/>
            <p:nvPr/>
          </p:nvSpPr>
          <p:spPr>
            <a:xfrm rot="-1692639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3"/>
          <p:cNvGrpSpPr/>
          <p:nvPr/>
        </p:nvGrpSpPr>
        <p:grpSpPr>
          <a:xfrm>
            <a:off x="7054850" y="3932576"/>
            <a:ext cx="1480212" cy="997118"/>
            <a:chOff x="3030" y="2635"/>
            <a:chExt cx="932" cy="628"/>
          </a:xfrm>
        </p:grpSpPr>
        <p:cxnSp>
          <p:nvCxnSpPr>
            <p:cNvPr id="206" name="Google Shape;206;p3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7" name="Google Shape;207;p3"/>
            <p:cNvSpPr txBox="1"/>
            <p:nvPr/>
          </p:nvSpPr>
          <p:spPr>
            <a:xfrm rot="-1737783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3"/>
          <p:cNvGrpSpPr/>
          <p:nvPr/>
        </p:nvGrpSpPr>
        <p:grpSpPr>
          <a:xfrm>
            <a:off x="7010400" y="2667302"/>
            <a:ext cx="3251200" cy="936661"/>
            <a:chOff x="3002" y="1849"/>
            <a:chExt cx="2048" cy="590"/>
          </a:xfrm>
        </p:grpSpPr>
        <p:sp>
          <p:nvSpPr>
            <p:cNvPr id="209" name="Google Shape;209;p3"/>
            <p:cNvSpPr/>
            <p:nvPr/>
          </p:nvSpPr>
          <p:spPr>
            <a:xfrm>
              <a:off x="3002" y="1979"/>
              <a:ext cx="2048" cy="460"/>
            </a:xfrm>
            <a:custGeom>
              <a:rect b="b" l="l" r="r" t="t"/>
              <a:pathLst>
                <a:path extrusionOk="0" h="460" w="2048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3"/>
            <p:cNvSpPr txBox="1"/>
            <p:nvPr/>
          </p:nvSpPr>
          <p:spPr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3"/>
            <p:cNvSpPr txBox="1"/>
            <p:nvPr/>
          </p:nvSpPr>
          <p:spPr>
            <a:xfrm rot="-1419968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3"/>
          <p:cNvSpPr txBox="1"/>
          <p:nvPr/>
        </p:nvSpPr>
        <p:spPr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origin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215" name="Google Shape;215;p3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3"/>
            <p:cNvSpPr txBox="1"/>
            <p:nvPr/>
          </p:nvSpPr>
          <p:spPr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3"/>
            <p:cNvSpPr txBox="1"/>
            <p:nvPr/>
          </p:nvSpPr>
          <p:spPr>
            <a:xfrm rot="-1415789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8" name="Google Shape;21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0" name="Google Shape;2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Web caches (aka proxy servers)</a:t>
            </a:r>
            <a:endParaRPr sz="4400"/>
          </a:p>
        </p:txBody>
      </p:sp>
      <p:sp>
        <p:nvSpPr>
          <p:cNvPr id="228" name="Google Shape;228;p4"/>
          <p:cNvSpPr txBox="1"/>
          <p:nvPr/>
        </p:nvSpPr>
        <p:spPr>
          <a:xfrm>
            <a:off x="600308" y="1534695"/>
            <a:ext cx="4752277" cy="213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407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cache acts as both client and server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for original requesting client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to origin server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caching?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response time for client request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is closer to client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reduce traffic on an institution’s access link</a:t>
            </a:r>
            <a:endParaRPr/>
          </a:p>
          <a:p>
            <a:pPr indent="-287338" lvl="0" marL="407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is dense with caches </a:t>
            </a:r>
            <a:endParaRPr/>
          </a:p>
          <a:p>
            <a:pPr indent="-287338" lvl="1" marL="7508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enables “poor” content providers to more effectively deliver content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4"/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31" name="Google Shape;23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4"/>
            <p:cNvSpPr txBox="1"/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7813" lvl="0" marL="40798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 tells cache about object’s allowable caching in response header:</a:t>
              </a:r>
              <a:endParaRPr/>
            </a:p>
          </p:txBody>
        </p:sp>
      </p:grpSp>
      <p:sp>
        <p:nvSpPr>
          <p:cNvPr id="234" name="Google Shape;234;p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1600" y="3598333"/>
            <a:ext cx="1255183" cy="10306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hot icon" id="241" name="Google Shape;2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0660" y="3598333"/>
            <a:ext cx="721782" cy="72178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5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cxnSp>
        <p:nvCxnSpPr>
          <p:cNvPr id="243" name="Google Shape;243;p5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5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245" name="Google Shape;245;p5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5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5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5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5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5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5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5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5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5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3943717" y="4370340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5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61" name="Google Shape;261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6" name="Google Shape;266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267" name="Google Shape;267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9" name="Google Shape;269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271" name="Google Shape;271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276" name="Google Shape;276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8" name="Google Shape;278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9" name="Google Shape;279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2" name="Google Shape;282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5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294" name="Google Shape;294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297" name="Google Shape;297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03" name="Google Shape;303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6" name="Google Shape;306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07" name="Google Shape;307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" name="Google Shape;309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1" name="Google Shape;311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12" name="Google Shape;312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4" name="Google Shape;314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5" name="Google Shape;315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16" name="Google Shape;316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9" name="Google Shape;329;p5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30" name="Google Shape;330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5" name="Google Shape;335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36" name="Google Shape;336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8" name="Google Shape;338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9" name="Google Shape;339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40" name="Google Shape;340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2" name="Google Shape;342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45" name="Google Shape;345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7" name="Google Shape;347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8" name="Google Shape;348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49" name="Google Shape;349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1" name="Google Shape;351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5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63" name="Google Shape;363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8" name="Google Shape;368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369" name="Google Shape;369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2" name="Google Shape;372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373" name="Google Shape;373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" name="Google Shape;375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7" name="Google Shape;377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378" name="Google Shape;378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" name="Google Shape;380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1" name="Google Shape;381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382" name="Google Shape;382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4" name="Google Shape;384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5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396" name="Google Shape;396;p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1" name="Google Shape;401;p5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402" name="Google Shape;402;p5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5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5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5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406" name="Google Shape;406;p5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5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8" name="Google Shape;408;p5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0" name="Google Shape;410;p5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411" name="Google Shape;411;p5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5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" name="Google Shape;413;p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4" name="Google Shape;414;p5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415" name="Google Shape;415;p5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5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" name="Google Shape;417;p5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5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5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429" name="Google Shape;429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oogle Shape;431;p5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432" name="Google Shape;43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4" name="Google Shape;434;p5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435" name="Google Shape;435;p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7" name="Google Shape;437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8" name="Google Shape;438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2" name="Google Shape;442;p5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443" name="Google Shape;443;p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5" name="Google Shape;445;p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6" name="Google Shape;446;p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50" name="Google Shape;450;p5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5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sp>
        <p:nvSpPr>
          <p:cNvPr id="452" name="Google Shape;452;p5"/>
          <p:cNvSpPr/>
          <p:nvPr/>
        </p:nvSpPr>
        <p:spPr>
          <a:xfrm>
            <a:off x="4316250" y="5809673"/>
            <a:ext cx="1119350" cy="591127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"/>
          <p:cNvSpPr txBox="1"/>
          <p:nvPr/>
        </p:nvSpPr>
        <p:spPr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rPr b="0" i="1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  <p:sp>
        <p:nvSpPr>
          <p:cNvPr id="454" name="Google Shape;454;p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sp>
        <p:nvSpPr>
          <p:cNvPr id="461" name="Google Shape;461;p6"/>
          <p:cNvSpPr/>
          <p:nvPr/>
        </p:nvSpPr>
        <p:spPr>
          <a:xfrm>
            <a:off x="870724" y="1752600"/>
            <a:ext cx="11133083" cy="489329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874" r="0" t="-21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62" name="Google Shape;462;p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2348" y="879231"/>
            <a:ext cx="4187728" cy="3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Caching example</a:t>
            </a:r>
            <a:endParaRPr sz="4800"/>
          </a:p>
        </p:txBody>
      </p:sp>
      <p:sp>
        <p:nvSpPr>
          <p:cNvPr id="470" name="Google Shape;470;p7"/>
          <p:cNvSpPr/>
          <p:nvPr/>
        </p:nvSpPr>
        <p:spPr>
          <a:xfrm>
            <a:off x="3946262" y="2088609"/>
            <a:ext cx="940980" cy="509975"/>
          </a:xfrm>
          <a:prstGeom prst="ellipse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903810" y="1764462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7"/>
          <p:cNvSpPr txBox="1"/>
          <p:nvPr/>
        </p:nvSpPr>
        <p:spPr>
          <a:xfrm>
            <a:off x="903810" y="2903879"/>
            <a:ext cx="5711029" cy="8679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380"/>
              <a:buFont typeface="Arial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large queueing delays at high utilization!</a:t>
            </a:r>
            <a:endParaRPr/>
          </a:p>
        </p:txBody>
      </p:sp>
      <p:sp>
        <p:nvSpPr>
          <p:cNvPr id="473" name="Google Shape;473;p7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7"/>
          <p:cNvSpPr/>
          <p:nvPr/>
        </p:nvSpPr>
        <p:spPr>
          <a:xfrm>
            <a:off x="903810" y="4365307"/>
            <a:ext cx="899165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ρ = Average incoming traffic load / Link capacity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ρ &lt; 0.6, queueing delay ≈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milliseconds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(tiny compared to RTT).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ρ ≈ 1, queueing delay dominates (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seconds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).​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"/>
          <p:cNvSpPr/>
          <p:nvPr/>
        </p:nvSpPr>
        <p:spPr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.97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.0015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end-end delay  =  Internet delay +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access link delay + LAN delay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=  2 sec + minutes + usecs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8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Option 1: buy a faster access link</a:t>
            </a:r>
            <a:endParaRPr sz="4400"/>
          </a:p>
        </p:txBody>
      </p:sp>
      <p:cxnSp>
        <p:nvCxnSpPr>
          <p:cNvPr id="482" name="Google Shape;482;p8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8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484" name="Google Shape;484;p8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8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8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8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8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7762780" y="4516708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8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8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8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8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8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8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8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8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499" name="Google Shape;499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" name="Google Shape;504;p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05" name="Google Shape;505;p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" name="Google Shape;508;p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09" name="Google Shape;509;p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3" name="Google Shape;513;p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14" name="Google Shape;514;p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6" name="Google Shape;516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7" name="Google Shape;517;p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18" name="Google Shape;518;p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0" name="Google Shape;520;p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8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532" name="Google Shape;532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4" name="Google Shape;534;p8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535" name="Google Shape;535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0" name="Google Shape;540;p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41" name="Google Shape;541;p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3" name="Google Shape;543;p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4" name="Google Shape;544;p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45" name="Google Shape;545;p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7" name="Google Shape;547;p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50" name="Google Shape;550;p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2" name="Google Shape;552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3" name="Google Shape;553;p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54" name="Google Shape;554;p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56" name="Google Shape;556;p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7" name="Google Shape;567;p8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568" name="Google Shape;568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3" name="Google Shape;573;p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574" name="Google Shape;574;p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6" name="Google Shape;576;p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7" name="Google Shape;577;p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578" name="Google Shape;578;p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0" name="Google Shape;580;p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2" name="Google Shape;582;p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583" name="Google Shape;583;p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5" name="Google Shape;585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6" name="Google Shape;586;p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587" name="Google Shape;587;p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9" name="Google Shape;589;p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8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601" name="Google Shape;601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6" name="Google Shape;606;p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607" name="Google Shape;607;p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9" name="Google Shape;609;p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0" name="Google Shape;610;p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611" name="Google Shape;611;p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3" name="Google Shape;613;p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5" name="Google Shape;615;p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616" name="Google Shape;616;p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8" name="Google Shape;618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19" name="Google Shape;619;p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620" name="Google Shape;620;p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2" name="Google Shape;622;p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3" name="Google Shape;633;p8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634" name="Google Shape;634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8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9" name="Google Shape;639;p8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640" name="Google Shape;640;p8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8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2" name="Google Shape;642;p8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3" name="Google Shape;643;p8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644" name="Google Shape;644;p8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8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6" name="Google Shape;646;p8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48" name="Google Shape;648;p8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649" name="Google Shape;649;p8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8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1" name="Google Shape;651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8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653" name="Google Shape;653;p8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8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5" name="Google Shape;655;p8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8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667" name="Google Shape;66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8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670" name="Google Shape;670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8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673" name="Google Shape;67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75" name="Google Shape;67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76" name="Google Shape;67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80" name="Google Shape;680;p8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681" name="Google Shape;68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683" name="Google Shape;68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4" name="Google Shape;68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88" name="Google Shape;688;p8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689" name="Google Shape;689;p8"/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690" name="Google Shape;690;p8"/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691" name="Google Shape;691;p8"/>
              <p:cNvSpPr txBox="1"/>
              <p:nvPr/>
            </p:nvSpPr>
            <p:spPr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154 Mbps</a:t>
                </a:r>
                <a:endParaRPr/>
              </a:p>
            </p:txBody>
          </p:sp>
          <p:sp>
            <p:nvSpPr>
              <p:cNvPr id="692" name="Google Shape;692;p8"/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3" name="Google Shape;693;p8"/>
              <p:cNvCxnSpPr/>
              <p:nvPr/>
            </p:nvCxnSpPr>
            <p:spPr>
              <a:xfrm flipH="1" rot="10800000">
                <a:off x="4828478" y="4140660"/>
                <a:ext cx="680225" cy="42304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694" name="Google Shape;694;p8"/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695" name="Google Shape;695;p8"/>
              <p:cNvSpPr txBox="1"/>
              <p:nvPr/>
            </p:nvSpPr>
            <p:spPr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-342900" lvl="0" marL="3429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154 Mbps</a:t>
                </a:r>
                <a:endParaRPr/>
              </a:p>
            </p:txBody>
          </p:sp>
          <p:sp>
            <p:nvSpPr>
              <p:cNvPr id="696" name="Google Shape;696;p8"/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lt1">
                  <a:alpha val="64705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7" name="Google Shape;697;p8"/>
              <p:cNvCxnSpPr/>
              <p:nvPr/>
            </p:nvCxnSpPr>
            <p:spPr>
              <a:xfrm flipH="1" rot="10800000">
                <a:off x="4459229" y="3805441"/>
                <a:ext cx="554004" cy="237118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C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698" name="Google Shape;698;p8"/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699" name="Google Shape;699;p8"/>
            <p:cNvSpPr txBox="1"/>
            <p:nvPr/>
          </p:nvSpPr>
          <p:spPr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.0097</a:t>
              </a:r>
              <a:endParaRPr/>
            </a:p>
          </p:txBody>
        </p:sp>
        <p:sp>
          <p:nvSpPr>
            <p:cNvPr id="700" name="Google Shape;700;p8"/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1" name="Google Shape;701;p8"/>
            <p:cNvCxnSpPr/>
            <p:nvPr/>
          </p:nvCxnSpPr>
          <p:spPr>
            <a:xfrm>
              <a:off x="4234070" y="4117024"/>
              <a:ext cx="936703" cy="1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02" name="Google Shape;702;p8"/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703" name="Google Shape;703;p8"/>
            <p:cNvSpPr txBox="1"/>
            <p:nvPr/>
          </p:nvSpPr>
          <p:spPr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msecs</a:t>
              </a:r>
              <a:endParaRPr/>
            </a:p>
          </p:txBody>
        </p:sp>
        <p:sp>
          <p:nvSpPr>
            <p:cNvPr id="704" name="Google Shape;704;p8"/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lt1">
                <a:alpha val="6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5" name="Google Shape;705;p8"/>
            <p:cNvCxnSpPr/>
            <p:nvPr/>
          </p:nvCxnSpPr>
          <p:spPr>
            <a:xfrm>
              <a:off x="3662316" y="3504654"/>
              <a:ext cx="1983056" cy="461665"/>
            </a:xfrm>
            <a:prstGeom prst="straightConnector1">
              <a:avLst/>
            </a:prstGeom>
            <a:noFill/>
            <a:ln cap="flat" cmpd="sng" w="38100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06" name="Google Shape;706;p8"/>
          <p:cNvSpPr txBox="1"/>
          <p:nvPr/>
        </p:nvSpPr>
        <p:spPr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faster access link (expensive!)</a:t>
            </a:r>
            <a:endParaRPr/>
          </a:p>
        </p:txBody>
      </p:sp>
      <p:sp>
        <p:nvSpPr>
          <p:cNvPr id="707" name="Google Shape;707;p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9"/>
          <p:cNvSpPr/>
          <p:nvPr/>
        </p:nvSpPr>
        <p:spPr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Performance: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 utilization: .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  =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714" name="Google Shape;714;p9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Option 2: install a web cache</a:t>
            </a:r>
            <a:endParaRPr sz="4400"/>
          </a:p>
        </p:txBody>
      </p:sp>
      <p:cxnSp>
        <p:nvCxnSpPr>
          <p:cNvPr id="715" name="Google Shape;715;p9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9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717" name="Google Shape;717;p9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9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9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9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9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9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9"/>
          <p:cNvSpPr/>
          <p:nvPr/>
        </p:nvSpPr>
        <p:spPr>
          <a:xfrm>
            <a:off x="7763006" y="45142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9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9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9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9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9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9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9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1" name="Google Shape;731;p9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732" name="Google Shape;732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7" name="Google Shape;737;p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738" name="Google Shape;738;p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0" name="Google Shape;740;p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1" name="Google Shape;741;p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742" name="Google Shape;742;p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4" name="Google Shape;744;p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6" name="Google Shape;746;p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747" name="Google Shape;747;p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9" name="Google Shape;749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0" name="Google Shape;750;p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751" name="Google Shape;751;p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3" name="Google Shape;753;p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9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765" name="Google Shape;76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6" name="Google Shape;76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9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768" name="Google Shape;768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3" name="Google Shape;773;p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774" name="Google Shape;774;p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6" name="Google Shape;776;p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7" name="Google Shape;777;p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778" name="Google Shape;778;p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0" name="Google Shape;780;p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2" name="Google Shape;782;p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783" name="Google Shape;783;p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5" name="Google Shape;785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6" name="Google Shape;786;p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787" name="Google Shape;787;p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9" name="Google Shape;789;p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9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801" name="Google Shape;801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6" name="Google Shape;806;p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07" name="Google Shape;807;p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9" name="Google Shape;809;p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0" name="Google Shape;810;p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11" name="Google Shape;811;p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3" name="Google Shape;813;p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5" name="Google Shape;815;p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16" name="Google Shape;816;p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8" name="Google Shape;818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9" name="Google Shape;819;p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20" name="Google Shape;820;p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2" name="Google Shape;822;p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9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834" name="Google Shape;834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9" name="Google Shape;839;p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40" name="Google Shape;840;p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1" name="Google Shape;841;p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2" name="Google Shape;842;p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3" name="Google Shape;843;p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44" name="Google Shape;844;p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6" name="Google Shape;846;p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8" name="Google Shape;848;p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49" name="Google Shape;849;p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1" name="Google Shape;851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2" name="Google Shape;852;p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53" name="Google Shape;853;p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5" name="Google Shape;855;p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6" name="Google Shape;866;p9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867" name="Google Shape;867;p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2" name="Google Shape;872;p9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873" name="Google Shape;873;p9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9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5" name="Google Shape;875;p9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6" name="Google Shape;876;p9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877" name="Google Shape;877;p9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9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9" name="Google Shape;879;p9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9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882" name="Google Shape;882;p9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9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4" name="Google Shape;884;p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5" name="Google Shape;885;p9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886" name="Google Shape;886;p9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9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8" name="Google Shape;888;p9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9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900" name="Google Shape;90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1" name="Google Shape;901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9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903" name="Google Shape;90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5" name="Google Shape;905;p9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906" name="Google Shape;906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08" name="Google Shape;908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09" name="Google Shape;909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3" name="Google Shape;913;p9"/>
          <p:cNvSpPr/>
          <p:nvPr/>
        </p:nvSpPr>
        <p:spPr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rate: 1.54 Mbps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RTT from institutional router to server: 2 sec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object size: 100K bits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request rate from browsers to origin servers: 15/sec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avg data rate to browsers: 1.50 Mbps</a:t>
            </a:r>
            <a:endParaRPr/>
          </a:p>
        </p:txBody>
      </p:sp>
      <p:grpSp>
        <p:nvGrpSpPr>
          <p:cNvPr id="914" name="Google Shape;914;p9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915" name="Google Shape;915;p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17" name="Google Shape;917;p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8" name="Google Shape;918;p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2" name="Google Shape;922;p9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923" name="Google Shape;923;p9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4" name="Google Shape;924;p9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925" name="Google Shape;925;p9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926" name="Google Shape;926;p9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927" name="Google Shape;927;p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" name="Google Shape;928;p9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" name="Google Shape;929;p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" name="Google Shape;930;p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" name="Google Shape;931;p9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2" name="Google Shape;932;p9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933" name="Google Shape;933;p9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4" name="Google Shape;934;p9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35" name="Google Shape;935;p9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36" name="Google Shape;936;p9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937" name="Google Shape;937;p9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8" name="Google Shape;938;p9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39" name="Google Shape;939;p9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0" name="Google Shape;940;p9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41" name="Google Shape;941;p9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942" name="Google Shape;942;p9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3" name="Google Shape;943;p9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44" name="Google Shape;944;p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45" name="Google Shape;945;p9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946" name="Google Shape;946;p9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47" name="Google Shape;947;p9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48" name="Google Shape;948;p9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9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3" name="Google Shape;953;p9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4" name="Google Shape;954;p9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9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9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" name="Google Shape;957;p9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Google Shape;958;p9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59" name="Google Shape;959;p9"/>
          <p:cNvSpPr txBox="1"/>
          <p:nvPr/>
        </p:nvSpPr>
        <p:spPr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How to compute link </a:t>
            </a:r>
            <a:endParaRPr/>
          </a:p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utilization, delay?</a:t>
            </a:r>
            <a:endParaRPr/>
          </a:p>
        </p:txBody>
      </p:sp>
      <p:sp>
        <p:nvSpPr>
          <p:cNvPr id="960" name="Google Shape;960;p9"/>
          <p:cNvSpPr txBox="1"/>
          <p:nvPr/>
        </p:nvSpPr>
        <p:spPr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Cost: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web cache (cheap!)</a:t>
            </a:r>
            <a:endParaRPr/>
          </a:p>
        </p:txBody>
      </p:sp>
      <p:sp>
        <p:nvSpPr>
          <p:cNvPr id="961" name="Google Shape;961;p9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9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0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Calculating access link utilization, end-end delay with cache:</a:t>
            </a:r>
            <a:endParaRPr/>
          </a:p>
        </p:txBody>
      </p:sp>
      <p:cxnSp>
        <p:nvCxnSpPr>
          <p:cNvPr id="969" name="Google Shape;969;p10"/>
          <p:cNvCxnSpPr/>
          <p:nvPr/>
        </p:nvCxnSpPr>
        <p:spPr>
          <a:xfrm>
            <a:off x="8083455" y="2487883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0" name="Google Shape;970;p10"/>
          <p:cNvSpPr txBox="1"/>
          <p:nvPr/>
        </p:nvSpPr>
        <p:spPr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/>
          </a:p>
        </p:txBody>
      </p:sp>
      <p:cxnSp>
        <p:nvCxnSpPr>
          <p:cNvPr id="971" name="Google Shape;971;p10"/>
          <p:cNvCxnSpPr/>
          <p:nvPr/>
        </p:nvCxnSpPr>
        <p:spPr>
          <a:xfrm>
            <a:off x="8893080" y="2106883"/>
            <a:ext cx="66675" cy="2762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10"/>
          <p:cNvCxnSpPr/>
          <p:nvPr/>
        </p:nvCxnSpPr>
        <p:spPr>
          <a:xfrm flipH="1">
            <a:off x="9521730" y="2144983"/>
            <a:ext cx="9525" cy="2381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10"/>
          <p:cNvCxnSpPr/>
          <p:nvPr/>
        </p:nvCxnSpPr>
        <p:spPr>
          <a:xfrm flipH="1">
            <a:off x="9978930" y="2306908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4" name="Google Shape;974;p10"/>
          <p:cNvCxnSpPr/>
          <p:nvPr/>
        </p:nvCxnSpPr>
        <p:spPr>
          <a:xfrm rot="10800000">
            <a:off x="10140855" y="3068908"/>
            <a:ext cx="247650" cy="0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5" name="Google Shape;975;p10"/>
          <p:cNvSpPr/>
          <p:nvPr/>
        </p:nvSpPr>
        <p:spPr>
          <a:xfrm>
            <a:off x="8158067" y="2111064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10"/>
          <p:cNvSpPr txBox="1"/>
          <p:nvPr/>
        </p:nvSpPr>
        <p:spPr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10"/>
          <p:cNvSpPr/>
          <p:nvPr/>
        </p:nvSpPr>
        <p:spPr>
          <a:xfrm>
            <a:off x="7748492" y="4470671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17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8" name="Google Shape;978;p10"/>
          <p:cNvCxnSpPr/>
          <p:nvPr/>
        </p:nvCxnSpPr>
        <p:spPr>
          <a:xfrm flipH="1">
            <a:off x="8197755" y="4780233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10"/>
          <p:cNvCxnSpPr/>
          <p:nvPr/>
        </p:nvCxnSpPr>
        <p:spPr>
          <a:xfrm flipH="1">
            <a:off x="8707342" y="4827858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10"/>
          <p:cNvCxnSpPr/>
          <p:nvPr/>
        </p:nvCxnSpPr>
        <p:spPr>
          <a:xfrm flipH="1">
            <a:off x="9245505" y="4834208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10"/>
          <p:cNvCxnSpPr/>
          <p:nvPr/>
        </p:nvCxnSpPr>
        <p:spPr>
          <a:xfrm>
            <a:off x="9407430" y="3545158"/>
            <a:ext cx="0" cy="106203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10"/>
          <p:cNvSpPr txBox="1"/>
          <p:nvPr/>
        </p:nvSpPr>
        <p:spPr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0"/>
          <p:cNvSpPr txBox="1"/>
          <p:nvPr/>
        </p:nvSpPr>
        <p:spPr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Gbps LAN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10"/>
          <p:cNvSpPr txBox="1"/>
          <p:nvPr/>
        </p:nvSpPr>
        <p:spPr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1.54 Mbps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5" name="Google Shape;985;p10"/>
          <p:cNvGrpSpPr/>
          <p:nvPr/>
        </p:nvGrpSpPr>
        <p:grpSpPr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986" name="Google Shape;986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1" name="Google Shape;991;p1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992" name="Google Shape;992;p1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1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4" name="Google Shape;994;p1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5" name="Google Shape;995;p1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996" name="Google Shape;996;p1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" name="Google Shape;997;p1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8" name="Google Shape;998;p1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0" name="Google Shape;1000;p1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01" name="Google Shape;1001;p1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1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3" name="Google Shape;1003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4" name="Google Shape;1004;p1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05" name="Google Shape;1005;p1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1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7" name="Google Shape;1007;p1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8" name="Google Shape;1018;p10"/>
          <p:cNvGrpSpPr/>
          <p:nvPr/>
        </p:nvGrpSpPr>
        <p:grpSpPr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descr="desktop_computer_stylized_medium" id="1019" name="Google Shape;101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0" name="Google Shape;1020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1" name="Google Shape;1021;p10"/>
          <p:cNvGrpSpPr/>
          <p:nvPr/>
        </p:nvGrpSpPr>
        <p:grpSpPr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1022" name="Google Shape;1022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7" name="Google Shape;1027;p1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28" name="Google Shape;1028;p1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1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0" name="Google Shape;1030;p1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1" name="Google Shape;1031;p1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32" name="Google Shape;1032;p1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1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4" name="Google Shape;1034;p1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" name="Google Shape;1036;p1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37" name="Google Shape;1037;p1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1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9" name="Google Shape;1039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" name="Google Shape;1040;p1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41" name="Google Shape;1041;p1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1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3" name="Google Shape;1043;p1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0"/>
          <p:cNvGrpSpPr/>
          <p:nvPr/>
        </p:nvGrpSpPr>
        <p:grpSpPr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1055" name="Google Shape;1055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0" name="Google Shape;1060;p1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61" name="Google Shape;1061;p1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1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3" name="Google Shape;1063;p1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4" name="Google Shape;1064;p1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65" name="Google Shape;1065;p1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1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7" name="Google Shape;1067;p1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9" name="Google Shape;1069;p1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070" name="Google Shape;1070;p1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1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2" name="Google Shape;1072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3" name="Google Shape;1073;p1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074" name="Google Shape;1074;p1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1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6" name="Google Shape;1076;p1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7" name="Google Shape;1087;p10"/>
          <p:cNvGrpSpPr/>
          <p:nvPr/>
        </p:nvGrpSpPr>
        <p:grpSpPr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1088" name="Google Shape;1088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3" name="Google Shape;1093;p1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094" name="Google Shape;1094;p1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1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6" name="Google Shape;1096;p1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97" name="Google Shape;1097;p1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098" name="Google Shape;1098;p1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1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0" name="Google Shape;1100;p1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2" name="Google Shape;1102;p1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03" name="Google Shape;1103;p1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1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5" name="Google Shape;1105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6" name="Google Shape;1106;p1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07" name="Google Shape;1107;p1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1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" name="Google Shape;1109;p1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0" name="Google Shape;1120;p10"/>
          <p:cNvGrpSpPr/>
          <p:nvPr/>
        </p:nvGrpSpPr>
        <p:grpSpPr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1121" name="Google Shape;1121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6" name="Google Shape;1126;p1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127" name="Google Shape;1127;p1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1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29" name="Google Shape;1129;p1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0" name="Google Shape;1130;p1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131" name="Google Shape;1131;p1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1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3" name="Google Shape;1133;p1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5" name="Google Shape;1135;p1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36" name="Google Shape;1136;p1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1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8" name="Google Shape;1138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9" name="Google Shape;1139;p1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40" name="Google Shape;1140;p1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1" name="Google Shape;1141;p1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2" name="Google Shape;1142;p1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3" name="Google Shape;1153;p10"/>
          <p:cNvGrpSpPr/>
          <p:nvPr/>
        </p:nvGrpSpPr>
        <p:grpSpPr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descr="desktop_computer_stylized_medium" id="1154" name="Google Shape;115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6" name="Google Shape;1156;p10"/>
          <p:cNvGrpSpPr/>
          <p:nvPr/>
        </p:nvGrpSpPr>
        <p:grpSpPr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descr="desktop_computer_stylized_medium" id="1157" name="Google Shape;1157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1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9" name="Google Shape;1159;p10"/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1160" name="Google Shape;116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62" name="Google Shape;116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3" name="Google Shape;116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7" name="Google Shape;1167;p10"/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1168" name="Google Shape;116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5" name="Google Shape;1175;p10"/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1176" name="Google Shape;1176;p10"/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0784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7" name="Google Shape;1177;p10"/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cxnSp>
            <p:nvCxnSpPr>
              <p:cNvPr id="1178" name="Google Shape;1178;p10"/>
              <p:cNvCxnSpPr/>
              <p:nvPr/>
            </p:nvCxnSpPr>
            <p:spPr>
              <a:xfrm>
                <a:off x="10966625" y="5189290"/>
                <a:ext cx="76200" cy="32226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179" name="Google Shape;1179;p10"/>
              <p:cNvGrpSpPr/>
              <p:nvPr/>
            </p:nvGrpSpPr>
            <p:grpSpPr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1180" name="Google Shape;1180;p10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1" name="Google Shape;1181;p10"/>
                <p:cNvSpPr/>
                <p:nvPr/>
              </p:nvSpPr>
              <p:spPr>
                <a:xfrm>
                  <a:off x="4206" y="429"/>
                  <a:ext cx="1048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2" name="Google Shape;1182;p10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3" name="Google Shape;1183;p10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4" name="Google Shape;1184;p10"/>
                <p:cNvSpPr/>
                <p:nvPr/>
              </p:nvSpPr>
              <p:spPr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85" name="Google Shape;1185;p10"/>
                <p:cNvGrpSpPr/>
                <p:nvPr/>
              </p:nvGrpSpPr>
              <p:grpSpPr>
                <a:xfrm>
                  <a:off x="4751" y="667"/>
                  <a:ext cx="581" cy="145"/>
                  <a:chOff x="616" y="2567"/>
                  <a:chExt cx="725" cy="139"/>
                </a:xfrm>
              </p:grpSpPr>
              <p:sp>
                <p:nvSpPr>
                  <p:cNvPr id="1186" name="Google Shape;1186;p10"/>
                  <p:cNvSpPr/>
                  <p:nvPr/>
                </p:nvSpPr>
                <p:spPr>
                  <a:xfrm>
                    <a:off x="616" y="2567"/>
                    <a:ext cx="725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10"/>
                  <p:cNvSpPr/>
                  <p:nvPr/>
                </p:nvSpPr>
                <p:spPr>
                  <a:xfrm>
                    <a:off x="631" y="2586"/>
                    <a:ext cx="695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88" name="Google Shape;1188;p10"/>
                <p:cNvSpPr/>
                <p:nvPr/>
              </p:nvSpPr>
              <p:spPr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89" name="Google Shape;1189;p10"/>
                <p:cNvGrpSpPr/>
                <p:nvPr/>
              </p:nvGrpSpPr>
              <p:grpSpPr>
                <a:xfrm>
                  <a:off x="4745" y="997"/>
                  <a:ext cx="581" cy="132"/>
                  <a:chOff x="611" y="2571"/>
                  <a:chExt cx="725" cy="137"/>
                </a:xfrm>
              </p:grpSpPr>
              <p:sp>
                <p:nvSpPr>
                  <p:cNvPr id="1190" name="Google Shape;1190;p10"/>
                  <p:cNvSpPr/>
                  <p:nvPr/>
                </p:nvSpPr>
                <p:spPr>
                  <a:xfrm>
                    <a:off x="611" y="2571"/>
                    <a:ext cx="725" cy="137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1" name="Google Shape;1191;p10"/>
                  <p:cNvSpPr/>
                  <p:nvPr/>
                </p:nvSpPr>
                <p:spPr>
                  <a:xfrm>
                    <a:off x="626" y="2584"/>
                    <a:ext cx="695" cy="110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92" name="Google Shape;1192;p10"/>
                <p:cNvSpPr/>
                <p:nvPr/>
              </p:nvSpPr>
              <p:spPr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10"/>
                <p:cNvSpPr/>
                <p:nvPr/>
              </p:nvSpPr>
              <p:spPr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94" name="Google Shape;1194;p10"/>
                <p:cNvGrpSpPr/>
                <p:nvPr/>
              </p:nvGrpSpPr>
              <p:grpSpPr>
                <a:xfrm>
                  <a:off x="4733" y="1630"/>
                  <a:ext cx="587" cy="146"/>
                  <a:chOff x="611" y="2571"/>
                  <a:chExt cx="731" cy="134"/>
                </a:xfrm>
              </p:grpSpPr>
              <p:sp>
                <p:nvSpPr>
                  <p:cNvPr id="1195" name="Google Shape;1195;p10"/>
                  <p:cNvSpPr/>
                  <p:nvPr/>
                </p:nvSpPr>
                <p:spPr>
                  <a:xfrm>
                    <a:off x="611" y="2571"/>
                    <a:ext cx="731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96" name="Google Shape;1196;p10"/>
                  <p:cNvSpPr/>
                  <p:nvPr/>
                </p:nvSpPr>
                <p:spPr>
                  <a:xfrm>
                    <a:off x="626" y="2589"/>
                    <a:ext cx="701" cy="9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97" name="Google Shape;1197;p10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98" name="Google Shape;1198;p10"/>
                <p:cNvGrpSpPr/>
                <p:nvPr/>
              </p:nvGrpSpPr>
              <p:grpSpPr>
                <a:xfrm>
                  <a:off x="4739" y="1327"/>
                  <a:ext cx="580" cy="139"/>
                  <a:chOff x="614" y="2568"/>
                  <a:chExt cx="723" cy="139"/>
                </a:xfrm>
              </p:grpSpPr>
              <p:sp>
                <p:nvSpPr>
                  <p:cNvPr id="1199" name="Google Shape;1199;p10"/>
                  <p:cNvSpPr/>
                  <p:nvPr/>
                </p:nvSpPr>
                <p:spPr>
                  <a:xfrm>
                    <a:off x="614" y="2568"/>
                    <a:ext cx="723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200" name="Google Shape;1200;p10"/>
                  <p:cNvSpPr/>
                  <p:nvPr/>
                </p:nvSpPr>
                <p:spPr>
                  <a:xfrm>
                    <a:off x="629" y="2581"/>
                    <a:ext cx="694" cy="106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333CC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201" name="Google Shape;1201;p10"/>
                <p:cNvSpPr/>
                <p:nvPr/>
              </p:nvSpPr>
              <p:spPr>
                <a:xfrm>
                  <a:off x="5248" y="429"/>
                  <a:ext cx="72" cy="2290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2" name="Google Shape;1202;p10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3" name="Google Shape;1203;p10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4" name="Google Shape;1204;p10"/>
                <p:cNvSpPr/>
                <p:nvPr/>
              </p:nvSpPr>
              <p:spPr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5" name="Google Shape;1205;p10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6" name="Google Shape;1206;p10"/>
                <p:cNvSpPr/>
                <p:nvPr/>
              </p:nvSpPr>
              <p:spPr>
                <a:xfrm>
                  <a:off x="4140" y="2680"/>
                  <a:ext cx="1197" cy="14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7" name="Google Shape;1207;p10"/>
                <p:cNvSpPr/>
                <p:nvPr/>
              </p:nvSpPr>
              <p:spPr>
                <a:xfrm>
                  <a:off x="4206" y="2713"/>
                  <a:ext cx="1072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10"/>
                <p:cNvSpPr/>
                <p:nvPr/>
              </p:nvSpPr>
              <p:spPr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10"/>
                <p:cNvSpPr/>
                <p:nvPr/>
              </p:nvSpPr>
              <p:spPr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0" name="Google Shape;1210;p10"/>
                <p:cNvSpPr/>
                <p:nvPr/>
              </p:nvSpPr>
              <p:spPr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1" name="Google Shape;1211;p10"/>
                <p:cNvSpPr/>
                <p:nvPr/>
              </p:nvSpPr>
              <p:spPr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333CC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12" name="Google Shape;1212;p10"/>
          <p:cNvSpPr txBox="1"/>
          <p:nvPr/>
        </p:nvSpPr>
        <p:spPr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local web cache</a:t>
            </a:r>
            <a:endParaRPr b="0" i="0" sz="24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10"/>
          <p:cNvSpPr txBox="1"/>
          <p:nvPr/>
        </p:nvSpPr>
        <p:spPr>
          <a:xfrm>
            <a:off x="889002" y="1405471"/>
            <a:ext cx="6166171" cy="174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58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cache hit rate is 0.4:  </a:t>
            </a:r>
            <a:endParaRPr/>
          </a:p>
          <a:p>
            <a:pPr indent="-231775" lvl="0" marL="352425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40% requests served by cache, with low (msec) delay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1214" name="Google Shape;1214;p10"/>
          <p:cNvSpPr/>
          <p:nvPr/>
        </p:nvSpPr>
        <p:spPr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60% requests satisfied at origin </a:t>
            </a:r>
            <a:endParaRPr/>
          </a:p>
          <a:p>
            <a:pPr indent="-169863" lvl="1" marL="406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rate to browsers over access link 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= 0.6 * 1.50 Mbps  =  .9 Mbps </a:t>
            </a:r>
            <a:endParaRPr/>
          </a:p>
          <a:p>
            <a:pPr indent="-287338" lvl="1" marL="47307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access link utilization = 0.9/1.54 = .58 means low (msec) queueing delay at access link</a:t>
            </a:r>
            <a:endParaRPr/>
          </a:p>
        </p:txBody>
      </p:sp>
      <p:sp>
        <p:nvSpPr>
          <p:cNvPr id="1215" name="Google Shape;1215;p10"/>
          <p:cNvSpPr/>
          <p:nvPr/>
        </p:nvSpPr>
        <p:spPr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 end-end delay: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0.6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from origin servers + queuing delay) +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0.4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* (delay when satisfied at cache)</a:t>
            </a:r>
            <a:endParaRPr/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 0.6 (2sec + .01sec) + 0.4 (~msecs) = ~ 1.2 secs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endParaRPr/>
          </a:p>
        </p:txBody>
      </p:sp>
      <p:sp>
        <p:nvSpPr>
          <p:cNvPr id="1216" name="Google Shape;1216;p10"/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lower average end-end delay than with 154 Mbps link (and cheaper too!)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10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Consistency of Web caching</a:t>
            </a:r>
            <a:endParaRPr/>
          </a:p>
        </p:txBody>
      </p:sp>
      <p:sp>
        <p:nvSpPr>
          <p:cNvPr id="1224" name="Google Shape;122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major issue: How to maintain consistency?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Two ways: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Pull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Web caches periodically pull the web server to see if a document is modified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Push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Whenever a server gives a copy of a web page to a web cache, they sign a lease with an expiration time; if the web page is modified before the lease, the server notifies the cache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12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Browser caching: Conditional GET</a:t>
            </a:r>
            <a:endParaRPr sz="4400"/>
          </a:p>
        </p:txBody>
      </p:sp>
      <p:sp>
        <p:nvSpPr>
          <p:cNvPr id="1231" name="Google Shape;1231;p12"/>
          <p:cNvSpPr txBox="1"/>
          <p:nvPr/>
        </p:nvSpPr>
        <p:spPr>
          <a:xfrm>
            <a:off x="714337" y="1626575"/>
            <a:ext cx="5597253" cy="513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don’t send object if browser has up-to-date cached version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object transmission delay (or use of network resources)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client: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specify date of browser-cached copy in HTTP request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r>
              <a:rPr b="0" i="0" lang="en-US" sz="28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response contains no object if browser-cached copy is up-to-date: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HTTP/1.0 304 Not Modified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2" name="Google Shape;1232;p12"/>
          <p:cNvCxnSpPr/>
          <p:nvPr/>
        </p:nvCxnSpPr>
        <p:spPr>
          <a:xfrm>
            <a:off x="7035490" y="2068251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3" name="Google Shape;1233;p12"/>
          <p:cNvSpPr txBox="1"/>
          <p:nvPr/>
        </p:nvSpPr>
        <p:spPr>
          <a:xfrm>
            <a:off x="7341878" y="1952364"/>
            <a:ext cx="2681287" cy="6207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4" name="Google Shape;1234;p12"/>
          <p:cNvCxnSpPr/>
          <p:nvPr/>
        </p:nvCxnSpPr>
        <p:spPr>
          <a:xfrm flipH="1">
            <a:off x="7054540" y="281437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35" name="Google Shape;1235;p12"/>
          <p:cNvGrpSpPr/>
          <p:nvPr/>
        </p:nvGrpSpPr>
        <p:grpSpPr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1236" name="Google Shape;1236;p12"/>
            <p:cNvSpPr/>
            <p:nvPr/>
          </p:nvSpPr>
          <p:spPr>
            <a:xfrm>
              <a:off x="2760" y="2071"/>
              <a:ext cx="1578" cy="4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2"/>
            <p:cNvSpPr txBox="1"/>
            <p:nvPr/>
          </p:nvSpPr>
          <p:spPr>
            <a:xfrm>
              <a:off x="2698" y="2036"/>
              <a:ext cx="1665" cy="54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 response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HTTP/1.0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304 Not Modified</a:t>
              </a:r>
              <a:endParaRPr b="1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8" name="Google Shape;1238;p12"/>
          <p:cNvSpPr txBox="1"/>
          <p:nvPr/>
        </p:nvSpPr>
        <p:spPr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cxnSp>
        <p:nvCxnSpPr>
          <p:cNvPr id="1239" name="Google Shape;1239;p12"/>
          <p:cNvCxnSpPr/>
          <p:nvPr/>
        </p:nvCxnSpPr>
        <p:spPr>
          <a:xfrm>
            <a:off x="6792603" y="4033576"/>
            <a:ext cx="3905250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0" name="Google Shape;1240;p12"/>
          <p:cNvCxnSpPr/>
          <p:nvPr/>
        </p:nvCxnSpPr>
        <p:spPr>
          <a:xfrm>
            <a:off x="7102165" y="4632064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1" name="Google Shape;1241;p12"/>
          <p:cNvSpPr txBox="1"/>
          <p:nvPr/>
        </p:nvSpPr>
        <p:spPr>
          <a:xfrm>
            <a:off x="7346640" y="4516176"/>
            <a:ext cx="2681288" cy="6207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request msg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If-modified-since: &lt;date&gt;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2" name="Google Shape;1242;p12"/>
          <p:cNvCxnSpPr/>
          <p:nvPr/>
        </p:nvCxnSpPr>
        <p:spPr>
          <a:xfrm flipH="1">
            <a:off x="7121215" y="5411526"/>
            <a:ext cx="3305175" cy="381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3" name="Google Shape;1243;p12"/>
          <p:cNvSpPr txBox="1"/>
          <p:nvPr/>
        </p:nvSpPr>
        <p:spPr>
          <a:xfrm>
            <a:off x="7365690" y="5355964"/>
            <a:ext cx="2643188" cy="12311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response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HTTP/1.0 200 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&lt;data&gt;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12"/>
          <p:cNvSpPr txBox="1"/>
          <p:nvPr/>
        </p:nvSpPr>
        <p:spPr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object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modified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&lt;date&gt;</a:t>
            </a:r>
            <a:endParaRPr/>
          </a:p>
        </p:txBody>
      </p:sp>
      <p:grpSp>
        <p:nvGrpSpPr>
          <p:cNvPr id="1245" name="Google Shape;1245;p12"/>
          <p:cNvGrpSpPr/>
          <p:nvPr/>
        </p:nvGrpSpPr>
        <p:grpSpPr>
          <a:xfrm>
            <a:off x="6311590" y="1146753"/>
            <a:ext cx="4549154" cy="787400"/>
            <a:chOff x="6311590" y="931601"/>
            <a:chExt cx="4549154" cy="787400"/>
          </a:xfrm>
        </p:grpSpPr>
        <p:sp>
          <p:nvSpPr>
            <p:cNvPr id="1246" name="Google Shape;1246;p12"/>
            <p:cNvSpPr txBox="1"/>
            <p:nvPr/>
          </p:nvSpPr>
          <p:spPr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client</a:t>
              </a:r>
              <a:endParaRPr/>
            </a:p>
          </p:txBody>
        </p:sp>
        <p:sp>
          <p:nvSpPr>
            <p:cNvPr id="1247" name="Google Shape;1247;p12"/>
            <p:cNvSpPr txBox="1"/>
            <p:nvPr/>
          </p:nvSpPr>
          <p:spPr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server</a:t>
              </a:r>
              <a:endParaRPr/>
            </a:p>
          </p:txBody>
        </p:sp>
        <p:grpSp>
          <p:nvGrpSpPr>
            <p:cNvPr id="1248" name="Google Shape;1248;p12"/>
            <p:cNvGrpSpPr/>
            <p:nvPr/>
          </p:nvGrpSpPr>
          <p:grpSpPr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1249" name="Google Shape;1249;p1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12"/>
              <p:cNvSpPr/>
              <p:nvPr/>
            </p:nvSpPr>
            <p:spPr>
              <a:xfrm>
                <a:off x="4204" y="429"/>
                <a:ext cx="1050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1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1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12"/>
              <p:cNvSpPr/>
              <p:nvPr/>
            </p:nvSpPr>
            <p:spPr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54" name="Google Shape;1254;p12"/>
              <p:cNvGrpSpPr/>
              <p:nvPr/>
            </p:nvGrpSpPr>
            <p:grpSpPr>
              <a:xfrm>
                <a:off x="4751" y="668"/>
                <a:ext cx="579" cy="144"/>
                <a:chOff x="616" y="2568"/>
                <a:chExt cx="722" cy="138"/>
              </a:xfrm>
            </p:grpSpPr>
            <p:sp>
              <p:nvSpPr>
                <p:cNvPr id="1255" name="Google Shape;1255;p12"/>
                <p:cNvSpPr/>
                <p:nvPr/>
              </p:nvSpPr>
              <p:spPr>
                <a:xfrm>
                  <a:off x="616" y="2568"/>
                  <a:ext cx="722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12"/>
                <p:cNvSpPr/>
                <p:nvPr/>
              </p:nvSpPr>
              <p:spPr>
                <a:xfrm>
                  <a:off x="630" y="2583"/>
                  <a:ext cx="689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57" name="Google Shape;1257;p12"/>
              <p:cNvSpPr/>
              <p:nvPr/>
            </p:nvSpPr>
            <p:spPr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58" name="Google Shape;1258;p12"/>
              <p:cNvGrpSpPr/>
              <p:nvPr/>
            </p:nvGrpSpPr>
            <p:grpSpPr>
              <a:xfrm>
                <a:off x="4745" y="995"/>
                <a:ext cx="584" cy="133"/>
                <a:chOff x="612" y="2569"/>
                <a:chExt cx="729" cy="138"/>
              </a:xfrm>
            </p:grpSpPr>
            <p:sp>
              <p:nvSpPr>
                <p:cNvPr id="1259" name="Google Shape;1259;p12"/>
                <p:cNvSpPr/>
                <p:nvPr/>
              </p:nvSpPr>
              <p:spPr>
                <a:xfrm>
                  <a:off x="612" y="2569"/>
                  <a:ext cx="729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0" name="Google Shape;1260;p12"/>
                <p:cNvSpPr/>
                <p:nvPr/>
              </p:nvSpPr>
              <p:spPr>
                <a:xfrm>
                  <a:off x="625" y="2586"/>
                  <a:ext cx="695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61" name="Google Shape;1261;p12"/>
              <p:cNvSpPr/>
              <p:nvPr/>
            </p:nvSpPr>
            <p:spPr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12"/>
              <p:cNvSpPr/>
              <p:nvPr/>
            </p:nvSpPr>
            <p:spPr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3" name="Google Shape;1263;p12"/>
              <p:cNvGrpSpPr/>
              <p:nvPr/>
            </p:nvGrpSpPr>
            <p:grpSpPr>
              <a:xfrm>
                <a:off x="4735" y="1627"/>
                <a:ext cx="584" cy="150"/>
                <a:chOff x="614" y="2568"/>
                <a:chExt cx="727" cy="138"/>
              </a:xfrm>
            </p:grpSpPr>
            <p:sp>
              <p:nvSpPr>
                <p:cNvPr id="1264" name="Google Shape;1264;p12"/>
                <p:cNvSpPr/>
                <p:nvPr/>
              </p:nvSpPr>
              <p:spPr>
                <a:xfrm>
                  <a:off x="614" y="2568"/>
                  <a:ext cx="727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12"/>
                <p:cNvSpPr/>
                <p:nvPr/>
              </p:nvSpPr>
              <p:spPr>
                <a:xfrm>
                  <a:off x="627" y="2583"/>
                  <a:ext cx="694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66" name="Google Shape;1266;p1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7" name="Google Shape;1267;p12"/>
              <p:cNvGrpSpPr/>
              <p:nvPr/>
            </p:nvGrpSpPr>
            <p:grpSpPr>
              <a:xfrm>
                <a:off x="4740" y="1327"/>
                <a:ext cx="579" cy="139"/>
                <a:chOff x="615" y="2568"/>
                <a:chExt cx="721" cy="139"/>
              </a:xfrm>
            </p:grpSpPr>
            <p:sp>
              <p:nvSpPr>
                <p:cNvPr id="1268" name="Google Shape;1268;p12"/>
                <p:cNvSpPr/>
                <p:nvPr/>
              </p:nvSpPr>
              <p:spPr>
                <a:xfrm>
                  <a:off x="615" y="2568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9" name="Google Shape;1269;p12"/>
                <p:cNvSpPr/>
                <p:nvPr/>
              </p:nvSpPr>
              <p:spPr>
                <a:xfrm>
                  <a:off x="629" y="2585"/>
                  <a:ext cx="687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70" name="Google Shape;1270;p12"/>
              <p:cNvSpPr/>
              <p:nvPr/>
            </p:nvSpPr>
            <p:spPr>
              <a:xfrm>
                <a:off x="5249" y="429"/>
                <a:ext cx="70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1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1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12"/>
              <p:cNvSpPr/>
              <p:nvPr/>
            </p:nvSpPr>
            <p:spPr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1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2"/>
              <p:cNvSpPr/>
              <p:nvPr/>
            </p:nvSpPr>
            <p:spPr>
              <a:xfrm>
                <a:off x="4140" y="2675"/>
                <a:ext cx="1200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12"/>
              <p:cNvSpPr/>
              <p:nvPr/>
            </p:nvSpPr>
            <p:spPr>
              <a:xfrm>
                <a:off x="4204" y="2709"/>
                <a:ext cx="1071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12"/>
              <p:cNvSpPr/>
              <p:nvPr/>
            </p:nvSpPr>
            <p:spPr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2"/>
              <p:cNvSpPr/>
              <p:nvPr/>
            </p:nvSpPr>
            <p:spPr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12"/>
              <p:cNvSpPr/>
              <p:nvPr/>
            </p:nvSpPr>
            <p:spPr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12"/>
              <p:cNvSpPr/>
              <p:nvPr/>
            </p:nvSpPr>
            <p:spPr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1" name="Google Shape;1281;p12"/>
            <p:cNvGrpSpPr/>
            <p:nvPr/>
          </p:nvGrpSpPr>
          <p:grpSpPr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descr="desktop_computer_stylized_medium" id="1282" name="Google Shape;1282;p1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3" name="Google Shape;1283;p1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84" name="Google Shape;1284;p12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 Layer: 2-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 Delivery Network (CDN) – Self Study</a:t>
            </a:r>
            <a:endParaRPr/>
          </a:p>
        </p:txBody>
      </p:sp>
      <p:pic>
        <p:nvPicPr>
          <p:cNvPr descr="https://cf-assets.www.cloudflare.com/slt3lc6tev37/7Dy6rquZDDKSJoeS27Y6xc/4a671b7cc7894a475a94f0140981f5d9/what_is_a_cdn_distributed_server_map.png" id="1290" name="Google Shape;12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5045" y="1752600"/>
            <a:ext cx="8841910" cy="442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3"/>
          <p:cNvSpPr/>
          <p:nvPr/>
        </p:nvSpPr>
        <p:spPr>
          <a:xfrm>
            <a:off x="3297028" y="6224036"/>
            <a:ext cx="55979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https://www.cloudflare.com/learning/cdn/what-is-a-cdn/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4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1298" name="Google Shape;1298;p14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14"/>
          <p:cNvSpPr txBox="1"/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HTTP1.1:</a:t>
            </a:r>
            <a:r>
              <a:rPr b="0" i="0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introduced </a:t>
            </a:r>
            <a:r>
              <a:rPr b="0" i="0" lang="en-US" sz="32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multiple, pipelined GETs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over single TCP connection</a:t>
            </a:r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responds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in-order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(FCFS: first-come-first-served scheduling) to GET requests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with FCFS, small object may have to wait for transmission  (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head-of-line (HOL) blocking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behind large object(s)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loss recovery (retransmitting lost TCP segments) stalls object transmission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14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5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HTTP/2</a:t>
            </a:r>
            <a:endParaRPr sz="4400"/>
          </a:p>
        </p:txBody>
      </p:sp>
      <p:sp>
        <p:nvSpPr>
          <p:cNvPr id="1307" name="Google Shape;1307;p15"/>
          <p:cNvSpPr txBox="1"/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5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HTTP/2: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7540, 2015]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increased flexibility at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sending objects to client: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methods, status codes, most header fields unchanged from HTTP 1.1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transmission order of requested objects based on client-specified object priority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(not necessarily FCFS)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unrequested objects to client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divide objects into frames, schedule frames to mitigate HOL blocking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15"/>
          <p:cNvSpPr txBox="1"/>
          <p:nvPr/>
        </p:nvSpPr>
        <p:spPr>
          <a:xfrm>
            <a:off x="572119" y="1236917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b="0" i="1" lang="en-US" sz="36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goal: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decreased delay in multi-object HTTP requests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5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6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1316" name="Google Shape;1316;p16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 1.1: client requests 1 large object (e.g., video file) and 3 smaller objects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6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1318" name="Google Shape;1318;p16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1319" name="Google Shape;1319;p16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320" name="Google Shape;1320;p1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16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1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6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5" name="Google Shape;1325;p16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326" name="Google Shape;1326;p16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6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8" name="Google Shape;1328;p16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9" name="Google Shape;1329;p16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330" name="Google Shape;1330;p16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6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2" name="Google Shape;1332;p16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16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4" name="Google Shape;1334;p16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335" name="Google Shape;1335;p16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6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7" name="Google Shape;1337;p1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8" name="Google Shape;1338;p16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339" name="Google Shape;1339;p16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6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1" name="Google Shape;1341;p16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1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1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16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16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16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6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6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6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6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2" name="Google Shape;1352;p16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1353" name="Google Shape;135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55" name="Google Shape;1355;p16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6" name="Google Shape;1356;p16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57" name="Google Shape;1357;p16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58" name="Google Shape;1358;p16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59" name="Google Shape;1359;p16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360" name="Google Shape;1360;p16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16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2" name="Google Shape;1362;p16"/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1363" name="Google Shape;1363;p16"/>
            <p:cNvCxnSpPr/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64" name="Google Shape;1364;p16"/>
            <p:cNvSpPr/>
            <p:nvPr/>
          </p:nvSpPr>
          <p:spPr>
            <a:xfrm>
              <a:off x="3517643" y="3064264"/>
              <a:ext cx="3868169" cy="2226179"/>
            </a:xfrm>
            <a:custGeom>
              <a:rect b="b" l="l" r="r" t="t"/>
              <a:pathLst>
                <a:path extrusionOk="0" h="2226179" w="386816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5" name="Google Shape;1365;p16"/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1366" name="Google Shape;1366;p16"/>
            <p:cNvCxnSpPr/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67" name="Google Shape;1367;p16"/>
            <p:cNvSpPr/>
            <p:nvPr/>
          </p:nvSpPr>
          <p:spPr>
            <a:xfrm>
              <a:off x="3519116" y="5054301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8" name="Google Shape;1368;p16"/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1369" name="Google Shape;1369;p16"/>
            <p:cNvCxnSpPr/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70" name="Google Shape;1370;p16"/>
            <p:cNvSpPr/>
            <p:nvPr/>
          </p:nvSpPr>
          <p:spPr>
            <a:xfrm>
              <a:off x="3504762" y="5445216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</a:t>
              </a:r>
              <a:endParaRPr/>
            </a:p>
          </p:txBody>
        </p:sp>
      </p:grpSp>
      <p:grpSp>
        <p:nvGrpSpPr>
          <p:cNvPr id="1371" name="Google Shape;1371;p16"/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1372" name="Google Shape;1372;p16"/>
            <p:cNvCxnSpPr/>
            <p:nvPr/>
          </p:nvCxnSpPr>
          <p:spPr>
            <a:xfrm rot="10800000">
              <a:off x="1750742" y="5290443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373" name="Google Shape;1373;p16"/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1374" name="Google Shape;1374;p16"/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16"/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sp>
        <p:nvSpPr>
          <p:cNvPr id="1376" name="Google Shape;1376;p16"/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7" name="Google Shape;1377;p16"/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1378" name="Google Shape;1378;p16"/>
            <p:cNvCxnSpPr/>
            <p:nvPr/>
          </p:nvCxnSpPr>
          <p:spPr>
            <a:xfrm rot="10800000">
              <a:off x="1750742" y="5442843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79" name="Google Shape;1379;p16"/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380" name="Google Shape;1380;p16"/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1381" name="Google Shape;1381;p16"/>
            <p:cNvCxnSpPr/>
            <p:nvPr/>
          </p:nvCxnSpPr>
          <p:spPr>
            <a:xfrm rot="10800000">
              <a:off x="1750742" y="5670973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82" name="Google Shape;1382;p16"/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383" name="Google Shape;1383;p16"/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1384" name="Google Shape;1384;p16"/>
            <p:cNvCxnSpPr/>
            <p:nvPr/>
          </p:nvCxnSpPr>
          <p:spPr>
            <a:xfrm rot="10800000">
              <a:off x="1750742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85" name="Google Shape;1385;p16"/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1386" name="Google Shape;1386;p16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16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16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16"/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1390" name="Google Shape;1390;p16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16"/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16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93" name="Google Shape;1393;p16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16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395" name="Google Shape;1395;p16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396" name="Google Shape;1396;p16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1397" name="Google Shape;1397;p16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8" name="Google Shape;1398;p16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9" name="Google Shape;1399;p16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0" name="Google Shape;1400;p16"/>
          <p:cNvSpPr txBox="1"/>
          <p:nvPr/>
        </p:nvSpPr>
        <p:spPr>
          <a:xfrm>
            <a:off x="2410244" y="6238081"/>
            <a:ext cx="8451975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objects delivered in order requested: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wait behind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1" name="Google Shape;1401;p16"/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1402" name="Google Shape;1402;p16"/>
            <p:cNvCxnSpPr/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03" name="Google Shape;1403;p16"/>
            <p:cNvSpPr/>
            <p:nvPr/>
          </p:nvSpPr>
          <p:spPr>
            <a:xfrm>
              <a:off x="3520812" y="5195255"/>
              <a:ext cx="3866473" cy="468804"/>
            </a:xfrm>
            <a:custGeom>
              <a:rect b="b" l="l" r="r" t="t"/>
              <a:pathLst>
                <a:path extrusionOk="0" h="468804" w="3866473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4" name="Google Shape;1404;p16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7"/>
          <p:cNvSpPr txBox="1"/>
          <p:nvPr>
            <p:ph type="title"/>
          </p:nvPr>
        </p:nvSpPr>
        <p:spPr>
          <a:xfrm>
            <a:off x="798691" y="37987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HTTP/2: mitigating HOL blocking</a:t>
            </a:r>
            <a:endParaRPr sz="4400"/>
          </a:p>
        </p:txBody>
      </p:sp>
      <p:sp>
        <p:nvSpPr>
          <p:cNvPr id="1411" name="Google Shape;1411;p17"/>
          <p:cNvSpPr txBox="1"/>
          <p:nvPr/>
        </p:nvSpPr>
        <p:spPr>
          <a:xfrm>
            <a:off x="798691" y="1274501"/>
            <a:ext cx="11117107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HTTP/2: objects divided into frames, frame transmission interleaved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7"/>
          <p:cNvSpPr txBox="1"/>
          <p:nvPr/>
        </p:nvSpPr>
        <p:spPr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/>
          </a:p>
        </p:txBody>
      </p:sp>
      <p:sp>
        <p:nvSpPr>
          <p:cNvPr id="1413" name="Google Shape;1413;p17"/>
          <p:cNvSpPr txBox="1"/>
          <p:nvPr/>
        </p:nvSpPr>
        <p:spPr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grpSp>
        <p:nvGrpSpPr>
          <p:cNvPr id="1414" name="Google Shape;1414;p17"/>
          <p:cNvGrpSpPr/>
          <p:nvPr/>
        </p:nvGrpSpPr>
        <p:grpSpPr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415" name="Google Shape;1415;p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204" y="429"/>
              <a:ext cx="1050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210" y="695"/>
              <a:ext cx="600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0" name="Google Shape;1420;p17"/>
            <p:cNvGrpSpPr/>
            <p:nvPr/>
          </p:nvGrpSpPr>
          <p:grpSpPr>
            <a:xfrm>
              <a:off x="4751" y="668"/>
              <a:ext cx="579" cy="144"/>
              <a:chOff x="616" y="2568"/>
              <a:chExt cx="722" cy="138"/>
            </a:xfrm>
          </p:grpSpPr>
          <p:sp>
            <p:nvSpPr>
              <p:cNvPr id="1421" name="Google Shape;1421;p17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17"/>
              <p:cNvSpPr/>
              <p:nvPr/>
            </p:nvSpPr>
            <p:spPr>
              <a:xfrm>
                <a:off x="630" y="2583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3" name="Google Shape;1423;p17"/>
            <p:cNvSpPr/>
            <p:nvPr/>
          </p:nvSpPr>
          <p:spPr>
            <a:xfrm>
              <a:off x="4226" y="1017"/>
              <a:ext cx="595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4" name="Google Shape;1424;p17"/>
            <p:cNvGrpSpPr/>
            <p:nvPr/>
          </p:nvGrpSpPr>
          <p:grpSpPr>
            <a:xfrm>
              <a:off x="4745" y="995"/>
              <a:ext cx="584" cy="133"/>
              <a:chOff x="612" y="2569"/>
              <a:chExt cx="729" cy="138"/>
            </a:xfrm>
          </p:grpSpPr>
          <p:sp>
            <p:nvSpPr>
              <p:cNvPr id="1425" name="Google Shape;1425;p17"/>
              <p:cNvSpPr/>
              <p:nvPr/>
            </p:nvSpPr>
            <p:spPr>
              <a:xfrm>
                <a:off x="612" y="2569"/>
                <a:ext cx="729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17"/>
              <p:cNvSpPr/>
              <p:nvPr/>
            </p:nvSpPr>
            <p:spPr>
              <a:xfrm>
                <a:off x="625" y="2586"/>
                <a:ext cx="695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7" name="Google Shape;1427;p17"/>
            <p:cNvSpPr/>
            <p:nvPr/>
          </p:nvSpPr>
          <p:spPr>
            <a:xfrm>
              <a:off x="4215" y="13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4226" y="1655"/>
              <a:ext cx="600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9" name="Google Shape;1429;p17"/>
            <p:cNvGrpSpPr/>
            <p:nvPr/>
          </p:nvGrpSpPr>
          <p:grpSpPr>
            <a:xfrm>
              <a:off x="4735" y="1627"/>
              <a:ext cx="584" cy="150"/>
              <a:chOff x="614" y="2568"/>
              <a:chExt cx="727" cy="138"/>
            </a:xfrm>
          </p:grpSpPr>
          <p:sp>
            <p:nvSpPr>
              <p:cNvPr id="1430" name="Google Shape;1430;p17"/>
              <p:cNvSpPr/>
              <p:nvPr/>
            </p:nvSpPr>
            <p:spPr>
              <a:xfrm>
                <a:off x="614" y="2568"/>
                <a:ext cx="727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17"/>
              <p:cNvSpPr/>
              <p:nvPr/>
            </p:nvSpPr>
            <p:spPr>
              <a:xfrm>
                <a:off x="627" y="2583"/>
                <a:ext cx="694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2" name="Google Shape;1432;p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33" name="Google Shape;1433;p17"/>
            <p:cNvGrpSpPr/>
            <p:nvPr/>
          </p:nvGrpSpPr>
          <p:grpSpPr>
            <a:xfrm>
              <a:off x="4740" y="1327"/>
              <a:ext cx="579" cy="139"/>
              <a:chOff x="615" y="2568"/>
              <a:chExt cx="721" cy="139"/>
            </a:xfrm>
          </p:grpSpPr>
          <p:sp>
            <p:nvSpPr>
              <p:cNvPr id="1434" name="Google Shape;1434;p17"/>
              <p:cNvSpPr/>
              <p:nvPr/>
            </p:nvSpPr>
            <p:spPr>
              <a:xfrm>
                <a:off x="615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17"/>
              <p:cNvSpPr/>
              <p:nvPr/>
            </p:nvSpPr>
            <p:spPr>
              <a:xfrm>
                <a:off x="629" y="2585"/>
                <a:ext cx="687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36" name="Google Shape;1436;p17"/>
            <p:cNvSpPr/>
            <p:nvPr/>
          </p:nvSpPr>
          <p:spPr>
            <a:xfrm>
              <a:off x="5249" y="429"/>
              <a:ext cx="70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7"/>
            <p:cNvSpPr/>
            <p:nvPr/>
          </p:nvSpPr>
          <p:spPr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7"/>
            <p:cNvSpPr/>
            <p:nvPr/>
          </p:nvSpPr>
          <p:spPr>
            <a:xfrm>
              <a:off x="4140" y="2675"/>
              <a:ext cx="1200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7"/>
            <p:cNvSpPr/>
            <p:nvPr/>
          </p:nvSpPr>
          <p:spPr>
            <a:xfrm>
              <a:off x="4204" y="2709"/>
              <a:ext cx="1071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7"/>
            <p:cNvSpPr/>
            <p:nvPr/>
          </p:nvSpPr>
          <p:spPr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7"/>
            <p:cNvSpPr/>
            <p:nvPr/>
          </p:nvSpPr>
          <p:spPr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7"/>
            <p:cNvSpPr/>
            <p:nvPr/>
          </p:nvSpPr>
          <p:spPr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7"/>
            <p:cNvSpPr/>
            <p:nvPr/>
          </p:nvSpPr>
          <p:spPr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7" name="Google Shape;1447;p17"/>
          <p:cNvGrpSpPr/>
          <p:nvPr/>
        </p:nvGrpSpPr>
        <p:grpSpPr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descr="desktop_computer_stylized_medium" id="1448" name="Google Shape;144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9" name="Google Shape;1449;p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50" name="Google Shape;1450;p17"/>
          <p:cNvCxnSpPr/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1" name="Google Shape;1451;p17"/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52" name="Google Shape;1452;p17"/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53" name="Google Shape;1453;p17"/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4" name="Google Shape;1454;p17"/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O</a:t>
            </a:r>
            <a:r>
              <a:rPr b="0" baseline="-2500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1455" name="Google Shape;1455;p17"/>
          <p:cNvCxnSpPr/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56" name="Google Shape;1456;p17"/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17"/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7"/>
          <p:cNvSpPr/>
          <p:nvPr/>
        </p:nvSpPr>
        <p:spPr>
          <a:xfrm>
            <a:off x="3486512" y="3835610"/>
            <a:ext cx="3867383" cy="1978529"/>
          </a:xfrm>
          <a:custGeom>
            <a:rect b="b" l="l" r="r" t="t"/>
            <a:pathLst>
              <a:path extrusionOk="0" h="1978529" w="3867383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17"/>
          <p:cNvSpPr/>
          <p:nvPr/>
        </p:nvSpPr>
        <p:spPr>
          <a:xfrm>
            <a:off x="3479865" y="32076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7"/>
          <p:cNvSpPr/>
          <p:nvPr/>
        </p:nvSpPr>
        <p:spPr>
          <a:xfrm>
            <a:off x="3479865" y="3336618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7"/>
          <p:cNvSpPr/>
          <p:nvPr/>
        </p:nvSpPr>
        <p:spPr>
          <a:xfrm>
            <a:off x="3485129" y="3468086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7"/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3" name="Google Shape;1463;p17"/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1464" name="Google Shape;1464;p17"/>
            <p:cNvCxnSpPr/>
            <p:nvPr/>
          </p:nvCxnSpPr>
          <p:spPr>
            <a:xfrm rot="10800000">
              <a:off x="1770738" y="3564111"/>
              <a:ext cx="164132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65" name="Google Shape;1465;p17"/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1466" name="Google Shape;1466;p17"/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7" name="Google Shape;1467;p17"/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1468" name="Google Shape;1468;p17"/>
            <p:cNvCxnSpPr/>
            <p:nvPr/>
          </p:nvCxnSpPr>
          <p:spPr>
            <a:xfrm rot="10800000">
              <a:off x="1759658" y="3839649"/>
              <a:ext cx="1641172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69" name="Google Shape;1469;p17"/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1470" name="Google Shape;1470;p17"/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7"/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7"/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17"/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 data requested</a:t>
            </a:r>
            <a:endParaRPr/>
          </a:p>
        </p:txBody>
      </p:sp>
      <p:sp>
        <p:nvSpPr>
          <p:cNvPr id="1474" name="Google Shape;1474;p17"/>
          <p:cNvSpPr/>
          <p:nvPr/>
        </p:nvSpPr>
        <p:spPr>
          <a:xfrm>
            <a:off x="7955470" y="4068021"/>
            <a:ext cx="596846" cy="36933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7"/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76" name="Google Shape;1476;p17"/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17"/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78" name="Google Shape;1478;p17"/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79" name="Google Shape;1479;p17"/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1480" name="Google Shape;1480;p17"/>
          <p:cNvCxnSpPr/>
          <p:nvPr/>
        </p:nvCxnSpPr>
        <p:spPr>
          <a:xfrm>
            <a:off x="9583543" y="5324881"/>
            <a:ext cx="186184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1" name="Google Shape;1481;p17"/>
          <p:cNvCxnSpPr/>
          <p:nvPr/>
        </p:nvCxnSpPr>
        <p:spPr>
          <a:xfrm flipH="1" rot="10800000">
            <a:off x="9589060" y="5022530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82" name="Google Shape;1482;p17"/>
          <p:cNvCxnSpPr/>
          <p:nvPr/>
        </p:nvCxnSpPr>
        <p:spPr>
          <a:xfrm>
            <a:off x="9593643" y="5502519"/>
            <a:ext cx="180667" cy="14587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83" name="Google Shape;1483;p17"/>
          <p:cNvSpPr txBox="1"/>
          <p:nvPr/>
        </p:nvSpPr>
        <p:spPr>
          <a:xfrm>
            <a:off x="3131136" y="6194429"/>
            <a:ext cx="6552840" cy="50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delivered quickly, O</a:t>
            </a:r>
            <a:r>
              <a:rPr b="0" baseline="-2500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slightly delayed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4" name="Google Shape;1484;p17"/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1485" name="Google Shape;1485;p17"/>
            <p:cNvCxnSpPr/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86" name="Google Shape;1486;p17"/>
            <p:cNvSpPr/>
            <p:nvPr/>
          </p:nvSpPr>
          <p:spPr>
            <a:xfrm>
              <a:off x="3479865" y="3082818"/>
              <a:ext cx="3875928" cy="375356"/>
            </a:xfrm>
            <a:custGeom>
              <a:rect b="b" l="l" r="r" t="t"/>
              <a:pathLst>
                <a:path extrusionOk="0" h="6552362" w="3875928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87" name="Google Shape;1487;p17"/>
          <p:cNvSpPr/>
          <p:nvPr/>
        </p:nvSpPr>
        <p:spPr>
          <a:xfrm>
            <a:off x="3480625" y="3596230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17"/>
          <p:cNvSpPr/>
          <p:nvPr/>
        </p:nvSpPr>
        <p:spPr>
          <a:xfrm>
            <a:off x="3485129" y="3719557"/>
            <a:ext cx="3875928" cy="375356"/>
          </a:xfrm>
          <a:custGeom>
            <a:rect b="b" l="l" r="r" t="t"/>
            <a:pathLst>
              <a:path extrusionOk="0" h="6552362" w="3875928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17"/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0" name="Google Shape;1490;p17"/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1491" name="Google Shape;1491;p17"/>
            <p:cNvCxnSpPr/>
            <p:nvPr/>
          </p:nvCxnSpPr>
          <p:spPr>
            <a:xfrm rot="10800000">
              <a:off x="1756483" y="4094530"/>
              <a:ext cx="1644347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92" name="Google Shape;1492;p17"/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493" name="Google Shape;1493;p17"/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4" name="Google Shape;1494;p17"/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1495" name="Google Shape;1495;p17"/>
            <p:cNvCxnSpPr/>
            <p:nvPr/>
          </p:nvCxnSpPr>
          <p:spPr>
            <a:xfrm rot="10800000">
              <a:off x="1706138" y="5804632"/>
              <a:ext cx="1641326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496" name="Google Shape;1496;p17"/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cxnSp>
        <p:nvCxnSpPr>
          <p:cNvPr id="1497" name="Google Shape;1497;p17"/>
          <p:cNvCxnSpPr/>
          <p:nvPr/>
        </p:nvCxnSpPr>
        <p:spPr>
          <a:xfrm>
            <a:off x="8570246" y="531145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17"/>
          <p:cNvCxnSpPr/>
          <p:nvPr/>
        </p:nvCxnSpPr>
        <p:spPr>
          <a:xfrm>
            <a:off x="8585033" y="495696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17"/>
          <p:cNvCxnSpPr/>
          <p:nvPr/>
        </p:nvCxnSpPr>
        <p:spPr>
          <a:xfrm>
            <a:off x="8579058" y="482487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17"/>
          <p:cNvCxnSpPr/>
          <p:nvPr/>
        </p:nvCxnSpPr>
        <p:spPr>
          <a:xfrm>
            <a:off x="8573083" y="469278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1" name="Google Shape;1501;p17"/>
          <p:cNvCxnSpPr/>
          <p:nvPr/>
        </p:nvCxnSpPr>
        <p:spPr>
          <a:xfrm>
            <a:off x="8567108" y="456068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2" name="Google Shape;1502;p17"/>
          <p:cNvCxnSpPr/>
          <p:nvPr/>
        </p:nvCxnSpPr>
        <p:spPr>
          <a:xfrm>
            <a:off x="8561133" y="442859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3" name="Google Shape;1503;p17"/>
          <p:cNvCxnSpPr/>
          <p:nvPr/>
        </p:nvCxnSpPr>
        <p:spPr>
          <a:xfrm>
            <a:off x="8555158" y="429649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4" name="Google Shape;1504;p17"/>
          <p:cNvCxnSpPr/>
          <p:nvPr/>
        </p:nvCxnSpPr>
        <p:spPr>
          <a:xfrm>
            <a:off x="8549183" y="416440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5" name="Google Shape;1505;p17"/>
          <p:cNvCxnSpPr/>
          <p:nvPr/>
        </p:nvCxnSpPr>
        <p:spPr>
          <a:xfrm>
            <a:off x="8543208" y="403231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6" name="Google Shape;1506;p17"/>
          <p:cNvCxnSpPr/>
          <p:nvPr/>
        </p:nvCxnSpPr>
        <p:spPr>
          <a:xfrm>
            <a:off x="8537233" y="390021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7" name="Google Shape;1507;p17"/>
          <p:cNvCxnSpPr/>
          <p:nvPr/>
        </p:nvCxnSpPr>
        <p:spPr>
          <a:xfrm>
            <a:off x="8531258" y="3768122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8" name="Google Shape;1508;p17"/>
          <p:cNvCxnSpPr/>
          <p:nvPr/>
        </p:nvCxnSpPr>
        <p:spPr>
          <a:xfrm>
            <a:off x="8525283" y="3636028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9" name="Google Shape;1509;p17"/>
          <p:cNvCxnSpPr/>
          <p:nvPr/>
        </p:nvCxnSpPr>
        <p:spPr>
          <a:xfrm>
            <a:off x="8540494" y="3503934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0" name="Google Shape;1510;p17"/>
          <p:cNvCxnSpPr/>
          <p:nvPr/>
        </p:nvCxnSpPr>
        <p:spPr>
          <a:xfrm>
            <a:off x="8534519" y="3371840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1" name="Google Shape;1511;p17"/>
          <p:cNvCxnSpPr/>
          <p:nvPr/>
        </p:nvCxnSpPr>
        <p:spPr>
          <a:xfrm>
            <a:off x="8535606" y="3239746"/>
            <a:ext cx="98198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2" name="Google Shape;1512;p17"/>
          <p:cNvCxnSpPr/>
          <p:nvPr/>
        </p:nvCxnSpPr>
        <p:spPr>
          <a:xfrm flipH="1" rot="10800000">
            <a:off x="3452698" y="3962094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3" name="Google Shape;1513;p17"/>
          <p:cNvCxnSpPr/>
          <p:nvPr/>
        </p:nvCxnSpPr>
        <p:spPr>
          <a:xfrm flipH="1" rot="10800000">
            <a:off x="3392013" y="411308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4" name="Google Shape;1514;p17"/>
          <p:cNvCxnSpPr/>
          <p:nvPr/>
        </p:nvCxnSpPr>
        <p:spPr>
          <a:xfrm flipH="1" rot="10800000">
            <a:off x="3403873" y="425067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5" name="Google Shape;1515;p17"/>
          <p:cNvCxnSpPr/>
          <p:nvPr/>
        </p:nvCxnSpPr>
        <p:spPr>
          <a:xfrm flipH="1" rot="10800000">
            <a:off x="3415733" y="439955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6" name="Google Shape;1516;p17"/>
          <p:cNvCxnSpPr/>
          <p:nvPr/>
        </p:nvCxnSpPr>
        <p:spPr>
          <a:xfrm flipH="1" rot="10800000">
            <a:off x="3474493" y="5562147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7" name="Google Shape;1517;p17"/>
          <p:cNvCxnSpPr/>
          <p:nvPr/>
        </p:nvCxnSpPr>
        <p:spPr>
          <a:xfrm flipH="1" rot="10800000">
            <a:off x="3486353" y="571667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8" name="Google Shape;1518;p17"/>
          <p:cNvCxnSpPr/>
          <p:nvPr/>
        </p:nvCxnSpPr>
        <p:spPr>
          <a:xfrm flipH="1" rot="10800000">
            <a:off x="3467438" y="4527480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9" name="Google Shape;1519;p17"/>
          <p:cNvCxnSpPr/>
          <p:nvPr/>
        </p:nvCxnSpPr>
        <p:spPr>
          <a:xfrm flipH="1" rot="10800000">
            <a:off x="3406753" y="467846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0" name="Google Shape;1520;p17"/>
          <p:cNvCxnSpPr/>
          <p:nvPr/>
        </p:nvCxnSpPr>
        <p:spPr>
          <a:xfrm flipH="1" rot="10800000">
            <a:off x="3418613" y="4816063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1" name="Google Shape;1521;p17"/>
          <p:cNvCxnSpPr/>
          <p:nvPr/>
        </p:nvCxnSpPr>
        <p:spPr>
          <a:xfrm flipH="1" rot="10800000">
            <a:off x="3430473" y="496494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2" name="Google Shape;1522;p17"/>
          <p:cNvCxnSpPr/>
          <p:nvPr/>
        </p:nvCxnSpPr>
        <p:spPr>
          <a:xfrm flipH="1" rot="10800000">
            <a:off x="3482178" y="5092866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3" name="Google Shape;1523;p17"/>
          <p:cNvCxnSpPr/>
          <p:nvPr/>
        </p:nvCxnSpPr>
        <p:spPr>
          <a:xfrm flipH="1" rot="10800000">
            <a:off x="3421493" y="5243855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24" name="Google Shape;1524;p17"/>
          <p:cNvCxnSpPr/>
          <p:nvPr/>
        </p:nvCxnSpPr>
        <p:spPr>
          <a:xfrm flipH="1" rot="10800000">
            <a:off x="3433353" y="5381449"/>
            <a:ext cx="3980812" cy="2898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5" name="Google Shape;1525;p17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8"/>
          <p:cNvSpPr txBox="1"/>
          <p:nvPr>
            <p:ph type="title"/>
          </p:nvPr>
        </p:nvSpPr>
        <p:spPr>
          <a:xfrm>
            <a:off x="651417" y="22376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HTTP/2 to HTTP/3</a:t>
            </a:r>
            <a:endParaRPr sz="4400"/>
          </a:p>
        </p:txBody>
      </p:sp>
      <p:sp>
        <p:nvSpPr>
          <p:cNvPr id="1532" name="Google Shape;1532;p18"/>
          <p:cNvSpPr txBox="1"/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6508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HTTP/2 over single TCP connection means: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recovery from packet loss still stalls all object transmissions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in HTTP 1.1, browsers have incentive to open multiple parallel TCP connections to reduce stalling, increase overall throughput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security over vanilla TCP connection</a:t>
            </a:r>
            <a:endParaRPr/>
          </a:p>
          <a:p>
            <a:pPr indent="-280988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HTTP/3: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security, per object error- and congestion-control (more pipelining) over UDP</a:t>
            </a:r>
            <a:endParaRPr/>
          </a:p>
          <a:p>
            <a:pPr indent="-280988" lvl="1" marL="6889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on HTTP/3 in transport layer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18"/>
          <p:cNvSpPr txBox="1"/>
          <p:nvPr>
            <p:ph idx="4294967295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Layer: 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9"/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44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19"/>
          <p:cNvSpPr txBox="1"/>
          <p:nvPr>
            <p:ph idx="1" type="body"/>
          </p:nvPr>
        </p:nvSpPr>
        <p:spPr>
          <a:xfrm>
            <a:off x="613541" y="1386556"/>
            <a:ext cx="10515600" cy="50713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Computer Networking: A Top-Down Approach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Chapter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Why Web Cache? Example 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Why Web Cache? Example 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Why Web Cache? Example 3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6"/>
              </a:rPr>
              <a:t>Content Delivery Network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HTTP/2 vs HTTP/1.1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HTTP/2 Explained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20"/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1A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E01A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000" u="none" cap="none" strike="noStrike">
              <a:solidFill>
                <a:srgbClr val="0E01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