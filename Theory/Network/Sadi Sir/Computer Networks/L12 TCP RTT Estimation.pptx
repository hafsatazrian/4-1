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Arimo"/>
      <p:regular r:id="rId33"/>
      <p:bold r:id="rId34"/>
      <p:italic r:id="rId35"/>
      <p:boldItalic r:id="rId36"/>
    </p:embeddedFont>
    <p:embeddedFont>
      <p:font typeface="Tahoma"/>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Arimo-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Arimo-italic.fntdata"/><Relationship Id="rId12" Type="http://schemas.openxmlformats.org/officeDocument/2006/relationships/slide" Target="slides/slide8.xml"/><Relationship Id="rId34" Type="http://schemas.openxmlformats.org/officeDocument/2006/relationships/font" Target="fonts/Arimo-bold.fntdata"/><Relationship Id="rId15" Type="http://schemas.openxmlformats.org/officeDocument/2006/relationships/slide" Target="slides/slide11.xml"/><Relationship Id="rId37" Type="http://schemas.openxmlformats.org/officeDocument/2006/relationships/font" Target="fonts/Tahoma-regular.fntdata"/><Relationship Id="rId14" Type="http://schemas.openxmlformats.org/officeDocument/2006/relationships/slide" Target="slides/slide10.xml"/><Relationship Id="rId36" Type="http://schemas.openxmlformats.org/officeDocument/2006/relationships/font" Target="fonts/Arimo-boldItalic.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Tahoma-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8c38211b2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 name="Google Shape;41;g38c38211b2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g38c38211b2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This is how TCP re-computes the estimated RTT each time a new SampleRTT is taken.</a:t>
            </a:r>
            <a:endParaRPr/>
          </a:p>
          <a:p>
            <a:pPr indent="0" lvl="0" marL="0" rtl="0" algn="l">
              <a:spcBef>
                <a:spcPts val="0"/>
              </a:spcBef>
              <a:spcAft>
                <a:spcPts val="0"/>
              </a:spcAft>
              <a:buNone/>
            </a:pPr>
            <a:r>
              <a:rPr lang="en-US"/>
              <a:t>The process is knows as an exponentially weighted moving average, shown by the equation here.</a:t>
            </a:r>
            <a:endParaRPr/>
          </a:p>
          <a:p>
            <a:pPr indent="0" lvl="0" marL="0" rtl="0" algn="l">
              <a:spcBef>
                <a:spcPts val="0"/>
              </a:spcBef>
              <a:spcAft>
                <a:spcPts val="0"/>
              </a:spcAft>
              <a:buNone/>
            </a:pPr>
            <a:r>
              <a:rPr lang="en-US"/>
              <a:t>&lt;say it&gt;</a:t>
            </a:r>
            <a:endParaRPr/>
          </a:p>
          <a:p>
            <a:pPr indent="0" lvl="0" marL="0" rtl="0" algn="l">
              <a:spcBef>
                <a:spcPts val="0"/>
              </a:spcBef>
              <a:spcAft>
                <a:spcPts val="0"/>
              </a:spcAft>
              <a:buNone/>
            </a:pPr>
            <a:r>
              <a:rPr lang="en-US"/>
              <a:t>Where alpha reflects the influence of the most recent measurements on the estimated RTT; a typical value of alpha used in implementations is .125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graph at the bottom show measured RTTs between a host in the Massachusetts and a host in France, as well as the estimated, “smoothed”  RTT</a:t>
            </a:r>
            <a:endParaRPr/>
          </a:p>
        </p:txBody>
      </p:sp>
      <p:sp>
        <p:nvSpPr>
          <p:cNvPr id="58" name="Google Shape;58;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Given this value of the estimated RTT, TCP computes the timeout interval to be the estimated RTT plus a “safety margin”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And the intuition is that if we are seeing a large variation in SAMPLERTT – the RTT estimates are fluctuating a lot - then we’ll want a larger safety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TCP computes the Timeout interval to be the Estimated RTT plus 4 times a measure of deviation in the RTT.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deviation in the RTT is computed as the eWMA of the difference between the most recently measured SampleRTT from the Estimated RTT</a:t>
            </a:r>
            <a:endParaRPr/>
          </a:p>
        </p:txBody>
      </p:sp>
      <p:sp>
        <p:nvSpPr>
          <p:cNvPr id="82" name="Google Shape;82;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c316a83f5_0_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3" name="Google Shape;103;g38c316a83f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g38c316a83f5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c316a83f5_0_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3" name="Google Shape;113;g38c316a83f5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8c316a83f5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c316a83f5_0_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3" name="Google Shape;123;g38c316a83f5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g38c316a83f5_0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c316a83f5_0_5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8c316a83f5_0_5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c316a83f5_0_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6" name="Google Shape;146;g38c316a83f5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g38c316a83f5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c316a83f5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8c316a83f5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c316a83f5_0_3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8c316a83f5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c316a83f5_0_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8c316a83f5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c316a83f5_0_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1" name="Google Shape;191;g38c316a83f5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g38c316a83f5_0_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c316a83f5_0_8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5" name="Google Shape;205;g38c316a83f5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g38c316a83f5_0_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c316a83f5_0_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7" name="Google Shape;217;g38c316a83f5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g38c316a83f5_0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c316a83f5_0_3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3" name="Google Shape;233;g38c316a83f5_0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g38c316a83f5_0_3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c316a83f5_0_3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50" name="Google Shape;250;g38c316a83f5_0_3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g38c316a83f5_0_3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c316a83f5_0_10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68" name="Google Shape;268;g38c316a83f5_0_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g38c316a83f5_0_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8c316a83f5_0_6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8c316a83f5_0_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c316a83f5_0_6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8c316a83f5_0_6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g38c316a83f5_0_6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c316a83f5_0_6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8c316a83f5_0_6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g38c316a83f5_0_6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8c316a83f5_0_6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8c316a83f5_0_6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38c316a83f5_0_6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c316a83f5_0_7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8c316a83f5_0_7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8c316a83f5_0_7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8c316a83f5_0_1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25" name="Google Shape;325;g38c316a83f5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g38c316a83f5_0_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8c316a83f5_0_1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6" name="Google Shape;336;g38c316a83f5_0_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g38c316a83f5_0_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c316a83f5_0_3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52" name="Google Shape;352;g38c316a83f5_0_3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g38c316a83f5_0_3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8c316a83f5_0_3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60" name="Google Shape;360;g38c316a83f5_0_3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38c316a83f5_0_3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8c316a83f5_0_4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68" name="Google Shape;368;g38c316a83f5_0_4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38c316a83f5_0_4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33" name="Shape 33"/>
        <p:cNvGrpSpPr/>
        <p:nvPr/>
      </p:nvGrpSpPr>
      <p:grpSpPr>
        <a:xfrm>
          <a:off x="0" y="0"/>
          <a:ext cx="0" cy="0"/>
          <a:chOff x="0" y="0"/>
          <a:chExt cx="0" cy="0"/>
        </a:xfrm>
      </p:grpSpPr>
      <p:sp>
        <p:nvSpPr>
          <p:cNvPr id="34" name="Google Shape;34;p7"/>
          <p:cNvSpPr txBox="1"/>
          <p:nvPr>
            <p:ph type="title"/>
          </p:nvPr>
        </p:nvSpPr>
        <p:spPr>
          <a:xfrm>
            <a:off x="914400" y="152400"/>
            <a:ext cx="9160800"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40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7"/>
          <p:cNvSpPr txBox="1"/>
          <p:nvPr>
            <p:ph idx="1" type="body"/>
          </p:nvPr>
        </p:nvSpPr>
        <p:spPr>
          <a:xfrm>
            <a:off x="914400" y="1828800"/>
            <a:ext cx="10261500" cy="3657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7"/>
          <p:cNvSpPr txBox="1"/>
          <p:nvPr>
            <p:ph idx="10" type="dt"/>
          </p:nvPr>
        </p:nvSpPr>
        <p:spPr>
          <a:xfrm>
            <a:off x="1828800" y="6248400"/>
            <a:ext cx="25401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
          <p:cNvSpPr txBox="1"/>
          <p:nvPr>
            <p:ph idx="11" type="ftr"/>
          </p:nvPr>
        </p:nvSpPr>
        <p:spPr>
          <a:xfrm>
            <a:off x="4741333" y="6248400"/>
            <a:ext cx="38607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0" sz="1400">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
          <p:cNvSpPr txBox="1"/>
          <p:nvPr>
            <p:ph idx="12" type="sldNum"/>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1pPr>
            <a:lvl2pPr indent="0" lvl="1"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2pPr>
            <a:lvl3pPr indent="0" lvl="2"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3pPr>
            <a:lvl4pPr indent="0" lvl="3"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4pPr>
            <a:lvl5pPr indent="0" lvl="4"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5pPr>
            <a:lvl6pPr indent="0" lvl="5"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6pPr>
            <a:lvl7pPr indent="0" lvl="6"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7pPr>
            <a:lvl8pPr indent="0" lvl="7"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8pPr>
            <a:lvl9pPr indent="0" lvl="8" marL="0" marR="0" algn="r">
              <a:lnSpc>
                <a:spcPct val="100000"/>
              </a:lnSpc>
              <a:spcBef>
                <a:spcPts val="0"/>
              </a:spcBef>
              <a:spcAft>
                <a:spcPts val="0"/>
              </a:spcAft>
              <a:buClr>
                <a:schemeClr val="dk1"/>
              </a:buClr>
              <a:buSzPts val="1400"/>
              <a:buFont typeface="Comic Sans MS"/>
              <a:buNone/>
              <a:defRPr b="0" i="0" sz="1400" u="none">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sz="1100">
              <a:solidFill>
                <a:srgbClr val="7F7F7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8"/>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45" name="Google Shape;45;p8"/>
          <p:cNvSpPr txBox="1"/>
          <p:nvPr/>
        </p:nvSpPr>
        <p:spPr>
          <a:xfrm>
            <a:off x="433350" y="1542600"/>
            <a:ext cx="11325300" cy="3362400"/>
          </a:xfrm>
          <a:prstGeom prst="rect">
            <a:avLst/>
          </a:prstGeom>
          <a:noFill/>
          <a:ln>
            <a:noFill/>
          </a:ln>
        </p:spPr>
        <p:txBody>
          <a:bodyPr anchorCtr="0" anchor="ctr" bIns="91425" lIns="91425" spcFirstLastPara="1" rIns="91425" wrap="square" tIns="91425">
            <a:noAutofit/>
          </a:bodyPr>
          <a:lstStyle/>
          <a:p>
            <a:pPr indent="0" lvl="0" marL="0" rtl="0" algn="ctr">
              <a:lnSpc>
                <a:spcPct val="85000"/>
              </a:lnSpc>
              <a:spcBef>
                <a:spcPts val="0"/>
              </a:spcBef>
              <a:spcAft>
                <a:spcPts val="0"/>
              </a:spcAft>
              <a:buNone/>
            </a:pPr>
            <a:r>
              <a:rPr b="1" lang="en-US" sz="5400">
                <a:solidFill>
                  <a:srgbClr val="000099"/>
                </a:solidFill>
                <a:latin typeface="Calibri"/>
                <a:ea typeface="Calibri"/>
                <a:cs typeface="Calibri"/>
                <a:sym typeface="Calibri"/>
              </a:rPr>
              <a:t>Chapter 3</a:t>
            </a:r>
            <a:br>
              <a:rPr b="1" lang="en-US" sz="6000">
                <a:solidFill>
                  <a:srgbClr val="000099"/>
                </a:solidFill>
                <a:latin typeface="Calibri"/>
                <a:ea typeface="Calibri"/>
                <a:cs typeface="Calibri"/>
                <a:sym typeface="Calibri"/>
              </a:rPr>
            </a:br>
            <a:r>
              <a:rPr b="1" lang="en-US" sz="5400">
                <a:solidFill>
                  <a:srgbClr val="000099"/>
                </a:solidFill>
                <a:latin typeface="Calibri"/>
                <a:ea typeface="Calibri"/>
                <a:cs typeface="Calibri"/>
                <a:sym typeface="Calibri"/>
              </a:rPr>
              <a:t>Transport Layer</a:t>
            </a:r>
            <a:endParaRPr b="1" sz="5400">
              <a:solidFill>
                <a:srgbClr val="000099"/>
              </a:solidFill>
              <a:latin typeface="Calibri"/>
              <a:ea typeface="Calibri"/>
              <a:cs typeface="Calibri"/>
              <a:sym typeface="Calibri"/>
            </a:endParaRPr>
          </a:p>
          <a:p>
            <a:pPr indent="0" lvl="0" marL="0" rtl="0" algn="ctr">
              <a:lnSpc>
                <a:spcPct val="85000"/>
              </a:lnSpc>
              <a:spcBef>
                <a:spcPts val="0"/>
              </a:spcBef>
              <a:spcAft>
                <a:spcPts val="0"/>
              </a:spcAft>
              <a:buNone/>
            </a:pPr>
            <a:r>
              <a:rPr b="1" lang="en-US" sz="5400">
                <a:solidFill>
                  <a:srgbClr val="DD7E6B"/>
                </a:solidFill>
                <a:latin typeface="Calibri"/>
                <a:ea typeface="Calibri"/>
                <a:cs typeface="Calibri"/>
                <a:sym typeface="Calibri"/>
              </a:rPr>
              <a:t>TCP - RTT Estimation</a:t>
            </a:r>
            <a:endParaRPr b="1" sz="5400">
              <a:solidFill>
                <a:srgbClr val="00009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2" name="Google Shape;52;p9"/>
          <p:cNvSpPr txBox="1"/>
          <p:nvPr/>
        </p:nvSpPr>
        <p:spPr>
          <a:xfrm>
            <a:off x="673789" y="1393136"/>
            <a:ext cx="521344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1"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set TCP timeout value?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longer than RTT, but RTT varies!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short:</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premature timeout, unnecessary retransmissions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long:</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slow reaction to segment loss</a:t>
            </a:r>
            <a:endParaRPr/>
          </a:p>
        </p:txBody>
      </p:sp>
      <p:sp>
        <p:nvSpPr>
          <p:cNvPr id="53" name="Google Shape;53;p9"/>
          <p:cNvSpPr txBox="1"/>
          <p:nvPr/>
        </p:nvSpPr>
        <p:spPr>
          <a:xfrm>
            <a:off x="6258838" y="1393136"/>
            <a:ext cx="556591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0" lang="en-US" sz="3200" u="sng" cap="none" strike="noStrike">
                <a:solidFill>
                  <a:srgbClr val="C00000"/>
                </a:solidFill>
                <a:latin typeface="Calibri"/>
                <a:ea typeface="Calibri"/>
                <a:cs typeface="Calibri"/>
                <a:sym typeface="Calibri"/>
              </a:rPr>
              <a:t>:</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estimate RTT?</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99"/>
                </a:solidFill>
                <a:latin typeface="Courier New"/>
                <a:ea typeface="Courier New"/>
                <a:cs typeface="Courier New"/>
                <a:sym typeface="Courier New"/>
              </a:rPr>
              <a:t>SampleRTT:</a:t>
            </a:r>
            <a:r>
              <a:rPr b="0" i="0" lang="en-US" sz="2800" u="none" cap="none" strike="noStrike">
                <a:solidFill>
                  <a:srgbClr val="000000"/>
                </a:solidFill>
                <a:latin typeface="Calibri"/>
                <a:ea typeface="Calibri"/>
                <a:cs typeface="Calibri"/>
                <a:sym typeface="Calibri"/>
              </a:rPr>
              <a:t>measured time from segment transmission until ACK receipt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retransmissions</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A3"/>
                </a:solidFill>
                <a:latin typeface="Courier New"/>
                <a:ea typeface="Courier New"/>
                <a:cs typeface="Courier New"/>
                <a:sym typeface="Courier New"/>
              </a:rPr>
              <a:t>SampleRTT</a:t>
            </a:r>
            <a:r>
              <a:rPr b="0" i="0" lang="en-US" sz="2800" u="none" cap="none" strike="noStrike">
                <a:solidFill>
                  <a:srgbClr val="0000A8"/>
                </a:solidFill>
                <a:latin typeface="Courier New"/>
                <a:ea typeface="Courier New"/>
                <a:cs typeface="Courier New"/>
                <a:sym typeface="Courier New"/>
              </a:rPr>
              <a:t> </a:t>
            </a:r>
            <a:r>
              <a:rPr b="0" i="0" lang="en-US" sz="2800" u="none" cap="none" strike="noStrike">
                <a:solidFill>
                  <a:srgbClr val="000000"/>
                </a:solidFill>
                <a:latin typeface="Calibri"/>
                <a:ea typeface="Calibri"/>
                <a:cs typeface="Calibri"/>
                <a:sym typeface="Calibri"/>
              </a:rPr>
              <a:t>will vary, want estimated RTT “smoother</a:t>
            </a:r>
            <a:r>
              <a:rPr b="0" i="0" lang="en-US" sz="24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average several </a:t>
            </a:r>
            <a:r>
              <a:rPr b="0" i="1" lang="en-US" sz="2400" u="none" cap="none" strike="noStrike">
                <a:solidFill>
                  <a:srgbClr val="000000"/>
                </a:solidFill>
                <a:latin typeface="Calibri"/>
                <a:ea typeface="Calibri"/>
                <a:cs typeface="Calibri"/>
                <a:sym typeface="Calibri"/>
              </a:rPr>
              <a:t>recent</a:t>
            </a:r>
            <a:r>
              <a:rPr b="0" i="0" lang="en-US" sz="2400" u="none" cap="none" strike="noStrike">
                <a:solidFill>
                  <a:srgbClr val="000000"/>
                </a:solidFill>
                <a:latin typeface="Calibri"/>
                <a:ea typeface="Calibri"/>
                <a:cs typeface="Calibri"/>
                <a:sym typeface="Calibri"/>
              </a:rPr>
              <a:t> measurements, not just current </a:t>
            </a:r>
            <a:r>
              <a:rPr b="0" i="0" lang="en-US" sz="2400" u="none" cap="none" strike="noStrike">
                <a:solidFill>
                  <a:srgbClr val="0000A3"/>
                </a:solidFill>
                <a:latin typeface="Courier New"/>
                <a:ea typeface="Courier New"/>
                <a:cs typeface="Courier New"/>
                <a:sym typeface="Courier New"/>
              </a:rPr>
              <a:t>SampleRTT</a:t>
            </a:r>
            <a:endParaRPr/>
          </a:p>
        </p:txBody>
      </p:sp>
      <p:sp>
        <p:nvSpPr>
          <p:cNvPr id="54" name="Google Shape;54;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p:nvPr/>
        </p:nvSpPr>
        <p:spPr>
          <a:xfrm>
            <a:off x="876300" y="1261543"/>
            <a:ext cx="8974869"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 name="Google Shape;61;p1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62" name="Google Shape;62;p10"/>
          <p:cNvSpPr txBox="1"/>
          <p:nvPr/>
        </p:nvSpPr>
        <p:spPr>
          <a:xfrm>
            <a:off x="876300" y="1246817"/>
            <a:ext cx="9052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EstimatedRTT = (1- α)*EstimatedRTT + α*SampleRTT</a:t>
            </a:r>
            <a:endParaRPr/>
          </a:p>
        </p:txBody>
      </p:sp>
      <p:sp>
        <p:nvSpPr>
          <p:cNvPr id="63" name="Google Shape;63;p10"/>
          <p:cNvSpPr/>
          <p:nvPr/>
        </p:nvSpPr>
        <p:spPr>
          <a:xfrm>
            <a:off x="951602" y="1857328"/>
            <a:ext cx="7067550" cy="1424491"/>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400"/>
              <a:buFont typeface="Noto Sans Symbols"/>
              <a:buChar char="▪"/>
            </a:pPr>
            <a:r>
              <a:rPr b="0" i="0" lang="en-US" sz="2400" u="sng" cap="none" strike="noStrike">
                <a:solidFill>
                  <a:srgbClr val="000000"/>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xponential </a:t>
            </a:r>
            <a:r>
              <a:rPr b="0" i="0" lang="en-US" sz="2400" u="sng" cap="none" strike="noStrike">
                <a:solidFill>
                  <a:srgbClr val="000000"/>
                </a:solidFill>
                <a:latin typeface="Calibri"/>
                <a:ea typeface="Calibri"/>
                <a:cs typeface="Calibri"/>
                <a:sym typeface="Calibri"/>
              </a:rPr>
              <a:t>w</a:t>
            </a:r>
            <a:r>
              <a:rPr b="0" i="0" lang="en-US" sz="2400" u="none" cap="none" strike="noStrike">
                <a:solidFill>
                  <a:srgbClr val="000000"/>
                </a:solidFill>
                <a:latin typeface="Calibri"/>
                <a:ea typeface="Calibri"/>
                <a:cs typeface="Calibri"/>
                <a:sym typeface="Calibri"/>
              </a:rPr>
              <a:t>eighted </a:t>
            </a:r>
            <a:r>
              <a:rPr b="0" i="0" lang="en-US" sz="2400" u="sng" cap="none" strike="noStrike">
                <a:solidFill>
                  <a:srgbClr val="000000"/>
                </a:solidFill>
                <a:latin typeface="Calibri"/>
                <a:ea typeface="Calibri"/>
                <a:cs typeface="Calibri"/>
                <a:sym typeface="Calibri"/>
              </a:rPr>
              <a:t>m</a:t>
            </a:r>
            <a:r>
              <a:rPr b="0" i="0" lang="en-US" sz="2400" u="none" cap="none" strike="noStrike">
                <a:solidFill>
                  <a:srgbClr val="000000"/>
                </a:solidFill>
                <a:latin typeface="Calibri"/>
                <a:ea typeface="Calibri"/>
                <a:cs typeface="Calibri"/>
                <a:sym typeface="Calibri"/>
              </a:rPr>
              <a:t>oving </a:t>
            </a:r>
            <a:r>
              <a:rPr b="0" i="0" lang="en-US" sz="2400" u="sng"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verage (EWMA)</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influence of past sample decreases exponentially fast</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 value: α </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0.125</a:t>
            </a:r>
            <a:endParaRPr/>
          </a:p>
        </p:txBody>
      </p:sp>
      <p:grpSp>
        <p:nvGrpSpPr>
          <p:cNvPr id="64" name="Google Shape;64;p10"/>
          <p:cNvGrpSpPr/>
          <p:nvPr/>
        </p:nvGrpSpPr>
        <p:grpSpPr>
          <a:xfrm>
            <a:off x="4673229" y="2443135"/>
            <a:ext cx="6448425" cy="4292600"/>
            <a:chOff x="1531938" y="2565400"/>
            <a:chExt cx="6448425" cy="4292600"/>
          </a:xfrm>
        </p:grpSpPr>
        <p:grpSp>
          <p:nvGrpSpPr>
            <p:cNvPr id="65" name="Google Shape;65;p10"/>
            <p:cNvGrpSpPr/>
            <p:nvPr/>
          </p:nvGrpSpPr>
          <p:grpSpPr>
            <a:xfrm>
              <a:off x="1708150" y="2565400"/>
              <a:ext cx="6272213" cy="4292600"/>
              <a:chOff x="782" y="1865"/>
              <a:chExt cx="3951" cy="2704"/>
            </a:xfrm>
          </p:grpSpPr>
          <p:pic>
            <p:nvPicPr>
              <p:cNvPr id="66" name="Google Shape;66;p10"/>
              <p:cNvPicPr preferRelativeResize="0"/>
              <p:nvPr/>
            </p:nvPicPr>
            <p:blipFill rotWithShape="1">
              <a:blip r:embed="rId3">
                <a:alphaModFix/>
              </a:blip>
              <a:srcRect b="0" l="0" r="0" t="0"/>
              <a:stretch/>
            </p:blipFill>
            <p:spPr>
              <a:xfrm>
                <a:off x="782" y="1865"/>
                <a:ext cx="3951" cy="2704"/>
              </a:xfrm>
              <a:prstGeom prst="rect">
                <a:avLst/>
              </a:prstGeom>
              <a:noFill/>
              <a:ln>
                <a:noFill/>
              </a:ln>
            </p:spPr>
          </p:pic>
          <p:sp>
            <p:nvSpPr>
              <p:cNvPr id="67" name="Google Shape;67;p10"/>
              <p:cNvSpPr/>
              <p:nvPr/>
            </p:nvSpPr>
            <p:spPr>
              <a:xfrm>
                <a:off x="2070" y="1926"/>
                <a:ext cx="1404" cy="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 name="Google Shape;68;p10"/>
            <p:cNvSpPr txBox="1"/>
            <p:nvPr/>
          </p:nvSpPr>
          <p:spPr>
            <a:xfrm rot="-5400000">
              <a:off x="872332" y="4194969"/>
              <a:ext cx="1747837" cy="428625"/>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RTT (milliseconds)</a:t>
              </a:r>
              <a:endParaRPr/>
            </a:p>
          </p:txBody>
        </p:sp>
        <p:sp>
          <p:nvSpPr>
            <p:cNvPr id="69" name="Google Shape;69;p10"/>
            <p:cNvSpPr txBox="1"/>
            <p:nvPr/>
          </p:nvSpPr>
          <p:spPr>
            <a:xfrm>
              <a:off x="2265363" y="3168650"/>
              <a:ext cx="38671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gaia.cs.umass.edu</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to</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fantasia.eurecom.fr</a:t>
              </a:r>
              <a:endParaRPr/>
            </a:p>
          </p:txBody>
        </p:sp>
        <p:sp>
          <p:nvSpPr>
            <p:cNvPr id="70" name="Google Shape;70;p10"/>
            <p:cNvSpPr txBox="1"/>
            <p:nvPr/>
          </p:nvSpPr>
          <p:spPr>
            <a:xfrm>
              <a:off x="6221413" y="5230813"/>
              <a:ext cx="1181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sampleRTT</a:t>
              </a:r>
              <a:endParaRPr/>
            </a:p>
          </p:txBody>
        </p:sp>
        <p:sp>
          <p:nvSpPr>
            <p:cNvPr id="71" name="Google Shape;71;p10"/>
            <p:cNvSpPr txBox="1"/>
            <p:nvPr/>
          </p:nvSpPr>
          <p:spPr>
            <a:xfrm>
              <a:off x="6215063" y="5548313"/>
              <a:ext cx="14319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EstimatedRTT</a:t>
              </a:r>
              <a:endParaRPr/>
            </a:p>
          </p:txBody>
        </p:sp>
        <p:sp>
          <p:nvSpPr>
            <p:cNvPr id="72" name="Google Shape;72;p10"/>
            <p:cNvSpPr/>
            <p:nvPr/>
          </p:nvSpPr>
          <p:spPr>
            <a:xfrm>
              <a:off x="6005513" y="5343525"/>
              <a:ext cx="147637" cy="142875"/>
            </a:xfrm>
            <a:prstGeom prst="diamond">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 name="Google Shape;73;p10"/>
            <p:cNvSpPr/>
            <p:nvPr/>
          </p:nvSpPr>
          <p:spPr>
            <a:xfrm rot="2776382">
              <a:off x="6011069" y="5633244"/>
              <a:ext cx="147637" cy="142875"/>
            </a:xfrm>
            <a:prstGeom prst="diamond">
              <a:avLst/>
            </a:prstGeom>
            <a:solidFill>
              <a:srgbClr val="FF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 name="Google Shape;74;p10"/>
            <p:cNvSpPr/>
            <p:nvPr/>
          </p:nvSpPr>
          <p:spPr>
            <a:xfrm>
              <a:off x="4108450" y="6389688"/>
              <a:ext cx="1863725" cy="4683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 name="Google Shape;75;p10"/>
            <p:cNvGrpSpPr/>
            <p:nvPr/>
          </p:nvGrpSpPr>
          <p:grpSpPr>
            <a:xfrm>
              <a:off x="4041775" y="6386513"/>
              <a:ext cx="1512888" cy="336550"/>
              <a:chOff x="2343" y="3645"/>
              <a:chExt cx="953" cy="212"/>
            </a:xfrm>
          </p:grpSpPr>
          <p:sp>
            <p:nvSpPr>
              <p:cNvPr id="76" name="Google Shape;76;p10"/>
              <p:cNvSpPr/>
              <p:nvPr/>
            </p:nvSpPr>
            <p:spPr>
              <a:xfrm>
                <a:off x="2592" y="3695"/>
                <a:ext cx="527" cy="9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 name="Google Shape;77;p10"/>
              <p:cNvSpPr txBox="1"/>
              <p:nvPr/>
            </p:nvSpPr>
            <p:spPr>
              <a:xfrm>
                <a:off x="2343" y="3645"/>
                <a:ext cx="95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 (seconds)</a:t>
                </a:r>
                <a:endParaRPr/>
              </a:p>
            </p:txBody>
          </p:sp>
        </p:grpSp>
      </p:grpSp>
      <p:sp>
        <p:nvSpPr>
          <p:cNvPr id="78" name="Google Shape;78;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85" name="Google Shape;85;p11"/>
          <p:cNvSpPr txBox="1"/>
          <p:nvPr/>
        </p:nvSpPr>
        <p:spPr>
          <a:xfrm>
            <a:off x="635138" y="1537841"/>
            <a:ext cx="11327678" cy="11291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timeout interval:</a:t>
            </a:r>
            <a:r>
              <a:rPr b="1" i="0" lang="en-US" sz="2800" u="none" cap="none" strike="noStrike">
                <a:solidFill>
                  <a:srgbClr val="000000"/>
                </a:solidFill>
                <a:latin typeface="Calibri"/>
                <a:ea typeface="Calibri"/>
                <a:cs typeface="Calibri"/>
                <a:sym typeface="Calibri"/>
              </a:rPr>
              <a:t>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plus “safety margin”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large variation in  </a:t>
            </a:r>
            <a:r>
              <a:rPr b="1" i="0" lang="en-US" sz="2800" u="none" cap="none" strike="noStrike">
                <a:solidFill>
                  <a:srgbClr val="000000"/>
                </a:solidFill>
                <a:latin typeface="Courier"/>
                <a:ea typeface="Courier"/>
                <a:cs typeface="Courier"/>
                <a:sym typeface="Courier"/>
              </a:rPr>
              <a:t>EstimatedRTT: </a:t>
            </a:r>
            <a:r>
              <a:rPr b="0" i="0" lang="en-US" sz="2800" u="none" cap="none" strike="noStrike">
                <a:solidFill>
                  <a:srgbClr val="000000"/>
                </a:solidFill>
                <a:latin typeface="Calibri"/>
                <a:ea typeface="Calibri"/>
                <a:cs typeface="Calibri"/>
                <a:sym typeface="Calibri"/>
              </a:rPr>
              <a:t>want a larger safety margin</a:t>
            </a:r>
            <a:endParaRPr/>
          </a:p>
        </p:txBody>
      </p:sp>
      <p:grpSp>
        <p:nvGrpSpPr>
          <p:cNvPr id="86" name="Google Shape;86;p11"/>
          <p:cNvGrpSpPr/>
          <p:nvPr/>
        </p:nvGrpSpPr>
        <p:grpSpPr>
          <a:xfrm>
            <a:off x="1061454" y="2679700"/>
            <a:ext cx="9532485" cy="1193800"/>
            <a:chOff x="858254" y="2667000"/>
            <a:chExt cx="9532485" cy="1193800"/>
          </a:xfrm>
        </p:grpSpPr>
        <p:sp>
          <p:nvSpPr>
            <p:cNvPr id="87" name="Google Shape;87;p11"/>
            <p:cNvSpPr/>
            <p:nvPr/>
          </p:nvSpPr>
          <p:spPr>
            <a:xfrm>
              <a:off x="858254" y="2667000"/>
              <a:ext cx="9532485"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 name="Google Shape;88;p11"/>
            <p:cNvSpPr/>
            <p:nvPr/>
          </p:nvSpPr>
          <p:spPr>
            <a:xfrm>
              <a:off x="859979" y="2701243"/>
              <a:ext cx="7918450" cy="692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TimeoutInterval = EstimatedRTT + 4*DevRTT</a:t>
              </a:r>
              <a:endParaRPr/>
            </a:p>
          </p:txBody>
        </p:sp>
        <p:sp>
          <p:nvSpPr>
            <p:cNvPr id="89" name="Google Shape;89;p11"/>
            <p:cNvSpPr txBox="1"/>
            <p:nvPr/>
          </p:nvSpPr>
          <p:spPr>
            <a:xfrm>
              <a:off x="4304854" y="3442606"/>
              <a:ext cx="1811338"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estimated RTT</a:t>
              </a:r>
              <a:endParaRPr/>
            </a:p>
          </p:txBody>
        </p:sp>
        <p:sp>
          <p:nvSpPr>
            <p:cNvPr id="90" name="Google Shape;90;p11"/>
            <p:cNvSpPr txBox="1"/>
            <p:nvPr/>
          </p:nvSpPr>
          <p:spPr>
            <a:xfrm>
              <a:off x="6736904" y="3461656"/>
              <a:ext cx="19177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“safety margin”</a:t>
              </a:r>
              <a:endParaRPr b="0" i="0" sz="2000" u="none" cap="none" strike="noStrike">
                <a:solidFill>
                  <a:srgbClr val="000099"/>
                </a:solidFill>
                <a:latin typeface="Tahoma"/>
                <a:ea typeface="Tahoma"/>
                <a:cs typeface="Tahoma"/>
                <a:sym typeface="Tahoma"/>
              </a:endParaRPr>
            </a:p>
          </p:txBody>
        </p:sp>
        <p:cxnSp>
          <p:nvCxnSpPr>
            <p:cNvPr id="91" name="Google Shape;91;p11"/>
            <p:cNvCxnSpPr/>
            <p:nvPr/>
          </p:nvCxnSpPr>
          <p:spPr>
            <a:xfrm rot="10800000">
              <a:off x="5101779" y="3082243"/>
              <a:ext cx="0" cy="446088"/>
            </a:xfrm>
            <a:prstGeom prst="straightConnector1">
              <a:avLst/>
            </a:prstGeom>
            <a:noFill/>
            <a:ln cap="flat" cmpd="sng" w="19050">
              <a:solidFill>
                <a:srgbClr val="000099"/>
              </a:solidFill>
              <a:prstDash val="solid"/>
              <a:round/>
              <a:headEnd len="med" w="med" type="none"/>
              <a:tailEnd len="med" w="med" type="triangle"/>
            </a:ln>
          </p:spPr>
        </p:cxnSp>
        <p:cxnSp>
          <p:nvCxnSpPr>
            <p:cNvPr id="92" name="Google Shape;92;p11"/>
            <p:cNvCxnSpPr/>
            <p:nvPr/>
          </p:nvCxnSpPr>
          <p:spPr>
            <a:xfrm rot="10800000">
              <a:off x="7673529" y="3088593"/>
              <a:ext cx="0" cy="446088"/>
            </a:xfrm>
            <a:prstGeom prst="straightConnector1">
              <a:avLst/>
            </a:prstGeom>
            <a:noFill/>
            <a:ln cap="flat" cmpd="sng" w="19050">
              <a:solidFill>
                <a:srgbClr val="000099"/>
              </a:solidFill>
              <a:prstDash val="solid"/>
              <a:round/>
              <a:headEnd len="med" w="med" type="none"/>
              <a:tailEnd len="med" w="med" type="triangle"/>
            </a:ln>
          </p:spPr>
        </p:cxnSp>
        <p:pic>
          <p:nvPicPr>
            <p:cNvPr descr="alarm_clock_ringing" id="93" name="Google Shape;93;p11"/>
            <p:cNvPicPr preferRelativeResize="0"/>
            <p:nvPr/>
          </p:nvPicPr>
          <p:blipFill rotWithShape="1">
            <a:blip r:embed="rId3">
              <a:alphaModFix/>
            </a:blip>
            <a:srcRect b="0" l="0" r="0" t="0"/>
            <a:stretch/>
          </p:blipFill>
          <p:spPr>
            <a:xfrm>
              <a:off x="1995043" y="3238052"/>
              <a:ext cx="646558" cy="622748"/>
            </a:xfrm>
            <a:prstGeom prst="rect">
              <a:avLst/>
            </a:prstGeom>
            <a:noFill/>
            <a:ln>
              <a:noFill/>
            </a:ln>
          </p:spPr>
        </p:pic>
      </p:grpSp>
      <p:sp>
        <p:nvSpPr>
          <p:cNvPr id="94" name="Google Shape;94;p11"/>
          <p:cNvSpPr txBox="1"/>
          <p:nvPr/>
        </p:nvSpPr>
        <p:spPr>
          <a:xfrm>
            <a:off x="876300" y="6343507"/>
            <a:ext cx="100186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95" name="Google Shape;95;p11"/>
          <p:cNvGrpSpPr/>
          <p:nvPr/>
        </p:nvGrpSpPr>
        <p:grpSpPr>
          <a:xfrm>
            <a:off x="1304476" y="4827568"/>
            <a:ext cx="10018507" cy="1276812"/>
            <a:chOff x="1837872" y="3151290"/>
            <a:chExt cx="10018507" cy="1643894"/>
          </a:xfrm>
        </p:grpSpPr>
        <p:sp>
          <p:nvSpPr>
            <p:cNvPr id="96" name="Google Shape;96;p11"/>
            <p:cNvSpPr/>
            <p:nvPr/>
          </p:nvSpPr>
          <p:spPr>
            <a:xfrm>
              <a:off x="1837879" y="3151290"/>
              <a:ext cx="9532486" cy="52228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 name="Google Shape;97;p11"/>
            <p:cNvSpPr txBox="1"/>
            <p:nvPr/>
          </p:nvSpPr>
          <p:spPr>
            <a:xfrm>
              <a:off x="1837879" y="3151831"/>
              <a:ext cx="10018500" cy="594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DevRTT = </a:t>
              </a:r>
              <a:r>
                <a:rPr b="1" i="0" lang="en-US" sz="2400" u="none" cap="none" strike="noStrike">
                  <a:solidFill>
                    <a:srgbClr val="000000"/>
                  </a:solidFill>
                  <a:latin typeface="Courier New"/>
                  <a:ea typeface="Courier New"/>
                  <a:cs typeface="Courier New"/>
                  <a:sym typeface="Courier New"/>
                </a:rPr>
                <a:t>(1-β)*DevRTT + β*|SampleRTT-EstimatedRTT|</a:t>
              </a:r>
              <a:endParaRPr/>
            </a:p>
          </p:txBody>
        </p:sp>
        <p:sp>
          <p:nvSpPr>
            <p:cNvPr id="98" name="Google Shape;98;p11"/>
            <p:cNvSpPr txBox="1"/>
            <p:nvPr/>
          </p:nvSpPr>
          <p:spPr>
            <a:xfrm>
              <a:off x="1837872" y="4180784"/>
              <a:ext cx="3386100" cy="6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500" u="none" cap="none" strike="noStrike">
                  <a:solidFill>
                    <a:srgbClr val="000000"/>
                  </a:solidFill>
                  <a:latin typeface="Calibri"/>
                  <a:ea typeface="Calibri"/>
                  <a:cs typeface="Calibri"/>
                  <a:sym typeface="Calibri"/>
                </a:rPr>
                <a:t>(typically, </a:t>
              </a:r>
              <a:r>
                <a:rPr b="0" i="0" lang="en-US" sz="2500" u="none" cap="none" strike="noStrike">
                  <a:solidFill>
                    <a:srgbClr val="000000"/>
                  </a:solidFill>
                  <a:latin typeface="Courier New"/>
                  <a:ea typeface="Courier New"/>
                  <a:cs typeface="Courier New"/>
                  <a:sym typeface="Courier New"/>
                </a:rPr>
                <a:t>β</a:t>
              </a:r>
              <a:r>
                <a:rPr b="1" i="0" lang="en-US" sz="2500" u="none" cap="none" strike="noStrike">
                  <a:solidFill>
                    <a:srgbClr val="000000"/>
                  </a:solidFill>
                  <a:latin typeface="Courier New"/>
                  <a:ea typeface="Courier New"/>
                  <a:cs typeface="Courier New"/>
                  <a:sym typeface="Courier New"/>
                </a:rPr>
                <a:t> </a:t>
              </a:r>
              <a:r>
                <a:rPr b="0" i="0" lang="en-US" sz="2500" u="none" cap="none" strike="noStrike">
                  <a:solidFill>
                    <a:srgbClr val="000000"/>
                  </a:solidFill>
                  <a:latin typeface="Calibri"/>
                  <a:ea typeface="Calibri"/>
                  <a:cs typeface="Calibri"/>
                  <a:sym typeface="Calibri"/>
                </a:rPr>
                <a:t>= 0.25)</a:t>
              </a:r>
              <a:endParaRPr sz="1900"/>
            </a:p>
          </p:txBody>
        </p:sp>
      </p:grpSp>
      <p:sp>
        <p:nvSpPr>
          <p:cNvPr id="99" name="Google Shape;99;p11"/>
          <p:cNvSpPr txBox="1"/>
          <p:nvPr/>
        </p:nvSpPr>
        <p:spPr>
          <a:xfrm>
            <a:off x="660538" y="4192141"/>
            <a:ext cx="11327678" cy="5449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1" i="0" lang="en-US" sz="2800" u="none" cap="none" strike="noStrike">
                <a:solidFill>
                  <a:srgbClr val="000000"/>
                </a:solidFill>
                <a:latin typeface="Courier New"/>
                <a:ea typeface="Courier New"/>
                <a:cs typeface="Courier New"/>
                <a:sym typeface="Courier New"/>
              </a:rPr>
              <a:t>DevRTT</a:t>
            </a:r>
            <a:r>
              <a:rPr b="0" i="0" lang="en-US" sz="2800" u="none" cap="none" strike="noStrike">
                <a:solidFill>
                  <a:srgbClr val="000000"/>
                </a:solidFill>
                <a:latin typeface="Calibri"/>
                <a:ea typeface="Calibri"/>
                <a:cs typeface="Calibri"/>
                <a:sym typeface="Calibri"/>
              </a:rPr>
              <a:t>: EWMA of </a:t>
            </a:r>
            <a:r>
              <a:rPr b="1" i="0" lang="en-US" sz="2800" u="none" cap="none" strike="noStrike">
                <a:solidFill>
                  <a:srgbClr val="000000"/>
                </a:solidFill>
                <a:latin typeface="Courier"/>
                <a:ea typeface="Courier"/>
                <a:cs typeface="Courier"/>
                <a:sym typeface="Courier"/>
              </a:rPr>
              <a:t>SampleRTT </a:t>
            </a:r>
            <a:r>
              <a:rPr b="0" i="0" lang="en-US" sz="2800" u="none" cap="none" strike="noStrike">
                <a:solidFill>
                  <a:srgbClr val="000000"/>
                </a:solidFill>
                <a:latin typeface="Calibri"/>
                <a:ea typeface="Calibri"/>
                <a:cs typeface="Calibri"/>
                <a:sym typeface="Calibri"/>
              </a:rPr>
              <a:t>deviation from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a:t>
            </a:r>
            <a:endParaRPr/>
          </a:p>
        </p:txBody>
      </p:sp>
      <p:sp>
        <p:nvSpPr>
          <p:cNvPr id="100" name="Google Shape;100;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07" name="Google Shape;107;p1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08" name="Google Shape;108;p12"/>
          <p:cNvSpPr txBox="1"/>
          <p:nvPr/>
        </p:nvSpPr>
        <p:spPr>
          <a:xfrm>
            <a:off x="304800" y="355600"/>
            <a:ext cx="11367900" cy="646500"/>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15-10  TCP TIMERS</a:t>
            </a:r>
            <a:endParaRPr/>
          </a:p>
        </p:txBody>
      </p:sp>
      <p:sp>
        <p:nvSpPr>
          <p:cNvPr id="109" name="Google Shape;109;p12"/>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10" name="Google Shape;110;p12"/>
          <p:cNvSpPr txBox="1"/>
          <p:nvPr/>
        </p:nvSpPr>
        <p:spPr>
          <a:xfrm>
            <a:off x="203200" y="1524000"/>
            <a:ext cx="117855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To perform its operation smoothly, most TCP implementations use at least four timers as shown in Figure 15.38 (slide 83).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15" name="Shape 115"/>
        <p:cNvGrpSpPr/>
        <p:nvPr/>
      </p:nvGrpSpPr>
      <p:grpSpPr>
        <a:xfrm>
          <a:off x="0" y="0"/>
          <a:ext cx="0" cy="0"/>
          <a:chOff x="0" y="0"/>
          <a:chExt cx="0" cy="0"/>
        </a:xfrm>
      </p:grpSpPr>
      <p:sp>
        <p:nvSpPr>
          <p:cNvPr id="116" name="Google Shape;116;p1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17" name="Google Shape;117;p13"/>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18" name="Google Shape;118;p13"/>
          <p:cNvSpPr txBox="1"/>
          <p:nvPr/>
        </p:nvSpPr>
        <p:spPr>
          <a:xfrm>
            <a:off x="304800" y="152400"/>
            <a:ext cx="7292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19" name="Google Shape;119;p13"/>
          <p:cNvSpPr txBox="1"/>
          <p:nvPr/>
        </p:nvSpPr>
        <p:spPr>
          <a:xfrm>
            <a:off x="10972800" y="6400800"/>
            <a:ext cx="245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0" name="Google Shape;120;p13"/>
          <p:cNvSpPr txBox="1"/>
          <p:nvPr/>
        </p:nvSpPr>
        <p:spPr>
          <a:xfrm>
            <a:off x="406400" y="989012"/>
            <a:ext cx="11175900" cy="23247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Retransmission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Persistence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Keepalive Timer</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TIME-WAIT Timer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4"/>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27" name="Google Shape;127;p14"/>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28" name="Google Shape;128;p14"/>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TCP timers</a:t>
            </a:r>
            <a:endParaRPr/>
          </a:p>
        </p:txBody>
      </p:sp>
      <p:sp>
        <p:nvSpPr>
          <p:cNvPr id="129" name="Google Shape;129;p14"/>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0" name="Google Shape;130;p14"/>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1" name="Google Shape;131;p14"/>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2" name="Google Shape;132;p14"/>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3" name="Google Shape;133;p14"/>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4" name="Google Shape;134;p14"/>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35" name="Google Shape;135;p14"/>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36" name="Google Shape;136;p14"/>
          <p:cNvPicPr preferRelativeResize="0"/>
          <p:nvPr/>
        </p:nvPicPr>
        <p:blipFill rotWithShape="1">
          <a:blip r:embed="rId3">
            <a:alphaModFix/>
          </a:blip>
          <a:srcRect b="0" l="0" r="0" t="0"/>
          <a:stretch/>
        </p:blipFill>
        <p:spPr>
          <a:xfrm>
            <a:off x="609600" y="2568575"/>
            <a:ext cx="11234753" cy="1661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idx="12" type="sldNum"/>
          </p:nvPr>
        </p:nvSpPr>
        <p:spPr>
          <a:xfrm>
            <a:off x="9347200" y="6477000"/>
            <a:ext cx="2844900" cy="3810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omic Sans MS"/>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142" name="Google Shape;142;p15"/>
          <p:cNvSpPr txBox="1"/>
          <p:nvPr>
            <p:ph type="title"/>
          </p:nvPr>
        </p:nvSpPr>
        <p:spPr>
          <a:xfrm>
            <a:off x="1219200" y="152400"/>
            <a:ext cx="12214500" cy="16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Retransmission timer</a:t>
            </a:r>
            <a:endParaRPr/>
          </a:p>
        </p:txBody>
      </p:sp>
      <p:sp>
        <p:nvSpPr>
          <p:cNvPr id="143" name="Google Shape;143;p15"/>
          <p:cNvSpPr txBox="1"/>
          <p:nvPr>
            <p:ph idx="1" type="body"/>
          </p:nvPr>
        </p:nvSpPr>
        <p:spPr>
          <a:xfrm>
            <a:off x="934200" y="1828800"/>
            <a:ext cx="10586700" cy="4750200"/>
          </a:xfrm>
          <a:prstGeom prst="rect">
            <a:avLst/>
          </a:prstGeom>
          <a:noFill/>
          <a:ln>
            <a:noFill/>
          </a:ln>
        </p:spPr>
        <p:txBody>
          <a:bodyPr anchorCtr="0" anchor="t" bIns="45700" lIns="91425" spcFirstLastPara="1" rIns="91425" wrap="square" tIns="45700">
            <a:noAutofit/>
          </a:bodyPr>
          <a:lstStyle/>
          <a:p>
            <a:pPr indent="-533400" lvl="0" marL="533400" rtl="0" algn="l">
              <a:spcBef>
                <a:spcPts val="0"/>
              </a:spcBef>
              <a:spcAft>
                <a:spcPts val="0"/>
              </a:spcAft>
              <a:buSzPts val="2080"/>
              <a:buFont typeface="Arial"/>
              <a:buAutoNum type="arabicPeriod"/>
            </a:pPr>
            <a:r>
              <a:rPr lang="en-US"/>
              <a:t>if an ACK is received before the timer goes off – destroy or reset the timer</a:t>
            </a:r>
            <a:endParaRPr/>
          </a:p>
          <a:p>
            <a:pPr indent="-533400" lvl="0" marL="533400" rtl="0" algn="l">
              <a:spcBef>
                <a:spcPts val="520"/>
              </a:spcBef>
              <a:spcAft>
                <a:spcPts val="0"/>
              </a:spcAft>
              <a:buSzPts val="2080"/>
              <a:buFont typeface="Arial"/>
              <a:buAutoNum type="arabicPeriod"/>
            </a:pPr>
            <a:r>
              <a:rPr lang="en-US"/>
              <a:t>if the timer goes off before ACK arrives – retransmit the segment &amp; reset the timer</a:t>
            </a:r>
            <a:endParaRPr/>
          </a:p>
          <a:p>
            <a:pPr indent="-533400" lvl="0" marL="533400" rtl="0" algn="l">
              <a:spcBef>
                <a:spcPts val="520"/>
              </a:spcBef>
              <a:spcAft>
                <a:spcPts val="0"/>
              </a:spcAft>
              <a:buSzPts val="2080"/>
              <a:buChar char="▪"/>
            </a:pPr>
            <a:r>
              <a:rPr lang="en-US"/>
              <a:t>How to set Retransmission time</a:t>
            </a:r>
            <a:endParaRPr/>
          </a:p>
          <a:p>
            <a:pPr indent="-457200" lvl="1" marL="914400" rtl="0" algn="l">
              <a:spcBef>
                <a:spcPts val="440"/>
              </a:spcBef>
              <a:spcAft>
                <a:spcPts val="0"/>
              </a:spcAft>
              <a:buSzPts val="2200"/>
              <a:buChar char="•"/>
            </a:pPr>
            <a:r>
              <a:rPr lang="en-US"/>
              <a:t>longer than RTT</a:t>
            </a:r>
            <a:endParaRPr/>
          </a:p>
          <a:p>
            <a:pPr indent="-381000" lvl="2" marL="1295400" rtl="0" algn="l">
              <a:spcBef>
                <a:spcPts val="400"/>
              </a:spcBef>
              <a:spcAft>
                <a:spcPts val="0"/>
              </a:spcAft>
              <a:buSzPts val="2000"/>
              <a:buChar char="•"/>
            </a:pPr>
            <a:r>
              <a:rPr lang="en-US"/>
              <a:t>but RTT varies since paths that IP packets take may differ</a:t>
            </a:r>
            <a:endParaRPr/>
          </a:p>
          <a:p>
            <a:pPr indent="-457200" lvl="1" marL="914400" rtl="0" algn="l">
              <a:spcBef>
                <a:spcPts val="440"/>
              </a:spcBef>
              <a:spcAft>
                <a:spcPts val="0"/>
              </a:spcAft>
              <a:buSzPts val="2200"/>
              <a:buChar char="•"/>
            </a:pPr>
            <a:r>
              <a:rPr lang="en-US"/>
              <a:t>if too short </a:t>
            </a:r>
            <a:endParaRPr/>
          </a:p>
          <a:p>
            <a:pPr indent="-381000" lvl="2" marL="1295400" rtl="0" algn="l">
              <a:spcBef>
                <a:spcPts val="400"/>
              </a:spcBef>
              <a:spcAft>
                <a:spcPts val="0"/>
              </a:spcAft>
              <a:buSzPts val="2000"/>
              <a:buChar char="•"/>
            </a:pPr>
            <a:r>
              <a:rPr lang="en-US"/>
              <a:t>Premature timeout –&gt; retransmissions -&gt; waste of bandwidth </a:t>
            </a:r>
            <a:endParaRPr/>
          </a:p>
          <a:p>
            <a:pPr indent="-457200" lvl="1" marL="914400" rtl="0" algn="l">
              <a:spcBef>
                <a:spcPts val="440"/>
              </a:spcBef>
              <a:spcAft>
                <a:spcPts val="0"/>
              </a:spcAft>
              <a:buSzPts val="2200"/>
              <a:buChar char="•"/>
            </a:pPr>
            <a:r>
              <a:rPr lang="en-US"/>
              <a:t>if too large</a:t>
            </a:r>
            <a:endParaRPr/>
          </a:p>
          <a:p>
            <a:pPr indent="-381000" lvl="2" marL="1295400" rtl="0" algn="l">
              <a:spcBef>
                <a:spcPts val="400"/>
              </a:spcBef>
              <a:spcAft>
                <a:spcPts val="0"/>
              </a:spcAft>
              <a:buSzPts val="2000"/>
              <a:buChar char="•"/>
            </a:pPr>
            <a:r>
              <a:rPr lang="en-US"/>
              <a:t>slow reaction to segment loss</a:t>
            </a:r>
            <a:endParaRPr/>
          </a:p>
          <a:p>
            <a:pPr indent="-381000" lvl="2" marL="1295400" rtl="0" algn="l">
              <a:spcBef>
                <a:spcPts val="400"/>
              </a:spcBef>
              <a:spcAft>
                <a:spcPts val="0"/>
              </a:spcAft>
              <a:buSzPts val="2000"/>
              <a:buChar char="•"/>
            </a:pPr>
            <a:r>
              <a:rPr lang="en-US"/>
              <a:t>delay for the application program</a:t>
            </a:r>
            <a:endParaRPr/>
          </a:p>
          <a:p>
            <a:pPr indent="-533400" lvl="0" marL="533400" rtl="0" algn="l">
              <a:spcBef>
                <a:spcPts val="520"/>
              </a:spcBef>
              <a:spcAft>
                <a:spcPts val="0"/>
              </a:spcAft>
              <a:buSzPts val="208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50" name="Google Shape;150;p16"/>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51" name="Google Shape;151;p16"/>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2" name="Google Shape;152;p16"/>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3" name="Google Shape;153;p16"/>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4" name="Google Shape;154;p16"/>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5" name="Google Shape;155;p16"/>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6" name="Google Shape;156;p16"/>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7" name="Google Shape;157;p16"/>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158" name="Google Shape;158;p16"/>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159" name="Google Shape;159;p16"/>
          <p:cNvCxnSpPr/>
          <p:nvPr/>
        </p:nvCxnSpPr>
        <p:spPr>
          <a:xfrm>
            <a:off x="812800" y="38862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160" name="Google Shape;160;p16"/>
          <p:cNvSpPr txBox="1"/>
          <p:nvPr/>
        </p:nvSpPr>
        <p:spPr>
          <a:xfrm>
            <a:off x="863600" y="2716212"/>
            <a:ext cx="10769700" cy="10773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In TCP, there can be only one RTT measurement in progress at any time.</a:t>
            </a:r>
            <a:endParaRPr/>
          </a:p>
        </p:txBody>
      </p:sp>
      <p:grpSp>
        <p:nvGrpSpPr>
          <p:cNvPr id="161" name="Google Shape;161;p16"/>
          <p:cNvGrpSpPr/>
          <p:nvPr/>
        </p:nvGrpSpPr>
        <p:grpSpPr>
          <a:xfrm>
            <a:off x="812800" y="1981200"/>
            <a:ext cx="1523899" cy="566741"/>
            <a:chOff x="1200" y="1248"/>
            <a:chExt cx="720" cy="357"/>
          </a:xfrm>
        </p:grpSpPr>
        <p:pic>
          <p:nvPicPr>
            <p:cNvPr id="162" name="Google Shape;162;p1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63" name="Google Shape;163;p16"/>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
        <p:nvSpPr>
          <p:cNvPr id="164" name="Google Shape;164;p16"/>
          <p:cNvSpPr txBox="1"/>
          <p:nvPr/>
        </p:nvSpPr>
        <p:spPr>
          <a:xfrm>
            <a:off x="1117600" y="4343400"/>
            <a:ext cx="99567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Arial"/>
              <a:buNone/>
            </a:pPr>
            <a:r>
              <a:rPr b="1" i="0" lang="en-US" sz="2800" u="none">
                <a:solidFill>
                  <a:schemeClr val="hlink"/>
                </a:solidFill>
                <a:latin typeface="Arial"/>
                <a:ea typeface="Arial"/>
                <a:cs typeface="Arial"/>
                <a:sym typeface="Arial"/>
              </a:rPr>
              <a:t>Since the segments and their ACKs do not have a 1-1 relationship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nvSpPr>
        <p:spPr>
          <a:xfrm>
            <a:off x="593833"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70" name="Google Shape;170;p17"/>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71" name="Google Shape;171;p17"/>
          <p:cNvSpPr txBox="1"/>
          <p:nvPr>
            <p:ph type="title"/>
          </p:nvPr>
        </p:nvSpPr>
        <p:spPr>
          <a:xfrm>
            <a:off x="914400" y="228600"/>
            <a:ext cx="9550500" cy="836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i="0" lang="en-US" sz="3600" u="none">
                <a:solidFill>
                  <a:srgbClr val="0000CC"/>
                </a:solidFill>
              </a:rPr>
              <a:t>Calculation of RTO (1)</a:t>
            </a:r>
            <a:endParaRPr/>
          </a:p>
        </p:txBody>
      </p:sp>
      <p:sp>
        <p:nvSpPr>
          <p:cNvPr id="172" name="Google Shape;172;p17"/>
          <p:cNvSpPr txBox="1"/>
          <p:nvPr>
            <p:ph idx="1" type="body"/>
          </p:nvPr>
        </p:nvSpPr>
        <p:spPr>
          <a:xfrm>
            <a:off x="508000" y="1219200"/>
            <a:ext cx="11074500" cy="4953000"/>
          </a:xfrm>
          <a:prstGeom prst="rect">
            <a:avLst/>
          </a:prstGeom>
          <a:noFill/>
          <a:ln>
            <a:noFill/>
          </a:ln>
        </p:spPr>
        <p:txBody>
          <a:bodyPr anchorCtr="0" anchor="t" bIns="45700" lIns="91425" spcFirstLastPara="1" rIns="91425" wrap="square" tIns="45700">
            <a:noAutofit/>
          </a:bodyPr>
          <a:lstStyle/>
          <a:p>
            <a:pPr indent="-403225" lvl="0" marL="365125" rtl="0" algn="l">
              <a:lnSpc>
                <a:spcPct val="100000"/>
              </a:lnSpc>
              <a:spcBef>
                <a:spcPts val="0"/>
              </a:spcBef>
              <a:spcAft>
                <a:spcPts val="0"/>
              </a:spcAft>
              <a:buClr>
                <a:schemeClr val="dk2"/>
              </a:buClr>
              <a:buSzPts val="3400"/>
              <a:buFont typeface="Calibri"/>
              <a:buChar char="•"/>
            </a:pPr>
            <a:r>
              <a:rPr b="1" i="0" lang="en-US" sz="3400" u="none">
                <a:solidFill>
                  <a:schemeClr val="dk2"/>
                </a:solidFill>
              </a:rPr>
              <a:t>Smoothed RTT: RTT</a:t>
            </a:r>
            <a:r>
              <a:rPr b="1" baseline="-25000" i="0" lang="en-US" sz="3400" u="none">
                <a:solidFill>
                  <a:schemeClr val="dk2"/>
                </a:solidFill>
              </a:rPr>
              <a:t>S </a:t>
            </a:r>
            <a:r>
              <a:rPr b="1" i="0" lang="en-US" sz="3400" u="none">
                <a:solidFill>
                  <a:schemeClr val="dk2"/>
                </a:solidFill>
              </a:rPr>
              <a:t>(EstimatedRTT)</a:t>
            </a:r>
            <a:endParaRPr b="1" i="0" sz="3400" u="none">
              <a:solidFill>
                <a:schemeClr val="dk2"/>
              </a:solidFill>
            </a:endParaRPr>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Original 🡪 No value</a:t>
            </a:r>
            <a:endParaRPr sz="3000"/>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After 1</a:t>
            </a:r>
            <a:r>
              <a:rPr b="1" baseline="30000" i="0" lang="en-US" sz="3000" u="none">
                <a:solidFill>
                  <a:srgbClr val="0000CC"/>
                </a:solidFill>
              </a:rPr>
              <a:t>st</a:t>
            </a:r>
            <a:r>
              <a:rPr b="1" i="0" lang="en-US" sz="3000" u="none">
                <a:solidFill>
                  <a:srgbClr val="0000CC"/>
                </a:solidFill>
              </a:rPr>
              <a:t> measurement 🡪 </a:t>
            </a:r>
            <a:r>
              <a:rPr b="1" i="0" lang="en-US" sz="3000" u="none">
                <a:solidFill>
                  <a:schemeClr val="dk2"/>
                </a:solidFill>
              </a:rPr>
              <a:t>RTT</a:t>
            </a:r>
            <a:r>
              <a:rPr b="1" baseline="-25000" i="0" lang="en-US" sz="3000" u="none">
                <a:solidFill>
                  <a:schemeClr val="dk2"/>
                </a:solidFill>
              </a:rPr>
              <a:t>S</a:t>
            </a:r>
            <a:r>
              <a:rPr b="1" i="0" lang="en-US" sz="3000" u="none">
                <a:solidFill>
                  <a:schemeClr val="dk2"/>
                </a:solidFill>
              </a:rPr>
              <a:t> = RTT</a:t>
            </a:r>
            <a:r>
              <a:rPr b="1" baseline="-25000" i="0" lang="en-US" sz="3000" u="none">
                <a:solidFill>
                  <a:schemeClr val="dk2"/>
                </a:solidFill>
              </a:rPr>
              <a:t>M</a:t>
            </a:r>
            <a:endParaRPr b="1" i="0" sz="3000" u="none">
              <a:solidFill>
                <a:schemeClr val="dk2"/>
              </a:solidFill>
            </a:endParaRPr>
          </a:p>
          <a:p>
            <a:pPr indent="-301625" lvl="1" marL="808037" rtl="0" algn="l">
              <a:lnSpc>
                <a:spcPct val="100000"/>
              </a:lnSpc>
              <a:spcBef>
                <a:spcPts val="960"/>
              </a:spcBef>
              <a:spcAft>
                <a:spcPts val="0"/>
              </a:spcAft>
              <a:buClr>
                <a:srgbClr val="0000CC"/>
              </a:buClr>
              <a:buSzPts val="3000"/>
              <a:buFont typeface="Comic Sans MS"/>
              <a:buChar char="–"/>
            </a:pPr>
            <a:r>
              <a:rPr b="1" i="0" lang="en-US" sz="3000" u="none">
                <a:solidFill>
                  <a:srgbClr val="0000CC"/>
                </a:solidFill>
              </a:rPr>
              <a:t>2</a:t>
            </a:r>
            <a:r>
              <a:rPr b="1" baseline="30000" i="0" lang="en-US" sz="3000" u="none">
                <a:solidFill>
                  <a:srgbClr val="0000CC"/>
                </a:solidFill>
              </a:rPr>
              <a:t>nd</a:t>
            </a:r>
            <a:r>
              <a:rPr b="1" i="0" lang="en-US" sz="3000" u="none">
                <a:solidFill>
                  <a:srgbClr val="0000CC"/>
                </a:solidFill>
              </a:rPr>
              <a:t> … 🡪 </a:t>
            </a:r>
            <a:r>
              <a:rPr b="1" i="0" lang="en-US" sz="3000" u="none">
                <a:solidFill>
                  <a:schemeClr val="dk2"/>
                </a:solidFill>
              </a:rPr>
              <a:t>RTT</a:t>
            </a:r>
            <a:r>
              <a:rPr b="1" baseline="-25000" i="0" lang="en-US" sz="3000" u="none">
                <a:solidFill>
                  <a:schemeClr val="dk2"/>
                </a:solidFill>
              </a:rPr>
              <a:t>S</a:t>
            </a:r>
            <a:r>
              <a:rPr b="1" i="0" lang="en-US" sz="3000" u="none">
                <a:solidFill>
                  <a:schemeClr val="dk2"/>
                </a:solidFill>
              </a:rPr>
              <a:t> = (1-α)*RTT</a:t>
            </a:r>
            <a:r>
              <a:rPr b="1" baseline="-25000" i="0" lang="en-US" sz="3000" u="none">
                <a:solidFill>
                  <a:schemeClr val="dk2"/>
                </a:solidFill>
              </a:rPr>
              <a:t>S</a:t>
            </a:r>
            <a:r>
              <a:rPr b="1" i="0" lang="en-US" sz="3000" u="none">
                <a:solidFill>
                  <a:schemeClr val="dk2"/>
                </a:solidFill>
              </a:rPr>
              <a:t> + α*RTT</a:t>
            </a:r>
            <a:r>
              <a:rPr b="1" baseline="-25000" i="0" lang="en-US" sz="3000" u="none">
                <a:solidFill>
                  <a:schemeClr val="dk2"/>
                </a:solidFill>
              </a:rPr>
              <a:t>M</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nvSpPr>
        <p:spPr>
          <a:xfrm>
            <a:off x="593833"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78" name="Google Shape;178;p18"/>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79" name="Google Shape;179;p18"/>
          <p:cNvSpPr txBox="1"/>
          <p:nvPr>
            <p:ph type="title"/>
          </p:nvPr>
        </p:nvSpPr>
        <p:spPr>
          <a:xfrm>
            <a:off x="914400" y="228600"/>
            <a:ext cx="9550500" cy="836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i="0" lang="en-US" sz="3600" u="none">
                <a:solidFill>
                  <a:srgbClr val="0000CC"/>
                </a:solidFill>
              </a:rPr>
              <a:t>Calculation of RTO (</a:t>
            </a:r>
            <a:r>
              <a:rPr lang="en-US" sz="3600">
                <a:solidFill>
                  <a:srgbClr val="0000CC"/>
                </a:solidFill>
              </a:rPr>
              <a:t>2</a:t>
            </a:r>
            <a:r>
              <a:rPr i="0" lang="en-US" sz="3600" u="none">
                <a:solidFill>
                  <a:srgbClr val="0000CC"/>
                </a:solidFill>
              </a:rPr>
              <a:t>)</a:t>
            </a:r>
            <a:endParaRPr/>
          </a:p>
        </p:txBody>
      </p:sp>
      <p:sp>
        <p:nvSpPr>
          <p:cNvPr id="180" name="Google Shape;180;p18"/>
          <p:cNvSpPr txBox="1"/>
          <p:nvPr>
            <p:ph idx="1" type="body"/>
          </p:nvPr>
        </p:nvSpPr>
        <p:spPr>
          <a:xfrm>
            <a:off x="508000" y="1219200"/>
            <a:ext cx="11074500" cy="4953000"/>
          </a:xfrm>
          <a:prstGeom prst="rect">
            <a:avLst/>
          </a:prstGeom>
          <a:noFill/>
          <a:ln>
            <a:noFill/>
          </a:ln>
        </p:spPr>
        <p:txBody>
          <a:bodyPr anchorCtr="0" anchor="t" bIns="45700" lIns="91425" spcFirstLastPara="1" rIns="91425" wrap="square" tIns="45700">
            <a:noAutofit/>
          </a:bodyPr>
          <a:lstStyle/>
          <a:p>
            <a:pPr indent="-403225" lvl="0" marL="365125" rtl="0" algn="l">
              <a:lnSpc>
                <a:spcPct val="100000"/>
              </a:lnSpc>
              <a:spcBef>
                <a:spcPts val="1120"/>
              </a:spcBef>
              <a:spcAft>
                <a:spcPts val="0"/>
              </a:spcAft>
              <a:buClr>
                <a:schemeClr val="dk2"/>
              </a:buClr>
              <a:buSzPts val="3400"/>
              <a:buFont typeface="Calibri"/>
              <a:buChar char="•"/>
            </a:pPr>
            <a:r>
              <a:rPr b="1" i="0" lang="en-US" sz="3400" u="none">
                <a:solidFill>
                  <a:schemeClr val="dk2"/>
                </a:solidFill>
              </a:rPr>
              <a:t>RTT Deviation : RTT</a:t>
            </a:r>
            <a:r>
              <a:rPr b="1" baseline="-25000" i="0" lang="en-US" sz="3400" u="none">
                <a:solidFill>
                  <a:schemeClr val="dk2"/>
                </a:solidFill>
              </a:rPr>
              <a:t>D</a:t>
            </a:r>
            <a:r>
              <a:rPr b="1" i="0" lang="en-US" sz="3400" u="none">
                <a:solidFill>
                  <a:schemeClr val="dk2"/>
                </a:solidFill>
              </a:rPr>
              <a:t> (DevRTT)</a:t>
            </a:r>
            <a:endParaRPr b="1" i="0" sz="3400" u="none">
              <a:solidFill>
                <a:schemeClr val="dk2"/>
              </a:solidFill>
            </a:endParaRPr>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Original 🡪 No value</a:t>
            </a:r>
            <a:endParaRPr sz="3000"/>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After 1</a:t>
            </a:r>
            <a:r>
              <a:rPr b="1" baseline="30000" i="0" lang="en-US" sz="3000" u="none">
                <a:solidFill>
                  <a:srgbClr val="0000CC"/>
                </a:solidFill>
              </a:rPr>
              <a:t>st</a:t>
            </a:r>
            <a:r>
              <a:rPr b="1" i="0" lang="en-US" sz="3000" u="none">
                <a:solidFill>
                  <a:srgbClr val="0000CC"/>
                </a:solidFill>
              </a:rPr>
              <a:t> measurement 🡪</a:t>
            </a:r>
            <a:r>
              <a:rPr b="1" i="0" lang="en-US" sz="3000" u="none">
                <a:solidFill>
                  <a:schemeClr val="dk2"/>
                </a:solidFill>
              </a:rPr>
              <a:t> RTT</a:t>
            </a:r>
            <a:r>
              <a:rPr b="1" baseline="-25000" i="0" lang="en-US" sz="3000" u="none">
                <a:solidFill>
                  <a:schemeClr val="dk2"/>
                </a:solidFill>
              </a:rPr>
              <a:t>D</a:t>
            </a:r>
            <a:r>
              <a:rPr b="1" i="0" lang="en-US" sz="3000" u="none">
                <a:solidFill>
                  <a:schemeClr val="dk2"/>
                </a:solidFill>
              </a:rPr>
              <a:t> = 0.5*RTT</a:t>
            </a:r>
            <a:r>
              <a:rPr b="1" baseline="-25000" i="0" lang="en-US" sz="3000" u="none">
                <a:solidFill>
                  <a:schemeClr val="dk2"/>
                </a:solidFill>
              </a:rPr>
              <a:t>M</a:t>
            </a:r>
            <a:endParaRPr b="1" i="0" sz="3000" u="none">
              <a:solidFill>
                <a:schemeClr val="dk2"/>
              </a:solidFill>
            </a:endParaRPr>
          </a:p>
          <a:p>
            <a:pPr indent="-301625" lvl="1" marL="808037" rtl="0" algn="l">
              <a:lnSpc>
                <a:spcPct val="100000"/>
              </a:lnSpc>
              <a:spcBef>
                <a:spcPts val="960"/>
              </a:spcBef>
              <a:spcAft>
                <a:spcPts val="0"/>
              </a:spcAft>
              <a:buClr>
                <a:srgbClr val="0000CC"/>
              </a:buClr>
              <a:buSzPts val="3000"/>
              <a:buFont typeface="Comic Sans MS"/>
              <a:buChar char="–"/>
            </a:pPr>
            <a:r>
              <a:rPr b="1" i="0" lang="en-US" sz="3000" u="none">
                <a:solidFill>
                  <a:srgbClr val="0000CC"/>
                </a:solidFill>
              </a:rPr>
              <a:t>2</a:t>
            </a:r>
            <a:r>
              <a:rPr b="1" baseline="30000" i="0" lang="en-US" sz="3000" u="none">
                <a:solidFill>
                  <a:srgbClr val="0000CC"/>
                </a:solidFill>
              </a:rPr>
              <a:t>nd</a:t>
            </a:r>
            <a:r>
              <a:rPr b="1" i="0" lang="en-US" sz="3000" u="none">
                <a:solidFill>
                  <a:srgbClr val="0000CC"/>
                </a:solidFill>
              </a:rPr>
              <a:t> … 🡪 </a:t>
            </a:r>
            <a:r>
              <a:rPr b="1" i="0" lang="en-US" sz="3000" u="none">
                <a:solidFill>
                  <a:schemeClr val="dk2"/>
                </a:solidFill>
              </a:rPr>
              <a:t>RTT</a:t>
            </a:r>
            <a:r>
              <a:rPr b="1" baseline="-25000" i="0" lang="en-US" sz="3000" u="none">
                <a:solidFill>
                  <a:schemeClr val="dk2"/>
                </a:solidFill>
              </a:rPr>
              <a:t>D </a:t>
            </a:r>
            <a:r>
              <a:rPr b="1" i="0" lang="en-US" sz="3000" u="none">
                <a:solidFill>
                  <a:schemeClr val="dk2"/>
                </a:solidFill>
              </a:rPr>
              <a:t>= (1-β)*RTT</a:t>
            </a:r>
            <a:r>
              <a:rPr b="1" baseline="-25000" i="0" lang="en-US" sz="3000" u="none">
                <a:solidFill>
                  <a:schemeClr val="dk2"/>
                </a:solidFill>
              </a:rPr>
              <a:t>D</a:t>
            </a:r>
            <a:r>
              <a:rPr b="1" i="0" lang="en-US" sz="3000" u="none">
                <a:solidFill>
                  <a:schemeClr val="dk2"/>
                </a:solidFill>
              </a:rPr>
              <a:t> + β*|RTT</a:t>
            </a:r>
            <a:r>
              <a:rPr b="1" baseline="-25000" i="0" lang="en-US" sz="3000" u="none">
                <a:solidFill>
                  <a:schemeClr val="dk2"/>
                </a:solidFill>
              </a:rPr>
              <a:t>S</a:t>
            </a:r>
            <a:r>
              <a:rPr b="1" i="0" lang="en-US" sz="3000" u="none">
                <a:solidFill>
                  <a:schemeClr val="dk2"/>
                </a:solidFill>
              </a:rPr>
              <a:t> - RTT</a:t>
            </a:r>
            <a:r>
              <a:rPr b="1" baseline="-25000" i="0" lang="en-US" sz="3000" u="none">
                <a:solidFill>
                  <a:schemeClr val="dk2"/>
                </a:solidFill>
              </a:rPr>
              <a:t>M</a:t>
            </a:r>
            <a:r>
              <a:rPr b="1" i="0" lang="en-US" sz="3000" u="none">
                <a:solidFill>
                  <a:schemeClr val="dk2"/>
                </a:solidFill>
              </a:rPr>
              <a:t>|</a:t>
            </a: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nvSpPr>
        <p:spPr>
          <a:xfrm>
            <a:off x="508008" y="6248400"/>
            <a:ext cx="38607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TCP/IP Protocol Suite</a:t>
            </a:r>
            <a:endParaRPr/>
          </a:p>
        </p:txBody>
      </p:sp>
      <p:sp>
        <p:nvSpPr>
          <p:cNvPr id="186" name="Google Shape;186;p19"/>
          <p:cNvSpPr txBox="1"/>
          <p:nvPr/>
        </p:nvSpPr>
        <p:spPr>
          <a:xfrm>
            <a:off x="8957733" y="6248400"/>
            <a:ext cx="25401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Comic Sans MS"/>
              <a:buNone/>
            </a:pPr>
            <a:fld id="{00000000-1234-1234-1234-123412341234}" type="slidenum">
              <a:rPr b="0" i="0" lang="en-US" sz="1400" u="none">
                <a:solidFill>
                  <a:schemeClr val="dk1"/>
                </a:solidFill>
                <a:latin typeface="Comic Sans MS"/>
                <a:ea typeface="Comic Sans MS"/>
                <a:cs typeface="Comic Sans MS"/>
                <a:sym typeface="Comic Sans MS"/>
              </a:rPr>
              <a:t>‹#›</a:t>
            </a:fld>
            <a:endParaRPr/>
          </a:p>
        </p:txBody>
      </p:sp>
      <p:sp>
        <p:nvSpPr>
          <p:cNvPr id="187" name="Google Shape;187;p19"/>
          <p:cNvSpPr txBox="1"/>
          <p:nvPr>
            <p:ph type="title"/>
          </p:nvPr>
        </p:nvSpPr>
        <p:spPr>
          <a:xfrm>
            <a:off x="914400" y="228600"/>
            <a:ext cx="9550500" cy="836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CC"/>
              </a:buClr>
              <a:buSzPts val="3600"/>
              <a:buFont typeface="Comic Sans MS"/>
              <a:buNone/>
            </a:pPr>
            <a:r>
              <a:rPr i="0" lang="en-US" sz="3600" u="none">
                <a:solidFill>
                  <a:srgbClr val="0000CC"/>
                </a:solidFill>
              </a:rPr>
              <a:t>Calculation of RTO (</a:t>
            </a:r>
            <a:r>
              <a:rPr lang="en-US" sz="3600">
                <a:solidFill>
                  <a:srgbClr val="0000CC"/>
                </a:solidFill>
              </a:rPr>
              <a:t>3</a:t>
            </a:r>
            <a:r>
              <a:rPr i="0" lang="en-US" sz="3600" u="none">
                <a:solidFill>
                  <a:srgbClr val="0000CC"/>
                </a:solidFill>
              </a:rPr>
              <a:t>)</a:t>
            </a:r>
            <a:endParaRPr/>
          </a:p>
        </p:txBody>
      </p:sp>
      <p:sp>
        <p:nvSpPr>
          <p:cNvPr id="188" name="Google Shape;188;p19"/>
          <p:cNvSpPr txBox="1"/>
          <p:nvPr>
            <p:ph idx="1" type="body"/>
          </p:nvPr>
        </p:nvSpPr>
        <p:spPr>
          <a:xfrm>
            <a:off x="508000" y="1219200"/>
            <a:ext cx="11074500" cy="4953000"/>
          </a:xfrm>
          <a:prstGeom prst="rect">
            <a:avLst/>
          </a:prstGeom>
          <a:noFill/>
          <a:ln>
            <a:noFill/>
          </a:ln>
        </p:spPr>
        <p:txBody>
          <a:bodyPr anchorCtr="0" anchor="t" bIns="45700" lIns="91425" spcFirstLastPara="1" rIns="91425" wrap="square" tIns="45700">
            <a:noAutofit/>
          </a:bodyPr>
          <a:lstStyle/>
          <a:p>
            <a:pPr indent="-377825" lvl="0" marL="365125" rtl="0" algn="l">
              <a:lnSpc>
                <a:spcPct val="100000"/>
              </a:lnSpc>
              <a:spcBef>
                <a:spcPts val="0"/>
              </a:spcBef>
              <a:spcAft>
                <a:spcPts val="0"/>
              </a:spcAft>
              <a:buClr>
                <a:schemeClr val="dk2"/>
              </a:buClr>
              <a:buSzPts val="3000"/>
              <a:buFont typeface="Calibri"/>
              <a:buChar char="•"/>
            </a:pPr>
            <a:r>
              <a:rPr b="1" i="0" lang="en-US" sz="3000" u="none">
                <a:solidFill>
                  <a:schemeClr val="dk2"/>
                </a:solidFill>
              </a:rPr>
              <a:t>Retransmission Timeout (RTO)</a:t>
            </a:r>
            <a:endParaRPr sz="3000"/>
          </a:p>
          <a:p>
            <a:pPr indent="-301625" lvl="1" marL="808037" rtl="0" algn="l">
              <a:lnSpc>
                <a:spcPct val="100000"/>
              </a:lnSpc>
              <a:spcBef>
                <a:spcPts val="960"/>
              </a:spcBef>
              <a:spcAft>
                <a:spcPts val="0"/>
              </a:spcAft>
              <a:buClr>
                <a:srgbClr val="0000CC"/>
              </a:buClr>
              <a:buSzPts val="3000"/>
              <a:buFont typeface="Calibri"/>
              <a:buChar char="–"/>
            </a:pPr>
            <a:r>
              <a:rPr b="1" i="0" lang="en-US" sz="3000" u="none">
                <a:solidFill>
                  <a:srgbClr val="0000CC"/>
                </a:solidFill>
              </a:rPr>
              <a:t>Original 🡪 Initial value</a:t>
            </a:r>
            <a:endParaRPr sz="3000"/>
          </a:p>
          <a:p>
            <a:pPr indent="-301625" lvl="1" marL="808037" rtl="0" algn="l">
              <a:lnSpc>
                <a:spcPct val="120000"/>
              </a:lnSpc>
              <a:spcBef>
                <a:spcPts val="960"/>
              </a:spcBef>
              <a:spcAft>
                <a:spcPts val="0"/>
              </a:spcAft>
              <a:buClr>
                <a:srgbClr val="0000CC"/>
              </a:buClr>
              <a:buSzPts val="3000"/>
              <a:buFont typeface="Calibri"/>
              <a:buChar char="–"/>
            </a:pPr>
            <a:r>
              <a:rPr b="1" i="0" lang="en-US" sz="3000" u="none">
                <a:solidFill>
                  <a:srgbClr val="0000CC"/>
                </a:solidFill>
              </a:rPr>
              <a:t>After any measurement</a:t>
            </a:r>
            <a:r>
              <a:rPr b="1" i="0" lang="en-US" sz="3000" u="none">
                <a:solidFill>
                  <a:schemeClr val="dk2"/>
                </a:solidFill>
              </a:rPr>
              <a:t> </a:t>
            </a:r>
            <a:br>
              <a:rPr b="1" i="0" lang="en-US" sz="3000" u="none">
                <a:solidFill>
                  <a:schemeClr val="dk2"/>
                </a:solidFill>
              </a:rPr>
            </a:br>
            <a:r>
              <a:rPr b="1" i="0" lang="en-US" sz="3000" u="none">
                <a:solidFill>
                  <a:schemeClr val="dk2"/>
                </a:solidFill>
              </a:rPr>
              <a:t>🡪 RTO = RTT</a:t>
            </a:r>
            <a:r>
              <a:rPr b="1" baseline="-25000" i="0" lang="en-US" sz="3000" u="none">
                <a:solidFill>
                  <a:schemeClr val="dk2"/>
                </a:solidFill>
              </a:rPr>
              <a:t>S</a:t>
            </a:r>
            <a:r>
              <a:rPr b="1" i="0" lang="en-US" sz="3000" u="none">
                <a:solidFill>
                  <a:schemeClr val="dk2"/>
                </a:solidFill>
              </a:rPr>
              <a:t> + 4RTT</a:t>
            </a:r>
            <a:r>
              <a:rPr b="1" baseline="-25000" i="0" lang="en-US" sz="3000" u="none">
                <a:solidFill>
                  <a:schemeClr val="dk2"/>
                </a:solidFill>
              </a:rPr>
              <a:t>D</a:t>
            </a:r>
            <a:endParaRPr sz="3000"/>
          </a:p>
          <a:p>
            <a:pPr indent="-377825" lvl="0" marL="365125" rtl="0" algn="l">
              <a:lnSpc>
                <a:spcPct val="100000"/>
              </a:lnSpc>
              <a:spcBef>
                <a:spcPts val="1120"/>
              </a:spcBef>
              <a:spcAft>
                <a:spcPts val="0"/>
              </a:spcAft>
              <a:buClr>
                <a:schemeClr val="dk2"/>
              </a:buClr>
              <a:buSzPts val="3000"/>
              <a:buFont typeface="Calibri"/>
              <a:buChar char="•"/>
            </a:pPr>
            <a:r>
              <a:rPr b="1" i="0" lang="en-US" sz="3000" u="none">
                <a:solidFill>
                  <a:schemeClr val="dk2"/>
                </a:solidFill>
              </a:rPr>
              <a:t>Example 10 (page 322)</a:t>
            </a:r>
            <a:endParaRPr sz="3000"/>
          </a:p>
          <a:p>
            <a:pPr indent="-301625" lvl="1" marL="808037" rtl="0" algn="l">
              <a:lnSpc>
                <a:spcPct val="100000"/>
              </a:lnSpc>
              <a:spcBef>
                <a:spcPts val="960"/>
              </a:spcBef>
              <a:spcAft>
                <a:spcPts val="0"/>
              </a:spcAft>
              <a:buClr>
                <a:srgbClr val="0000CC"/>
              </a:buClr>
              <a:buSzPts val="3000"/>
              <a:buFont typeface="Comic Sans MS"/>
              <a:buChar char="–"/>
            </a:pPr>
            <a:r>
              <a:rPr b="1" i="0" lang="en-US" sz="3000" u="none">
                <a:solidFill>
                  <a:srgbClr val="0000CC"/>
                </a:solidFill>
              </a:rPr>
              <a:t> α = </a:t>
            </a:r>
            <a:r>
              <a:rPr b="1" lang="en-US" sz="3000">
                <a:solidFill>
                  <a:srgbClr val="0000CC"/>
                </a:solidFill>
              </a:rPr>
              <a:t>⅛</a:t>
            </a:r>
            <a:r>
              <a:rPr b="1" i="0" lang="en-US" sz="3000" u="none">
                <a:solidFill>
                  <a:srgbClr val="0000CC"/>
                </a:solidFill>
              </a:rPr>
              <a:t> = 0.125</a:t>
            </a:r>
            <a:endParaRPr sz="3000"/>
          </a:p>
          <a:p>
            <a:pPr indent="-301625" lvl="1" marL="808037" rtl="0" algn="l">
              <a:lnSpc>
                <a:spcPct val="100000"/>
              </a:lnSpc>
              <a:spcBef>
                <a:spcPts val="960"/>
              </a:spcBef>
              <a:spcAft>
                <a:spcPts val="0"/>
              </a:spcAft>
              <a:buClr>
                <a:srgbClr val="0000CC"/>
              </a:buClr>
              <a:buSzPts val="3000"/>
              <a:buFont typeface="Comic Sans MS"/>
              <a:buChar char="–"/>
            </a:pPr>
            <a:r>
              <a:rPr b="1" i="0" lang="en-US" sz="3000" u="none">
                <a:solidFill>
                  <a:srgbClr val="0000CC"/>
                </a:solidFill>
              </a:rPr>
              <a:t> β = </a:t>
            </a:r>
            <a:r>
              <a:rPr b="1" lang="en-US" sz="3000">
                <a:solidFill>
                  <a:srgbClr val="0000CC"/>
                </a:solidFill>
              </a:rPr>
              <a:t>¼</a:t>
            </a:r>
            <a:r>
              <a:rPr b="1" i="0" lang="en-US" sz="3000" u="none">
                <a:solidFill>
                  <a:srgbClr val="0000CC"/>
                </a:solidFill>
              </a:rPr>
              <a:t> = 0.25</a:t>
            </a:r>
            <a:endParaRPr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5" name="Google Shape;195;p20"/>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196" name="Google Shape;196;p20"/>
          <p:cNvSpPr txBox="1"/>
          <p:nvPr/>
        </p:nvSpPr>
        <p:spPr>
          <a:xfrm>
            <a:off x="101600" y="696912"/>
            <a:ext cx="11734800" cy="2493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Let us give a hypothetical example. Figure 15.39 shows part of a connection. The figure shows the connection establishment and part of the data transfer phases.</a:t>
            </a:r>
            <a:endParaRPr/>
          </a:p>
          <a:p>
            <a:pPr indent="0" lvl="0" marL="0" marR="0" rtl="0" algn="just">
              <a:lnSpc>
                <a:spcPct val="100000"/>
              </a:lnSpc>
              <a:spcBef>
                <a:spcPts val="0"/>
              </a:spcBef>
              <a:spcAft>
                <a:spcPts val="0"/>
              </a:spcAft>
              <a:buClr>
                <a:schemeClr val="dk1"/>
              </a:buClr>
              <a:buSzPts val="1200"/>
              <a:buFont typeface="Tahoma"/>
              <a:buNone/>
            </a:pPr>
            <a:r>
              <a:t/>
            </a:r>
            <a:endParaRPr b="1" i="0" sz="12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1.</a:t>
            </a:r>
            <a:r>
              <a:rPr b="1" i="0" lang="en-US" sz="2400" u="none">
                <a:solidFill>
                  <a:schemeClr val="dk1"/>
                </a:solidFill>
                <a:latin typeface="Arimo"/>
                <a:ea typeface="Arimo"/>
                <a:cs typeface="Arimo"/>
                <a:sym typeface="Arimo"/>
              </a:rPr>
              <a:t>	When the SYN segment is sent, there is no value for 	RTTM, RTTS, or RTTD. The value of RTO is set to 6.00 	seconds. The following shows the value of these 	variable at this moment:</a:t>
            </a:r>
            <a:endParaRPr/>
          </a:p>
        </p:txBody>
      </p:sp>
      <p:grpSp>
        <p:nvGrpSpPr>
          <p:cNvPr id="197" name="Google Shape;197;p20"/>
          <p:cNvGrpSpPr/>
          <p:nvPr/>
        </p:nvGrpSpPr>
        <p:grpSpPr>
          <a:xfrm>
            <a:off x="0" y="0"/>
            <a:ext cx="12065000" cy="476250"/>
            <a:chOff x="0" y="2448"/>
            <a:chExt cx="5700" cy="300"/>
          </a:xfrm>
        </p:grpSpPr>
        <p:sp>
          <p:nvSpPr>
            <p:cNvPr id="198" name="Google Shape;198;p20"/>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99" name="Google Shape;199;p20"/>
            <p:cNvSpPr txBox="1"/>
            <p:nvPr/>
          </p:nvSpPr>
          <p:spPr>
            <a:xfrm>
              <a:off x="0" y="2448"/>
              <a:ext cx="15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15.3</a:t>
              </a:r>
              <a:endParaRPr/>
            </a:p>
          </p:txBody>
        </p:sp>
      </p:grpSp>
      <p:pic>
        <p:nvPicPr>
          <p:cNvPr id="200" name="Google Shape;200;p20"/>
          <p:cNvPicPr preferRelativeResize="0"/>
          <p:nvPr/>
        </p:nvPicPr>
        <p:blipFill rotWithShape="1">
          <a:blip r:embed="rId3">
            <a:alphaModFix/>
          </a:blip>
          <a:srcRect b="0" l="0" r="0" t="0"/>
          <a:stretch/>
        </p:blipFill>
        <p:spPr>
          <a:xfrm>
            <a:off x="4766733" y="3438525"/>
            <a:ext cx="1454148" cy="582612"/>
          </a:xfrm>
          <a:prstGeom prst="rect">
            <a:avLst/>
          </a:prstGeom>
          <a:noFill/>
          <a:ln>
            <a:noFill/>
          </a:ln>
        </p:spPr>
      </p:pic>
      <p:sp>
        <p:nvSpPr>
          <p:cNvPr id="201" name="Google Shape;201;p20"/>
          <p:cNvSpPr txBox="1"/>
          <p:nvPr/>
        </p:nvSpPr>
        <p:spPr>
          <a:xfrm>
            <a:off x="0" y="4181475"/>
            <a:ext cx="11785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2.</a:t>
            </a:r>
            <a:r>
              <a:rPr b="1" i="0" lang="en-US" sz="2400" u="none">
                <a:solidFill>
                  <a:schemeClr val="dk1"/>
                </a:solidFill>
                <a:latin typeface="Arimo"/>
                <a:ea typeface="Arimo"/>
                <a:cs typeface="Arimo"/>
                <a:sym typeface="Arimo"/>
              </a:rPr>
              <a:t>	When the SYN+ACK segment arrives, RTTM is 	measured and is equal to 1.5 seconds.</a:t>
            </a:r>
            <a:endParaRPr/>
          </a:p>
        </p:txBody>
      </p:sp>
      <p:pic>
        <p:nvPicPr>
          <p:cNvPr id="202" name="Google Shape;202;p20"/>
          <p:cNvPicPr preferRelativeResize="0"/>
          <p:nvPr/>
        </p:nvPicPr>
        <p:blipFill rotWithShape="1">
          <a:blip r:embed="rId4">
            <a:alphaModFix/>
          </a:blip>
          <a:srcRect b="0" l="0" r="0" t="0"/>
          <a:stretch/>
        </p:blipFill>
        <p:spPr>
          <a:xfrm>
            <a:off x="569383" y="5000625"/>
            <a:ext cx="7907338" cy="1235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09" name="Google Shape;209;p2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10" name="Google Shape;210;p21"/>
          <p:cNvSpPr txBox="1"/>
          <p:nvPr/>
        </p:nvSpPr>
        <p:spPr>
          <a:xfrm>
            <a:off x="101600" y="696912"/>
            <a:ext cx="11785500" cy="23088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3.</a:t>
            </a:r>
            <a:r>
              <a:rPr b="1" i="0" lang="en-US" sz="2400" u="none">
                <a:solidFill>
                  <a:schemeClr val="dk1"/>
                </a:solidFill>
                <a:latin typeface="Arimo"/>
                <a:ea typeface="Arimo"/>
                <a:cs typeface="Arimo"/>
                <a:sym typeface="Arimo"/>
              </a:rPr>
              <a:t>	When the first data segment is sent, a new RTT measurement starts. No RTT measurement starts for the second data segment because a measurement is already in progress. The arrival of the last ACK segment is used to calculate the next value of RTTM. Although the last ACK segment acknowledges both data segments (cumulative), its arrival finalizes the value of RTTM for the first segment. The values of these variables are now as shown below.</a:t>
            </a:r>
            <a:endParaRPr/>
          </a:p>
        </p:txBody>
      </p:sp>
      <p:grpSp>
        <p:nvGrpSpPr>
          <p:cNvPr id="211" name="Google Shape;211;p21"/>
          <p:cNvGrpSpPr/>
          <p:nvPr/>
        </p:nvGrpSpPr>
        <p:grpSpPr>
          <a:xfrm>
            <a:off x="0" y="0"/>
            <a:ext cx="12065000" cy="476250"/>
            <a:chOff x="0" y="2448"/>
            <a:chExt cx="5700" cy="300"/>
          </a:xfrm>
        </p:grpSpPr>
        <p:sp>
          <p:nvSpPr>
            <p:cNvPr id="212" name="Google Shape;212;p21"/>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13" name="Google Shape;213;p21"/>
            <p:cNvSpPr txBox="1"/>
            <p:nvPr/>
          </p:nvSpPr>
          <p:spPr>
            <a:xfrm>
              <a:off x="0" y="2448"/>
              <a:ext cx="27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15.3 </a:t>
              </a:r>
              <a:r>
                <a:rPr b="1" i="1" lang="en-US" sz="3200" u="none">
                  <a:solidFill>
                    <a:schemeClr val="lt1"/>
                  </a:solidFill>
                  <a:latin typeface="Times New Roman"/>
                  <a:ea typeface="Times New Roman"/>
                  <a:cs typeface="Times New Roman"/>
                  <a:sym typeface="Times New Roman"/>
                </a:rPr>
                <a:t>Continued</a:t>
              </a:r>
              <a:endParaRPr/>
            </a:p>
          </p:txBody>
        </p:sp>
      </p:grpSp>
      <p:pic>
        <p:nvPicPr>
          <p:cNvPr id="214" name="Google Shape;214;p21"/>
          <p:cNvPicPr preferRelativeResize="0"/>
          <p:nvPr/>
        </p:nvPicPr>
        <p:blipFill rotWithShape="1">
          <a:blip r:embed="rId3">
            <a:alphaModFix/>
          </a:blip>
          <a:srcRect b="0" l="0" r="0" t="0"/>
          <a:stretch/>
        </p:blipFill>
        <p:spPr>
          <a:xfrm>
            <a:off x="584200" y="4286250"/>
            <a:ext cx="8583612" cy="1438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21" name="Google Shape;221;p2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22" name="Google Shape;222;p22"/>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15.3</a:t>
            </a:r>
            <a:endParaRPr/>
          </a:p>
        </p:txBody>
      </p:sp>
      <p:sp>
        <p:nvSpPr>
          <p:cNvPr id="223" name="Google Shape;223;p22"/>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4" name="Google Shape;224;p22"/>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5" name="Google Shape;225;p22"/>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6" name="Google Shape;226;p22"/>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7" name="Google Shape;227;p22"/>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8" name="Google Shape;228;p22"/>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9" name="Google Shape;229;p22"/>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30" name="Google Shape;230;p22"/>
          <p:cNvPicPr preferRelativeResize="0"/>
          <p:nvPr/>
        </p:nvPicPr>
        <p:blipFill rotWithShape="1">
          <a:blip r:embed="rId3">
            <a:alphaModFix/>
          </a:blip>
          <a:srcRect b="0" l="0" r="0" t="0"/>
          <a:stretch/>
        </p:blipFill>
        <p:spPr>
          <a:xfrm>
            <a:off x="1992478" y="931848"/>
            <a:ext cx="8790400" cy="5239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37" name="Google Shape;237;p23"/>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38" name="Google Shape;238;p23"/>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15.3</a:t>
            </a:r>
            <a:endParaRPr/>
          </a:p>
        </p:txBody>
      </p:sp>
      <p:sp>
        <p:nvSpPr>
          <p:cNvPr id="239" name="Google Shape;239;p23"/>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0" name="Google Shape;240;p23"/>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1" name="Google Shape;241;p23"/>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2" name="Google Shape;242;p23"/>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3" name="Google Shape;243;p23"/>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4" name="Google Shape;244;p23"/>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5" name="Google Shape;245;p23"/>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6" name="Google Shape;246;p23"/>
          <p:cNvSpPr txBox="1"/>
          <p:nvPr>
            <p:ph idx="1" type="body"/>
          </p:nvPr>
        </p:nvSpPr>
        <p:spPr>
          <a:xfrm>
            <a:off x="838200" y="1004825"/>
            <a:ext cx="10515600" cy="507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3600"/>
              <a:t>Steps:</a:t>
            </a:r>
            <a:endParaRPr sz="3600"/>
          </a:p>
          <a:p>
            <a:pPr indent="0" lvl="0" marL="0" rtl="0" algn="l">
              <a:spcBef>
                <a:spcPts val="1000"/>
              </a:spcBef>
              <a:spcAft>
                <a:spcPts val="0"/>
              </a:spcAft>
              <a:buNone/>
            </a:pPr>
            <a:r>
              <a:rPr lang="en-US" sz="3400"/>
              <a:t>First Measurement:</a:t>
            </a:r>
            <a:endParaRPr sz="3400"/>
          </a:p>
          <a:p>
            <a:pPr indent="-368300" lvl="0" marL="457200" rtl="0" algn="l">
              <a:lnSpc>
                <a:spcPct val="200000"/>
              </a:lnSpc>
              <a:spcBef>
                <a:spcPts val="1000"/>
              </a:spcBef>
              <a:spcAft>
                <a:spcPts val="0"/>
              </a:spcAft>
              <a:buClr>
                <a:srgbClr val="3333CC"/>
              </a:buClr>
              <a:buSzPts val="2200"/>
              <a:buAutoNum type="arabicPeriod"/>
            </a:pPr>
            <a:r>
              <a:rPr b="1" lang="en-US" sz="3000">
                <a:solidFill>
                  <a:schemeClr val="dk2"/>
                </a:solidFill>
              </a:rPr>
              <a:t>RTT</a:t>
            </a:r>
            <a:r>
              <a:rPr b="1" baseline="-25000" lang="en-US" sz="3000">
                <a:solidFill>
                  <a:schemeClr val="dk2"/>
                </a:solidFill>
              </a:rPr>
              <a:t>S</a:t>
            </a:r>
            <a:r>
              <a:rPr b="1" lang="en-US" sz="3000">
                <a:solidFill>
                  <a:schemeClr val="dk2"/>
                </a:solidFill>
              </a:rPr>
              <a:t> = RTT</a:t>
            </a:r>
            <a:r>
              <a:rPr b="1" baseline="-25000" lang="en-US" sz="3000">
                <a:solidFill>
                  <a:schemeClr val="dk2"/>
                </a:solidFill>
              </a:rPr>
              <a:t>M</a:t>
            </a:r>
            <a:endParaRPr b="1" baseline="-25000" sz="3000">
              <a:solidFill>
                <a:schemeClr val="dk2"/>
              </a:solidFill>
            </a:endParaRPr>
          </a:p>
          <a:p>
            <a:pPr indent="-368300" lvl="0" marL="457200" rtl="0" algn="l">
              <a:lnSpc>
                <a:spcPct val="200000"/>
              </a:lnSpc>
              <a:spcBef>
                <a:spcPts val="0"/>
              </a:spcBef>
              <a:spcAft>
                <a:spcPts val="0"/>
              </a:spcAft>
              <a:buClr>
                <a:srgbClr val="3333CC"/>
              </a:buClr>
              <a:buSzPts val="2200"/>
              <a:buAutoNum type="arabicPeriod"/>
            </a:pPr>
            <a:r>
              <a:rPr b="1" lang="en-US" sz="3000">
                <a:solidFill>
                  <a:schemeClr val="dk2"/>
                </a:solidFill>
              </a:rPr>
              <a:t>RTT</a:t>
            </a:r>
            <a:r>
              <a:rPr b="1" baseline="-25000" lang="en-US" sz="3000">
                <a:solidFill>
                  <a:schemeClr val="dk2"/>
                </a:solidFill>
              </a:rPr>
              <a:t>D </a:t>
            </a:r>
            <a:r>
              <a:rPr b="1" lang="en-US" sz="3000">
                <a:solidFill>
                  <a:schemeClr val="dk2"/>
                </a:solidFill>
              </a:rPr>
              <a:t>= 0.5 * RTT</a:t>
            </a:r>
            <a:r>
              <a:rPr b="1" baseline="-25000" lang="en-US" sz="3000">
                <a:solidFill>
                  <a:schemeClr val="dk2"/>
                </a:solidFill>
              </a:rPr>
              <a:t>M</a:t>
            </a:r>
            <a:endParaRPr/>
          </a:p>
        </p:txBody>
      </p:sp>
      <p:sp>
        <p:nvSpPr>
          <p:cNvPr id="247" name="Google Shape;247;p23"/>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Transport Layer: 3-</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54" name="Google Shape;254;p24"/>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55" name="Google Shape;255;p24"/>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15.39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15.3</a:t>
            </a:r>
            <a:endParaRPr/>
          </a:p>
        </p:txBody>
      </p:sp>
      <p:sp>
        <p:nvSpPr>
          <p:cNvPr id="256" name="Google Shape;256;p24"/>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7" name="Google Shape;257;p24"/>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8" name="Google Shape;258;p24"/>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9" name="Google Shape;259;p24"/>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60" name="Google Shape;260;p24"/>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61" name="Google Shape;261;p24"/>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62" name="Google Shape;262;p24"/>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63" name="Google Shape;263;p24"/>
          <p:cNvSpPr txBox="1"/>
          <p:nvPr>
            <p:ph idx="1" type="body"/>
          </p:nvPr>
        </p:nvSpPr>
        <p:spPr>
          <a:xfrm>
            <a:off x="838200" y="1004825"/>
            <a:ext cx="10515600" cy="507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3600"/>
              <a:t>Steps:</a:t>
            </a:r>
            <a:endParaRPr sz="3600"/>
          </a:p>
          <a:p>
            <a:pPr indent="0" lvl="0" marL="0" rtl="0" algn="l">
              <a:spcBef>
                <a:spcPts val="1000"/>
              </a:spcBef>
              <a:spcAft>
                <a:spcPts val="0"/>
              </a:spcAft>
              <a:buNone/>
            </a:pPr>
            <a:r>
              <a:rPr lang="en-US" sz="3400"/>
              <a:t>All Other Measurement:</a:t>
            </a:r>
            <a:endParaRPr sz="3400"/>
          </a:p>
          <a:p>
            <a:pPr indent="-342900" lvl="0" marL="457200" rtl="0" algn="l">
              <a:lnSpc>
                <a:spcPct val="200000"/>
              </a:lnSpc>
              <a:spcBef>
                <a:spcPts val="1000"/>
              </a:spcBef>
              <a:spcAft>
                <a:spcPts val="0"/>
              </a:spcAft>
              <a:buSzPts val="1800"/>
              <a:buAutoNum type="arabicPeriod"/>
            </a:pPr>
            <a:r>
              <a:rPr b="1" lang="en-US" sz="3000">
                <a:solidFill>
                  <a:schemeClr val="dk2"/>
                </a:solidFill>
              </a:rPr>
              <a:t>RTT</a:t>
            </a:r>
            <a:r>
              <a:rPr b="1" baseline="-25000" lang="en-US" sz="3000">
                <a:solidFill>
                  <a:schemeClr val="dk2"/>
                </a:solidFill>
              </a:rPr>
              <a:t>M</a:t>
            </a:r>
            <a:r>
              <a:rPr b="1" lang="en-US" sz="3000">
                <a:solidFill>
                  <a:schemeClr val="dk2"/>
                </a:solidFill>
              </a:rPr>
              <a:t> </a:t>
            </a:r>
            <a:r>
              <a:rPr lang="en-US"/>
              <a:t>= Latest measurement of </a:t>
            </a:r>
            <a:r>
              <a:rPr b="1" lang="en-US" sz="3000">
                <a:solidFill>
                  <a:schemeClr val="dk2"/>
                </a:solidFill>
              </a:rPr>
              <a:t>RTT</a:t>
            </a:r>
            <a:endParaRPr/>
          </a:p>
          <a:p>
            <a:pPr indent="-342900" lvl="0" marL="457200" rtl="0" algn="l">
              <a:lnSpc>
                <a:spcPct val="200000"/>
              </a:lnSpc>
              <a:spcBef>
                <a:spcPts val="0"/>
              </a:spcBef>
              <a:spcAft>
                <a:spcPts val="0"/>
              </a:spcAft>
              <a:buSzPts val="1800"/>
              <a:buAutoNum type="arabicPeriod"/>
            </a:pPr>
            <a:r>
              <a:rPr lang="en-US"/>
              <a:t>Calculate </a:t>
            </a:r>
            <a:r>
              <a:rPr b="1" lang="en-US" sz="3000">
                <a:solidFill>
                  <a:schemeClr val="dk2"/>
                </a:solidFill>
              </a:rPr>
              <a:t>RTT</a:t>
            </a:r>
            <a:r>
              <a:rPr b="1" baseline="-25000" lang="en-US" sz="3000">
                <a:solidFill>
                  <a:schemeClr val="dk2"/>
                </a:solidFill>
              </a:rPr>
              <a:t>S</a:t>
            </a:r>
            <a:r>
              <a:rPr b="1" lang="en-US" sz="3000">
                <a:solidFill>
                  <a:schemeClr val="dk2"/>
                </a:solidFill>
              </a:rPr>
              <a:t> = (1-α)*RTT</a:t>
            </a:r>
            <a:r>
              <a:rPr b="1" baseline="-25000" lang="en-US" sz="3000">
                <a:solidFill>
                  <a:schemeClr val="dk2"/>
                </a:solidFill>
              </a:rPr>
              <a:t>S</a:t>
            </a:r>
            <a:r>
              <a:rPr b="1" lang="en-US" sz="3000">
                <a:solidFill>
                  <a:schemeClr val="dk2"/>
                </a:solidFill>
              </a:rPr>
              <a:t> + α*RTT</a:t>
            </a:r>
            <a:r>
              <a:rPr b="1" baseline="-25000" lang="en-US" sz="3000">
                <a:solidFill>
                  <a:schemeClr val="dk2"/>
                </a:solidFill>
              </a:rPr>
              <a:t>M</a:t>
            </a:r>
            <a:endParaRPr/>
          </a:p>
          <a:p>
            <a:pPr indent="-342900" lvl="0" marL="457200" rtl="0" algn="l">
              <a:lnSpc>
                <a:spcPct val="200000"/>
              </a:lnSpc>
              <a:spcBef>
                <a:spcPts val="0"/>
              </a:spcBef>
              <a:spcAft>
                <a:spcPts val="0"/>
              </a:spcAft>
              <a:buSzPts val="1800"/>
              <a:buAutoNum type="arabicPeriod"/>
            </a:pPr>
            <a:r>
              <a:rPr lang="en-US"/>
              <a:t>Calculate </a:t>
            </a:r>
            <a:r>
              <a:rPr b="1" lang="en-US" sz="3000">
                <a:solidFill>
                  <a:schemeClr val="dk2"/>
                </a:solidFill>
              </a:rPr>
              <a:t>RTT</a:t>
            </a:r>
            <a:r>
              <a:rPr b="1" baseline="-25000" lang="en-US" sz="3000">
                <a:solidFill>
                  <a:schemeClr val="dk2"/>
                </a:solidFill>
              </a:rPr>
              <a:t>D </a:t>
            </a:r>
            <a:r>
              <a:rPr b="1" lang="en-US" sz="3000">
                <a:solidFill>
                  <a:schemeClr val="dk2"/>
                </a:solidFill>
              </a:rPr>
              <a:t>= (1-β)*RTT</a:t>
            </a:r>
            <a:r>
              <a:rPr b="1" baseline="-25000" lang="en-US" sz="3000">
                <a:solidFill>
                  <a:schemeClr val="dk2"/>
                </a:solidFill>
              </a:rPr>
              <a:t>D</a:t>
            </a:r>
            <a:r>
              <a:rPr b="1" lang="en-US" sz="3000">
                <a:solidFill>
                  <a:schemeClr val="dk2"/>
                </a:solidFill>
              </a:rPr>
              <a:t> + β*|RTT</a:t>
            </a:r>
            <a:r>
              <a:rPr b="1" baseline="-25000" lang="en-US" sz="3000">
                <a:solidFill>
                  <a:schemeClr val="dk2"/>
                </a:solidFill>
              </a:rPr>
              <a:t>S</a:t>
            </a:r>
            <a:r>
              <a:rPr b="1" lang="en-US" sz="3000">
                <a:solidFill>
                  <a:schemeClr val="dk2"/>
                </a:solidFill>
              </a:rPr>
              <a:t> - RTT</a:t>
            </a:r>
            <a:r>
              <a:rPr b="1" baseline="-25000" lang="en-US" sz="3000">
                <a:solidFill>
                  <a:schemeClr val="dk2"/>
                </a:solidFill>
              </a:rPr>
              <a:t>M</a:t>
            </a:r>
            <a:r>
              <a:rPr b="1" lang="en-US" sz="3000">
                <a:solidFill>
                  <a:schemeClr val="dk2"/>
                </a:solidFill>
              </a:rPr>
              <a:t>|</a:t>
            </a:r>
            <a:endParaRPr baseline="-25000"/>
          </a:p>
          <a:p>
            <a:pPr indent="-342900" lvl="0" marL="457200" rtl="0" algn="l">
              <a:lnSpc>
                <a:spcPct val="200000"/>
              </a:lnSpc>
              <a:spcBef>
                <a:spcPts val="0"/>
              </a:spcBef>
              <a:spcAft>
                <a:spcPts val="0"/>
              </a:spcAft>
              <a:buSzPts val="1800"/>
              <a:buAutoNum type="arabicPeriod"/>
            </a:pPr>
            <a:r>
              <a:rPr lang="en-US"/>
              <a:t>Finally Calculate </a:t>
            </a:r>
            <a:r>
              <a:rPr b="1" lang="en-US" sz="3000">
                <a:solidFill>
                  <a:schemeClr val="dk2"/>
                </a:solidFill>
              </a:rPr>
              <a:t>RTO = RTT</a:t>
            </a:r>
            <a:r>
              <a:rPr b="1" baseline="-25000" lang="en-US" sz="3000">
                <a:solidFill>
                  <a:schemeClr val="dk2"/>
                </a:solidFill>
              </a:rPr>
              <a:t>S</a:t>
            </a:r>
            <a:r>
              <a:rPr b="1" lang="en-US" sz="3000">
                <a:solidFill>
                  <a:schemeClr val="dk2"/>
                </a:solidFill>
              </a:rPr>
              <a:t> + 4RTT</a:t>
            </a:r>
            <a:r>
              <a:rPr b="1" baseline="-25000" lang="en-US" sz="3000">
                <a:solidFill>
                  <a:schemeClr val="dk2"/>
                </a:solidFill>
              </a:rPr>
              <a:t>D</a:t>
            </a:r>
            <a:endParaRPr b="1" sz="3000">
              <a:solidFill>
                <a:schemeClr val="dk2"/>
              </a:solidFill>
            </a:endParaRPr>
          </a:p>
        </p:txBody>
      </p:sp>
      <p:sp>
        <p:nvSpPr>
          <p:cNvPr id="264" name="Google Shape;264;p24"/>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265" name="Google Shape;265;p24"/>
          <p:cNvSpPr txBox="1"/>
          <p:nvPr/>
        </p:nvSpPr>
        <p:spPr>
          <a:xfrm>
            <a:off x="8997300" y="2864975"/>
            <a:ext cx="2476800" cy="182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000"/>
              </a:spcBef>
              <a:spcAft>
                <a:spcPts val="0"/>
              </a:spcAft>
              <a:buNone/>
            </a:pPr>
            <a:r>
              <a:rPr b="1" lang="en-US" sz="3000">
                <a:solidFill>
                  <a:schemeClr val="dk2"/>
                </a:solidFill>
                <a:latin typeface="Calibri"/>
                <a:ea typeface="Calibri"/>
                <a:cs typeface="Calibri"/>
                <a:sym typeface="Calibri"/>
              </a:rPr>
              <a:t>Here,</a:t>
            </a:r>
            <a:endParaRPr b="1" sz="3000">
              <a:solidFill>
                <a:schemeClr val="dk2"/>
              </a:solidFill>
              <a:latin typeface="Calibri"/>
              <a:ea typeface="Calibri"/>
              <a:cs typeface="Calibri"/>
              <a:sym typeface="Calibri"/>
            </a:endParaRPr>
          </a:p>
          <a:p>
            <a:pPr indent="0" lvl="0" marL="0" rtl="0" algn="l">
              <a:lnSpc>
                <a:spcPct val="100000"/>
              </a:lnSpc>
              <a:spcBef>
                <a:spcPts val="1000"/>
              </a:spcBef>
              <a:spcAft>
                <a:spcPts val="0"/>
              </a:spcAft>
              <a:buNone/>
            </a:pPr>
            <a:r>
              <a:rPr b="1" lang="en-US" sz="3000">
                <a:solidFill>
                  <a:schemeClr val="dk2"/>
                </a:solidFill>
                <a:latin typeface="Calibri"/>
                <a:ea typeface="Calibri"/>
                <a:cs typeface="Calibri"/>
                <a:sym typeface="Calibri"/>
              </a:rPr>
              <a:t>α = 0.125</a:t>
            </a:r>
            <a:endParaRPr b="1" sz="3000">
              <a:solidFill>
                <a:schemeClr val="dk2"/>
              </a:solidFill>
              <a:latin typeface="Calibri"/>
              <a:ea typeface="Calibri"/>
              <a:cs typeface="Calibri"/>
              <a:sym typeface="Calibri"/>
            </a:endParaRPr>
          </a:p>
          <a:p>
            <a:pPr indent="0" lvl="0" marL="0" rtl="0" algn="l">
              <a:lnSpc>
                <a:spcPct val="100000"/>
              </a:lnSpc>
              <a:spcBef>
                <a:spcPts val="1000"/>
              </a:spcBef>
              <a:spcAft>
                <a:spcPts val="0"/>
              </a:spcAft>
              <a:buNone/>
            </a:pPr>
            <a:r>
              <a:rPr b="1" lang="en-US" sz="3000">
                <a:solidFill>
                  <a:schemeClr val="dk2"/>
                </a:solidFill>
                <a:latin typeface="Calibri"/>
                <a:ea typeface="Calibri"/>
                <a:cs typeface="Calibri"/>
                <a:sym typeface="Calibri"/>
              </a:rPr>
              <a:t>β = 0.25</a:t>
            </a:r>
            <a:endParaRPr sz="3000">
              <a:solidFill>
                <a:schemeClr val="dk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72" name="Google Shape;272;p25"/>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273" name="Google Shape;273;p25"/>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4" name="Google Shape;274;p25"/>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5" name="Google Shape;275;p25"/>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6" name="Google Shape;276;p25"/>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7" name="Google Shape;277;p25"/>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8" name="Google Shape;278;p25"/>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9" name="Google Shape;279;p25"/>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280" name="Google Shape;280;p25"/>
          <p:cNvCxnSpPr/>
          <p:nvPr/>
        </p:nvCxnSpPr>
        <p:spPr>
          <a:xfrm>
            <a:off x="812800" y="2624137"/>
            <a:ext cx="108711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281" name="Google Shape;281;p25"/>
          <p:cNvCxnSpPr/>
          <p:nvPr/>
        </p:nvCxnSpPr>
        <p:spPr>
          <a:xfrm>
            <a:off x="812800" y="4343400"/>
            <a:ext cx="10871100" cy="0"/>
          </a:xfrm>
          <a:prstGeom prst="straightConnector1">
            <a:avLst/>
          </a:prstGeom>
          <a:noFill/>
          <a:ln cap="flat" cmpd="sng" w="76200">
            <a:solidFill>
              <a:schemeClr val="folHlink"/>
            </a:solidFill>
            <a:prstDash val="solid"/>
            <a:miter lim="800000"/>
            <a:headEnd len="med" w="med" type="none"/>
            <a:tailEnd len="med" w="med" type="none"/>
          </a:ln>
        </p:spPr>
      </p:cxnSp>
      <p:sp>
        <p:nvSpPr>
          <p:cNvPr id="282" name="Google Shape;282;p25"/>
          <p:cNvSpPr txBox="1"/>
          <p:nvPr/>
        </p:nvSpPr>
        <p:spPr>
          <a:xfrm>
            <a:off x="863600" y="2716212"/>
            <a:ext cx="10769700" cy="15699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TCP does not consider the RTT of a retransmitted segment in its </a:t>
            </a:r>
            <a:br>
              <a:rPr b="1" i="1" lang="en-US" sz="3200" u="none">
                <a:solidFill>
                  <a:schemeClr val="lt1"/>
                </a:solidFill>
                <a:latin typeface="Arial"/>
                <a:ea typeface="Arial"/>
                <a:cs typeface="Arial"/>
                <a:sym typeface="Arial"/>
              </a:rPr>
            </a:br>
            <a:r>
              <a:rPr b="1" i="1" lang="en-US" sz="3200" u="none">
                <a:solidFill>
                  <a:schemeClr val="lt1"/>
                </a:solidFill>
                <a:latin typeface="Arial"/>
                <a:ea typeface="Arial"/>
                <a:cs typeface="Arial"/>
                <a:sym typeface="Arial"/>
              </a:rPr>
              <a:t>calculation of a new RTO.</a:t>
            </a:r>
            <a:endParaRPr/>
          </a:p>
        </p:txBody>
      </p:sp>
      <p:grpSp>
        <p:nvGrpSpPr>
          <p:cNvPr id="283" name="Google Shape;283;p25"/>
          <p:cNvGrpSpPr/>
          <p:nvPr/>
        </p:nvGrpSpPr>
        <p:grpSpPr>
          <a:xfrm>
            <a:off x="812800" y="1981200"/>
            <a:ext cx="1523899" cy="566741"/>
            <a:chOff x="1200" y="1248"/>
            <a:chExt cx="720" cy="357"/>
          </a:xfrm>
        </p:grpSpPr>
        <p:pic>
          <p:nvPicPr>
            <p:cNvPr id="284" name="Google Shape;284;p25"/>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85" name="Google Shape;285;p25"/>
            <p:cNvSpPr txBox="1"/>
            <p:nvPr/>
          </p:nvSpPr>
          <p:spPr>
            <a:xfrm>
              <a:off x="1284" y="124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6"/>
          <p:cNvSpPr txBox="1"/>
          <p:nvPr>
            <p:ph idx="12" type="sldNum"/>
          </p:nvPr>
        </p:nvSpPr>
        <p:spPr>
          <a:xfrm>
            <a:off x="9219616" y="6443089"/>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sz="1100">
                <a:solidFill>
                  <a:srgbClr val="7F7F7F"/>
                </a:solidFill>
                <a:latin typeface="Calibri"/>
                <a:ea typeface="Calibri"/>
                <a:cs typeface="Calibri"/>
                <a:sym typeface="Calibri"/>
              </a:rPr>
              <a:t>Transport Layer: 3-</a:t>
            </a:r>
            <a:fld id="{00000000-1234-1234-1234-123412341234}" type="slidenum">
              <a:rPr lang="en-US" sz="1100">
                <a:solidFill>
                  <a:srgbClr val="7F7F7F"/>
                </a:solidFill>
                <a:latin typeface="Calibri"/>
                <a:ea typeface="Calibri"/>
                <a:cs typeface="Calibri"/>
                <a:sym typeface="Calibri"/>
              </a:rPr>
              <a:t>‹#›</a:t>
            </a:fld>
            <a:endParaRPr sz="1100">
              <a:solidFill>
                <a:srgbClr val="7F7F7F"/>
              </a:solidFill>
              <a:latin typeface="Calibri"/>
              <a:ea typeface="Calibri"/>
              <a:cs typeface="Calibri"/>
              <a:sym typeface="Calibri"/>
            </a:endParaRPr>
          </a:p>
        </p:txBody>
      </p:sp>
      <p:sp>
        <p:nvSpPr>
          <p:cNvPr id="291" name="Google Shape;291;p26"/>
          <p:cNvSpPr txBox="1"/>
          <p:nvPr>
            <p:ph type="title"/>
          </p:nvPr>
        </p:nvSpPr>
        <p:spPr>
          <a:xfrm>
            <a:off x="838200" y="451821"/>
            <a:ext cx="10515600" cy="894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sz="4800"/>
              <a:t>Flaw in RTO Calculation</a:t>
            </a:r>
            <a:endParaRPr sz="4800"/>
          </a:p>
        </p:txBody>
      </p:sp>
      <p:sp>
        <p:nvSpPr>
          <p:cNvPr id="292" name="Google Shape;292;p26"/>
          <p:cNvSpPr txBox="1"/>
          <p:nvPr>
            <p:ph idx="1" type="body"/>
          </p:nvPr>
        </p:nvSpPr>
        <p:spPr>
          <a:xfrm>
            <a:off x="838200" y="1724027"/>
            <a:ext cx="10515600" cy="4351200"/>
          </a:xfrm>
          <a:prstGeom prst="rect">
            <a:avLst/>
          </a:prstGeom>
          <a:noFill/>
          <a:ln>
            <a:noFill/>
          </a:ln>
        </p:spPr>
        <p:txBody>
          <a:bodyPr anchorCtr="0" anchor="t" bIns="45700" lIns="91425" spcFirstLastPara="1" rIns="91425" wrap="square" tIns="45700">
            <a:normAutofit/>
          </a:bodyPr>
          <a:lstStyle/>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0" lvl="0" marL="0" rtl="0" algn="l">
              <a:spcBef>
                <a:spcPts val="1300"/>
              </a:spcBef>
              <a:spcAft>
                <a:spcPts val="0"/>
              </a:spcAft>
              <a:buNone/>
            </a:pPr>
            <a:r>
              <a:t/>
            </a:r>
            <a:endParaRPr/>
          </a:p>
          <a:p>
            <a:pPr indent="-342900" lvl="0" marL="342900" rtl="0" algn="l">
              <a:spcBef>
                <a:spcPts val="1300"/>
              </a:spcBef>
              <a:spcAft>
                <a:spcPts val="0"/>
              </a:spcAft>
              <a:buSzPts val="2080"/>
              <a:buChar char="▪"/>
            </a:pPr>
            <a:r>
              <a:rPr lang="en-US"/>
              <a:t>K</a:t>
            </a:r>
            <a:r>
              <a:rPr lang="en-US"/>
              <a:t>arn/Partridge Algorithm </a:t>
            </a:r>
            <a:br>
              <a:rPr lang="en-US"/>
            </a:br>
            <a:r>
              <a:rPr lang="en-US"/>
              <a:t>	Doesn’t include retransmitted packet</a:t>
            </a:r>
            <a:endParaRPr b="1">
              <a:latin typeface="Courier New"/>
              <a:ea typeface="Courier New"/>
              <a:cs typeface="Courier New"/>
              <a:sym typeface="Courier New"/>
            </a:endParaRPr>
          </a:p>
        </p:txBody>
      </p:sp>
      <p:pic>
        <p:nvPicPr>
          <p:cNvPr id="293" name="Google Shape;293;p26"/>
          <p:cNvPicPr preferRelativeResize="0"/>
          <p:nvPr/>
        </p:nvPicPr>
        <p:blipFill rotWithShape="1">
          <a:blip r:embed="rId3">
            <a:alphaModFix/>
          </a:blip>
          <a:srcRect b="0" l="0" r="0" t="0"/>
          <a:stretch/>
        </p:blipFill>
        <p:spPr>
          <a:xfrm>
            <a:off x="2120900" y="1499748"/>
            <a:ext cx="7871024" cy="3265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7"/>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800"/>
              <a:t>Flaw in RTO Calculation</a:t>
            </a:r>
            <a:endParaRPr/>
          </a:p>
        </p:txBody>
      </p:sp>
      <p:pic>
        <p:nvPicPr>
          <p:cNvPr id="300" name="Google Shape;300;p27"/>
          <p:cNvPicPr preferRelativeResize="0"/>
          <p:nvPr/>
        </p:nvPicPr>
        <p:blipFill>
          <a:blip r:embed="rId3">
            <a:alphaModFix/>
          </a:blip>
          <a:stretch>
            <a:fillRect/>
          </a:stretch>
        </p:blipFill>
        <p:spPr>
          <a:xfrm>
            <a:off x="1143000" y="1346425"/>
            <a:ext cx="9934951" cy="5040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8"/>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800"/>
              <a:t>Flaw in RTO Calculation</a:t>
            </a:r>
            <a:endParaRPr/>
          </a:p>
        </p:txBody>
      </p:sp>
      <p:pic>
        <p:nvPicPr>
          <p:cNvPr id="307" name="Google Shape;307;p28"/>
          <p:cNvPicPr preferRelativeResize="0"/>
          <p:nvPr/>
        </p:nvPicPr>
        <p:blipFill>
          <a:blip r:embed="rId3">
            <a:alphaModFix/>
          </a:blip>
          <a:stretch>
            <a:fillRect/>
          </a:stretch>
        </p:blipFill>
        <p:spPr>
          <a:xfrm>
            <a:off x="838200" y="1498826"/>
            <a:ext cx="10515600" cy="44456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9"/>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Karn’s Algorithm Solution</a:t>
            </a:r>
            <a:endParaRPr/>
          </a:p>
        </p:txBody>
      </p:sp>
      <p:pic>
        <p:nvPicPr>
          <p:cNvPr id="314" name="Google Shape;314;p29"/>
          <p:cNvPicPr preferRelativeResize="0"/>
          <p:nvPr/>
        </p:nvPicPr>
        <p:blipFill>
          <a:blip r:embed="rId3">
            <a:alphaModFix/>
          </a:blip>
          <a:stretch>
            <a:fillRect/>
          </a:stretch>
        </p:blipFill>
        <p:spPr>
          <a:xfrm>
            <a:off x="762000" y="1498826"/>
            <a:ext cx="10392576" cy="4205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0"/>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Karn’s Algorithm Solution</a:t>
            </a:r>
            <a:endParaRPr/>
          </a:p>
        </p:txBody>
      </p:sp>
      <p:sp>
        <p:nvSpPr>
          <p:cNvPr id="321" name="Google Shape;321;p30"/>
          <p:cNvSpPr txBox="1"/>
          <p:nvPr>
            <p:ph idx="1" type="body"/>
          </p:nvPr>
        </p:nvSpPr>
        <p:spPr>
          <a:xfrm>
            <a:off x="838200" y="1724027"/>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In practice, </a:t>
            </a:r>
            <a:r>
              <a:rPr b="1" lang="en-US"/>
              <a:t>TCP caps the RTO — usually around 60 seconds</a:t>
            </a:r>
            <a:r>
              <a:rPr lang="en-US"/>
              <a:t> (depending on implementation), so it doesn’t grow indefinitely.</a:t>
            </a:r>
            <a:endParaRPr/>
          </a:p>
        </p:txBody>
      </p:sp>
      <p:sp>
        <p:nvSpPr>
          <p:cNvPr id="322" name="Google Shape;322;p30"/>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Transport Layer: 3-</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1"/>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29" name="Google Shape;329;p31"/>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30" name="Google Shape;330;p31"/>
          <p:cNvSpPr txBox="1"/>
          <p:nvPr/>
        </p:nvSpPr>
        <p:spPr>
          <a:xfrm>
            <a:off x="101600" y="696912"/>
            <a:ext cx="11874300" cy="3047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15.40 is a continuation of the previous example. There is retransmission and </a:t>
            </a:r>
            <a:r>
              <a:rPr b="1" i="0" lang="en-US" sz="2400" u="none">
                <a:solidFill>
                  <a:schemeClr val="dk2"/>
                </a:solidFill>
                <a:latin typeface="Arimo"/>
                <a:ea typeface="Arimo"/>
                <a:cs typeface="Arimo"/>
                <a:sym typeface="Arimo"/>
              </a:rPr>
              <a:t>Karn</a:t>
            </a:r>
            <a:r>
              <a:rPr b="1" i="0" lang="en-US" sz="2400" u="none">
                <a:solidFill>
                  <a:schemeClr val="dk2"/>
                </a:solidFill>
                <a:latin typeface="Arial"/>
                <a:ea typeface="Arial"/>
                <a:cs typeface="Arial"/>
                <a:sym typeface="Arial"/>
              </a:rPr>
              <a:t>’</a:t>
            </a:r>
            <a:r>
              <a:rPr b="1" i="0" lang="en-US" sz="2400" u="none">
                <a:solidFill>
                  <a:schemeClr val="dk2"/>
                </a:solidFill>
                <a:latin typeface="Arimo"/>
                <a:ea typeface="Arimo"/>
                <a:cs typeface="Arimo"/>
                <a:sym typeface="Arimo"/>
              </a:rPr>
              <a:t>s algorithm</a:t>
            </a:r>
            <a:r>
              <a:rPr b="1" i="0" lang="en-US" sz="2400" u="none">
                <a:solidFill>
                  <a:schemeClr val="dk1"/>
                </a:solidFill>
                <a:latin typeface="Arimo"/>
                <a:ea typeface="Arimo"/>
                <a:cs typeface="Arimo"/>
                <a:sym typeface="Arimo"/>
              </a:rPr>
              <a:t> is applied.</a:t>
            </a:r>
            <a:endParaRPr/>
          </a:p>
          <a:p>
            <a:pPr indent="0" lvl="0" marL="0" marR="0" rtl="0" algn="just">
              <a:lnSpc>
                <a:spcPct val="100000"/>
              </a:lnSpc>
              <a:spcBef>
                <a:spcPts val="0"/>
              </a:spcBef>
              <a:spcAft>
                <a:spcPts val="0"/>
              </a:spcAft>
              <a:buClr>
                <a:schemeClr val="dk1"/>
              </a:buClr>
              <a:buSzPts val="2400"/>
              <a:buFont typeface="Tahoma"/>
              <a:buNone/>
            </a:pPr>
            <a:r>
              <a:t/>
            </a:r>
            <a:endParaRPr b="1" i="0" sz="24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The first segment in the figure is sent, but lost. The RTO timer expires after 4.74 seconds. The segment is retransmitted and the timer is set to 9.48, twice the previous value of RTO. This time an ACK is received before the time-out. We wait until we send a new segment and receive the ACK for it before recalculating the RTO (Karn</a:t>
            </a:r>
            <a:r>
              <a:rPr b="1" i="0" lang="en-US" sz="2400" u="none">
                <a:solidFill>
                  <a:schemeClr val="dk1"/>
                </a:solidFill>
                <a:latin typeface="Arial"/>
                <a:ea typeface="Arial"/>
                <a:cs typeface="Arial"/>
                <a:sym typeface="Arial"/>
              </a:rPr>
              <a:t>’</a:t>
            </a:r>
            <a:r>
              <a:rPr b="1" i="0" lang="en-US" sz="2400" u="none">
                <a:solidFill>
                  <a:schemeClr val="dk1"/>
                </a:solidFill>
                <a:latin typeface="Arimo"/>
                <a:ea typeface="Arimo"/>
                <a:cs typeface="Arimo"/>
                <a:sym typeface="Arimo"/>
              </a:rPr>
              <a:t>s algorithm).</a:t>
            </a:r>
            <a:endParaRPr/>
          </a:p>
        </p:txBody>
      </p:sp>
      <p:grpSp>
        <p:nvGrpSpPr>
          <p:cNvPr id="331" name="Google Shape;331;p31"/>
          <p:cNvGrpSpPr/>
          <p:nvPr/>
        </p:nvGrpSpPr>
        <p:grpSpPr>
          <a:xfrm>
            <a:off x="0" y="0"/>
            <a:ext cx="12065000" cy="476250"/>
            <a:chOff x="0" y="2448"/>
            <a:chExt cx="5700" cy="300"/>
          </a:xfrm>
        </p:grpSpPr>
        <p:sp>
          <p:nvSpPr>
            <p:cNvPr id="332" name="Google Shape;332;p31"/>
            <p:cNvSpPr txBox="1"/>
            <p:nvPr/>
          </p:nvSpPr>
          <p:spPr>
            <a:xfrm>
              <a:off x="0" y="2448"/>
              <a:ext cx="5700" cy="300"/>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3" name="Google Shape;333;p31"/>
            <p:cNvSpPr txBox="1"/>
            <p:nvPr/>
          </p:nvSpPr>
          <p:spPr>
            <a:xfrm>
              <a:off x="0" y="2448"/>
              <a:ext cx="1500" cy="300"/>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15.4</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2"/>
          <p:cNvSpPr txBox="1"/>
          <p:nvPr/>
        </p:nvSpPr>
        <p:spPr>
          <a:xfrm>
            <a:off x="101600" y="6296025"/>
            <a:ext cx="38607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40" name="Google Shape;340;p32"/>
          <p:cNvSpPr txBox="1"/>
          <p:nvPr/>
        </p:nvSpPr>
        <p:spPr>
          <a:xfrm>
            <a:off x="9389533" y="6243637"/>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sp>
        <p:nvSpPr>
          <p:cNvPr id="341" name="Google Shape;341;p32"/>
          <p:cNvSpPr txBox="1"/>
          <p:nvPr/>
        </p:nvSpPr>
        <p:spPr>
          <a:xfrm>
            <a:off x="1320800" y="90487"/>
            <a:ext cx="762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15.40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15.4</a:t>
            </a:r>
            <a:endParaRPr/>
          </a:p>
        </p:txBody>
      </p:sp>
      <p:sp>
        <p:nvSpPr>
          <p:cNvPr id="342" name="Google Shape;342;p32"/>
          <p:cNvSpPr txBox="1"/>
          <p:nvPr/>
        </p:nvSpPr>
        <p:spPr>
          <a:xfrm>
            <a:off x="488949" y="107950"/>
            <a:ext cx="5844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3" name="Google Shape;343;p32"/>
          <p:cNvSpPr txBox="1"/>
          <p:nvPr/>
        </p:nvSpPr>
        <p:spPr>
          <a:xfrm>
            <a:off x="999067" y="107950"/>
            <a:ext cx="4380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4" name="Google Shape;344;p32"/>
          <p:cNvSpPr txBox="1"/>
          <p:nvPr/>
        </p:nvSpPr>
        <p:spPr>
          <a:xfrm>
            <a:off x="654049" y="530225"/>
            <a:ext cx="5631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5" name="Google Shape;345;p32"/>
          <p:cNvSpPr txBox="1"/>
          <p:nvPr/>
        </p:nvSpPr>
        <p:spPr>
          <a:xfrm>
            <a:off x="1147233" y="530225"/>
            <a:ext cx="4911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6" name="Google Shape;346;p32"/>
          <p:cNvSpPr txBox="1"/>
          <p:nvPr/>
        </p:nvSpPr>
        <p:spPr>
          <a:xfrm>
            <a:off x="101600" y="457200"/>
            <a:ext cx="7473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7" name="Google Shape;347;p32"/>
          <p:cNvSpPr txBox="1"/>
          <p:nvPr/>
        </p:nvSpPr>
        <p:spPr>
          <a:xfrm>
            <a:off x="948267" y="0"/>
            <a:ext cx="423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8" name="Google Shape;348;p32"/>
          <p:cNvSpPr txBox="1"/>
          <p:nvPr/>
        </p:nvSpPr>
        <p:spPr>
          <a:xfrm>
            <a:off x="590549" y="533400"/>
            <a:ext cx="10968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49" name="Google Shape;349;p32"/>
          <p:cNvPicPr preferRelativeResize="0"/>
          <p:nvPr/>
        </p:nvPicPr>
        <p:blipFill rotWithShape="1">
          <a:blip r:embed="rId3">
            <a:alphaModFix/>
          </a:blip>
          <a:srcRect b="0" l="0" r="0" t="0"/>
          <a:stretch/>
        </p:blipFill>
        <p:spPr>
          <a:xfrm>
            <a:off x="1983326" y="803275"/>
            <a:ext cx="8759706" cy="5364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txBox="1"/>
          <p:nvPr>
            <p:ph idx="12" type="sldNum"/>
          </p:nvPr>
        </p:nvSpPr>
        <p:spPr>
          <a:xfrm>
            <a:off x="9347200" y="6477000"/>
            <a:ext cx="2844900" cy="3810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omic Sans MS"/>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356" name="Google Shape;356;p33"/>
          <p:cNvSpPr txBox="1"/>
          <p:nvPr>
            <p:ph type="title"/>
          </p:nvPr>
        </p:nvSpPr>
        <p:spPr>
          <a:xfrm>
            <a:off x="1219200" y="152400"/>
            <a:ext cx="12214500" cy="16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Persistence timer</a:t>
            </a:r>
            <a:endParaRPr/>
          </a:p>
        </p:txBody>
      </p:sp>
      <p:sp>
        <p:nvSpPr>
          <p:cNvPr id="357" name="Google Shape;357;p33"/>
          <p:cNvSpPr txBox="1"/>
          <p:nvPr>
            <p:ph idx="1" type="body"/>
          </p:nvPr>
        </p:nvSpPr>
        <p:spPr>
          <a:xfrm>
            <a:off x="1271375" y="1676400"/>
            <a:ext cx="9972300" cy="3657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80"/>
              <a:buChar char="▪"/>
            </a:pPr>
            <a:r>
              <a:rPr lang="en-US"/>
              <a:t>To deal with the zero-size windows</a:t>
            </a:r>
            <a:endParaRPr/>
          </a:p>
          <a:p>
            <a:pPr indent="-342900" lvl="0" marL="342900" rtl="0" algn="l">
              <a:spcBef>
                <a:spcPts val="520"/>
              </a:spcBef>
              <a:spcAft>
                <a:spcPts val="0"/>
              </a:spcAft>
              <a:buSzPts val="2080"/>
              <a:buChar char="▪"/>
            </a:pPr>
            <a:r>
              <a:rPr lang="en-US"/>
              <a:t>What if the receiver advertises that the window size is ≠ 0 (by sending ACK) and this ACK is lost?</a:t>
            </a:r>
            <a:endParaRPr/>
          </a:p>
          <a:p>
            <a:pPr indent="-285750" lvl="1" marL="742950" rtl="0" algn="l">
              <a:spcBef>
                <a:spcPts val="440"/>
              </a:spcBef>
              <a:spcAft>
                <a:spcPts val="0"/>
              </a:spcAft>
              <a:buSzPts val="2200"/>
              <a:buChar char="•"/>
            </a:pPr>
            <a:r>
              <a:rPr lang="en-US"/>
              <a:t>ACK are not acknowledged in TCP</a:t>
            </a:r>
            <a:endParaRPr/>
          </a:p>
          <a:p>
            <a:pPr indent="-342900" lvl="0" marL="342900" rtl="0" algn="l">
              <a:spcBef>
                <a:spcPts val="520"/>
              </a:spcBef>
              <a:spcAft>
                <a:spcPts val="0"/>
              </a:spcAft>
              <a:buSzPts val="2080"/>
              <a:buChar char="▪"/>
            </a:pPr>
            <a:r>
              <a:rPr lang="en-US"/>
              <a:t>Start persistence timer</a:t>
            </a:r>
            <a:endParaRPr/>
          </a:p>
          <a:p>
            <a:pPr indent="-285750" lvl="1" marL="742950" rtl="0" algn="l">
              <a:spcBef>
                <a:spcPts val="440"/>
              </a:spcBef>
              <a:spcAft>
                <a:spcPts val="0"/>
              </a:spcAft>
              <a:buSzPts val="2200"/>
              <a:buChar char="•"/>
            </a:pPr>
            <a:r>
              <a:rPr lang="en-US"/>
              <a:t>when this goes off send </a:t>
            </a:r>
            <a:r>
              <a:rPr lang="en-US" u="sng"/>
              <a:t>a probe</a:t>
            </a:r>
            <a:r>
              <a:rPr lang="en-US"/>
              <a:t> (1 byte of data)</a:t>
            </a:r>
            <a:endParaRPr/>
          </a:p>
          <a:p>
            <a:pPr indent="-285750" lvl="1" marL="742950" rtl="0" algn="l">
              <a:spcBef>
                <a:spcPts val="440"/>
              </a:spcBef>
              <a:spcAft>
                <a:spcPts val="0"/>
              </a:spcAft>
              <a:buSzPts val="2200"/>
              <a:buChar char="•"/>
            </a:pPr>
            <a:r>
              <a:rPr lang="en-US"/>
              <a:t>it is set to the retransmission time &amp; doubled every time a response is not received (until 60s, then sent every 60s)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4"/>
          <p:cNvSpPr txBox="1"/>
          <p:nvPr>
            <p:ph idx="12" type="sldNum"/>
          </p:nvPr>
        </p:nvSpPr>
        <p:spPr>
          <a:xfrm>
            <a:off x="9347200" y="6477000"/>
            <a:ext cx="2844900" cy="3810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omic Sans MS"/>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364" name="Google Shape;364;p34"/>
          <p:cNvSpPr txBox="1"/>
          <p:nvPr>
            <p:ph type="title"/>
          </p:nvPr>
        </p:nvSpPr>
        <p:spPr>
          <a:xfrm>
            <a:off x="1219200" y="152400"/>
            <a:ext cx="12214500" cy="16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Keep alive timer</a:t>
            </a:r>
            <a:endParaRPr/>
          </a:p>
        </p:txBody>
      </p:sp>
      <p:sp>
        <p:nvSpPr>
          <p:cNvPr id="365" name="Google Shape;365;p34"/>
          <p:cNvSpPr txBox="1"/>
          <p:nvPr>
            <p:ph idx="1" type="body"/>
          </p:nvPr>
        </p:nvSpPr>
        <p:spPr>
          <a:xfrm>
            <a:off x="1219200" y="1828800"/>
            <a:ext cx="13682100" cy="3657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80"/>
              <a:buChar char="▪"/>
            </a:pPr>
            <a:r>
              <a:rPr lang="en-US"/>
              <a:t>to prevent a long idle connection between a client and a server</a:t>
            </a:r>
            <a:endParaRPr/>
          </a:p>
          <a:p>
            <a:pPr indent="-285750" lvl="1" marL="742950" rtl="0" algn="l">
              <a:spcBef>
                <a:spcPts val="440"/>
              </a:spcBef>
              <a:spcAft>
                <a:spcPts val="0"/>
              </a:spcAft>
              <a:buSzPts val="2200"/>
              <a:buChar char="•"/>
            </a:pPr>
            <a:r>
              <a:rPr lang="en-US"/>
              <a:t>either client or server crash</a:t>
            </a:r>
            <a:endParaRPr/>
          </a:p>
          <a:p>
            <a:pPr indent="-342900" lvl="0" marL="342900" rtl="0" algn="l">
              <a:spcBef>
                <a:spcPts val="520"/>
              </a:spcBef>
              <a:spcAft>
                <a:spcPts val="0"/>
              </a:spcAft>
              <a:buSzPts val="2080"/>
              <a:buChar char="▪"/>
            </a:pPr>
            <a:r>
              <a:rPr lang="en-US"/>
              <a:t>usually set to 2h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5"/>
          <p:cNvSpPr txBox="1"/>
          <p:nvPr>
            <p:ph idx="12" type="sldNum"/>
          </p:nvPr>
        </p:nvSpPr>
        <p:spPr>
          <a:xfrm>
            <a:off x="9347200" y="6477000"/>
            <a:ext cx="2844900" cy="3810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omic Sans MS"/>
              <a:buNone/>
            </a:pPr>
            <a:fld id="{00000000-1234-1234-1234-123412341234}" type="slidenum">
              <a:rPr lang="en-US"/>
              <a:t>‹#›</a:t>
            </a:fld>
            <a:endParaRPr sz="1100">
              <a:solidFill>
                <a:srgbClr val="7F7F7F"/>
              </a:solidFill>
              <a:latin typeface="Calibri"/>
              <a:ea typeface="Calibri"/>
              <a:cs typeface="Calibri"/>
              <a:sym typeface="Calibri"/>
            </a:endParaRPr>
          </a:p>
        </p:txBody>
      </p:sp>
      <p:sp>
        <p:nvSpPr>
          <p:cNvPr id="372" name="Google Shape;372;p35"/>
          <p:cNvSpPr txBox="1"/>
          <p:nvPr>
            <p:ph type="title"/>
          </p:nvPr>
        </p:nvSpPr>
        <p:spPr>
          <a:xfrm>
            <a:off x="1219200" y="152400"/>
            <a:ext cx="12214500" cy="16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Time-Waited Timer</a:t>
            </a:r>
            <a:endParaRPr/>
          </a:p>
        </p:txBody>
      </p:sp>
      <p:sp>
        <p:nvSpPr>
          <p:cNvPr id="373" name="Google Shape;373;p35"/>
          <p:cNvSpPr txBox="1"/>
          <p:nvPr>
            <p:ph idx="1" type="body"/>
          </p:nvPr>
        </p:nvSpPr>
        <p:spPr>
          <a:xfrm>
            <a:off x="964751" y="1828800"/>
            <a:ext cx="10474200" cy="3657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80"/>
              <a:buChar char="▪"/>
            </a:pPr>
            <a:r>
              <a:rPr lang="en-US"/>
              <a:t>used during connection termination to allow duplicate FIN segments to be discarded at the destination</a:t>
            </a:r>
            <a:endParaRPr/>
          </a:p>
          <a:p>
            <a:pPr indent="-342900" lvl="0" marL="342900" rtl="0" algn="l">
              <a:spcBef>
                <a:spcPts val="520"/>
              </a:spcBef>
              <a:spcAft>
                <a:spcPts val="0"/>
              </a:spcAft>
              <a:buSzPts val="2080"/>
              <a:buChar char="▪"/>
            </a:pPr>
            <a:r>
              <a:rPr lang="en-US"/>
              <a:t>usually 2 times the expected lifetime of a segment (MSL – maximum segment lifetime) typically 120 sec</a:t>
            </a:r>
            <a:endParaRPr/>
          </a:p>
          <a:p>
            <a:pPr indent="-210820" lvl="0" marL="342900" rtl="0" algn="l">
              <a:spcBef>
                <a:spcPts val="520"/>
              </a:spcBef>
              <a:spcAft>
                <a:spcPts val="0"/>
              </a:spcAft>
              <a:buSzPts val="208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