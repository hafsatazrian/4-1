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9144000"/>
  <p:notesSz cx="7315200" cy="9601200"/>
  <p:embeddedFontLst>
    <p:embeddedFont>
      <p:font typeface="Arimo"/>
      <p:regular r:id="rId56"/>
      <p:bold r:id="rId57"/>
      <p:italic r:id="rId58"/>
      <p:boldItalic r:id="rId59"/>
    </p:embeddedFont>
    <p:embeddedFont>
      <p:font typeface="Tahoma"/>
      <p:regular r:id="rId60"/>
      <p:bold r:id="rId61"/>
    </p:embeddedFont>
    <p:embeddedFont>
      <p:font typeface="Helvetica Neue"/>
      <p:regular r:id="rId62"/>
      <p:bold r:id="rId63"/>
      <p:italic r:id="rId64"/>
      <p:boldItalic r:id="rId65"/>
    </p:embeddedFont>
    <p:embeddedFont>
      <p:font typeface="Gill Sans"/>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hkugd9anhyj3MKZKGWeaxdfuIj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16B8BC-E28C-42A0-8FFE-37260CA53259}">
  <a:tblStyle styleId="{8F16B8BC-E28C-42A0-8FFE-37260CA5325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regular.fntdata"/><Relationship Id="rId61" Type="http://schemas.openxmlformats.org/officeDocument/2006/relationships/font" Target="fonts/Tahoma-bold.fntdata"/><Relationship Id="rId20" Type="http://schemas.openxmlformats.org/officeDocument/2006/relationships/slide" Target="slides/slide14.xml"/><Relationship Id="rId64" Type="http://schemas.openxmlformats.org/officeDocument/2006/relationships/font" Target="fonts/HelveticaNeue-italic.fntdata"/><Relationship Id="rId63" Type="http://schemas.openxmlformats.org/officeDocument/2006/relationships/font" Target="fonts/HelveticaNeue-bold.fntdata"/><Relationship Id="rId22" Type="http://schemas.openxmlformats.org/officeDocument/2006/relationships/slide" Target="slides/slide16.xml"/><Relationship Id="rId66" Type="http://schemas.openxmlformats.org/officeDocument/2006/relationships/font" Target="fonts/GillSans-regular.fntdata"/><Relationship Id="rId21" Type="http://schemas.openxmlformats.org/officeDocument/2006/relationships/slide" Target="slides/slide15.xml"/><Relationship Id="rId65" Type="http://schemas.openxmlformats.org/officeDocument/2006/relationships/font" Target="fonts/HelveticaNeue-boldItalic.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GillSans-bold.fntdata"/><Relationship Id="rId60" Type="http://schemas.openxmlformats.org/officeDocument/2006/relationships/font" Target="fonts/Tahoma-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rimo-bold.fntdata"/><Relationship Id="rId12" Type="http://schemas.openxmlformats.org/officeDocument/2006/relationships/slide" Target="slides/slide6.xml"/><Relationship Id="rId56" Type="http://schemas.openxmlformats.org/officeDocument/2006/relationships/font" Target="fonts/Arimo-regular.fntdata"/><Relationship Id="rId15" Type="http://schemas.openxmlformats.org/officeDocument/2006/relationships/slide" Target="slides/slide9.xml"/><Relationship Id="rId59" Type="http://schemas.openxmlformats.org/officeDocument/2006/relationships/font" Target="fonts/Arimo-boldItalic.fntdata"/><Relationship Id="rId14" Type="http://schemas.openxmlformats.org/officeDocument/2006/relationships/slide" Target="slides/slide8.xml"/><Relationship Id="rId58" Type="http://schemas.openxmlformats.org/officeDocument/2006/relationships/font" Target="fonts/Arim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4963" y="0"/>
            <a:ext cx="3170237" cy="479425"/>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1775"/>
            <a:ext cx="3170238" cy="479425"/>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chemeClr val="dk1"/>
              </a:buClr>
              <a:buSzPts val="1300"/>
              <a:buFont typeface="Arial"/>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7ece01983c_3_0:notes"/>
          <p:cNvSpPr/>
          <p:nvPr>
            <p:ph idx="2" type="sldImg"/>
          </p:nvPr>
        </p:nvSpPr>
        <p:spPr>
          <a:xfrm>
            <a:off x="1463040" y="1200150"/>
            <a:ext cx="4389000" cy="3240300"/>
          </a:xfrm>
          <a:custGeom>
            <a:rect b="b" l="l" r="r" t="t"/>
            <a:pathLst>
              <a:path extrusionOk="0" h="120000" w="120000">
                <a:moveTo>
                  <a:pt x="0" y="0"/>
                </a:moveTo>
                <a:lnTo>
                  <a:pt x="120000" y="0"/>
                </a:lnTo>
                <a:lnTo>
                  <a:pt x="120000" y="120000"/>
                </a:lnTo>
                <a:lnTo>
                  <a:pt x="0" y="120000"/>
                </a:lnTo>
                <a:close/>
              </a:path>
            </a:pathLst>
          </a:custGeom>
          <a:noFill/>
          <a:ln cap="flat" cmpd="sng" w="13475">
            <a:solidFill>
              <a:srgbClr val="000000"/>
            </a:solidFill>
            <a:prstDash val="solid"/>
            <a:round/>
            <a:headEnd len="sm" w="sm" type="none"/>
            <a:tailEnd len="sm" w="sm" type="none"/>
          </a:ln>
        </p:spPr>
      </p:sp>
      <p:sp>
        <p:nvSpPr>
          <p:cNvPr id="119" name="Google Shape;119;g37ece01983c_3_0:notes"/>
          <p:cNvSpPr txBox="1"/>
          <p:nvPr>
            <p:ph idx="1" type="body"/>
          </p:nvPr>
        </p:nvSpPr>
        <p:spPr>
          <a:xfrm>
            <a:off x="731520" y="4620578"/>
            <a:ext cx="5852100" cy="3780600"/>
          </a:xfrm>
          <a:prstGeom prst="rect">
            <a:avLst/>
          </a:prstGeom>
          <a:noFill/>
          <a:ln>
            <a:noFill/>
          </a:ln>
        </p:spPr>
        <p:txBody>
          <a:bodyPr anchorCtr="0" anchor="t" bIns="48500" lIns="97000" spcFirstLastPara="1" rIns="97000" wrap="square" tIns="48500">
            <a:noAutofit/>
          </a:bodyPr>
          <a:lstStyle/>
          <a:p>
            <a:pPr indent="0" lvl="0" marL="0" rtl="0" algn="l">
              <a:spcBef>
                <a:spcPts val="0"/>
              </a:spcBef>
              <a:spcAft>
                <a:spcPts val="0"/>
              </a:spcAft>
              <a:buNone/>
            </a:pPr>
            <a:r>
              <a:rPr lang="en-US"/>
              <a:t>Version History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8.1. Updates throughout, including a lot more animations.  These are the ppt files used to make Chapter 2 online lectures in Sept. 2020.</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8.0  (April 2020)</a:t>
            </a:r>
            <a:endParaRPr/>
          </a:p>
          <a:p>
            <a:pPr indent="-184150" lvl="0" marL="177800" rtl="0" algn="l">
              <a:spcBef>
                <a:spcPts val="360"/>
              </a:spcBef>
              <a:spcAft>
                <a:spcPts val="0"/>
              </a:spcAft>
              <a:buClr>
                <a:schemeClr val="dk1"/>
              </a:buClr>
              <a:buSzPts val="1300"/>
              <a:buFont typeface="Arial"/>
              <a:buChar char="•"/>
            </a:pPr>
            <a:r>
              <a:rPr lang="en-US"/>
              <a:t>All slides reformatted for 16:9 aspect ratio</a:t>
            </a:r>
            <a:endParaRPr/>
          </a:p>
          <a:p>
            <a:pPr indent="-184150" lvl="0" marL="177800" rtl="0" algn="l">
              <a:spcBef>
                <a:spcPts val="360"/>
              </a:spcBef>
              <a:spcAft>
                <a:spcPts val="0"/>
              </a:spcAft>
              <a:buClr>
                <a:schemeClr val="dk1"/>
              </a:buClr>
              <a:buSzPts val="1300"/>
              <a:buFont typeface="Arial"/>
              <a:buChar char="•"/>
            </a:pPr>
            <a:r>
              <a:rPr lang="en-US"/>
              <a:t>All slides updated to 8</a:t>
            </a:r>
            <a:r>
              <a:rPr baseline="30000" lang="en-US"/>
              <a:t>th</a:t>
            </a:r>
            <a:r>
              <a:rPr lang="en-US"/>
              <a:t> edition material</a:t>
            </a:r>
            <a:endParaRPr/>
          </a:p>
          <a:p>
            <a:pPr indent="-184150" lvl="0" marL="177800" rtl="0" algn="l">
              <a:spcBef>
                <a:spcPts val="360"/>
              </a:spcBef>
              <a:spcAft>
                <a:spcPts val="0"/>
              </a:spcAft>
              <a:buClr>
                <a:schemeClr val="dk1"/>
              </a:buClr>
              <a:buSzPts val="1300"/>
              <a:buFont typeface="Arial"/>
              <a:buChar char="•"/>
            </a:pPr>
            <a:r>
              <a:rPr lang="en-US"/>
              <a:t>Use of Calibri font, rather that Gill Sans MT</a:t>
            </a:r>
            <a:endParaRPr/>
          </a:p>
          <a:p>
            <a:pPr indent="-184150" lvl="0" marL="177800" rtl="0" algn="l">
              <a:spcBef>
                <a:spcPts val="360"/>
              </a:spcBef>
              <a:spcAft>
                <a:spcPts val="0"/>
              </a:spcAft>
              <a:buClr>
                <a:schemeClr val="dk1"/>
              </a:buClr>
              <a:buSzPts val="1300"/>
              <a:buFont typeface="Arial"/>
              <a:buChar char="•"/>
            </a:pPr>
            <a:r>
              <a:rPr lang="en-US"/>
              <a:t>Add LOTS more animation throughout</a:t>
            </a:r>
            <a:endParaRPr/>
          </a:p>
        </p:txBody>
      </p:sp>
      <p:sp>
        <p:nvSpPr>
          <p:cNvPr id="120" name="Google Shape;120;g37ece01983c_3_0:notes"/>
          <p:cNvSpPr txBox="1"/>
          <p:nvPr>
            <p:ph idx="12" type="sldNum"/>
          </p:nvPr>
        </p:nvSpPr>
        <p:spPr>
          <a:xfrm>
            <a:off x="4143587" y="9119474"/>
            <a:ext cx="3169800" cy="481500"/>
          </a:xfrm>
          <a:prstGeom prst="rect">
            <a:avLst/>
          </a:prstGeom>
          <a:noFill/>
          <a:ln>
            <a:noFill/>
          </a:ln>
        </p:spPr>
        <p:txBody>
          <a:bodyPr anchorCtr="0" anchor="b" bIns="48500" lIns="97000" spcFirstLastPara="1" rIns="97000" wrap="square" tIns="48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Clr>
                <a:schemeClr val="dk1"/>
              </a:buClr>
              <a:buSzPts val="1300"/>
              <a:buFont typeface="Times New Roman"/>
              <a:buNone/>
            </a:pPr>
            <a:fld id="{00000000-1234-1234-1234-123412341234}" type="slidenum">
              <a:rPr lang="en-US"/>
              <a:t>‹#›</a:t>
            </a:fld>
            <a:endParaRPr/>
          </a:p>
        </p:txBody>
      </p:sp>
      <p:sp>
        <p:nvSpPr>
          <p:cNvPr id="126" name="Google Shape;126;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6" name="Google Shape;136;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7" name="Google Shape;147;p1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1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67" name="Google Shape;367;p1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71" name="Google Shape;571;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81" name="Google Shape;58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94" name="Google Shape;594;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10" name="Google Shape;610;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27" name="Google Shape;627;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47" name="Google Shape;647;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1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57" name="Google Shape;657;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8" name="Google Shape;658;p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p1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74" name="Google Shape;674;p1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84" name="Google Shape;684;p1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 name="Google Shape;694;p1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95" name="Google Shape;695;p1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7" name="Google Shape;707;p1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08" name="Google Shape;708;p1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1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22" name="Google Shape;722;p1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4" name="Google Shape;734;p1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35" name="Google Shape;735;p1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p1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69" name="Google Shape;869;p1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79" name="Google Shape;879;p2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6" name="Google Shape;896;p2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97" name="Google Shape;897;p2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4" name="Google Shape;904;p2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05" name="Google Shape;905;p2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0" name="Google Shape;920;p2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21" name="Google Shape;921;p2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7" name="Google Shape;937;p2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38" name="Google Shape;938;p2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8" name="Google Shape;948;p2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49" name="Google Shape;949;p2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9" name="Google Shape;1079;p2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080" name="Google Shape;1080;p2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2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10" name="Google Shape;1210;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7" name="Google Shape;1217;p2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18" name="Google Shape;1218;p2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2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33" name="Google Shape;1233;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3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40" name="Google Shape;1240;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3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47" name="Google Shape;1247;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3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55" name="Google Shape;1255;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3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61" name="Google Shape;1261;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3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67" name="Google Shape;1267;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3" name="Google Shape;1273;p3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74" name="Google Shape;1274;p3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3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84" name="Google Shape;1284;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3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11" name="Google Shape;1311;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2" name="Google Shape;1312;p3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3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25" name="Google Shape;1325;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6" name="Google Shape;1326;p3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3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39" name="Google Shape;1339;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4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46" name="Google Shape;1346;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4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53" name="Google Shape;1353;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4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67" name="Google Shape;1367;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4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74" name="Google Shape;1374;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4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81" name="Google Shape;1381;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4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89" name="Google Shape;1389;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4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97" name="Google Shape;1397;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4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06" name="Google Shape;1406;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p4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22" name="Google Shape;1422;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4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30" name="Google Shape;1430;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85000"/>
              </a:lnSpc>
              <a:spcBef>
                <a:spcPts val="560"/>
              </a:spcBef>
              <a:spcAft>
                <a:spcPts val="0"/>
              </a:spcAft>
              <a:buSzPts val="1820"/>
              <a:buNone/>
              <a:defRPr/>
            </a:lvl1pPr>
            <a:lvl2pPr lvl="1" algn="ctr">
              <a:lnSpc>
                <a:spcPct val="85000"/>
              </a:lnSpc>
              <a:spcBef>
                <a:spcPts val="480"/>
              </a:spcBef>
              <a:spcAft>
                <a:spcPts val="0"/>
              </a:spcAft>
              <a:buSzPts val="2400"/>
              <a:buNone/>
              <a:defRPr/>
            </a:lvl2pPr>
            <a:lvl3pPr lvl="2" algn="ctr">
              <a:lnSpc>
                <a:spcPct val="100000"/>
              </a:lnSpc>
              <a:spcBef>
                <a:spcPts val="400"/>
              </a:spcBef>
              <a:spcAft>
                <a:spcPts val="0"/>
              </a:spcAft>
              <a:buClr>
                <a:schemeClr val="dk1"/>
              </a:buClr>
              <a:buSzPts val="2000"/>
              <a:buFont typeface="Comic Sans MS"/>
              <a:buNone/>
              <a:defRPr/>
            </a:lvl3pPr>
            <a:lvl4pPr lvl="3" algn="ctr">
              <a:lnSpc>
                <a:spcPct val="100000"/>
              </a:lnSpc>
              <a:spcBef>
                <a:spcPts val="400"/>
              </a:spcBef>
              <a:spcAft>
                <a:spcPts val="0"/>
              </a:spcAft>
              <a:buClr>
                <a:schemeClr val="dk1"/>
              </a:buClr>
              <a:buSzPts val="2000"/>
              <a:buFont typeface="Times New Roman"/>
              <a:buNone/>
              <a:defRPr/>
            </a:lvl4pPr>
            <a:lvl5pPr lvl="4" algn="ctr">
              <a:lnSpc>
                <a:spcPct val="100000"/>
              </a:lnSpc>
              <a:spcBef>
                <a:spcPts val="400"/>
              </a:spcBef>
              <a:spcAft>
                <a:spcPts val="0"/>
              </a:spcAft>
              <a:buClr>
                <a:schemeClr val="dk1"/>
              </a:buClr>
              <a:buSzPts val="2000"/>
              <a:buFont typeface="Times New Roman"/>
              <a:buNone/>
              <a:defRPr/>
            </a:lvl5pPr>
            <a:lvl6pPr lvl="5" algn="ctr">
              <a:lnSpc>
                <a:spcPct val="100000"/>
              </a:lnSpc>
              <a:spcBef>
                <a:spcPts val="400"/>
              </a:spcBef>
              <a:spcAft>
                <a:spcPts val="0"/>
              </a:spcAft>
              <a:buClr>
                <a:schemeClr val="dk1"/>
              </a:buClr>
              <a:buSzPts val="2000"/>
              <a:buFont typeface="Times New Roman"/>
              <a:buNone/>
              <a:defRPr/>
            </a:lvl6pPr>
            <a:lvl7pPr lvl="6" algn="ctr">
              <a:lnSpc>
                <a:spcPct val="100000"/>
              </a:lnSpc>
              <a:spcBef>
                <a:spcPts val="400"/>
              </a:spcBef>
              <a:spcAft>
                <a:spcPts val="0"/>
              </a:spcAft>
              <a:buClr>
                <a:schemeClr val="dk1"/>
              </a:buClr>
              <a:buSzPts val="2000"/>
              <a:buFont typeface="Times New Roman"/>
              <a:buNone/>
              <a:defRPr/>
            </a:lvl7pPr>
            <a:lvl8pPr lvl="7" algn="ctr">
              <a:lnSpc>
                <a:spcPct val="100000"/>
              </a:lnSpc>
              <a:spcBef>
                <a:spcPts val="400"/>
              </a:spcBef>
              <a:spcAft>
                <a:spcPts val="0"/>
              </a:spcAft>
              <a:buClr>
                <a:schemeClr val="dk1"/>
              </a:buClr>
              <a:buSzPts val="2000"/>
              <a:buFont typeface="Times New Roman"/>
              <a:buNone/>
              <a:defRPr/>
            </a:lvl8pPr>
            <a:lvl9pPr lvl="8" algn="ctr">
              <a:lnSpc>
                <a:spcPct val="100000"/>
              </a:lnSpc>
              <a:spcBef>
                <a:spcPts val="400"/>
              </a:spcBef>
              <a:spcAft>
                <a:spcPts val="0"/>
              </a:spcAft>
              <a:buClr>
                <a:schemeClr val="dk1"/>
              </a:buClr>
              <a:buSzPts val="2000"/>
              <a:buFont typeface="Times New Roman"/>
              <a:buNone/>
              <a:defRPr/>
            </a:lvl9pPr>
          </a:lstStyle>
          <a:p/>
        </p:txBody>
      </p:sp>
      <p:sp>
        <p:nvSpPr>
          <p:cNvPr id="18" name="Google Shape;18;p51"/>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2"/>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53"/>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00000"/>
              </a:lnSpc>
              <a:spcBef>
                <a:spcPts val="400"/>
              </a:spcBef>
              <a:spcAft>
                <a:spcPts val="0"/>
              </a:spcAft>
              <a:buClr>
                <a:schemeClr val="dk1"/>
              </a:buClr>
              <a:buSzPts val="2000"/>
              <a:buFont typeface="Comic Sans MS"/>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4" name="Google Shape;34;p54"/>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00000"/>
              </a:lnSpc>
              <a:spcBef>
                <a:spcPts val="400"/>
              </a:spcBef>
              <a:spcAft>
                <a:spcPts val="0"/>
              </a:spcAft>
              <a:buClr>
                <a:schemeClr val="dk1"/>
              </a:buClr>
              <a:buSzPts val="2000"/>
              <a:buFont typeface="Comic Sans MS"/>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5" name="Google Shape;35;p54"/>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55"/>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5"/>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3" name="Shape 43"/>
        <p:cNvGrpSpPr/>
        <p:nvPr/>
      </p:nvGrpSpPr>
      <p:grpSpPr>
        <a:xfrm>
          <a:off x="0" y="0"/>
          <a:ext cx="0" cy="0"/>
          <a:chOff x="0" y="0"/>
          <a:chExt cx="0" cy="0"/>
        </a:xfrm>
      </p:grpSpPr>
      <p:sp>
        <p:nvSpPr>
          <p:cNvPr id="44" name="Google Shape;44;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6"/>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5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00"/>
              </a:spcBef>
              <a:spcAft>
                <a:spcPts val="0"/>
              </a:spcAft>
              <a:buSzPts val="1300"/>
              <a:buNone/>
              <a:defRPr sz="2000"/>
            </a:lvl1pPr>
            <a:lvl2pPr indent="-228600" lvl="1" marL="914400" algn="l">
              <a:lnSpc>
                <a:spcPct val="85000"/>
              </a:lnSpc>
              <a:spcBef>
                <a:spcPts val="360"/>
              </a:spcBef>
              <a:spcAft>
                <a:spcPts val="0"/>
              </a:spcAft>
              <a:buSzPts val="1800"/>
              <a:buNone/>
              <a:defRPr sz="1800"/>
            </a:lvl2pPr>
            <a:lvl3pPr indent="-228600" lvl="2" marL="1371600" algn="l">
              <a:lnSpc>
                <a:spcPct val="100000"/>
              </a:lnSpc>
              <a:spcBef>
                <a:spcPts val="320"/>
              </a:spcBef>
              <a:spcAft>
                <a:spcPts val="0"/>
              </a:spcAft>
              <a:buClr>
                <a:schemeClr val="dk1"/>
              </a:buClr>
              <a:buSzPts val="1600"/>
              <a:buFont typeface="Comic Sans MS"/>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51" name="Google Shape;51;p57"/>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7"/>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lnSpc>
                <a:spcPct val="100000"/>
              </a:lnSpc>
              <a:spcBef>
                <a:spcPts val="360"/>
              </a:spcBef>
              <a:spcAft>
                <a:spcPts val="0"/>
              </a:spcAft>
              <a:buClr>
                <a:schemeClr val="dk1"/>
              </a:buClr>
              <a:buSzPts val="1800"/>
              <a:buFont typeface="Comic Sans MS"/>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7" name="Google Shape;57;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lnSpc>
                <a:spcPct val="100000"/>
              </a:lnSpc>
              <a:spcBef>
                <a:spcPts val="360"/>
              </a:spcBef>
              <a:spcAft>
                <a:spcPts val="0"/>
              </a:spcAft>
              <a:buClr>
                <a:schemeClr val="dk1"/>
              </a:buClr>
              <a:buSzPts val="1800"/>
              <a:buFont typeface="Comic Sans MS"/>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58" name="Google Shape;58;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lnSpc>
                <a:spcPct val="100000"/>
              </a:lnSpc>
              <a:spcBef>
                <a:spcPts val="360"/>
              </a:spcBef>
              <a:spcAft>
                <a:spcPts val="0"/>
              </a:spcAft>
              <a:buClr>
                <a:schemeClr val="dk1"/>
              </a:buClr>
              <a:buSzPts val="1800"/>
              <a:buFont typeface="Comic Sans MS"/>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9" name="Google Shape;59;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lnSpc>
                <a:spcPct val="100000"/>
              </a:lnSpc>
              <a:spcBef>
                <a:spcPts val="360"/>
              </a:spcBef>
              <a:spcAft>
                <a:spcPts val="0"/>
              </a:spcAft>
              <a:buClr>
                <a:schemeClr val="dk1"/>
              </a:buClr>
              <a:buSzPts val="1800"/>
              <a:buFont typeface="Comic Sans MS"/>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60" name="Google Shape;60;p58"/>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8"/>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60680" lvl="0" marL="457200" algn="l">
              <a:lnSpc>
                <a:spcPct val="85000"/>
              </a:lnSpc>
              <a:spcBef>
                <a:spcPts val="640"/>
              </a:spcBef>
              <a:spcAft>
                <a:spcPts val="0"/>
              </a:spcAft>
              <a:buSzPts val="2080"/>
              <a:buChar char="❖"/>
              <a:defRPr sz="3200"/>
            </a:lvl1pPr>
            <a:lvl2pPr indent="-406400" lvl="1" marL="914400" algn="l">
              <a:lnSpc>
                <a:spcPct val="85000"/>
              </a:lnSpc>
              <a:spcBef>
                <a:spcPts val="560"/>
              </a:spcBef>
              <a:spcAft>
                <a:spcPts val="0"/>
              </a:spcAft>
              <a:buSzPts val="2800"/>
              <a:buChar char="▪"/>
              <a:defRPr sz="2800"/>
            </a:lvl2pPr>
            <a:lvl3pPr indent="-381000" lvl="2" marL="1371600" algn="l">
              <a:lnSpc>
                <a:spcPct val="100000"/>
              </a:lnSpc>
              <a:spcBef>
                <a:spcPts val="480"/>
              </a:spcBef>
              <a:spcAft>
                <a:spcPts val="0"/>
              </a:spcAft>
              <a:buClr>
                <a:schemeClr val="dk1"/>
              </a:buClr>
              <a:buSzPts val="2400"/>
              <a:buFont typeface="Comic Sans MS"/>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66" name="Google Shape;66;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lnSpc>
                <a:spcPct val="100000"/>
              </a:lnSpc>
              <a:spcBef>
                <a:spcPts val="200"/>
              </a:spcBef>
              <a:spcAft>
                <a:spcPts val="0"/>
              </a:spcAft>
              <a:buClr>
                <a:schemeClr val="dk1"/>
              </a:buClr>
              <a:buSzPts val="1000"/>
              <a:buFont typeface="Comic Sans MS"/>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67" name="Google Shape;67;p59"/>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0"/>
          <p:cNvSpPr/>
          <p:nvPr>
            <p:ph idx="2" type="pic"/>
          </p:nvPr>
        </p:nvSpPr>
        <p:spPr>
          <a:xfrm>
            <a:off x="1792288" y="612775"/>
            <a:ext cx="5486400" cy="4114800"/>
          </a:xfrm>
          <a:prstGeom prst="rect">
            <a:avLst/>
          </a:prstGeom>
          <a:noFill/>
          <a:ln>
            <a:noFill/>
          </a:ln>
        </p:spPr>
      </p:sp>
      <p:sp>
        <p:nvSpPr>
          <p:cNvPr id="73" name="Google Shape;73;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lnSpc>
                <a:spcPct val="100000"/>
              </a:lnSpc>
              <a:spcBef>
                <a:spcPts val="200"/>
              </a:spcBef>
              <a:spcAft>
                <a:spcPts val="0"/>
              </a:spcAft>
              <a:buClr>
                <a:schemeClr val="dk1"/>
              </a:buClr>
              <a:buSzPts val="1000"/>
              <a:buFont typeface="Comic Sans MS"/>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74" name="Google Shape;74;p60"/>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6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1"/>
          <p:cNvSpPr txBox="1"/>
          <p:nvPr>
            <p:ph idx="1" type="body"/>
          </p:nvPr>
        </p:nvSpPr>
        <p:spPr>
          <a:xfrm rot="5400000">
            <a:off x="1889917" y="-581818"/>
            <a:ext cx="5386389" cy="8836025"/>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61"/>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62"/>
          <p:cNvSpPr txBox="1"/>
          <p:nvPr>
            <p:ph type="title"/>
          </p:nvPr>
        </p:nvSpPr>
        <p:spPr>
          <a:xfrm rot="5400000">
            <a:off x="4324350" y="2266950"/>
            <a:ext cx="6019800" cy="1943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2"/>
          <p:cNvSpPr txBox="1"/>
          <p:nvPr>
            <p:ph idx="1" type="body"/>
          </p:nvPr>
        </p:nvSpPr>
        <p:spPr>
          <a:xfrm rot="5400000">
            <a:off x="361950" y="400050"/>
            <a:ext cx="6019800" cy="5676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62"/>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89" name="Shape 89"/>
        <p:cNvGrpSpPr/>
        <p:nvPr/>
      </p:nvGrpSpPr>
      <p:grpSpPr>
        <a:xfrm>
          <a:off x="0" y="0"/>
          <a:ext cx="0" cy="0"/>
          <a:chOff x="0" y="0"/>
          <a:chExt cx="0" cy="0"/>
        </a:xfrm>
      </p:grpSpPr>
      <p:sp>
        <p:nvSpPr>
          <p:cNvPr id="90" name="Google Shape;90;p6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3"/>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63"/>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63"/>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96" name="Shape 96"/>
        <p:cNvGrpSpPr/>
        <p:nvPr/>
      </p:nvGrpSpPr>
      <p:grpSpPr>
        <a:xfrm>
          <a:off x="0" y="0"/>
          <a:ext cx="0" cy="0"/>
          <a:chOff x="0" y="0"/>
          <a:chExt cx="0" cy="0"/>
        </a:xfrm>
      </p:grpSpPr>
      <p:sp>
        <p:nvSpPr>
          <p:cNvPr id="97" name="Google Shape;97;p6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4"/>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64"/>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64"/>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103" name="Shape 103"/>
        <p:cNvGrpSpPr/>
        <p:nvPr/>
      </p:nvGrpSpPr>
      <p:grpSpPr>
        <a:xfrm>
          <a:off x="0" y="0"/>
          <a:ext cx="0" cy="0"/>
          <a:chOff x="0" y="0"/>
          <a:chExt cx="0" cy="0"/>
        </a:xfrm>
      </p:grpSpPr>
      <p:sp>
        <p:nvSpPr>
          <p:cNvPr id="104" name="Google Shape;104;p6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65"/>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p65"/>
          <p:cNvSpPr/>
          <p:nvPr>
            <p:ph idx="2" type="chart"/>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lvl="0" marR="0" rtl="0" algn="l">
              <a:lnSpc>
                <a:spcPct val="85000"/>
              </a:lnSpc>
              <a:spcBef>
                <a:spcPts val="560"/>
              </a:spcBef>
              <a:spcAft>
                <a:spcPts val="0"/>
              </a:spcAft>
              <a:buClr>
                <a:srgbClr val="000099"/>
              </a:buClr>
              <a:buSzPts val="1820"/>
              <a:buFont typeface="Noto Sans Symbols"/>
              <a:buChar char="❖"/>
              <a:defRPr b="0" i="0" sz="2800" u="none" cap="none" strike="noStrike">
                <a:solidFill>
                  <a:schemeClr val="dk1"/>
                </a:solidFill>
                <a:latin typeface="Gill Sans"/>
                <a:ea typeface="Gill Sans"/>
                <a:cs typeface="Gill Sans"/>
                <a:sym typeface="Gill Sans"/>
              </a:defRPr>
            </a:lvl1pPr>
            <a:lvl2pPr lvl="1" marR="0" rtl="0" algn="l">
              <a:lnSpc>
                <a:spcPct val="85000"/>
              </a:lnSpc>
              <a:spcBef>
                <a:spcPts val="480"/>
              </a:spcBef>
              <a:spcAft>
                <a:spcPts val="0"/>
              </a:spcAft>
              <a:buClr>
                <a:srgbClr val="000099"/>
              </a:buClr>
              <a:buSzPts val="2400"/>
              <a:buFont typeface="Noto Sans Symbols"/>
              <a:buChar char="▪"/>
              <a:defRPr b="0" i="0" sz="2400" u="none" cap="none" strike="noStrike">
                <a:solidFill>
                  <a:schemeClr val="dk1"/>
                </a:solidFill>
                <a:latin typeface="Gill Sans"/>
                <a:ea typeface="Gill Sans"/>
                <a:cs typeface="Gill Sans"/>
                <a:sym typeface="Gill Sans"/>
              </a:defRPr>
            </a:lvl2pPr>
            <a:lvl3pPr lvl="2" marR="0" rtl="0" algn="l">
              <a:lnSpc>
                <a:spcPct val="100000"/>
              </a:lnSpc>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lvl="3"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07" name="Google Shape;107;p65"/>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110" name="Shape 110"/>
        <p:cNvGrpSpPr/>
        <p:nvPr/>
      </p:nvGrpSpPr>
      <p:grpSpPr>
        <a:xfrm>
          <a:off x="0" y="0"/>
          <a:ext cx="0" cy="0"/>
          <a:chOff x="0" y="0"/>
          <a:chExt cx="0" cy="0"/>
        </a:xfrm>
      </p:grpSpPr>
      <p:sp>
        <p:nvSpPr>
          <p:cNvPr id="111" name="Google Shape;111;p6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66"/>
          <p:cNvSpPr txBox="1"/>
          <p:nvPr>
            <p:ph idx="1" type="body"/>
          </p:nvPr>
        </p:nvSpPr>
        <p:spPr>
          <a:xfrm>
            <a:off x="533400" y="1600200"/>
            <a:ext cx="77724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3" name="Google Shape;113;p66"/>
          <p:cNvSpPr txBox="1"/>
          <p:nvPr>
            <p:ph idx="2" type="body"/>
          </p:nvPr>
        </p:nvSpPr>
        <p:spPr>
          <a:xfrm>
            <a:off x="533400" y="4000500"/>
            <a:ext cx="77724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4" name="Google Shape;114;p66"/>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6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6pPr>
            <a:lvl7pPr lvl="6"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7pPr>
            <a:lvl8pPr lvl="7"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8pPr>
            <a:lvl9pPr lvl="8"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9pPr>
          </a:lstStyle>
          <a:p/>
        </p:txBody>
      </p:sp>
      <p:sp>
        <p:nvSpPr>
          <p:cNvPr id="11" name="Google Shape;11;p5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lvl1pPr indent="-344170" lvl="0" marL="457200" marR="0" rtl="0" algn="l">
              <a:lnSpc>
                <a:spcPct val="85000"/>
              </a:lnSpc>
              <a:spcBef>
                <a:spcPts val="560"/>
              </a:spcBef>
              <a:spcAft>
                <a:spcPts val="0"/>
              </a:spcAft>
              <a:buClr>
                <a:srgbClr val="000099"/>
              </a:buClr>
              <a:buSzPts val="182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85000"/>
              </a:lnSpc>
              <a:spcBef>
                <a:spcPts val="480"/>
              </a:spcBef>
              <a:spcAft>
                <a:spcPts val="0"/>
              </a:spcAft>
              <a:buClr>
                <a:srgbClr val="000099"/>
              </a:buClr>
              <a:buSzPts val="2400"/>
              <a:buFont typeface="Noto Sans Symbols"/>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50"/>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13" name="Google Shape;13;p5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14" name="Google Shape;14;p5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30.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32.png"/><Relationship Id="rId13" Type="http://schemas.openxmlformats.org/officeDocument/2006/relationships/image" Target="../media/image1.png"/><Relationship Id="rId12" Type="http://schemas.openxmlformats.org/officeDocument/2006/relationships/image" Target="../media/image39.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2.png"/><Relationship Id="rId9" Type="http://schemas.openxmlformats.org/officeDocument/2006/relationships/image" Target="../media/image35.pn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image" Target="../media/image25.png"/><Relationship Id="rId8"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2.png"/><Relationship Id="rId5"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40.png"/><Relationship Id="rId6"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43.png"/><Relationship Id="rId6"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9.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58.png"/><Relationship Id="rId5" Type="http://schemas.openxmlformats.org/officeDocument/2006/relationships/image" Target="../media/image57.png"/><Relationship Id="rId6" Type="http://schemas.openxmlformats.org/officeDocument/2006/relationships/image" Target="../media/image52.png"/><Relationship Id="rId7" Type="http://schemas.openxmlformats.org/officeDocument/2006/relationships/image" Target="../media/image56.png"/><Relationship Id="rId8"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1.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66.png"/><Relationship Id="rId7"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7ece01983c_3_0"/>
          <p:cNvSpPr/>
          <p:nvPr/>
        </p:nvSpPr>
        <p:spPr>
          <a:xfrm>
            <a:off x="0" y="2384201"/>
            <a:ext cx="9144000" cy="20481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2</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Application Layer</a:t>
            </a:r>
            <a:endParaRPr b="1" i="0" sz="5400" u="none" cap="none" strike="noStrike">
              <a:solidFill>
                <a:srgbClr val="000099"/>
              </a:solidFill>
              <a:latin typeface="Calibri"/>
              <a:ea typeface="Calibri"/>
              <a:cs typeface="Calibri"/>
              <a:sym typeface="Calibri"/>
            </a:endParaRPr>
          </a:p>
          <a:p>
            <a:pPr indent="0" lvl="0" marL="0" marR="0" rtl="0" algn="ctr">
              <a:lnSpc>
                <a:spcPct val="85000"/>
              </a:lnSpc>
              <a:spcBef>
                <a:spcPts val="0"/>
              </a:spcBef>
              <a:spcAft>
                <a:spcPts val="0"/>
              </a:spcAft>
              <a:buNone/>
            </a:pPr>
            <a:r>
              <a:rPr b="1" lang="en-US" sz="5400">
                <a:solidFill>
                  <a:srgbClr val="DD7E6B"/>
                </a:solidFill>
                <a:latin typeface="Calibri"/>
                <a:ea typeface="Calibri"/>
                <a:cs typeface="Calibri"/>
                <a:sym typeface="Calibri"/>
              </a:rPr>
              <a:t>Email</a:t>
            </a:r>
            <a:endParaRPr b="1" sz="5400">
              <a:solidFill>
                <a:srgbClr val="DD7E6B"/>
              </a:solidFill>
              <a:latin typeface="Calibri"/>
              <a:ea typeface="Calibri"/>
              <a:cs typeface="Calibri"/>
              <a:sym typeface="Calibri"/>
            </a:endParaRPr>
          </a:p>
        </p:txBody>
      </p:sp>
      <p:sp>
        <p:nvSpPr>
          <p:cNvPr id="123" name="Google Shape;123;g37ece01983c_3_0"/>
          <p:cNvSpPr txBox="1"/>
          <p:nvPr>
            <p:ph idx="12" type="sldNum"/>
          </p:nvPr>
        </p:nvSpPr>
        <p:spPr>
          <a:xfrm>
            <a:off x="6243638" y="6462713"/>
            <a:ext cx="507000" cy="276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2-</a:t>
            </a: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accent6"/>
                </a:solidFill>
              </a:rPr>
              <a:t>Email</a:t>
            </a:r>
            <a:endParaRPr/>
          </a:p>
        </p:txBody>
      </p:sp>
      <p:sp>
        <p:nvSpPr>
          <p:cNvPr id="130" name="Google Shape;130;p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One of the most popular Internet services is electronic mail (e-mail). </a:t>
            </a:r>
            <a:endParaRPr/>
          </a:p>
          <a:p>
            <a:pPr indent="-342900" lvl="0" marL="342900" rtl="0" algn="l">
              <a:lnSpc>
                <a:spcPct val="85000"/>
              </a:lnSpc>
              <a:spcBef>
                <a:spcPts val="560"/>
              </a:spcBef>
              <a:spcAft>
                <a:spcPts val="0"/>
              </a:spcAft>
              <a:buSzPts val="1820"/>
              <a:buChar char="❖"/>
            </a:pPr>
            <a:r>
              <a:rPr lang="en-US"/>
              <a:t>The designers of the Internet probably never imagined the popularity of this application program. </a:t>
            </a:r>
            <a:endParaRPr/>
          </a:p>
          <a:p>
            <a:pPr indent="-342900" lvl="0" marL="342900" rtl="0" algn="l">
              <a:lnSpc>
                <a:spcPct val="85000"/>
              </a:lnSpc>
              <a:spcBef>
                <a:spcPts val="560"/>
              </a:spcBef>
              <a:spcAft>
                <a:spcPts val="0"/>
              </a:spcAft>
              <a:buSzPts val="1820"/>
              <a:buChar char="❖"/>
            </a:pPr>
            <a:r>
              <a:rPr lang="en-US"/>
              <a:t>Its architecture consists of several components that we discuss in this chapter.</a:t>
            </a:r>
            <a:endParaRPr/>
          </a:p>
          <a:p>
            <a:pPr indent="-227330" lvl="0" marL="342900" rtl="0" algn="l">
              <a:lnSpc>
                <a:spcPct val="85000"/>
              </a:lnSpc>
              <a:spcBef>
                <a:spcPts val="560"/>
              </a:spcBef>
              <a:spcAft>
                <a:spcPts val="0"/>
              </a:spcAft>
              <a:buSzPts val="1820"/>
              <a:buNone/>
            </a:pPr>
            <a:r>
              <a:t/>
            </a:r>
            <a:endParaRPr/>
          </a:p>
        </p:txBody>
      </p:sp>
      <p:sp>
        <p:nvSpPr>
          <p:cNvPr id="131" name="Google Shape;131;p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26.</a:t>
            </a:r>
            <a:fld id="{00000000-1234-1234-1234-123412341234}" type="slidenum">
              <a:rPr lang="en-US"/>
              <a:t>‹#›</a:t>
            </a:fld>
            <a:endParaRPr/>
          </a:p>
        </p:txBody>
      </p:sp>
      <p:sp>
        <p:nvSpPr>
          <p:cNvPr id="132" name="Google Shape;132;p2"/>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underline_base" id="133" name="Google Shape;133;p2"/>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140" name="Google Shape;140;p9"/>
          <p:cNvSpPr txBox="1"/>
          <p:nvPr/>
        </p:nvSpPr>
        <p:spPr>
          <a:xfrm>
            <a:off x="228600" y="355600"/>
            <a:ext cx="8915400" cy="646500"/>
          </a:xfrm>
          <a:prstGeom prst="rect">
            <a:avLst/>
          </a:prstGeom>
          <a:no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a:ea typeface="Times"/>
                <a:cs typeface="Times"/>
                <a:sym typeface="Times"/>
              </a:rPr>
              <a:t>User Agent</a:t>
            </a:r>
            <a:endParaRPr b="0" i="0" sz="1400" u="none" cap="none" strike="noStrike">
              <a:solidFill>
                <a:srgbClr val="000000"/>
              </a:solidFill>
              <a:latin typeface="Arial"/>
              <a:ea typeface="Arial"/>
              <a:cs typeface="Arial"/>
              <a:sym typeface="Arial"/>
            </a:endParaRPr>
          </a:p>
        </p:txBody>
      </p:sp>
      <p:sp>
        <p:nvSpPr>
          <p:cNvPr id="141" name="Google Shape;141;p9"/>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sp>
        <p:nvSpPr>
          <p:cNvPr id="142" name="Google Shape;142;p9"/>
          <p:cNvSpPr/>
          <p:nvPr/>
        </p:nvSpPr>
        <p:spPr>
          <a:xfrm>
            <a:off x="381000" y="1524000"/>
            <a:ext cx="8534400" cy="241912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mo"/>
                <a:ea typeface="Arimo"/>
                <a:cs typeface="Arimo"/>
                <a:sym typeface="Arimo"/>
              </a:rPr>
              <a:t>It provides service to the user to make the process of sending and receiving a message easier.</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mo"/>
                <a:ea typeface="Arimo"/>
                <a:cs typeface="Arimo"/>
                <a:sym typeface="Arimo"/>
              </a:rPr>
              <a:t>e.g., Outlook, Thunderbird, iPhone mail client</a:t>
            </a:r>
            <a:endParaRPr b="0" i="0" sz="1400" u="none" cap="none" strike="noStrike">
              <a:solidFill>
                <a:srgbClr val="000000"/>
              </a:solidFill>
              <a:latin typeface="Arial"/>
              <a:ea typeface="Arial"/>
              <a:cs typeface="Arial"/>
              <a:sym typeface="Arial"/>
            </a:endParaRPr>
          </a:p>
          <a:p>
            <a:pPr indent="-306070" lvl="0" marL="457200" marR="0" rtl="0" algn="just">
              <a:lnSpc>
                <a:spcPct val="100000"/>
              </a:lnSpc>
              <a:spcBef>
                <a:spcPts val="560"/>
              </a:spcBef>
              <a:spcAft>
                <a:spcPts val="0"/>
              </a:spcAft>
              <a:buClr>
                <a:schemeClr val="accent2"/>
              </a:buClr>
              <a:buSzPts val="2380"/>
              <a:buFont typeface="Arial"/>
              <a:buNone/>
            </a:pPr>
            <a:r>
              <a:t/>
            </a:r>
            <a:endParaRPr b="0" i="0" sz="2800" u="none" cap="none" strike="noStrike">
              <a:solidFill>
                <a:schemeClr val="dk1"/>
              </a:solidFill>
              <a:latin typeface="Arimo"/>
              <a:ea typeface="Arimo"/>
              <a:cs typeface="Arimo"/>
              <a:sym typeface="Arimo"/>
            </a:endParaRPr>
          </a:p>
        </p:txBody>
      </p:sp>
      <p:pic>
        <p:nvPicPr>
          <p:cNvPr id="143" name="Google Shape;143;p9"/>
          <p:cNvPicPr preferRelativeResize="0"/>
          <p:nvPr/>
        </p:nvPicPr>
        <p:blipFill rotWithShape="1">
          <a:blip r:embed="rId3">
            <a:alphaModFix/>
          </a:blip>
          <a:srcRect b="0" l="0" r="0" t="0"/>
          <a:stretch/>
        </p:blipFill>
        <p:spPr>
          <a:xfrm>
            <a:off x="228600" y="4035832"/>
            <a:ext cx="8666163" cy="20431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50" name="Google Shape;150;p1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1" name="Google Shape;151;p10"/>
          <p:cNvSpPr txBox="1"/>
          <p:nvPr>
            <p:ph type="title"/>
          </p:nvPr>
        </p:nvSpPr>
        <p:spPr>
          <a:xfrm>
            <a:off x="466725" y="301625"/>
            <a:ext cx="7772400" cy="8699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a:t>
            </a:r>
            <a:endParaRPr/>
          </a:p>
        </p:txBody>
      </p:sp>
      <p:sp>
        <p:nvSpPr>
          <p:cNvPr id="152" name="Google Shape;152;p10"/>
          <p:cNvSpPr txBox="1"/>
          <p:nvPr>
            <p:ph idx="1" type="body"/>
          </p:nvPr>
        </p:nvSpPr>
        <p:spPr>
          <a:xfrm>
            <a:off x="544513" y="1366838"/>
            <a:ext cx="3933825" cy="4876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Three major components:</a:t>
            </a:r>
            <a:r>
              <a:rPr lang="en-US">
                <a:solidFill>
                  <a:srgbClr val="CC0000"/>
                </a:solidFill>
              </a:rPr>
              <a:t> </a:t>
            </a:r>
            <a:endParaRPr/>
          </a:p>
          <a:p>
            <a:pPr indent="-342900" lvl="0" marL="342900" rtl="0" algn="l">
              <a:lnSpc>
                <a:spcPct val="85000"/>
              </a:lnSpc>
              <a:spcBef>
                <a:spcPts val="480"/>
              </a:spcBef>
              <a:spcAft>
                <a:spcPts val="0"/>
              </a:spcAft>
              <a:buSzPts val="1560"/>
              <a:buChar char="❖"/>
            </a:pPr>
            <a:r>
              <a:rPr lang="en-US" sz="2400"/>
              <a:t>user agents </a:t>
            </a:r>
            <a:endParaRPr/>
          </a:p>
          <a:p>
            <a:pPr indent="-342900" lvl="0" marL="342900" rtl="0" algn="l">
              <a:lnSpc>
                <a:spcPct val="85000"/>
              </a:lnSpc>
              <a:spcBef>
                <a:spcPts val="480"/>
              </a:spcBef>
              <a:spcAft>
                <a:spcPts val="0"/>
              </a:spcAft>
              <a:buSzPts val="1560"/>
              <a:buChar char="❖"/>
            </a:pPr>
            <a:r>
              <a:rPr lang="en-US" sz="2400"/>
              <a:t>mail servers </a:t>
            </a:r>
            <a:endParaRPr/>
          </a:p>
          <a:p>
            <a:pPr indent="-342900" lvl="0" marL="342900" rtl="0" algn="l">
              <a:lnSpc>
                <a:spcPct val="85000"/>
              </a:lnSpc>
              <a:spcBef>
                <a:spcPts val="480"/>
              </a:spcBef>
              <a:spcAft>
                <a:spcPts val="0"/>
              </a:spcAft>
              <a:buSzPts val="1560"/>
              <a:buChar char="❖"/>
            </a:pPr>
            <a:r>
              <a:rPr lang="en-US" sz="2400"/>
              <a:t>simple mail transfer protocol: SMTP</a:t>
            </a:r>
            <a:endParaRPr/>
          </a:p>
          <a:p>
            <a:pPr indent="-342900" lvl="0" marL="342900" rtl="0" algn="l">
              <a:lnSpc>
                <a:spcPct val="85000"/>
              </a:lnSpc>
              <a:spcBef>
                <a:spcPts val="2440"/>
              </a:spcBef>
              <a:spcAft>
                <a:spcPts val="0"/>
              </a:spcAft>
              <a:buSzPts val="2080"/>
              <a:buFont typeface="Noto Sans Symbols"/>
              <a:buNone/>
            </a:pPr>
            <a:r>
              <a:rPr i="1" lang="en-US" sz="3200">
                <a:solidFill>
                  <a:srgbClr val="CC0000"/>
                </a:solidFill>
              </a:rPr>
              <a:t>User Agent</a:t>
            </a:r>
            <a:endParaRPr/>
          </a:p>
          <a:p>
            <a:pPr indent="-342900" lvl="0" marL="342900" rtl="0" algn="l">
              <a:lnSpc>
                <a:spcPct val="85000"/>
              </a:lnSpc>
              <a:spcBef>
                <a:spcPts val="480"/>
              </a:spcBef>
              <a:spcAft>
                <a:spcPts val="0"/>
              </a:spcAft>
              <a:buSzPts val="1560"/>
              <a:buChar char="❖"/>
            </a:pPr>
            <a:r>
              <a:rPr lang="en-US" sz="2400"/>
              <a:t>a.k.a. “mail reader”</a:t>
            </a:r>
            <a:endParaRPr sz="2400"/>
          </a:p>
          <a:p>
            <a:pPr indent="-342900" lvl="0" marL="342900" rtl="0" algn="l">
              <a:lnSpc>
                <a:spcPct val="85000"/>
              </a:lnSpc>
              <a:spcBef>
                <a:spcPts val="480"/>
              </a:spcBef>
              <a:spcAft>
                <a:spcPts val="0"/>
              </a:spcAft>
              <a:buSzPts val="1560"/>
              <a:buChar char="❖"/>
            </a:pPr>
            <a:r>
              <a:rPr lang="en-US" sz="2400"/>
              <a:t>composing, editing, reading mail messages</a:t>
            </a:r>
            <a:endParaRPr/>
          </a:p>
          <a:p>
            <a:pPr indent="-342900" lvl="0" marL="342900" rtl="0" algn="l">
              <a:lnSpc>
                <a:spcPct val="85000"/>
              </a:lnSpc>
              <a:spcBef>
                <a:spcPts val="480"/>
              </a:spcBef>
              <a:spcAft>
                <a:spcPts val="0"/>
              </a:spcAft>
              <a:buSzPts val="1560"/>
              <a:buChar char="❖"/>
            </a:pPr>
            <a:r>
              <a:rPr lang="en-US" sz="2400"/>
              <a:t>e.g., Outlook, Thunderbird, iPhone mail client</a:t>
            </a:r>
            <a:endParaRPr/>
          </a:p>
          <a:p>
            <a:pPr indent="-342900" lvl="0" marL="342900" rtl="0" algn="l">
              <a:lnSpc>
                <a:spcPct val="85000"/>
              </a:lnSpc>
              <a:spcBef>
                <a:spcPts val="480"/>
              </a:spcBef>
              <a:spcAft>
                <a:spcPts val="0"/>
              </a:spcAft>
              <a:buSzPts val="1560"/>
              <a:buChar char="❖"/>
            </a:pPr>
            <a:r>
              <a:rPr lang="en-US" sz="2400"/>
              <a:t>outgoing, incoming messages stored on server</a:t>
            </a:r>
            <a:endParaRPr/>
          </a:p>
        </p:txBody>
      </p:sp>
      <p:sp>
        <p:nvSpPr>
          <p:cNvPr id="153" name="Google Shape;153;p10"/>
          <p:cNvSpPr/>
          <p:nvPr/>
        </p:nvSpPr>
        <p:spPr>
          <a:xfrm>
            <a:off x="6962775" y="628650"/>
            <a:ext cx="1828800" cy="981075"/>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4" name="Google Shape;154;p10"/>
          <p:cNvGrpSpPr/>
          <p:nvPr/>
        </p:nvGrpSpPr>
        <p:grpSpPr>
          <a:xfrm>
            <a:off x="7059613" y="576263"/>
            <a:ext cx="1736725" cy="955675"/>
            <a:chOff x="4458" y="3335"/>
            <a:chExt cx="1094" cy="602"/>
          </a:xfrm>
        </p:grpSpPr>
        <p:sp>
          <p:nvSpPr>
            <p:cNvPr id="155" name="Google Shape;155;p10"/>
            <p:cNvSpPr txBox="1"/>
            <p:nvPr/>
          </p:nvSpPr>
          <p:spPr>
            <a:xfrm>
              <a:off x="4680" y="3725"/>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 mailbox</a:t>
              </a:r>
              <a:endParaRPr b="0" i="0" sz="2400" u="none" cap="none" strike="noStrike">
                <a:solidFill>
                  <a:schemeClr val="dk1"/>
                </a:solidFill>
                <a:latin typeface="Arial"/>
                <a:ea typeface="Arial"/>
                <a:cs typeface="Arial"/>
                <a:sym typeface="Arial"/>
              </a:endParaRPr>
            </a:p>
          </p:txBody>
        </p:sp>
        <p:grpSp>
          <p:nvGrpSpPr>
            <p:cNvPr id="156" name="Google Shape;156;p10"/>
            <p:cNvGrpSpPr/>
            <p:nvPr/>
          </p:nvGrpSpPr>
          <p:grpSpPr>
            <a:xfrm>
              <a:off x="4458" y="3408"/>
              <a:ext cx="450" cy="120"/>
              <a:chOff x="4314" y="3444"/>
              <a:chExt cx="450" cy="120"/>
            </a:xfrm>
          </p:grpSpPr>
          <p:sp>
            <p:nvSpPr>
              <p:cNvPr id="157" name="Google Shape;157;p10"/>
              <p:cNvSpPr/>
              <p:nvPr/>
            </p:nvSpPr>
            <p:spPr>
              <a:xfrm>
                <a:off x="4314" y="3444"/>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158" name="Google Shape;158;p10"/>
              <p:cNvCxnSpPr/>
              <p:nvPr/>
            </p:nvCxnSpPr>
            <p:spPr>
              <a:xfrm>
                <a:off x="4363" y="3472"/>
                <a:ext cx="0" cy="72"/>
              </a:xfrm>
              <a:prstGeom prst="straightConnector1">
                <a:avLst/>
              </a:prstGeom>
              <a:noFill/>
              <a:ln cap="flat" cmpd="sng" w="19050">
                <a:solidFill>
                  <a:schemeClr val="dk1"/>
                </a:solidFill>
                <a:prstDash val="solid"/>
                <a:round/>
                <a:headEnd len="sm" w="sm" type="none"/>
                <a:tailEnd len="sm" w="sm" type="none"/>
              </a:ln>
            </p:spPr>
          </p:cxnSp>
          <p:cxnSp>
            <p:nvCxnSpPr>
              <p:cNvPr id="159" name="Google Shape;159;p10"/>
              <p:cNvCxnSpPr/>
              <p:nvPr/>
            </p:nvCxnSpPr>
            <p:spPr>
              <a:xfrm flipH="1">
                <a:off x="4472" y="3471"/>
                <a:ext cx="6" cy="72"/>
              </a:xfrm>
              <a:prstGeom prst="straightConnector1">
                <a:avLst/>
              </a:prstGeom>
              <a:noFill/>
              <a:ln cap="flat" cmpd="sng" w="19050">
                <a:solidFill>
                  <a:schemeClr val="dk1"/>
                </a:solidFill>
                <a:prstDash val="solid"/>
                <a:round/>
                <a:headEnd len="sm" w="sm" type="none"/>
                <a:tailEnd len="sm" w="sm" type="none"/>
              </a:ln>
            </p:spPr>
          </p:cxnSp>
          <p:cxnSp>
            <p:nvCxnSpPr>
              <p:cNvPr id="160" name="Google Shape;160;p10"/>
              <p:cNvCxnSpPr/>
              <p:nvPr/>
            </p:nvCxnSpPr>
            <p:spPr>
              <a:xfrm>
                <a:off x="4527" y="3473"/>
                <a:ext cx="0" cy="72"/>
              </a:xfrm>
              <a:prstGeom prst="straightConnector1">
                <a:avLst/>
              </a:prstGeom>
              <a:noFill/>
              <a:ln cap="flat" cmpd="sng" w="19050">
                <a:solidFill>
                  <a:schemeClr val="dk1"/>
                </a:solidFill>
                <a:prstDash val="solid"/>
                <a:round/>
                <a:headEnd len="sm" w="sm" type="none"/>
                <a:tailEnd len="sm" w="sm" type="none"/>
              </a:ln>
            </p:spPr>
          </p:cxnSp>
          <p:cxnSp>
            <p:nvCxnSpPr>
              <p:cNvPr id="161" name="Google Shape;161;p10"/>
              <p:cNvCxnSpPr/>
              <p:nvPr/>
            </p:nvCxnSpPr>
            <p:spPr>
              <a:xfrm>
                <a:off x="4584"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2" name="Google Shape;162;p10"/>
              <p:cNvCxnSpPr/>
              <p:nvPr/>
            </p:nvCxnSpPr>
            <p:spPr>
              <a:xfrm>
                <a:off x="4645"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3" name="Google Shape;163;p10"/>
              <p:cNvCxnSpPr/>
              <p:nvPr/>
            </p:nvCxnSpPr>
            <p:spPr>
              <a:xfrm>
                <a:off x="4701"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4" name="Google Shape;164;p10"/>
              <p:cNvCxnSpPr/>
              <p:nvPr/>
            </p:nvCxnSpPr>
            <p:spPr>
              <a:xfrm>
                <a:off x="4416" y="3472"/>
                <a:ext cx="0" cy="72"/>
              </a:xfrm>
              <a:prstGeom prst="straightConnector1">
                <a:avLst/>
              </a:prstGeom>
              <a:noFill/>
              <a:ln cap="flat" cmpd="sng" w="19050">
                <a:solidFill>
                  <a:schemeClr val="dk1"/>
                </a:solidFill>
                <a:prstDash val="solid"/>
                <a:round/>
                <a:headEnd len="sm" w="sm" type="none"/>
                <a:tailEnd len="sm" w="sm" type="none"/>
              </a:ln>
            </p:spPr>
          </p:cxnSp>
        </p:grpSp>
        <p:sp>
          <p:nvSpPr>
            <p:cNvPr id="165" name="Google Shape;165;p10"/>
            <p:cNvSpPr/>
            <p:nvPr/>
          </p:nvSpPr>
          <p:spPr>
            <a:xfrm>
              <a:off x="4472" y="3779"/>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6" name="Google Shape;166;p10"/>
            <p:cNvSpPr txBox="1"/>
            <p:nvPr/>
          </p:nvSpPr>
          <p:spPr>
            <a:xfrm>
              <a:off x="4526" y="3335"/>
              <a:ext cx="1026"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outgoing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message queue</a:t>
              </a:r>
              <a:endParaRPr b="0" i="0" sz="2400" u="none" cap="none" strike="noStrike">
                <a:solidFill>
                  <a:schemeClr val="dk1"/>
                </a:solidFill>
                <a:latin typeface="Arial"/>
                <a:ea typeface="Arial"/>
                <a:cs typeface="Arial"/>
                <a:sym typeface="Arial"/>
              </a:endParaRPr>
            </a:p>
          </p:txBody>
        </p:sp>
      </p:grpSp>
      <p:pic>
        <p:nvPicPr>
          <p:cNvPr descr="underline_base" id="167" name="Google Shape;167;p10"/>
          <p:cNvPicPr preferRelativeResize="0"/>
          <p:nvPr/>
        </p:nvPicPr>
        <p:blipFill rotWithShape="1">
          <a:blip r:embed="rId3">
            <a:alphaModFix/>
          </a:blip>
          <a:srcRect b="0" l="0" r="0" t="0"/>
          <a:stretch/>
        </p:blipFill>
        <p:spPr>
          <a:xfrm>
            <a:off x="544513" y="947738"/>
            <a:ext cx="3194050" cy="190500"/>
          </a:xfrm>
          <a:prstGeom prst="rect">
            <a:avLst/>
          </a:prstGeom>
          <a:noFill/>
          <a:ln>
            <a:noFill/>
          </a:ln>
        </p:spPr>
      </p:pic>
      <p:grpSp>
        <p:nvGrpSpPr>
          <p:cNvPr id="168" name="Google Shape;168;p10"/>
          <p:cNvGrpSpPr/>
          <p:nvPr/>
        </p:nvGrpSpPr>
        <p:grpSpPr>
          <a:xfrm>
            <a:off x="4662488" y="1406525"/>
            <a:ext cx="4318000" cy="5118100"/>
            <a:chOff x="2937" y="886"/>
            <a:chExt cx="2720" cy="3224"/>
          </a:xfrm>
        </p:grpSpPr>
        <p:grpSp>
          <p:nvGrpSpPr>
            <p:cNvPr id="169" name="Google Shape;169;p10"/>
            <p:cNvGrpSpPr/>
            <p:nvPr/>
          </p:nvGrpSpPr>
          <p:grpSpPr>
            <a:xfrm>
              <a:off x="4346" y="1756"/>
              <a:ext cx="301" cy="451"/>
              <a:chOff x="4140" y="429"/>
              <a:chExt cx="1425" cy="2396"/>
            </a:xfrm>
          </p:grpSpPr>
          <p:sp>
            <p:nvSpPr>
              <p:cNvPr id="170" name="Google Shape;170;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1" name="Google Shape;171;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2" name="Google Shape;172;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3" name="Google Shape;173;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4" name="Google Shape;174;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75" name="Google Shape;175;p10"/>
              <p:cNvGrpSpPr/>
              <p:nvPr/>
            </p:nvGrpSpPr>
            <p:grpSpPr>
              <a:xfrm>
                <a:off x="4751" y="668"/>
                <a:ext cx="578" cy="144"/>
                <a:chOff x="616" y="2568"/>
                <a:chExt cx="721" cy="138"/>
              </a:xfrm>
            </p:grpSpPr>
            <p:sp>
              <p:nvSpPr>
                <p:cNvPr id="176" name="Google Shape;176;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7" name="Google Shape;177;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78" name="Google Shape;178;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79" name="Google Shape;179;p10"/>
              <p:cNvGrpSpPr/>
              <p:nvPr/>
            </p:nvGrpSpPr>
            <p:grpSpPr>
              <a:xfrm>
                <a:off x="4746" y="992"/>
                <a:ext cx="583" cy="138"/>
                <a:chOff x="613" y="2566"/>
                <a:chExt cx="727" cy="143"/>
              </a:xfrm>
            </p:grpSpPr>
            <p:sp>
              <p:nvSpPr>
                <p:cNvPr id="180" name="Google Shape;180;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1" name="Google Shape;181;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82" name="Google Shape;182;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3" name="Google Shape;183;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84" name="Google Shape;184;p10"/>
              <p:cNvGrpSpPr/>
              <p:nvPr/>
            </p:nvGrpSpPr>
            <p:grpSpPr>
              <a:xfrm>
                <a:off x="4737" y="1629"/>
                <a:ext cx="582" cy="149"/>
                <a:chOff x="616" y="2570"/>
                <a:chExt cx="725" cy="137"/>
              </a:xfrm>
            </p:grpSpPr>
            <p:sp>
              <p:nvSpPr>
                <p:cNvPr id="185" name="Google Shape;185;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6" name="Google Shape;186;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87" name="Google Shape;187;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88" name="Google Shape;188;p10"/>
              <p:cNvGrpSpPr/>
              <p:nvPr/>
            </p:nvGrpSpPr>
            <p:grpSpPr>
              <a:xfrm>
                <a:off x="4751" y="1327"/>
                <a:ext cx="564" cy="138"/>
                <a:chOff x="629" y="2568"/>
                <a:chExt cx="702" cy="138"/>
              </a:xfrm>
            </p:grpSpPr>
            <p:sp>
              <p:nvSpPr>
                <p:cNvPr id="189" name="Google Shape;189;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0" name="Google Shape;190;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91" name="Google Shape;191;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2" name="Google Shape;192;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3" name="Google Shape;193;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4" name="Google Shape;194;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5" name="Google Shape;195;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6" name="Google Shape;196;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7" name="Google Shape;197;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8" name="Google Shape;198;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9" name="Google Shape;199;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00" name="Google Shape;200;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1" name="Google Shape;201;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202" name="Google Shape;202;p10"/>
            <p:cNvGrpSpPr/>
            <p:nvPr/>
          </p:nvGrpSpPr>
          <p:grpSpPr>
            <a:xfrm>
              <a:off x="3091" y="2634"/>
              <a:ext cx="301" cy="451"/>
              <a:chOff x="4140" y="429"/>
              <a:chExt cx="1425" cy="2396"/>
            </a:xfrm>
          </p:grpSpPr>
          <p:sp>
            <p:nvSpPr>
              <p:cNvPr id="203" name="Google Shape;203;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4" name="Google Shape;204;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5" name="Google Shape;205;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6" name="Google Shape;206;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7" name="Google Shape;207;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08" name="Google Shape;208;p10"/>
              <p:cNvGrpSpPr/>
              <p:nvPr/>
            </p:nvGrpSpPr>
            <p:grpSpPr>
              <a:xfrm>
                <a:off x="4751" y="668"/>
                <a:ext cx="578" cy="144"/>
                <a:chOff x="616" y="2568"/>
                <a:chExt cx="721" cy="138"/>
              </a:xfrm>
            </p:grpSpPr>
            <p:sp>
              <p:nvSpPr>
                <p:cNvPr id="209" name="Google Shape;209;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0" name="Google Shape;210;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11" name="Google Shape;211;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12" name="Google Shape;212;p10"/>
              <p:cNvGrpSpPr/>
              <p:nvPr/>
            </p:nvGrpSpPr>
            <p:grpSpPr>
              <a:xfrm>
                <a:off x="4746" y="992"/>
                <a:ext cx="583" cy="138"/>
                <a:chOff x="613" y="2566"/>
                <a:chExt cx="727" cy="143"/>
              </a:xfrm>
            </p:grpSpPr>
            <p:sp>
              <p:nvSpPr>
                <p:cNvPr id="213" name="Google Shape;213;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4" name="Google Shape;214;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15" name="Google Shape;215;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6" name="Google Shape;216;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17" name="Google Shape;217;p10"/>
              <p:cNvGrpSpPr/>
              <p:nvPr/>
            </p:nvGrpSpPr>
            <p:grpSpPr>
              <a:xfrm>
                <a:off x="4737" y="1629"/>
                <a:ext cx="582" cy="149"/>
                <a:chOff x="616" y="2570"/>
                <a:chExt cx="725" cy="137"/>
              </a:xfrm>
            </p:grpSpPr>
            <p:sp>
              <p:nvSpPr>
                <p:cNvPr id="218" name="Google Shape;218;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9" name="Google Shape;219;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20" name="Google Shape;220;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21" name="Google Shape;221;p10"/>
              <p:cNvGrpSpPr/>
              <p:nvPr/>
            </p:nvGrpSpPr>
            <p:grpSpPr>
              <a:xfrm>
                <a:off x="4751" y="1327"/>
                <a:ext cx="564" cy="138"/>
                <a:chOff x="629" y="2568"/>
                <a:chExt cx="702" cy="138"/>
              </a:xfrm>
            </p:grpSpPr>
            <p:sp>
              <p:nvSpPr>
                <p:cNvPr id="222" name="Google Shape;222;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3" name="Google Shape;223;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24" name="Google Shape;224;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5" name="Google Shape;225;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6" name="Google Shape;226;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7" name="Google Shape;227;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8" name="Google Shape;228;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9" name="Google Shape;229;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0" name="Google Shape;230;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1" name="Google Shape;231;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2" name="Google Shape;232;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33" name="Google Shape;233;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4" name="Google Shape;234;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235" name="Google Shape;235;p10"/>
            <p:cNvGrpSpPr/>
            <p:nvPr/>
          </p:nvGrpSpPr>
          <p:grpSpPr>
            <a:xfrm>
              <a:off x="3105" y="1159"/>
              <a:ext cx="301" cy="451"/>
              <a:chOff x="4140" y="429"/>
              <a:chExt cx="1425" cy="2396"/>
            </a:xfrm>
          </p:grpSpPr>
          <p:sp>
            <p:nvSpPr>
              <p:cNvPr id="236" name="Google Shape;236;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7" name="Google Shape;237;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8" name="Google Shape;238;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9" name="Google Shape;239;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0" name="Google Shape;240;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41" name="Google Shape;241;p10"/>
              <p:cNvGrpSpPr/>
              <p:nvPr/>
            </p:nvGrpSpPr>
            <p:grpSpPr>
              <a:xfrm>
                <a:off x="4751" y="668"/>
                <a:ext cx="578" cy="144"/>
                <a:chOff x="616" y="2568"/>
                <a:chExt cx="721" cy="138"/>
              </a:xfrm>
            </p:grpSpPr>
            <p:sp>
              <p:nvSpPr>
                <p:cNvPr id="242" name="Google Shape;242;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3" name="Google Shape;243;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44" name="Google Shape;244;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45" name="Google Shape;245;p10"/>
              <p:cNvGrpSpPr/>
              <p:nvPr/>
            </p:nvGrpSpPr>
            <p:grpSpPr>
              <a:xfrm>
                <a:off x="4746" y="992"/>
                <a:ext cx="583" cy="138"/>
                <a:chOff x="613" y="2566"/>
                <a:chExt cx="727" cy="143"/>
              </a:xfrm>
            </p:grpSpPr>
            <p:sp>
              <p:nvSpPr>
                <p:cNvPr id="246" name="Google Shape;246;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7" name="Google Shape;247;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48" name="Google Shape;248;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9" name="Google Shape;249;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50" name="Google Shape;250;p10"/>
              <p:cNvGrpSpPr/>
              <p:nvPr/>
            </p:nvGrpSpPr>
            <p:grpSpPr>
              <a:xfrm>
                <a:off x="4737" y="1629"/>
                <a:ext cx="582" cy="149"/>
                <a:chOff x="616" y="2570"/>
                <a:chExt cx="725" cy="137"/>
              </a:xfrm>
            </p:grpSpPr>
            <p:sp>
              <p:nvSpPr>
                <p:cNvPr id="251" name="Google Shape;251;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2" name="Google Shape;252;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53" name="Google Shape;253;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54" name="Google Shape;254;p10"/>
              <p:cNvGrpSpPr/>
              <p:nvPr/>
            </p:nvGrpSpPr>
            <p:grpSpPr>
              <a:xfrm>
                <a:off x="4751" y="1327"/>
                <a:ext cx="564" cy="138"/>
                <a:chOff x="629" y="2568"/>
                <a:chExt cx="702" cy="138"/>
              </a:xfrm>
            </p:grpSpPr>
            <p:sp>
              <p:nvSpPr>
                <p:cNvPr id="255" name="Google Shape;255;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6" name="Google Shape;256;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57" name="Google Shape;257;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8" name="Google Shape;258;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9" name="Google Shape;259;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0" name="Google Shape;260;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1" name="Google Shape;261;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2" name="Google Shape;262;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3" name="Google Shape;263;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4" name="Google Shape;264;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5" name="Google Shape;265;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66" name="Google Shape;266;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7" name="Google Shape;267;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cxnSp>
          <p:nvCxnSpPr>
            <p:cNvPr id="268" name="Google Shape;268;p10"/>
            <p:cNvCxnSpPr/>
            <p:nvPr/>
          </p:nvCxnSpPr>
          <p:spPr>
            <a:xfrm>
              <a:off x="3734" y="1642"/>
              <a:ext cx="708" cy="498"/>
            </a:xfrm>
            <a:prstGeom prst="straightConnector1">
              <a:avLst/>
            </a:prstGeom>
            <a:noFill/>
            <a:ln cap="flat" cmpd="sng" w="28575">
              <a:solidFill>
                <a:srgbClr val="CC0000"/>
              </a:solidFill>
              <a:prstDash val="solid"/>
              <a:round/>
              <a:headEnd len="med" w="med" type="triangle"/>
              <a:tailEnd len="med" w="med" type="triangle"/>
            </a:ln>
          </p:spPr>
        </p:cxnSp>
        <p:grpSp>
          <p:nvGrpSpPr>
            <p:cNvPr id="269" name="Google Shape;269;p10"/>
            <p:cNvGrpSpPr/>
            <p:nvPr/>
          </p:nvGrpSpPr>
          <p:grpSpPr>
            <a:xfrm>
              <a:off x="4466" y="1881"/>
              <a:ext cx="510" cy="661"/>
              <a:chOff x="4296" y="2627"/>
              <a:chExt cx="510" cy="661"/>
            </a:xfrm>
          </p:grpSpPr>
          <p:sp>
            <p:nvSpPr>
              <p:cNvPr id="270" name="Google Shape;270;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71" name="Google Shape;271;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272" name="Google Shape;272;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273" name="Google Shape;273;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274" name="Google Shape;274;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5" name="Google Shape;275;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276" name="Google Shape;276;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7" name="Google Shape;277;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8" name="Google Shape;278;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9" name="Google Shape;279;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280" name="Google Shape;280;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1" name="Google Shape;281;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2" name="Google Shape;282;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3" name="Google Shape;283;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4" name="Google Shape;284;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285" name="Google Shape;285;p10"/>
            <p:cNvGrpSpPr/>
            <p:nvPr/>
          </p:nvGrpSpPr>
          <p:grpSpPr>
            <a:xfrm>
              <a:off x="3206" y="2763"/>
              <a:ext cx="510" cy="661"/>
              <a:chOff x="4296" y="2627"/>
              <a:chExt cx="510" cy="661"/>
            </a:xfrm>
          </p:grpSpPr>
          <p:sp>
            <p:nvSpPr>
              <p:cNvPr id="286" name="Google Shape;286;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7" name="Google Shape;287;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288" name="Google Shape;288;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289" name="Google Shape;289;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290" name="Google Shape;290;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1" name="Google Shape;291;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292" name="Google Shape;292;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3" name="Google Shape;293;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4" name="Google Shape;294;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5" name="Google Shape;295;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296" name="Google Shape;296;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97" name="Google Shape;297;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98" name="Google Shape;298;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99" name="Google Shape;299;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0" name="Google Shape;300;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301" name="Google Shape;301;p10"/>
            <p:cNvGrpSpPr/>
            <p:nvPr/>
          </p:nvGrpSpPr>
          <p:grpSpPr>
            <a:xfrm>
              <a:off x="3206" y="1347"/>
              <a:ext cx="510" cy="661"/>
              <a:chOff x="4296" y="2627"/>
              <a:chExt cx="510" cy="661"/>
            </a:xfrm>
          </p:grpSpPr>
          <p:sp>
            <p:nvSpPr>
              <p:cNvPr id="302" name="Google Shape;302;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3" name="Google Shape;303;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304" name="Google Shape;304;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305" name="Google Shape;305;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306" name="Google Shape;306;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307" name="Google Shape;307;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308" name="Google Shape;308;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309" name="Google Shape;309;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310" name="Google Shape;310;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311" name="Google Shape;311;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312" name="Google Shape;312;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3" name="Google Shape;313;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4" name="Google Shape;314;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5" name="Google Shape;315;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6" name="Google Shape;316;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317" name="Google Shape;317;p10"/>
            <p:cNvCxnSpPr/>
            <p:nvPr/>
          </p:nvCxnSpPr>
          <p:spPr>
            <a:xfrm flipH="1" rot="10800000">
              <a:off x="3734" y="2350"/>
              <a:ext cx="708" cy="684"/>
            </a:xfrm>
            <a:prstGeom prst="straightConnector1">
              <a:avLst/>
            </a:prstGeom>
            <a:noFill/>
            <a:ln cap="flat" cmpd="sng" w="28575">
              <a:solidFill>
                <a:srgbClr val="CC0000"/>
              </a:solidFill>
              <a:prstDash val="solid"/>
              <a:round/>
              <a:headEnd len="med" w="med" type="triangle"/>
              <a:tailEnd len="med" w="med" type="triangle"/>
            </a:ln>
          </p:spPr>
        </p:cxnSp>
        <p:cxnSp>
          <p:nvCxnSpPr>
            <p:cNvPr id="318" name="Google Shape;318;p10"/>
            <p:cNvCxnSpPr/>
            <p:nvPr/>
          </p:nvCxnSpPr>
          <p:spPr>
            <a:xfrm rot="10800000">
              <a:off x="3266" y="2020"/>
              <a:ext cx="0" cy="786"/>
            </a:xfrm>
            <a:prstGeom prst="straightConnector1">
              <a:avLst/>
            </a:prstGeom>
            <a:noFill/>
            <a:ln cap="flat" cmpd="sng" w="28575">
              <a:solidFill>
                <a:srgbClr val="CC0000"/>
              </a:solidFill>
              <a:prstDash val="solid"/>
              <a:round/>
              <a:headEnd len="med" w="med" type="triangle"/>
              <a:tailEnd len="med" w="med" type="triangle"/>
            </a:ln>
          </p:spPr>
        </p:cxnSp>
        <p:grpSp>
          <p:nvGrpSpPr>
            <p:cNvPr id="319" name="Google Shape;319;p10"/>
            <p:cNvGrpSpPr/>
            <p:nvPr/>
          </p:nvGrpSpPr>
          <p:grpSpPr>
            <a:xfrm>
              <a:off x="3795" y="2535"/>
              <a:ext cx="650" cy="288"/>
              <a:chOff x="3745" y="2537"/>
              <a:chExt cx="650" cy="288"/>
            </a:xfrm>
          </p:grpSpPr>
          <p:sp>
            <p:nvSpPr>
              <p:cNvPr id="320" name="Google Shape;320;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1" name="Google Shape;321;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2" name="Google Shape;322;p10"/>
            <p:cNvGrpSpPr/>
            <p:nvPr/>
          </p:nvGrpSpPr>
          <p:grpSpPr>
            <a:xfrm>
              <a:off x="3771" y="1743"/>
              <a:ext cx="650" cy="288"/>
              <a:chOff x="3745" y="2537"/>
              <a:chExt cx="650" cy="288"/>
            </a:xfrm>
          </p:grpSpPr>
          <p:sp>
            <p:nvSpPr>
              <p:cNvPr id="323" name="Google Shape;323;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4" name="Google Shape;324;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5" name="Google Shape;325;p10"/>
            <p:cNvGrpSpPr/>
            <p:nvPr/>
          </p:nvGrpSpPr>
          <p:grpSpPr>
            <a:xfrm>
              <a:off x="2937" y="2193"/>
              <a:ext cx="650" cy="288"/>
              <a:chOff x="3745" y="2537"/>
              <a:chExt cx="650" cy="288"/>
            </a:xfrm>
          </p:grpSpPr>
          <p:sp>
            <p:nvSpPr>
              <p:cNvPr id="326" name="Google Shape;326;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7" name="Google Shape;327;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8" name="Google Shape;328;p10"/>
            <p:cNvGrpSpPr/>
            <p:nvPr/>
          </p:nvGrpSpPr>
          <p:grpSpPr>
            <a:xfrm>
              <a:off x="3587" y="886"/>
              <a:ext cx="575" cy="664"/>
              <a:chOff x="3574" y="550"/>
              <a:chExt cx="575" cy="664"/>
            </a:xfrm>
          </p:grpSpPr>
          <p:grpSp>
            <p:nvGrpSpPr>
              <p:cNvPr id="329" name="Google Shape;329;p10"/>
              <p:cNvGrpSpPr/>
              <p:nvPr/>
            </p:nvGrpSpPr>
            <p:grpSpPr>
              <a:xfrm>
                <a:off x="3588" y="692"/>
                <a:ext cx="561" cy="522"/>
                <a:chOff x="-44" y="1473"/>
                <a:chExt cx="981" cy="1105"/>
              </a:xfrm>
            </p:grpSpPr>
            <p:pic>
              <p:nvPicPr>
                <p:cNvPr descr="desktop_computer_stylized_medium" id="330" name="Google Shape;330;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31" name="Google Shape;331;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32" name="Google Shape;332;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33" name="Google Shape;333;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34" name="Google Shape;334;p10"/>
            <p:cNvGrpSpPr/>
            <p:nvPr/>
          </p:nvGrpSpPr>
          <p:grpSpPr>
            <a:xfrm>
              <a:off x="4870" y="1400"/>
              <a:ext cx="575" cy="664"/>
              <a:chOff x="3574" y="550"/>
              <a:chExt cx="575" cy="664"/>
            </a:xfrm>
          </p:grpSpPr>
          <p:grpSp>
            <p:nvGrpSpPr>
              <p:cNvPr id="335" name="Google Shape;335;p10"/>
              <p:cNvGrpSpPr/>
              <p:nvPr/>
            </p:nvGrpSpPr>
            <p:grpSpPr>
              <a:xfrm>
                <a:off x="3588" y="692"/>
                <a:ext cx="561" cy="522"/>
                <a:chOff x="-44" y="1473"/>
                <a:chExt cx="981" cy="1105"/>
              </a:xfrm>
            </p:grpSpPr>
            <p:pic>
              <p:nvPicPr>
                <p:cNvPr descr="desktop_computer_stylized_medium" id="336" name="Google Shape;336;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37" name="Google Shape;337;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38" name="Google Shape;338;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39" name="Google Shape;339;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40" name="Google Shape;340;p10"/>
            <p:cNvGrpSpPr/>
            <p:nvPr/>
          </p:nvGrpSpPr>
          <p:grpSpPr>
            <a:xfrm>
              <a:off x="5082" y="1880"/>
              <a:ext cx="575" cy="664"/>
              <a:chOff x="3574" y="550"/>
              <a:chExt cx="575" cy="664"/>
            </a:xfrm>
          </p:grpSpPr>
          <p:grpSp>
            <p:nvGrpSpPr>
              <p:cNvPr id="341" name="Google Shape;341;p10"/>
              <p:cNvGrpSpPr/>
              <p:nvPr/>
            </p:nvGrpSpPr>
            <p:grpSpPr>
              <a:xfrm>
                <a:off x="3588" y="692"/>
                <a:ext cx="561" cy="522"/>
                <a:chOff x="-44" y="1473"/>
                <a:chExt cx="981" cy="1105"/>
              </a:xfrm>
            </p:grpSpPr>
            <p:pic>
              <p:nvPicPr>
                <p:cNvPr descr="desktop_computer_stylized_medium" id="342" name="Google Shape;342;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3" name="Google Shape;343;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44" name="Google Shape;344;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5" name="Google Shape;345;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46" name="Google Shape;346;p10"/>
            <p:cNvGrpSpPr/>
            <p:nvPr/>
          </p:nvGrpSpPr>
          <p:grpSpPr>
            <a:xfrm>
              <a:off x="4999" y="2540"/>
              <a:ext cx="575" cy="664"/>
              <a:chOff x="3574" y="550"/>
              <a:chExt cx="575" cy="664"/>
            </a:xfrm>
          </p:grpSpPr>
          <p:grpSp>
            <p:nvGrpSpPr>
              <p:cNvPr id="347" name="Google Shape;347;p10"/>
              <p:cNvGrpSpPr/>
              <p:nvPr/>
            </p:nvGrpSpPr>
            <p:grpSpPr>
              <a:xfrm>
                <a:off x="3588" y="692"/>
                <a:ext cx="561" cy="522"/>
                <a:chOff x="-44" y="1473"/>
                <a:chExt cx="981" cy="1105"/>
              </a:xfrm>
            </p:grpSpPr>
            <p:pic>
              <p:nvPicPr>
                <p:cNvPr descr="desktop_computer_stylized_medium" id="348" name="Google Shape;348;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9" name="Google Shape;349;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50" name="Google Shape;350;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1" name="Google Shape;351;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52" name="Google Shape;352;p10"/>
            <p:cNvGrpSpPr/>
            <p:nvPr/>
          </p:nvGrpSpPr>
          <p:grpSpPr>
            <a:xfrm>
              <a:off x="3354" y="3446"/>
              <a:ext cx="575" cy="664"/>
              <a:chOff x="3574" y="550"/>
              <a:chExt cx="575" cy="664"/>
            </a:xfrm>
          </p:grpSpPr>
          <p:grpSp>
            <p:nvGrpSpPr>
              <p:cNvPr id="353" name="Google Shape;353;p10"/>
              <p:cNvGrpSpPr/>
              <p:nvPr/>
            </p:nvGrpSpPr>
            <p:grpSpPr>
              <a:xfrm>
                <a:off x="3588" y="692"/>
                <a:ext cx="561" cy="522"/>
                <a:chOff x="-44" y="1473"/>
                <a:chExt cx="981" cy="1105"/>
              </a:xfrm>
            </p:grpSpPr>
            <p:pic>
              <p:nvPicPr>
                <p:cNvPr descr="desktop_computer_stylized_medium" id="354" name="Google Shape;354;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5" name="Google Shape;355;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56" name="Google Shape;356;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7" name="Google Shape;357;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58" name="Google Shape;358;p10"/>
            <p:cNvGrpSpPr/>
            <p:nvPr/>
          </p:nvGrpSpPr>
          <p:grpSpPr>
            <a:xfrm>
              <a:off x="3813" y="3056"/>
              <a:ext cx="575" cy="664"/>
              <a:chOff x="3574" y="550"/>
              <a:chExt cx="575" cy="664"/>
            </a:xfrm>
          </p:grpSpPr>
          <p:grpSp>
            <p:nvGrpSpPr>
              <p:cNvPr id="359" name="Google Shape;359;p10"/>
              <p:cNvGrpSpPr/>
              <p:nvPr/>
            </p:nvGrpSpPr>
            <p:grpSpPr>
              <a:xfrm>
                <a:off x="3588" y="692"/>
                <a:ext cx="561" cy="522"/>
                <a:chOff x="-44" y="1473"/>
                <a:chExt cx="981" cy="1105"/>
              </a:xfrm>
            </p:grpSpPr>
            <p:pic>
              <p:nvPicPr>
                <p:cNvPr descr="desktop_computer_stylized_medium" id="360" name="Google Shape;360;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61" name="Google Shape;361;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62" name="Google Shape;362;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3" name="Google Shape;363;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370" name="Google Shape;370;p1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71" name="Google Shape;371;p12"/>
          <p:cNvSpPr txBox="1"/>
          <p:nvPr>
            <p:ph type="title"/>
          </p:nvPr>
        </p:nvSpPr>
        <p:spPr>
          <a:xfrm>
            <a:off x="376238" y="222250"/>
            <a:ext cx="7772400" cy="882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mail servers</a:t>
            </a:r>
            <a:endParaRPr/>
          </a:p>
        </p:txBody>
      </p:sp>
      <p:sp>
        <p:nvSpPr>
          <p:cNvPr id="372" name="Google Shape;372;p12"/>
          <p:cNvSpPr txBox="1"/>
          <p:nvPr>
            <p:ph idx="1" type="body"/>
          </p:nvPr>
        </p:nvSpPr>
        <p:spPr>
          <a:xfrm>
            <a:off x="457200" y="1398588"/>
            <a:ext cx="39338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lang="en-US">
                <a:solidFill>
                  <a:srgbClr val="CC0000"/>
                </a:solidFill>
              </a:rPr>
              <a:t>mail servers:</a:t>
            </a:r>
            <a:endParaRPr/>
          </a:p>
          <a:p>
            <a:pPr indent="-342900" lvl="0" marL="342900" rtl="0" algn="l">
              <a:lnSpc>
                <a:spcPct val="85000"/>
              </a:lnSpc>
              <a:spcBef>
                <a:spcPts val="480"/>
              </a:spcBef>
              <a:spcAft>
                <a:spcPts val="0"/>
              </a:spcAft>
              <a:buSzPts val="1560"/>
              <a:buChar char="❖"/>
            </a:pPr>
            <a:r>
              <a:rPr i="1" lang="en-US" sz="2400">
                <a:solidFill>
                  <a:srgbClr val="CC0000"/>
                </a:solidFill>
              </a:rPr>
              <a:t>mailbox</a:t>
            </a:r>
            <a:r>
              <a:rPr lang="en-US" sz="2400"/>
              <a:t> contains incoming messages for user</a:t>
            </a:r>
            <a:endParaRPr/>
          </a:p>
          <a:p>
            <a:pPr indent="-342900" lvl="0" marL="342900" rtl="0" algn="l">
              <a:lnSpc>
                <a:spcPct val="85000"/>
              </a:lnSpc>
              <a:spcBef>
                <a:spcPts val="480"/>
              </a:spcBef>
              <a:spcAft>
                <a:spcPts val="0"/>
              </a:spcAft>
              <a:buSzPts val="1560"/>
              <a:buChar char="❖"/>
            </a:pPr>
            <a:r>
              <a:rPr i="1" lang="en-US" sz="2400">
                <a:solidFill>
                  <a:srgbClr val="CC0000"/>
                </a:solidFill>
              </a:rPr>
              <a:t>message queue</a:t>
            </a:r>
            <a:r>
              <a:rPr lang="en-US" sz="2400"/>
              <a:t> of outgoing (to be sent) mail messages</a:t>
            </a:r>
            <a:endParaRPr/>
          </a:p>
          <a:p>
            <a:pPr indent="-342900" lvl="0" marL="342900" rtl="0" algn="l">
              <a:lnSpc>
                <a:spcPct val="85000"/>
              </a:lnSpc>
              <a:spcBef>
                <a:spcPts val="480"/>
              </a:spcBef>
              <a:spcAft>
                <a:spcPts val="0"/>
              </a:spcAft>
              <a:buSzPts val="1560"/>
              <a:buChar char="❖"/>
            </a:pPr>
            <a:r>
              <a:rPr i="1" lang="en-US" sz="2400">
                <a:solidFill>
                  <a:srgbClr val="CC0000"/>
                </a:solidFill>
              </a:rPr>
              <a:t>SMTP protocol</a:t>
            </a:r>
            <a:r>
              <a:rPr lang="en-US" sz="2400"/>
              <a:t> between mail servers to send email messages</a:t>
            </a:r>
            <a:endParaRPr/>
          </a:p>
          <a:p>
            <a:pPr indent="-285750" lvl="1" marL="742950" rtl="0" algn="l">
              <a:lnSpc>
                <a:spcPct val="85000"/>
              </a:lnSpc>
              <a:spcBef>
                <a:spcPts val="480"/>
              </a:spcBef>
              <a:spcAft>
                <a:spcPts val="0"/>
              </a:spcAft>
              <a:buSzPts val="2400"/>
              <a:buChar char="▪"/>
            </a:pPr>
            <a:r>
              <a:rPr lang="en-US"/>
              <a:t>client: sending mail server</a:t>
            </a:r>
            <a:endParaRPr/>
          </a:p>
          <a:p>
            <a:pPr indent="-285750" lvl="1" marL="742950" rtl="0" algn="l">
              <a:lnSpc>
                <a:spcPct val="85000"/>
              </a:lnSpc>
              <a:spcBef>
                <a:spcPts val="480"/>
              </a:spcBef>
              <a:spcAft>
                <a:spcPts val="0"/>
              </a:spcAft>
              <a:buSzPts val="2400"/>
              <a:buChar char="▪"/>
            </a:pPr>
            <a:r>
              <a:rPr lang="en-US"/>
              <a:t>“server”: receiving mail server</a:t>
            </a:r>
            <a:endParaRPr/>
          </a:p>
        </p:txBody>
      </p:sp>
      <p:pic>
        <p:nvPicPr>
          <p:cNvPr descr="underline_base" id="373" name="Google Shape;373;p12"/>
          <p:cNvPicPr preferRelativeResize="0"/>
          <p:nvPr/>
        </p:nvPicPr>
        <p:blipFill rotWithShape="1">
          <a:blip r:embed="rId3">
            <a:alphaModFix/>
          </a:blip>
          <a:srcRect b="0" l="0" r="0" t="0"/>
          <a:stretch/>
        </p:blipFill>
        <p:spPr>
          <a:xfrm>
            <a:off x="484188" y="882650"/>
            <a:ext cx="5942012" cy="173038"/>
          </a:xfrm>
          <a:prstGeom prst="rect">
            <a:avLst/>
          </a:prstGeom>
          <a:noFill/>
          <a:ln>
            <a:noFill/>
          </a:ln>
        </p:spPr>
      </p:pic>
      <p:grpSp>
        <p:nvGrpSpPr>
          <p:cNvPr id="374" name="Google Shape;374;p12"/>
          <p:cNvGrpSpPr/>
          <p:nvPr/>
        </p:nvGrpSpPr>
        <p:grpSpPr>
          <a:xfrm>
            <a:off x="6899275" y="2787650"/>
            <a:ext cx="477838" cy="715963"/>
            <a:chOff x="4140" y="429"/>
            <a:chExt cx="1425" cy="2396"/>
          </a:xfrm>
        </p:grpSpPr>
        <p:sp>
          <p:nvSpPr>
            <p:cNvPr id="375" name="Google Shape;375;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6" name="Google Shape;376;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7" name="Google Shape;377;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8" name="Google Shape;378;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9" name="Google Shape;379;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80" name="Google Shape;380;p12"/>
            <p:cNvGrpSpPr/>
            <p:nvPr/>
          </p:nvGrpSpPr>
          <p:grpSpPr>
            <a:xfrm>
              <a:off x="4751" y="668"/>
              <a:ext cx="578" cy="144"/>
              <a:chOff x="616" y="2568"/>
              <a:chExt cx="721" cy="138"/>
            </a:xfrm>
          </p:grpSpPr>
          <p:sp>
            <p:nvSpPr>
              <p:cNvPr id="381" name="Google Shape;381;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2" name="Google Shape;382;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83" name="Google Shape;383;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84" name="Google Shape;384;p12"/>
            <p:cNvGrpSpPr/>
            <p:nvPr/>
          </p:nvGrpSpPr>
          <p:grpSpPr>
            <a:xfrm>
              <a:off x="4746" y="992"/>
              <a:ext cx="583" cy="138"/>
              <a:chOff x="613" y="2566"/>
              <a:chExt cx="727" cy="143"/>
            </a:xfrm>
          </p:grpSpPr>
          <p:sp>
            <p:nvSpPr>
              <p:cNvPr id="385" name="Google Shape;385;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6" name="Google Shape;386;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87" name="Google Shape;387;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8" name="Google Shape;388;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89" name="Google Shape;389;p12"/>
            <p:cNvGrpSpPr/>
            <p:nvPr/>
          </p:nvGrpSpPr>
          <p:grpSpPr>
            <a:xfrm>
              <a:off x="4737" y="1629"/>
              <a:ext cx="582" cy="149"/>
              <a:chOff x="616" y="2570"/>
              <a:chExt cx="725" cy="137"/>
            </a:xfrm>
          </p:grpSpPr>
          <p:sp>
            <p:nvSpPr>
              <p:cNvPr id="390" name="Google Shape;390;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1" name="Google Shape;391;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92" name="Google Shape;392;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93" name="Google Shape;393;p12"/>
            <p:cNvGrpSpPr/>
            <p:nvPr/>
          </p:nvGrpSpPr>
          <p:grpSpPr>
            <a:xfrm>
              <a:off x="4751" y="1327"/>
              <a:ext cx="564" cy="138"/>
              <a:chOff x="629" y="2568"/>
              <a:chExt cx="702" cy="138"/>
            </a:xfrm>
          </p:grpSpPr>
          <p:sp>
            <p:nvSpPr>
              <p:cNvPr id="394" name="Google Shape;394;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5" name="Google Shape;395;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96" name="Google Shape;396;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7" name="Google Shape;397;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8" name="Google Shape;398;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9" name="Google Shape;399;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0" name="Google Shape;400;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1" name="Google Shape;401;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2" name="Google Shape;402;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3" name="Google Shape;403;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4" name="Google Shape;404;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5" name="Google Shape;405;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6" name="Google Shape;406;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407" name="Google Shape;407;p12"/>
          <p:cNvGrpSpPr/>
          <p:nvPr/>
        </p:nvGrpSpPr>
        <p:grpSpPr>
          <a:xfrm>
            <a:off x="4906963" y="4181475"/>
            <a:ext cx="477837" cy="715963"/>
            <a:chOff x="4140" y="429"/>
            <a:chExt cx="1425" cy="2396"/>
          </a:xfrm>
        </p:grpSpPr>
        <p:sp>
          <p:nvSpPr>
            <p:cNvPr id="408" name="Google Shape;408;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9" name="Google Shape;409;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0" name="Google Shape;410;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1" name="Google Shape;411;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2" name="Google Shape;412;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13" name="Google Shape;413;p12"/>
            <p:cNvGrpSpPr/>
            <p:nvPr/>
          </p:nvGrpSpPr>
          <p:grpSpPr>
            <a:xfrm>
              <a:off x="4751" y="668"/>
              <a:ext cx="578" cy="144"/>
              <a:chOff x="616" y="2568"/>
              <a:chExt cx="721" cy="138"/>
            </a:xfrm>
          </p:grpSpPr>
          <p:sp>
            <p:nvSpPr>
              <p:cNvPr id="414" name="Google Shape;414;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5" name="Google Shape;415;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16" name="Google Shape;416;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17" name="Google Shape;417;p12"/>
            <p:cNvGrpSpPr/>
            <p:nvPr/>
          </p:nvGrpSpPr>
          <p:grpSpPr>
            <a:xfrm>
              <a:off x="4746" y="992"/>
              <a:ext cx="583" cy="138"/>
              <a:chOff x="613" y="2566"/>
              <a:chExt cx="727" cy="143"/>
            </a:xfrm>
          </p:grpSpPr>
          <p:sp>
            <p:nvSpPr>
              <p:cNvPr id="418" name="Google Shape;418;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9" name="Google Shape;419;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20" name="Google Shape;420;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1" name="Google Shape;421;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22" name="Google Shape;422;p12"/>
            <p:cNvGrpSpPr/>
            <p:nvPr/>
          </p:nvGrpSpPr>
          <p:grpSpPr>
            <a:xfrm>
              <a:off x="4737" y="1629"/>
              <a:ext cx="582" cy="149"/>
              <a:chOff x="616" y="2570"/>
              <a:chExt cx="725" cy="137"/>
            </a:xfrm>
          </p:grpSpPr>
          <p:sp>
            <p:nvSpPr>
              <p:cNvPr id="423" name="Google Shape;423;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4" name="Google Shape;424;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25" name="Google Shape;425;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26" name="Google Shape;426;p12"/>
            <p:cNvGrpSpPr/>
            <p:nvPr/>
          </p:nvGrpSpPr>
          <p:grpSpPr>
            <a:xfrm>
              <a:off x="4751" y="1327"/>
              <a:ext cx="564" cy="138"/>
              <a:chOff x="629" y="2568"/>
              <a:chExt cx="702" cy="138"/>
            </a:xfrm>
          </p:grpSpPr>
          <p:sp>
            <p:nvSpPr>
              <p:cNvPr id="427" name="Google Shape;427;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8" name="Google Shape;428;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29" name="Google Shape;429;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0" name="Google Shape;430;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1" name="Google Shape;431;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2" name="Google Shape;432;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3" name="Google Shape;433;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4" name="Google Shape;434;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5" name="Google Shape;435;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6" name="Google Shape;436;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7" name="Google Shape;437;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38" name="Google Shape;438;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9" name="Google Shape;439;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440" name="Google Shape;440;p12"/>
          <p:cNvGrpSpPr/>
          <p:nvPr/>
        </p:nvGrpSpPr>
        <p:grpSpPr>
          <a:xfrm>
            <a:off x="4929188" y="1839913"/>
            <a:ext cx="477837" cy="715962"/>
            <a:chOff x="4140" y="429"/>
            <a:chExt cx="1425" cy="2396"/>
          </a:xfrm>
        </p:grpSpPr>
        <p:sp>
          <p:nvSpPr>
            <p:cNvPr id="441" name="Google Shape;441;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2" name="Google Shape;442;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3" name="Google Shape;443;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4" name="Google Shape;444;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5" name="Google Shape;445;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46" name="Google Shape;446;p12"/>
            <p:cNvGrpSpPr/>
            <p:nvPr/>
          </p:nvGrpSpPr>
          <p:grpSpPr>
            <a:xfrm>
              <a:off x="4751" y="668"/>
              <a:ext cx="578" cy="144"/>
              <a:chOff x="616" y="2568"/>
              <a:chExt cx="721" cy="138"/>
            </a:xfrm>
          </p:grpSpPr>
          <p:sp>
            <p:nvSpPr>
              <p:cNvPr id="447" name="Google Shape;447;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8" name="Google Shape;448;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49" name="Google Shape;449;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50" name="Google Shape;450;p12"/>
            <p:cNvGrpSpPr/>
            <p:nvPr/>
          </p:nvGrpSpPr>
          <p:grpSpPr>
            <a:xfrm>
              <a:off x="4746" y="992"/>
              <a:ext cx="583" cy="138"/>
              <a:chOff x="613" y="2566"/>
              <a:chExt cx="727" cy="143"/>
            </a:xfrm>
          </p:grpSpPr>
          <p:sp>
            <p:nvSpPr>
              <p:cNvPr id="451" name="Google Shape;451;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2" name="Google Shape;452;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53" name="Google Shape;453;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4" name="Google Shape;454;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55" name="Google Shape;455;p12"/>
            <p:cNvGrpSpPr/>
            <p:nvPr/>
          </p:nvGrpSpPr>
          <p:grpSpPr>
            <a:xfrm>
              <a:off x="4737" y="1629"/>
              <a:ext cx="582" cy="149"/>
              <a:chOff x="616" y="2570"/>
              <a:chExt cx="725" cy="137"/>
            </a:xfrm>
          </p:grpSpPr>
          <p:sp>
            <p:nvSpPr>
              <p:cNvPr id="456" name="Google Shape;456;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7" name="Google Shape;457;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58" name="Google Shape;458;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59" name="Google Shape;459;p12"/>
            <p:cNvGrpSpPr/>
            <p:nvPr/>
          </p:nvGrpSpPr>
          <p:grpSpPr>
            <a:xfrm>
              <a:off x="4751" y="1327"/>
              <a:ext cx="564" cy="138"/>
              <a:chOff x="629" y="2568"/>
              <a:chExt cx="702" cy="138"/>
            </a:xfrm>
          </p:grpSpPr>
          <p:sp>
            <p:nvSpPr>
              <p:cNvPr id="460" name="Google Shape;460;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1" name="Google Shape;461;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62" name="Google Shape;462;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3" name="Google Shape;463;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4" name="Google Shape;464;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5" name="Google Shape;465;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6" name="Google Shape;466;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7" name="Google Shape;467;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8" name="Google Shape;468;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9" name="Google Shape;469;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70" name="Google Shape;470;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71" name="Google Shape;471;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72" name="Google Shape;472;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cxnSp>
        <p:nvCxnSpPr>
          <p:cNvPr id="473" name="Google Shape;473;p12"/>
          <p:cNvCxnSpPr/>
          <p:nvPr/>
        </p:nvCxnSpPr>
        <p:spPr>
          <a:xfrm>
            <a:off x="5927725" y="2606675"/>
            <a:ext cx="1123950" cy="790575"/>
          </a:xfrm>
          <a:prstGeom prst="straightConnector1">
            <a:avLst/>
          </a:prstGeom>
          <a:noFill/>
          <a:ln cap="flat" cmpd="sng" w="28575">
            <a:solidFill>
              <a:srgbClr val="CC0000"/>
            </a:solidFill>
            <a:prstDash val="solid"/>
            <a:round/>
            <a:headEnd len="med" w="med" type="triangle"/>
            <a:tailEnd len="med" w="med" type="triangle"/>
          </a:ln>
        </p:spPr>
      </p:cxnSp>
      <p:grpSp>
        <p:nvGrpSpPr>
          <p:cNvPr id="474" name="Google Shape;474;p12"/>
          <p:cNvGrpSpPr/>
          <p:nvPr/>
        </p:nvGrpSpPr>
        <p:grpSpPr>
          <a:xfrm>
            <a:off x="7089775" y="2986088"/>
            <a:ext cx="809625" cy="1049337"/>
            <a:chOff x="4296" y="2627"/>
            <a:chExt cx="510" cy="661"/>
          </a:xfrm>
        </p:grpSpPr>
        <p:sp>
          <p:nvSpPr>
            <p:cNvPr id="475" name="Google Shape;475;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6" name="Google Shape;476;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477" name="Google Shape;477;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78" name="Google Shape;478;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479" name="Google Shape;479;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0" name="Google Shape;480;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481" name="Google Shape;481;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2" name="Google Shape;482;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3" name="Google Shape;483;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4" name="Google Shape;484;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485" name="Google Shape;485;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6" name="Google Shape;486;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7" name="Google Shape;487;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8" name="Google Shape;488;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9" name="Google Shape;489;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490" name="Google Shape;490;p12"/>
          <p:cNvGrpSpPr/>
          <p:nvPr/>
        </p:nvGrpSpPr>
        <p:grpSpPr>
          <a:xfrm>
            <a:off x="5089525" y="4386263"/>
            <a:ext cx="809625" cy="1049337"/>
            <a:chOff x="4296" y="2627"/>
            <a:chExt cx="510" cy="661"/>
          </a:xfrm>
        </p:grpSpPr>
        <p:sp>
          <p:nvSpPr>
            <p:cNvPr id="491" name="Google Shape;491;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2" name="Google Shape;492;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493" name="Google Shape;493;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94" name="Google Shape;494;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495" name="Google Shape;495;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496" name="Google Shape;496;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497" name="Google Shape;497;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498" name="Google Shape;498;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499" name="Google Shape;499;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500" name="Google Shape;500;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501" name="Google Shape;501;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2" name="Google Shape;502;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3" name="Google Shape;503;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4" name="Google Shape;504;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5" name="Google Shape;505;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506" name="Google Shape;506;p12"/>
          <p:cNvGrpSpPr/>
          <p:nvPr/>
        </p:nvGrpSpPr>
        <p:grpSpPr>
          <a:xfrm>
            <a:off x="5089525" y="2138363"/>
            <a:ext cx="809625" cy="1049337"/>
            <a:chOff x="4296" y="2627"/>
            <a:chExt cx="510" cy="661"/>
          </a:xfrm>
        </p:grpSpPr>
        <p:sp>
          <p:nvSpPr>
            <p:cNvPr id="507" name="Google Shape;507;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8" name="Google Shape;508;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509" name="Google Shape;509;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510" name="Google Shape;510;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511" name="Google Shape;511;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2" name="Google Shape;512;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513" name="Google Shape;513;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4" name="Google Shape;514;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5" name="Google Shape;515;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6" name="Google Shape;516;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517" name="Google Shape;517;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8" name="Google Shape;518;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9" name="Google Shape;519;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0" name="Google Shape;520;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1" name="Google Shape;521;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522" name="Google Shape;522;p12"/>
          <p:cNvCxnSpPr/>
          <p:nvPr/>
        </p:nvCxnSpPr>
        <p:spPr>
          <a:xfrm flipH="1" rot="10800000">
            <a:off x="5927725" y="3730625"/>
            <a:ext cx="1123950" cy="1085850"/>
          </a:xfrm>
          <a:prstGeom prst="straightConnector1">
            <a:avLst/>
          </a:prstGeom>
          <a:noFill/>
          <a:ln cap="flat" cmpd="sng" w="28575">
            <a:solidFill>
              <a:srgbClr val="CC0000"/>
            </a:solidFill>
            <a:prstDash val="solid"/>
            <a:round/>
            <a:headEnd len="med" w="med" type="triangle"/>
            <a:tailEnd len="med" w="med" type="triangle"/>
          </a:ln>
        </p:spPr>
      </p:cxnSp>
      <p:cxnSp>
        <p:nvCxnSpPr>
          <p:cNvPr id="523" name="Google Shape;523;p12"/>
          <p:cNvCxnSpPr/>
          <p:nvPr/>
        </p:nvCxnSpPr>
        <p:spPr>
          <a:xfrm rot="10800000">
            <a:off x="5184775" y="3206750"/>
            <a:ext cx="0" cy="1247775"/>
          </a:xfrm>
          <a:prstGeom prst="straightConnector1">
            <a:avLst/>
          </a:prstGeom>
          <a:noFill/>
          <a:ln cap="flat" cmpd="sng" w="28575">
            <a:solidFill>
              <a:srgbClr val="CC0000"/>
            </a:solidFill>
            <a:prstDash val="solid"/>
            <a:round/>
            <a:headEnd len="med" w="med" type="triangle"/>
            <a:tailEnd len="med" w="med" type="triangle"/>
          </a:ln>
        </p:spPr>
      </p:cxnSp>
      <p:grpSp>
        <p:nvGrpSpPr>
          <p:cNvPr id="524" name="Google Shape;524;p12"/>
          <p:cNvGrpSpPr/>
          <p:nvPr/>
        </p:nvGrpSpPr>
        <p:grpSpPr>
          <a:xfrm>
            <a:off x="6024563" y="4024313"/>
            <a:ext cx="1031875" cy="457200"/>
            <a:chOff x="3745" y="2537"/>
            <a:chExt cx="650" cy="288"/>
          </a:xfrm>
        </p:grpSpPr>
        <p:sp>
          <p:nvSpPr>
            <p:cNvPr id="525" name="Google Shape;525;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6" name="Google Shape;526;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27" name="Google Shape;527;p12"/>
          <p:cNvGrpSpPr/>
          <p:nvPr/>
        </p:nvGrpSpPr>
        <p:grpSpPr>
          <a:xfrm>
            <a:off x="5986463" y="2767013"/>
            <a:ext cx="1031875" cy="457200"/>
            <a:chOff x="3745" y="2537"/>
            <a:chExt cx="650" cy="288"/>
          </a:xfrm>
        </p:grpSpPr>
        <p:sp>
          <p:nvSpPr>
            <p:cNvPr id="528" name="Google Shape;528;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9" name="Google Shape;529;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30" name="Google Shape;530;p12"/>
          <p:cNvGrpSpPr/>
          <p:nvPr/>
        </p:nvGrpSpPr>
        <p:grpSpPr>
          <a:xfrm>
            <a:off x="4662488" y="3481388"/>
            <a:ext cx="1031875" cy="457200"/>
            <a:chOff x="3745" y="2537"/>
            <a:chExt cx="650" cy="288"/>
          </a:xfrm>
        </p:grpSpPr>
        <p:sp>
          <p:nvSpPr>
            <p:cNvPr id="531" name="Google Shape;531;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2" name="Google Shape;532;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33" name="Google Shape;533;p12"/>
          <p:cNvGrpSpPr/>
          <p:nvPr/>
        </p:nvGrpSpPr>
        <p:grpSpPr>
          <a:xfrm>
            <a:off x="5694363" y="1406525"/>
            <a:ext cx="912812" cy="1054100"/>
            <a:chOff x="3574" y="550"/>
            <a:chExt cx="575" cy="664"/>
          </a:xfrm>
        </p:grpSpPr>
        <p:grpSp>
          <p:nvGrpSpPr>
            <p:cNvPr id="534" name="Google Shape;534;p12"/>
            <p:cNvGrpSpPr/>
            <p:nvPr/>
          </p:nvGrpSpPr>
          <p:grpSpPr>
            <a:xfrm>
              <a:off x="3588" y="692"/>
              <a:ext cx="561" cy="522"/>
              <a:chOff x="-44" y="1473"/>
              <a:chExt cx="981" cy="1105"/>
            </a:xfrm>
          </p:grpSpPr>
          <p:pic>
            <p:nvPicPr>
              <p:cNvPr descr="desktop_computer_stylized_medium" id="535" name="Google Shape;535;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36" name="Google Shape;536;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37" name="Google Shape;537;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8" name="Google Shape;538;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39" name="Google Shape;539;p12"/>
          <p:cNvGrpSpPr/>
          <p:nvPr/>
        </p:nvGrpSpPr>
        <p:grpSpPr>
          <a:xfrm>
            <a:off x="7731125" y="2222500"/>
            <a:ext cx="912813" cy="1054100"/>
            <a:chOff x="3574" y="550"/>
            <a:chExt cx="575" cy="664"/>
          </a:xfrm>
        </p:grpSpPr>
        <p:grpSp>
          <p:nvGrpSpPr>
            <p:cNvPr id="540" name="Google Shape;540;p12"/>
            <p:cNvGrpSpPr/>
            <p:nvPr/>
          </p:nvGrpSpPr>
          <p:grpSpPr>
            <a:xfrm>
              <a:off x="3588" y="692"/>
              <a:ext cx="561" cy="522"/>
              <a:chOff x="-44" y="1473"/>
              <a:chExt cx="981" cy="1105"/>
            </a:xfrm>
          </p:grpSpPr>
          <p:pic>
            <p:nvPicPr>
              <p:cNvPr descr="desktop_computer_stylized_medium" id="541" name="Google Shape;541;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42" name="Google Shape;542;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43" name="Google Shape;543;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4" name="Google Shape;544;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45" name="Google Shape;545;p12"/>
          <p:cNvGrpSpPr/>
          <p:nvPr/>
        </p:nvGrpSpPr>
        <p:grpSpPr>
          <a:xfrm>
            <a:off x="8067675" y="2984500"/>
            <a:ext cx="912813" cy="1054100"/>
            <a:chOff x="3574" y="550"/>
            <a:chExt cx="575" cy="664"/>
          </a:xfrm>
        </p:grpSpPr>
        <p:grpSp>
          <p:nvGrpSpPr>
            <p:cNvPr id="546" name="Google Shape;546;p12"/>
            <p:cNvGrpSpPr/>
            <p:nvPr/>
          </p:nvGrpSpPr>
          <p:grpSpPr>
            <a:xfrm>
              <a:off x="3588" y="692"/>
              <a:ext cx="561" cy="522"/>
              <a:chOff x="-44" y="1473"/>
              <a:chExt cx="981" cy="1105"/>
            </a:xfrm>
          </p:grpSpPr>
          <p:pic>
            <p:nvPicPr>
              <p:cNvPr descr="desktop_computer_stylized_medium" id="547" name="Google Shape;547;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48" name="Google Shape;548;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49" name="Google Shape;549;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0" name="Google Shape;550;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51" name="Google Shape;551;p12"/>
          <p:cNvGrpSpPr/>
          <p:nvPr/>
        </p:nvGrpSpPr>
        <p:grpSpPr>
          <a:xfrm>
            <a:off x="7935913" y="4032250"/>
            <a:ext cx="912812" cy="1054100"/>
            <a:chOff x="3574" y="550"/>
            <a:chExt cx="575" cy="664"/>
          </a:xfrm>
        </p:grpSpPr>
        <p:grpSp>
          <p:nvGrpSpPr>
            <p:cNvPr id="552" name="Google Shape;552;p12"/>
            <p:cNvGrpSpPr/>
            <p:nvPr/>
          </p:nvGrpSpPr>
          <p:grpSpPr>
            <a:xfrm>
              <a:off x="3588" y="692"/>
              <a:ext cx="561" cy="522"/>
              <a:chOff x="-44" y="1473"/>
              <a:chExt cx="981" cy="1105"/>
            </a:xfrm>
          </p:grpSpPr>
          <p:pic>
            <p:nvPicPr>
              <p:cNvPr descr="desktop_computer_stylized_medium" id="553" name="Google Shape;553;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54" name="Google Shape;554;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55" name="Google Shape;555;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6" name="Google Shape;556;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57" name="Google Shape;557;p12"/>
          <p:cNvGrpSpPr/>
          <p:nvPr/>
        </p:nvGrpSpPr>
        <p:grpSpPr>
          <a:xfrm>
            <a:off x="5324475" y="5470525"/>
            <a:ext cx="912813" cy="1054100"/>
            <a:chOff x="3574" y="550"/>
            <a:chExt cx="575" cy="664"/>
          </a:xfrm>
        </p:grpSpPr>
        <p:grpSp>
          <p:nvGrpSpPr>
            <p:cNvPr id="558" name="Google Shape;558;p12"/>
            <p:cNvGrpSpPr/>
            <p:nvPr/>
          </p:nvGrpSpPr>
          <p:grpSpPr>
            <a:xfrm>
              <a:off x="3588" y="692"/>
              <a:ext cx="561" cy="522"/>
              <a:chOff x="-44" y="1473"/>
              <a:chExt cx="981" cy="1105"/>
            </a:xfrm>
          </p:grpSpPr>
          <p:pic>
            <p:nvPicPr>
              <p:cNvPr descr="desktop_computer_stylized_medium" id="559" name="Google Shape;559;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0" name="Google Shape;560;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61" name="Google Shape;561;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2" name="Google Shape;562;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63" name="Google Shape;563;p12"/>
          <p:cNvGrpSpPr/>
          <p:nvPr/>
        </p:nvGrpSpPr>
        <p:grpSpPr>
          <a:xfrm>
            <a:off x="6053138" y="4851400"/>
            <a:ext cx="912812" cy="1054100"/>
            <a:chOff x="3574" y="550"/>
            <a:chExt cx="575" cy="664"/>
          </a:xfrm>
        </p:grpSpPr>
        <p:grpSp>
          <p:nvGrpSpPr>
            <p:cNvPr id="564" name="Google Shape;564;p12"/>
            <p:cNvGrpSpPr/>
            <p:nvPr/>
          </p:nvGrpSpPr>
          <p:grpSpPr>
            <a:xfrm>
              <a:off x="3588" y="692"/>
              <a:ext cx="561" cy="522"/>
              <a:chOff x="-44" y="1473"/>
              <a:chExt cx="981" cy="1105"/>
            </a:xfrm>
          </p:grpSpPr>
          <p:pic>
            <p:nvPicPr>
              <p:cNvPr descr="desktop_computer_stylized_medium" id="565" name="Google Shape;565;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6" name="Google Shape;566;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67" name="Google Shape;567;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8" name="Google Shape;568;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 Architecture</a:t>
            </a:r>
            <a:endParaRPr/>
          </a:p>
        </p:txBody>
      </p:sp>
      <p:sp>
        <p:nvSpPr>
          <p:cNvPr id="575" name="Google Shape;575;p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To explain the architecture of e-mail, we give four scenarios. We begin with the simplest situation and add complexity as we proceed. The fourth scenario is the most common in the exchange of e-mail.</a:t>
            </a:r>
            <a:endParaRPr/>
          </a:p>
          <a:p>
            <a:pPr indent="-227330" lvl="0" marL="342900" rtl="0" algn="l">
              <a:lnSpc>
                <a:spcPct val="85000"/>
              </a:lnSpc>
              <a:spcBef>
                <a:spcPts val="560"/>
              </a:spcBef>
              <a:spcAft>
                <a:spcPts val="0"/>
              </a:spcAft>
              <a:buSzPts val="1820"/>
              <a:buNone/>
            </a:pPr>
            <a:r>
              <a:t/>
            </a:r>
            <a:endParaRPr/>
          </a:p>
        </p:txBody>
      </p:sp>
      <p:sp>
        <p:nvSpPr>
          <p:cNvPr id="576" name="Google Shape;576;p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577" name="Google Shape;577;p3"/>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pic>
        <p:nvPicPr>
          <p:cNvPr descr="underline_base" id="578" name="Google Shape;578;p3"/>
          <p:cNvPicPr preferRelativeResize="0"/>
          <p:nvPr/>
        </p:nvPicPr>
        <p:blipFill rotWithShape="1">
          <a:blip r:embed="rId3">
            <a:alphaModFix/>
          </a:blip>
          <a:srcRect b="0" l="0" r="0" t="0"/>
          <a:stretch/>
        </p:blipFill>
        <p:spPr>
          <a:xfrm>
            <a:off x="204788" y="846932"/>
            <a:ext cx="5027613" cy="1730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 Architecture</a:t>
            </a:r>
            <a:endParaRPr/>
          </a:p>
        </p:txBody>
      </p:sp>
      <p:sp>
        <p:nvSpPr>
          <p:cNvPr id="585" name="Google Shape;585;p4"/>
          <p:cNvSpPr txBox="1"/>
          <p:nvPr>
            <p:ph idx="1" type="body"/>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u="sng"/>
              <a:t>First scenario</a:t>
            </a:r>
            <a:endParaRPr/>
          </a:p>
          <a:p>
            <a:pPr indent="0" lvl="0" marL="0" rtl="0" algn="l">
              <a:lnSpc>
                <a:spcPct val="85000"/>
              </a:lnSpc>
              <a:spcBef>
                <a:spcPts val="560"/>
              </a:spcBef>
              <a:spcAft>
                <a:spcPts val="0"/>
              </a:spcAft>
              <a:buSzPts val="1820"/>
              <a:buNone/>
            </a:pPr>
            <a:r>
              <a:t/>
            </a:r>
            <a:endParaRPr/>
          </a:p>
        </p:txBody>
      </p:sp>
      <p:sp>
        <p:nvSpPr>
          <p:cNvPr id="586" name="Google Shape;586;p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587" name="Google Shape;587;p4"/>
          <p:cNvPicPr preferRelativeResize="0"/>
          <p:nvPr/>
        </p:nvPicPr>
        <p:blipFill rotWithShape="1">
          <a:blip r:embed="rId3">
            <a:alphaModFix/>
          </a:blip>
          <a:srcRect b="0" l="0" r="0" t="0"/>
          <a:stretch/>
        </p:blipFill>
        <p:spPr>
          <a:xfrm>
            <a:off x="977900" y="2103577"/>
            <a:ext cx="6718300" cy="2135187"/>
          </a:xfrm>
          <a:prstGeom prst="rect">
            <a:avLst/>
          </a:prstGeom>
          <a:noFill/>
          <a:ln>
            <a:noFill/>
          </a:ln>
        </p:spPr>
      </p:pic>
      <p:pic>
        <p:nvPicPr>
          <p:cNvPr id="588" name="Google Shape;588;p4"/>
          <p:cNvPicPr preferRelativeResize="0"/>
          <p:nvPr/>
        </p:nvPicPr>
        <p:blipFill rotWithShape="1">
          <a:blip r:embed="rId4">
            <a:alphaModFix/>
          </a:blip>
          <a:srcRect b="0" l="0" r="0" t="0"/>
          <a:stretch/>
        </p:blipFill>
        <p:spPr>
          <a:xfrm>
            <a:off x="1778000" y="2695714"/>
            <a:ext cx="2641600" cy="1009650"/>
          </a:xfrm>
          <a:prstGeom prst="rect">
            <a:avLst/>
          </a:prstGeom>
          <a:noFill/>
          <a:ln>
            <a:noFill/>
          </a:ln>
        </p:spPr>
      </p:pic>
      <p:pic>
        <p:nvPicPr>
          <p:cNvPr id="589" name="Google Shape;589;p4"/>
          <p:cNvPicPr preferRelativeResize="0"/>
          <p:nvPr/>
        </p:nvPicPr>
        <p:blipFill rotWithShape="1">
          <a:blip r:embed="rId5">
            <a:alphaModFix/>
          </a:blip>
          <a:srcRect b="0" l="0" r="0" t="0"/>
          <a:stretch/>
        </p:blipFill>
        <p:spPr>
          <a:xfrm>
            <a:off x="4267200" y="2409964"/>
            <a:ext cx="2687638" cy="512763"/>
          </a:xfrm>
          <a:prstGeom prst="rect">
            <a:avLst/>
          </a:prstGeom>
          <a:noFill/>
          <a:ln>
            <a:noFill/>
          </a:ln>
        </p:spPr>
      </p:pic>
      <p:sp>
        <p:nvSpPr>
          <p:cNvPr id="590" name="Google Shape;590;p4"/>
          <p:cNvSpPr/>
          <p:nvPr/>
        </p:nvSpPr>
        <p:spPr>
          <a:xfrm>
            <a:off x="660400" y="4706937"/>
            <a:ext cx="8077200" cy="147117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When the sender and the receiver of an e-mail are on the same mail server (both using gmail),</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we need only two user agents.</a:t>
            </a:r>
            <a:endParaRPr b="0" i="0" sz="1400" u="none" cap="none" strike="noStrike">
              <a:solidFill>
                <a:srgbClr val="000000"/>
              </a:solidFill>
              <a:latin typeface="Arial"/>
              <a:ea typeface="Arial"/>
              <a:cs typeface="Arial"/>
              <a:sym typeface="Arial"/>
            </a:endParaRPr>
          </a:p>
        </p:txBody>
      </p:sp>
      <p:pic>
        <p:nvPicPr>
          <p:cNvPr descr="underline_base" id="591" name="Google Shape;591;p4"/>
          <p:cNvPicPr preferRelativeResize="0"/>
          <p:nvPr/>
        </p:nvPicPr>
        <p:blipFill rotWithShape="1">
          <a:blip r:embed="rId6">
            <a:alphaModFix/>
          </a:blip>
          <a:srcRect b="0" l="0" r="0" t="0"/>
          <a:stretch/>
        </p:blipFill>
        <p:spPr>
          <a:xfrm>
            <a:off x="204788" y="846932"/>
            <a:ext cx="5027613" cy="173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20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2000"/>
                                        <p:tgtEl>
                                          <p:spTgt spid="58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598" name="Google Shape;598;p5"/>
          <p:cNvPicPr preferRelativeResize="0"/>
          <p:nvPr/>
        </p:nvPicPr>
        <p:blipFill rotWithShape="1">
          <a:blip r:embed="rId3">
            <a:alphaModFix/>
          </a:blip>
          <a:srcRect b="0" l="0" r="0" t="0"/>
          <a:stretch/>
        </p:blipFill>
        <p:spPr>
          <a:xfrm>
            <a:off x="725488" y="1530333"/>
            <a:ext cx="7504112" cy="2500312"/>
          </a:xfrm>
          <a:prstGeom prst="rect">
            <a:avLst/>
          </a:prstGeom>
          <a:noFill/>
          <a:ln>
            <a:noFill/>
          </a:ln>
        </p:spPr>
      </p:pic>
      <p:pic>
        <p:nvPicPr>
          <p:cNvPr id="599" name="Google Shape;599;p5"/>
          <p:cNvPicPr preferRelativeResize="0"/>
          <p:nvPr/>
        </p:nvPicPr>
        <p:blipFill rotWithShape="1">
          <a:blip r:embed="rId4">
            <a:alphaModFix/>
          </a:blip>
          <a:srcRect b="0" l="0" r="0" t="0"/>
          <a:stretch/>
        </p:blipFill>
        <p:spPr>
          <a:xfrm>
            <a:off x="1219200" y="2044683"/>
            <a:ext cx="1471613" cy="614362"/>
          </a:xfrm>
          <a:prstGeom prst="rect">
            <a:avLst/>
          </a:prstGeom>
          <a:noFill/>
          <a:ln>
            <a:noFill/>
          </a:ln>
        </p:spPr>
      </p:pic>
      <p:pic>
        <p:nvPicPr>
          <p:cNvPr id="600" name="Google Shape;600;p5"/>
          <p:cNvPicPr preferRelativeResize="0"/>
          <p:nvPr/>
        </p:nvPicPr>
        <p:blipFill rotWithShape="1">
          <a:blip r:embed="rId5">
            <a:alphaModFix/>
          </a:blip>
          <a:srcRect b="0" l="0" r="0" t="0"/>
          <a:stretch/>
        </p:blipFill>
        <p:spPr>
          <a:xfrm>
            <a:off x="2520950" y="2735245"/>
            <a:ext cx="374650" cy="327025"/>
          </a:xfrm>
          <a:prstGeom prst="rect">
            <a:avLst/>
          </a:prstGeom>
          <a:noFill/>
          <a:ln>
            <a:noFill/>
          </a:ln>
        </p:spPr>
      </p:pic>
      <p:pic>
        <p:nvPicPr>
          <p:cNvPr id="601" name="Google Shape;601;p5"/>
          <p:cNvPicPr preferRelativeResize="0"/>
          <p:nvPr/>
        </p:nvPicPr>
        <p:blipFill rotWithShape="1">
          <a:blip r:embed="rId6">
            <a:alphaModFix/>
          </a:blip>
          <a:srcRect b="0" l="0" r="0" t="0"/>
          <a:stretch/>
        </p:blipFill>
        <p:spPr>
          <a:xfrm>
            <a:off x="3352800" y="2735245"/>
            <a:ext cx="2093913" cy="290513"/>
          </a:xfrm>
          <a:prstGeom prst="rect">
            <a:avLst/>
          </a:prstGeom>
          <a:noFill/>
          <a:ln>
            <a:noFill/>
          </a:ln>
        </p:spPr>
      </p:pic>
      <p:pic>
        <p:nvPicPr>
          <p:cNvPr id="602" name="Google Shape;602;p5"/>
          <p:cNvPicPr preferRelativeResize="0"/>
          <p:nvPr/>
        </p:nvPicPr>
        <p:blipFill rotWithShape="1">
          <a:blip r:embed="rId7">
            <a:alphaModFix/>
          </a:blip>
          <a:srcRect b="0" l="0" r="0" t="0"/>
          <a:stretch/>
        </p:blipFill>
        <p:spPr>
          <a:xfrm>
            <a:off x="5943600" y="2735245"/>
            <a:ext cx="374650" cy="320675"/>
          </a:xfrm>
          <a:prstGeom prst="rect">
            <a:avLst/>
          </a:prstGeom>
          <a:noFill/>
          <a:ln>
            <a:noFill/>
          </a:ln>
        </p:spPr>
      </p:pic>
      <p:pic>
        <p:nvPicPr>
          <p:cNvPr id="603" name="Google Shape;603;p5"/>
          <p:cNvPicPr preferRelativeResize="0"/>
          <p:nvPr/>
        </p:nvPicPr>
        <p:blipFill rotWithShape="1">
          <a:blip r:embed="rId8">
            <a:alphaModFix/>
          </a:blip>
          <a:srcRect b="0" l="0" r="0" t="0"/>
          <a:stretch/>
        </p:blipFill>
        <p:spPr>
          <a:xfrm>
            <a:off x="6096000" y="1987533"/>
            <a:ext cx="1590675" cy="595312"/>
          </a:xfrm>
          <a:prstGeom prst="rect">
            <a:avLst/>
          </a:prstGeom>
          <a:noFill/>
          <a:ln>
            <a:noFill/>
          </a:ln>
        </p:spPr>
      </p:pic>
      <p:sp>
        <p:nvSpPr>
          <p:cNvPr id="604" name="Google Shape;604;p5"/>
          <p:cNvSpPr/>
          <p:nvPr/>
        </p:nvSpPr>
        <p:spPr>
          <a:xfrm>
            <a:off x="592138" y="4362716"/>
            <a:ext cx="8077200" cy="190205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When the sender and the receiver of an e-mail are on different mail servers,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we need two UAs and a pair of MTAs (client and server).</a:t>
            </a:r>
            <a:endParaRPr b="0" i="0" sz="1400" u="none" cap="none" strike="noStrike">
              <a:solidFill>
                <a:srgbClr val="000000"/>
              </a:solidFill>
              <a:latin typeface="Arial"/>
              <a:ea typeface="Arial"/>
              <a:cs typeface="Arial"/>
              <a:sym typeface="Arial"/>
            </a:endParaRPr>
          </a:p>
        </p:txBody>
      </p:sp>
      <p:sp>
        <p:nvSpPr>
          <p:cNvPr id="605" name="Google Shape;605;p5"/>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4400" u="none" cap="none" strike="noStrike">
              <a:solidFill>
                <a:srgbClr val="000099"/>
              </a:solidFill>
              <a:latin typeface="Gill Sans"/>
              <a:ea typeface="Gill Sans"/>
              <a:cs typeface="Gill Sans"/>
              <a:sym typeface="Gill Sans"/>
            </a:endParaRPr>
          </a:p>
        </p:txBody>
      </p:sp>
      <p:pic>
        <p:nvPicPr>
          <p:cNvPr descr="underline_base" id="606" name="Google Shape;606;p5"/>
          <p:cNvPicPr preferRelativeResize="0"/>
          <p:nvPr/>
        </p:nvPicPr>
        <p:blipFill rotWithShape="1">
          <a:blip r:embed="rId9">
            <a:alphaModFix/>
          </a:blip>
          <a:srcRect b="0" l="0" r="0" t="0"/>
          <a:stretch/>
        </p:blipFill>
        <p:spPr>
          <a:xfrm>
            <a:off x="204788" y="846932"/>
            <a:ext cx="5027613" cy="173037"/>
          </a:xfrm>
          <a:prstGeom prst="rect">
            <a:avLst/>
          </a:prstGeom>
          <a:noFill/>
          <a:ln>
            <a:noFill/>
          </a:ln>
        </p:spPr>
      </p:pic>
      <p:sp>
        <p:nvSpPr>
          <p:cNvPr id="607" name="Google Shape;607;p5"/>
          <p:cNvSpPr txBox="1"/>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2nd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20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2000"/>
                                        <p:tgtEl>
                                          <p:spTgt spid="6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20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20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2000"/>
                                        <p:tgtEl>
                                          <p:spTgt spid="60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id="613" name="Google Shape;613;p6"/>
          <p:cNvPicPr preferRelativeResize="0"/>
          <p:nvPr/>
        </p:nvPicPr>
        <p:blipFill rotWithShape="1">
          <a:blip r:embed="rId3">
            <a:alphaModFix/>
          </a:blip>
          <a:srcRect b="0" l="0" r="0" t="0"/>
          <a:stretch/>
        </p:blipFill>
        <p:spPr>
          <a:xfrm>
            <a:off x="757615" y="2191510"/>
            <a:ext cx="7294562" cy="4235450"/>
          </a:xfrm>
          <a:prstGeom prst="rect">
            <a:avLst/>
          </a:prstGeom>
          <a:noFill/>
          <a:ln>
            <a:noFill/>
          </a:ln>
        </p:spPr>
      </p:pic>
      <p:pic>
        <p:nvPicPr>
          <p:cNvPr id="614" name="Google Shape;614;p6"/>
          <p:cNvPicPr preferRelativeResize="0"/>
          <p:nvPr/>
        </p:nvPicPr>
        <p:blipFill rotWithShape="1">
          <a:blip r:embed="rId4">
            <a:alphaModFix/>
          </a:blip>
          <a:srcRect b="0" l="0" r="0" t="0"/>
          <a:stretch/>
        </p:blipFill>
        <p:spPr>
          <a:xfrm>
            <a:off x="1194177" y="2540760"/>
            <a:ext cx="576263" cy="192088"/>
          </a:xfrm>
          <a:prstGeom prst="rect">
            <a:avLst/>
          </a:prstGeom>
          <a:noFill/>
          <a:ln>
            <a:noFill/>
          </a:ln>
        </p:spPr>
      </p:pic>
      <p:pic>
        <p:nvPicPr>
          <p:cNvPr id="615" name="Google Shape;615;p6"/>
          <p:cNvPicPr preferRelativeResize="0"/>
          <p:nvPr/>
        </p:nvPicPr>
        <p:blipFill rotWithShape="1">
          <a:blip r:embed="rId5">
            <a:alphaModFix/>
          </a:blip>
          <a:srcRect b="0" l="0" r="0" t="0"/>
          <a:stretch/>
        </p:blipFill>
        <p:spPr>
          <a:xfrm>
            <a:off x="2337177" y="2616960"/>
            <a:ext cx="1362075" cy="1389063"/>
          </a:xfrm>
          <a:prstGeom prst="rect">
            <a:avLst/>
          </a:prstGeom>
          <a:noFill/>
          <a:ln>
            <a:noFill/>
          </a:ln>
        </p:spPr>
      </p:pic>
      <p:pic>
        <p:nvPicPr>
          <p:cNvPr id="616" name="Google Shape;616;p6"/>
          <p:cNvPicPr preferRelativeResize="0"/>
          <p:nvPr/>
        </p:nvPicPr>
        <p:blipFill rotWithShape="1">
          <a:blip r:embed="rId6">
            <a:alphaModFix/>
          </a:blip>
          <a:srcRect b="0" l="0" r="0" t="0"/>
          <a:stretch/>
        </p:blipFill>
        <p:spPr>
          <a:xfrm>
            <a:off x="3556377" y="4521960"/>
            <a:ext cx="328613" cy="419100"/>
          </a:xfrm>
          <a:prstGeom prst="rect">
            <a:avLst/>
          </a:prstGeom>
          <a:noFill/>
          <a:ln>
            <a:noFill/>
          </a:ln>
        </p:spPr>
      </p:pic>
      <p:pic>
        <p:nvPicPr>
          <p:cNvPr id="617" name="Google Shape;617;p6"/>
          <p:cNvPicPr preferRelativeResize="0"/>
          <p:nvPr/>
        </p:nvPicPr>
        <p:blipFill rotWithShape="1">
          <a:blip r:embed="rId7">
            <a:alphaModFix/>
          </a:blip>
          <a:srcRect b="0" l="0" r="0" t="0"/>
          <a:stretch/>
        </p:blipFill>
        <p:spPr>
          <a:xfrm>
            <a:off x="3523040" y="5283960"/>
            <a:ext cx="338137" cy="276225"/>
          </a:xfrm>
          <a:prstGeom prst="rect">
            <a:avLst/>
          </a:prstGeom>
          <a:noFill/>
          <a:ln>
            <a:noFill/>
          </a:ln>
        </p:spPr>
      </p:pic>
      <p:pic>
        <p:nvPicPr>
          <p:cNvPr id="618" name="Google Shape;618;p6"/>
          <p:cNvPicPr preferRelativeResize="0"/>
          <p:nvPr/>
        </p:nvPicPr>
        <p:blipFill rotWithShape="1">
          <a:blip r:embed="rId8">
            <a:alphaModFix/>
          </a:blip>
          <a:srcRect b="0" l="0" r="0" t="0"/>
          <a:stretch/>
        </p:blipFill>
        <p:spPr>
          <a:xfrm>
            <a:off x="4242177" y="5225223"/>
            <a:ext cx="1746250" cy="287337"/>
          </a:xfrm>
          <a:prstGeom prst="rect">
            <a:avLst/>
          </a:prstGeom>
          <a:noFill/>
          <a:ln>
            <a:noFill/>
          </a:ln>
        </p:spPr>
      </p:pic>
      <p:pic>
        <p:nvPicPr>
          <p:cNvPr id="619" name="Google Shape;619;p6"/>
          <p:cNvPicPr preferRelativeResize="0"/>
          <p:nvPr/>
        </p:nvPicPr>
        <p:blipFill rotWithShape="1">
          <a:blip r:embed="rId9">
            <a:alphaModFix/>
          </a:blip>
          <a:srcRect b="0" l="0" r="0" t="0"/>
          <a:stretch/>
        </p:blipFill>
        <p:spPr>
          <a:xfrm>
            <a:off x="6512302" y="5233160"/>
            <a:ext cx="320675" cy="279400"/>
          </a:xfrm>
          <a:prstGeom prst="rect">
            <a:avLst/>
          </a:prstGeom>
          <a:noFill/>
          <a:ln>
            <a:noFill/>
          </a:ln>
        </p:spPr>
      </p:pic>
      <p:pic>
        <p:nvPicPr>
          <p:cNvPr id="620" name="Google Shape;620;p6"/>
          <p:cNvPicPr preferRelativeResize="0"/>
          <p:nvPr/>
        </p:nvPicPr>
        <p:blipFill rotWithShape="1">
          <a:blip r:embed="rId10">
            <a:alphaModFix/>
          </a:blip>
          <a:srcRect b="0" l="0" r="0" t="0"/>
          <a:stretch/>
        </p:blipFill>
        <p:spPr>
          <a:xfrm>
            <a:off x="6561515" y="4637848"/>
            <a:ext cx="1033462" cy="493712"/>
          </a:xfrm>
          <a:prstGeom prst="rect">
            <a:avLst/>
          </a:prstGeom>
          <a:noFill/>
          <a:ln>
            <a:noFill/>
          </a:ln>
        </p:spPr>
      </p:pic>
      <p:sp>
        <p:nvSpPr>
          <p:cNvPr id="621" name="Google Shape;621;p6"/>
          <p:cNvSpPr/>
          <p:nvPr/>
        </p:nvSpPr>
        <p:spPr>
          <a:xfrm>
            <a:off x="3460841" y="1485336"/>
            <a:ext cx="5695097" cy="164352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accent2"/>
              </a:buClr>
              <a:buSzPts val="2040"/>
              <a:buFont typeface="Arial"/>
              <a:buChar char="•"/>
            </a:pPr>
            <a:r>
              <a:rPr b="0" i="0" lang="en-US" sz="2400" u="none" cap="none" strike="noStrike">
                <a:solidFill>
                  <a:schemeClr val="dk1"/>
                </a:solidFill>
                <a:latin typeface="Arial"/>
                <a:ea typeface="Arial"/>
                <a:cs typeface="Arial"/>
                <a:sym typeface="Arial"/>
              </a:rPr>
              <a:t>When the sender is connected to the mail server via a LAN /WAN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80"/>
              </a:spcBef>
              <a:spcAft>
                <a:spcPts val="0"/>
              </a:spcAft>
              <a:buClr>
                <a:schemeClr val="accent2"/>
              </a:buClr>
              <a:buSzPts val="2040"/>
              <a:buFont typeface="Arial"/>
              <a:buChar char="•"/>
            </a:pPr>
            <a:r>
              <a:rPr b="0" i="0" lang="en-US" sz="2400" u="none" cap="none" strike="noStrike">
                <a:solidFill>
                  <a:schemeClr val="dk1"/>
                </a:solidFill>
                <a:latin typeface="Arial"/>
                <a:ea typeface="Arial"/>
                <a:cs typeface="Arial"/>
                <a:sym typeface="Arial"/>
              </a:rPr>
              <a:t>we need two UAs and two pairs of MTAs (client and server).</a:t>
            </a:r>
            <a:endParaRPr b="0" i="0" sz="1400" u="none" cap="none" strike="noStrike">
              <a:solidFill>
                <a:srgbClr val="000000"/>
              </a:solidFill>
              <a:latin typeface="Arial"/>
              <a:ea typeface="Arial"/>
              <a:cs typeface="Arial"/>
              <a:sym typeface="Arial"/>
            </a:endParaRPr>
          </a:p>
        </p:txBody>
      </p:sp>
      <p:sp>
        <p:nvSpPr>
          <p:cNvPr id="622" name="Google Shape;622;p6"/>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4400" u="none" cap="none" strike="noStrike">
              <a:solidFill>
                <a:srgbClr val="000099"/>
              </a:solidFill>
              <a:latin typeface="Gill Sans"/>
              <a:ea typeface="Gill Sans"/>
              <a:cs typeface="Gill Sans"/>
              <a:sym typeface="Gill Sans"/>
            </a:endParaRPr>
          </a:p>
        </p:txBody>
      </p:sp>
      <p:pic>
        <p:nvPicPr>
          <p:cNvPr descr="underline_base" id="623" name="Google Shape;623;p6"/>
          <p:cNvPicPr preferRelativeResize="0"/>
          <p:nvPr/>
        </p:nvPicPr>
        <p:blipFill rotWithShape="1">
          <a:blip r:embed="rId11">
            <a:alphaModFix/>
          </a:blip>
          <a:srcRect b="0" l="0" r="0" t="0"/>
          <a:stretch/>
        </p:blipFill>
        <p:spPr>
          <a:xfrm>
            <a:off x="204788" y="846932"/>
            <a:ext cx="5027613" cy="173037"/>
          </a:xfrm>
          <a:prstGeom prst="rect">
            <a:avLst/>
          </a:prstGeom>
          <a:noFill/>
          <a:ln>
            <a:noFill/>
          </a:ln>
        </p:spPr>
      </p:pic>
      <p:sp>
        <p:nvSpPr>
          <p:cNvPr id="624" name="Google Shape;624;p6"/>
          <p:cNvSpPr txBox="1"/>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3rd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20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20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2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2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20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20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2000"/>
                                        <p:tgtEl>
                                          <p:spTgt spid="6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7"/>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631" name="Google Shape;631;p7"/>
          <p:cNvPicPr preferRelativeResize="0"/>
          <p:nvPr/>
        </p:nvPicPr>
        <p:blipFill rotWithShape="1">
          <a:blip r:embed="rId3">
            <a:alphaModFix/>
          </a:blip>
          <a:srcRect b="0" l="0" r="0" t="0"/>
          <a:stretch/>
        </p:blipFill>
        <p:spPr>
          <a:xfrm>
            <a:off x="855663" y="891177"/>
            <a:ext cx="7678737" cy="4184650"/>
          </a:xfrm>
          <a:prstGeom prst="rect">
            <a:avLst/>
          </a:prstGeom>
          <a:noFill/>
          <a:ln>
            <a:noFill/>
          </a:ln>
        </p:spPr>
      </p:pic>
      <p:pic>
        <p:nvPicPr>
          <p:cNvPr id="632" name="Google Shape;632;p7"/>
          <p:cNvPicPr preferRelativeResize="0"/>
          <p:nvPr/>
        </p:nvPicPr>
        <p:blipFill rotWithShape="1">
          <a:blip r:embed="rId4">
            <a:alphaModFix/>
          </a:blip>
          <a:srcRect b="0" l="0" r="0" t="0"/>
          <a:stretch/>
        </p:blipFill>
        <p:spPr>
          <a:xfrm>
            <a:off x="1295400" y="1265827"/>
            <a:ext cx="576263" cy="192088"/>
          </a:xfrm>
          <a:prstGeom prst="rect">
            <a:avLst/>
          </a:prstGeom>
          <a:noFill/>
          <a:ln>
            <a:noFill/>
          </a:ln>
        </p:spPr>
      </p:pic>
      <p:pic>
        <p:nvPicPr>
          <p:cNvPr id="633" name="Google Shape;633;p7"/>
          <p:cNvPicPr preferRelativeResize="0"/>
          <p:nvPr/>
        </p:nvPicPr>
        <p:blipFill rotWithShape="1">
          <a:blip r:embed="rId5">
            <a:alphaModFix/>
          </a:blip>
          <a:srcRect b="0" l="0" r="0" t="0"/>
          <a:stretch/>
        </p:blipFill>
        <p:spPr>
          <a:xfrm>
            <a:off x="2438400" y="1342027"/>
            <a:ext cx="812800" cy="1349375"/>
          </a:xfrm>
          <a:prstGeom prst="rect">
            <a:avLst/>
          </a:prstGeom>
          <a:noFill/>
          <a:ln>
            <a:noFill/>
          </a:ln>
        </p:spPr>
      </p:pic>
      <p:pic>
        <p:nvPicPr>
          <p:cNvPr id="634" name="Google Shape;634;p7"/>
          <p:cNvPicPr preferRelativeResize="0"/>
          <p:nvPr/>
        </p:nvPicPr>
        <p:blipFill rotWithShape="1">
          <a:blip r:embed="rId6">
            <a:alphaModFix/>
          </a:blip>
          <a:srcRect b="0" l="0" r="0" t="0"/>
          <a:stretch/>
        </p:blipFill>
        <p:spPr>
          <a:xfrm>
            <a:off x="3176588" y="3278777"/>
            <a:ext cx="328612" cy="425450"/>
          </a:xfrm>
          <a:prstGeom prst="rect">
            <a:avLst/>
          </a:prstGeom>
          <a:noFill/>
          <a:ln>
            <a:noFill/>
          </a:ln>
        </p:spPr>
      </p:pic>
      <p:pic>
        <p:nvPicPr>
          <p:cNvPr id="635" name="Google Shape;635;p7"/>
          <p:cNvPicPr preferRelativeResize="0"/>
          <p:nvPr/>
        </p:nvPicPr>
        <p:blipFill rotWithShape="1">
          <a:blip r:embed="rId7">
            <a:alphaModFix/>
          </a:blip>
          <a:srcRect b="0" l="0" r="0" t="0"/>
          <a:stretch/>
        </p:blipFill>
        <p:spPr>
          <a:xfrm>
            <a:off x="3167063" y="4009027"/>
            <a:ext cx="338137" cy="276225"/>
          </a:xfrm>
          <a:prstGeom prst="rect">
            <a:avLst/>
          </a:prstGeom>
          <a:noFill/>
          <a:ln>
            <a:noFill/>
          </a:ln>
        </p:spPr>
      </p:pic>
      <p:pic>
        <p:nvPicPr>
          <p:cNvPr id="636" name="Google Shape;636;p7"/>
          <p:cNvPicPr preferRelativeResize="0"/>
          <p:nvPr/>
        </p:nvPicPr>
        <p:blipFill rotWithShape="1">
          <a:blip r:embed="rId8">
            <a:alphaModFix/>
          </a:blip>
          <a:srcRect b="0" l="0" r="0" t="0"/>
          <a:stretch/>
        </p:blipFill>
        <p:spPr>
          <a:xfrm>
            <a:off x="3889375" y="3956640"/>
            <a:ext cx="1444625" cy="280987"/>
          </a:xfrm>
          <a:prstGeom prst="rect">
            <a:avLst/>
          </a:prstGeom>
          <a:noFill/>
          <a:ln>
            <a:noFill/>
          </a:ln>
        </p:spPr>
      </p:pic>
      <p:pic>
        <p:nvPicPr>
          <p:cNvPr id="637" name="Google Shape;637;p7"/>
          <p:cNvPicPr preferRelativeResize="0"/>
          <p:nvPr/>
        </p:nvPicPr>
        <p:blipFill rotWithShape="1">
          <a:blip r:embed="rId9">
            <a:alphaModFix/>
          </a:blip>
          <a:srcRect b="0" l="0" r="0" t="0"/>
          <a:stretch/>
        </p:blipFill>
        <p:spPr>
          <a:xfrm>
            <a:off x="5851525" y="3967752"/>
            <a:ext cx="320675" cy="269875"/>
          </a:xfrm>
          <a:prstGeom prst="rect">
            <a:avLst/>
          </a:prstGeom>
          <a:noFill/>
          <a:ln>
            <a:noFill/>
          </a:ln>
        </p:spPr>
      </p:pic>
      <p:pic>
        <p:nvPicPr>
          <p:cNvPr id="638" name="Google Shape;638;p7"/>
          <p:cNvPicPr preferRelativeResize="0"/>
          <p:nvPr/>
        </p:nvPicPr>
        <p:blipFill rotWithShape="1">
          <a:blip r:embed="rId10">
            <a:alphaModFix/>
          </a:blip>
          <a:srcRect b="0" l="0" r="0" t="0"/>
          <a:stretch/>
        </p:blipFill>
        <p:spPr>
          <a:xfrm>
            <a:off x="5867400" y="3247027"/>
            <a:ext cx="338138" cy="342900"/>
          </a:xfrm>
          <a:prstGeom prst="rect">
            <a:avLst/>
          </a:prstGeom>
          <a:noFill/>
          <a:ln>
            <a:noFill/>
          </a:ln>
        </p:spPr>
      </p:pic>
      <p:pic>
        <p:nvPicPr>
          <p:cNvPr id="639" name="Google Shape;639;p7"/>
          <p:cNvPicPr preferRelativeResize="0"/>
          <p:nvPr/>
        </p:nvPicPr>
        <p:blipFill rotWithShape="1">
          <a:blip r:embed="rId11">
            <a:alphaModFix/>
          </a:blip>
          <a:srcRect b="0" l="0" r="0" t="0"/>
          <a:stretch/>
        </p:blipFill>
        <p:spPr>
          <a:xfrm>
            <a:off x="5867400" y="1376952"/>
            <a:ext cx="1077913" cy="1336675"/>
          </a:xfrm>
          <a:prstGeom prst="rect">
            <a:avLst/>
          </a:prstGeom>
          <a:noFill/>
          <a:ln>
            <a:noFill/>
          </a:ln>
        </p:spPr>
      </p:pic>
      <p:pic>
        <p:nvPicPr>
          <p:cNvPr id="640" name="Google Shape;640;p7"/>
          <p:cNvPicPr preferRelativeResize="0"/>
          <p:nvPr/>
        </p:nvPicPr>
        <p:blipFill rotWithShape="1">
          <a:blip r:embed="rId12">
            <a:alphaModFix/>
          </a:blip>
          <a:srcRect b="0" l="0" r="0" t="0"/>
          <a:stretch/>
        </p:blipFill>
        <p:spPr>
          <a:xfrm>
            <a:off x="7543800" y="1226140"/>
            <a:ext cx="576263" cy="192087"/>
          </a:xfrm>
          <a:prstGeom prst="rect">
            <a:avLst/>
          </a:prstGeom>
          <a:noFill/>
          <a:ln>
            <a:noFill/>
          </a:ln>
        </p:spPr>
      </p:pic>
      <p:sp>
        <p:nvSpPr>
          <p:cNvPr id="641" name="Google Shape;641;p7"/>
          <p:cNvSpPr/>
          <p:nvPr/>
        </p:nvSpPr>
        <p:spPr>
          <a:xfrm>
            <a:off x="76201" y="5188046"/>
            <a:ext cx="9067800" cy="14465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both sender and receiver are connected to the mail server via a LAN/ WAN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0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need two UAs, two pairs of MTAs (client and server), and a pair of MAAs (client and server).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0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This is the most common situation today.</a:t>
            </a:r>
            <a:endParaRPr b="0" i="0" sz="1400" u="none" cap="none" strike="noStrike">
              <a:solidFill>
                <a:srgbClr val="000000"/>
              </a:solidFill>
              <a:latin typeface="Arial"/>
              <a:ea typeface="Arial"/>
              <a:cs typeface="Arial"/>
              <a:sym typeface="Arial"/>
            </a:endParaRPr>
          </a:p>
        </p:txBody>
      </p:sp>
      <p:sp>
        <p:nvSpPr>
          <p:cNvPr id="642" name="Google Shape;642;p7"/>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1400" u="none" cap="none" strike="noStrike">
              <a:solidFill>
                <a:srgbClr val="000000"/>
              </a:solidFill>
              <a:latin typeface="Arial"/>
              <a:ea typeface="Arial"/>
              <a:cs typeface="Arial"/>
              <a:sym typeface="Arial"/>
            </a:endParaRPr>
          </a:p>
        </p:txBody>
      </p:sp>
      <p:pic>
        <p:nvPicPr>
          <p:cNvPr descr="underline_base" id="643" name="Google Shape;643;p7"/>
          <p:cNvPicPr preferRelativeResize="0"/>
          <p:nvPr/>
        </p:nvPicPr>
        <p:blipFill rotWithShape="1">
          <a:blip r:embed="rId13">
            <a:alphaModFix/>
          </a:blip>
          <a:srcRect b="0" l="0" r="0" t="0"/>
          <a:stretch/>
        </p:blipFill>
        <p:spPr>
          <a:xfrm>
            <a:off x="204788" y="751396"/>
            <a:ext cx="5027613" cy="173037"/>
          </a:xfrm>
          <a:prstGeom prst="rect">
            <a:avLst/>
          </a:prstGeom>
          <a:noFill/>
          <a:ln>
            <a:noFill/>
          </a:ln>
        </p:spPr>
      </p:pic>
      <p:sp>
        <p:nvSpPr>
          <p:cNvPr id="644" name="Google Shape;644;p7"/>
          <p:cNvSpPr txBox="1"/>
          <p:nvPr/>
        </p:nvSpPr>
        <p:spPr>
          <a:xfrm>
            <a:off x="76200" y="3187925"/>
            <a:ext cx="2407800" cy="650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4th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2000"/>
                                        <p:tgtEl>
                                          <p:spTgt spid="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20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2000"/>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20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20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20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2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2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2000"/>
                                        <p:tgtEl>
                                          <p:spTgt spid="64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Message Transfer Agent</a:t>
            </a:r>
            <a:endParaRPr/>
          </a:p>
        </p:txBody>
      </p:sp>
      <p:sp>
        <p:nvSpPr>
          <p:cNvPr id="651" name="Google Shape;651;p11"/>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The actual mail transfer is done through message transfer agents (MTAs). </a:t>
            </a:r>
            <a:endParaRPr/>
          </a:p>
          <a:p>
            <a:pPr indent="-342900" lvl="0" marL="342900" rtl="0" algn="l">
              <a:lnSpc>
                <a:spcPct val="85000"/>
              </a:lnSpc>
              <a:spcBef>
                <a:spcPts val="560"/>
              </a:spcBef>
              <a:spcAft>
                <a:spcPts val="0"/>
              </a:spcAft>
              <a:buSzPts val="1820"/>
              <a:buChar char="❖"/>
            </a:pPr>
            <a:r>
              <a:rPr lang="en-US"/>
              <a:t>To send mail, a system must have the client MTA, and to receive mail, a system must have a server MTA. </a:t>
            </a:r>
            <a:endParaRPr/>
          </a:p>
          <a:p>
            <a:pPr indent="-342900" lvl="0" marL="342900" rtl="0" algn="l">
              <a:lnSpc>
                <a:spcPct val="85000"/>
              </a:lnSpc>
              <a:spcBef>
                <a:spcPts val="560"/>
              </a:spcBef>
              <a:spcAft>
                <a:spcPts val="0"/>
              </a:spcAft>
              <a:buSzPts val="1820"/>
              <a:buChar char="❖"/>
            </a:pPr>
            <a:r>
              <a:rPr lang="en-US"/>
              <a:t>The formal protocol that defines the MTA client and server in the Internet is called Simple Mail Transfer Protocol (SMTP). </a:t>
            </a:r>
            <a:endParaRPr/>
          </a:p>
          <a:p>
            <a:pPr indent="-227330" lvl="0" marL="342900" rtl="0" algn="l">
              <a:lnSpc>
                <a:spcPct val="85000"/>
              </a:lnSpc>
              <a:spcBef>
                <a:spcPts val="560"/>
              </a:spcBef>
              <a:spcAft>
                <a:spcPts val="0"/>
              </a:spcAft>
              <a:buSzPts val="1820"/>
              <a:buNone/>
            </a:pPr>
            <a:r>
              <a:t/>
            </a:r>
            <a:endParaRPr/>
          </a:p>
        </p:txBody>
      </p:sp>
      <p:sp>
        <p:nvSpPr>
          <p:cNvPr id="652" name="Google Shape;652;p1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653" name="Google Shape;653;p11"/>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pic>
        <p:nvPicPr>
          <p:cNvPr descr="underline_base" id="654" name="Google Shape;654;p11"/>
          <p:cNvPicPr preferRelativeResize="0"/>
          <p:nvPr/>
        </p:nvPicPr>
        <p:blipFill rotWithShape="1">
          <a:blip r:embed="rId3">
            <a:alphaModFix/>
          </a:blip>
          <a:srcRect b="0" l="0" r="0" t="0"/>
          <a:stretch/>
        </p:blipFill>
        <p:spPr>
          <a:xfrm>
            <a:off x="484188" y="882650"/>
            <a:ext cx="5942012" cy="1730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661" name="Google Shape;661;p8"/>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Times New Roman"/>
                <a:ea typeface="Times New Roman"/>
                <a:cs typeface="Times New Roman"/>
                <a:sym typeface="Times New Roman"/>
              </a:rPr>
              <a:t>Figure 23.5</a:t>
            </a:r>
            <a:r>
              <a:rPr b="1" i="0" lang="en-US" sz="2000" u="none" cap="none" strike="noStrike">
                <a:solidFill>
                  <a:schemeClr val="accent2"/>
                </a:solidFill>
                <a:latin typeface="Times New Roman"/>
                <a:ea typeface="Times New Roman"/>
                <a:cs typeface="Times New Roman"/>
                <a:sym typeface="Times New Roman"/>
              </a:rPr>
              <a:t>    </a:t>
            </a:r>
            <a:r>
              <a:rPr b="1" i="1" lang="en-US" sz="2000" u="none" cap="none" strike="noStrike">
                <a:solidFill>
                  <a:schemeClr val="dk1"/>
                </a:solidFill>
                <a:latin typeface="Times New Roman"/>
                <a:ea typeface="Times New Roman"/>
                <a:cs typeface="Times New Roman"/>
                <a:sym typeface="Times New Roman"/>
              </a:rPr>
              <a:t>Push versus pull</a:t>
            </a:r>
            <a:endParaRPr b="0" i="0" sz="1400" u="none" cap="none" strike="noStrike">
              <a:solidFill>
                <a:srgbClr val="000000"/>
              </a:solidFill>
              <a:latin typeface="Arial"/>
              <a:ea typeface="Arial"/>
              <a:cs typeface="Arial"/>
              <a:sym typeface="Arial"/>
            </a:endParaRPr>
          </a:p>
        </p:txBody>
      </p:sp>
      <p:sp>
        <p:nvSpPr>
          <p:cNvPr id="662" name="Google Shape;662;p8"/>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3" name="Google Shape;663;p8"/>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4" name="Google Shape;664;p8"/>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5" name="Google Shape;665;p8"/>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6" name="Google Shape;666;p8"/>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7" name="Google Shape;667;p8"/>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8" name="Google Shape;668;p8"/>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pic>
        <p:nvPicPr>
          <p:cNvPr id="669" name="Google Shape;669;p8"/>
          <p:cNvPicPr preferRelativeResize="0"/>
          <p:nvPr/>
        </p:nvPicPr>
        <p:blipFill rotWithShape="1">
          <a:blip r:embed="rId3">
            <a:alphaModFix/>
          </a:blip>
          <a:srcRect b="0" l="0" r="0" t="0"/>
          <a:stretch/>
        </p:blipFill>
        <p:spPr>
          <a:xfrm>
            <a:off x="533400" y="1981200"/>
            <a:ext cx="3702050" cy="1298575"/>
          </a:xfrm>
          <a:prstGeom prst="rect">
            <a:avLst/>
          </a:prstGeom>
          <a:noFill/>
          <a:ln>
            <a:noFill/>
          </a:ln>
        </p:spPr>
      </p:pic>
      <p:pic>
        <p:nvPicPr>
          <p:cNvPr id="670" name="Google Shape;670;p8"/>
          <p:cNvPicPr preferRelativeResize="0"/>
          <p:nvPr/>
        </p:nvPicPr>
        <p:blipFill rotWithShape="1">
          <a:blip r:embed="rId4">
            <a:alphaModFix/>
          </a:blip>
          <a:srcRect b="0" l="0" r="0" t="0"/>
          <a:stretch/>
        </p:blipFill>
        <p:spPr>
          <a:xfrm>
            <a:off x="4228605" y="4017963"/>
            <a:ext cx="3690340" cy="13922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20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2000"/>
                                        <p:tgtEl>
                                          <p:spTgt spid="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77" name="Google Shape;677;p1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78" name="Google Shape;678;p13"/>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679" name="Google Shape;679;p13"/>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680" name="Google Shape;680;p13"/>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uses TCP to reliably transfer email message from client to server, port 25</a:t>
            </a:r>
            <a:endParaRPr/>
          </a:p>
          <a:p>
            <a:pPr indent="-342900" lvl="0" marL="342900" rtl="0" algn="l">
              <a:lnSpc>
                <a:spcPct val="85000"/>
              </a:lnSpc>
              <a:spcBef>
                <a:spcPts val="560"/>
              </a:spcBef>
              <a:spcAft>
                <a:spcPts val="0"/>
              </a:spcAft>
              <a:buSzPts val="1820"/>
              <a:buChar char="❖"/>
            </a:pPr>
            <a:r>
              <a:rPr lang="en-US"/>
              <a:t>direct transfer: sending server to receiving server</a:t>
            </a:r>
            <a:endParaRPr/>
          </a:p>
          <a:p>
            <a:pPr indent="-342900" lvl="0" marL="342900" rtl="0" algn="l">
              <a:lnSpc>
                <a:spcPct val="85000"/>
              </a:lnSpc>
              <a:spcBef>
                <a:spcPts val="560"/>
              </a:spcBef>
              <a:spcAft>
                <a:spcPts val="0"/>
              </a:spcAft>
              <a:buSzPts val="1820"/>
              <a:buChar char="❖"/>
            </a:pPr>
            <a:r>
              <a:rPr lang="en-US"/>
              <a:t>three phases of transfer</a:t>
            </a:r>
            <a:endParaRPr/>
          </a:p>
          <a:p>
            <a:pPr indent="-285750" lvl="1" marL="742950" rtl="0" algn="l">
              <a:lnSpc>
                <a:spcPct val="85000"/>
              </a:lnSpc>
              <a:spcBef>
                <a:spcPts val="480"/>
              </a:spcBef>
              <a:spcAft>
                <a:spcPts val="0"/>
              </a:spcAft>
              <a:buSzPts val="2400"/>
              <a:buChar char="▪"/>
            </a:pPr>
            <a:r>
              <a:rPr lang="en-US"/>
              <a:t>handshaking (greeting)</a:t>
            </a:r>
            <a:endParaRPr/>
          </a:p>
          <a:p>
            <a:pPr indent="-285750" lvl="1" marL="742950" rtl="0" algn="l">
              <a:lnSpc>
                <a:spcPct val="85000"/>
              </a:lnSpc>
              <a:spcBef>
                <a:spcPts val="480"/>
              </a:spcBef>
              <a:spcAft>
                <a:spcPts val="0"/>
              </a:spcAft>
              <a:buSzPts val="2400"/>
              <a:buChar char="▪"/>
            </a:pPr>
            <a:r>
              <a:rPr lang="en-US"/>
              <a:t>transfer of messages</a:t>
            </a:r>
            <a:endParaRPr/>
          </a:p>
          <a:p>
            <a:pPr indent="-285750" lvl="1" marL="742950" rtl="0" algn="l">
              <a:lnSpc>
                <a:spcPct val="85000"/>
              </a:lnSpc>
              <a:spcBef>
                <a:spcPts val="480"/>
              </a:spcBef>
              <a:spcAft>
                <a:spcPts val="0"/>
              </a:spcAft>
              <a:buSzPts val="2400"/>
              <a:buChar char="▪"/>
            </a:pPr>
            <a:r>
              <a:rPr lang="en-US"/>
              <a:t>closure</a:t>
            </a:r>
            <a:endParaRPr/>
          </a:p>
          <a:p>
            <a:pPr indent="-342900" lvl="0" marL="342900" rtl="0" algn="l">
              <a:lnSpc>
                <a:spcPct val="85000"/>
              </a:lnSpc>
              <a:spcBef>
                <a:spcPts val="560"/>
              </a:spcBef>
              <a:spcAft>
                <a:spcPts val="0"/>
              </a:spcAft>
              <a:buSzPts val="1820"/>
              <a:buChar char="❖"/>
            </a:pPr>
            <a:r>
              <a:rPr lang="en-US"/>
              <a:t>command/response interaction (like </a:t>
            </a:r>
            <a:r>
              <a:rPr lang="en-US" sz="2400"/>
              <a:t>HTTP, FTP</a:t>
            </a:r>
            <a:r>
              <a:rPr lang="en-US"/>
              <a:t>)</a:t>
            </a:r>
            <a:endParaRPr>
              <a:solidFill>
                <a:schemeClr val="accent2"/>
              </a:solidFill>
            </a:endParaRPr>
          </a:p>
          <a:p>
            <a:pPr indent="-285750" lvl="1" marL="742950" rtl="0" algn="l">
              <a:lnSpc>
                <a:spcPct val="85000"/>
              </a:lnSpc>
              <a:spcBef>
                <a:spcPts val="480"/>
              </a:spcBef>
              <a:spcAft>
                <a:spcPts val="0"/>
              </a:spcAft>
              <a:buSzPts val="2400"/>
              <a:buChar char="▪"/>
            </a:pPr>
            <a:r>
              <a:rPr lang="en-US">
                <a:solidFill>
                  <a:srgbClr val="000099"/>
                </a:solidFill>
              </a:rPr>
              <a:t>commands:</a:t>
            </a:r>
            <a:r>
              <a:rPr lang="en-US"/>
              <a:t> ASCII text</a:t>
            </a:r>
            <a:endParaRPr/>
          </a:p>
          <a:p>
            <a:pPr indent="-285750" lvl="1" marL="742950" rtl="0" algn="l">
              <a:lnSpc>
                <a:spcPct val="85000"/>
              </a:lnSpc>
              <a:spcBef>
                <a:spcPts val="480"/>
              </a:spcBef>
              <a:spcAft>
                <a:spcPts val="0"/>
              </a:spcAft>
              <a:buSzPts val="2400"/>
              <a:buChar char="▪"/>
            </a:pPr>
            <a:r>
              <a:rPr lang="en-US">
                <a:solidFill>
                  <a:srgbClr val="000099"/>
                </a:solidFill>
              </a:rPr>
              <a:t>response:</a:t>
            </a:r>
            <a:r>
              <a:rPr lang="en-US"/>
              <a:t> status code and phrase</a:t>
            </a:r>
            <a:endParaRPr/>
          </a:p>
          <a:p>
            <a:pPr indent="-342900" lvl="0" marL="342900" rtl="0" algn="l">
              <a:lnSpc>
                <a:spcPct val="85000"/>
              </a:lnSpc>
              <a:spcBef>
                <a:spcPts val="560"/>
              </a:spcBef>
              <a:spcAft>
                <a:spcPts val="0"/>
              </a:spcAft>
              <a:buSzPts val="1820"/>
              <a:buChar char="❖"/>
            </a:pPr>
            <a:r>
              <a:rPr lang="en-US"/>
              <a:t>messages must be in 7-bit ASCI</a:t>
            </a:r>
            <a:endParaRPr sz="3200"/>
          </a:p>
          <a:p>
            <a:pPr indent="-158750" lvl="1" marL="742950" rtl="0" algn="l">
              <a:lnSpc>
                <a:spcPct val="85000"/>
              </a:lnSpc>
              <a:spcBef>
                <a:spcPts val="400"/>
              </a:spcBef>
              <a:spcAft>
                <a:spcPts val="0"/>
              </a:spcAft>
              <a:buSzPts val="2000"/>
              <a:buNone/>
            </a:pPr>
            <a:r>
              <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87" name="Google Shape;687;p1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88" name="Google Shape;688;p14"/>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689" name="Google Shape;689;p14"/>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690" name="Google Shape;690;p14"/>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85000"/>
              </a:lnSpc>
              <a:spcBef>
                <a:spcPts val="0"/>
              </a:spcBef>
              <a:spcAft>
                <a:spcPts val="0"/>
              </a:spcAft>
              <a:buSzPts val="2000"/>
              <a:buChar char="▪"/>
            </a:pPr>
            <a:r>
              <a:rPr lang="en-US" sz="2000"/>
              <a:t>Range of SMTP</a:t>
            </a:r>
            <a:endParaRPr/>
          </a:p>
        </p:txBody>
      </p:sp>
      <p:pic>
        <p:nvPicPr>
          <p:cNvPr id="691" name="Google Shape;691;p14"/>
          <p:cNvPicPr preferRelativeResize="0"/>
          <p:nvPr/>
        </p:nvPicPr>
        <p:blipFill rotWithShape="1">
          <a:blip r:embed="rId4">
            <a:alphaModFix/>
          </a:blip>
          <a:srcRect b="0" l="0" r="0" t="0"/>
          <a:stretch/>
        </p:blipFill>
        <p:spPr>
          <a:xfrm>
            <a:off x="114631" y="2027238"/>
            <a:ext cx="8455025" cy="284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2000"/>
                                        <p:tgtEl>
                                          <p:spTgt spid="6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98" name="Google Shape;698;p1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99" name="Google Shape;699;p15"/>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00" name="Google Shape;700;p15"/>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pic>
        <p:nvPicPr>
          <p:cNvPr id="701" name="Google Shape;701;p15"/>
          <p:cNvPicPr preferRelativeResize="0"/>
          <p:nvPr/>
        </p:nvPicPr>
        <p:blipFill rotWithShape="1">
          <a:blip r:embed="rId4">
            <a:alphaModFix/>
          </a:blip>
          <a:srcRect b="0" l="0" r="0" t="0"/>
          <a:stretch/>
        </p:blipFill>
        <p:spPr>
          <a:xfrm>
            <a:off x="1073943" y="1379655"/>
            <a:ext cx="6188075" cy="935037"/>
          </a:xfrm>
          <a:prstGeom prst="rect">
            <a:avLst/>
          </a:prstGeom>
          <a:noFill/>
          <a:ln>
            <a:noFill/>
          </a:ln>
        </p:spPr>
      </p:pic>
      <p:sp>
        <p:nvSpPr>
          <p:cNvPr id="702" name="Google Shape;702;p15"/>
          <p:cNvSpPr txBox="1"/>
          <p:nvPr/>
        </p:nvSpPr>
        <p:spPr>
          <a:xfrm>
            <a:off x="609600" y="2314691"/>
            <a:ext cx="7629525" cy="1173697"/>
          </a:xfrm>
          <a:prstGeom prst="rect">
            <a:avLst/>
          </a:prstGeom>
          <a:noFill/>
          <a:ln>
            <a:noFill/>
          </a:ln>
        </p:spPr>
        <p:txBody>
          <a:bodyPr anchorCtr="0" anchor="t" bIns="45700" lIns="91425" spcFirstLastPara="1" rIns="91425" wrap="square" tIns="45700">
            <a:noAutofit/>
          </a:bodyPr>
          <a:lstStyle/>
          <a:p>
            <a:pPr indent="0" lvl="1" marL="0" marR="0" rtl="0" algn="l">
              <a:lnSpc>
                <a:spcPct val="85000"/>
              </a:lnSpc>
              <a:spcBef>
                <a:spcPts val="0"/>
              </a:spcBef>
              <a:spcAft>
                <a:spcPts val="0"/>
              </a:spcAft>
              <a:buClr>
                <a:srgbClr val="000099"/>
              </a:buClr>
              <a:buSzPts val="2000"/>
              <a:buFont typeface="Noto Sans Symbols"/>
              <a:buNone/>
            </a:pPr>
            <a:r>
              <a:t/>
            </a:r>
            <a:endParaRPr b="0" i="0" sz="2000" u="none" cap="none" strike="noStrike">
              <a:solidFill>
                <a:schemeClr val="dk1"/>
              </a:solidFill>
              <a:latin typeface="Gill Sans"/>
              <a:ea typeface="Gill Sans"/>
              <a:cs typeface="Gill Sans"/>
              <a:sym typeface="Gill Sans"/>
            </a:endParaRPr>
          </a:p>
          <a:p>
            <a:pPr indent="-342900" lvl="1" marL="342900" marR="0" rtl="0" algn="l">
              <a:lnSpc>
                <a:spcPct val="85000"/>
              </a:lnSpc>
              <a:spcBef>
                <a:spcPts val="400"/>
              </a:spcBef>
              <a:spcAft>
                <a:spcPts val="0"/>
              </a:spcAft>
              <a:buClr>
                <a:srgbClr val="000099"/>
              </a:buClr>
              <a:buSzPts val="2000"/>
              <a:buFont typeface="Noto Sans Symbols"/>
              <a:buChar char="▪"/>
            </a:pPr>
            <a:r>
              <a:rPr b="0" i="0" lang="en-US" sz="2000" u="sng" cap="none" strike="noStrike">
                <a:solidFill>
                  <a:schemeClr val="dk1"/>
                </a:solidFill>
                <a:latin typeface="Gill Sans"/>
                <a:ea typeface="Gill Sans"/>
                <a:cs typeface="Gill Sans"/>
                <a:sym typeface="Gill Sans"/>
              </a:rPr>
              <a:t>Commands</a:t>
            </a:r>
            <a:endParaRPr b="0" i="0" sz="1400" u="none" cap="none" strike="noStrike">
              <a:solidFill>
                <a:srgbClr val="000000"/>
              </a:solidFill>
              <a:latin typeface="Arial"/>
              <a:ea typeface="Arial"/>
              <a:cs typeface="Arial"/>
              <a:sym typeface="Arial"/>
            </a:endParaRPr>
          </a:p>
        </p:txBody>
      </p:sp>
      <p:pic>
        <p:nvPicPr>
          <p:cNvPr id="703" name="Google Shape;703;p15"/>
          <p:cNvPicPr preferRelativeResize="0"/>
          <p:nvPr/>
        </p:nvPicPr>
        <p:blipFill rotWithShape="1">
          <a:blip r:embed="rId5">
            <a:alphaModFix/>
          </a:blip>
          <a:srcRect b="0" l="0" r="0" t="0"/>
          <a:stretch/>
        </p:blipFill>
        <p:spPr>
          <a:xfrm>
            <a:off x="153333" y="3698543"/>
            <a:ext cx="8919221" cy="2555351"/>
          </a:xfrm>
          <a:prstGeom prst="rect">
            <a:avLst/>
          </a:prstGeom>
          <a:noFill/>
          <a:ln>
            <a:noFill/>
          </a:ln>
        </p:spPr>
      </p:pic>
      <p:sp>
        <p:nvSpPr>
          <p:cNvPr id="704" name="Google Shape;704;p15"/>
          <p:cNvSpPr/>
          <p:nvPr/>
        </p:nvSpPr>
        <p:spPr>
          <a:xfrm>
            <a:off x="72829" y="3978516"/>
            <a:ext cx="4540115" cy="139870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11" name="Google Shape;711;p1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712" name="Google Shape;712;p16"/>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13" name="Google Shape;713;p16"/>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pic>
        <p:nvPicPr>
          <p:cNvPr id="714" name="Google Shape;714;p16"/>
          <p:cNvPicPr preferRelativeResize="0"/>
          <p:nvPr/>
        </p:nvPicPr>
        <p:blipFill rotWithShape="1">
          <a:blip r:embed="rId4">
            <a:alphaModFix/>
          </a:blip>
          <a:srcRect b="58117" l="0" r="0" t="3783"/>
          <a:stretch/>
        </p:blipFill>
        <p:spPr>
          <a:xfrm>
            <a:off x="180742" y="3302758"/>
            <a:ext cx="8344365" cy="2985329"/>
          </a:xfrm>
          <a:prstGeom prst="rect">
            <a:avLst/>
          </a:prstGeom>
          <a:noFill/>
          <a:ln>
            <a:noFill/>
          </a:ln>
        </p:spPr>
      </p:pic>
      <p:sp>
        <p:nvSpPr>
          <p:cNvPr id="715" name="Google Shape;715;p16"/>
          <p:cNvSpPr txBox="1"/>
          <p:nvPr>
            <p:ph idx="1" type="body"/>
          </p:nvPr>
        </p:nvSpPr>
        <p:spPr>
          <a:xfrm>
            <a:off x="609600" y="2079129"/>
            <a:ext cx="7629525" cy="1409260"/>
          </a:xfrm>
          <a:prstGeom prst="rect">
            <a:avLst/>
          </a:prstGeom>
          <a:noFill/>
          <a:ln>
            <a:noFill/>
          </a:ln>
        </p:spPr>
        <p:txBody>
          <a:bodyPr anchorCtr="0" anchor="t" bIns="45700" lIns="91425" spcFirstLastPara="1" rIns="91425" wrap="square" tIns="45700">
            <a:noAutofit/>
          </a:bodyPr>
          <a:lstStyle/>
          <a:p>
            <a:pPr indent="0" lvl="1" marL="0" rtl="0" algn="l">
              <a:lnSpc>
                <a:spcPct val="85000"/>
              </a:lnSpc>
              <a:spcBef>
                <a:spcPts val="0"/>
              </a:spcBef>
              <a:spcAft>
                <a:spcPts val="0"/>
              </a:spcAft>
              <a:buSzPts val="2000"/>
              <a:buNone/>
            </a:pPr>
            <a:r>
              <a:t/>
            </a:r>
            <a:endParaRPr sz="2000"/>
          </a:p>
          <a:p>
            <a:pPr indent="-342900" lvl="1" marL="342900" rtl="0" algn="l">
              <a:lnSpc>
                <a:spcPct val="85000"/>
              </a:lnSpc>
              <a:spcBef>
                <a:spcPts val="400"/>
              </a:spcBef>
              <a:spcAft>
                <a:spcPts val="0"/>
              </a:spcAft>
              <a:buSzPts val="2000"/>
              <a:buChar char="▪"/>
            </a:pPr>
            <a:r>
              <a:rPr lang="en-US" sz="2000" u="sng"/>
              <a:t>Responses</a:t>
            </a:r>
            <a:endParaRPr/>
          </a:p>
        </p:txBody>
      </p:sp>
      <p:pic>
        <p:nvPicPr>
          <p:cNvPr id="716" name="Google Shape;716;p16"/>
          <p:cNvPicPr preferRelativeResize="0"/>
          <p:nvPr/>
        </p:nvPicPr>
        <p:blipFill rotWithShape="1">
          <a:blip r:embed="rId5">
            <a:alphaModFix/>
          </a:blip>
          <a:srcRect b="0" l="0" r="0" t="0"/>
          <a:stretch/>
        </p:blipFill>
        <p:spPr>
          <a:xfrm>
            <a:off x="466725" y="1248570"/>
            <a:ext cx="5724098" cy="864929"/>
          </a:xfrm>
          <a:prstGeom prst="rect">
            <a:avLst/>
          </a:prstGeom>
          <a:noFill/>
          <a:ln>
            <a:noFill/>
          </a:ln>
        </p:spPr>
      </p:pic>
      <p:sp>
        <p:nvSpPr>
          <p:cNvPr id="717" name="Google Shape;717;p16"/>
          <p:cNvSpPr/>
          <p:nvPr/>
        </p:nvSpPr>
        <p:spPr>
          <a:xfrm>
            <a:off x="6190823" y="1411287"/>
            <a:ext cx="5392737" cy="5065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18" name="Google Shape;718;p16"/>
          <p:cNvSpPr/>
          <p:nvPr/>
        </p:nvSpPr>
        <p:spPr>
          <a:xfrm>
            <a:off x="72231" y="5049671"/>
            <a:ext cx="8662987" cy="45037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7"/>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25" name="Google Shape;725;p1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726" name="Google Shape;726;p17"/>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27" name="Google Shape;727;p17"/>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728" name="Google Shape;728;p17"/>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158750" lvl="1" marL="742950" rtl="0" algn="l">
              <a:lnSpc>
                <a:spcPct val="85000"/>
              </a:lnSpc>
              <a:spcBef>
                <a:spcPts val="0"/>
              </a:spcBef>
              <a:spcAft>
                <a:spcPts val="0"/>
              </a:spcAft>
              <a:buSzPts val="2000"/>
              <a:buNone/>
            </a:pPr>
            <a:r>
              <a:t/>
            </a:r>
            <a:endParaRPr sz="2000"/>
          </a:p>
        </p:txBody>
      </p:sp>
      <p:pic>
        <p:nvPicPr>
          <p:cNvPr id="729" name="Google Shape;729;p17"/>
          <p:cNvPicPr preferRelativeResize="0"/>
          <p:nvPr/>
        </p:nvPicPr>
        <p:blipFill rotWithShape="1">
          <a:blip r:embed="rId4">
            <a:alphaModFix/>
          </a:blip>
          <a:srcRect b="0" l="0" r="0" t="0"/>
          <a:stretch/>
        </p:blipFill>
        <p:spPr>
          <a:xfrm>
            <a:off x="466725" y="1248570"/>
            <a:ext cx="5724098" cy="864929"/>
          </a:xfrm>
          <a:prstGeom prst="rect">
            <a:avLst/>
          </a:prstGeom>
          <a:noFill/>
          <a:ln>
            <a:noFill/>
          </a:ln>
        </p:spPr>
      </p:pic>
      <p:pic>
        <p:nvPicPr>
          <p:cNvPr id="730" name="Google Shape;730;p17"/>
          <p:cNvPicPr preferRelativeResize="0"/>
          <p:nvPr/>
        </p:nvPicPr>
        <p:blipFill rotWithShape="1">
          <a:blip r:embed="rId5">
            <a:alphaModFix/>
          </a:blip>
          <a:srcRect b="0" l="0" r="0" t="41312"/>
          <a:stretch/>
        </p:blipFill>
        <p:spPr>
          <a:xfrm>
            <a:off x="261417" y="2330986"/>
            <a:ext cx="8298228" cy="4572886"/>
          </a:xfrm>
          <a:prstGeom prst="rect">
            <a:avLst/>
          </a:prstGeom>
          <a:noFill/>
          <a:ln>
            <a:noFill/>
          </a:ln>
        </p:spPr>
      </p:pic>
      <p:sp>
        <p:nvSpPr>
          <p:cNvPr id="731" name="Google Shape;731;p17"/>
          <p:cNvSpPr/>
          <p:nvPr/>
        </p:nvSpPr>
        <p:spPr>
          <a:xfrm>
            <a:off x="0" y="2784143"/>
            <a:ext cx="8662987" cy="45037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8"/>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38" name="Google Shape;738;p1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739" name="Google Shape;739;p18"/>
          <p:cNvGrpSpPr/>
          <p:nvPr/>
        </p:nvGrpSpPr>
        <p:grpSpPr>
          <a:xfrm>
            <a:off x="1143000" y="4881563"/>
            <a:ext cx="912813" cy="1054100"/>
            <a:chOff x="3574" y="550"/>
            <a:chExt cx="575" cy="664"/>
          </a:xfrm>
        </p:grpSpPr>
        <p:grpSp>
          <p:nvGrpSpPr>
            <p:cNvPr id="740" name="Google Shape;740;p18"/>
            <p:cNvGrpSpPr/>
            <p:nvPr/>
          </p:nvGrpSpPr>
          <p:grpSpPr>
            <a:xfrm>
              <a:off x="3588" y="692"/>
              <a:ext cx="561" cy="522"/>
              <a:chOff x="-44" y="1473"/>
              <a:chExt cx="981" cy="1105"/>
            </a:xfrm>
          </p:grpSpPr>
          <p:pic>
            <p:nvPicPr>
              <p:cNvPr descr="desktop_computer_stylized_medium" id="741" name="Google Shape;741;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2" name="Google Shape;742;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43" name="Google Shape;743;p18"/>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44" name="Google Shape;744;p18"/>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745" name="Google Shape;745;p18"/>
          <p:cNvGrpSpPr/>
          <p:nvPr/>
        </p:nvGrpSpPr>
        <p:grpSpPr>
          <a:xfrm>
            <a:off x="4852988" y="4613275"/>
            <a:ext cx="511175" cy="693738"/>
            <a:chOff x="4140" y="429"/>
            <a:chExt cx="1425" cy="2396"/>
          </a:xfrm>
        </p:grpSpPr>
        <p:sp>
          <p:nvSpPr>
            <p:cNvPr id="746" name="Google Shape;746;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7" name="Google Shape;747;p18"/>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8" name="Google Shape;748;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9" name="Google Shape;749;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0" name="Google Shape;750;p18"/>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51" name="Google Shape;751;p18"/>
            <p:cNvGrpSpPr/>
            <p:nvPr/>
          </p:nvGrpSpPr>
          <p:grpSpPr>
            <a:xfrm>
              <a:off x="4751" y="670"/>
              <a:ext cx="579" cy="143"/>
              <a:chOff x="616" y="2570"/>
              <a:chExt cx="723" cy="137"/>
            </a:xfrm>
          </p:grpSpPr>
          <p:sp>
            <p:nvSpPr>
              <p:cNvPr id="752" name="Google Shape;752;p18"/>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3" name="Google Shape;753;p18"/>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54" name="Google Shape;754;p18"/>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55" name="Google Shape;755;p18"/>
            <p:cNvGrpSpPr/>
            <p:nvPr/>
          </p:nvGrpSpPr>
          <p:grpSpPr>
            <a:xfrm>
              <a:off x="4746" y="994"/>
              <a:ext cx="575" cy="126"/>
              <a:chOff x="613" y="2568"/>
              <a:chExt cx="718" cy="131"/>
            </a:xfrm>
          </p:grpSpPr>
          <p:sp>
            <p:nvSpPr>
              <p:cNvPr id="756" name="Google Shape;756;p18"/>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7" name="Google Shape;757;p18"/>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58" name="Google Shape;758;p18"/>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9" name="Google Shape;759;p18"/>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60" name="Google Shape;760;p18"/>
            <p:cNvGrpSpPr/>
            <p:nvPr/>
          </p:nvGrpSpPr>
          <p:grpSpPr>
            <a:xfrm>
              <a:off x="4733" y="1641"/>
              <a:ext cx="584" cy="137"/>
              <a:chOff x="612" y="2581"/>
              <a:chExt cx="728" cy="126"/>
            </a:xfrm>
          </p:grpSpPr>
          <p:sp>
            <p:nvSpPr>
              <p:cNvPr id="761" name="Google Shape;761;p18"/>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2" name="Google Shape;762;p18"/>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63" name="Google Shape;763;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64" name="Google Shape;764;p18"/>
            <p:cNvGrpSpPr/>
            <p:nvPr/>
          </p:nvGrpSpPr>
          <p:grpSpPr>
            <a:xfrm>
              <a:off x="4737" y="1328"/>
              <a:ext cx="584" cy="137"/>
              <a:chOff x="612" y="2569"/>
              <a:chExt cx="728" cy="137"/>
            </a:xfrm>
          </p:grpSpPr>
          <p:sp>
            <p:nvSpPr>
              <p:cNvPr id="765" name="Google Shape;765;p18"/>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6" name="Google Shape;766;p18"/>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67" name="Google Shape;767;p18"/>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8" name="Google Shape;768;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9" name="Google Shape;769;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0" name="Google Shape;770;p18"/>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1" name="Google Shape;771;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2" name="Google Shape;772;p18"/>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3" name="Google Shape;773;p18"/>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4" name="Google Shape;774;p18"/>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5" name="Google Shape;775;p18"/>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776" name="Google Shape;776;p18"/>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7" name="Google Shape;777;p18"/>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778" name="Google Shape;778;p18"/>
          <p:cNvGrpSpPr/>
          <p:nvPr/>
        </p:nvGrpSpPr>
        <p:grpSpPr>
          <a:xfrm>
            <a:off x="2674938" y="4668838"/>
            <a:ext cx="511175" cy="693737"/>
            <a:chOff x="4140" y="429"/>
            <a:chExt cx="1425" cy="2396"/>
          </a:xfrm>
        </p:grpSpPr>
        <p:sp>
          <p:nvSpPr>
            <p:cNvPr id="779" name="Google Shape;779;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0" name="Google Shape;780;p18"/>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1" name="Google Shape;781;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2" name="Google Shape;782;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3" name="Google Shape;783;p18"/>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84" name="Google Shape;784;p18"/>
            <p:cNvGrpSpPr/>
            <p:nvPr/>
          </p:nvGrpSpPr>
          <p:grpSpPr>
            <a:xfrm>
              <a:off x="4751" y="670"/>
              <a:ext cx="579" cy="143"/>
              <a:chOff x="616" y="2570"/>
              <a:chExt cx="723" cy="137"/>
            </a:xfrm>
          </p:grpSpPr>
          <p:sp>
            <p:nvSpPr>
              <p:cNvPr id="785" name="Google Shape;785;p18"/>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6" name="Google Shape;786;p18"/>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87" name="Google Shape;787;p18"/>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88" name="Google Shape;788;p18"/>
            <p:cNvGrpSpPr/>
            <p:nvPr/>
          </p:nvGrpSpPr>
          <p:grpSpPr>
            <a:xfrm>
              <a:off x="4746" y="994"/>
              <a:ext cx="575" cy="126"/>
              <a:chOff x="613" y="2568"/>
              <a:chExt cx="718" cy="131"/>
            </a:xfrm>
          </p:grpSpPr>
          <p:sp>
            <p:nvSpPr>
              <p:cNvPr id="789" name="Google Shape;789;p18"/>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0" name="Google Shape;790;p18"/>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91" name="Google Shape;791;p18"/>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2" name="Google Shape;792;p18"/>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93" name="Google Shape;793;p18"/>
            <p:cNvGrpSpPr/>
            <p:nvPr/>
          </p:nvGrpSpPr>
          <p:grpSpPr>
            <a:xfrm>
              <a:off x="4733" y="1641"/>
              <a:ext cx="584" cy="137"/>
              <a:chOff x="612" y="2581"/>
              <a:chExt cx="728" cy="126"/>
            </a:xfrm>
          </p:grpSpPr>
          <p:sp>
            <p:nvSpPr>
              <p:cNvPr id="794" name="Google Shape;794;p18"/>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5" name="Google Shape;795;p18"/>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96" name="Google Shape;796;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97" name="Google Shape;797;p18"/>
            <p:cNvGrpSpPr/>
            <p:nvPr/>
          </p:nvGrpSpPr>
          <p:grpSpPr>
            <a:xfrm>
              <a:off x="4737" y="1328"/>
              <a:ext cx="584" cy="137"/>
              <a:chOff x="612" y="2569"/>
              <a:chExt cx="728" cy="137"/>
            </a:xfrm>
          </p:grpSpPr>
          <p:sp>
            <p:nvSpPr>
              <p:cNvPr id="798" name="Google Shape;798;p18"/>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9" name="Google Shape;799;p18"/>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800" name="Google Shape;800;p18"/>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1" name="Google Shape;801;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2" name="Google Shape;802;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3" name="Google Shape;803;p18"/>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4" name="Google Shape;804;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5" name="Google Shape;805;p18"/>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6" name="Google Shape;806;p18"/>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7" name="Google Shape;807;p18"/>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8" name="Google Shape;808;p18"/>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809" name="Google Shape;809;p18"/>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10" name="Google Shape;810;p18"/>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811" name="Google Shape;811;p18"/>
          <p:cNvPicPr preferRelativeResize="0"/>
          <p:nvPr/>
        </p:nvPicPr>
        <p:blipFill rotWithShape="1">
          <a:blip r:embed="rId4">
            <a:alphaModFix/>
          </a:blip>
          <a:srcRect b="0" l="0" r="0" t="0"/>
          <a:stretch/>
        </p:blipFill>
        <p:spPr>
          <a:xfrm>
            <a:off x="584200" y="801688"/>
            <a:ext cx="7769225" cy="173037"/>
          </a:xfrm>
          <a:prstGeom prst="rect">
            <a:avLst/>
          </a:prstGeom>
          <a:noFill/>
          <a:ln>
            <a:noFill/>
          </a:ln>
        </p:spPr>
      </p:pic>
      <p:sp>
        <p:nvSpPr>
          <p:cNvPr id="812" name="Google Shape;812;p18"/>
          <p:cNvSpPr txBox="1"/>
          <p:nvPr>
            <p:ph type="title"/>
          </p:nvPr>
        </p:nvSpPr>
        <p:spPr>
          <a:xfrm>
            <a:off x="136477" y="22225"/>
            <a:ext cx="8864647"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600"/>
              <a:t>Scenario: Alice sends message to Bob</a:t>
            </a:r>
            <a:endParaRPr sz="4000"/>
          </a:p>
        </p:txBody>
      </p:sp>
      <p:sp>
        <p:nvSpPr>
          <p:cNvPr id="813" name="Google Shape;813;p18"/>
          <p:cNvSpPr txBox="1"/>
          <p:nvPr>
            <p:ph idx="1" type="body"/>
          </p:nvPr>
        </p:nvSpPr>
        <p:spPr>
          <a:xfrm>
            <a:off x="533400" y="1371600"/>
            <a:ext cx="3810000" cy="32194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430"/>
              <a:buFont typeface="Noto Sans Symbols"/>
              <a:buNone/>
            </a:pPr>
            <a:r>
              <a:rPr lang="en-US" sz="2200"/>
              <a:t>1) Alice uses UA to compose message “to” </a:t>
            </a:r>
            <a:r>
              <a:rPr lang="en-US" sz="2200">
                <a:latin typeface="Courier New"/>
                <a:ea typeface="Courier New"/>
                <a:cs typeface="Courier New"/>
                <a:sym typeface="Courier New"/>
              </a:rPr>
              <a:t>bob@someschool.edu</a:t>
            </a:r>
            <a:endParaRPr/>
          </a:p>
          <a:p>
            <a:pPr indent="-342900" lvl="0" marL="342900" rtl="0" algn="l">
              <a:lnSpc>
                <a:spcPct val="85000"/>
              </a:lnSpc>
              <a:spcBef>
                <a:spcPts val="440"/>
              </a:spcBef>
              <a:spcAft>
                <a:spcPts val="0"/>
              </a:spcAft>
              <a:buSzPts val="1430"/>
              <a:buFont typeface="Noto Sans Symbols"/>
              <a:buNone/>
            </a:pPr>
            <a:r>
              <a:rPr lang="en-US" sz="2200"/>
              <a:t>2) Alice’s UA sends message to her mail server; message placed in message queue</a:t>
            </a:r>
            <a:endParaRPr/>
          </a:p>
          <a:p>
            <a:pPr indent="-342900" lvl="0" marL="342900" rtl="0" algn="l">
              <a:lnSpc>
                <a:spcPct val="85000"/>
              </a:lnSpc>
              <a:spcBef>
                <a:spcPts val="440"/>
              </a:spcBef>
              <a:spcAft>
                <a:spcPts val="0"/>
              </a:spcAft>
              <a:buSzPts val="1430"/>
              <a:buFont typeface="Noto Sans Symbols"/>
              <a:buNone/>
            </a:pPr>
            <a:r>
              <a:rPr lang="en-US" sz="2200"/>
              <a:t>3) client side of SMTP opens TCP connection with Bob’s mail server</a:t>
            </a:r>
            <a:endParaRPr sz="2200"/>
          </a:p>
        </p:txBody>
      </p:sp>
      <p:sp>
        <p:nvSpPr>
          <p:cNvPr id="814" name="Google Shape;814;p18"/>
          <p:cNvSpPr txBox="1"/>
          <p:nvPr>
            <p:ph idx="2" type="body"/>
          </p:nvPr>
        </p:nvSpPr>
        <p:spPr>
          <a:xfrm>
            <a:off x="4508500" y="1335088"/>
            <a:ext cx="3810000" cy="3268662"/>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430"/>
              <a:buFont typeface="Noto Sans Symbols"/>
              <a:buNone/>
            </a:pPr>
            <a:r>
              <a:rPr lang="en-US" sz="2200"/>
              <a:t>4) SMTP client sends Alice’s message over the TCP connection</a:t>
            </a:r>
            <a:endParaRPr/>
          </a:p>
          <a:p>
            <a:pPr indent="-342900" lvl="0" marL="342900" rtl="0" algn="l">
              <a:lnSpc>
                <a:spcPct val="85000"/>
              </a:lnSpc>
              <a:spcBef>
                <a:spcPts val="440"/>
              </a:spcBef>
              <a:spcAft>
                <a:spcPts val="0"/>
              </a:spcAft>
              <a:buSzPts val="1430"/>
              <a:buFont typeface="Noto Sans Symbols"/>
              <a:buNone/>
            </a:pPr>
            <a:r>
              <a:rPr lang="en-US" sz="2200"/>
              <a:t>5) Bob’s mail server places the message in Bob’s mailbox</a:t>
            </a:r>
            <a:endParaRPr/>
          </a:p>
          <a:p>
            <a:pPr indent="-342900" lvl="0" marL="342900" rtl="0" algn="l">
              <a:lnSpc>
                <a:spcPct val="85000"/>
              </a:lnSpc>
              <a:spcBef>
                <a:spcPts val="440"/>
              </a:spcBef>
              <a:spcAft>
                <a:spcPts val="0"/>
              </a:spcAft>
              <a:buSzPts val="1430"/>
              <a:buFont typeface="Noto Sans Symbols"/>
              <a:buNone/>
            </a:pPr>
            <a:r>
              <a:rPr lang="en-US" sz="2200"/>
              <a:t>6) Bob invokes his user agent to read message</a:t>
            </a:r>
            <a:endParaRPr/>
          </a:p>
          <a:p>
            <a:pPr indent="-342900" lvl="0" marL="342900" rtl="0" algn="l">
              <a:lnSpc>
                <a:spcPct val="85000"/>
              </a:lnSpc>
              <a:spcBef>
                <a:spcPts val="440"/>
              </a:spcBef>
              <a:spcAft>
                <a:spcPts val="0"/>
              </a:spcAft>
              <a:buSzPts val="1430"/>
              <a:buFont typeface="Noto Sans Symbols"/>
              <a:buNone/>
            </a:pPr>
            <a:r>
              <a:t/>
            </a:r>
            <a:endParaRPr sz="2200"/>
          </a:p>
        </p:txBody>
      </p:sp>
      <p:grpSp>
        <p:nvGrpSpPr>
          <p:cNvPr id="815" name="Google Shape;815;p18"/>
          <p:cNvGrpSpPr/>
          <p:nvPr/>
        </p:nvGrpSpPr>
        <p:grpSpPr>
          <a:xfrm>
            <a:off x="2808288" y="4956175"/>
            <a:ext cx="809625" cy="1049338"/>
            <a:chOff x="4296" y="2627"/>
            <a:chExt cx="510" cy="661"/>
          </a:xfrm>
        </p:grpSpPr>
        <p:sp>
          <p:nvSpPr>
            <p:cNvPr id="816" name="Google Shape;816;p18"/>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17" name="Google Shape;817;p18"/>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818" name="Google Shape;818;p18"/>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819" name="Google Shape;819;p18"/>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820" name="Google Shape;820;p18"/>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1" name="Google Shape;821;p18"/>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822" name="Google Shape;822;p18"/>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3" name="Google Shape;823;p18"/>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4" name="Google Shape;824;p18"/>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5" name="Google Shape;825;p18"/>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826" name="Google Shape;826;p18"/>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27" name="Google Shape;827;p18"/>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28" name="Google Shape;828;p18"/>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29" name="Google Shape;829;p18"/>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30" name="Google Shape;830;p18"/>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pic>
        <p:nvPicPr>
          <p:cNvPr descr="Alice" id="831" name="Google Shape;831;p18"/>
          <p:cNvPicPr preferRelativeResize="0"/>
          <p:nvPr/>
        </p:nvPicPr>
        <p:blipFill rotWithShape="1">
          <a:blip r:embed="rId5">
            <a:alphaModFix/>
          </a:blip>
          <a:srcRect b="0" l="0" r="0" t="0"/>
          <a:stretch/>
        </p:blipFill>
        <p:spPr>
          <a:xfrm>
            <a:off x="403225" y="5121275"/>
            <a:ext cx="561975" cy="693738"/>
          </a:xfrm>
          <a:prstGeom prst="rect">
            <a:avLst/>
          </a:prstGeom>
          <a:noFill/>
          <a:ln>
            <a:noFill/>
          </a:ln>
        </p:spPr>
      </p:pic>
      <p:pic>
        <p:nvPicPr>
          <p:cNvPr descr="Bob" id="832" name="Google Shape;832;p18"/>
          <p:cNvPicPr preferRelativeResize="0"/>
          <p:nvPr/>
        </p:nvPicPr>
        <p:blipFill rotWithShape="1">
          <a:blip r:embed="rId6">
            <a:alphaModFix/>
          </a:blip>
          <a:srcRect b="0" l="0" r="0" t="0"/>
          <a:stretch/>
        </p:blipFill>
        <p:spPr>
          <a:xfrm>
            <a:off x="7793038" y="5026025"/>
            <a:ext cx="676275" cy="690563"/>
          </a:xfrm>
          <a:prstGeom prst="rect">
            <a:avLst/>
          </a:prstGeom>
          <a:noFill/>
          <a:ln>
            <a:noFill/>
          </a:ln>
        </p:spPr>
      </p:pic>
      <p:grpSp>
        <p:nvGrpSpPr>
          <p:cNvPr id="833" name="Google Shape;833;p18"/>
          <p:cNvGrpSpPr/>
          <p:nvPr/>
        </p:nvGrpSpPr>
        <p:grpSpPr>
          <a:xfrm>
            <a:off x="4999038" y="4902200"/>
            <a:ext cx="809625" cy="1049338"/>
            <a:chOff x="4296" y="2627"/>
            <a:chExt cx="510" cy="661"/>
          </a:xfrm>
        </p:grpSpPr>
        <p:sp>
          <p:nvSpPr>
            <p:cNvPr id="834" name="Google Shape;834;p18"/>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35" name="Google Shape;835;p18"/>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836" name="Google Shape;836;p18"/>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837" name="Google Shape;837;p18"/>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838" name="Google Shape;838;p18"/>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839" name="Google Shape;839;p18"/>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840" name="Google Shape;840;p18"/>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1" name="Google Shape;841;p18"/>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2" name="Google Shape;842;p18"/>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3" name="Google Shape;843;p18"/>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844" name="Google Shape;844;p18"/>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5" name="Google Shape;845;p18"/>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6" name="Google Shape;846;p18"/>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7" name="Google Shape;847;p18"/>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8" name="Google Shape;848;p18"/>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849" name="Google Shape;849;p18"/>
          <p:cNvCxnSpPr/>
          <p:nvPr/>
        </p:nvCxnSpPr>
        <p:spPr>
          <a:xfrm>
            <a:off x="1928813" y="5494338"/>
            <a:ext cx="892175" cy="146050"/>
          </a:xfrm>
          <a:prstGeom prst="straightConnector1">
            <a:avLst/>
          </a:prstGeom>
          <a:noFill/>
          <a:ln cap="flat" cmpd="sng" w="12700">
            <a:solidFill>
              <a:schemeClr val="accent2"/>
            </a:solidFill>
            <a:prstDash val="solid"/>
            <a:round/>
            <a:headEnd len="sm" w="sm" type="none"/>
            <a:tailEnd len="med" w="med" type="triangle"/>
          </a:ln>
        </p:spPr>
      </p:cxnSp>
      <p:cxnSp>
        <p:nvCxnSpPr>
          <p:cNvPr id="850" name="Google Shape;850;p18"/>
          <p:cNvCxnSpPr/>
          <p:nvPr/>
        </p:nvCxnSpPr>
        <p:spPr>
          <a:xfrm>
            <a:off x="3614738" y="5629275"/>
            <a:ext cx="1379537" cy="219075"/>
          </a:xfrm>
          <a:prstGeom prst="straightConnector1">
            <a:avLst/>
          </a:prstGeom>
          <a:noFill/>
          <a:ln cap="flat" cmpd="sng" w="12700">
            <a:solidFill>
              <a:schemeClr val="accent2"/>
            </a:solidFill>
            <a:prstDash val="solid"/>
            <a:round/>
            <a:headEnd len="sm" w="sm" type="none"/>
            <a:tailEnd len="med" w="med" type="triangle"/>
          </a:ln>
        </p:spPr>
      </p:cxnSp>
      <p:cxnSp>
        <p:nvCxnSpPr>
          <p:cNvPr id="851" name="Google Shape;851;p18"/>
          <p:cNvCxnSpPr/>
          <p:nvPr/>
        </p:nvCxnSpPr>
        <p:spPr>
          <a:xfrm flipH="1" rot="10800000">
            <a:off x="5845175" y="5408613"/>
            <a:ext cx="1027113" cy="427037"/>
          </a:xfrm>
          <a:prstGeom prst="straightConnector1">
            <a:avLst/>
          </a:prstGeom>
          <a:noFill/>
          <a:ln cap="flat" cmpd="sng" w="12700">
            <a:solidFill>
              <a:schemeClr val="accent2"/>
            </a:solidFill>
            <a:prstDash val="solid"/>
            <a:round/>
            <a:headEnd len="sm" w="sm" type="none"/>
            <a:tailEnd len="med" w="med" type="triangle"/>
          </a:ln>
        </p:spPr>
      </p:cxnSp>
      <p:sp>
        <p:nvSpPr>
          <p:cNvPr id="852" name="Google Shape;852;p18"/>
          <p:cNvSpPr/>
          <p:nvPr/>
        </p:nvSpPr>
        <p:spPr>
          <a:xfrm>
            <a:off x="1058863" y="49434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1</a:t>
            </a:r>
            <a:endParaRPr b="0" i="0" sz="2400" u="none" cap="none" strike="noStrike">
              <a:solidFill>
                <a:schemeClr val="dk1"/>
              </a:solidFill>
              <a:latin typeface="Arial"/>
              <a:ea typeface="Arial"/>
              <a:cs typeface="Arial"/>
              <a:sym typeface="Arial"/>
            </a:endParaRPr>
          </a:p>
        </p:txBody>
      </p:sp>
      <p:sp>
        <p:nvSpPr>
          <p:cNvPr id="853" name="Google Shape;853;p18"/>
          <p:cNvSpPr/>
          <p:nvPr/>
        </p:nvSpPr>
        <p:spPr>
          <a:xfrm>
            <a:off x="2168525" y="54387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2</a:t>
            </a:r>
            <a:endParaRPr b="0" i="0" sz="2400" u="none" cap="none" strike="noStrike">
              <a:solidFill>
                <a:schemeClr val="dk1"/>
              </a:solidFill>
              <a:latin typeface="Arial"/>
              <a:ea typeface="Arial"/>
              <a:cs typeface="Arial"/>
              <a:sym typeface="Arial"/>
            </a:endParaRPr>
          </a:p>
        </p:txBody>
      </p:sp>
      <p:sp>
        <p:nvSpPr>
          <p:cNvPr id="854" name="Google Shape;854;p18"/>
          <p:cNvSpPr/>
          <p:nvPr/>
        </p:nvSpPr>
        <p:spPr>
          <a:xfrm>
            <a:off x="3040063" y="5518150"/>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3</a:t>
            </a:r>
            <a:endParaRPr b="0" i="0" sz="2400" u="none" cap="none" strike="noStrike">
              <a:solidFill>
                <a:schemeClr val="dk1"/>
              </a:solidFill>
              <a:latin typeface="Arial"/>
              <a:ea typeface="Arial"/>
              <a:cs typeface="Arial"/>
              <a:sym typeface="Arial"/>
            </a:endParaRPr>
          </a:p>
        </p:txBody>
      </p:sp>
      <p:sp>
        <p:nvSpPr>
          <p:cNvPr id="855" name="Google Shape;855;p18"/>
          <p:cNvSpPr/>
          <p:nvPr/>
        </p:nvSpPr>
        <p:spPr>
          <a:xfrm>
            <a:off x="4151313" y="56038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4</a:t>
            </a:r>
            <a:endParaRPr b="0" i="0" sz="2400" u="none" cap="none" strike="noStrike">
              <a:solidFill>
                <a:schemeClr val="dk1"/>
              </a:solidFill>
              <a:latin typeface="Arial"/>
              <a:ea typeface="Arial"/>
              <a:cs typeface="Arial"/>
              <a:sym typeface="Arial"/>
            </a:endParaRPr>
          </a:p>
        </p:txBody>
      </p:sp>
      <p:sp>
        <p:nvSpPr>
          <p:cNvPr id="856" name="Google Shape;856;p18"/>
          <p:cNvSpPr/>
          <p:nvPr/>
        </p:nvSpPr>
        <p:spPr>
          <a:xfrm>
            <a:off x="5256213" y="5935663"/>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5</a:t>
            </a:r>
            <a:endParaRPr b="0" i="0" sz="2400" u="none" cap="none" strike="noStrike">
              <a:solidFill>
                <a:schemeClr val="dk1"/>
              </a:solidFill>
              <a:latin typeface="Arial"/>
              <a:ea typeface="Arial"/>
              <a:cs typeface="Arial"/>
              <a:sym typeface="Arial"/>
            </a:endParaRPr>
          </a:p>
        </p:txBody>
      </p:sp>
      <p:sp>
        <p:nvSpPr>
          <p:cNvPr id="857" name="Google Shape;857;p18"/>
          <p:cNvSpPr/>
          <p:nvPr/>
        </p:nvSpPr>
        <p:spPr>
          <a:xfrm>
            <a:off x="6178550" y="5505450"/>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6</a:t>
            </a:r>
            <a:endParaRPr b="0" i="0" sz="2400" u="none" cap="none" strike="noStrike">
              <a:solidFill>
                <a:schemeClr val="dk1"/>
              </a:solidFill>
              <a:latin typeface="Arial"/>
              <a:ea typeface="Arial"/>
              <a:cs typeface="Arial"/>
              <a:sym typeface="Arial"/>
            </a:endParaRPr>
          </a:p>
        </p:txBody>
      </p:sp>
      <p:sp>
        <p:nvSpPr>
          <p:cNvPr id="858" name="Google Shape;858;p18"/>
          <p:cNvSpPr txBox="1"/>
          <p:nvPr/>
        </p:nvSpPr>
        <p:spPr>
          <a:xfrm>
            <a:off x="2324100" y="6069013"/>
            <a:ext cx="1819275"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Alice’s mail server</a:t>
            </a:r>
            <a:endParaRPr b="0" i="0" sz="1600" u="none" cap="none" strike="noStrike">
              <a:solidFill>
                <a:schemeClr val="dk1"/>
              </a:solidFill>
              <a:latin typeface="Arial"/>
              <a:ea typeface="Arial"/>
              <a:cs typeface="Arial"/>
              <a:sym typeface="Arial"/>
            </a:endParaRPr>
          </a:p>
        </p:txBody>
      </p:sp>
      <p:sp>
        <p:nvSpPr>
          <p:cNvPr id="859" name="Google Shape;859;p18"/>
          <p:cNvSpPr txBox="1"/>
          <p:nvPr/>
        </p:nvSpPr>
        <p:spPr>
          <a:xfrm>
            <a:off x="4598988" y="6132513"/>
            <a:ext cx="1741487"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Bob’s mail server</a:t>
            </a:r>
            <a:endParaRPr b="0" i="0" sz="1600" u="none" cap="none" strike="noStrike">
              <a:solidFill>
                <a:schemeClr val="dk1"/>
              </a:solidFill>
              <a:latin typeface="Arial"/>
              <a:ea typeface="Arial"/>
              <a:cs typeface="Arial"/>
              <a:sym typeface="Arial"/>
            </a:endParaRPr>
          </a:p>
        </p:txBody>
      </p:sp>
      <p:grpSp>
        <p:nvGrpSpPr>
          <p:cNvPr id="860" name="Google Shape;860;p18"/>
          <p:cNvGrpSpPr/>
          <p:nvPr/>
        </p:nvGrpSpPr>
        <p:grpSpPr>
          <a:xfrm>
            <a:off x="6672263" y="4808538"/>
            <a:ext cx="912812" cy="1054100"/>
            <a:chOff x="3574" y="550"/>
            <a:chExt cx="575" cy="664"/>
          </a:xfrm>
        </p:grpSpPr>
        <p:grpSp>
          <p:nvGrpSpPr>
            <p:cNvPr id="861" name="Google Shape;861;p18"/>
            <p:cNvGrpSpPr/>
            <p:nvPr/>
          </p:nvGrpSpPr>
          <p:grpSpPr>
            <a:xfrm>
              <a:off x="3588" y="692"/>
              <a:ext cx="561" cy="522"/>
              <a:chOff x="-44" y="1473"/>
              <a:chExt cx="981" cy="1105"/>
            </a:xfrm>
          </p:grpSpPr>
          <p:pic>
            <p:nvPicPr>
              <p:cNvPr descr="desktop_computer_stylized_medium" id="862" name="Google Shape;862;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3" name="Google Shape;863;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864" name="Google Shape;864;p18"/>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65" name="Google Shape;865;p18"/>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872" name="Google Shape;872;p1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873" name="Google Shape;873;p19"/>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sp>
        <p:nvSpPr>
          <p:cNvPr id="874" name="Google Shape;874;p19"/>
          <p:cNvSpPr txBox="1"/>
          <p:nvPr>
            <p:ph type="title"/>
          </p:nvPr>
        </p:nvSpPr>
        <p:spPr>
          <a:xfrm>
            <a:off x="533400" y="201613"/>
            <a:ext cx="7772400" cy="9032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875" name="Google Shape;875;p19"/>
          <p:cNvSpPr/>
          <p:nvPr/>
        </p:nvSpPr>
        <p:spPr>
          <a:xfrm>
            <a:off x="0" y="1273175"/>
            <a:ext cx="8870950" cy="4664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220 hamburger.edu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HELO crepes.fr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Hello crepes.fr, pleased to meet you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MAIL FROM: &lt;alice@crepes.fr&gt;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alice@crepes.fr... Sender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RCPT TO: &lt;bob@hamburger.edu&gt;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bob@hamburger.edu ... Recipient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DATA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354 Enter mail, end with "." on a line by itself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Do you like ketchup?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How about pickles?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Message accepted for delivery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QUIT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221 hamburger.edu closing connection</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2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882" name="Google Shape;882;p2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Connection Establishment or handshaking</a:t>
            </a:r>
            <a:endParaRPr/>
          </a:p>
        </p:txBody>
      </p:sp>
      <p:sp>
        <p:nvSpPr>
          <p:cNvPr id="883" name="Google Shape;883;p2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884" name="Google Shape;884;p2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885" name="Google Shape;885;p20"/>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pic>
        <p:nvPicPr>
          <p:cNvPr id="886" name="Google Shape;886;p20"/>
          <p:cNvPicPr preferRelativeResize="0"/>
          <p:nvPr/>
        </p:nvPicPr>
        <p:blipFill rotWithShape="1">
          <a:blip r:embed="rId4">
            <a:alphaModFix/>
          </a:blip>
          <a:srcRect b="0" l="0" r="0" t="0"/>
          <a:stretch/>
        </p:blipFill>
        <p:spPr>
          <a:xfrm>
            <a:off x="931863" y="3419475"/>
            <a:ext cx="7450137" cy="314325"/>
          </a:xfrm>
          <a:prstGeom prst="rect">
            <a:avLst/>
          </a:prstGeom>
          <a:noFill/>
          <a:ln>
            <a:noFill/>
          </a:ln>
        </p:spPr>
      </p:pic>
      <p:pic>
        <p:nvPicPr>
          <p:cNvPr id="887" name="Google Shape;887;p20"/>
          <p:cNvPicPr preferRelativeResize="0"/>
          <p:nvPr/>
        </p:nvPicPr>
        <p:blipFill rotWithShape="1">
          <a:blip r:embed="rId5">
            <a:alphaModFix/>
          </a:blip>
          <a:srcRect b="0" l="0" r="0" t="0"/>
          <a:stretch/>
        </p:blipFill>
        <p:spPr>
          <a:xfrm>
            <a:off x="838200" y="3733800"/>
            <a:ext cx="7413625" cy="441325"/>
          </a:xfrm>
          <a:prstGeom prst="rect">
            <a:avLst/>
          </a:prstGeom>
          <a:noFill/>
          <a:ln>
            <a:noFill/>
          </a:ln>
        </p:spPr>
      </p:pic>
      <p:pic>
        <p:nvPicPr>
          <p:cNvPr id="888" name="Google Shape;888;p20"/>
          <p:cNvPicPr preferRelativeResize="0"/>
          <p:nvPr/>
        </p:nvPicPr>
        <p:blipFill rotWithShape="1">
          <a:blip r:embed="rId6">
            <a:alphaModFix/>
          </a:blip>
          <a:srcRect b="0" l="0" r="0" t="0"/>
          <a:stretch/>
        </p:blipFill>
        <p:spPr>
          <a:xfrm>
            <a:off x="931863" y="4343400"/>
            <a:ext cx="7450137" cy="685800"/>
          </a:xfrm>
          <a:prstGeom prst="rect">
            <a:avLst/>
          </a:prstGeom>
          <a:noFill/>
          <a:ln>
            <a:noFill/>
          </a:ln>
        </p:spPr>
      </p:pic>
      <p:grpSp>
        <p:nvGrpSpPr>
          <p:cNvPr id="889" name="Google Shape;889;p20"/>
          <p:cNvGrpSpPr/>
          <p:nvPr/>
        </p:nvGrpSpPr>
        <p:grpSpPr>
          <a:xfrm>
            <a:off x="528638" y="2528781"/>
            <a:ext cx="8148081" cy="2256331"/>
            <a:chOff x="528638" y="2528781"/>
            <a:chExt cx="8148081" cy="2256331"/>
          </a:xfrm>
        </p:grpSpPr>
        <p:sp>
          <p:nvSpPr>
            <p:cNvPr id="890" name="Google Shape;890;p20"/>
            <p:cNvSpPr txBox="1"/>
            <p:nvPr/>
          </p:nvSpPr>
          <p:spPr>
            <a:xfrm>
              <a:off x="7738281" y="2528781"/>
              <a:ext cx="938438" cy="701731"/>
            </a:xfrm>
            <a:prstGeom prst="rect">
              <a:avLst/>
            </a:prstGeom>
            <a:solidFill>
              <a:srgbClr val="FF99CC"/>
            </a:solidFill>
            <a:ln cap="flat" cmpd="sng" w="25400">
              <a:solidFill>
                <a:schemeClr val="dk1"/>
              </a:solidFill>
              <a:prstDash val="solid"/>
              <a:round/>
              <a:headEnd len="sm" w="sm" type="none"/>
              <a:tailEnd len="sm" w="sm" type="none"/>
            </a:ln>
            <a:effectLst>
              <a:outerShdw sx="103000" rotWithShape="0" algn="tl" dir="2700000" dist="38100" sy="103000">
                <a:srgbClr val="000000">
                  <a:alpha val="7098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Server</a:t>
              </a:r>
              <a:endParaRPr b="0" i="0" sz="2000" u="none" cap="none" strike="noStrike">
                <a:solidFill>
                  <a:schemeClr val="dk1"/>
                </a:solidFill>
                <a:latin typeface="Arial"/>
                <a:ea typeface="Arial"/>
                <a:cs typeface="Arial"/>
                <a:sym typeface="Arial"/>
              </a:endParaRPr>
            </a:p>
          </p:txBody>
        </p:sp>
        <p:cxnSp>
          <p:nvCxnSpPr>
            <p:cNvPr id="891" name="Google Shape;891;p20"/>
            <p:cNvCxnSpPr>
              <a:stCxn id="890" idx="2"/>
            </p:cNvCxnSpPr>
            <p:nvPr/>
          </p:nvCxnSpPr>
          <p:spPr>
            <a:xfrm>
              <a:off x="8207500" y="3230512"/>
              <a:ext cx="0" cy="1554600"/>
            </a:xfrm>
            <a:prstGeom prst="straightConnector1">
              <a:avLst/>
            </a:prstGeom>
            <a:noFill/>
            <a:ln cap="flat" cmpd="sng" w="12700">
              <a:solidFill>
                <a:schemeClr val="dk1"/>
              </a:solidFill>
              <a:prstDash val="solid"/>
              <a:round/>
              <a:headEnd len="sm" w="sm" type="none"/>
              <a:tailEnd len="sm" w="sm" type="none"/>
            </a:ln>
          </p:spPr>
        </p:cxnSp>
        <p:sp>
          <p:nvSpPr>
            <p:cNvPr id="892" name="Google Shape;892;p20"/>
            <p:cNvSpPr txBox="1"/>
            <p:nvPr/>
          </p:nvSpPr>
          <p:spPr>
            <a:xfrm>
              <a:off x="528638" y="2576291"/>
              <a:ext cx="849786" cy="701731"/>
            </a:xfrm>
            <a:prstGeom prst="rect">
              <a:avLst/>
            </a:prstGeom>
            <a:solidFill>
              <a:srgbClr val="FFFF00"/>
            </a:solidFill>
            <a:ln cap="flat" cmpd="sng" w="25400">
              <a:solidFill>
                <a:schemeClr val="dk1"/>
              </a:solidFill>
              <a:prstDash val="solid"/>
              <a:round/>
              <a:headEnd len="sm" w="sm" type="none"/>
              <a:tailEnd len="sm" w="sm" type="none"/>
            </a:ln>
            <a:effectLst>
              <a:outerShdw sx="103000" rotWithShape="0" algn="tl" dir="2700000" dist="38100" sy="103000">
                <a:srgbClr val="000000">
                  <a:alpha val="7098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Client</a:t>
              </a:r>
              <a:endParaRPr b="0" i="0" sz="2000" u="none" cap="none" strike="noStrike">
                <a:solidFill>
                  <a:schemeClr val="dk1"/>
                </a:solidFill>
                <a:latin typeface="Arial"/>
                <a:ea typeface="Arial"/>
                <a:cs typeface="Arial"/>
                <a:sym typeface="Arial"/>
              </a:endParaRPr>
            </a:p>
          </p:txBody>
        </p:sp>
        <p:cxnSp>
          <p:nvCxnSpPr>
            <p:cNvPr id="893" name="Google Shape;893;p20"/>
            <p:cNvCxnSpPr>
              <a:stCxn id="892" idx="2"/>
            </p:cNvCxnSpPr>
            <p:nvPr/>
          </p:nvCxnSpPr>
          <p:spPr>
            <a:xfrm>
              <a:off x="953531" y="3278022"/>
              <a:ext cx="0" cy="1467600"/>
            </a:xfrm>
            <a:prstGeom prst="straightConnector1">
              <a:avLst/>
            </a:prstGeom>
            <a:noFill/>
            <a:ln cap="flat" cmpd="sng" w="12700">
              <a:solidFill>
                <a:schemeClr val="dk1"/>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20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20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2000"/>
                                        <p:tgtEl>
                                          <p:spTgt spid="8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2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sz="3200"/>
              <a:t>Sample SMTP interaction- Message Transfer</a:t>
            </a:r>
            <a:endParaRPr sz="3600"/>
          </a:p>
        </p:txBody>
      </p:sp>
      <p:pic>
        <p:nvPicPr>
          <p:cNvPr id="900" name="Google Shape;900;p21"/>
          <p:cNvPicPr preferRelativeResize="0"/>
          <p:nvPr>
            <p:ph idx="1" type="body"/>
          </p:nvPr>
        </p:nvPicPr>
        <p:blipFill rotWithShape="1">
          <a:blip r:embed="rId3">
            <a:alphaModFix/>
          </a:blip>
          <a:srcRect b="0" l="0" r="0" t="0"/>
          <a:stretch/>
        </p:blipFill>
        <p:spPr>
          <a:xfrm>
            <a:off x="1554702" y="1143000"/>
            <a:ext cx="6426335" cy="5715000"/>
          </a:xfrm>
          <a:prstGeom prst="rect">
            <a:avLst/>
          </a:prstGeom>
          <a:noFill/>
          <a:ln>
            <a:noFill/>
          </a:ln>
        </p:spPr>
      </p:pic>
      <p:pic>
        <p:nvPicPr>
          <p:cNvPr descr="underline_base" id="901" name="Google Shape;901;p21"/>
          <p:cNvPicPr preferRelativeResize="0"/>
          <p:nvPr/>
        </p:nvPicPr>
        <p:blipFill rotWithShape="1">
          <a:blip r:embed="rId4">
            <a:alphaModFix/>
          </a:blip>
          <a:srcRect b="0" l="0" r="0" t="0"/>
          <a:stretch/>
        </p:blipFill>
        <p:spPr>
          <a:xfrm>
            <a:off x="528638" y="854075"/>
            <a:ext cx="5484812" cy="1730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2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908" name="Google Shape;908;p2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Connection termination</a:t>
            </a:r>
            <a:endParaRPr/>
          </a:p>
        </p:txBody>
      </p:sp>
      <p:sp>
        <p:nvSpPr>
          <p:cNvPr id="909" name="Google Shape;909;p2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910" name="Google Shape;910;p22"/>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grpSp>
        <p:nvGrpSpPr>
          <p:cNvPr id="911" name="Google Shape;911;p22"/>
          <p:cNvGrpSpPr/>
          <p:nvPr/>
        </p:nvGrpSpPr>
        <p:grpSpPr>
          <a:xfrm>
            <a:off x="528638" y="2528781"/>
            <a:ext cx="8148081" cy="2347531"/>
            <a:chOff x="528638" y="2528781"/>
            <a:chExt cx="8148081" cy="2347531"/>
          </a:xfrm>
        </p:grpSpPr>
        <p:sp>
          <p:nvSpPr>
            <p:cNvPr id="912" name="Google Shape;912;p22"/>
            <p:cNvSpPr txBox="1"/>
            <p:nvPr/>
          </p:nvSpPr>
          <p:spPr>
            <a:xfrm>
              <a:off x="7738281" y="2528781"/>
              <a:ext cx="938438" cy="701731"/>
            </a:xfrm>
            <a:prstGeom prst="rect">
              <a:avLst/>
            </a:prstGeom>
            <a:solidFill>
              <a:srgbClr val="FF99CC"/>
            </a:solidFill>
            <a:ln cap="flat" cmpd="sng" w="25400">
              <a:solidFill>
                <a:schemeClr val="dk1"/>
              </a:solidFill>
              <a:prstDash val="solid"/>
              <a:round/>
              <a:headEnd len="sm" w="sm" type="none"/>
              <a:tailEnd len="sm" w="sm" type="none"/>
            </a:ln>
            <a:effectLst>
              <a:outerShdw sx="103000" rotWithShape="0" algn="tl" dir="2700000" dist="38100" sy="103000">
                <a:srgbClr val="000000">
                  <a:alpha val="7098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Server</a:t>
              </a:r>
              <a:endParaRPr b="0" i="0" sz="2000" u="none" cap="none" strike="noStrike">
                <a:solidFill>
                  <a:schemeClr val="dk1"/>
                </a:solidFill>
                <a:latin typeface="Arial"/>
                <a:ea typeface="Arial"/>
                <a:cs typeface="Arial"/>
                <a:sym typeface="Arial"/>
              </a:endParaRPr>
            </a:p>
          </p:txBody>
        </p:sp>
        <p:cxnSp>
          <p:nvCxnSpPr>
            <p:cNvPr id="913" name="Google Shape;913;p22"/>
            <p:cNvCxnSpPr>
              <a:stCxn id="912" idx="2"/>
            </p:cNvCxnSpPr>
            <p:nvPr/>
          </p:nvCxnSpPr>
          <p:spPr>
            <a:xfrm>
              <a:off x="8207500" y="3230512"/>
              <a:ext cx="0" cy="1645800"/>
            </a:xfrm>
            <a:prstGeom prst="straightConnector1">
              <a:avLst/>
            </a:prstGeom>
            <a:noFill/>
            <a:ln cap="flat" cmpd="sng" w="12700">
              <a:solidFill>
                <a:schemeClr val="dk1"/>
              </a:solidFill>
              <a:prstDash val="solid"/>
              <a:round/>
              <a:headEnd len="sm" w="sm" type="none"/>
              <a:tailEnd len="sm" w="sm" type="none"/>
            </a:ln>
          </p:spPr>
        </p:cxnSp>
        <p:sp>
          <p:nvSpPr>
            <p:cNvPr id="914" name="Google Shape;914;p22"/>
            <p:cNvSpPr txBox="1"/>
            <p:nvPr/>
          </p:nvSpPr>
          <p:spPr>
            <a:xfrm>
              <a:off x="528638" y="2576291"/>
              <a:ext cx="849786" cy="701731"/>
            </a:xfrm>
            <a:prstGeom prst="rect">
              <a:avLst/>
            </a:prstGeom>
            <a:solidFill>
              <a:srgbClr val="FFFF00"/>
            </a:solidFill>
            <a:ln cap="flat" cmpd="sng" w="25400">
              <a:solidFill>
                <a:schemeClr val="dk1"/>
              </a:solidFill>
              <a:prstDash val="solid"/>
              <a:round/>
              <a:headEnd len="sm" w="sm" type="none"/>
              <a:tailEnd len="sm" w="sm" type="none"/>
            </a:ln>
            <a:effectLst>
              <a:outerShdw sx="103000" rotWithShape="0" algn="tl" dir="2700000" dist="38100" sy="103000">
                <a:srgbClr val="000000">
                  <a:alpha val="7098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Client</a:t>
              </a:r>
              <a:endParaRPr b="0" i="0" sz="2000" u="none" cap="none" strike="noStrike">
                <a:solidFill>
                  <a:schemeClr val="dk1"/>
                </a:solidFill>
                <a:latin typeface="Arial"/>
                <a:ea typeface="Arial"/>
                <a:cs typeface="Arial"/>
                <a:sym typeface="Arial"/>
              </a:endParaRPr>
            </a:p>
          </p:txBody>
        </p:sp>
        <p:cxnSp>
          <p:nvCxnSpPr>
            <p:cNvPr id="915" name="Google Shape;915;p22"/>
            <p:cNvCxnSpPr>
              <a:stCxn id="914" idx="2"/>
            </p:cNvCxnSpPr>
            <p:nvPr/>
          </p:nvCxnSpPr>
          <p:spPr>
            <a:xfrm>
              <a:off x="953531" y="3278022"/>
              <a:ext cx="0" cy="1467600"/>
            </a:xfrm>
            <a:prstGeom prst="straightConnector1">
              <a:avLst/>
            </a:prstGeom>
            <a:noFill/>
            <a:ln cap="flat" cmpd="sng" w="12700">
              <a:solidFill>
                <a:schemeClr val="dk1"/>
              </a:solidFill>
              <a:prstDash val="solid"/>
              <a:round/>
              <a:headEnd len="sm" w="sm" type="none"/>
              <a:tailEnd len="sm" w="sm" type="none"/>
            </a:ln>
          </p:spPr>
        </p:cxnSp>
      </p:grpSp>
      <p:pic>
        <p:nvPicPr>
          <p:cNvPr id="916" name="Google Shape;916;p22"/>
          <p:cNvPicPr preferRelativeResize="0"/>
          <p:nvPr/>
        </p:nvPicPr>
        <p:blipFill rotWithShape="1">
          <a:blip r:embed="rId4">
            <a:alphaModFix/>
          </a:blip>
          <a:srcRect b="0" l="0" r="0" t="0"/>
          <a:stretch/>
        </p:blipFill>
        <p:spPr>
          <a:xfrm>
            <a:off x="800762" y="3599364"/>
            <a:ext cx="7423150" cy="314325"/>
          </a:xfrm>
          <a:prstGeom prst="rect">
            <a:avLst/>
          </a:prstGeom>
          <a:noFill/>
          <a:ln>
            <a:noFill/>
          </a:ln>
        </p:spPr>
      </p:pic>
      <p:pic>
        <p:nvPicPr>
          <p:cNvPr id="917" name="Google Shape;917;p22"/>
          <p:cNvPicPr preferRelativeResize="0"/>
          <p:nvPr/>
        </p:nvPicPr>
        <p:blipFill rotWithShape="1">
          <a:blip r:embed="rId5">
            <a:alphaModFix/>
          </a:blip>
          <a:srcRect b="0" l="0" r="0" t="0"/>
          <a:stretch/>
        </p:blipFill>
        <p:spPr>
          <a:xfrm>
            <a:off x="953162" y="4475664"/>
            <a:ext cx="7423150" cy="339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20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2000"/>
                                        <p:tgtEl>
                                          <p:spTgt spid="9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2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24" name="Google Shape;924;p2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25" name="Google Shape;925;p23"/>
          <p:cNvSpPr txBox="1"/>
          <p:nvPr>
            <p:ph type="title"/>
          </p:nvPr>
        </p:nvSpPr>
        <p:spPr>
          <a:xfrm>
            <a:off x="533400" y="117475"/>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Mail message format</a:t>
            </a:r>
            <a:endParaRPr/>
          </a:p>
        </p:txBody>
      </p:sp>
      <p:sp>
        <p:nvSpPr>
          <p:cNvPr id="926" name="Google Shape;926;p23"/>
          <p:cNvSpPr txBox="1"/>
          <p:nvPr>
            <p:ph idx="1" type="body"/>
          </p:nvPr>
        </p:nvSpPr>
        <p:spPr>
          <a:xfrm>
            <a:off x="533400" y="1611313"/>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Font typeface="Noto Sans Symbols"/>
              <a:buNone/>
            </a:pPr>
            <a:r>
              <a:rPr lang="en-US" sz="2400"/>
              <a:t>SMTP: protocol for exchanging email msgs</a:t>
            </a:r>
            <a:endParaRPr/>
          </a:p>
          <a:p>
            <a:pPr indent="-342900" lvl="0" marL="342900" rtl="0" algn="l">
              <a:lnSpc>
                <a:spcPct val="85000"/>
              </a:lnSpc>
              <a:spcBef>
                <a:spcPts val="480"/>
              </a:spcBef>
              <a:spcAft>
                <a:spcPts val="0"/>
              </a:spcAft>
              <a:buSzPts val="1560"/>
              <a:buFont typeface="Noto Sans Symbols"/>
              <a:buNone/>
            </a:pPr>
            <a:r>
              <a:rPr lang="en-US" sz="2400"/>
              <a:t>RFC 822: standard for text message format:</a:t>
            </a:r>
            <a:endParaRPr/>
          </a:p>
          <a:p>
            <a:pPr indent="-342900" lvl="0" marL="342900" rtl="0" algn="l">
              <a:lnSpc>
                <a:spcPct val="85000"/>
              </a:lnSpc>
              <a:spcBef>
                <a:spcPts val="480"/>
              </a:spcBef>
              <a:spcAft>
                <a:spcPts val="0"/>
              </a:spcAft>
              <a:buSzPts val="1560"/>
              <a:buChar char="❖"/>
            </a:pPr>
            <a:r>
              <a:rPr lang="en-US" sz="2400"/>
              <a:t>header lines, e.g.,</a:t>
            </a:r>
            <a:endParaRPr/>
          </a:p>
          <a:p>
            <a:pPr indent="-285750" lvl="1" marL="742950" rtl="0" algn="l">
              <a:lnSpc>
                <a:spcPct val="85000"/>
              </a:lnSpc>
              <a:spcBef>
                <a:spcPts val="400"/>
              </a:spcBef>
              <a:spcAft>
                <a:spcPts val="0"/>
              </a:spcAft>
              <a:buSzPts val="2000"/>
              <a:buChar char="▪"/>
            </a:pPr>
            <a:r>
              <a:rPr lang="en-US" sz="2000"/>
              <a:t>To:</a:t>
            </a:r>
            <a:endParaRPr/>
          </a:p>
          <a:p>
            <a:pPr indent="-285750" lvl="1" marL="742950" rtl="0" algn="l">
              <a:lnSpc>
                <a:spcPct val="85000"/>
              </a:lnSpc>
              <a:spcBef>
                <a:spcPts val="400"/>
              </a:spcBef>
              <a:spcAft>
                <a:spcPts val="0"/>
              </a:spcAft>
              <a:buSzPts val="2000"/>
              <a:buChar char="▪"/>
            </a:pPr>
            <a:r>
              <a:rPr lang="en-US" sz="2000"/>
              <a:t>From:</a:t>
            </a:r>
            <a:endParaRPr/>
          </a:p>
          <a:p>
            <a:pPr indent="-285750" lvl="1" marL="742950" rtl="0" algn="l">
              <a:lnSpc>
                <a:spcPct val="85000"/>
              </a:lnSpc>
              <a:spcBef>
                <a:spcPts val="400"/>
              </a:spcBef>
              <a:spcAft>
                <a:spcPts val="0"/>
              </a:spcAft>
              <a:buSzPts val="2000"/>
              <a:buChar char="▪"/>
            </a:pPr>
            <a:r>
              <a:rPr lang="en-US" sz="2000"/>
              <a:t>Subject:</a:t>
            </a:r>
            <a:endParaRPr/>
          </a:p>
          <a:p>
            <a:pPr indent="-285750" lvl="1" marL="742950" rtl="0" algn="l">
              <a:lnSpc>
                <a:spcPct val="85000"/>
              </a:lnSpc>
              <a:spcBef>
                <a:spcPts val="480"/>
              </a:spcBef>
              <a:spcAft>
                <a:spcPts val="0"/>
              </a:spcAft>
              <a:buSzPts val="2400"/>
              <a:buFont typeface="Noto Sans Symbols"/>
              <a:buNone/>
            </a:pPr>
            <a:r>
              <a:rPr i="1" lang="en-US">
                <a:solidFill>
                  <a:srgbClr val="FF0000"/>
                </a:solidFill>
              </a:rPr>
              <a:t>different</a:t>
            </a:r>
            <a:r>
              <a:rPr i="1" lang="en-US">
                <a:solidFill>
                  <a:srgbClr val="66FFCC"/>
                </a:solidFill>
              </a:rPr>
              <a:t> </a:t>
            </a:r>
            <a:r>
              <a:rPr i="1" lang="en-US"/>
              <a:t>from </a:t>
            </a:r>
            <a:r>
              <a:rPr lang="en-US" sz="2200"/>
              <a:t>SMTP MAIL FROM, RCPT TO:</a:t>
            </a:r>
            <a:r>
              <a:rPr lang="en-US"/>
              <a:t> commands!</a:t>
            </a:r>
            <a:endParaRPr/>
          </a:p>
          <a:p>
            <a:pPr indent="-342900" lvl="0" marL="342900" rtl="0" algn="l">
              <a:lnSpc>
                <a:spcPct val="85000"/>
              </a:lnSpc>
              <a:spcBef>
                <a:spcPts val="480"/>
              </a:spcBef>
              <a:spcAft>
                <a:spcPts val="0"/>
              </a:spcAft>
              <a:buSzPts val="1560"/>
              <a:buChar char="❖"/>
            </a:pPr>
            <a:r>
              <a:rPr lang="en-US" sz="2400"/>
              <a:t>Body: the “message” </a:t>
            </a:r>
            <a:endParaRPr/>
          </a:p>
          <a:p>
            <a:pPr indent="-285750" lvl="1" marL="742950" rtl="0" algn="l">
              <a:lnSpc>
                <a:spcPct val="85000"/>
              </a:lnSpc>
              <a:spcBef>
                <a:spcPts val="400"/>
              </a:spcBef>
              <a:spcAft>
                <a:spcPts val="0"/>
              </a:spcAft>
              <a:buSzPts val="2000"/>
              <a:buChar char="▪"/>
            </a:pPr>
            <a:r>
              <a:rPr lang="en-US" sz="2000"/>
              <a:t>ASCII characters only</a:t>
            </a:r>
            <a:endParaRPr/>
          </a:p>
        </p:txBody>
      </p:sp>
      <p:sp>
        <p:nvSpPr>
          <p:cNvPr id="927" name="Google Shape;927;p23"/>
          <p:cNvSpPr/>
          <p:nvPr/>
        </p:nvSpPr>
        <p:spPr>
          <a:xfrm>
            <a:off x="4978400" y="1892300"/>
            <a:ext cx="2832100" cy="431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header</a:t>
            </a:r>
            <a:endParaRPr b="0" i="0" sz="1400" u="none" cap="none" strike="noStrike">
              <a:solidFill>
                <a:srgbClr val="000000"/>
              </a:solidFill>
              <a:latin typeface="Arial"/>
              <a:ea typeface="Arial"/>
              <a:cs typeface="Arial"/>
              <a:sym typeface="Arial"/>
            </a:endParaRPr>
          </a:p>
        </p:txBody>
      </p:sp>
      <p:sp>
        <p:nvSpPr>
          <p:cNvPr id="928" name="Google Shape;928;p23"/>
          <p:cNvSpPr/>
          <p:nvPr/>
        </p:nvSpPr>
        <p:spPr>
          <a:xfrm>
            <a:off x="4978400" y="2705100"/>
            <a:ext cx="2832100" cy="17399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body</a:t>
            </a:r>
            <a:endParaRPr b="0" i="0" sz="1400" u="none" cap="none" strike="noStrike">
              <a:solidFill>
                <a:srgbClr val="000000"/>
              </a:solidFill>
              <a:latin typeface="Arial"/>
              <a:ea typeface="Arial"/>
              <a:cs typeface="Arial"/>
              <a:sym typeface="Arial"/>
            </a:endParaRPr>
          </a:p>
        </p:txBody>
      </p:sp>
      <p:sp>
        <p:nvSpPr>
          <p:cNvPr id="929" name="Google Shape;929;p23"/>
          <p:cNvSpPr/>
          <p:nvPr/>
        </p:nvSpPr>
        <p:spPr>
          <a:xfrm>
            <a:off x="4775200" y="1778000"/>
            <a:ext cx="3238500" cy="30734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930" name="Google Shape;930;p23"/>
          <p:cNvCxnSpPr/>
          <p:nvPr/>
        </p:nvCxnSpPr>
        <p:spPr>
          <a:xfrm flipH="1" rot="10800000">
            <a:off x="3162300" y="2159000"/>
            <a:ext cx="1765300" cy="1016000"/>
          </a:xfrm>
          <a:prstGeom prst="straightConnector1">
            <a:avLst/>
          </a:prstGeom>
          <a:noFill/>
          <a:ln cap="flat" cmpd="sng" w="19050">
            <a:solidFill>
              <a:srgbClr val="FF0000"/>
            </a:solidFill>
            <a:prstDash val="solid"/>
            <a:round/>
            <a:headEnd len="sm" w="sm" type="none"/>
            <a:tailEnd len="med" w="med" type="triangle"/>
          </a:ln>
        </p:spPr>
      </p:cxnSp>
      <p:cxnSp>
        <p:nvCxnSpPr>
          <p:cNvPr id="931" name="Google Shape;931;p23"/>
          <p:cNvCxnSpPr/>
          <p:nvPr/>
        </p:nvCxnSpPr>
        <p:spPr>
          <a:xfrm flipH="1" rot="10800000">
            <a:off x="3009900" y="3327400"/>
            <a:ext cx="1905000" cy="1879600"/>
          </a:xfrm>
          <a:prstGeom prst="straightConnector1">
            <a:avLst/>
          </a:prstGeom>
          <a:noFill/>
          <a:ln cap="flat" cmpd="sng" w="19050">
            <a:solidFill>
              <a:srgbClr val="FF0000"/>
            </a:solidFill>
            <a:prstDash val="solid"/>
            <a:round/>
            <a:headEnd len="sm" w="sm" type="none"/>
            <a:tailEnd len="med" w="med" type="triangle"/>
          </a:ln>
        </p:spPr>
      </p:cxnSp>
      <p:sp>
        <p:nvSpPr>
          <p:cNvPr id="932" name="Google Shape;932;p23"/>
          <p:cNvSpPr txBox="1"/>
          <p:nvPr/>
        </p:nvSpPr>
        <p:spPr>
          <a:xfrm>
            <a:off x="8139113" y="2112963"/>
            <a:ext cx="7921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blank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p:txBody>
      </p:sp>
      <p:cxnSp>
        <p:nvCxnSpPr>
          <p:cNvPr id="933" name="Google Shape;933;p23"/>
          <p:cNvCxnSpPr/>
          <p:nvPr/>
        </p:nvCxnSpPr>
        <p:spPr>
          <a:xfrm rot="10800000">
            <a:off x="7251700" y="2552700"/>
            <a:ext cx="965200" cy="0"/>
          </a:xfrm>
          <a:prstGeom prst="straightConnector1">
            <a:avLst/>
          </a:prstGeom>
          <a:noFill/>
          <a:ln cap="flat" cmpd="sng" w="19050">
            <a:solidFill>
              <a:srgbClr val="FF0000"/>
            </a:solidFill>
            <a:prstDash val="solid"/>
            <a:round/>
            <a:headEnd len="sm" w="sm" type="none"/>
            <a:tailEnd len="med" w="med" type="triangle"/>
          </a:ln>
        </p:spPr>
      </p:cxnSp>
      <p:pic>
        <p:nvPicPr>
          <p:cNvPr descr="underline_base" id="934" name="Google Shape;934;p23"/>
          <p:cNvPicPr preferRelativeResize="0"/>
          <p:nvPr/>
        </p:nvPicPr>
        <p:blipFill rotWithShape="1">
          <a:blip r:embed="rId3">
            <a:alphaModFix/>
          </a:blip>
          <a:srcRect b="0" l="0" r="0" t="0"/>
          <a:stretch/>
        </p:blipFill>
        <p:spPr>
          <a:xfrm>
            <a:off x="488950" y="912813"/>
            <a:ext cx="4570413" cy="1730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2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41" name="Google Shape;941;p2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42" name="Google Shape;942;p24"/>
          <p:cNvSpPr txBox="1"/>
          <p:nvPr>
            <p:ph type="title"/>
          </p:nvPr>
        </p:nvSpPr>
        <p:spPr>
          <a:xfrm>
            <a:off x="533400" y="161925"/>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SMTP: final words</a:t>
            </a:r>
            <a:endParaRPr/>
          </a:p>
        </p:txBody>
      </p:sp>
      <p:sp>
        <p:nvSpPr>
          <p:cNvPr id="943" name="Google Shape;943;p24"/>
          <p:cNvSpPr txBox="1"/>
          <p:nvPr>
            <p:ph idx="1" type="body"/>
          </p:nvPr>
        </p:nvSpPr>
        <p:spPr>
          <a:xfrm>
            <a:off x="501650" y="155575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t>SMTP uses persistent connections</a:t>
            </a:r>
            <a:endParaRPr/>
          </a:p>
          <a:p>
            <a:pPr indent="-342900" lvl="0" marL="342900" rtl="0" algn="l">
              <a:lnSpc>
                <a:spcPct val="85000"/>
              </a:lnSpc>
              <a:spcBef>
                <a:spcPts val="480"/>
              </a:spcBef>
              <a:spcAft>
                <a:spcPts val="0"/>
              </a:spcAft>
              <a:buSzPts val="1560"/>
              <a:buChar char="❖"/>
            </a:pPr>
            <a:r>
              <a:rPr lang="en-US" sz="2400"/>
              <a:t>SMTP requires message (header &amp; body) to be in 7-bit ASCII</a:t>
            </a:r>
            <a:endParaRPr/>
          </a:p>
          <a:p>
            <a:pPr indent="-342900" lvl="0" marL="342900" rtl="0" algn="l">
              <a:lnSpc>
                <a:spcPct val="85000"/>
              </a:lnSpc>
              <a:spcBef>
                <a:spcPts val="480"/>
              </a:spcBef>
              <a:spcAft>
                <a:spcPts val="0"/>
              </a:spcAft>
              <a:buSzPts val="1560"/>
              <a:buChar char="❖"/>
            </a:pPr>
            <a:r>
              <a:rPr lang="en-US" sz="2400"/>
              <a:t>SMTP server uses </a:t>
            </a:r>
            <a:r>
              <a:rPr lang="en-US" sz="2400">
                <a:latin typeface="Courier New"/>
                <a:ea typeface="Courier New"/>
                <a:cs typeface="Courier New"/>
                <a:sym typeface="Courier New"/>
              </a:rPr>
              <a:t>CRLF.CRLF</a:t>
            </a:r>
            <a:r>
              <a:rPr lang="en-US" sz="2400"/>
              <a:t> to determine end of message</a:t>
            </a:r>
            <a:endParaRPr/>
          </a:p>
        </p:txBody>
      </p:sp>
      <p:sp>
        <p:nvSpPr>
          <p:cNvPr id="944" name="Google Shape;944;p24"/>
          <p:cNvSpPr txBox="1"/>
          <p:nvPr>
            <p:ph idx="2" type="body"/>
          </p:nvPr>
        </p:nvSpPr>
        <p:spPr>
          <a:xfrm>
            <a:off x="4495800" y="15113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comparison with HTTP:</a:t>
            </a:r>
            <a:endParaRPr/>
          </a:p>
          <a:p>
            <a:pPr indent="-342900" lvl="0" marL="342900" rtl="0" algn="l">
              <a:lnSpc>
                <a:spcPct val="85000"/>
              </a:lnSpc>
              <a:spcBef>
                <a:spcPts val="1200"/>
              </a:spcBef>
              <a:spcAft>
                <a:spcPts val="0"/>
              </a:spcAft>
              <a:buSzPts val="1560"/>
              <a:buChar char="❖"/>
            </a:pPr>
            <a:r>
              <a:rPr lang="en-US" sz="2400"/>
              <a:t>HTTP: pull</a:t>
            </a:r>
            <a:endParaRPr/>
          </a:p>
          <a:p>
            <a:pPr indent="-342900" lvl="0" marL="342900" rtl="0" algn="l">
              <a:lnSpc>
                <a:spcPct val="85000"/>
              </a:lnSpc>
              <a:spcBef>
                <a:spcPts val="480"/>
              </a:spcBef>
              <a:spcAft>
                <a:spcPts val="0"/>
              </a:spcAft>
              <a:buSzPts val="1560"/>
              <a:buChar char="❖"/>
            </a:pPr>
            <a:r>
              <a:rPr lang="en-US" sz="2400"/>
              <a:t>SMTP: push</a:t>
            </a:r>
            <a:endParaRPr/>
          </a:p>
          <a:p>
            <a:pPr indent="-342900" lvl="0" marL="342900" rtl="0" algn="l">
              <a:lnSpc>
                <a:spcPct val="85000"/>
              </a:lnSpc>
              <a:spcBef>
                <a:spcPts val="1680"/>
              </a:spcBef>
              <a:spcAft>
                <a:spcPts val="0"/>
              </a:spcAft>
              <a:buSzPts val="1560"/>
              <a:buChar char="❖"/>
            </a:pPr>
            <a:r>
              <a:rPr lang="en-US" sz="2400"/>
              <a:t>both have ASCII command/response interaction, status codes</a:t>
            </a:r>
            <a:endParaRPr/>
          </a:p>
          <a:p>
            <a:pPr indent="-342900" lvl="0" marL="342900" rtl="0" algn="l">
              <a:lnSpc>
                <a:spcPct val="85000"/>
              </a:lnSpc>
              <a:spcBef>
                <a:spcPts val="1680"/>
              </a:spcBef>
              <a:spcAft>
                <a:spcPts val="0"/>
              </a:spcAft>
              <a:buSzPts val="1560"/>
              <a:buChar char="❖"/>
            </a:pPr>
            <a:r>
              <a:rPr lang="en-US" sz="2400"/>
              <a:t>HTTP: each object encapsulated in its own response msg</a:t>
            </a:r>
            <a:endParaRPr/>
          </a:p>
          <a:p>
            <a:pPr indent="-342900" lvl="0" marL="342900" rtl="0" algn="l">
              <a:lnSpc>
                <a:spcPct val="85000"/>
              </a:lnSpc>
              <a:spcBef>
                <a:spcPts val="480"/>
              </a:spcBef>
              <a:spcAft>
                <a:spcPts val="0"/>
              </a:spcAft>
              <a:buSzPts val="1560"/>
              <a:buChar char="❖"/>
            </a:pPr>
            <a:r>
              <a:rPr lang="en-US" sz="2400"/>
              <a:t>SMTP: multiple objects sent in multipart msg</a:t>
            </a:r>
            <a:endParaRPr/>
          </a:p>
        </p:txBody>
      </p:sp>
      <p:pic>
        <p:nvPicPr>
          <p:cNvPr descr="underline_base" id="945" name="Google Shape;945;p24"/>
          <p:cNvPicPr preferRelativeResize="0"/>
          <p:nvPr/>
        </p:nvPicPr>
        <p:blipFill rotWithShape="1">
          <a:blip r:embed="rId3">
            <a:alphaModFix/>
          </a:blip>
          <a:srcRect b="0" l="0" r="0" t="0"/>
          <a:stretch/>
        </p:blipFill>
        <p:spPr>
          <a:xfrm>
            <a:off x="488950" y="968375"/>
            <a:ext cx="4570413" cy="17303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2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52" name="Google Shape;952;p2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953" name="Google Shape;953;p25"/>
          <p:cNvGrpSpPr/>
          <p:nvPr/>
        </p:nvGrpSpPr>
        <p:grpSpPr>
          <a:xfrm>
            <a:off x="2962275" y="1577975"/>
            <a:ext cx="511175" cy="693738"/>
            <a:chOff x="4140" y="429"/>
            <a:chExt cx="1425" cy="2396"/>
          </a:xfrm>
        </p:grpSpPr>
        <p:sp>
          <p:nvSpPr>
            <p:cNvPr id="954" name="Google Shape;954;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5" name="Google Shape;955;p2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6" name="Google Shape;956;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7" name="Google Shape;957;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8" name="Google Shape;958;p25"/>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59" name="Google Shape;959;p25"/>
            <p:cNvGrpSpPr/>
            <p:nvPr/>
          </p:nvGrpSpPr>
          <p:grpSpPr>
            <a:xfrm>
              <a:off x="4751" y="670"/>
              <a:ext cx="579" cy="143"/>
              <a:chOff x="616" y="2570"/>
              <a:chExt cx="723" cy="137"/>
            </a:xfrm>
          </p:grpSpPr>
          <p:sp>
            <p:nvSpPr>
              <p:cNvPr id="960" name="Google Shape;960;p25"/>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1" name="Google Shape;961;p2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62" name="Google Shape;962;p25"/>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63" name="Google Shape;963;p25"/>
            <p:cNvGrpSpPr/>
            <p:nvPr/>
          </p:nvGrpSpPr>
          <p:grpSpPr>
            <a:xfrm>
              <a:off x="4746" y="994"/>
              <a:ext cx="575" cy="126"/>
              <a:chOff x="613" y="2568"/>
              <a:chExt cx="718" cy="131"/>
            </a:xfrm>
          </p:grpSpPr>
          <p:sp>
            <p:nvSpPr>
              <p:cNvPr id="964" name="Google Shape;964;p25"/>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5" name="Google Shape;965;p2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66" name="Google Shape;966;p25"/>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7" name="Google Shape;967;p25"/>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68" name="Google Shape;968;p25"/>
            <p:cNvGrpSpPr/>
            <p:nvPr/>
          </p:nvGrpSpPr>
          <p:grpSpPr>
            <a:xfrm>
              <a:off x="4733" y="1641"/>
              <a:ext cx="584" cy="137"/>
              <a:chOff x="612" y="2581"/>
              <a:chExt cx="728" cy="126"/>
            </a:xfrm>
          </p:grpSpPr>
          <p:sp>
            <p:nvSpPr>
              <p:cNvPr id="969" name="Google Shape;969;p25"/>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0" name="Google Shape;970;p2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71" name="Google Shape;971;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72" name="Google Shape;972;p25"/>
            <p:cNvGrpSpPr/>
            <p:nvPr/>
          </p:nvGrpSpPr>
          <p:grpSpPr>
            <a:xfrm>
              <a:off x="4737" y="1328"/>
              <a:ext cx="584" cy="137"/>
              <a:chOff x="612" y="2569"/>
              <a:chExt cx="728" cy="137"/>
            </a:xfrm>
          </p:grpSpPr>
          <p:sp>
            <p:nvSpPr>
              <p:cNvPr id="973" name="Google Shape;973;p25"/>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4" name="Google Shape;974;p2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75" name="Google Shape;975;p2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6" name="Google Shape;976;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7" name="Google Shape;977;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8" name="Google Shape;978;p2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9" name="Google Shape;979;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0" name="Google Shape;980;p25"/>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1" name="Google Shape;981;p25"/>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2" name="Google Shape;982;p2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3" name="Google Shape;983;p2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84" name="Google Shape;984;p2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5" name="Google Shape;985;p25"/>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986" name="Google Shape;986;p25"/>
          <p:cNvGrpSpPr/>
          <p:nvPr/>
        </p:nvGrpSpPr>
        <p:grpSpPr>
          <a:xfrm>
            <a:off x="4648200" y="1587500"/>
            <a:ext cx="511175" cy="693738"/>
            <a:chOff x="4140" y="429"/>
            <a:chExt cx="1425" cy="2396"/>
          </a:xfrm>
        </p:grpSpPr>
        <p:sp>
          <p:nvSpPr>
            <p:cNvPr id="987" name="Google Shape;987;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8" name="Google Shape;988;p2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9" name="Google Shape;989;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0" name="Google Shape;990;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1" name="Google Shape;991;p25"/>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92" name="Google Shape;992;p25"/>
            <p:cNvGrpSpPr/>
            <p:nvPr/>
          </p:nvGrpSpPr>
          <p:grpSpPr>
            <a:xfrm>
              <a:off x="4751" y="670"/>
              <a:ext cx="579" cy="143"/>
              <a:chOff x="616" y="2570"/>
              <a:chExt cx="723" cy="137"/>
            </a:xfrm>
          </p:grpSpPr>
          <p:sp>
            <p:nvSpPr>
              <p:cNvPr id="993" name="Google Shape;993;p25"/>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4" name="Google Shape;994;p2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95" name="Google Shape;995;p25"/>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96" name="Google Shape;996;p25"/>
            <p:cNvGrpSpPr/>
            <p:nvPr/>
          </p:nvGrpSpPr>
          <p:grpSpPr>
            <a:xfrm>
              <a:off x="4746" y="994"/>
              <a:ext cx="575" cy="126"/>
              <a:chOff x="613" y="2568"/>
              <a:chExt cx="718" cy="131"/>
            </a:xfrm>
          </p:grpSpPr>
          <p:sp>
            <p:nvSpPr>
              <p:cNvPr id="997" name="Google Shape;997;p25"/>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8" name="Google Shape;998;p2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99" name="Google Shape;999;p25"/>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0" name="Google Shape;1000;p25"/>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01" name="Google Shape;1001;p25"/>
            <p:cNvGrpSpPr/>
            <p:nvPr/>
          </p:nvGrpSpPr>
          <p:grpSpPr>
            <a:xfrm>
              <a:off x="4733" y="1641"/>
              <a:ext cx="584" cy="137"/>
              <a:chOff x="612" y="2581"/>
              <a:chExt cx="728" cy="126"/>
            </a:xfrm>
          </p:grpSpPr>
          <p:sp>
            <p:nvSpPr>
              <p:cNvPr id="1002" name="Google Shape;1002;p25"/>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3" name="Google Shape;1003;p2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04" name="Google Shape;1004;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05" name="Google Shape;1005;p25"/>
            <p:cNvGrpSpPr/>
            <p:nvPr/>
          </p:nvGrpSpPr>
          <p:grpSpPr>
            <a:xfrm>
              <a:off x="4737" y="1328"/>
              <a:ext cx="584" cy="137"/>
              <a:chOff x="612" y="2569"/>
              <a:chExt cx="728" cy="137"/>
            </a:xfrm>
          </p:grpSpPr>
          <p:sp>
            <p:nvSpPr>
              <p:cNvPr id="1006" name="Google Shape;1006;p25"/>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7" name="Google Shape;1007;p2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08" name="Google Shape;1008;p2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9" name="Google Shape;1009;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0" name="Google Shape;1010;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1" name="Google Shape;1011;p2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2" name="Google Shape;1012;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3" name="Google Shape;1013;p25"/>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4" name="Google Shape;1014;p25"/>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5" name="Google Shape;1015;p2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6" name="Google Shape;1016;p2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017" name="Google Shape;1017;p2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8" name="Google Shape;1018;p25"/>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1019" name="Google Shape;1019;p25"/>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
        <p:nvSpPr>
          <p:cNvPr id="1020" name="Google Shape;1020;p25"/>
          <p:cNvSpPr txBox="1"/>
          <p:nvPr>
            <p:ph type="title"/>
          </p:nvPr>
        </p:nvSpPr>
        <p:spPr>
          <a:xfrm>
            <a:off x="500063" y="255588"/>
            <a:ext cx="7772400" cy="893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Mail Access Agents</a:t>
            </a:r>
            <a:endParaRPr/>
          </a:p>
        </p:txBody>
      </p:sp>
      <p:sp>
        <p:nvSpPr>
          <p:cNvPr id="1021" name="Google Shape;1021;p25"/>
          <p:cNvSpPr txBox="1"/>
          <p:nvPr>
            <p:ph idx="1" type="body"/>
          </p:nvPr>
        </p:nvSpPr>
        <p:spPr>
          <a:xfrm>
            <a:off x="581025" y="3230562"/>
            <a:ext cx="8108950" cy="298458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solidFill>
                  <a:srgbClr val="CC0000"/>
                </a:solidFill>
              </a:rPr>
              <a:t>SMTP:</a:t>
            </a:r>
            <a:r>
              <a:rPr lang="en-US" sz="2400"/>
              <a:t> is a push protocol; it pushes the message from the client to the server. </a:t>
            </a:r>
            <a:endParaRPr/>
          </a:p>
          <a:p>
            <a:pPr indent="-342900" lvl="0" marL="342900" rtl="0" algn="l">
              <a:lnSpc>
                <a:spcPct val="85000"/>
              </a:lnSpc>
              <a:spcBef>
                <a:spcPts val="480"/>
              </a:spcBef>
              <a:spcAft>
                <a:spcPts val="0"/>
              </a:spcAft>
              <a:buSzPts val="1560"/>
              <a:buChar char="❖"/>
            </a:pPr>
            <a:r>
              <a:rPr lang="en-US" sz="2400"/>
              <a:t>On the other hand, the third stage needs a pull protocol; </a:t>
            </a:r>
            <a:endParaRPr/>
          </a:p>
          <a:p>
            <a:pPr indent="-342900" lvl="0" marL="342900" rtl="0" algn="l">
              <a:lnSpc>
                <a:spcPct val="85000"/>
              </a:lnSpc>
              <a:spcBef>
                <a:spcPts val="480"/>
              </a:spcBef>
              <a:spcAft>
                <a:spcPts val="0"/>
              </a:spcAft>
              <a:buSzPts val="1560"/>
              <a:buChar char="❖"/>
            </a:pPr>
            <a:r>
              <a:rPr lang="en-US" sz="2400"/>
              <a:t>the client must pull messages from the server. </a:t>
            </a:r>
            <a:endParaRPr/>
          </a:p>
          <a:p>
            <a:pPr indent="-342900" lvl="0" marL="342900" rtl="0" algn="l">
              <a:lnSpc>
                <a:spcPct val="85000"/>
              </a:lnSpc>
              <a:spcBef>
                <a:spcPts val="480"/>
              </a:spcBef>
              <a:spcAft>
                <a:spcPts val="0"/>
              </a:spcAft>
              <a:buSzPts val="1560"/>
              <a:buChar char="❖"/>
            </a:pPr>
            <a:r>
              <a:rPr lang="en-US" sz="2400"/>
              <a:t>The third stage uses a message access agent</a:t>
            </a:r>
            <a:r>
              <a:rPr lang="en-US" sz="2200"/>
              <a:t>.</a:t>
            </a:r>
            <a:endParaRPr/>
          </a:p>
          <a:p>
            <a:pPr indent="-146050" lvl="1" marL="742950" rtl="0" algn="l">
              <a:lnSpc>
                <a:spcPct val="85000"/>
              </a:lnSpc>
              <a:spcBef>
                <a:spcPts val="440"/>
              </a:spcBef>
              <a:spcAft>
                <a:spcPts val="0"/>
              </a:spcAft>
              <a:buSzPts val="2200"/>
              <a:buNone/>
            </a:pPr>
            <a:r>
              <a:t/>
            </a:r>
            <a:endParaRPr sz="2200"/>
          </a:p>
        </p:txBody>
      </p:sp>
      <p:grpSp>
        <p:nvGrpSpPr>
          <p:cNvPr id="1022" name="Google Shape;1022;p25"/>
          <p:cNvGrpSpPr/>
          <p:nvPr/>
        </p:nvGrpSpPr>
        <p:grpSpPr>
          <a:xfrm>
            <a:off x="2797175" y="1987550"/>
            <a:ext cx="1436688" cy="1131888"/>
            <a:chOff x="1796" y="1206"/>
            <a:chExt cx="905" cy="713"/>
          </a:xfrm>
        </p:grpSpPr>
        <p:sp>
          <p:nvSpPr>
            <p:cNvPr id="1023" name="Google Shape;1023;p25"/>
            <p:cNvSpPr txBox="1"/>
            <p:nvPr/>
          </p:nvSpPr>
          <p:spPr>
            <a:xfrm>
              <a:off x="1796" y="1583"/>
              <a:ext cx="905" cy="33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sender’s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024" name="Google Shape;1024;p25"/>
            <p:cNvGrpSpPr/>
            <p:nvPr/>
          </p:nvGrpSpPr>
          <p:grpSpPr>
            <a:xfrm>
              <a:off x="1992" y="1206"/>
              <a:ext cx="510" cy="354"/>
              <a:chOff x="2070" y="2004"/>
              <a:chExt cx="510" cy="354"/>
            </a:xfrm>
          </p:grpSpPr>
          <p:sp>
            <p:nvSpPr>
              <p:cNvPr id="1025" name="Google Shape;1025;p25"/>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26" name="Google Shape;1026;p25"/>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027" name="Google Shape;1027;p25"/>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028" name="Google Shape;1028;p25"/>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29" name="Google Shape;1029;p25"/>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030" name="Google Shape;1030;p25"/>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1" name="Google Shape;1031;p25"/>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2" name="Google Shape;1032;p25"/>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3" name="Google Shape;1033;p25"/>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034" name="Google Shape;1034;p25"/>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5" name="Google Shape;1035;p25"/>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6" name="Google Shape;1036;p25"/>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7" name="Google Shape;1037;p25"/>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8" name="Google Shape;1038;p25"/>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grpSp>
      <p:sp>
        <p:nvSpPr>
          <p:cNvPr id="1039" name="Google Shape;1039;p25"/>
          <p:cNvSpPr txBox="1"/>
          <p:nvPr/>
        </p:nvSpPr>
        <p:spPr>
          <a:xfrm>
            <a:off x="2020888" y="1466850"/>
            <a:ext cx="890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040" name="Google Shape;1040;p25"/>
          <p:cNvSpPr/>
          <p:nvPr/>
        </p:nvSpPr>
        <p:spPr>
          <a:xfrm>
            <a:off x="3781425" y="1457325"/>
            <a:ext cx="857250" cy="304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41" name="Google Shape;1041;p25"/>
          <p:cNvSpPr txBox="1"/>
          <p:nvPr/>
        </p:nvSpPr>
        <p:spPr>
          <a:xfrm>
            <a:off x="3622675" y="1477963"/>
            <a:ext cx="89058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042" name="Google Shape;1042;p25"/>
          <p:cNvSpPr txBox="1"/>
          <p:nvPr/>
        </p:nvSpPr>
        <p:spPr>
          <a:xfrm>
            <a:off x="5484813" y="1308100"/>
            <a:ext cx="1511300" cy="6096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mail access</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protocol</a:t>
            </a:r>
            <a:endParaRPr b="0" i="0" sz="1800" u="none" cap="none" strike="noStrike">
              <a:solidFill>
                <a:srgbClr val="CC0000"/>
              </a:solidFill>
              <a:latin typeface="Arial"/>
              <a:ea typeface="Arial"/>
              <a:cs typeface="Arial"/>
              <a:sym typeface="Arial"/>
            </a:endParaRPr>
          </a:p>
        </p:txBody>
      </p:sp>
      <p:sp>
        <p:nvSpPr>
          <p:cNvPr id="1043" name="Google Shape;1043;p25"/>
          <p:cNvSpPr txBox="1"/>
          <p:nvPr/>
        </p:nvSpPr>
        <p:spPr>
          <a:xfrm>
            <a:off x="4371975" y="2598738"/>
            <a:ext cx="1538288" cy="5334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receiver’s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044" name="Google Shape;1044;p25"/>
          <p:cNvGrpSpPr/>
          <p:nvPr/>
        </p:nvGrpSpPr>
        <p:grpSpPr>
          <a:xfrm>
            <a:off x="4800600" y="2000250"/>
            <a:ext cx="809625" cy="561975"/>
            <a:chOff x="2070" y="2004"/>
            <a:chExt cx="510" cy="354"/>
          </a:xfrm>
        </p:grpSpPr>
        <p:sp>
          <p:nvSpPr>
            <p:cNvPr id="1045" name="Google Shape;1045;p25"/>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46" name="Google Shape;1046;p25"/>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047" name="Google Shape;1047;p25"/>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048" name="Google Shape;1048;p25"/>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49" name="Google Shape;1049;p25"/>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050" name="Google Shape;1050;p25"/>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1" name="Google Shape;1051;p25"/>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2" name="Google Shape;1052;p25"/>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3" name="Google Shape;1053;p25"/>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054" name="Google Shape;1054;p25"/>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5" name="Google Shape;1055;p25"/>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6" name="Google Shape;1056;p25"/>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7" name="Google Shape;1057;p25"/>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8" name="Google Shape;1058;p25"/>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pic>
        <p:nvPicPr>
          <p:cNvPr descr="Alice" id="1059" name="Google Shape;1059;p25"/>
          <p:cNvPicPr preferRelativeResize="0"/>
          <p:nvPr/>
        </p:nvPicPr>
        <p:blipFill rotWithShape="1">
          <a:blip r:embed="rId4">
            <a:alphaModFix/>
          </a:blip>
          <a:srcRect b="0" l="0" r="0" t="0"/>
          <a:stretch/>
        </p:blipFill>
        <p:spPr>
          <a:xfrm>
            <a:off x="444500" y="1557338"/>
            <a:ext cx="561975" cy="693737"/>
          </a:xfrm>
          <a:prstGeom prst="rect">
            <a:avLst/>
          </a:prstGeom>
          <a:noFill/>
          <a:ln>
            <a:noFill/>
          </a:ln>
        </p:spPr>
      </p:pic>
      <p:pic>
        <p:nvPicPr>
          <p:cNvPr descr="Bob" id="1060" name="Google Shape;1060;p25"/>
          <p:cNvPicPr preferRelativeResize="0"/>
          <p:nvPr/>
        </p:nvPicPr>
        <p:blipFill rotWithShape="1">
          <a:blip r:embed="rId5">
            <a:alphaModFix/>
          </a:blip>
          <a:srcRect b="0" l="0" r="0" t="0"/>
          <a:stretch/>
        </p:blipFill>
        <p:spPr>
          <a:xfrm>
            <a:off x="8013700" y="1571625"/>
            <a:ext cx="676275" cy="690563"/>
          </a:xfrm>
          <a:prstGeom prst="rect">
            <a:avLst/>
          </a:prstGeom>
          <a:noFill/>
          <a:ln>
            <a:noFill/>
          </a:ln>
        </p:spPr>
      </p:pic>
      <p:cxnSp>
        <p:nvCxnSpPr>
          <p:cNvPr id="1061" name="Google Shape;1061;p25"/>
          <p:cNvCxnSpPr/>
          <p:nvPr/>
        </p:nvCxnSpPr>
        <p:spPr>
          <a:xfrm>
            <a:off x="2003425" y="1905000"/>
            <a:ext cx="903288" cy="0"/>
          </a:xfrm>
          <a:prstGeom prst="straightConnector1">
            <a:avLst/>
          </a:prstGeom>
          <a:noFill/>
          <a:ln cap="flat" cmpd="sng" w="28575">
            <a:solidFill>
              <a:srgbClr val="CC0000"/>
            </a:solidFill>
            <a:prstDash val="solid"/>
            <a:round/>
            <a:headEnd len="sm" w="sm" type="none"/>
            <a:tailEnd len="med" w="med" type="triangle"/>
          </a:ln>
        </p:spPr>
      </p:cxnSp>
      <p:cxnSp>
        <p:nvCxnSpPr>
          <p:cNvPr id="1062" name="Google Shape;1062;p25"/>
          <p:cNvCxnSpPr/>
          <p:nvPr/>
        </p:nvCxnSpPr>
        <p:spPr>
          <a:xfrm>
            <a:off x="3633788" y="1901825"/>
            <a:ext cx="903287" cy="0"/>
          </a:xfrm>
          <a:prstGeom prst="straightConnector1">
            <a:avLst/>
          </a:prstGeom>
          <a:noFill/>
          <a:ln cap="flat" cmpd="sng" w="28575">
            <a:solidFill>
              <a:srgbClr val="CC0000"/>
            </a:solidFill>
            <a:prstDash val="solid"/>
            <a:round/>
            <a:headEnd len="sm" w="sm" type="none"/>
            <a:tailEnd len="med" w="med" type="triangle"/>
          </a:ln>
        </p:spPr>
      </p:cxnSp>
      <p:cxnSp>
        <p:nvCxnSpPr>
          <p:cNvPr id="1063" name="Google Shape;1063;p25"/>
          <p:cNvCxnSpPr/>
          <p:nvPr/>
        </p:nvCxnSpPr>
        <p:spPr>
          <a:xfrm>
            <a:off x="5253038" y="1898650"/>
            <a:ext cx="1697037" cy="1588"/>
          </a:xfrm>
          <a:prstGeom prst="straightConnector1">
            <a:avLst/>
          </a:prstGeom>
          <a:noFill/>
          <a:ln cap="flat" cmpd="sng" w="28575">
            <a:solidFill>
              <a:srgbClr val="CC0000"/>
            </a:solidFill>
            <a:prstDash val="solid"/>
            <a:round/>
            <a:headEnd len="sm" w="sm" type="none"/>
            <a:tailEnd len="med" w="med" type="triangle"/>
          </a:ln>
        </p:spPr>
      </p:cxnSp>
      <p:sp>
        <p:nvSpPr>
          <p:cNvPr id="1064" name="Google Shape;1064;p25"/>
          <p:cNvSpPr txBox="1"/>
          <p:nvPr/>
        </p:nvSpPr>
        <p:spPr>
          <a:xfrm>
            <a:off x="5710238" y="1927225"/>
            <a:ext cx="1311275"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(e.g., </a:t>
            </a:r>
            <a:r>
              <a:rPr b="0" i="1" lang="en-US" sz="1600" u="none" cap="none" strike="noStrike">
                <a:solidFill>
                  <a:srgbClr val="CC0000"/>
                </a:solidFill>
                <a:latin typeface="Arial"/>
                <a:ea typeface="Arial"/>
                <a:cs typeface="Arial"/>
                <a:sym typeface="Arial"/>
              </a:rPr>
              <a:t>POP,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         IMAP</a:t>
            </a:r>
            <a:r>
              <a:rPr b="0" i="1" lang="en-US" sz="1800" u="none" cap="none" strike="noStrike">
                <a:solidFill>
                  <a:srgbClr val="CC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065" name="Google Shape;1065;p25"/>
          <p:cNvGrpSpPr/>
          <p:nvPr/>
        </p:nvGrpSpPr>
        <p:grpSpPr>
          <a:xfrm>
            <a:off x="1066800" y="1419225"/>
            <a:ext cx="912813" cy="1054100"/>
            <a:chOff x="3574" y="550"/>
            <a:chExt cx="575" cy="664"/>
          </a:xfrm>
        </p:grpSpPr>
        <p:grpSp>
          <p:nvGrpSpPr>
            <p:cNvPr id="1066" name="Google Shape;1066;p25"/>
            <p:cNvGrpSpPr/>
            <p:nvPr/>
          </p:nvGrpSpPr>
          <p:grpSpPr>
            <a:xfrm>
              <a:off x="3588" y="692"/>
              <a:ext cx="561" cy="522"/>
              <a:chOff x="-44" y="1473"/>
              <a:chExt cx="981" cy="1105"/>
            </a:xfrm>
          </p:grpSpPr>
          <p:pic>
            <p:nvPicPr>
              <p:cNvPr descr="desktop_computer_stylized_medium" id="1067" name="Google Shape;1067;p2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068" name="Google Shape;1068;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69" name="Google Shape;1069;p25"/>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70" name="Google Shape;1070;p2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1071" name="Google Shape;1071;p25"/>
          <p:cNvGrpSpPr/>
          <p:nvPr/>
        </p:nvGrpSpPr>
        <p:grpSpPr>
          <a:xfrm>
            <a:off x="6967538" y="1422400"/>
            <a:ext cx="912812" cy="1054100"/>
            <a:chOff x="3574" y="550"/>
            <a:chExt cx="575" cy="664"/>
          </a:xfrm>
        </p:grpSpPr>
        <p:grpSp>
          <p:nvGrpSpPr>
            <p:cNvPr id="1072" name="Google Shape;1072;p25"/>
            <p:cNvGrpSpPr/>
            <p:nvPr/>
          </p:nvGrpSpPr>
          <p:grpSpPr>
            <a:xfrm>
              <a:off x="3588" y="692"/>
              <a:ext cx="561" cy="522"/>
              <a:chOff x="-44" y="1473"/>
              <a:chExt cx="981" cy="1105"/>
            </a:xfrm>
          </p:grpSpPr>
          <p:pic>
            <p:nvPicPr>
              <p:cNvPr descr="desktop_computer_stylized_medium" id="1073" name="Google Shape;1073;p2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074" name="Google Shape;1074;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75" name="Google Shape;1075;p25"/>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76" name="Google Shape;1076;p2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083" name="Google Shape;1083;p2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1084" name="Google Shape;1084;p26"/>
          <p:cNvGrpSpPr/>
          <p:nvPr/>
        </p:nvGrpSpPr>
        <p:grpSpPr>
          <a:xfrm>
            <a:off x="2962275" y="1577975"/>
            <a:ext cx="511175" cy="693738"/>
            <a:chOff x="4140" y="429"/>
            <a:chExt cx="1425" cy="2396"/>
          </a:xfrm>
        </p:grpSpPr>
        <p:sp>
          <p:nvSpPr>
            <p:cNvPr id="1085" name="Google Shape;1085;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6" name="Google Shape;1086;p26"/>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7" name="Google Shape;1087;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8" name="Google Shape;1088;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9" name="Google Shape;1089;p26"/>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90" name="Google Shape;1090;p26"/>
            <p:cNvGrpSpPr/>
            <p:nvPr/>
          </p:nvGrpSpPr>
          <p:grpSpPr>
            <a:xfrm>
              <a:off x="4751" y="670"/>
              <a:ext cx="579" cy="143"/>
              <a:chOff x="616" y="2570"/>
              <a:chExt cx="723" cy="137"/>
            </a:xfrm>
          </p:grpSpPr>
          <p:sp>
            <p:nvSpPr>
              <p:cNvPr id="1091" name="Google Shape;1091;p26"/>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2" name="Google Shape;1092;p26"/>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93" name="Google Shape;1093;p26"/>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94" name="Google Shape;1094;p26"/>
            <p:cNvGrpSpPr/>
            <p:nvPr/>
          </p:nvGrpSpPr>
          <p:grpSpPr>
            <a:xfrm>
              <a:off x="4746" y="994"/>
              <a:ext cx="575" cy="126"/>
              <a:chOff x="613" y="2568"/>
              <a:chExt cx="718" cy="131"/>
            </a:xfrm>
          </p:grpSpPr>
          <p:sp>
            <p:nvSpPr>
              <p:cNvPr id="1095" name="Google Shape;1095;p26"/>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6" name="Google Shape;1096;p26"/>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97" name="Google Shape;1097;p26"/>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8" name="Google Shape;1098;p26"/>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99" name="Google Shape;1099;p26"/>
            <p:cNvGrpSpPr/>
            <p:nvPr/>
          </p:nvGrpSpPr>
          <p:grpSpPr>
            <a:xfrm>
              <a:off x="4733" y="1641"/>
              <a:ext cx="584" cy="137"/>
              <a:chOff x="612" y="2581"/>
              <a:chExt cx="728" cy="126"/>
            </a:xfrm>
          </p:grpSpPr>
          <p:sp>
            <p:nvSpPr>
              <p:cNvPr id="1100" name="Google Shape;1100;p26"/>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1" name="Google Shape;1101;p26"/>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02" name="Google Shape;1102;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03" name="Google Shape;1103;p26"/>
            <p:cNvGrpSpPr/>
            <p:nvPr/>
          </p:nvGrpSpPr>
          <p:grpSpPr>
            <a:xfrm>
              <a:off x="4737" y="1328"/>
              <a:ext cx="584" cy="137"/>
              <a:chOff x="612" y="2569"/>
              <a:chExt cx="728" cy="137"/>
            </a:xfrm>
          </p:grpSpPr>
          <p:sp>
            <p:nvSpPr>
              <p:cNvPr id="1104" name="Google Shape;1104;p26"/>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5" name="Google Shape;1105;p26"/>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06" name="Google Shape;1106;p26"/>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7" name="Google Shape;1107;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8" name="Google Shape;1108;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9" name="Google Shape;1109;p26"/>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0" name="Google Shape;1110;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1" name="Google Shape;1111;p26"/>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2" name="Google Shape;1112;p26"/>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3" name="Google Shape;1113;p26"/>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4" name="Google Shape;1114;p26"/>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115" name="Google Shape;1115;p26"/>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6" name="Google Shape;1116;p26"/>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1117" name="Google Shape;1117;p26"/>
          <p:cNvGrpSpPr/>
          <p:nvPr/>
        </p:nvGrpSpPr>
        <p:grpSpPr>
          <a:xfrm>
            <a:off x="4648200" y="1587500"/>
            <a:ext cx="511175" cy="693738"/>
            <a:chOff x="4140" y="429"/>
            <a:chExt cx="1425" cy="2396"/>
          </a:xfrm>
        </p:grpSpPr>
        <p:sp>
          <p:nvSpPr>
            <p:cNvPr id="1118" name="Google Shape;1118;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9" name="Google Shape;1119;p26"/>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0" name="Google Shape;1120;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1" name="Google Shape;1121;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2" name="Google Shape;1122;p26"/>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23" name="Google Shape;1123;p26"/>
            <p:cNvGrpSpPr/>
            <p:nvPr/>
          </p:nvGrpSpPr>
          <p:grpSpPr>
            <a:xfrm>
              <a:off x="4751" y="670"/>
              <a:ext cx="579" cy="143"/>
              <a:chOff x="616" y="2570"/>
              <a:chExt cx="723" cy="137"/>
            </a:xfrm>
          </p:grpSpPr>
          <p:sp>
            <p:nvSpPr>
              <p:cNvPr id="1124" name="Google Shape;1124;p26"/>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5" name="Google Shape;1125;p26"/>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26" name="Google Shape;1126;p26"/>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27" name="Google Shape;1127;p26"/>
            <p:cNvGrpSpPr/>
            <p:nvPr/>
          </p:nvGrpSpPr>
          <p:grpSpPr>
            <a:xfrm>
              <a:off x="4746" y="994"/>
              <a:ext cx="575" cy="126"/>
              <a:chOff x="613" y="2568"/>
              <a:chExt cx="718" cy="131"/>
            </a:xfrm>
          </p:grpSpPr>
          <p:sp>
            <p:nvSpPr>
              <p:cNvPr id="1128" name="Google Shape;1128;p26"/>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9" name="Google Shape;1129;p26"/>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30" name="Google Shape;1130;p26"/>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1" name="Google Shape;1131;p26"/>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32" name="Google Shape;1132;p26"/>
            <p:cNvGrpSpPr/>
            <p:nvPr/>
          </p:nvGrpSpPr>
          <p:grpSpPr>
            <a:xfrm>
              <a:off x="4733" y="1641"/>
              <a:ext cx="584" cy="137"/>
              <a:chOff x="612" y="2581"/>
              <a:chExt cx="728" cy="126"/>
            </a:xfrm>
          </p:grpSpPr>
          <p:sp>
            <p:nvSpPr>
              <p:cNvPr id="1133" name="Google Shape;1133;p26"/>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4" name="Google Shape;1134;p26"/>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35" name="Google Shape;1135;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36" name="Google Shape;1136;p26"/>
            <p:cNvGrpSpPr/>
            <p:nvPr/>
          </p:nvGrpSpPr>
          <p:grpSpPr>
            <a:xfrm>
              <a:off x="4737" y="1328"/>
              <a:ext cx="584" cy="137"/>
              <a:chOff x="612" y="2569"/>
              <a:chExt cx="728" cy="137"/>
            </a:xfrm>
          </p:grpSpPr>
          <p:sp>
            <p:nvSpPr>
              <p:cNvPr id="1137" name="Google Shape;1137;p26"/>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8" name="Google Shape;1138;p26"/>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39" name="Google Shape;1139;p26"/>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0" name="Google Shape;1140;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1" name="Google Shape;1141;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2" name="Google Shape;1142;p26"/>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3" name="Google Shape;1143;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4" name="Google Shape;1144;p26"/>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5" name="Google Shape;1145;p26"/>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6" name="Google Shape;1146;p26"/>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7" name="Google Shape;1147;p26"/>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148" name="Google Shape;1148;p26"/>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9" name="Google Shape;1149;p26"/>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1150" name="Google Shape;1150;p26"/>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
        <p:nvSpPr>
          <p:cNvPr id="1151" name="Google Shape;1151;p26"/>
          <p:cNvSpPr txBox="1"/>
          <p:nvPr>
            <p:ph type="title"/>
          </p:nvPr>
        </p:nvSpPr>
        <p:spPr>
          <a:xfrm>
            <a:off x="500063" y="255588"/>
            <a:ext cx="7772400" cy="893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Mail Access Protocols</a:t>
            </a:r>
            <a:endParaRPr/>
          </a:p>
        </p:txBody>
      </p:sp>
      <p:sp>
        <p:nvSpPr>
          <p:cNvPr id="1152" name="Google Shape;1152;p26"/>
          <p:cNvSpPr txBox="1"/>
          <p:nvPr>
            <p:ph idx="1" type="body"/>
          </p:nvPr>
        </p:nvSpPr>
        <p:spPr>
          <a:xfrm>
            <a:off x="269875" y="3230563"/>
            <a:ext cx="8420100" cy="307357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690"/>
              <a:buChar char="❖"/>
            </a:pPr>
            <a:r>
              <a:rPr lang="en-US" sz="2600">
                <a:solidFill>
                  <a:srgbClr val="CC0000"/>
                </a:solidFill>
              </a:rPr>
              <a:t>POP:</a:t>
            </a:r>
            <a:r>
              <a:rPr lang="en-US" sz="2600"/>
              <a:t> Post Office Protocol [RFC 1939]: </a:t>
            </a:r>
            <a:endParaRPr/>
          </a:p>
          <a:p>
            <a:pPr indent="-285750" lvl="1" marL="742950" rtl="0" algn="l">
              <a:lnSpc>
                <a:spcPct val="85000"/>
              </a:lnSpc>
              <a:spcBef>
                <a:spcPts val="440"/>
              </a:spcBef>
              <a:spcAft>
                <a:spcPts val="0"/>
              </a:spcAft>
              <a:buSzPts val="2200"/>
              <a:buChar char="▪"/>
            </a:pPr>
            <a:r>
              <a:rPr lang="en-US" sz="2200"/>
              <a:t>port TCP/110</a:t>
            </a:r>
            <a:endParaRPr/>
          </a:p>
          <a:p>
            <a:pPr indent="-285750" lvl="1" marL="742950" rtl="0" algn="l">
              <a:lnSpc>
                <a:spcPct val="85000"/>
              </a:lnSpc>
              <a:spcBef>
                <a:spcPts val="440"/>
              </a:spcBef>
              <a:spcAft>
                <a:spcPts val="0"/>
              </a:spcAft>
              <a:buSzPts val="2200"/>
              <a:buChar char="▪"/>
            </a:pPr>
            <a:r>
              <a:rPr lang="en-US" sz="2200"/>
              <a:t>authorization, download </a:t>
            </a:r>
            <a:endParaRPr/>
          </a:p>
          <a:p>
            <a:pPr indent="-342900" lvl="0" marL="342900" rtl="0" algn="l">
              <a:lnSpc>
                <a:spcPct val="85000"/>
              </a:lnSpc>
              <a:spcBef>
                <a:spcPts val="520"/>
              </a:spcBef>
              <a:spcAft>
                <a:spcPts val="0"/>
              </a:spcAft>
              <a:buSzPts val="1690"/>
              <a:buChar char="❖"/>
            </a:pPr>
            <a:r>
              <a:rPr lang="en-US" sz="2600">
                <a:solidFill>
                  <a:srgbClr val="CC0000"/>
                </a:solidFill>
              </a:rPr>
              <a:t>IMAP:</a:t>
            </a:r>
            <a:r>
              <a:rPr lang="en-US" sz="2600"/>
              <a:t> Internet Mail Access Protocol [RFC 1730]: </a:t>
            </a:r>
            <a:endParaRPr/>
          </a:p>
          <a:p>
            <a:pPr indent="-285750" lvl="1" marL="742950" rtl="0" algn="l">
              <a:lnSpc>
                <a:spcPct val="85000"/>
              </a:lnSpc>
              <a:spcBef>
                <a:spcPts val="440"/>
              </a:spcBef>
              <a:spcAft>
                <a:spcPts val="0"/>
              </a:spcAft>
              <a:buSzPts val="2200"/>
              <a:buChar char="▪"/>
            </a:pPr>
            <a:r>
              <a:rPr lang="en-US" sz="2200"/>
              <a:t>more features, </a:t>
            </a:r>
            <a:r>
              <a:rPr lang="en-US" sz="2000"/>
              <a:t>(more complex)</a:t>
            </a:r>
            <a:endParaRPr/>
          </a:p>
          <a:p>
            <a:pPr indent="-285750" lvl="1" marL="742950" rtl="0" algn="l">
              <a:lnSpc>
                <a:spcPct val="85000"/>
              </a:lnSpc>
              <a:spcBef>
                <a:spcPts val="440"/>
              </a:spcBef>
              <a:spcAft>
                <a:spcPts val="0"/>
              </a:spcAft>
              <a:buSzPts val="2200"/>
              <a:buChar char="▪"/>
            </a:pPr>
            <a:r>
              <a:rPr lang="en-US" sz="2200"/>
              <a:t>including manipulation of stored msgs on server </a:t>
            </a:r>
            <a:endParaRPr/>
          </a:p>
          <a:p>
            <a:pPr indent="-285750" lvl="1" marL="742950" rtl="0" algn="l">
              <a:lnSpc>
                <a:spcPct val="85000"/>
              </a:lnSpc>
              <a:spcBef>
                <a:spcPts val="520"/>
              </a:spcBef>
              <a:spcAft>
                <a:spcPts val="0"/>
              </a:spcAft>
              <a:buSzPts val="2600"/>
              <a:buChar char="▪"/>
            </a:pPr>
            <a:r>
              <a:rPr lang="en-US" sz="2600"/>
              <a:t>port 150</a:t>
            </a:r>
            <a:endParaRPr/>
          </a:p>
          <a:p>
            <a:pPr indent="-342900" lvl="0" marL="342900" rtl="0" algn="l">
              <a:lnSpc>
                <a:spcPct val="85000"/>
              </a:lnSpc>
              <a:spcBef>
                <a:spcPts val="600"/>
              </a:spcBef>
              <a:spcAft>
                <a:spcPts val="0"/>
              </a:spcAft>
              <a:buSzPts val="1950"/>
              <a:buChar char="❖"/>
            </a:pPr>
            <a:r>
              <a:rPr lang="en-US" sz="3000">
                <a:solidFill>
                  <a:srgbClr val="CC0000"/>
                </a:solidFill>
              </a:rPr>
              <a:t>HTTP:</a:t>
            </a:r>
            <a:r>
              <a:rPr lang="en-US" sz="3000"/>
              <a:t> gmail, Hotmail, Yahoo! Mail, etc.</a:t>
            </a:r>
            <a:endParaRPr/>
          </a:p>
        </p:txBody>
      </p:sp>
      <p:grpSp>
        <p:nvGrpSpPr>
          <p:cNvPr id="1153" name="Google Shape;1153;p26"/>
          <p:cNvGrpSpPr/>
          <p:nvPr/>
        </p:nvGrpSpPr>
        <p:grpSpPr>
          <a:xfrm>
            <a:off x="2797175" y="1987550"/>
            <a:ext cx="1436688" cy="1131888"/>
            <a:chOff x="1796" y="1206"/>
            <a:chExt cx="905" cy="713"/>
          </a:xfrm>
        </p:grpSpPr>
        <p:sp>
          <p:nvSpPr>
            <p:cNvPr id="1154" name="Google Shape;1154;p26"/>
            <p:cNvSpPr txBox="1"/>
            <p:nvPr/>
          </p:nvSpPr>
          <p:spPr>
            <a:xfrm>
              <a:off x="1796" y="1583"/>
              <a:ext cx="905" cy="33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sender’s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155" name="Google Shape;1155;p26"/>
            <p:cNvGrpSpPr/>
            <p:nvPr/>
          </p:nvGrpSpPr>
          <p:grpSpPr>
            <a:xfrm>
              <a:off x="1992" y="1206"/>
              <a:ext cx="510" cy="354"/>
              <a:chOff x="2070" y="2004"/>
              <a:chExt cx="510" cy="354"/>
            </a:xfrm>
          </p:grpSpPr>
          <p:sp>
            <p:nvSpPr>
              <p:cNvPr id="1156" name="Google Shape;1156;p26"/>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57" name="Google Shape;1157;p26"/>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158" name="Google Shape;1158;p26"/>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159" name="Google Shape;1159;p26"/>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0" name="Google Shape;1160;p26"/>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161" name="Google Shape;1161;p26"/>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2" name="Google Shape;1162;p26"/>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3" name="Google Shape;1163;p26"/>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4" name="Google Shape;1164;p26"/>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165" name="Google Shape;1165;p26"/>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6" name="Google Shape;1166;p26"/>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7" name="Google Shape;1167;p26"/>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8" name="Google Shape;1168;p26"/>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9" name="Google Shape;1169;p26"/>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grpSp>
      <p:sp>
        <p:nvSpPr>
          <p:cNvPr id="1170" name="Google Shape;1170;p26"/>
          <p:cNvSpPr txBox="1"/>
          <p:nvPr/>
        </p:nvSpPr>
        <p:spPr>
          <a:xfrm>
            <a:off x="2020888" y="1466850"/>
            <a:ext cx="890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171" name="Google Shape;1171;p26"/>
          <p:cNvSpPr/>
          <p:nvPr/>
        </p:nvSpPr>
        <p:spPr>
          <a:xfrm>
            <a:off x="3781425" y="1457325"/>
            <a:ext cx="857250" cy="304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72" name="Google Shape;1172;p26"/>
          <p:cNvSpPr txBox="1"/>
          <p:nvPr/>
        </p:nvSpPr>
        <p:spPr>
          <a:xfrm>
            <a:off x="3622675" y="1477963"/>
            <a:ext cx="89058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173" name="Google Shape;1173;p26"/>
          <p:cNvSpPr txBox="1"/>
          <p:nvPr/>
        </p:nvSpPr>
        <p:spPr>
          <a:xfrm>
            <a:off x="5484813" y="1308100"/>
            <a:ext cx="1511300" cy="6096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mail access</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protocol</a:t>
            </a:r>
            <a:endParaRPr b="0" i="0" sz="1800" u="none" cap="none" strike="noStrike">
              <a:solidFill>
                <a:srgbClr val="CC0000"/>
              </a:solidFill>
              <a:latin typeface="Arial"/>
              <a:ea typeface="Arial"/>
              <a:cs typeface="Arial"/>
              <a:sym typeface="Arial"/>
            </a:endParaRPr>
          </a:p>
        </p:txBody>
      </p:sp>
      <p:sp>
        <p:nvSpPr>
          <p:cNvPr id="1174" name="Google Shape;1174;p26"/>
          <p:cNvSpPr txBox="1"/>
          <p:nvPr/>
        </p:nvSpPr>
        <p:spPr>
          <a:xfrm>
            <a:off x="4371975" y="2598738"/>
            <a:ext cx="1538288" cy="5334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receiver’s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175" name="Google Shape;1175;p26"/>
          <p:cNvGrpSpPr/>
          <p:nvPr/>
        </p:nvGrpSpPr>
        <p:grpSpPr>
          <a:xfrm>
            <a:off x="4800600" y="2000250"/>
            <a:ext cx="809625" cy="561975"/>
            <a:chOff x="2070" y="2004"/>
            <a:chExt cx="510" cy="354"/>
          </a:xfrm>
        </p:grpSpPr>
        <p:sp>
          <p:nvSpPr>
            <p:cNvPr id="1176" name="Google Shape;1176;p26"/>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77" name="Google Shape;1177;p26"/>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178" name="Google Shape;1178;p26"/>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179" name="Google Shape;1179;p26"/>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0" name="Google Shape;1180;p26"/>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181" name="Google Shape;1181;p26"/>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2" name="Google Shape;1182;p26"/>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3" name="Google Shape;1183;p26"/>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4" name="Google Shape;1184;p26"/>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185" name="Google Shape;1185;p26"/>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6" name="Google Shape;1186;p26"/>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7" name="Google Shape;1187;p26"/>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8" name="Google Shape;1188;p26"/>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9" name="Google Shape;1189;p26"/>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pic>
        <p:nvPicPr>
          <p:cNvPr descr="Alice" id="1190" name="Google Shape;1190;p26"/>
          <p:cNvPicPr preferRelativeResize="0"/>
          <p:nvPr/>
        </p:nvPicPr>
        <p:blipFill rotWithShape="1">
          <a:blip r:embed="rId4">
            <a:alphaModFix/>
          </a:blip>
          <a:srcRect b="0" l="0" r="0" t="0"/>
          <a:stretch/>
        </p:blipFill>
        <p:spPr>
          <a:xfrm>
            <a:off x="444500" y="1557338"/>
            <a:ext cx="561975" cy="693737"/>
          </a:xfrm>
          <a:prstGeom prst="rect">
            <a:avLst/>
          </a:prstGeom>
          <a:noFill/>
          <a:ln>
            <a:noFill/>
          </a:ln>
        </p:spPr>
      </p:pic>
      <p:pic>
        <p:nvPicPr>
          <p:cNvPr descr="Bob" id="1191" name="Google Shape;1191;p26"/>
          <p:cNvPicPr preferRelativeResize="0"/>
          <p:nvPr/>
        </p:nvPicPr>
        <p:blipFill rotWithShape="1">
          <a:blip r:embed="rId5">
            <a:alphaModFix/>
          </a:blip>
          <a:srcRect b="0" l="0" r="0" t="0"/>
          <a:stretch/>
        </p:blipFill>
        <p:spPr>
          <a:xfrm>
            <a:off x="8013700" y="1571625"/>
            <a:ext cx="676275" cy="690563"/>
          </a:xfrm>
          <a:prstGeom prst="rect">
            <a:avLst/>
          </a:prstGeom>
          <a:noFill/>
          <a:ln>
            <a:noFill/>
          </a:ln>
        </p:spPr>
      </p:pic>
      <p:cxnSp>
        <p:nvCxnSpPr>
          <p:cNvPr id="1192" name="Google Shape;1192;p26"/>
          <p:cNvCxnSpPr/>
          <p:nvPr/>
        </p:nvCxnSpPr>
        <p:spPr>
          <a:xfrm>
            <a:off x="2003425" y="1905000"/>
            <a:ext cx="903288" cy="0"/>
          </a:xfrm>
          <a:prstGeom prst="straightConnector1">
            <a:avLst/>
          </a:prstGeom>
          <a:noFill/>
          <a:ln cap="flat" cmpd="sng" w="28575">
            <a:solidFill>
              <a:srgbClr val="CC0000"/>
            </a:solidFill>
            <a:prstDash val="solid"/>
            <a:round/>
            <a:headEnd len="sm" w="sm" type="none"/>
            <a:tailEnd len="med" w="med" type="triangle"/>
          </a:ln>
        </p:spPr>
      </p:cxnSp>
      <p:cxnSp>
        <p:nvCxnSpPr>
          <p:cNvPr id="1193" name="Google Shape;1193;p26"/>
          <p:cNvCxnSpPr/>
          <p:nvPr/>
        </p:nvCxnSpPr>
        <p:spPr>
          <a:xfrm>
            <a:off x="3633788" y="1901825"/>
            <a:ext cx="903287" cy="0"/>
          </a:xfrm>
          <a:prstGeom prst="straightConnector1">
            <a:avLst/>
          </a:prstGeom>
          <a:noFill/>
          <a:ln cap="flat" cmpd="sng" w="28575">
            <a:solidFill>
              <a:srgbClr val="CC0000"/>
            </a:solidFill>
            <a:prstDash val="solid"/>
            <a:round/>
            <a:headEnd len="sm" w="sm" type="none"/>
            <a:tailEnd len="med" w="med" type="triangle"/>
          </a:ln>
        </p:spPr>
      </p:cxnSp>
      <p:cxnSp>
        <p:nvCxnSpPr>
          <p:cNvPr id="1194" name="Google Shape;1194;p26"/>
          <p:cNvCxnSpPr/>
          <p:nvPr/>
        </p:nvCxnSpPr>
        <p:spPr>
          <a:xfrm>
            <a:off x="5253038" y="1898650"/>
            <a:ext cx="1697037" cy="1588"/>
          </a:xfrm>
          <a:prstGeom prst="straightConnector1">
            <a:avLst/>
          </a:prstGeom>
          <a:noFill/>
          <a:ln cap="flat" cmpd="sng" w="28575">
            <a:solidFill>
              <a:srgbClr val="CC0000"/>
            </a:solidFill>
            <a:prstDash val="solid"/>
            <a:round/>
            <a:headEnd len="sm" w="sm" type="none"/>
            <a:tailEnd len="med" w="med" type="triangle"/>
          </a:ln>
        </p:spPr>
      </p:cxnSp>
      <p:sp>
        <p:nvSpPr>
          <p:cNvPr id="1195" name="Google Shape;1195;p26"/>
          <p:cNvSpPr txBox="1"/>
          <p:nvPr/>
        </p:nvSpPr>
        <p:spPr>
          <a:xfrm>
            <a:off x="5710238" y="1927225"/>
            <a:ext cx="1311275"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(e.g., </a:t>
            </a:r>
            <a:r>
              <a:rPr b="0" i="1" lang="en-US" sz="1600" u="none" cap="none" strike="noStrike">
                <a:solidFill>
                  <a:srgbClr val="CC0000"/>
                </a:solidFill>
                <a:latin typeface="Arial"/>
                <a:ea typeface="Arial"/>
                <a:cs typeface="Arial"/>
                <a:sym typeface="Arial"/>
              </a:rPr>
              <a:t>POP,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         IMAP</a:t>
            </a:r>
            <a:r>
              <a:rPr b="0" i="1" lang="en-US" sz="1800" u="none" cap="none" strike="noStrike">
                <a:solidFill>
                  <a:srgbClr val="CC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196" name="Google Shape;1196;p26"/>
          <p:cNvGrpSpPr/>
          <p:nvPr/>
        </p:nvGrpSpPr>
        <p:grpSpPr>
          <a:xfrm>
            <a:off x="1066800" y="1419225"/>
            <a:ext cx="912813" cy="1054100"/>
            <a:chOff x="3574" y="550"/>
            <a:chExt cx="575" cy="664"/>
          </a:xfrm>
        </p:grpSpPr>
        <p:grpSp>
          <p:nvGrpSpPr>
            <p:cNvPr id="1197" name="Google Shape;1197;p26"/>
            <p:cNvGrpSpPr/>
            <p:nvPr/>
          </p:nvGrpSpPr>
          <p:grpSpPr>
            <a:xfrm>
              <a:off x="3588" y="692"/>
              <a:ext cx="561" cy="522"/>
              <a:chOff x="-44" y="1473"/>
              <a:chExt cx="981" cy="1105"/>
            </a:xfrm>
          </p:grpSpPr>
          <p:pic>
            <p:nvPicPr>
              <p:cNvPr descr="desktop_computer_stylized_medium" id="1198" name="Google Shape;1198;p2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199" name="Google Shape;1199;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200" name="Google Shape;1200;p26"/>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1" name="Google Shape;1201;p26"/>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1202" name="Google Shape;1202;p26"/>
          <p:cNvGrpSpPr/>
          <p:nvPr/>
        </p:nvGrpSpPr>
        <p:grpSpPr>
          <a:xfrm>
            <a:off x="6967538" y="1422400"/>
            <a:ext cx="912812" cy="1054100"/>
            <a:chOff x="3574" y="550"/>
            <a:chExt cx="575" cy="664"/>
          </a:xfrm>
        </p:grpSpPr>
        <p:grpSp>
          <p:nvGrpSpPr>
            <p:cNvPr id="1203" name="Google Shape;1203;p26"/>
            <p:cNvGrpSpPr/>
            <p:nvPr/>
          </p:nvGrpSpPr>
          <p:grpSpPr>
            <a:xfrm>
              <a:off x="3588" y="692"/>
              <a:ext cx="561" cy="522"/>
              <a:chOff x="-44" y="1473"/>
              <a:chExt cx="981" cy="1105"/>
            </a:xfrm>
          </p:grpSpPr>
          <p:pic>
            <p:nvPicPr>
              <p:cNvPr descr="desktop_computer_stylized_medium" id="1204" name="Google Shape;1204;p2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205" name="Google Shape;1205;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206" name="Google Shape;1206;p26"/>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7" name="Google Shape;1207;p26"/>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2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13" name="Google Shape;1213;p28"/>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POP3</a:t>
            </a:r>
            <a:endParaRPr/>
          </a:p>
        </p:txBody>
      </p:sp>
      <p:sp>
        <p:nvSpPr>
          <p:cNvPr id="1214" name="Google Shape;1214;p28"/>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POP3 protocol supports the ability to download a specific message or set of messages and </a:t>
            </a:r>
            <a:r>
              <a:rPr b="1" lang="en-US"/>
              <a:t>leave</a:t>
            </a:r>
            <a:r>
              <a:rPr lang="en-US"/>
              <a:t> them on the server.</a:t>
            </a:r>
            <a:endParaRPr/>
          </a:p>
          <a:p>
            <a:pPr indent="-342900" lvl="0" marL="342900" rtl="0" algn="l">
              <a:lnSpc>
                <a:spcPct val="85000"/>
              </a:lnSpc>
              <a:spcBef>
                <a:spcPts val="560"/>
              </a:spcBef>
              <a:spcAft>
                <a:spcPts val="0"/>
              </a:spcAft>
              <a:buSzPts val="1820"/>
              <a:buChar char="❖"/>
            </a:pPr>
            <a:r>
              <a:rPr lang="en-US"/>
              <a:t>Most e-mail programs just download everything and empty the mailbox. </a:t>
            </a:r>
            <a:endParaRPr/>
          </a:p>
          <a:p>
            <a:pPr indent="-342900" lvl="0" marL="342900" rtl="0" algn="l">
              <a:lnSpc>
                <a:spcPct val="85000"/>
              </a:lnSpc>
              <a:spcBef>
                <a:spcPts val="560"/>
              </a:spcBef>
              <a:spcAft>
                <a:spcPts val="0"/>
              </a:spcAft>
              <a:buSzPts val="1820"/>
              <a:buChar char="❖"/>
            </a:pPr>
            <a:r>
              <a:rPr lang="en-US"/>
              <a:t>This behavior means that in practice, the only copy is on the user's hard disk. If that crashes, all e-mail may be lost permanently.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221" name="Google Shape;1221;p2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1222" name="Google Shape;1222;p29"/>
          <p:cNvPicPr preferRelativeResize="0"/>
          <p:nvPr/>
        </p:nvPicPr>
        <p:blipFill rotWithShape="1">
          <a:blip r:embed="rId3">
            <a:alphaModFix/>
          </a:blip>
          <a:srcRect b="0" l="0" r="0" t="0"/>
          <a:stretch/>
        </p:blipFill>
        <p:spPr>
          <a:xfrm>
            <a:off x="468313" y="858838"/>
            <a:ext cx="3317875" cy="163512"/>
          </a:xfrm>
          <a:prstGeom prst="rect">
            <a:avLst/>
          </a:prstGeom>
          <a:noFill/>
          <a:ln>
            <a:noFill/>
          </a:ln>
        </p:spPr>
      </p:pic>
      <p:sp>
        <p:nvSpPr>
          <p:cNvPr id="1223" name="Google Shape;1223;p29"/>
          <p:cNvSpPr txBox="1"/>
          <p:nvPr>
            <p:ph type="title"/>
          </p:nvPr>
        </p:nvSpPr>
        <p:spPr>
          <a:xfrm>
            <a:off x="403225" y="131763"/>
            <a:ext cx="7772400" cy="9683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POP3 protocol</a:t>
            </a:r>
            <a:endParaRPr/>
          </a:p>
        </p:txBody>
      </p:sp>
      <p:sp>
        <p:nvSpPr>
          <p:cNvPr id="1224" name="Google Shape;1224;p29"/>
          <p:cNvSpPr txBox="1"/>
          <p:nvPr>
            <p:ph idx="1" type="body"/>
          </p:nvPr>
        </p:nvSpPr>
        <p:spPr>
          <a:xfrm>
            <a:off x="495300" y="1438275"/>
            <a:ext cx="39719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authorization phase</a:t>
            </a:r>
            <a:endParaRPr/>
          </a:p>
          <a:p>
            <a:pPr indent="-342900" lvl="0" marL="342900" rtl="0" algn="l">
              <a:lnSpc>
                <a:spcPct val="85000"/>
              </a:lnSpc>
              <a:spcBef>
                <a:spcPts val="400"/>
              </a:spcBef>
              <a:spcAft>
                <a:spcPts val="0"/>
              </a:spcAft>
              <a:buSzPts val="1300"/>
              <a:buChar char="❖"/>
            </a:pPr>
            <a:r>
              <a:rPr lang="en-US" sz="2000"/>
              <a:t>client commands: </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user:</a:t>
            </a:r>
            <a:r>
              <a:rPr lang="en-US" sz="2000"/>
              <a:t> declare username</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pass:</a:t>
            </a:r>
            <a:r>
              <a:rPr lang="en-US" sz="2000"/>
              <a:t> password</a:t>
            </a:r>
            <a:endParaRPr/>
          </a:p>
          <a:p>
            <a:pPr indent="-342900" lvl="0" marL="342900" rtl="0" algn="l">
              <a:lnSpc>
                <a:spcPct val="85000"/>
              </a:lnSpc>
              <a:spcBef>
                <a:spcPts val="400"/>
              </a:spcBef>
              <a:spcAft>
                <a:spcPts val="0"/>
              </a:spcAft>
              <a:buSzPts val="1300"/>
              <a:buChar char="❖"/>
            </a:pPr>
            <a:r>
              <a:rPr lang="en-US" sz="2000"/>
              <a:t>server responses</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+OK</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-ERR</a:t>
            </a:r>
            <a:endParaRPr sz="1800"/>
          </a:p>
          <a:p>
            <a:pPr indent="-342900" lvl="0" marL="342900" rtl="0" algn="l">
              <a:lnSpc>
                <a:spcPct val="85000"/>
              </a:lnSpc>
              <a:spcBef>
                <a:spcPts val="560"/>
              </a:spcBef>
              <a:spcAft>
                <a:spcPts val="0"/>
              </a:spcAft>
              <a:buSzPts val="1820"/>
              <a:buFont typeface="Noto Sans Symbols"/>
              <a:buNone/>
            </a:pPr>
            <a:r>
              <a:rPr i="1" lang="en-US">
                <a:solidFill>
                  <a:srgbClr val="CC0000"/>
                </a:solidFill>
              </a:rPr>
              <a:t>transaction phase,</a:t>
            </a:r>
            <a:r>
              <a:rPr lang="en-US" sz="2400">
                <a:solidFill>
                  <a:srgbClr val="FF0000"/>
                </a:solidFill>
              </a:rPr>
              <a:t> </a:t>
            </a:r>
            <a:r>
              <a:rPr lang="en-US" sz="2400">
                <a:solidFill>
                  <a:schemeClr val="dk2"/>
                </a:solidFill>
              </a:rPr>
              <a:t>client:</a:t>
            </a:r>
            <a:endParaRPr sz="2400"/>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list:</a:t>
            </a:r>
            <a:r>
              <a:rPr lang="en-US" sz="2000"/>
              <a:t> list message numbers</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retr:</a:t>
            </a:r>
            <a:r>
              <a:rPr lang="en-US" sz="2000"/>
              <a:t> retrieve message by number</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dele:</a:t>
            </a:r>
            <a:r>
              <a:rPr lang="en-US" sz="2000"/>
              <a:t> delete</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quit</a:t>
            </a:r>
            <a:endParaRPr sz="2000"/>
          </a:p>
        </p:txBody>
      </p:sp>
      <p:sp>
        <p:nvSpPr>
          <p:cNvPr id="1225" name="Google Shape;1225;p29"/>
          <p:cNvSpPr txBox="1"/>
          <p:nvPr/>
        </p:nvSpPr>
        <p:spPr>
          <a:xfrm>
            <a:off x="4340225" y="2309813"/>
            <a:ext cx="4268788" cy="4027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Courier New"/>
                <a:ea typeface="Courier New"/>
                <a:cs typeface="Courier New"/>
                <a:sym typeface="Courier New"/>
              </a:rPr>
              <a:t>C: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1 498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2 912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retr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&lt;message 1 contents&gt;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dele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retr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&lt;message 1 contents&gt;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dele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quit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+OK </a:t>
            </a:r>
            <a:r>
              <a:rPr b="1" i="0" lang="en-US" sz="1400" u="none" cap="none" strike="noStrike">
                <a:solidFill>
                  <a:schemeClr val="dk1"/>
                </a:solidFill>
                <a:latin typeface="Courier New"/>
                <a:ea typeface="Courier New"/>
                <a:cs typeface="Courier New"/>
                <a:sym typeface="Courier New"/>
              </a:rPr>
              <a:t>POP3 server signing off</a:t>
            </a:r>
            <a:endParaRPr b="1" i="0" sz="1800" u="none" cap="none" strike="noStrike">
              <a:solidFill>
                <a:schemeClr val="dk1"/>
              </a:solidFill>
              <a:latin typeface="Courier New"/>
              <a:ea typeface="Courier New"/>
              <a:cs typeface="Courier New"/>
              <a:sym typeface="Courier New"/>
            </a:endParaRPr>
          </a:p>
        </p:txBody>
      </p:sp>
      <p:sp>
        <p:nvSpPr>
          <p:cNvPr id="1226" name="Google Shape;1226;p29"/>
          <p:cNvSpPr txBox="1"/>
          <p:nvPr/>
        </p:nvSpPr>
        <p:spPr>
          <a:xfrm>
            <a:off x="4989513" y="590550"/>
            <a:ext cx="3981450" cy="173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 POP3 server ready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C: user bob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C: pass hungry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a:t>
            </a:r>
            <a:r>
              <a:rPr b="1" i="0" lang="en-US" sz="1400" u="none" cap="none" strike="noStrike">
                <a:solidFill>
                  <a:schemeClr val="dk1"/>
                </a:solidFill>
                <a:latin typeface="Courier New"/>
                <a:ea typeface="Courier New"/>
                <a:cs typeface="Courier New"/>
                <a:sym typeface="Courier New"/>
              </a:rPr>
              <a:t> user successfully logged on</a:t>
            </a:r>
            <a:endParaRPr b="0" i="0" sz="2400" u="none" cap="none" strike="noStrike">
              <a:solidFill>
                <a:schemeClr val="dk1"/>
              </a:solidFill>
              <a:latin typeface="Times New Roman"/>
              <a:ea typeface="Times New Roman"/>
              <a:cs typeface="Times New Roman"/>
              <a:sym typeface="Times New Roman"/>
            </a:endParaRPr>
          </a:p>
        </p:txBody>
      </p:sp>
      <p:sp>
        <p:nvSpPr>
          <p:cNvPr id="1227" name="Google Shape;1227;p29"/>
          <p:cNvSpPr/>
          <p:nvPr/>
        </p:nvSpPr>
        <p:spPr>
          <a:xfrm>
            <a:off x="4972050" y="847725"/>
            <a:ext cx="371475" cy="1457325"/>
          </a:xfrm>
          <a:custGeom>
            <a:rect b="b" l="l" r="r" t="t"/>
            <a:pathLst>
              <a:path extrusionOk="0" h="918" w="234">
                <a:moveTo>
                  <a:pt x="234" y="0"/>
                </a:moveTo>
                <a:lnTo>
                  <a:pt x="0" y="0"/>
                </a:lnTo>
                <a:lnTo>
                  <a:pt x="0" y="918"/>
                </a:lnTo>
                <a:lnTo>
                  <a:pt x="228" y="918"/>
                </a:lnTo>
              </a:path>
            </a:pathLst>
          </a:cu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cxnSp>
        <p:nvCxnSpPr>
          <p:cNvPr id="1228" name="Google Shape;1228;p29"/>
          <p:cNvCxnSpPr/>
          <p:nvPr/>
        </p:nvCxnSpPr>
        <p:spPr>
          <a:xfrm flipH="1" rot="10800000">
            <a:off x="3486150" y="1449388"/>
            <a:ext cx="1400175" cy="238125"/>
          </a:xfrm>
          <a:prstGeom prst="straightConnector1">
            <a:avLst/>
          </a:prstGeom>
          <a:noFill/>
          <a:ln cap="flat" cmpd="sng" w="19050">
            <a:solidFill>
              <a:srgbClr val="CC0000"/>
            </a:solidFill>
            <a:prstDash val="solid"/>
            <a:round/>
            <a:headEnd len="sm" w="sm" type="none"/>
            <a:tailEnd len="med" w="med" type="triangle"/>
          </a:ln>
        </p:spPr>
      </p:cxnSp>
      <p:sp>
        <p:nvSpPr>
          <p:cNvPr id="1229" name="Google Shape;1229;p29"/>
          <p:cNvSpPr/>
          <p:nvPr/>
        </p:nvSpPr>
        <p:spPr>
          <a:xfrm>
            <a:off x="4973638" y="2428875"/>
            <a:ext cx="371475" cy="3895725"/>
          </a:xfrm>
          <a:custGeom>
            <a:rect b="b" l="l" r="r" t="t"/>
            <a:pathLst>
              <a:path extrusionOk="0" h="918" w="234">
                <a:moveTo>
                  <a:pt x="234" y="0"/>
                </a:moveTo>
                <a:lnTo>
                  <a:pt x="0" y="0"/>
                </a:lnTo>
                <a:lnTo>
                  <a:pt x="0" y="918"/>
                </a:lnTo>
                <a:lnTo>
                  <a:pt x="228" y="918"/>
                </a:ln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cxnSp>
        <p:nvCxnSpPr>
          <p:cNvPr id="1230" name="Google Shape;1230;p29"/>
          <p:cNvCxnSpPr/>
          <p:nvPr/>
        </p:nvCxnSpPr>
        <p:spPr>
          <a:xfrm flipH="1" rot="10800000">
            <a:off x="3152775" y="3941763"/>
            <a:ext cx="1733550" cy="323850"/>
          </a:xfrm>
          <a:prstGeom prst="straightConnector1">
            <a:avLst/>
          </a:prstGeom>
          <a:noFill/>
          <a:ln cap="flat" cmpd="sng" w="19050">
            <a:solidFill>
              <a:srgbClr val="CC0000"/>
            </a:solidFill>
            <a:prstDash val="solid"/>
            <a:round/>
            <a:headEnd len="sm" w="sm"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7"/>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Limitations of POP</a:t>
            </a:r>
            <a:endParaRPr/>
          </a:p>
        </p:txBody>
      </p:sp>
      <p:sp>
        <p:nvSpPr>
          <p:cNvPr id="1236" name="Google Shape;1236;p27"/>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Does not handle multiple mailboxes easily</a:t>
            </a:r>
            <a:endParaRPr/>
          </a:p>
          <a:p>
            <a:pPr indent="-285750" lvl="1" marL="742950" rtl="0" algn="l">
              <a:lnSpc>
                <a:spcPct val="85000"/>
              </a:lnSpc>
              <a:spcBef>
                <a:spcPts val="480"/>
              </a:spcBef>
              <a:spcAft>
                <a:spcPts val="0"/>
              </a:spcAft>
              <a:buSzPts val="2400"/>
              <a:buChar char="▪"/>
            </a:pPr>
            <a:r>
              <a:rPr lang="en-US"/>
              <a:t>Designed to put user’s incoming e-mail in one folder</a:t>
            </a:r>
            <a:endParaRPr/>
          </a:p>
          <a:p>
            <a:pPr indent="-342900" lvl="0" marL="342900" rtl="0" algn="l">
              <a:lnSpc>
                <a:spcPct val="85000"/>
              </a:lnSpc>
              <a:spcBef>
                <a:spcPts val="560"/>
              </a:spcBef>
              <a:spcAft>
                <a:spcPts val="0"/>
              </a:spcAft>
              <a:buSzPts val="1820"/>
              <a:buChar char="❖"/>
            </a:pPr>
            <a:r>
              <a:rPr lang="en-US"/>
              <a:t>Not designed to keep messages on the server</a:t>
            </a:r>
            <a:endParaRPr/>
          </a:p>
          <a:p>
            <a:pPr indent="-285750" lvl="1" marL="742950" rtl="0" algn="l">
              <a:lnSpc>
                <a:spcPct val="85000"/>
              </a:lnSpc>
              <a:spcBef>
                <a:spcPts val="480"/>
              </a:spcBef>
              <a:spcAft>
                <a:spcPts val="0"/>
              </a:spcAft>
              <a:buSzPts val="2400"/>
              <a:buChar char="▪"/>
            </a:pPr>
            <a:r>
              <a:rPr lang="en-US"/>
              <a:t>Instead, designed to download messages to the client</a:t>
            </a:r>
            <a:endParaRPr/>
          </a:p>
          <a:p>
            <a:pPr indent="-342900" lvl="0" marL="342900" rtl="0" algn="l">
              <a:lnSpc>
                <a:spcPct val="85000"/>
              </a:lnSpc>
              <a:spcBef>
                <a:spcPts val="560"/>
              </a:spcBef>
              <a:spcAft>
                <a:spcPts val="0"/>
              </a:spcAft>
              <a:buSzPts val="1820"/>
              <a:buChar char="❖"/>
            </a:pPr>
            <a:r>
              <a:rPr lang="en-US"/>
              <a:t>Poor handling of multiple-client access to mailbox</a:t>
            </a:r>
            <a:endParaRPr/>
          </a:p>
          <a:p>
            <a:pPr indent="-285750" lvl="1" marL="742950" rtl="0" algn="l">
              <a:lnSpc>
                <a:spcPct val="85000"/>
              </a:lnSpc>
              <a:spcBef>
                <a:spcPts val="480"/>
              </a:spcBef>
              <a:spcAft>
                <a:spcPts val="0"/>
              </a:spcAft>
              <a:buSzPts val="2400"/>
              <a:buChar char="▪"/>
            </a:pPr>
            <a:r>
              <a:rPr lang="en-US"/>
              <a:t>Increasingly important as users have home PC, work PC, laptop, cyber café computer, friend’s machine, etc.</a:t>
            </a:r>
            <a:endParaRPr/>
          </a:p>
          <a:p>
            <a:pPr indent="-342900" lvl="0" marL="342900" rtl="0" algn="l">
              <a:lnSpc>
                <a:spcPct val="85000"/>
              </a:lnSpc>
              <a:spcBef>
                <a:spcPts val="560"/>
              </a:spcBef>
              <a:spcAft>
                <a:spcPts val="0"/>
              </a:spcAft>
              <a:buSzPts val="1820"/>
              <a:buChar char="❖"/>
            </a:pPr>
            <a:r>
              <a:rPr lang="en-US"/>
              <a:t>High network bandwidth overhead</a:t>
            </a:r>
            <a:endParaRPr/>
          </a:p>
          <a:p>
            <a:pPr indent="-285750" lvl="1" marL="742950" rtl="0" algn="l">
              <a:lnSpc>
                <a:spcPct val="85000"/>
              </a:lnSpc>
              <a:spcBef>
                <a:spcPts val="480"/>
              </a:spcBef>
              <a:spcAft>
                <a:spcPts val="0"/>
              </a:spcAft>
              <a:buSzPts val="2400"/>
              <a:buChar char="▪"/>
            </a:pPr>
            <a:r>
              <a:rPr lang="en-US"/>
              <a:t>Transfers all of the e-mail messages, often well before they are read (and they might not be read at all!)</a:t>
            </a:r>
            <a:endParaRPr/>
          </a:p>
        </p:txBody>
      </p:sp>
      <p:sp>
        <p:nvSpPr>
          <p:cNvPr id="1237" name="Google Shape;1237;p2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3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43" name="Google Shape;1243;p3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IMAP – </a:t>
            </a:r>
            <a:br>
              <a:rPr lang="en-US" sz="4000"/>
            </a:br>
            <a:r>
              <a:rPr lang="en-US" sz="4000"/>
              <a:t>Internet Message Access Protocol</a:t>
            </a:r>
            <a:endParaRPr/>
          </a:p>
        </p:txBody>
      </p:sp>
      <p:sp>
        <p:nvSpPr>
          <p:cNvPr id="1244" name="Google Shape;1244;p3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sz="2800"/>
              <a:t>What happens if a user opens his mailbox in more than one place?</a:t>
            </a:r>
            <a:endParaRPr/>
          </a:p>
          <a:p>
            <a:pPr indent="-342900" lvl="0" marL="342900" rtl="0" algn="l">
              <a:lnSpc>
                <a:spcPct val="90000"/>
              </a:lnSpc>
              <a:spcBef>
                <a:spcPts val="560"/>
              </a:spcBef>
              <a:spcAft>
                <a:spcPts val="0"/>
              </a:spcAft>
              <a:buSzPts val="1820"/>
              <a:buChar char="❖"/>
            </a:pPr>
            <a:r>
              <a:rPr lang="en-US" sz="2800"/>
              <a:t>Many people have a single e-mail account at work or school and want to access it from work, from their home PC, from their laptop when on business trips, etc. </a:t>
            </a:r>
            <a:endParaRPr/>
          </a:p>
          <a:p>
            <a:pPr indent="-342900" lvl="0" marL="342900" rtl="0" algn="l">
              <a:lnSpc>
                <a:spcPct val="90000"/>
              </a:lnSpc>
              <a:spcBef>
                <a:spcPts val="560"/>
              </a:spcBef>
              <a:spcAft>
                <a:spcPts val="0"/>
              </a:spcAft>
              <a:buSzPts val="1820"/>
              <a:buChar char="❖"/>
            </a:pPr>
            <a:r>
              <a:rPr lang="en-US" sz="2800"/>
              <a:t>While POP3 allows this, since it normally downloads all stored messages at each contact, the result is that the user's e-mail quickly gets spread over multiple machines, more or less at random, some of them not even the user's.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3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Policy</a:t>
            </a:r>
            <a:endParaRPr/>
          </a:p>
        </p:txBody>
      </p:sp>
      <p:sp>
        <p:nvSpPr>
          <p:cNvPr id="1250" name="Google Shape;1250;p31"/>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5000"/>
              </a:lnSpc>
              <a:spcBef>
                <a:spcPts val="0"/>
              </a:spcBef>
              <a:spcAft>
                <a:spcPts val="0"/>
              </a:spcAft>
              <a:buSzPts val="1820"/>
              <a:buChar char="❖"/>
            </a:pPr>
            <a:r>
              <a:rPr lang="en-US"/>
              <a:t>IMAP assumes that all the e-mail will remain on the server indefinitely in multiple mailboxes. </a:t>
            </a:r>
            <a:endParaRPr/>
          </a:p>
          <a:p>
            <a:pPr indent="-342900" lvl="0" marL="342900" rtl="0" algn="l">
              <a:lnSpc>
                <a:spcPct val="85000"/>
              </a:lnSpc>
              <a:spcBef>
                <a:spcPts val="560"/>
              </a:spcBef>
              <a:spcAft>
                <a:spcPts val="0"/>
              </a:spcAft>
              <a:buSzPts val="1820"/>
              <a:buChar char="❖"/>
            </a:pPr>
            <a:r>
              <a:rPr lang="en-US"/>
              <a:t>IMAP provides extensive mechanisms for reading messages or even parts of messages, a feature useful when using a slow modem to read the text part of a multipart message with large audio and video attachments. </a:t>
            </a:r>
            <a:endParaRPr/>
          </a:p>
          <a:p>
            <a:pPr indent="-342900" lvl="0" marL="342900" rtl="0" algn="l">
              <a:lnSpc>
                <a:spcPct val="85000"/>
              </a:lnSpc>
              <a:spcBef>
                <a:spcPts val="560"/>
              </a:spcBef>
              <a:spcAft>
                <a:spcPts val="0"/>
              </a:spcAft>
              <a:buSzPts val="1820"/>
              <a:buChar char="❖"/>
            </a:pPr>
            <a:r>
              <a:rPr lang="en-US"/>
              <a:t>Since the working assumption is that messages will not be transferred to the user's computer for permanent storage, IMAP provides mechanisms for creating, destroying, and manipulating multiple mailboxes on the server. </a:t>
            </a:r>
            <a:endParaRPr/>
          </a:p>
          <a:p>
            <a:pPr indent="-342900" lvl="0" marL="342900" rtl="0" algn="l">
              <a:lnSpc>
                <a:spcPct val="85000"/>
              </a:lnSpc>
              <a:spcBef>
                <a:spcPts val="560"/>
              </a:spcBef>
              <a:spcAft>
                <a:spcPts val="0"/>
              </a:spcAft>
              <a:buSzPts val="1820"/>
              <a:buChar char="❖"/>
            </a:pPr>
            <a:r>
              <a:rPr lang="en-US"/>
              <a:t>In this way a user can maintain a mailbox for each correspondent and move messages there from the inbox after they have been read.</a:t>
            </a:r>
            <a:endParaRPr/>
          </a:p>
          <a:p>
            <a:pPr indent="-227330" lvl="0" marL="342900" rtl="0" algn="l">
              <a:lnSpc>
                <a:spcPct val="85000"/>
              </a:lnSpc>
              <a:spcBef>
                <a:spcPts val="560"/>
              </a:spcBef>
              <a:spcAft>
                <a:spcPts val="0"/>
              </a:spcAft>
              <a:buSzPts val="1820"/>
              <a:buNone/>
            </a:pPr>
            <a:r>
              <a:t/>
            </a:r>
            <a:endParaRPr/>
          </a:p>
        </p:txBody>
      </p:sp>
      <p:sp>
        <p:nvSpPr>
          <p:cNvPr id="1251" name="Google Shape;1251;p3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a:t>Application Layer</a:t>
            </a:r>
            <a:endParaRPr/>
          </a:p>
        </p:txBody>
      </p:sp>
      <p:sp>
        <p:nvSpPr>
          <p:cNvPr id="1252" name="Google Shape;1252;p3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3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sz="3600"/>
              <a:t>Internet Message Access Protocol (IMAP)</a:t>
            </a:r>
            <a:endParaRPr/>
          </a:p>
        </p:txBody>
      </p:sp>
      <p:sp>
        <p:nvSpPr>
          <p:cNvPr id="1258" name="Google Shape;1258;p3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Developed after POP and attempts to fix POP deficiencies</a:t>
            </a:r>
            <a:endParaRPr/>
          </a:p>
          <a:p>
            <a:pPr indent="-285750" lvl="1" marL="742950" rtl="0" algn="l">
              <a:lnSpc>
                <a:spcPct val="85000"/>
              </a:lnSpc>
              <a:spcBef>
                <a:spcPts val="480"/>
              </a:spcBef>
              <a:spcAft>
                <a:spcPts val="0"/>
              </a:spcAft>
              <a:buSzPts val="2400"/>
              <a:buChar char="▪"/>
            </a:pPr>
            <a:r>
              <a:rPr lang="en-US"/>
              <a:t>allows keeping all mail on the server</a:t>
            </a:r>
            <a:endParaRPr/>
          </a:p>
          <a:p>
            <a:pPr indent="-285750" lvl="1" marL="742950" rtl="0" algn="l">
              <a:lnSpc>
                <a:spcPct val="85000"/>
              </a:lnSpc>
              <a:spcBef>
                <a:spcPts val="480"/>
              </a:spcBef>
              <a:spcAft>
                <a:spcPts val="0"/>
              </a:spcAft>
              <a:buSzPts val="2400"/>
              <a:buChar char="▪"/>
            </a:pPr>
            <a:r>
              <a:rPr lang="en-US"/>
              <a:t>allows mail categorization via folder metaphor</a:t>
            </a:r>
            <a:endParaRPr/>
          </a:p>
          <a:p>
            <a:pPr indent="-285750" lvl="1" marL="742950" rtl="0" algn="l">
              <a:lnSpc>
                <a:spcPct val="85000"/>
              </a:lnSpc>
              <a:spcBef>
                <a:spcPts val="480"/>
              </a:spcBef>
              <a:spcAft>
                <a:spcPts val="0"/>
              </a:spcAft>
              <a:buSzPts val="2400"/>
              <a:buChar char="▪"/>
            </a:pPr>
            <a:r>
              <a:rPr lang="en-US"/>
              <a:t>mail is easily flagged (answered, draft, deleted, seen, recent); this isn’t the same on all servers</a:t>
            </a:r>
            <a:endParaRPr/>
          </a:p>
          <a:p>
            <a:pPr indent="-285750" lvl="1" marL="742950" rtl="0" algn="l">
              <a:lnSpc>
                <a:spcPct val="85000"/>
              </a:lnSpc>
              <a:spcBef>
                <a:spcPts val="480"/>
              </a:spcBef>
              <a:spcAft>
                <a:spcPts val="0"/>
              </a:spcAft>
              <a:buSzPts val="2400"/>
              <a:buChar char="▪"/>
            </a:pPr>
            <a:r>
              <a:rPr lang="en-US"/>
              <a:t>provides for multiple connections to the server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3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 process</a:t>
            </a:r>
            <a:endParaRPr/>
          </a:p>
        </p:txBody>
      </p:sp>
      <p:sp>
        <p:nvSpPr>
          <p:cNvPr id="1264" name="Google Shape;1264;p3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make connection</a:t>
            </a:r>
            <a:endParaRPr/>
          </a:p>
          <a:p>
            <a:pPr indent="-342900" lvl="0" marL="342900" rtl="0" algn="l">
              <a:lnSpc>
                <a:spcPct val="85000"/>
              </a:lnSpc>
              <a:spcBef>
                <a:spcPts val="560"/>
              </a:spcBef>
              <a:spcAft>
                <a:spcPts val="0"/>
              </a:spcAft>
              <a:buSzPts val="1820"/>
              <a:buChar char="❖"/>
            </a:pPr>
            <a:r>
              <a:rPr lang="en-US"/>
              <a:t>send user credentials (userid and password)</a:t>
            </a:r>
            <a:endParaRPr/>
          </a:p>
          <a:p>
            <a:pPr indent="-285750" lvl="1" marL="742950" rtl="0" algn="l">
              <a:lnSpc>
                <a:spcPct val="85000"/>
              </a:lnSpc>
              <a:spcBef>
                <a:spcPts val="480"/>
              </a:spcBef>
              <a:spcAft>
                <a:spcPts val="0"/>
              </a:spcAft>
              <a:buSzPts val="2400"/>
              <a:buChar char="▪"/>
            </a:pPr>
            <a:r>
              <a:rPr lang="en-US"/>
              <a:t>repeat until done</a:t>
            </a:r>
            <a:endParaRPr/>
          </a:p>
          <a:p>
            <a:pPr indent="-228600" lvl="2" marL="1143000" rtl="0" algn="l">
              <a:lnSpc>
                <a:spcPct val="100000"/>
              </a:lnSpc>
              <a:spcBef>
                <a:spcPts val="400"/>
              </a:spcBef>
              <a:spcAft>
                <a:spcPts val="0"/>
              </a:spcAft>
              <a:buClr>
                <a:schemeClr val="dk1"/>
              </a:buClr>
              <a:buSzPts val="2000"/>
              <a:buFont typeface="Comic Sans MS"/>
              <a:buChar char="•"/>
            </a:pPr>
            <a:r>
              <a:rPr lang="en-US"/>
              <a:t>send a command</a:t>
            </a:r>
            <a:endParaRPr/>
          </a:p>
          <a:p>
            <a:pPr indent="-228600" lvl="2" marL="1143000" rtl="0" algn="l">
              <a:lnSpc>
                <a:spcPct val="100000"/>
              </a:lnSpc>
              <a:spcBef>
                <a:spcPts val="400"/>
              </a:spcBef>
              <a:spcAft>
                <a:spcPts val="0"/>
              </a:spcAft>
              <a:buClr>
                <a:schemeClr val="dk1"/>
              </a:buClr>
              <a:buSzPts val="2000"/>
              <a:buFont typeface="Comic Sans MS"/>
              <a:buChar char="•"/>
            </a:pPr>
            <a:r>
              <a:rPr lang="en-US"/>
              <a:t>read response</a:t>
            </a:r>
            <a:endParaRPr/>
          </a:p>
          <a:p>
            <a:pPr indent="-285750" lvl="1" marL="742950" rtl="0" algn="l">
              <a:lnSpc>
                <a:spcPct val="85000"/>
              </a:lnSpc>
              <a:spcBef>
                <a:spcPts val="480"/>
              </a:spcBef>
              <a:spcAft>
                <a:spcPts val="0"/>
              </a:spcAft>
              <a:buSzPts val="2400"/>
              <a:buChar char="▪"/>
            </a:pPr>
            <a:r>
              <a:rPr lang="en-US"/>
              <a:t>disconnect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3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 Commands</a:t>
            </a:r>
            <a:endParaRPr/>
          </a:p>
        </p:txBody>
      </p:sp>
      <p:sp>
        <p:nvSpPr>
          <p:cNvPr id="1270" name="Google Shape;1270;p34"/>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85000"/>
              </a:lnSpc>
              <a:spcBef>
                <a:spcPts val="0"/>
              </a:spcBef>
              <a:spcAft>
                <a:spcPts val="0"/>
              </a:spcAft>
              <a:buSzPct val="65000"/>
              <a:buChar char="❖"/>
            </a:pPr>
            <a:r>
              <a:rPr lang="en-US"/>
              <a:t>login</a:t>
            </a:r>
            <a:endParaRPr/>
          </a:p>
          <a:p>
            <a:pPr indent="-342900" lvl="0" marL="342900" rtl="0" algn="l">
              <a:lnSpc>
                <a:spcPct val="85000"/>
              </a:lnSpc>
              <a:spcBef>
                <a:spcPts val="518"/>
              </a:spcBef>
              <a:spcAft>
                <a:spcPts val="0"/>
              </a:spcAft>
              <a:buSzPct val="65000"/>
              <a:buChar char="❖"/>
            </a:pPr>
            <a:r>
              <a:rPr lang="en-US"/>
              <a:t>list</a:t>
            </a:r>
            <a:endParaRPr/>
          </a:p>
          <a:p>
            <a:pPr indent="-342900" lvl="0" marL="342900" rtl="0" algn="l">
              <a:lnSpc>
                <a:spcPct val="85000"/>
              </a:lnSpc>
              <a:spcBef>
                <a:spcPts val="518"/>
              </a:spcBef>
              <a:spcAft>
                <a:spcPts val="0"/>
              </a:spcAft>
              <a:buSzPct val="65000"/>
              <a:buChar char="❖"/>
            </a:pPr>
            <a:r>
              <a:rPr lang="en-US"/>
              <a:t>status</a:t>
            </a:r>
            <a:endParaRPr/>
          </a:p>
          <a:p>
            <a:pPr indent="-342900" lvl="0" marL="342900" rtl="0" algn="l">
              <a:lnSpc>
                <a:spcPct val="85000"/>
              </a:lnSpc>
              <a:spcBef>
                <a:spcPts val="518"/>
              </a:spcBef>
              <a:spcAft>
                <a:spcPts val="0"/>
              </a:spcAft>
              <a:buSzPct val="65000"/>
              <a:buChar char="❖"/>
            </a:pPr>
            <a:r>
              <a:rPr lang="en-US"/>
              <a:t>examine</a:t>
            </a:r>
            <a:endParaRPr/>
          </a:p>
          <a:p>
            <a:pPr indent="-342900" lvl="0" marL="342900" rtl="0" algn="l">
              <a:lnSpc>
                <a:spcPct val="85000"/>
              </a:lnSpc>
              <a:spcBef>
                <a:spcPts val="518"/>
              </a:spcBef>
              <a:spcAft>
                <a:spcPts val="0"/>
              </a:spcAft>
              <a:buSzPct val="65000"/>
              <a:buChar char="❖"/>
            </a:pPr>
            <a:r>
              <a:rPr lang="en-US"/>
              <a:t>select</a:t>
            </a:r>
            <a:endParaRPr/>
          </a:p>
          <a:p>
            <a:pPr indent="-342900" lvl="0" marL="342900" rtl="0" algn="l">
              <a:lnSpc>
                <a:spcPct val="85000"/>
              </a:lnSpc>
              <a:spcBef>
                <a:spcPts val="518"/>
              </a:spcBef>
              <a:spcAft>
                <a:spcPts val="0"/>
              </a:spcAft>
              <a:buSzPct val="65000"/>
              <a:buChar char="❖"/>
            </a:pPr>
            <a:r>
              <a:rPr lang="en-US"/>
              <a:t>create, delete, rename</a:t>
            </a:r>
            <a:endParaRPr/>
          </a:p>
          <a:p>
            <a:pPr indent="-342900" lvl="0" marL="342900" rtl="0" algn="l">
              <a:lnSpc>
                <a:spcPct val="85000"/>
              </a:lnSpc>
              <a:spcBef>
                <a:spcPts val="518"/>
              </a:spcBef>
              <a:spcAft>
                <a:spcPts val="0"/>
              </a:spcAft>
              <a:buSzPct val="65000"/>
              <a:buChar char="❖"/>
            </a:pPr>
            <a:r>
              <a:rPr lang="en-US"/>
              <a:t>fetch</a:t>
            </a:r>
            <a:endParaRPr/>
          </a:p>
          <a:p>
            <a:pPr indent="-342900" lvl="0" marL="342900" rtl="0" algn="l">
              <a:lnSpc>
                <a:spcPct val="85000"/>
              </a:lnSpc>
              <a:spcBef>
                <a:spcPts val="518"/>
              </a:spcBef>
              <a:spcAft>
                <a:spcPts val="0"/>
              </a:spcAft>
              <a:buSzPct val="65000"/>
              <a:buChar char="❖"/>
            </a:pPr>
            <a:r>
              <a:rPr lang="en-US"/>
              <a:t>store</a:t>
            </a:r>
            <a:endParaRPr/>
          </a:p>
          <a:p>
            <a:pPr indent="-342900" lvl="0" marL="342900" rtl="0" algn="l">
              <a:lnSpc>
                <a:spcPct val="85000"/>
              </a:lnSpc>
              <a:spcBef>
                <a:spcPts val="518"/>
              </a:spcBef>
              <a:spcAft>
                <a:spcPts val="0"/>
              </a:spcAft>
              <a:buSzPct val="65000"/>
              <a:buChar char="❖"/>
            </a:pPr>
            <a:r>
              <a:rPr lang="en-US"/>
              <a:t>close</a:t>
            </a:r>
            <a:endParaRPr/>
          </a:p>
          <a:p>
            <a:pPr indent="-342900" lvl="0" marL="342900" rtl="0" algn="l">
              <a:lnSpc>
                <a:spcPct val="85000"/>
              </a:lnSpc>
              <a:spcBef>
                <a:spcPts val="518"/>
              </a:spcBef>
              <a:spcAft>
                <a:spcPts val="0"/>
              </a:spcAft>
              <a:buSzPct val="65000"/>
              <a:buChar char="❖"/>
            </a:pPr>
            <a:r>
              <a:rPr lang="en-US"/>
              <a:t>expunge</a:t>
            </a:r>
            <a:endParaRPr/>
          </a:p>
          <a:p>
            <a:pPr indent="-342900" lvl="0" marL="342900" rtl="0" algn="l">
              <a:lnSpc>
                <a:spcPct val="85000"/>
              </a:lnSpc>
              <a:spcBef>
                <a:spcPts val="518"/>
              </a:spcBef>
              <a:spcAft>
                <a:spcPts val="0"/>
              </a:spcAft>
              <a:buSzPct val="65000"/>
              <a:buChar char="❖"/>
            </a:pPr>
            <a:r>
              <a:rPr lang="en-US"/>
              <a:t>copy</a:t>
            </a:r>
            <a:endParaRPr/>
          </a:p>
          <a:p>
            <a:pPr indent="-342900" lvl="0" marL="342900" rtl="0" algn="l">
              <a:lnSpc>
                <a:spcPct val="85000"/>
              </a:lnSpc>
              <a:spcBef>
                <a:spcPts val="518"/>
              </a:spcBef>
              <a:spcAft>
                <a:spcPts val="0"/>
              </a:spcAft>
              <a:buSzPct val="65000"/>
              <a:buChar char="❖"/>
            </a:pPr>
            <a:r>
              <a:rPr lang="en-US"/>
              <a:t>idle</a:t>
            </a:r>
            <a:endParaRPr/>
          </a:p>
          <a:p>
            <a:pPr indent="-342900" lvl="0" marL="342900" rtl="0" algn="l">
              <a:lnSpc>
                <a:spcPct val="85000"/>
              </a:lnSpc>
              <a:spcBef>
                <a:spcPts val="518"/>
              </a:spcBef>
              <a:spcAft>
                <a:spcPts val="0"/>
              </a:spcAft>
              <a:buSzPct val="65000"/>
              <a:buChar char="❖"/>
            </a:pPr>
            <a:r>
              <a:rPr lang="en-US"/>
              <a:t>lsub, subscribe, unsubscribe</a:t>
            </a:r>
            <a:endParaRPr/>
          </a:p>
          <a:p>
            <a:pPr indent="-342900" lvl="0" marL="342900" rtl="0" algn="l">
              <a:lnSpc>
                <a:spcPct val="85000"/>
              </a:lnSpc>
              <a:spcBef>
                <a:spcPts val="518"/>
              </a:spcBef>
              <a:spcAft>
                <a:spcPts val="0"/>
              </a:spcAft>
              <a:buSzPct val="65000"/>
              <a:buChar char="❖"/>
            </a:pPr>
            <a:r>
              <a:rPr lang="en-US"/>
              <a:t>logout</a:t>
            </a:r>
            <a:endParaRPr/>
          </a:p>
          <a:p>
            <a:pPr indent="-342900" lvl="0" marL="342900" rtl="0" algn="l">
              <a:lnSpc>
                <a:spcPct val="85000"/>
              </a:lnSpc>
              <a:spcBef>
                <a:spcPts val="518"/>
              </a:spcBef>
              <a:spcAft>
                <a:spcPts val="0"/>
              </a:spcAft>
              <a:buSzPct val="65000"/>
              <a:buChar char="❖"/>
            </a:pPr>
            <a:r>
              <a:rPr lang="en-US"/>
              <a:t>capability, getquotaroot, getacl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3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277" name="Google Shape;1277;p3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1278" name="Google Shape;1278;p35"/>
          <p:cNvPicPr preferRelativeResize="0"/>
          <p:nvPr/>
        </p:nvPicPr>
        <p:blipFill rotWithShape="1">
          <a:blip r:embed="rId3">
            <a:alphaModFix/>
          </a:blip>
          <a:srcRect b="0" l="0" r="0" t="0"/>
          <a:stretch/>
        </p:blipFill>
        <p:spPr>
          <a:xfrm>
            <a:off x="428625" y="957263"/>
            <a:ext cx="5942013" cy="173037"/>
          </a:xfrm>
          <a:prstGeom prst="rect">
            <a:avLst/>
          </a:prstGeom>
          <a:noFill/>
          <a:ln>
            <a:noFill/>
          </a:ln>
        </p:spPr>
      </p:pic>
      <p:sp>
        <p:nvSpPr>
          <p:cNvPr id="1279" name="Google Shape;1279;p35"/>
          <p:cNvSpPr txBox="1"/>
          <p:nvPr>
            <p:ph type="title"/>
          </p:nvPr>
        </p:nvSpPr>
        <p:spPr>
          <a:xfrm>
            <a:off x="381000" y="293688"/>
            <a:ext cx="7772400" cy="795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POP3 (more) and IMAP</a:t>
            </a:r>
            <a:endParaRPr/>
          </a:p>
        </p:txBody>
      </p:sp>
      <p:sp>
        <p:nvSpPr>
          <p:cNvPr id="1280" name="Google Shape;1280;p35"/>
          <p:cNvSpPr txBox="1"/>
          <p:nvPr>
            <p:ph idx="1" type="body"/>
          </p:nvPr>
        </p:nvSpPr>
        <p:spPr>
          <a:xfrm>
            <a:off x="520700" y="1343025"/>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more about POP3</a:t>
            </a:r>
            <a:endParaRPr/>
          </a:p>
          <a:p>
            <a:pPr indent="-342900" lvl="0" marL="342900" rtl="0" algn="l">
              <a:lnSpc>
                <a:spcPct val="85000"/>
              </a:lnSpc>
              <a:spcBef>
                <a:spcPts val="480"/>
              </a:spcBef>
              <a:spcAft>
                <a:spcPts val="0"/>
              </a:spcAft>
              <a:buSzPts val="1560"/>
              <a:buChar char="❖"/>
            </a:pPr>
            <a:r>
              <a:rPr lang="en-US" sz="2400"/>
              <a:t>previous example uses POP3 “download and delete” mode</a:t>
            </a:r>
            <a:endParaRPr/>
          </a:p>
          <a:p>
            <a:pPr indent="-285750" lvl="1" marL="742950" rtl="0" algn="l">
              <a:lnSpc>
                <a:spcPct val="85000"/>
              </a:lnSpc>
              <a:spcBef>
                <a:spcPts val="480"/>
              </a:spcBef>
              <a:spcAft>
                <a:spcPts val="0"/>
              </a:spcAft>
              <a:buSzPts val="2400"/>
              <a:buChar char="▪"/>
            </a:pPr>
            <a:r>
              <a:rPr lang="en-US"/>
              <a:t>Bob cannot re-read e-mail if he changes client</a:t>
            </a:r>
            <a:endParaRPr/>
          </a:p>
          <a:p>
            <a:pPr indent="-342900" lvl="0" marL="342900" rtl="0" algn="l">
              <a:lnSpc>
                <a:spcPct val="85000"/>
              </a:lnSpc>
              <a:spcBef>
                <a:spcPts val="480"/>
              </a:spcBef>
              <a:spcAft>
                <a:spcPts val="0"/>
              </a:spcAft>
              <a:buSzPts val="1560"/>
              <a:buChar char="❖"/>
            </a:pPr>
            <a:r>
              <a:rPr lang="en-US" sz="2400"/>
              <a:t>POP3 “download-and-keep”: copies of messages on different clients</a:t>
            </a:r>
            <a:endParaRPr/>
          </a:p>
          <a:p>
            <a:pPr indent="-342900" lvl="0" marL="342900" rtl="0" algn="l">
              <a:lnSpc>
                <a:spcPct val="85000"/>
              </a:lnSpc>
              <a:spcBef>
                <a:spcPts val="480"/>
              </a:spcBef>
              <a:spcAft>
                <a:spcPts val="0"/>
              </a:spcAft>
              <a:buSzPts val="1560"/>
              <a:buChar char="❖"/>
            </a:pPr>
            <a:r>
              <a:rPr lang="en-US" sz="2400"/>
              <a:t>POP3 is stateless across sessions</a:t>
            </a:r>
            <a:endParaRPr/>
          </a:p>
        </p:txBody>
      </p:sp>
      <p:sp>
        <p:nvSpPr>
          <p:cNvPr id="1281" name="Google Shape;1281;p35"/>
          <p:cNvSpPr txBox="1"/>
          <p:nvPr>
            <p:ph idx="2" type="body"/>
          </p:nvPr>
        </p:nvSpPr>
        <p:spPr>
          <a:xfrm>
            <a:off x="4483100" y="1381125"/>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IMAP</a:t>
            </a:r>
            <a:endParaRPr/>
          </a:p>
          <a:p>
            <a:pPr indent="-342900" lvl="0" marL="342900" rtl="0" algn="l">
              <a:lnSpc>
                <a:spcPct val="85000"/>
              </a:lnSpc>
              <a:spcBef>
                <a:spcPts val="480"/>
              </a:spcBef>
              <a:spcAft>
                <a:spcPts val="0"/>
              </a:spcAft>
              <a:buSzPts val="1560"/>
              <a:buChar char="❖"/>
            </a:pPr>
            <a:r>
              <a:rPr lang="en-US" sz="2400"/>
              <a:t>keeps all messages in one place: at server</a:t>
            </a:r>
            <a:endParaRPr/>
          </a:p>
          <a:p>
            <a:pPr indent="-342900" lvl="0" marL="342900" rtl="0" algn="l">
              <a:lnSpc>
                <a:spcPct val="85000"/>
              </a:lnSpc>
              <a:spcBef>
                <a:spcPts val="480"/>
              </a:spcBef>
              <a:spcAft>
                <a:spcPts val="0"/>
              </a:spcAft>
              <a:buSzPts val="1560"/>
              <a:buChar char="❖"/>
            </a:pPr>
            <a:r>
              <a:rPr lang="en-US" sz="2400"/>
              <a:t>allows user to organize messages in folders</a:t>
            </a:r>
            <a:endParaRPr/>
          </a:p>
          <a:p>
            <a:pPr indent="-342900" lvl="0" marL="342900" rtl="0" algn="l">
              <a:lnSpc>
                <a:spcPct val="85000"/>
              </a:lnSpc>
              <a:spcBef>
                <a:spcPts val="480"/>
              </a:spcBef>
              <a:spcAft>
                <a:spcPts val="0"/>
              </a:spcAft>
              <a:buSzPts val="1560"/>
              <a:buChar char="❖"/>
            </a:pPr>
            <a:r>
              <a:rPr lang="en-US" sz="2400"/>
              <a:t>keeps user state across sessions:</a:t>
            </a:r>
            <a:endParaRPr/>
          </a:p>
          <a:p>
            <a:pPr indent="-285750" lvl="1" marL="742950" rtl="0" algn="l">
              <a:lnSpc>
                <a:spcPct val="85000"/>
              </a:lnSpc>
              <a:spcBef>
                <a:spcPts val="480"/>
              </a:spcBef>
              <a:spcAft>
                <a:spcPts val="0"/>
              </a:spcAft>
              <a:buSzPts val="2400"/>
              <a:buChar char="▪"/>
            </a:pPr>
            <a:r>
              <a:rPr lang="en-US"/>
              <a:t>names of folders and mappings between message IDs and folder name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3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87" name="Google Shape;1287;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A comparison of POP3 and IMAP </a:t>
            </a:r>
            <a:endParaRPr/>
          </a:p>
        </p:txBody>
      </p:sp>
      <p:graphicFrame>
        <p:nvGraphicFramePr>
          <p:cNvPr id="1288" name="Google Shape;1288;p36"/>
          <p:cNvGraphicFramePr/>
          <p:nvPr/>
        </p:nvGraphicFramePr>
        <p:xfrm>
          <a:off x="533400" y="1524000"/>
          <a:ext cx="3000000" cy="3000000"/>
        </p:xfrm>
        <a:graphic>
          <a:graphicData uri="http://schemas.openxmlformats.org/drawingml/2006/table">
            <a:tbl>
              <a:tblPr>
                <a:noFill/>
                <a:tableStyleId>{8F16B8BC-E28C-42A0-8FFE-37260CA53259}</a:tableStyleId>
              </a:tblPr>
              <a:tblGrid>
                <a:gridCol w="4267200"/>
                <a:gridCol w="1752600"/>
                <a:gridCol w="1905000"/>
              </a:tblGrid>
              <a:tr h="457150">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Feature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POP3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IMAP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Where is emails stored?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Where is emails read?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Connect time required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Use of server resources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Multiple mailboxes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User control over downloading</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Partial message downloads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Are disk quotas a problem?</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Simple to implement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0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Keeps user state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omic Sans MS"/>
                        <a:buNone/>
                      </a:pPr>
                      <a:r>
                        <a:t/>
                      </a:r>
                      <a:endParaRPr b="0" i="0"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89" name="Google Shape;1289;p36"/>
          <p:cNvSpPr txBox="1"/>
          <p:nvPr/>
        </p:nvSpPr>
        <p:spPr>
          <a:xfrm>
            <a:off x="4876800" y="1985963"/>
            <a:ext cx="143033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User’s PC</a:t>
            </a:r>
            <a:endParaRPr b="0" i="0" sz="1400" u="none" cap="none" strike="noStrike">
              <a:solidFill>
                <a:srgbClr val="000000"/>
              </a:solidFill>
              <a:latin typeface="Arial"/>
              <a:ea typeface="Arial"/>
              <a:cs typeface="Arial"/>
              <a:sym typeface="Arial"/>
            </a:endParaRPr>
          </a:p>
        </p:txBody>
      </p:sp>
      <p:sp>
        <p:nvSpPr>
          <p:cNvPr id="1290" name="Google Shape;1290;p36"/>
          <p:cNvSpPr txBox="1"/>
          <p:nvPr/>
        </p:nvSpPr>
        <p:spPr>
          <a:xfrm>
            <a:off x="6629400" y="1985963"/>
            <a:ext cx="979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Server</a:t>
            </a:r>
            <a:endParaRPr b="0" i="0" sz="1400" u="none" cap="none" strike="noStrike">
              <a:solidFill>
                <a:srgbClr val="000000"/>
              </a:solidFill>
              <a:latin typeface="Arial"/>
              <a:ea typeface="Arial"/>
              <a:cs typeface="Arial"/>
              <a:sym typeface="Arial"/>
            </a:endParaRPr>
          </a:p>
        </p:txBody>
      </p:sp>
      <p:sp>
        <p:nvSpPr>
          <p:cNvPr id="1291" name="Google Shape;1291;p36"/>
          <p:cNvSpPr txBox="1"/>
          <p:nvPr/>
        </p:nvSpPr>
        <p:spPr>
          <a:xfrm>
            <a:off x="4876800" y="2443163"/>
            <a:ext cx="11652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Off-line</a:t>
            </a:r>
            <a:endParaRPr b="0" i="0" sz="1400" u="none" cap="none" strike="noStrike">
              <a:solidFill>
                <a:srgbClr val="000000"/>
              </a:solidFill>
              <a:latin typeface="Arial"/>
              <a:ea typeface="Arial"/>
              <a:cs typeface="Arial"/>
              <a:sym typeface="Arial"/>
            </a:endParaRPr>
          </a:p>
        </p:txBody>
      </p:sp>
      <p:sp>
        <p:nvSpPr>
          <p:cNvPr id="1292" name="Google Shape;1292;p36"/>
          <p:cNvSpPr txBox="1"/>
          <p:nvPr/>
        </p:nvSpPr>
        <p:spPr>
          <a:xfrm>
            <a:off x="6629400" y="2438400"/>
            <a:ext cx="11144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On-line</a:t>
            </a:r>
            <a:endParaRPr b="0" i="0" sz="1400" u="none" cap="none" strike="noStrike">
              <a:solidFill>
                <a:srgbClr val="000000"/>
              </a:solidFill>
              <a:latin typeface="Arial"/>
              <a:ea typeface="Arial"/>
              <a:cs typeface="Arial"/>
              <a:sym typeface="Arial"/>
            </a:endParaRPr>
          </a:p>
        </p:txBody>
      </p:sp>
      <p:sp>
        <p:nvSpPr>
          <p:cNvPr id="1293" name="Google Shape;1293;p36"/>
          <p:cNvSpPr txBox="1"/>
          <p:nvPr/>
        </p:nvSpPr>
        <p:spPr>
          <a:xfrm>
            <a:off x="4876800" y="2895600"/>
            <a:ext cx="8413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Little</a:t>
            </a:r>
            <a:endParaRPr b="0" i="0" sz="1400" u="none" cap="none" strike="noStrike">
              <a:solidFill>
                <a:srgbClr val="000000"/>
              </a:solidFill>
              <a:latin typeface="Arial"/>
              <a:ea typeface="Arial"/>
              <a:cs typeface="Arial"/>
              <a:sym typeface="Arial"/>
            </a:endParaRPr>
          </a:p>
        </p:txBody>
      </p:sp>
      <p:sp>
        <p:nvSpPr>
          <p:cNvPr id="1294" name="Google Shape;1294;p36"/>
          <p:cNvSpPr txBox="1"/>
          <p:nvPr/>
        </p:nvSpPr>
        <p:spPr>
          <a:xfrm>
            <a:off x="6629400" y="2895600"/>
            <a:ext cx="8953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Much</a:t>
            </a:r>
            <a:endParaRPr b="0" i="0" sz="1400" u="none" cap="none" strike="noStrike">
              <a:solidFill>
                <a:srgbClr val="000000"/>
              </a:solidFill>
              <a:latin typeface="Arial"/>
              <a:ea typeface="Arial"/>
              <a:cs typeface="Arial"/>
              <a:sym typeface="Arial"/>
            </a:endParaRPr>
          </a:p>
        </p:txBody>
      </p:sp>
      <p:sp>
        <p:nvSpPr>
          <p:cNvPr id="1295" name="Google Shape;1295;p36"/>
          <p:cNvSpPr txBox="1"/>
          <p:nvPr/>
        </p:nvSpPr>
        <p:spPr>
          <a:xfrm>
            <a:off x="4876800" y="3352800"/>
            <a:ext cx="1231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Minimal</a:t>
            </a:r>
            <a:endParaRPr b="0" i="0" sz="1400" u="none" cap="none" strike="noStrike">
              <a:solidFill>
                <a:srgbClr val="000000"/>
              </a:solidFill>
              <a:latin typeface="Arial"/>
              <a:ea typeface="Arial"/>
              <a:cs typeface="Arial"/>
              <a:sym typeface="Arial"/>
            </a:endParaRPr>
          </a:p>
        </p:txBody>
      </p:sp>
      <p:sp>
        <p:nvSpPr>
          <p:cNvPr id="1296" name="Google Shape;1296;p36"/>
          <p:cNvSpPr txBox="1"/>
          <p:nvPr/>
        </p:nvSpPr>
        <p:spPr>
          <a:xfrm>
            <a:off x="6616700" y="3352800"/>
            <a:ext cx="1384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Extensive</a:t>
            </a:r>
            <a:endParaRPr b="0" i="0" sz="1400" u="none" cap="none" strike="noStrike">
              <a:solidFill>
                <a:srgbClr val="000000"/>
              </a:solidFill>
              <a:latin typeface="Arial"/>
              <a:ea typeface="Arial"/>
              <a:cs typeface="Arial"/>
              <a:sym typeface="Arial"/>
            </a:endParaRPr>
          </a:p>
        </p:txBody>
      </p:sp>
      <p:sp>
        <p:nvSpPr>
          <p:cNvPr id="1297" name="Google Shape;1297;p36"/>
          <p:cNvSpPr txBox="1"/>
          <p:nvPr/>
        </p:nvSpPr>
        <p:spPr>
          <a:xfrm>
            <a:off x="4864100" y="38100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298" name="Google Shape;1298;p36"/>
          <p:cNvSpPr txBox="1"/>
          <p:nvPr/>
        </p:nvSpPr>
        <p:spPr>
          <a:xfrm>
            <a:off x="6616700" y="38100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299" name="Google Shape;1299;p36"/>
          <p:cNvSpPr txBox="1"/>
          <p:nvPr/>
        </p:nvSpPr>
        <p:spPr>
          <a:xfrm>
            <a:off x="4864100" y="4267200"/>
            <a:ext cx="8413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Little</a:t>
            </a:r>
            <a:endParaRPr b="0" i="0" sz="1400" u="none" cap="none" strike="noStrike">
              <a:solidFill>
                <a:srgbClr val="000000"/>
              </a:solidFill>
              <a:latin typeface="Arial"/>
              <a:ea typeface="Arial"/>
              <a:cs typeface="Arial"/>
              <a:sym typeface="Arial"/>
            </a:endParaRPr>
          </a:p>
        </p:txBody>
      </p:sp>
      <p:sp>
        <p:nvSpPr>
          <p:cNvPr id="1300" name="Google Shape;1300;p36"/>
          <p:cNvSpPr txBox="1"/>
          <p:nvPr/>
        </p:nvSpPr>
        <p:spPr>
          <a:xfrm>
            <a:off x="6629400" y="4267200"/>
            <a:ext cx="8604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Great</a:t>
            </a:r>
            <a:endParaRPr b="0" i="0" sz="1400" u="none" cap="none" strike="noStrike">
              <a:solidFill>
                <a:srgbClr val="000000"/>
              </a:solidFill>
              <a:latin typeface="Arial"/>
              <a:ea typeface="Arial"/>
              <a:cs typeface="Arial"/>
              <a:sym typeface="Arial"/>
            </a:endParaRPr>
          </a:p>
        </p:txBody>
      </p:sp>
      <p:sp>
        <p:nvSpPr>
          <p:cNvPr id="1301" name="Google Shape;1301;p36"/>
          <p:cNvSpPr txBox="1"/>
          <p:nvPr/>
        </p:nvSpPr>
        <p:spPr>
          <a:xfrm>
            <a:off x="4876800" y="47244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2" name="Google Shape;1302;p36"/>
          <p:cNvSpPr txBox="1"/>
          <p:nvPr/>
        </p:nvSpPr>
        <p:spPr>
          <a:xfrm>
            <a:off x="6656388" y="4724400"/>
            <a:ext cx="658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3" name="Google Shape;1303;p36"/>
          <p:cNvSpPr txBox="1"/>
          <p:nvPr/>
        </p:nvSpPr>
        <p:spPr>
          <a:xfrm>
            <a:off x="4864100" y="51816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4" name="Google Shape;1304;p36"/>
          <p:cNvSpPr txBox="1"/>
          <p:nvPr/>
        </p:nvSpPr>
        <p:spPr>
          <a:xfrm>
            <a:off x="6632575" y="5181600"/>
            <a:ext cx="12922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Could be</a:t>
            </a:r>
            <a:endParaRPr b="0" i="0" sz="1400" u="none" cap="none" strike="noStrike">
              <a:solidFill>
                <a:srgbClr val="000000"/>
              </a:solidFill>
              <a:latin typeface="Arial"/>
              <a:ea typeface="Arial"/>
              <a:cs typeface="Arial"/>
              <a:sym typeface="Arial"/>
            </a:endParaRPr>
          </a:p>
        </p:txBody>
      </p:sp>
      <p:sp>
        <p:nvSpPr>
          <p:cNvPr id="1305" name="Google Shape;1305;p36"/>
          <p:cNvSpPr txBox="1"/>
          <p:nvPr/>
        </p:nvSpPr>
        <p:spPr>
          <a:xfrm>
            <a:off x="4876800" y="56388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6" name="Google Shape;1306;p36"/>
          <p:cNvSpPr txBox="1"/>
          <p:nvPr/>
        </p:nvSpPr>
        <p:spPr>
          <a:xfrm>
            <a:off x="6629400" y="56388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7" name="Google Shape;1307;p36"/>
          <p:cNvSpPr txBox="1"/>
          <p:nvPr/>
        </p:nvSpPr>
        <p:spPr>
          <a:xfrm>
            <a:off x="6629400" y="60960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8" name="Google Shape;1308;p36"/>
          <p:cNvSpPr txBox="1"/>
          <p:nvPr/>
        </p:nvSpPr>
        <p:spPr>
          <a:xfrm>
            <a:off x="4876800" y="60960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9"/>
                                        </p:tgtEl>
                                        <p:attrNameLst>
                                          <p:attrName>style.visibility</p:attrName>
                                        </p:attrNameLst>
                                      </p:cBhvr>
                                      <p:to>
                                        <p:strVal val="visible"/>
                                      </p:to>
                                    </p:set>
                                    <p:anim calcmode="lin" valueType="num">
                                      <p:cBhvr additive="base">
                                        <p:cTn dur="500"/>
                                        <p:tgtEl>
                                          <p:spTgt spid="12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0"/>
                                        </p:tgtEl>
                                        <p:attrNameLst>
                                          <p:attrName>style.visibility</p:attrName>
                                        </p:attrNameLst>
                                      </p:cBhvr>
                                      <p:to>
                                        <p:strVal val="visible"/>
                                      </p:to>
                                    </p:set>
                                    <p:anim calcmode="lin" valueType="num">
                                      <p:cBhvr additive="base">
                                        <p:cTn dur="500"/>
                                        <p:tgtEl>
                                          <p:spTgt spid="12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1"/>
                                        </p:tgtEl>
                                        <p:attrNameLst>
                                          <p:attrName>style.visibility</p:attrName>
                                        </p:attrNameLst>
                                      </p:cBhvr>
                                      <p:to>
                                        <p:strVal val="visible"/>
                                      </p:to>
                                    </p:set>
                                    <p:anim calcmode="lin" valueType="num">
                                      <p:cBhvr additive="base">
                                        <p:cTn dur="500"/>
                                        <p:tgtEl>
                                          <p:spTgt spid="12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2"/>
                                        </p:tgtEl>
                                        <p:attrNameLst>
                                          <p:attrName>style.visibility</p:attrName>
                                        </p:attrNameLst>
                                      </p:cBhvr>
                                      <p:to>
                                        <p:strVal val="visible"/>
                                      </p:to>
                                    </p:set>
                                    <p:anim calcmode="lin" valueType="num">
                                      <p:cBhvr additive="base">
                                        <p:cTn dur="500"/>
                                        <p:tgtEl>
                                          <p:spTgt spid="12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3"/>
                                        </p:tgtEl>
                                        <p:attrNameLst>
                                          <p:attrName>style.visibility</p:attrName>
                                        </p:attrNameLst>
                                      </p:cBhvr>
                                      <p:to>
                                        <p:strVal val="visible"/>
                                      </p:to>
                                    </p:set>
                                    <p:anim calcmode="lin" valueType="num">
                                      <p:cBhvr additive="base">
                                        <p:cTn dur="500"/>
                                        <p:tgtEl>
                                          <p:spTgt spid="12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4"/>
                                        </p:tgtEl>
                                        <p:attrNameLst>
                                          <p:attrName>style.visibility</p:attrName>
                                        </p:attrNameLst>
                                      </p:cBhvr>
                                      <p:to>
                                        <p:strVal val="visible"/>
                                      </p:to>
                                    </p:set>
                                    <p:anim calcmode="lin" valueType="num">
                                      <p:cBhvr additive="base">
                                        <p:cTn dur="500"/>
                                        <p:tgtEl>
                                          <p:spTgt spid="12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5"/>
                                        </p:tgtEl>
                                        <p:attrNameLst>
                                          <p:attrName>style.visibility</p:attrName>
                                        </p:attrNameLst>
                                      </p:cBhvr>
                                      <p:to>
                                        <p:strVal val="visible"/>
                                      </p:to>
                                    </p:set>
                                    <p:anim calcmode="lin" valueType="num">
                                      <p:cBhvr additive="base">
                                        <p:cTn dur="500"/>
                                        <p:tgtEl>
                                          <p:spTgt spid="12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6"/>
                                        </p:tgtEl>
                                        <p:attrNameLst>
                                          <p:attrName>style.visibility</p:attrName>
                                        </p:attrNameLst>
                                      </p:cBhvr>
                                      <p:to>
                                        <p:strVal val="visible"/>
                                      </p:to>
                                    </p:set>
                                    <p:anim calcmode="lin" valueType="num">
                                      <p:cBhvr additive="base">
                                        <p:cTn dur="500"/>
                                        <p:tgtEl>
                                          <p:spTgt spid="12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7"/>
                                        </p:tgtEl>
                                        <p:attrNameLst>
                                          <p:attrName>style.visibility</p:attrName>
                                        </p:attrNameLst>
                                      </p:cBhvr>
                                      <p:to>
                                        <p:strVal val="visible"/>
                                      </p:to>
                                    </p:set>
                                    <p:anim calcmode="lin" valueType="num">
                                      <p:cBhvr additive="base">
                                        <p:cTn dur="500"/>
                                        <p:tgtEl>
                                          <p:spTgt spid="12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8"/>
                                        </p:tgtEl>
                                        <p:attrNameLst>
                                          <p:attrName>style.visibility</p:attrName>
                                        </p:attrNameLst>
                                      </p:cBhvr>
                                      <p:to>
                                        <p:strVal val="visible"/>
                                      </p:to>
                                    </p:set>
                                    <p:anim calcmode="lin" valueType="num">
                                      <p:cBhvr additive="base">
                                        <p:cTn dur="500"/>
                                        <p:tgtEl>
                                          <p:spTgt spid="12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9"/>
                                        </p:tgtEl>
                                        <p:attrNameLst>
                                          <p:attrName>style.visibility</p:attrName>
                                        </p:attrNameLst>
                                      </p:cBhvr>
                                      <p:to>
                                        <p:strVal val="visible"/>
                                      </p:to>
                                    </p:set>
                                    <p:anim calcmode="lin" valueType="num">
                                      <p:cBhvr additive="base">
                                        <p:cTn dur="500"/>
                                        <p:tgtEl>
                                          <p:spTgt spid="12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0"/>
                                        </p:tgtEl>
                                        <p:attrNameLst>
                                          <p:attrName>style.visibility</p:attrName>
                                        </p:attrNameLst>
                                      </p:cBhvr>
                                      <p:to>
                                        <p:strVal val="visible"/>
                                      </p:to>
                                    </p:set>
                                    <p:anim calcmode="lin" valueType="num">
                                      <p:cBhvr additive="base">
                                        <p:cTn dur="500"/>
                                        <p:tgtEl>
                                          <p:spTgt spid="13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1"/>
                                        </p:tgtEl>
                                        <p:attrNameLst>
                                          <p:attrName>style.visibility</p:attrName>
                                        </p:attrNameLst>
                                      </p:cBhvr>
                                      <p:to>
                                        <p:strVal val="visible"/>
                                      </p:to>
                                    </p:set>
                                    <p:anim calcmode="lin" valueType="num">
                                      <p:cBhvr additive="base">
                                        <p:cTn dur="500"/>
                                        <p:tgtEl>
                                          <p:spTgt spid="13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2"/>
                                        </p:tgtEl>
                                        <p:attrNameLst>
                                          <p:attrName>style.visibility</p:attrName>
                                        </p:attrNameLst>
                                      </p:cBhvr>
                                      <p:to>
                                        <p:strVal val="visible"/>
                                      </p:to>
                                    </p:set>
                                    <p:anim calcmode="lin" valueType="num">
                                      <p:cBhvr additive="base">
                                        <p:cTn dur="500"/>
                                        <p:tgtEl>
                                          <p:spTgt spid="130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3"/>
                                        </p:tgtEl>
                                        <p:attrNameLst>
                                          <p:attrName>style.visibility</p:attrName>
                                        </p:attrNameLst>
                                      </p:cBhvr>
                                      <p:to>
                                        <p:strVal val="visible"/>
                                      </p:to>
                                    </p:set>
                                    <p:anim calcmode="lin" valueType="num">
                                      <p:cBhvr additive="base">
                                        <p:cTn dur="500"/>
                                        <p:tgtEl>
                                          <p:spTgt spid="13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4"/>
                                        </p:tgtEl>
                                        <p:attrNameLst>
                                          <p:attrName>style.visibility</p:attrName>
                                        </p:attrNameLst>
                                      </p:cBhvr>
                                      <p:to>
                                        <p:strVal val="visible"/>
                                      </p:to>
                                    </p:set>
                                    <p:anim calcmode="lin" valueType="num">
                                      <p:cBhvr additive="base">
                                        <p:cTn dur="500"/>
                                        <p:tgtEl>
                                          <p:spTgt spid="13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5"/>
                                        </p:tgtEl>
                                        <p:attrNameLst>
                                          <p:attrName>style.visibility</p:attrName>
                                        </p:attrNameLst>
                                      </p:cBhvr>
                                      <p:to>
                                        <p:strVal val="visible"/>
                                      </p:to>
                                    </p:set>
                                    <p:anim calcmode="lin" valueType="num">
                                      <p:cBhvr additive="base">
                                        <p:cTn dur="500"/>
                                        <p:tgtEl>
                                          <p:spTgt spid="13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6"/>
                                        </p:tgtEl>
                                        <p:attrNameLst>
                                          <p:attrName>style.visibility</p:attrName>
                                        </p:attrNameLst>
                                      </p:cBhvr>
                                      <p:to>
                                        <p:strVal val="visible"/>
                                      </p:to>
                                    </p:set>
                                    <p:anim calcmode="lin" valueType="num">
                                      <p:cBhvr additive="base">
                                        <p:cTn dur="500"/>
                                        <p:tgtEl>
                                          <p:spTgt spid="13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8"/>
                                        </p:tgtEl>
                                        <p:attrNameLst>
                                          <p:attrName>style.visibility</p:attrName>
                                        </p:attrNameLst>
                                      </p:cBhvr>
                                      <p:to>
                                        <p:strVal val="visible"/>
                                      </p:to>
                                    </p:set>
                                    <p:anim calcmode="lin" valueType="num">
                                      <p:cBhvr additive="base">
                                        <p:cTn dur="500"/>
                                        <p:tgtEl>
                                          <p:spTgt spid="13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7"/>
                                        </p:tgtEl>
                                        <p:attrNameLst>
                                          <p:attrName>style.visibility</p:attrName>
                                        </p:attrNameLst>
                                      </p:cBhvr>
                                      <p:to>
                                        <p:strVal val="visible"/>
                                      </p:to>
                                    </p:set>
                                    <p:anim calcmode="lin" valueType="num">
                                      <p:cBhvr additive="base">
                                        <p:cTn dur="500"/>
                                        <p:tgtEl>
                                          <p:spTgt spid="13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37"/>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1315" name="Google Shape;1315;p37"/>
          <p:cNvPicPr preferRelativeResize="0"/>
          <p:nvPr/>
        </p:nvPicPr>
        <p:blipFill rotWithShape="1">
          <a:blip r:embed="rId3">
            <a:alphaModFix/>
          </a:blip>
          <a:srcRect b="0" l="0" r="0" t="0"/>
          <a:stretch/>
        </p:blipFill>
        <p:spPr>
          <a:xfrm>
            <a:off x="457200" y="3303588"/>
            <a:ext cx="8345488" cy="2563812"/>
          </a:xfrm>
          <a:prstGeom prst="rect">
            <a:avLst/>
          </a:prstGeom>
          <a:noFill/>
          <a:ln>
            <a:noFill/>
          </a:ln>
        </p:spPr>
      </p:pic>
      <p:sp>
        <p:nvSpPr>
          <p:cNvPr id="1316" name="Google Shape;1316;p37"/>
          <p:cNvSpPr txBox="1"/>
          <p:nvPr/>
        </p:nvSpPr>
        <p:spPr>
          <a:xfrm>
            <a:off x="261938" y="1262033"/>
            <a:ext cx="5715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case 1</a:t>
            </a:r>
            <a:endParaRPr b="0" i="0" sz="1400" u="none" cap="none" strike="noStrike">
              <a:solidFill>
                <a:srgbClr val="000000"/>
              </a:solidFill>
              <a:latin typeface="Arial"/>
              <a:ea typeface="Arial"/>
              <a:cs typeface="Arial"/>
              <a:sym typeface="Arial"/>
            </a:endParaRPr>
          </a:p>
        </p:txBody>
      </p:sp>
      <p:pic>
        <p:nvPicPr>
          <p:cNvPr id="1317" name="Google Shape;1317;p37"/>
          <p:cNvPicPr preferRelativeResize="0"/>
          <p:nvPr/>
        </p:nvPicPr>
        <p:blipFill rotWithShape="1">
          <a:blip r:embed="rId4">
            <a:alphaModFix/>
          </a:blip>
          <a:srcRect b="0" l="0" r="0" t="0"/>
          <a:stretch/>
        </p:blipFill>
        <p:spPr>
          <a:xfrm>
            <a:off x="1143000" y="3733800"/>
            <a:ext cx="1352550" cy="292100"/>
          </a:xfrm>
          <a:prstGeom prst="rect">
            <a:avLst/>
          </a:prstGeom>
          <a:noFill/>
          <a:ln>
            <a:noFill/>
          </a:ln>
        </p:spPr>
      </p:pic>
      <p:pic>
        <p:nvPicPr>
          <p:cNvPr id="1318" name="Google Shape;1318;p37"/>
          <p:cNvPicPr preferRelativeResize="0"/>
          <p:nvPr/>
        </p:nvPicPr>
        <p:blipFill rotWithShape="1">
          <a:blip r:embed="rId5">
            <a:alphaModFix/>
          </a:blip>
          <a:srcRect b="0" l="0" r="0" t="0"/>
          <a:stretch/>
        </p:blipFill>
        <p:spPr>
          <a:xfrm>
            <a:off x="2667000" y="4191000"/>
            <a:ext cx="384175" cy="835025"/>
          </a:xfrm>
          <a:prstGeom prst="rect">
            <a:avLst/>
          </a:prstGeom>
          <a:noFill/>
          <a:ln>
            <a:noFill/>
          </a:ln>
        </p:spPr>
      </p:pic>
      <p:pic>
        <p:nvPicPr>
          <p:cNvPr id="1319" name="Google Shape;1319;p37"/>
          <p:cNvPicPr preferRelativeResize="0"/>
          <p:nvPr/>
        </p:nvPicPr>
        <p:blipFill rotWithShape="1">
          <a:blip r:embed="rId6">
            <a:alphaModFix/>
          </a:blip>
          <a:srcRect b="0" l="0" r="0" t="0"/>
          <a:stretch/>
        </p:blipFill>
        <p:spPr>
          <a:xfrm>
            <a:off x="3119438" y="4343400"/>
            <a:ext cx="2824162" cy="681038"/>
          </a:xfrm>
          <a:prstGeom prst="rect">
            <a:avLst/>
          </a:prstGeom>
          <a:noFill/>
          <a:ln>
            <a:noFill/>
          </a:ln>
        </p:spPr>
      </p:pic>
      <p:pic>
        <p:nvPicPr>
          <p:cNvPr id="1320" name="Google Shape;1320;p37"/>
          <p:cNvPicPr preferRelativeResize="0"/>
          <p:nvPr/>
        </p:nvPicPr>
        <p:blipFill rotWithShape="1">
          <a:blip r:embed="rId7">
            <a:alphaModFix/>
          </a:blip>
          <a:srcRect b="0" l="0" r="0" t="0"/>
          <a:stretch/>
        </p:blipFill>
        <p:spPr>
          <a:xfrm>
            <a:off x="6172200" y="4191000"/>
            <a:ext cx="374650" cy="895350"/>
          </a:xfrm>
          <a:prstGeom prst="rect">
            <a:avLst/>
          </a:prstGeom>
          <a:noFill/>
          <a:ln>
            <a:noFill/>
          </a:ln>
        </p:spPr>
      </p:pic>
      <p:pic>
        <p:nvPicPr>
          <p:cNvPr id="1321" name="Google Shape;1321;p37"/>
          <p:cNvPicPr preferRelativeResize="0"/>
          <p:nvPr/>
        </p:nvPicPr>
        <p:blipFill rotWithShape="1">
          <a:blip r:embed="rId8">
            <a:alphaModFix/>
          </a:blip>
          <a:srcRect b="0" l="0" r="0" t="0"/>
          <a:stretch/>
        </p:blipFill>
        <p:spPr>
          <a:xfrm>
            <a:off x="6659563" y="3619500"/>
            <a:ext cx="1417637" cy="723900"/>
          </a:xfrm>
          <a:prstGeom prst="rect">
            <a:avLst/>
          </a:prstGeom>
          <a:noFill/>
          <a:ln>
            <a:noFill/>
          </a:ln>
        </p:spPr>
      </p:pic>
      <p:sp>
        <p:nvSpPr>
          <p:cNvPr id="1322" name="Google Shape;1322;p37"/>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Web-Based E-Mail</a:t>
            </a:r>
            <a:endParaRPr b="0" i="0" sz="4400" u="none" cap="none" strike="noStrike">
              <a:solidFill>
                <a:srgbClr val="000099"/>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2000"/>
                                        <p:tgtEl>
                                          <p:spTgt spid="1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2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2000"/>
                                        <p:tgtEl>
                                          <p:spTgt spid="1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gtEl>
                                        <p:attrNameLst>
                                          <p:attrName>style.visibility</p:attrName>
                                        </p:attrNameLst>
                                      </p:cBhvr>
                                      <p:to>
                                        <p:strVal val="visible"/>
                                      </p:to>
                                    </p:set>
                                    <p:animEffect filter="fade" transition="in">
                                      <p:cBhvr>
                                        <p:cTn dur="2000"/>
                                        <p:tgtEl>
                                          <p:spTgt spid="1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1"/>
                                        </p:tgtEl>
                                        <p:attrNameLst>
                                          <p:attrName>style.visibility</p:attrName>
                                        </p:attrNameLst>
                                      </p:cBhvr>
                                      <p:to>
                                        <p:strVal val="visible"/>
                                      </p:to>
                                    </p:set>
                                    <p:animEffect filter="fade" transition="in">
                                      <p:cBhvr>
                                        <p:cTn dur="1000"/>
                                        <p:tgtEl>
                                          <p:spTgt spid="1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38"/>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1329" name="Google Shape;1329;p38"/>
          <p:cNvSpPr txBox="1"/>
          <p:nvPr/>
        </p:nvSpPr>
        <p:spPr>
          <a:xfrm>
            <a:off x="447675" y="1120775"/>
            <a:ext cx="5715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case 2</a:t>
            </a:r>
            <a:endParaRPr b="0" i="0" sz="1400" u="none" cap="none" strike="noStrike">
              <a:solidFill>
                <a:srgbClr val="000000"/>
              </a:solidFill>
              <a:latin typeface="Arial"/>
              <a:ea typeface="Arial"/>
              <a:cs typeface="Arial"/>
              <a:sym typeface="Arial"/>
            </a:endParaRPr>
          </a:p>
        </p:txBody>
      </p:sp>
      <p:pic>
        <p:nvPicPr>
          <p:cNvPr id="1330" name="Google Shape;1330;p38"/>
          <p:cNvPicPr preferRelativeResize="0"/>
          <p:nvPr/>
        </p:nvPicPr>
        <p:blipFill rotWithShape="1">
          <a:blip r:embed="rId3">
            <a:alphaModFix/>
          </a:blip>
          <a:srcRect b="0" l="0" r="0" t="0"/>
          <a:stretch/>
        </p:blipFill>
        <p:spPr>
          <a:xfrm>
            <a:off x="447675" y="3013075"/>
            <a:ext cx="8391525" cy="2549525"/>
          </a:xfrm>
          <a:prstGeom prst="rect">
            <a:avLst/>
          </a:prstGeom>
          <a:noFill/>
          <a:ln>
            <a:noFill/>
          </a:ln>
        </p:spPr>
      </p:pic>
      <p:pic>
        <p:nvPicPr>
          <p:cNvPr id="1331" name="Google Shape;1331;p38"/>
          <p:cNvPicPr preferRelativeResize="0"/>
          <p:nvPr/>
        </p:nvPicPr>
        <p:blipFill rotWithShape="1">
          <a:blip r:embed="rId4">
            <a:alphaModFix/>
          </a:blip>
          <a:srcRect b="0" l="0" r="0" t="0"/>
          <a:stretch/>
        </p:blipFill>
        <p:spPr>
          <a:xfrm>
            <a:off x="1066800" y="2905125"/>
            <a:ext cx="1554163" cy="679450"/>
          </a:xfrm>
          <a:prstGeom prst="rect">
            <a:avLst/>
          </a:prstGeom>
          <a:noFill/>
          <a:ln>
            <a:noFill/>
          </a:ln>
        </p:spPr>
      </p:pic>
      <p:pic>
        <p:nvPicPr>
          <p:cNvPr id="1332" name="Google Shape;1332;p38"/>
          <p:cNvPicPr preferRelativeResize="0"/>
          <p:nvPr/>
        </p:nvPicPr>
        <p:blipFill rotWithShape="1">
          <a:blip r:embed="rId4">
            <a:alphaModFix/>
          </a:blip>
          <a:srcRect b="0" l="0" r="0" t="0"/>
          <a:stretch/>
        </p:blipFill>
        <p:spPr>
          <a:xfrm>
            <a:off x="6705600" y="2895600"/>
            <a:ext cx="1554163" cy="679450"/>
          </a:xfrm>
          <a:prstGeom prst="rect">
            <a:avLst/>
          </a:prstGeom>
          <a:noFill/>
          <a:ln>
            <a:noFill/>
          </a:ln>
        </p:spPr>
      </p:pic>
      <p:pic>
        <p:nvPicPr>
          <p:cNvPr id="1333" name="Google Shape;1333;p38"/>
          <p:cNvPicPr preferRelativeResize="0"/>
          <p:nvPr/>
        </p:nvPicPr>
        <p:blipFill rotWithShape="1">
          <a:blip r:embed="rId5">
            <a:alphaModFix/>
          </a:blip>
          <a:srcRect b="0" l="0" r="0" t="0"/>
          <a:stretch/>
        </p:blipFill>
        <p:spPr>
          <a:xfrm>
            <a:off x="2801938" y="3759200"/>
            <a:ext cx="246062" cy="889000"/>
          </a:xfrm>
          <a:prstGeom prst="rect">
            <a:avLst/>
          </a:prstGeom>
          <a:noFill/>
          <a:ln>
            <a:noFill/>
          </a:ln>
        </p:spPr>
      </p:pic>
      <p:pic>
        <p:nvPicPr>
          <p:cNvPr id="1334" name="Google Shape;1334;p38"/>
          <p:cNvPicPr preferRelativeResize="0"/>
          <p:nvPr/>
        </p:nvPicPr>
        <p:blipFill rotWithShape="1">
          <a:blip r:embed="rId6">
            <a:alphaModFix/>
          </a:blip>
          <a:srcRect b="0" l="0" r="0" t="0"/>
          <a:stretch/>
        </p:blipFill>
        <p:spPr>
          <a:xfrm>
            <a:off x="3119438" y="4067175"/>
            <a:ext cx="2824162" cy="504825"/>
          </a:xfrm>
          <a:prstGeom prst="rect">
            <a:avLst/>
          </a:prstGeom>
          <a:noFill/>
          <a:ln>
            <a:noFill/>
          </a:ln>
        </p:spPr>
      </p:pic>
      <p:pic>
        <p:nvPicPr>
          <p:cNvPr id="1335" name="Google Shape;1335;p38"/>
          <p:cNvPicPr preferRelativeResize="0"/>
          <p:nvPr/>
        </p:nvPicPr>
        <p:blipFill rotWithShape="1">
          <a:blip r:embed="rId7">
            <a:alphaModFix/>
          </a:blip>
          <a:srcRect b="0" l="0" r="0" t="0"/>
          <a:stretch/>
        </p:blipFill>
        <p:spPr>
          <a:xfrm>
            <a:off x="6248400" y="3733800"/>
            <a:ext cx="246063" cy="889000"/>
          </a:xfrm>
          <a:prstGeom prst="rect">
            <a:avLst/>
          </a:prstGeom>
          <a:noFill/>
          <a:ln>
            <a:noFill/>
          </a:ln>
        </p:spPr>
      </p:pic>
      <p:sp>
        <p:nvSpPr>
          <p:cNvPr id="1336" name="Google Shape;1336;p38"/>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Web-Based E-Mail</a:t>
            </a:r>
            <a:endParaRPr b="0" i="0" sz="4400" u="none" cap="none" strike="noStrike">
              <a:solidFill>
                <a:srgbClr val="000099"/>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1000"/>
                                        <p:tgtEl>
                                          <p:spTgt spid="1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2000"/>
                                        <p:tgtEl>
                                          <p:spTgt spid="1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2000"/>
                                        <p:tgtEl>
                                          <p:spTgt spid="1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5"/>
                                        </p:tgtEl>
                                        <p:attrNameLst>
                                          <p:attrName>style.visibility</p:attrName>
                                        </p:attrNameLst>
                                      </p:cBhvr>
                                      <p:to>
                                        <p:strVal val="visible"/>
                                      </p:to>
                                    </p:set>
                                    <p:animEffect filter="fade" transition="in">
                                      <p:cBhvr>
                                        <p:cTn dur="2000"/>
                                        <p:tgtEl>
                                          <p:spTgt spid="1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1000"/>
                                        <p:tgtEl>
                                          <p:spTgt spid="1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39"/>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42" name="Google Shape;1342;p39"/>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Web-Based E-Mail</a:t>
            </a:r>
            <a:endParaRPr/>
          </a:p>
        </p:txBody>
      </p:sp>
      <p:sp>
        <p:nvSpPr>
          <p:cNvPr id="1343" name="Google Shape;1343;p39"/>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a:t>User agent is an ordinary Web browser</a:t>
            </a:r>
            <a:endParaRPr/>
          </a:p>
          <a:p>
            <a:pPr indent="-285750" lvl="1" marL="742950" rtl="0" algn="l">
              <a:lnSpc>
                <a:spcPct val="90000"/>
              </a:lnSpc>
              <a:spcBef>
                <a:spcPts val="480"/>
              </a:spcBef>
              <a:spcAft>
                <a:spcPts val="0"/>
              </a:spcAft>
              <a:buSzPts val="2400"/>
              <a:buChar char="▪"/>
            </a:pPr>
            <a:r>
              <a:rPr lang="en-US"/>
              <a:t>User communicates with server via HTTP</a:t>
            </a:r>
            <a:endParaRPr/>
          </a:p>
          <a:p>
            <a:pPr indent="-285750" lvl="1" marL="742950" rtl="0" algn="l">
              <a:lnSpc>
                <a:spcPct val="90000"/>
              </a:lnSpc>
              <a:spcBef>
                <a:spcPts val="480"/>
              </a:spcBef>
              <a:spcAft>
                <a:spcPts val="0"/>
              </a:spcAft>
              <a:buSzPts val="2400"/>
              <a:buChar char="▪"/>
            </a:pPr>
            <a:r>
              <a:rPr lang="en-US"/>
              <a:t>E.g., Gmail, Yahoo mail, and Hotmail</a:t>
            </a:r>
            <a:endParaRPr/>
          </a:p>
          <a:p>
            <a:pPr indent="-342900" lvl="0" marL="342900" rtl="0" algn="l">
              <a:lnSpc>
                <a:spcPct val="90000"/>
              </a:lnSpc>
              <a:spcBef>
                <a:spcPts val="560"/>
              </a:spcBef>
              <a:spcAft>
                <a:spcPts val="0"/>
              </a:spcAft>
              <a:buSzPts val="1820"/>
              <a:buChar char="❖"/>
            </a:pPr>
            <a:r>
              <a:rPr lang="en-US"/>
              <a:t>Reading e-mail</a:t>
            </a:r>
            <a:endParaRPr/>
          </a:p>
          <a:p>
            <a:pPr indent="-285750" lvl="1" marL="742950" rtl="0" algn="l">
              <a:lnSpc>
                <a:spcPct val="90000"/>
              </a:lnSpc>
              <a:spcBef>
                <a:spcPts val="480"/>
              </a:spcBef>
              <a:spcAft>
                <a:spcPts val="0"/>
              </a:spcAft>
              <a:buSzPts val="2400"/>
              <a:buChar char="▪"/>
            </a:pPr>
            <a:r>
              <a:rPr lang="en-US"/>
              <a:t>Web pages display the contents of folders</a:t>
            </a:r>
            <a:endParaRPr/>
          </a:p>
          <a:p>
            <a:pPr indent="-285750" lvl="1" marL="742950" rtl="0" algn="l">
              <a:lnSpc>
                <a:spcPct val="90000"/>
              </a:lnSpc>
              <a:spcBef>
                <a:spcPts val="480"/>
              </a:spcBef>
              <a:spcAft>
                <a:spcPts val="0"/>
              </a:spcAft>
              <a:buSzPts val="2400"/>
              <a:buChar char="▪"/>
            </a:pPr>
            <a:r>
              <a:rPr lang="en-US"/>
              <a:t>… and allow users to download and view messages</a:t>
            </a:r>
            <a:endParaRPr/>
          </a:p>
          <a:p>
            <a:pPr indent="-285750" lvl="1" marL="742950" rtl="0" algn="l">
              <a:lnSpc>
                <a:spcPct val="90000"/>
              </a:lnSpc>
              <a:spcBef>
                <a:spcPts val="480"/>
              </a:spcBef>
              <a:spcAft>
                <a:spcPts val="0"/>
              </a:spcAft>
              <a:buSzPts val="2400"/>
              <a:buChar char="▪"/>
            </a:pPr>
            <a:r>
              <a:rPr lang="en-US"/>
              <a:t>“GET” request to retrieve the various Web pages</a:t>
            </a:r>
            <a:endParaRPr/>
          </a:p>
          <a:p>
            <a:pPr indent="-342900" lvl="0" marL="342900" rtl="0" algn="l">
              <a:lnSpc>
                <a:spcPct val="90000"/>
              </a:lnSpc>
              <a:spcBef>
                <a:spcPts val="560"/>
              </a:spcBef>
              <a:spcAft>
                <a:spcPts val="0"/>
              </a:spcAft>
              <a:buSzPts val="1820"/>
              <a:buChar char="❖"/>
            </a:pPr>
            <a:r>
              <a:rPr lang="en-US"/>
              <a:t>Sending e-mail</a:t>
            </a:r>
            <a:endParaRPr/>
          </a:p>
          <a:p>
            <a:pPr indent="-285750" lvl="1" marL="742950" rtl="0" algn="l">
              <a:lnSpc>
                <a:spcPct val="90000"/>
              </a:lnSpc>
              <a:spcBef>
                <a:spcPts val="480"/>
              </a:spcBef>
              <a:spcAft>
                <a:spcPts val="0"/>
              </a:spcAft>
              <a:buSzPts val="2400"/>
              <a:buChar char="▪"/>
            </a:pPr>
            <a:r>
              <a:rPr lang="en-US"/>
              <a:t>User types the text into a form and submits to the server</a:t>
            </a:r>
            <a:endParaRPr/>
          </a:p>
          <a:p>
            <a:pPr indent="-285750" lvl="1" marL="742950" rtl="0" algn="l">
              <a:lnSpc>
                <a:spcPct val="90000"/>
              </a:lnSpc>
              <a:spcBef>
                <a:spcPts val="480"/>
              </a:spcBef>
              <a:spcAft>
                <a:spcPts val="0"/>
              </a:spcAft>
              <a:buSzPts val="2400"/>
              <a:buChar char="▪"/>
            </a:pPr>
            <a:r>
              <a:rPr lang="en-US"/>
              <a:t>“POST” request to upload data to the server</a:t>
            </a:r>
            <a:endParaRPr/>
          </a:p>
          <a:p>
            <a:pPr indent="-285750" lvl="1" marL="742950" rtl="0" algn="l">
              <a:lnSpc>
                <a:spcPct val="90000"/>
              </a:lnSpc>
              <a:spcBef>
                <a:spcPts val="480"/>
              </a:spcBef>
              <a:spcAft>
                <a:spcPts val="0"/>
              </a:spcAft>
              <a:buSzPts val="2400"/>
              <a:buChar char="▪"/>
            </a:pPr>
            <a:r>
              <a:rPr lang="en-US"/>
              <a:t>Server uses SMTP to deliver message to other servers</a:t>
            </a:r>
            <a:endParaRPr/>
          </a:p>
          <a:p>
            <a:pPr indent="-342900" lvl="0" marL="342900" rtl="0" algn="l">
              <a:lnSpc>
                <a:spcPct val="90000"/>
              </a:lnSpc>
              <a:spcBef>
                <a:spcPts val="560"/>
              </a:spcBef>
              <a:spcAft>
                <a:spcPts val="0"/>
              </a:spcAft>
              <a:buSzPts val="1820"/>
              <a:buChar char="❖"/>
            </a:pPr>
            <a:r>
              <a:rPr lang="en-US"/>
              <a:t>Easy to send anonymous e-mail (e.g., spam)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4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49" name="Google Shape;1349;p40"/>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Web-Mail</a:t>
            </a:r>
            <a:endParaRPr/>
          </a:p>
        </p:txBody>
      </p:sp>
      <p:sp>
        <p:nvSpPr>
          <p:cNvPr id="1350" name="Google Shape;1350;p40"/>
          <p:cNvSpPr txBox="1"/>
          <p:nvPr>
            <p:ph idx="1" type="body"/>
          </p:nvPr>
        </p:nvSpPr>
        <p:spPr>
          <a:xfrm>
            <a:off x="457200" y="13716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560"/>
              <a:buChar char="❖"/>
            </a:pPr>
            <a:r>
              <a:rPr lang="en-US" sz="2400"/>
              <a:t>Some Web sites, for example, Hotmail and Yahoo, provide e-mail service. </a:t>
            </a:r>
            <a:endParaRPr/>
          </a:p>
          <a:p>
            <a:pPr indent="-342900" lvl="0" marL="342900" rtl="0" algn="l">
              <a:lnSpc>
                <a:spcPct val="80000"/>
              </a:lnSpc>
              <a:spcBef>
                <a:spcPts val="480"/>
              </a:spcBef>
              <a:spcAft>
                <a:spcPts val="0"/>
              </a:spcAft>
              <a:buSzPts val="1560"/>
              <a:buChar char="❖"/>
            </a:pPr>
            <a:r>
              <a:rPr lang="en-US" sz="2400"/>
              <a:t>They have normal message transfer agents listening to port 25 for incoming SMTP connections. </a:t>
            </a:r>
            <a:endParaRPr/>
          </a:p>
          <a:p>
            <a:pPr indent="-342900" lvl="0" marL="342900" rtl="0" algn="l">
              <a:lnSpc>
                <a:spcPct val="80000"/>
              </a:lnSpc>
              <a:spcBef>
                <a:spcPts val="480"/>
              </a:spcBef>
              <a:spcAft>
                <a:spcPts val="0"/>
              </a:spcAft>
              <a:buSzPts val="1560"/>
              <a:buChar char="❖"/>
            </a:pPr>
            <a:r>
              <a:rPr lang="en-US" sz="2400"/>
              <a:t>To contact, say, Hotmail, you need to establish a TCP connection over which SMTP commands can be sent in the usual way. </a:t>
            </a:r>
            <a:endParaRPr/>
          </a:p>
          <a:p>
            <a:pPr indent="-342900" lvl="0" marL="342900" rtl="0" algn="l">
              <a:lnSpc>
                <a:spcPct val="80000"/>
              </a:lnSpc>
              <a:spcBef>
                <a:spcPts val="480"/>
              </a:spcBef>
              <a:spcAft>
                <a:spcPts val="0"/>
              </a:spcAft>
              <a:buSzPts val="1560"/>
              <a:buChar char="❖"/>
            </a:pPr>
            <a:r>
              <a:rPr lang="en-US" sz="2400"/>
              <a:t>When the user goes to the e-mail Web page, a form is presented in which the user is asked for a login name and password. </a:t>
            </a:r>
            <a:endParaRPr/>
          </a:p>
          <a:p>
            <a:pPr indent="-342900" lvl="0" marL="342900" rtl="0" algn="l">
              <a:lnSpc>
                <a:spcPct val="80000"/>
              </a:lnSpc>
              <a:spcBef>
                <a:spcPts val="480"/>
              </a:spcBef>
              <a:spcAft>
                <a:spcPts val="0"/>
              </a:spcAft>
              <a:buSzPts val="1560"/>
              <a:buChar char="❖"/>
            </a:pPr>
            <a:r>
              <a:rPr lang="en-US" sz="2400"/>
              <a:t>When the user clicks on Sign In, the login name and password are sent to the server, which then validates them. </a:t>
            </a:r>
            <a:endParaRPr/>
          </a:p>
          <a:p>
            <a:pPr indent="-342900" lvl="0" marL="342900" rtl="0" algn="l">
              <a:lnSpc>
                <a:spcPct val="80000"/>
              </a:lnSpc>
              <a:spcBef>
                <a:spcPts val="480"/>
              </a:spcBef>
              <a:spcAft>
                <a:spcPts val="0"/>
              </a:spcAft>
              <a:buSzPts val="1560"/>
              <a:buChar char="❖"/>
            </a:pPr>
            <a:r>
              <a:rPr lang="en-US" sz="2400"/>
              <a:t>The server finds the user's mailbox and builds a listing page, only formatted as a Web page in HTML. The Web page is then sent to the browser for display.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41"/>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56" name="Google Shape;1356;p4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Message - again</a:t>
            </a:r>
            <a:endParaRPr/>
          </a:p>
        </p:txBody>
      </p:sp>
      <p:sp>
        <p:nvSpPr>
          <p:cNvPr id="1357" name="Google Shape;1357;p41"/>
          <p:cNvSpPr txBox="1"/>
          <p:nvPr>
            <p:ph idx="1" type="body"/>
          </p:nvPr>
        </p:nvSpPr>
        <p:spPr>
          <a:xfrm>
            <a:off x="457200" y="1219200"/>
            <a:ext cx="8458200" cy="53213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E-mail messages have two parts</a:t>
            </a:r>
            <a:endParaRPr/>
          </a:p>
          <a:p>
            <a:pPr indent="-285750" lvl="1" marL="742950" rtl="0" algn="l">
              <a:lnSpc>
                <a:spcPct val="85000"/>
              </a:lnSpc>
              <a:spcBef>
                <a:spcPts val="480"/>
              </a:spcBef>
              <a:spcAft>
                <a:spcPts val="0"/>
              </a:spcAft>
              <a:buSzPts val="2400"/>
              <a:buChar char="▪"/>
            </a:pPr>
            <a:r>
              <a:rPr lang="en-US"/>
              <a:t>A header, in 7-bit U.S. ASCII text</a:t>
            </a:r>
            <a:endParaRPr/>
          </a:p>
          <a:p>
            <a:pPr indent="-285750" lvl="1" marL="742950" rtl="0" algn="l">
              <a:lnSpc>
                <a:spcPct val="85000"/>
              </a:lnSpc>
              <a:spcBef>
                <a:spcPts val="480"/>
              </a:spcBef>
              <a:spcAft>
                <a:spcPts val="0"/>
              </a:spcAft>
              <a:buSzPts val="2400"/>
              <a:buChar char="▪"/>
            </a:pPr>
            <a:r>
              <a:rPr lang="en-US"/>
              <a:t>A body, also represented in 7-bit U.S. ASCII text</a:t>
            </a:r>
            <a:endParaRPr/>
          </a:p>
          <a:p>
            <a:pPr indent="-342900" lvl="0" marL="342900" rtl="0" algn="l">
              <a:lnSpc>
                <a:spcPct val="85000"/>
              </a:lnSpc>
              <a:spcBef>
                <a:spcPts val="560"/>
              </a:spcBef>
              <a:spcAft>
                <a:spcPts val="0"/>
              </a:spcAft>
              <a:buSzPts val="1820"/>
              <a:buChar char="❖"/>
            </a:pPr>
            <a:r>
              <a:rPr lang="en-US"/>
              <a:t>Header</a:t>
            </a:r>
            <a:endParaRPr/>
          </a:p>
          <a:p>
            <a:pPr indent="-285750" lvl="1" marL="742950" rtl="0" algn="l">
              <a:lnSpc>
                <a:spcPct val="85000"/>
              </a:lnSpc>
              <a:spcBef>
                <a:spcPts val="480"/>
              </a:spcBef>
              <a:spcAft>
                <a:spcPts val="0"/>
              </a:spcAft>
              <a:buSzPts val="2400"/>
              <a:buChar char="▪"/>
            </a:pPr>
            <a:r>
              <a:rPr lang="en-US"/>
              <a:t>Lines with “type: value”</a:t>
            </a:r>
            <a:endParaRPr/>
          </a:p>
          <a:p>
            <a:pPr indent="-285750" lvl="1" marL="742950" rtl="0" algn="l">
              <a:lnSpc>
                <a:spcPct val="85000"/>
              </a:lnSpc>
              <a:spcBef>
                <a:spcPts val="480"/>
              </a:spcBef>
              <a:spcAft>
                <a:spcPts val="0"/>
              </a:spcAft>
              <a:buSzPts val="2400"/>
              <a:buChar char="▪"/>
            </a:pPr>
            <a:r>
              <a:rPr lang="en-US"/>
              <a:t>“To: jrex@princeton.edu”</a:t>
            </a:r>
            <a:endParaRPr/>
          </a:p>
          <a:p>
            <a:pPr indent="-285750" lvl="1" marL="742950" rtl="0" algn="l">
              <a:lnSpc>
                <a:spcPct val="85000"/>
              </a:lnSpc>
              <a:spcBef>
                <a:spcPts val="480"/>
              </a:spcBef>
              <a:spcAft>
                <a:spcPts val="0"/>
              </a:spcAft>
              <a:buSzPts val="2400"/>
              <a:buChar char="▪"/>
            </a:pPr>
            <a:r>
              <a:rPr lang="en-US"/>
              <a:t>“Subject: Go Tigers!”</a:t>
            </a:r>
            <a:endParaRPr/>
          </a:p>
          <a:p>
            <a:pPr indent="-342900" lvl="0" marL="342900" rtl="0" algn="l">
              <a:lnSpc>
                <a:spcPct val="85000"/>
              </a:lnSpc>
              <a:spcBef>
                <a:spcPts val="560"/>
              </a:spcBef>
              <a:spcAft>
                <a:spcPts val="0"/>
              </a:spcAft>
              <a:buSzPts val="1820"/>
              <a:buChar char="❖"/>
            </a:pPr>
            <a:r>
              <a:rPr lang="en-US"/>
              <a:t>Body</a:t>
            </a:r>
            <a:endParaRPr/>
          </a:p>
          <a:p>
            <a:pPr indent="-285750" lvl="1" marL="742950" rtl="0" algn="l">
              <a:lnSpc>
                <a:spcPct val="85000"/>
              </a:lnSpc>
              <a:spcBef>
                <a:spcPts val="480"/>
              </a:spcBef>
              <a:spcAft>
                <a:spcPts val="0"/>
              </a:spcAft>
              <a:buSzPts val="2400"/>
              <a:buChar char="▪"/>
            </a:pPr>
            <a:r>
              <a:rPr lang="en-US"/>
              <a:t>The text message</a:t>
            </a:r>
            <a:endParaRPr/>
          </a:p>
          <a:p>
            <a:pPr indent="-285750" lvl="1" marL="742950" rtl="0" algn="l">
              <a:lnSpc>
                <a:spcPct val="85000"/>
              </a:lnSpc>
              <a:spcBef>
                <a:spcPts val="480"/>
              </a:spcBef>
              <a:spcAft>
                <a:spcPts val="0"/>
              </a:spcAft>
              <a:buSzPts val="2400"/>
              <a:buChar char="▪"/>
            </a:pPr>
            <a:r>
              <a:rPr lang="en-US"/>
              <a:t>No particular structure </a:t>
            </a:r>
            <a:br>
              <a:rPr lang="en-US"/>
            </a:br>
            <a:r>
              <a:rPr lang="en-US"/>
              <a:t>or meaning</a:t>
            </a:r>
            <a:endParaRPr/>
          </a:p>
        </p:txBody>
      </p:sp>
      <p:sp>
        <p:nvSpPr>
          <p:cNvPr id="1358" name="Google Shape;1358;p41"/>
          <p:cNvSpPr/>
          <p:nvPr/>
        </p:nvSpPr>
        <p:spPr>
          <a:xfrm>
            <a:off x="4953000" y="3263900"/>
            <a:ext cx="2832100" cy="431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omic Sans MS"/>
                <a:ea typeface="Comic Sans MS"/>
                <a:cs typeface="Comic Sans MS"/>
                <a:sym typeface="Comic Sans MS"/>
              </a:rPr>
              <a:t>header</a:t>
            </a:r>
            <a:endParaRPr b="0" i="0" sz="1400" u="none" cap="none" strike="noStrike">
              <a:solidFill>
                <a:srgbClr val="000000"/>
              </a:solidFill>
              <a:latin typeface="Arial"/>
              <a:ea typeface="Arial"/>
              <a:cs typeface="Arial"/>
              <a:sym typeface="Arial"/>
            </a:endParaRPr>
          </a:p>
        </p:txBody>
      </p:sp>
      <p:sp>
        <p:nvSpPr>
          <p:cNvPr id="1359" name="Google Shape;1359;p41"/>
          <p:cNvSpPr/>
          <p:nvPr/>
        </p:nvSpPr>
        <p:spPr>
          <a:xfrm>
            <a:off x="4953000" y="4076700"/>
            <a:ext cx="2832100" cy="17399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omic Sans MS"/>
                <a:ea typeface="Comic Sans MS"/>
                <a:cs typeface="Comic Sans MS"/>
                <a:sym typeface="Comic Sans MS"/>
              </a:rPr>
              <a:t>body</a:t>
            </a:r>
            <a:endParaRPr b="0" i="0" sz="1400" u="none" cap="none" strike="noStrike">
              <a:solidFill>
                <a:srgbClr val="000000"/>
              </a:solidFill>
              <a:latin typeface="Arial"/>
              <a:ea typeface="Arial"/>
              <a:cs typeface="Arial"/>
              <a:sym typeface="Arial"/>
            </a:endParaRPr>
          </a:p>
        </p:txBody>
      </p:sp>
      <p:sp>
        <p:nvSpPr>
          <p:cNvPr id="1360" name="Google Shape;1360;p41"/>
          <p:cNvSpPr/>
          <p:nvPr/>
        </p:nvSpPr>
        <p:spPr>
          <a:xfrm>
            <a:off x="4749800" y="3149600"/>
            <a:ext cx="3238500" cy="30734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Helvetica Neue"/>
              <a:ea typeface="Helvetica Neue"/>
              <a:cs typeface="Helvetica Neue"/>
              <a:sym typeface="Helvetica Neue"/>
            </a:endParaRPr>
          </a:p>
        </p:txBody>
      </p:sp>
      <p:sp>
        <p:nvSpPr>
          <p:cNvPr id="1361" name="Google Shape;1361;p41"/>
          <p:cNvSpPr txBox="1"/>
          <p:nvPr/>
        </p:nvSpPr>
        <p:spPr>
          <a:xfrm>
            <a:off x="8107363" y="3484563"/>
            <a:ext cx="8048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blank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line</a:t>
            </a:r>
            <a:endParaRPr b="0" i="0" sz="1400" u="none" cap="none" strike="noStrike">
              <a:solidFill>
                <a:srgbClr val="000000"/>
              </a:solidFill>
              <a:latin typeface="Arial"/>
              <a:ea typeface="Arial"/>
              <a:cs typeface="Arial"/>
              <a:sym typeface="Arial"/>
            </a:endParaRPr>
          </a:p>
        </p:txBody>
      </p:sp>
      <p:cxnSp>
        <p:nvCxnSpPr>
          <p:cNvPr id="1362" name="Google Shape;1362;p41"/>
          <p:cNvCxnSpPr/>
          <p:nvPr/>
        </p:nvCxnSpPr>
        <p:spPr>
          <a:xfrm rot="10800000">
            <a:off x="7226300" y="3924300"/>
            <a:ext cx="965200" cy="0"/>
          </a:xfrm>
          <a:prstGeom prst="straightConnector1">
            <a:avLst/>
          </a:prstGeom>
          <a:noFill/>
          <a:ln cap="flat" cmpd="sng" w="19050">
            <a:solidFill>
              <a:srgbClr val="FF0000"/>
            </a:solidFill>
            <a:prstDash val="solid"/>
            <a:round/>
            <a:headEnd len="sm" w="sm" type="none"/>
            <a:tailEnd len="med" w="med" type="triangle"/>
          </a:ln>
        </p:spPr>
      </p:cxnSp>
      <p:sp>
        <p:nvSpPr>
          <p:cNvPr id="1363" name="Google Shape;1363;p41"/>
          <p:cNvSpPr/>
          <p:nvPr/>
        </p:nvSpPr>
        <p:spPr>
          <a:xfrm>
            <a:off x="2036763" y="2655888"/>
            <a:ext cx="2843212" cy="773112"/>
          </a:xfrm>
          <a:custGeom>
            <a:rect b="b" l="l" r="r" t="t"/>
            <a:pathLst>
              <a:path extrusionOk="0" h="487" w="1791">
                <a:moveTo>
                  <a:pt x="0" y="172"/>
                </a:moveTo>
                <a:cubicBezTo>
                  <a:pt x="323" y="86"/>
                  <a:pt x="646" y="0"/>
                  <a:pt x="944" y="52"/>
                </a:cubicBezTo>
                <a:cubicBezTo>
                  <a:pt x="1242" y="104"/>
                  <a:pt x="1516" y="295"/>
                  <a:pt x="1791" y="487"/>
                </a:cubicBezTo>
              </a:path>
            </a:pathLst>
          </a:custGeom>
          <a:noFill/>
          <a:ln cap="flat" cmpd="sng" w="3810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364" name="Google Shape;1364;p41"/>
          <p:cNvSpPr/>
          <p:nvPr/>
        </p:nvSpPr>
        <p:spPr>
          <a:xfrm>
            <a:off x="1692275" y="4511675"/>
            <a:ext cx="3187700" cy="415925"/>
          </a:xfrm>
          <a:custGeom>
            <a:rect b="b" l="l" r="r" t="t"/>
            <a:pathLst>
              <a:path extrusionOk="0" h="262" w="2008">
                <a:moveTo>
                  <a:pt x="0" y="141"/>
                </a:moveTo>
                <a:cubicBezTo>
                  <a:pt x="280" y="70"/>
                  <a:pt x="560" y="0"/>
                  <a:pt x="895" y="20"/>
                </a:cubicBezTo>
                <a:cubicBezTo>
                  <a:pt x="1230" y="40"/>
                  <a:pt x="1619" y="151"/>
                  <a:pt x="2008" y="262"/>
                </a:cubicBezTo>
              </a:path>
            </a:pathLst>
          </a:custGeom>
          <a:noFill/>
          <a:ln cap="flat" cmpd="sng" w="3810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42"/>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70" name="Google Shape;1370;p4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Limitation: Sending Non-Text Data</a:t>
            </a:r>
            <a:endParaRPr/>
          </a:p>
        </p:txBody>
      </p:sp>
      <p:sp>
        <p:nvSpPr>
          <p:cNvPr id="1371" name="Google Shape;1371;p4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560"/>
              <a:buChar char="❖"/>
            </a:pPr>
            <a:r>
              <a:rPr lang="en-US" sz="2400"/>
              <a:t>E-mail body is 7-bit U.S. ASCII</a:t>
            </a:r>
            <a:endParaRPr/>
          </a:p>
          <a:p>
            <a:pPr indent="-285750" lvl="1" marL="742950" rtl="0" algn="l">
              <a:lnSpc>
                <a:spcPct val="90000"/>
              </a:lnSpc>
              <a:spcBef>
                <a:spcPts val="400"/>
              </a:spcBef>
              <a:spcAft>
                <a:spcPts val="0"/>
              </a:spcAft>
              <a:buSzPts val="2000"/>
              <a:buChar char="▪"/>
            </a:pPr>
            <a:r>
              <a:rPr lang="en-US" sz="2000"/>
              <a:t>What about non-English text?</a:t>
            </a:r>
            <a:endParaRPr/>
          </a:p>
          <a:p>
            <a:pPr indent="-285750" lvl="1" marL="742950" rtl="0" algn="l">
              <a:lnSpc>
                <a:spcPct val="90000"/>
              </a:lnSpc>
              <a:spcBef>
                <a:spcPts val="400"/>
              </a:spcBef>
              <a:spcAft>
                <a:spcPts val="0"/>
              </a:spcAft>
              <a:buSzPts val="2000"/>
              <a:buChar char="▪"/>
            </a:pPr>
            <a:r>
              <a:rPr lang="en-US" sz="2000"/>
              <a:t>What about binary files (e.g., images and executables)?</a:t>
            </a:r>
            <a:endParaRPr/>
          </a:p>
          <a:p>
            <a:pPr indent="-342900" lvl="0" marL="342900" rtl="0" algn="l">
              <a:lnSpc>
                <a:spcPct val="90000"/>
              </a:lnSpc>
              <a:spcBef>
                <a:spcPts val="480"/>
              </a:spcBef>
              <a:spcAft>
                <a:spcPts val="0"/>
              </a:spcAft>
              <a:buSzPts val="1560"/>
              <a:buChar char="❖"/>
            </a:pPr>
            <a:r>
              <a:rPr lang="en-US" sz="2400"/>
              <a:t>Solution:  MIME</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4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MIME – What is it?</a:t>
            </a:r>
            <a:endParaRPr/>
          </a:p>
        </p:txBody>
      </p:sp>
      <p:sp>
        <p:nvSpPr>
          <p:cNvPr id="1377" name="Google Shape;1377;p4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560"/>
              <a:buChar char="❖"/>
            </a:pPr>
            <a:r>
              <a:rPr b="1" lang="en-US" sz="2400"/>
              <a:t>Multipurpose Internet Mail Extensions</a:t>
            </a:r>
            <a:endParaRPr/>
          </a:p>
          <a:p>
            <a:pPr indent="-342900" lvl="0" marL="342900" rtl="0" algn="l">
              <a:lnSpc>
                <a:spcPct val="90000"/>
              </a:lnSpc>
              <a:spcBef>
                <a:spcPts val="480"/>
              </a:spcBef>
              <a:spcAft>
                <a:spcPts val="0"/>
              </a:spcAft>
              <a:buSzPts val="1560"/>
              <a:buChar char="❖"/>
            </a:pPr>
            <a:r>
              <a:rPr lang="en-US" sz="2400"/>
              <a:t>MIME  permits the inclusion of virtually any type of file or document in an email message. </a:t>
            </a:r>
            <a:endParaRPr/>
          </a:p>
          <a:p>
            <a:pPr indent="-342900" lvl="0" marL="342900" rtl="0" algn="l">
              <a:lnSpc>
                <a:spcPct val="90000"/>
              </a:lnSpc>
              <a:spcBef>
                <a:spcPts val="480"/>
              </a:spcBef>
              <a:spcAft>
                <a:spcPts val="0"/>
              </a:spcAft>
              <a:buSzPts val="1560"/>
              <a:buChar char="❖"/>
            </a:pPr>
            <a:r>
              <a:rPr lang="en-US" sz="2400"/>
              <a:t>Specifically, MIME messages can contain </a:t>
            </a:r>
            <a:endParaRPr/>
          </a:p>
          <a:p>
            <a:pPr indent="-285750" lvl="1" marL="742950" rtl="0" algn="l">
              <a:lnSpc>
                <a:spcPct val="90000"/>
              </a:lnSpc>
              <a:spcBef>
                <a:spcPts val="400"/>
              </a:spcBef>
              <a:spcAft>
                <a:spcPts val="0"/>
              </a:spcAft>
              <a:buSzPts val="2000"/>
              <a:buChar char="▪"/>
            </a:pPr>
            <a:r>
              <a:rPr lang="en-US" sz="2000"/>
              <a:t> text,  images,  audio,  video</a:t>
            </a:r>
            <a:endParaRPr/>
          </a:p>
          <a:p>
            <a:pPr indent="-285750" lvl="1" marL="742950" rtl="0" algn="l">
              <a:lnSpc>
                <a:spcPct val="90000"/>
              </a:lnSpc>
              <a:spcBef>
                <a:spcPts val="400"/>
              </a:spcBef>
              <a:spcAft>
                <a:spcPts val="0"/>
              </a:spcAft>
              <a:buSzPts val="2000"/>
              <a:buChar char="▪"/>
            </a:pPr>
            <a:r>
              <a:rPr lang="en-US" sz="2000"/>
              <a:t> application-specific data. </a:t>
            </a:r>
            <a:endParaRPr/>
          </a:p>
          <a:p>
            <a:pPr indent="-228600" lvl="2" marL="1143000" rtl="0" algn="l">
              <a:lnSpc>
                <a:spcPct val="90000"/>
              </a:lnSpc>
              <a:spcBef>
                <a:spcPts val="360"/>
              </a:spcBef>
              <a:spcAft>
                <a:spcPts val="0"/>
              </a:spcAft>
              <a:buClr>
                <a:schemeClr val="dk1"/>
              </a:buClr>
              <a:buSzPts val="1800"/>
              <a:buFont typeface="Comic Sans MS"/>
              <a:buChar char="•"/>
            </a:pPr>
            <a:r>
              <a:rPr lang="en-US" sz="1800"/>
              <a:t>spreadsheets  </a:t>
            </a:r>
            <a:endParaRPr/>
          </a:p>
          <a:p>
            <a:pPr indent="-228600" lvl="2" marL="1143000" rtl="0" algn="l">
              <a:lnSpc>
                <a:spcPct val="90000"/>
              </a:lnSpc>
              <a:spcBef>
                <a:spcPts val="360"/>
              </a:spcBef>
              <a:spcAft>
                <a:spcPts val="0"/>
              </a:spcAft>
              <a:buClr>
                <a:schemeClr val="dk1"/>
              </a:buClr>
              <a:buSzPts val="1800"/>
              <a:buFont typeface="Comic Sans MS"/>
              <a:buChar char="•"/>
            </a:pPr>
            <a:r>
              <a:rPr lang="en-US" sz="1800"/>
              <a:t>word processing documets</a:t>
            </a:r>
            <a:endParaRPr sz="1800"/>
          </a:p>
        </p:txBody>
      </p:sp>
      <p:pic>
        <p:nvPicPr>
          <p:cNvPr id="1378" name="Google Shape;1378;p43"/>
          <p:cNvPicPr preferRelativeResize="0"/>
          <p:nvPr/>
        </p:nvPicPr>
        <p:blipFill rotWithShape="1">
          <a:blip r:embed="rId3">
            <a:alphaModFix/>
          </a:blip>
          <a:srcRect b="0" l="0" r="0" t="0"/>
          <a:stretch/>
        </p:blipFill>
        <p:spPr>
          <a:xfrm>
            <a:off x="165099" y="4267083"/>
            <a:ext cx="8556625" cy="168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gtEl>
                                        <p:attrNameLst>
                                          <p:attrName>style.visibility</p:attrName>
                                        </p:attrNameLst>
                                      </p:cBhvr>
                                      <p:to>
                                        <p:strVal val="visible"/>
                                      </p:to>
                                    </p:set>
                                    <p:animEffect filter="fade" transition="in">
                                      <p:cBhvr>
                                        <p:cTn dur="3000"/>
                                        <p:tgtEl>
                                          <p:spTgt spid="1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44"/>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84" name="Google Shape;1384;p4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a:t>
            </a:r>
            <a:endParaRPr/>
          </a:p>
        </p:txBody>
      </p:sp>
      <p:sp>
        <p:nvSpPr>
          <p:cNvPr id="1385" name="Google Shape;1385;p44"/>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Additional headers to describe the message body</a:t>
            </a:r>
            <a:endParaRPr/>
          </a:p>
          <a:p>
            <a:pPr indent="-227330" lvl="0" marL="342900" rtl="0" algn="l">
              <a:lnSpc>
                <a:spcPct val="85000"/>
              </a:lnSpc>
              <a:spcBef>
                <a:spcPts val="560"/>
              </a:spcBef>
              <a:spcAft>
                <a:spcPts val="0"/>
              </a:spcAft>
              <a:buSzPts val="1820"/>
              <a:buNone/>
            </a:pPr>
            <a:r>
              <a:t/>
            </a:r>
            <a:endParaRPr/>
          </a:p>
        </p:txBody>
      </p:sp>
      <p:pic>
        <p:nvPicPr>
          <p:cNvPr id="1386" name="Google Shape;1386;p44"/>
          <p:cNvPicPr preferRelativeResize="0"/>
          <p:nvPr/>
        </p:nvPicPr>
        <p:blipFill rotWithShape="1">
          <a:blip r:embed="rId3">
            <a:alphaModFix/>
          </a:blip>
          <a:srcRect b="0" l="0" r="0" t="0"/>
          <a:stretch/>
        </p:blipFill>
        <p:spPr>
          <a:xfrm>
            <a:off x="165099" y="2300310"/>
            <a:ext cx="8575964" cy="26265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45"/>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92" name="Google Shape;1392;p45"/>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 – content type/sub type</a:t>
            </a:r>
            <a:endParaRPr/>
          </a:p>
        </p:txBody>
      </p:sp>
      <p:sp>
        <p:nvSpPr>
          <p:cNvPr id="1393" name="Google Shape;1393;p45"/>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227330" lvl="0" marL="342900" rtl="0" algn="l">
              <a:lnSpc>
                <a:spcPct val="85000"/>
              </a:lnSpc>
              <a:spcBef>
                <a:spcPts val="0"/>
              </a:spcBef>
              <a:spcAft>
                <a:spcPts val="0"/>
              </a:spcAft>
              <a:buSzPts val="1820"/>
              <a:buNone/>
            </a:pPr>
            <a:r>
              <a:t/>
            </a:r>
            <a:endParaRPr/>
          </a:p>
        </p:txBody>
      </p:sp>
      <p:pic>
        <p:nvPicPr>
          <p:cNvPr id="1394" name="Google Shape;1394;p45"/>
          <p:cNvPicPr preferRelativeResize="0"/>
          <p:nvPr/>
        </p:nvPicPr>
        <p:blipFill rotWithShape="1">
          <a:blip r:embed="rId3">
            <a:alphaModFix/>
          </a:blip>
          <a:srcRect b="0" l="0" r="0" t="0"/>
          <a:stretch/>
        </p:blipFill>
        <p:spPr>
          <a:xfrm>
            <a:off x="-4034" y="1143000"/>
            <a:ext cx="9005158" cy="4957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46"/>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00" name="Google Shape;1400;p46"/>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 – content transfer encoding</a:t>
            </a:r>
            <a:endParaRPr/>
          </a:p>
        </p:txBody>
      </p:sp>
      <p:sp>
        <p:nvSpPr>
          <p:cNvPr id="1401" name="Google Shape;1401;p46"/>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227330" lvl="0" marL="342900" rtl="0" algn="l">
              <a:lnSpc>
                <a:spcPct val="85000"/>
              </a:lnSpc>
              <a:spcBef>
                <a:spcPts val="0"/>
              </a:spcBef>
              <a:spcAft>
                <a:spcPts val="0"/>
              </a:spcAft>
              <a:buSzPts val="1820"/>
              <a:buNone/>
            </a:pPr>
            <a:r>
              <a:t/>
            </a:r>
            <a:endParaRPr/>
          </a:p>
        </p:txBody>
      </p:sp>
      <p:sp>
        <p:nvSpPr>
          <p:cNvPr id="1402" name="Google Shape;1402;p46"/>
          <p:cNvSpPr/>
          <p:nvPr/>
        </p:nvSpPr>
        <p:spPr>
          <a:xfrm>
            <a:off x="482600" y="2116138"/>
            <a:ext cx="7742238" cy="2289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1403" name="Google Shape;1403;p46"/>
          <p:cNvPicPr preferRelativeResize="0"/>
          <p:nvPr/>
        </p:nvPicPr>
        <p:blipFill rotWithShape="1">
          <a:blip r:embed="rId3">
            <a:alphaModFix/>
          </a:blip>
          <a:srcRect b="0" l="0" r="0" t="12452"/>
          <a:stretch/>
        </p:blipFill>
        <p:spPr>
          <a:xfrm>
            <a:off x="160736" y="2252189"/>
            <a:ext cx="8840388" cy="2292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47"/>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09" name="Google Shape;1409;p47"/>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2800"/>
              <a:t>Example: E-Mail Message Using MIME</a:t>
            </a:r>
            <a:endParaRPr/>
          </a:p>
        </p:txBody>
      </p:sp>
      <p:sp>
        <p:nvSpPr>
          <p:cNvPr id="1410" name="Google Shape;1410;p47"/>
          <p:cNvSpPr txBox="1"/>
          <p:nvPr/>
        </p:nvSpPr>
        <p:spPr>
          <a:xfrm>
            <a:off x="3419475" y="1955800"/>
            <a:ext cx="5376863" cy="3724096"/>
          </a:xfrm>
          <a:prstGeom prst="rect">
            <a:avLst/>
          </a:prstGeom>
          <a:noFill/>
          <a:ln cap="flat" cmpd="sng" w="25400">
            <a:solidFill>
              <a:srgbClr val="99336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From: jrex@cs.princeton.edu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To: feamster@cc.gatech.edu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Subject: picture of Thomas Sweet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FF3300"/>
                </a:solidFill>
                <a:latin typeface="Courier New"/>
                <a:ea typeface="Courier New"/>
                <a:cs typeface="Courier New"/>
                <a:sym typeface="Courier New"/>
              </a:rPr>
              <a:t>MIME-Version: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accent1"/>
                </a:solidFill>
                <a:latin typeface="Courier New"/>
                <a:ea typeface="Courier New"/>
                <a:cs typeface="Courier New"/>
                <a:sym typeface="Courier New"/>
              </a:rPr>
              <a:t>Content-Transfer-Encoding: base64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00FF"/>
                </a:solidFill>
                <a:latin typeface="Courier New"/>
                <a:ea typeface="Courier New"/>
                <a:cs typeface="Courier New"/>
                <a:sym typeface="Courier New"/>
              </a:rPr>
              <a:t>Content-Type: image/jpeg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t/>
            </a:r>
            <a:endParaRPr b="1" i="0" sz="2000" u="none" cap="none" strike="noStrike">
              <a:solidFill>
                <a:srgbClr val="009900"/>
              </a:solidFill>
              <a:latin typeface="Courier New"/>
              <a:ea typeface="Courier New"/>
              <a:cs typeface="Courier New"/>
              <a:sym typeface="Courier New"/>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base64 encoded data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......base64 encoded data</a:t>
            </a:r>
            <a:r>
              <a:rPr b="1" i="0" lang="en-US" sz="1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
        <p:nvSpPr>
          <p:cNvPr id="1411" name="Google Shape;1411;p47"/>
          <p:cNvSpPr txBox="1"/>
          <p:nvPr/>
        </p:nvSpPr>
        <p:spPr>
          <a:xfrm>
            <a:off x="456275" y="4265521"/>
            <a:ext cx="2209800" cy="3968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Comic Sans MS"/>
                <a:ea typeface="Comic Sans MS"/>
                <a:cs typeface="Comic Sans MS"/>
                <a:sym typeface="Comic Sans MS"/>
              </a:rPr>
              <a:t>type and subtype</a:t>
            </a:r>
            <a:endParaRPr b="0" i="0" sz="2400" u="none" cap="none" strike="noStrike">
              <a:solidFill>
                <a:srgbClr val="0000FF"/>
              </a:solidFill>
              <a:latin typeface="Times New Roman"/>
              <a:ea typeface="Times New Roman"/>
              <a:cs typeface="Times New Roman"/>
              <a:sym typeface="Times New Roman"/>
            </a:endParaRPr>
          </a:p>
        </p:txBody>
      </p:sp>
      <p:sp>
        <p:nvSpPr>
          <p:cNvPr id="1412" name="Google Shape;1412;p47"/>
          <p:cNvSpPr txBox="1"/>
          <p:nvPr/>
        </p:nvSpPr>
        <p:spPr>
          <a:xfrm>
            <a:off x="538163" y="3043738"/>
            <a:ext cx="1943100" cy="7016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accent1"/>
                </a:solidFill>
                <a:latin typeface="Comic Sans MS"/>
                <a:ea typeface="Comic Sans MS"/>
                <a:cs typeface="Comic Sans MS"/>
                <a:sym typeface="Comic Sans MS"/>
              </a:rPr>
              <a:t>method used</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400"/>
              </a:spcBef>
              <a:spcAft>
                <a:spcPts val="0"/>
              </a:spcAft>
              <a:buClr>
                <a:srgbClr val="000000"/>
              </a:buClr>
              <a:buSzPts val="2000"/>
              <a:buFont typeface="Arial"/>
              <a:buNone/>
            </a:pPr>
            <a:r>
              <a:rPr b="0" i="0" lang="en-US" sz="2000" u="none" cap="none" strike="noStrike">
                <a:solidFill>
                  <a:schemeClr val="accent1"/>
                </a:solidFill>
                <a:latin typeface="Comic Sans MS"/>
                <a:ea typeface="Comic Sans MS"/>
                <a:cs typeface="Comic Sans MS"/>
                <a:sym typeface="Comic Sans MS"/>
              </a:rPr>
              <a:t>to encode data</a:t>
            </a:r>
            <a:endParaRPr b="0" i="0" sz="2400" u="none" cap="none" strike="noStrike">
              <a:solidFill>
                <a:schemeClr val="accent1"/>
              </a:solidFill>
              <a:latin typeface="Times New Roman"/>
              <a:ea typeface="Times New Roman"/>
              <a:cs typeface="Times New Roman"/>
              <a:sym typeface="Times New Roman"/>
            </a:endParaRPr>
          </a:p>
        </p:txBody>
      </p:sp>
      <p:sp>
        <p:nvSpPr>
          <p:cNvPr id="1413" name="Google Shape;1413;p47"/>
          <p:cNvSpPr txBox="1"/>
          <p:nvPr/>
        </p:nvSpPr>
        <p:spPr>
          <a:xfrm>
            <a:off x="1306513" y="1917700"/>
            <a:ext cx="185261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3300"/>
                </a:solidFill>
                <a:latin typeface="Comic Sans MS"/>
                <a:ea typeface="Comic Sans MS"/>
                <a:cs typeface="Comic Sans MS"/>
                <a:sym typeface="Comic Sans MS"/>
              </a:rPr>
              <a:t>MIME version</a:t>
            </a:r>
            <a:endParaRPr b="0" i="0" sz="2400" u="none" cap="none" strike="noStrike">
              <a:solidFill>
                <a:srgbClr val="FF3300"/>
              </a:solidFill>
              <a:latin typeface="Times New Roman"/>
              <a:ea typeface="Times New Roman"/>
              <a:cs typeface="Times New Roman"/>
              <a:sym typeface="Times New Roman"/>
            </a:endParaRPr>
          </a:p>
        </p:txBody>
      </p:sp>
      <p:sp>
        <p:nvSpPr>
          <p:cNvPr id="1414" name="Google Shape;1414;p47"/>
          <p:cNvSpPr txBox="1"/>
          <p:nvPr/>
        </p:nvSpPr>
        <p:spPr>
          <a:xfrm>
            <a:off x="1076325" y="5605463"/>
            <a:ext cx="176371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9900"/>
                </a:solidFill>
                <a:latin typeface="Comic Sans MS"/>
                <a:ea typeface="Comic Sans MS"/>
                <a:cs typeface="Comic Sans MS"/>
                <a:sym typeface="Comic Sans MS"/>
              </a:rPr>
              <a:t>encoded data</a:t>
            </a:r>
            <a:endParaRPr b="0" i="0" sz="2400" u="none" cap="none" strike="noStrike">
              <a:solidFill>
                <a:srgbClr val="009900"/>
              </a:solidFill>
              <a:latin typeface="Times New Roman"/>
              <a:ea typeface="Times New Roman"/>
              <a:cs typeface="Times New Roman"/>
              <a:sym typeface="Times New Roman"/>
            </a:endParaRPr>
          </a:p>
        </p:txBody>
      </p:sp>
      <p:cxnSp>
        <p:nvCxnSpPr>
          <p:cNvPr id="1415" name="Google Shape;1415;p47"/>
          <p:cNvCxnSpPr/>
          <p:nvPr/>
        </p:nvCxnSpPr>
        <p:spPr>
          <a:xfrm>
            <a:off x="2420938" y="2417762"/>
            <a:ext cx="998537" cy="750393"/>
          </a:xfrm>
          <a:prstGeom prst="straightConnector1">
            <a:avLst/>
          </a:prstGeom>
          <a:noFill/>
          <a:ln cap="flat" cmpd="sng" w="25400">
            <a:solidFill>
              <a:srgbClr val="FF0000"/>
            </a:solidFill>
            <a:prstDash val="solid"/>
            <a:round/>
            <a:headEnd len="sm" w="sm" type="none"/>
            <a:tailEnd len="lg" w="lg" type="triangle"/>
          </a:ln>
        </p:spPr>
      </p:cxnSp>
      <p:cxnSp>
        <p:nvCxnSpPr>
          <p:cNvPr id="1416" name="Google Shape;1416;p47"/>
          <p:cNvCxnSpPr/>
          <p:nvPr/>
        </p:nvCxnSpPr>
        <p:spPr>
          <a:xfrm>
            <a:off x="2390775" y="3467601"/>
            <a:ext cx="1028700" cy="140695"/>
          </a:xfrm>
          <a:prstGeom prst="straightConnector1">
            <a:avLst/>
          </a:prstGeom>
          <a:noFill/>
          <a:ln cap="flat" cmpd="sng" w="25400">
            <a:solidFill>
              <a:srgbClr val="00B0F0"/>
            </a:solidFill>
            <a:prstDash val="solid"/>
            <a:round/>
            <a:headEnd len="sm" w="sm" type="none"/>
            <a:tailEnd len="lg" w="lg" type="triangle"/>
          </a:ln>
        </p:spPr>
      </p:cxnSp>
      <p:cxnSp>
        <p:nvCxnSpPr>
          <p:cNvPr id="1417" name="Google Shape;1417;p47"/>
          <p:cNvCxnSpPr/>
          <p:nvPr/>
        </p:nvCxnSpPr>
        <p:spPr>
          <a:xfrm flipH="1" rot="10800000">
            <a:off x="2185062" y="3957546"/>
            <a:ext cx="1244600" cy="355600"/>
          </a:xfrm>
          <a:prstGeom prst="straightConnector1">
            <a:avLst/>
          </a:prstGeom>
          <a:noFill/>
          <a:ln cap="flat" cmpd="sng" w="25400">
            <a:solidFill>
              <a:srgbClr val="0000FF"/>
            </a:solidFill>
            <a:prstDash val="solid"/>
            <a:round/>
            <a:headEnd len="sm" w="sm" type="none"/>
            <a:tailEnd len="lg" w="lg" type="triangle"/>
          </a:ln>
        </p:spPr>
      </p:cxnSp>
      <p:cxnSp>
        <p:nvCxnSpPr>
          <p:cNvPr id="1418" name="Google Shape;1418;p47"/>
          <p:cNvCxnSpPr/>
          <p:nvPr/>
        </p:nvCxnSpPr>
        <p:spPr>
          <a:xfrm flipH="1" rot="10800000">
            <a:off x="2305050" y="4875213"/>
            <a:ext cx="773113" cy="692150"/>
          </a:xfrm>
          <a:prstGeom prst="straightConnector1">
            <a:avLst/>
          </a:prstGeom>
          <a:noFill/>
          <a:ln cap="flat" cmpd="sng" w="25400">
            <a:solidFill>
              <a:srgbClr val="009900"/>
            </a:solidFill>
            <a:prstDash val="solid"/>
            <a:round/>
            <a:headEnd len="sm" w="sm" type="none"/>
            <a:tailEnd len="lg" w="lg" type="triangle"/>
          </a:ln>
        </p:spPr>
      </p:cxnSp>
      <p:sp>
        <p:nvSpPr>
          <p:cNvPr id="1419" name="Google Shape;1419;p47"/>
          <p:cNvSpPr/>
          <p:nvPr/>
        </p:nvSpPr>
        <p:spPr>
          <a:xfrm>
            <a:off x="3159125" y="4626591"/>
            <a:ext cx="260350" cy="978871"/>
          </a:xfrm>
          <a:custGeom>
            <a:rect b="b" l="l" r="r" t="t"/>
            <a:pathLst>
              <a:path extrusionOk="0" h="555" w="195">
                <a:moveTo>
                  <a:pt x="159" y="3"/>
                </a:moveTo>
                <a:lnTo>
                  <a:pt x="0" y="0"/>
                </a:lnTo>
                <a:lnTo>
                  <a:pt x="0" y="555"/>
                </a:lnTo>
                <a:lnTo>
                  <a:pt x="195" y="552"/>
                </a:lnTo>
              </a:path>
            </a:pathLst>
          </a:custGeom>
          <a:noFill/>
          <a:ln cap="flat" cmpd="sng" w="1905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48"/>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25" name="Google Shape;1425;p48"/>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Base64 encoding</a:t>
            </a:r>
            <a:endParaRPr/>
          </a:p>
        </p:txBody>
      </p:sp>
      <p:sp>
        <p:nvSpPr>
          <p:cNvPr id="1426" name="Google Shape;1426;p48"/>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a:t>Base64 encoding: map each group of three bytes into four printable U.S.-ASCII characters</a:t>
            </a:r>
            <a:endParaRPr/>
          </a:p>
        </p:txBody>
      </p:sp>
      <p:pic>
        <p:nvPicPr>
          <p:cNvPr id="1427" name="Google Shape;1427;p48"/>
          <p:cNvPicPr preferRelativeResize="0"/>
          <p:nvPr/>
        </p:nvPicPr>
        <p:blipFill rotWithShape="1">
          <a:blip r:embed="rId3">
            <a:alphaModFix/>
          </a:blip>
          <a:srcRect b="0" l="0" r="0" t="0"/>
          <a:stretch/>
        </p:blipFill>
        <p:spPr>
          <a:xfrm>
            <a:off x="1419368" y="2219024"/>
            <a:ext cx="6782936" cy="44616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7"/>
                                        </p:tgtEl>
                                        <p:attrNameLst>
                                          <p:attrName>style.visibility</p:attrName>
                                        </p:attrNameLst>
                                      </p:cBhvr>
                                      <p:to>
                                        <p:strVal val="visible"/>
                                      </p:to>
                                    </p:set>
                                    <p:animEffect filter="fade" transition="in">
                                      <p:cBhvr>
                                        <p:cTn dur="3000"/>
                                        <p:tgtEl>
                                          <p:spTgt spid="1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49"/>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References</a:t>
            </a:r>
            <a:endParaRPr/>
          </a:p>
        </p:txBody>
      </p:sp>
      <p:sp>
        <p:nvSpPr>
          <p:cNvPr id="1433" name="Google Shape;1433;p49"/>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t>erdos.csie.ncnu.edu.tw/~ccyang/TCPIP/Slides/Chap-23.ppt</a:t>
            </a:r>
            <a:endParaRPr/>
          </a:p>
          <a:p>
            <a:pPr indent="-342900" lvl="0" marL="342900" rtl="0" algn="l">
              <a:lnSpc>
                <a:spcPct val="85000"/>
              </a:lnSpc>
              <a:spcBef>
                <a:spcPts val="480"/>
              </a:spcBef>
              <a:spcAft>
                <a:spcPts val="0"/>
              </a:spcAft>
              <a:buSzPts val="1560"/>
              <a:buChar char="❖"/>
            </a:pPr>
            <a:r>
              <a:rPr lang="en-US" sz="2400"/>
              <a:t>www.hit.ac.il/staff/commEng/Perelroyzen/3electronic_mail_protocols.ppt</a:t>
            </a:r>
            <a:endParaRPr/>
          </a:p>
          <a:p>
            <a:pPr indent="-342900" lvl="0" marL="342900" rtl="0" algn="l">
              <a:lnSpc>
                <a:spcPct val="85000"/>
              </a:lnSpc>
              <a:spcBef>
                <a:spcPts val="480"/>
              </a:spcBef>
              <a:spcAft>
                <a:spcPts val="0"/>
              </a:spcAft>
              <a:buSzPts val="1560"/>
              <a:buChar char="❖"/>
            </a:pPr>
            <a:r>
              <a:rPr lang="en-US" sz="2400"/>
              <a:t>www.cs.princeton.edu/courses/archive/spr06/cos461/slides/19Email.ppt</a:t>
            </a:r>
            <a:endParaRPr/>
          </a:p>
          <a:p>
            <a:pPr indent="-342900" lvl="0" marL="342900" rtl="0" algn="l">
              <a:lnSpc>
                <a:spcPct val="85000"/>
              </a:lnSpc>
              <a:spcBef>
                <a:spcPts val="480"/>
              </a:spcBef>
              <a:spcAft>
                <a:spcPts val="0"/>
              </a:spcAft>
              <a:buSzPts val="1560"/>
              <a:buChar char="❖"/>
            </a:pPr>
            <a:r>
              <a:rPr lang="en-US" sz="2400"/>
              <a:t>www.cs.binghamton.edu/~steflik/cs328/eMailProtocols.ppt</a:t>
            </a:r>
            <a:endParaRPr/>
          </a:p>
          <a:p>
            <a:pPr indent="-342900" lvl="0" marL="342900" rtl="0" algn="l">
              <a:lnSpc>
                <a:spcPct val="85000"/>
              </a:lnSpc>
              <a:spcBef>
                <a:spcPts val="480"/>
              </a:spcBef>
              <a:spcAft>
                <a:spcPts val="0"/>
              </a:spcAft>
              <a:buSzPts val="1560"/>
              <a:buChar char="❖"/>
            </a:pPr>
            <a:r>
              <a:rPr lang="en-US" sz="2400"/>
              <a:t>ece626web.groups.et.byu.net/Lectures/ch26.ppt</a:t>
            </a:r>
            <a:endParaRPr/>
          </a:p>
          <a:p>
            <a:pPr indent="-243840" lvl="0" marL="342900" rtl="0" algn="l">
              <a:lnSpc>
                <a:spcPct val="85000"/>
              </a:lnSpc>
              <a:spcBef>
                <a:spcPts val="480"/>
              </a:spcBef>
              <a:spcAft>
                <a:spcPts val="0"/>
              </a:spcAft>
              <a:buSzPts val="1560"/>
              <a:buNone/>
            </a:pPr>
            <a:r>
              <a:t/>
            </a:r>
            <a:endParaRPr sz="2400"/>
          </a:p>
        </p:txBody>
      </p:sp>
      <p:sp>
        <p:nvSpPr>
          <p:cNvPr id="1434" name="Google Shape;1434;p4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a:t>Application Layer</a:t>
            </a:r>
            <a:endParaRPr/>
          </a:p>
        </p:txBody>
      </p:sp>
      <p:sp>
        <p:nvSpPr>
          <p:cNvPr id="1435" name="Google Shape;1435;p4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1999-10-08T19:08:27Z</dcterms:created>
  <dc:creator>Jim Kurose and Keith Ross</dc:creator>
</cp:coreProperties>
</file>