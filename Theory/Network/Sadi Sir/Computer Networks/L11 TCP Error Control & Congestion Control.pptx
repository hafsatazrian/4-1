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</p:sldIdLst>
  <p:sldSz cy="6858000" cx="12192000"/>
  <p:notesSz cx="6858000" cy="9144000"/>
  <p:embeddedFontLst>
    <p:embeddedFont>
      <p:font typeface="Arimo"/>
      <p:regular r:id="rId45"/>
      <p:bold r:id="rId46"/>
      <p:italic r:id="rId47"/>
      <p:boldItalic r:id="rId48"/>
    </p:embeddedFont>
    <p:embeddedFont>
      <p:font typeface="Tahoma"/>
      <p:regular r:id="rId49"/>
      <p:bold r:id="rId50"/>
    </p:embeddedFont>
    <p:embeddedFont>
      <p:font typeface="Gill Sans"/>
      <p:regular r:id="rId51"/>
      <p:bold r:id="rId5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font" Target="fonts/Arimo-bold.fntdata"/><Relationship Id="rId45" Type="http://schemas.openxmlformats.org/officeDocument/2006/relationships/font" Target="fonts/Arimo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font" Target="fonts/Arimo-boldItalic.fntdata"/><Relationship Id="rId47" Type="http://schemas.openxmlformats.org/officeDocument/2006/relationships/font" Target="fonts/Arimo-italic.fntdata"/><Relationship Id="rId49" Type="http://schemas.openxmlformats.org/officeDocument/2006/relationships/font" Target="fonts/Tahoma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font" Target="fonts/GillSans-regular.fntdata"/><Relationship Id="rId50" Type="http://schemas.openxmlformats.org/officeDocument/2006/relationships/font" Target="fonts/Tahoma-bold.fntdata"/><Relationship Id="rId52" Type="http://schemas.openxmlformats.org/officeDocument/2006/relationships/font" Target="fonts/GillSans-bold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8c38211b20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" name="Google Shape;41;g38c38211b20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g38c38211b20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8c3bac6a0c_0_0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48" name="Google Shape;48;g38c3bac6a0c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" name="Google Shape;49;g38c3bac6a0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8c3bac6a0c_0_10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58" name="Google Shape;58;g38c3bac6a0c_0_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" name="Google Shape;59;g38c3bac6a0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8c3bac6a0c_0_19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68" name="Google Shape;68;g38c3bac6a0c_0_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" name="Google Shape;69;g38c3bac6a0c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8c3bac6a0c_0_6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g38c3bac6a0c_0_6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8c3bac6a0c_0_45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96" name="Google Shape;96;g38c3bac6a0c_0_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7" name="Google Shape;97;g38c3bac6a0c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8c3bac6a0c_0_64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16" name="Google Shape;116;g38c3bac6a0c_0_6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7" name="Google Shape;117;g38c3bac6a0c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8c3bac6a0c_0_5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8c3bac6a0c_0_5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8c3bac6a0c_0_5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8c3bac6a0c_0_5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8c3bac6a0c_0_127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51" name="Google Shape;151;g38c3bac6a0c_0_1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2" name="Google Shape;152;g38c3bac6a0c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8c3bac6a0c_0_142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67" name="Google Shape;167;g38c3bac6a0c_0_1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8" name="Google Shape;168;g38c3bac6a0c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8c3bac6a0c_0_157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83" name="Google Shape;183;g38c3bac6a0c_0_15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4" name="Google Shape;184;g38c3bac6a0c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8c3bac6a0c_0_176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03" name="Google Shape;203;g38c3bac6a0c_0_17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4" name="Google Shape;204;g38c3bac6a0c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8c3bac6a0c_0_4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g38c3bac6a0c_0_4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8c3bac6a0c_0_196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31" name="Google Shape;231;g38c3bac6a0c_0_19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2" name="Google Shape;232;g38c3bac6a0c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8c3bac6a0c_0_211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47" name="Google Shape;247;g38c3bac6a0c_0_2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8" name="Google Shape;248;g38c3bac6a0c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8c3bac6a0c_0_226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63" name="Google Shape;263;g38c3bac6a0c_0_2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4" name="Google Shape;264;g38c3bac6a0c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94f25291c2_0_790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83" name="Google Shape;283;g394f25291c2_0_79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4" name="Google Shape;284;g394f25291c2_0_7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94f25291c2_0_800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93" name="Google Shape;293;g394f25291c2_0_80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4" name="Google Shape;294;g394f25291c2_0_8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94f25291c2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g394f25291c2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94f25291c2_0_9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g394f25291c2_0_9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g394f25291c2_0_96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94f25291c2_0_10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" name="Google Shape;333;g394f25291c2_0_100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g394f25291c2_0_100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94f25291c2_0_11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6" name="Google Shape;466;g394f25291c2_0_11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g394f25291c2_0_113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394f25291c2_0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g394f25291c2_0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394f25291c2_0_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g394f25291c2_0_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394f25291c2_0_12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7" name="Google Shape;617;g394f25291c2_0_12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g394f25291c2_0_129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394f25291c2_0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g394f25291c2_0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394f25291c2_0_7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g394f25291c2_0_7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394f25291c2_0_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g394f25291c2_0_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394f25291c2_0_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g394f25291c2_0_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394f25291c2_0_7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2" name="Google Shape;702;g394f25291c2_0_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3" name="Google Shape;703;g394f25291c2_0_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394f25291c2_0_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g394f25291c2_0_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g394f25291c2_0_8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g394f25291c2_0_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394f25291c2_0_9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g394f25291c2_0_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g394f25291c2_0_13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3" name="Google Shape;733;g394f25291c2_0_137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g394f25291c2_0_137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394f25291c2_0_14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3" name="Google Shape;773;g394f25291c2_0_14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g394f25291c2_0_14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g394f25291c2_0_15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4" name="Google Shape;814;g394f25291c2_0_15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g394f25291c2_0_158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g394f25291c2_0_14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2" name="Google Shape;822;g394f25291c2_0_14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g394f25291c2_0_147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g394f25291c2_0_15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2" name="Google Shape;862;g394f25291c2_0_15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3" name="Google Shape;863;g394f25291c2_0_15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g394f25291c2_0_15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6" name="Google Shape;896;g394f25291c2_0_15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g394f25291c2_0_154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物件" type="obj">
  <p:cSld name="OBJEC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914400" y="152400"/>
            <a:ext cx="91608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914400" y="1828800"/>
            <a:ext cx="102615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0" type="dt"/>
          </p:nvPr>
        </p:nvSpPr>
        <p:spPr>
          <a:xfrm>
            <a:off x="1828800" y="6248400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1" type="ftr"/>
          </p:nvPr>
        </p:nvSpPr>
        <p:spPr>
          <a:xfrm>
            <a:off x="4741333" y="6248400"/>
            <a:ext cx="3860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957733" y="6248400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  <a:defRPr b="0" i="0" sz="14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1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000"/>
              <a:buFont typeface="Calibri"/>
              <a:buNone/>
              <a:defRPr b="1" i="0" sz="40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18.png"/><Relationship Id="rId6" Type="http://schemas.openxmlformats.org/officeDocument/2006/relationships/image" Target="../media/image12.png"/><Relationship Id="rId7" Type="http://schemas.openxmlformats.org/officeDocument/2006/relationships/image" Target="../media/image11.png"/><Relationship Id="rId8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19.png"/><Relationship Id="rId5" Type="http://schemas.openxmlformats.org/officeDocument/2006/relationships/image" Target="../media/image9.png"/><Relationship Id="rId6" Type="http://schemas.openxmlformats.org/officeDocument/2006/relationships/image" Target="../media/image16.png"/><Relationship Id="rId7" Type="http://schemas.openxmlformats.org/officeDocument/2006/relationships/image" Target="../media/image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9219616" y="6443089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8"/>
          <p:cNvSpPr txBox="1"/>
          <p:nvPr/>
        </p:nvSpPr>
        <p:spPr>
          <a:xfrm>
            <a:off x="433350" y="1542600"/>
            <a:ext cx="11325300" cy="336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Chapter 3</a:t>
            </a:r>
            <a:br>
              <a:rPr b="1" lang="en-US" sz="60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54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Transport Layer</a:t>
            </a:r>
            <a:endParaRPr b="1" sz="5400">
              <a:solidFill>
                <a:srgbClr val="000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rgbClr val="DD7E6B"/>
                </a:solidFill>
                <a:latin typeface="Calibri"/>
                <a:ea typeface="Calibri"/>
                <a:cs typeface="Calibri"/>
                <a:sym typeface="Calibri"/>
              </a:rPr>
              <a:t>TCP - Error Control &amp; </a:t>
            </a:r>
            <a:endParaRPr b="1" sz="5400">
              <a:solidFill>
                <a:srgbClr val="DD7E6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rgbClr val="DD7E6B"/>
                </a:solidFill>
                <a:latin typeface="Calibri"/>
                <a:ea typeface="Calibri"/>
                <a:cs typeface="Calibri"/>
                <a:sym typeface="Calibri"/>
              </a:rPr>
              <a:t>Congestion Control</a:t>
            </a:r>
            <a:endParaRPr b="1" sz="5400">
              <a:solidFill>
                <a:srgbClr val="0000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/>
        </p:nvSpPr>
        <p:spPr>
          <a:xfrm>
            <a:off x="101600" y="6296025"/>
            <a:ext cx="3860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</a:pPr>
            <a:r>
              <a:rPr b="1" i="0" lang="en-US" sz="1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TCP/IP Protocol Suite</a:t>
            </a:r>
            <a:endParaRPr/>
          </a:p>
        </p:txBody>
      </p:sp>
      <p:sp>
        <p:nvSpPr>
          <p:cNvPr id="52" name="Google Shape;52;p9"/>
          <p:cNvSpPr txBox="1"/>
          <p:nvPr/>
        </p:nvSpPr>
        <p:spPr>
          <a:xfrm>
            <a:off x="9389533" y="6243637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53" name="Google Shape;53;p9"/>
          <p:cNvSpPr txBox="1"/>
          <p:nvPr/>
        </p:nvSpPr>
        <p:spPr>
          <a:xfrm>
            <a:off x="304800" y="355600"/>
            <a:ext cx="11112300" cy="646500"/>
          </a:xfrm>
          <a:prstGeom prst="rect">
            <a:avLst/>
          </a:prstGeom>
          <a:solidFill>
            <a:schemeClr val="folHlink"/>
          </a:solidFill>
          <a:ln cap="flat" cmpd="sng" w="9525">
            <a:solidFill>
              <a:schemeClr val="fol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mes"/>
              <a:buNone/>
            </a:pPr>
            <a:r>
              <a:rPr b="1" i="0" lang="en-US" sz="3600" u="none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15-8  ERROR CONTROL</a:t>
            </a:r>
            <a:endParaRPr/>
          </a:p>
        </p:txBody>
      </p:sp>
      <p:sp>
        <p:nvSpPr>
          <p:cNvPr id="54" name="Google Shape;54;p9"/>
          <p:cNvSpPr txBox="1"/>
          <p:nvPr/>
        </p:nvSpPr>
        <p:spPr>
          <a:xfrm>
            <a:off x="10972800" y="6400800"/>
            <a:ext cx="24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5" name="Google Shape;55;p9"/>
          <p:cNvSpPr txBox="1"/>
          <p:nvPr/>
        </p:nvSpPr>
        <p:spPr>
          <a:xfrm>
            <a:off x="508000" y="1524000"/>
            <a:ext cx="10909200" cy="23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mo"/>
              <a:buNone/>
            </a:pPr>
            <a:r>
              <a:rPr b="1" i="0" lang="en-US" sz="2800" u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Error control in TCP is achieved through the use of three tools:</a:t>
            </a:r>
            <a:endParaRPr b="1" i="0" sz="2800" u="none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4064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mo"/>
              <a:buAutoNum type="arabicPeriod"/>
            </a:pPr>
            <a:r>
              <a:rPr b="1" i="1" lang="en-US" sz="2800" u="none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</a:rPr>
              <a:t>checksum</a:t>
            </a:r>
            <a:r>
              <a:rPr b="1" i="0" lang="en-US" sz="2800" u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endParaRPr b="1" i="0" sz="2800" u="none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406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mo"/>
              <a:buAutoNum type="arabicPeriod"/>
            </a:pPr>
            <a:r>
              <a:rPr b="1" i="1" lang="en-US" sz="2800" u="none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</a:rPr>
              <a:t>acknowledgment</a:t>
            </a:r>
            <a:endParaRPr b="1" i="0" sz="2800" u="none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406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mo"/>
              <a:buAutoNum type="arabicPeriod"/>
            </a:pPr>
            <a:r>
              <a:rPr b="1" i="1" lang="en-US" sz="2800" u="none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</a:rPr>
              <a:t>time-out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99"/>
            </a:gs>
            <a:gs pos="100000">
              <a:srgbClr val="767647"/>
            </a:gs>
          </a:gsLst>
          <a:lin ang="0" scaled="0"/>
        </a:gra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/>
          <p:nvPr/>
        </p:nvSpPr>
        <p:spPr>
          <a:xfrm>
            <a:off x="101600" y="6296025"/>
            <a:ext cx="3860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</a:pPr>
            <a:r>
              <a:rPr b="1" i="0" lang="en-US" sz="1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TCP/IP Protocol Suite</a:t>
            </a:r>
            <a:endParaRPr/>
          </a:p>
        </p:txBody>
      </p:sp>
      <p:sp>
        <p:nvSpPr>
          <p:cNvPr id="62" name="Google Shape;62;p10"/>
          <p:cNvSpPr txBox="1"/>
          <p:nvPr/>
        </p:nvSpPr>
        <p:spPr>
          <a:xfrm>
            <a:off x="9389533" y="6243637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63" name="Google Shape;63;p10"/>
          <p:cNvSpPr txBox="1"/>
          <p:nvPr/>
        </p:nvSpPr>
        <p:spPr>
          <a:xfrm>
            <a:off x="304800" y="152400"/>
            <a:ext cx="7292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Times"/>
              <a:buNone/>
            </a:pPr>
            <a:r>
              <a:rPr b="1" i="1" lang="en-US" sz="3200" u="none">
                <a:solidFill>
                  <a:schemeClr val="hlink"/>
                </a:solidFill>
                <a:latin typeface="Times"/>
                <a:ea typeface="Times"/>
                <a:cs typeface="Times"/>
                <a:sym typeface="Times"/>
              </a:rPr>
              <a:t>Topics Discussed in the Section</a:t>
            </a:r>
            <a:endParaRPr/>
          </a:p>
        </p:txBody>
      </p:sp>
      <p:sp>
        <p:nvSpPr>
          <p:cNvPr id="64" name="Google Shape;64;p10"/>
          <p:cNvSpPr txBox="1"/>
          <p:nvPr/>
        </p:nvSpPr>
        <p:spPr>
          <a:xfrm>
            <a:off x="10972800" y="6400800"/>
            <a:ext cx="24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5" name="Google Shape;65;p10"/>
          <p:cNvSpPr txBox="1"/>
          <p:nvPr/>
        </p:nvSpPr>
        <p:spPr>
          <a:xfrm>
            <a:off x="406400" y="989012"/>
            <a:ext cx="11175900" cy="23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08025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76"/>
              <a:buFont typeface="Noto Sans Symbols"/>
              <a:buChar char="✔"/>
            </a:pPr>
            <a:r>
              <a:rPr b="1" i="0" lang="en-US" sz="2800" u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Checksum</a:t>
            </a:r>
            <a:endParaRPr/>
          </a:p>
          <a:p>
            <a:pPr indent="-208025" lvl="0" marL="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3276"/>
              <a:buFont typeface="Noto Sans Symbols"/>
              <a:buChar char="✔"/>
            </a:pPr>
            <a:r>
              <a:rPr b="1" i="0" lang="en-US" sz="2800" u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Acknowledgment</a:t>
            </a:r>
            <a:endParaRPr/>
          </a:p>
          <a:p>
            <a:pPr indent="-208025" lvl="0" marL="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3276"/>
              <a:buFont typeface="Noto Sans Symbols"/>
              <a:buChar char="✔"/>
            </a:pPr>
            <a:r>
              <a:rPr b="1" i="0" lang="en-US" sz="2800" u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Retransmission</a:t>
            </a:r>
            <a:endParaRPr/>
          </a:p>
          <a:p>
            <a:pPr indent="-208025" lvl="0" marL="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3276"/>
              <a:buFont typeface="Noto Sans Symbols"/>
              <a:buChar char="✔"/>
            </a:pPr>
            <a:r>
              <a:rPr b="1" i="0" lang="en-US" sz="2800" u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Out-of-Order Segments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 txBox="1"/>
          <p:nvPr/>
        </p:nvSpPr>
        <p:spPr>
          <a:xfrm>
            <a:off x="101600" y="6296025"/>
            <a:ext cx="3860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</a:pPr>
            <a:r>
              <a:rPr b="1" i="0" lang="en-US" sz="1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TCP/IP Protocol Suite</a:t>
            </a:r>
            <a:endParaRPr/>
          </a:p>
        </p:txBody>
      </p:sp>
      <p:sp>
        <p:nvSpPr>
          <p:cNvPr id="72" name="Google Shape;72;p11"/>
          <p:cNvSpPr txBox="1"/>
          <p:nvPr/>
        </p:nvSpPr>
        <p:spPr>
          <a:xfrm>
            <a:off x="9389533" y="6243637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73" name="Google Shape;73;p11"/>
          <p:cNvSpPr txBox="1"/>
          <p:nvPr/>
        </p:nvSpPr>
        <p:spPr>
          <a:xfrm>
            <a:off x="488949" y="107950"/>
            <a:ext cx="584400" cy="474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4" name="Google Shape;74;p11"/>
          <p:cNvSpPr txBox="1"/>
          <p:nvPr/>
        </p:nvSpPr>
        <p:spPr>
          <a:xfrm>
            <a:off x="999067" y="107950"/>
            <a:ext cx="438000" cy="4746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5" name="Google Shape;75;p11"/>
          <p:cNvSpPr txBox="1"/>
          <p:nvPr/>
        </p:nvSpPr>
        <p:spPr>
          <a:xfrm>
            <a:off x="654049" y="530225"/>
            <a:ext cx="563100" cy="474600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6" name="Google Shape;76;p11"/>
          <p:cNvSpPr txBox="1"/>
          <p:nvPr/>
        </p:nvSpPr>
        <p:spPr>
          <a:xfrm>
            <a:off x="1147233" y="530225"/>
            <a:ext cx="491100" cy="474600"/>
          </a:xfrm>
          <a:prstGeom prst="rect">
            <a:avLst/>
          </a:prstGeom>
          <a:gradFill>
            <a:gsLst>
              <a:gs pos="0">
                <a:schemeClr val="folHlink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7" name="Google Shape;77;p11"/>
          <p:cNvSpPr txBox="1"/>
          <p:nvPr/>
        </p:nvSpPr>
        <p:spPr>
          <a:xfrm>
            <a:off x="101600" y="457200"/>
            <a:ext cx="747300" cy="4224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hlink"/>
              </a:gs>
            </a:gsLst>
            <a:lin ang="18900044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8" name="Google Shape;78;p11"/>
          <p:cNvSpPr txBox="1"/>
          <p:nvPr/>
        </p:nvSpPr>
        <p:spPr>
          <a:xfrm>
            <a:off x="948267" y="0"/>
            <a:ext cx="42300" cy="1052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9" name="Google Shape;79;p11"/>
          <p:cNvSpPr txBox="1"/>
          <p:nvPr/>
        </p:nvSpPr>
        <p:spPr>
          <a:xfrm>
            <a:off x="590549" y="533400"/>
            <a:ext cx="10968300" cy="3180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80" name="Google Shape;80;p11"/>
          <p:cNvCxnSpPr/>
          <p:nvPr/>
        </p:nvCxnSpPr>
        <p:spPr>
          <a:xfrm>
            <a:off x="812800" y="2624137"/>
            <a:ext cx="10871100" cy="0"/>
          </a:xfrm>
          <a:prstGeom prst="straightConnector1">
            <a:avLst/>
          </a:prstGeom>
          <a:noFill/>
          <a:ln cap="flat" cmpd="sng" w="76200">
            <a:solidFill>
              <a:schemeClr val="folHlink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1" name="Google Shape;81;p11"/>
          <p:cNvCxnSpPr/>
          <p:nvPr/>
        </p:nvCxnSpPr>
        <p:spPr>
          <a:xfrm>
            <a:off x="812800" y="4343400"/>
            <a:ext cx="10871100" cy="0"/>
          </a:xfrm>
          <a:prstGeom prst="straightConnector1">
            <a:avLst/>
          </a:prstGeom>
          <a:noFill/>
          <a:ln cap="flat" cmpd="sng" w="76200">
            <a:solidFill>
              <a:schemeClr val="folHlink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82" name="Google Shape;82;p11"/>
          <p:cNvSpPr txBox="1"/>
          <p:nvPr/>
        </p:nvSpPr>
        <p:spPr>
          <a:xfrm>
            <a:off x="863600" y="2716212"/>
            <a:ext cx="10769700" cy="1569900"/>
          </a:xfrm>
          <a:prstGeom prst="rect">
            <a:avLst/>
          </a:prstGeom>
          <a:solidFill>
            <a:srgbClr val="3333CC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1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ACK segments do not consume sequence numbers and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1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are not acknowledged.</a:t>
            </a:r>
            <a:endParaRPr/>
          </a:p>
        </p:txBody>
      </p:sp>
      <p:grpSp>
        <p:nvGrpSpPr>
          <p:cNvPr id="83" name="Google Shape;83;p11"/>
          <p:cNvGrpSpPr/>
          <p:nvPr/>
        </p:nvGrpSpPr>
        <p:grpSpPr>
          <a:xfrm>
            <a:off x="812800" y="1981200"/>
            <a:ext cx="1523899" cy="566741"/>
            <a:chOff x="1200" y="1248"/>
            <a:chExt cx="720" cy="357"/>
          </a:xfrm>
        </p:grpSpPr>
        <p:pic>
          <p:nvPicPr>
            <p:cNvPr id="84" name="Google Shape;84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" name="Google Shape;85;p11"/>
            <p:cNvSpPr txBox="1"/>
            <p:nvPr/>
          </p:nvSpPr>
          <p:spPr>
            <a:xfrm>
              <a:off x="1284" y="1248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hlink"/>
                </a:buClr>
                <a:buSzPts val="2800"/>
                <a:buFont typeface="Times New Roman"/>
                <a:buNone/>
              </a:pPr>
              <a:r>
                <a:rPr b="1" i="1" lang="en-US" sz="2800" u="none">
                  <a:solidFill>
                    <a:schemeClr val="hlink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Note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2"/>
          <p:cNvSpPr txBox="1"/>
          <p:nvPr>
            <p:ph idx="11" type="ftr"/>
          </p:nvPr>
        </p:nvSpPr>
        <p:spPr>
          <a:xfrm>
            <a:off x="8737600" y="6477000"/>
            <a:ext cx="3251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TCP/IP Protocol Suite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2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fld id="{00000000-1234-1234-1234-123412341234}" type="slidenum">
              <a:rPr lang="en-US"/>
              <a:t>‹#›</a:t>
            </a:fld>
            <a:endParaRPr sz="11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2"/>
          <p:cNvSpPr txBox="1"/>
          <p:nvPr>
            <p:ph type="title"/>
          </p:nvPr>
        </p:nvSpPr>
        <p:spPr>
          <a:xfrm>
            <a:off x="914400" y="228600"/>
            <a:ext cx="9160800" cy="8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00CC"/>
                </a:solidFill>
              </a:rPr>
              <a:t>Acknowledgement Type</a:t>
            </a:r>
            <a:endParaRPr/>
          </a:p>
        </p:txBody>
      </p:sp>
      <p:sp>
        <p:nvSpPr>
          <p:cNvPr id="93" name="Google Shape;93;p12"/>
          <p:cNvSpPr txBox="1"/>
          <p:nvPr>
            <p:ph idx="1" type="body"/>
          </p:nvPr>
        </p:nvSpPr>
        <p:spPr>
          <a:xfrm>
            <a:off x="914400" y="1406130"/>
            <a:ext cx="102615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93700" lvl="0" marL="342900" rtl="0" algn="just">
              <a:spcBef>
                <a:spcPts val="0"/>
              </a:spcBef>
              <a:spcAft>
                <a:spcPts val="0"/>
              </a:spcAft>
              <a:buSzPts val="2600"/>
              <a:buChar char="▪"/>
            </a:pPr>
            <a:r>
              <a:rPr lang="en-US" sz="2600"/>
              <a:t>In the past, TCP used only one type of acknowledgement: Accumulative Acknowledgement (</a:t>
            </a:r>
            <a:r>
              <a:rPr lang="en-US" sz="2600">
                <a:solidFill>
                  <a:srgbClr val="FF0000"/>
                </a:solidFill>
              </a:rPr>
              <a:t>ACK</a:t>
            </a:r>
            <a:r>
              <a:rPr lang="en-US" sz="2600"/>
              <a:t>), also namely </a:t>
            </a:r>
            <a:r>
              <a:rPr lang="en-US" sz="2600">
                <a:solidFill>
                  <a:schemeClr val="dk2"/>
                </a:solidFill>
              </a:rPr>
              <a:t>accumulative positive acknowledgement</a:t>
            </a:r>
            <a:endParaRPr sz="2600">
              <a:solidFill>
                <a:schemeClr val="dk2"/>
              </a:solidFill>
            </a:endParaRPr>
          </a:p>
          <a:p>
            <a:pPr indent="0" lvl="0" marL="0" rtl="0" algn="just">
              <a:spcBef>
                <a:spcPts val="96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2"/>
              </a:solidFill>
            </a:endParaRPr>
          </a:p>
          <a:p>
            <a:pPr indent="-393700" lvl="0" marL="342900" rtl="0" algn="just">
              <a:spcBef>
                <a:spcPts val="960"/>
              </a:spcBef>
              <a:spcAft>
                <a:spcPts val="0"/>
              </a:spcAft>
              <a:buSzPts val="2600"/>
              <a:buChar char="▪"/>
            </a:pPr>
            <a:r>
              <a:rPr lang="en-US" sz="2600"/>
              <a:t>More and more implementations are adding another type of acknowledgement: </a:t>
            </a:r>
            <a:r>
              <a:rPr lang="en-US" sz="2600">
                <a:solidFill>
                  <a:schemeClr val="dk2"/>
                </a:solidFill>
              </a:rPr>
              <a:t>Selective Acknowledgement (</a:t>
            </a:r>
            <a:r>
              <a:rPr lang="en-US" sz="2600">
                <a:solidFill>
                  <a:srgbClr val="FF0000"/>
                </a:solidFill>
              </a:rPr>
              <a:t>SACK</a:t>
            </a:r>
            <a:r>
              <a:rPr lang="en-US" sz="2600">
                <a:solidFill>
                  <a:schemeClr val="dk2"/>
                </a:solidFill>
              </a:rPr>
              <a:t>)</a:t>
            </a:r>
            <a:r>
              <a:rPr lang="en-US" sz="2600"/>
              <a:t>, SACK is implemented as an option at the end of the TCP header.</a:t>
            </a:r>
            <a:endParaRPr sz="3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3"/>
          <p:cNvSpPr txBox="1"/>
          <p:nvPr/>
        </p:nvSpPr>
        <p:spPr>
          <a:xfrm>
            <a:off x="101600" y="6296025"/>
            <a:ext cx="3860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</a:pPr>
            <a:r>
              <a:rPr b="1" i="0" lang="en-US" sz="1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TCP/IP Protocol Suite</a:t>
            </a:r>
            <a:endParaRPr/>
          </a:p>
        </p:txBody>
      </p:sp>
      <p:sp>
        <p:nvSpPr>
          <p:cNvPr id="100" name="Google Shape;100;p13"/>
          <p:cNvSpPr txBox="1"/>
          <p:nvPr/>
        </p:nvSpPr>
        <p:spPr>
          <a:xfrm>
            <a:off x="9389533" y="6243637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01" name="Google Shape;101;p13"/>
          <p:cNvSpPr txBox="1"/>
          <p:nvPr/>
        </p:nvSpPr>
        <p:spPr>
          <a:xfrm>
            <a:off x="488949" y="107950"/>
            <a:ext cx="584400" cy="474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2" name="Google Shape;102;p13"/>
          <p:cNvSpPr txBox="1"/>
          <p:nvPr/>
        </p:nvSpPr>
        <p:spPr>
          <a:xfrm>
            <a:off x="999067" y="107950"/>
            <a:ext cx="438000" cy="4746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3" name="Google Shape;103;p13"/>
          <p:cNvSpPr txBox="1"/>
          <p:nvPr/>
        </p:nvSpPr>
        <p:spPr>
          <a:xfrm>
            <a:off x="654049" y="530225"/>
            <a:ext cx="563100" cy="474600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4" name="Google Shape;104;p13"/>
          <p:cNvSpPr txBox="1"/>
          <p:nvPr/>
        </p:nvSpPr>
        <p:spPr>
          <a:xfrm>
            <a:off x="1147233" y="530225"/>
            <a:ext cx="491100" cy="474600"/>
          </a:xfrm>
          <a:prstGeom prst="rect">
            <a:avLst/>
          </a:prstGeom>
          <a:gradFill>
            <a:gsLst>
              <a:gs pos="0">
                <a:schemeClr val="folHlink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5" name="Google Shape;105;p13"/>
          <p:cNvSpPr txBox="1"/>
          <p:nvPr/>
        </p:nvSpPr>
        <p:spPr>
          <a:xfrm>
            <a:off x="101600" y="457200"/>
            <a:ext cx="747300" cy="4224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hlink"/>
              </a:gs>
            </a:gsLst>
            <a:lin ang="18900044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6" name="Google Shape;106;p13"/>
          <p:cNvSpPr txBox="1"/>
          <p:nvPr/>
        </p:nvSpPr>
        <p:spPr>
          <a:xfrm>
            <a:off x="948267" y="0"/>
            <a:ext cx="42300" cy="1052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7" name="Google Shape;107;p13"/>
          <p:cNvSpPr txBox="1"/>
          <p:nvPr/>
        </p:nvSpPr>
        <p:spPr>
          <a:xfrm>
            <a:off x="590549" y="533400"/>
            <a:ext cx="10968300" cy="3180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108" name="Google Shape;108;p13"/>
          <p:cNvCxnSpPr/>
          <p:nvPr/>
        </p:nvCxnSpPr>
        <p:spPr>
          <a:xfrm>
            <a:off x="812800" y="2624137"/>
            <a:ext cx="10871100" cy="0"/>
          </a:xfrm>
          <a:prstGeom prst="straightConnector1">
            <a:avLst/>
          </a:prstGeom>
          <a:noFill/>
          <a:ln cap="flat" cmpd="sng" w="76200">
            <a:solidFill>
              <a:schemeClr val="folHlink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09" name="Google Shape;109;p13"/>
          <p:cNvCxnSpPr/>
          <p:nvPr/>
        </p:nvCxnSpPr>
        <p:spPr>
          <a:xfrm>
            <a:off x="812800" y="4876800"/>
            <a:ext cx="10871100" cy="0"/>
          </a:xfrm>
          <a:prstGeom prst="straightConnector1">
            <a:avLst/>
          </a:prstGeom>
          <a:noFill/>
          <a:ln cap="flat" cmpd="sng" w="76200">
            <a:solidFill>
              <a:schemeClr val="folHlink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10" name="Google Shape;110;p13"/>
          <p:cNvSpPr txBox="1"/>
          <p:nvPr/>
        </p:nvSpPr>
        <p:spPr>
          <a:xfrm>
            <a:off x="863600" y="2716212"/>
            <a:ext cx="10769700" cy="2062500"/>
          </a:xfrm>
          <a:prstGeom prst="rect">
            <a:avLst/>
          </a:prstGeom>
          <a:solidFill>
            <a:srgbClr val="3333CC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1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Data may arrive out of order and be temporarily stored by the receiving TCP,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1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but TCP guarantees that no out-of-order data are delivered to the process.</a:t>
            </a:r>
            <a:endParaRPr/>
          </a:p>
        </p:txBody>
      </p:sp>
      <p:grpSp>
        <p:nvGrpSpPr>
          <p:cNvPr id="111" name="Google Shape;111;p13"/>
          <p:cNvGrpSpPr/>
          <p:nvPr/>
        </p:nvGrpSpPr>
        <p:grpSpPr>
          <a:xfrm>
            <a:off x="812800" y="1981200"/>
            <a:ext cx="1523899" cy="566741"/>
            <a:chOff x="1200" y="1248"/>
            <a:chExt cx="720" cy="357"/>
          </a:xfrm>
        </p:grpSpPr>
        <p:pic>
          <p:nvPicPr>
            <p:cNvPr id="112" name="Google Shape;112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" name="Google Shape;113;p13"/>
            <p:cNvSpPr txBox="1"/>
            <p:nvPr/>
          </p:nvSpPr>
          <p:spPr>
            <a:xfrm>
              <a:off x="1284" y="1248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hlink"/>
                </a:buClr>
                <a:buSzPts val="2800"/>
                <a:buFont typeface="Times New Roman"/>
                <a:buNone/>
              </a:pPr>
              <a:r>
                <a:rPr b="1" i="1" lang="en-US" sz="2800" u="none">
                  <a:solidFill>
                    <a:schemeClr val="hlink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Note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4"/>
          <p:cNvSpPr txBox="1"/>
          <p:nvPr/>
        </p:nvSpPr>
        <p:spPr>
          <a:xfrm>
            <a:off x="101600" y="6296025"/>
            <a:ext cx="3860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</a:pPr>
            <a:r>
              <a:rPr b="1" i="0" lang="en-US" sz="1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TCP/IP Protocol Suite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9389533" y="6243637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488949" y="107950"/>
            <a:ext cx="584400" cy="474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2" name="Google Shape;122;p14"/>
          <p:cNvSpPr txBox="1"/>
          <p:nvPr/>
        </p:nvSpPr>
        <p:spPr>
          <a:xfrm>
            <a:off x="999067" y="107950"/>
            <a:ext cx="438000" cy="4746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3" name="Google Shape;123;p14"/>
          <p:cNvSpPr txBox="1"/>
          <p:nvPr/>
        </p:nvSpPr>
        <p:spPr>
          <a:xfrm>
            <a:off x="654049" y="530225"/>
            <a:ext cx="563100" cy="474600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4" name="Google Shape;124;p14"/>
          <p:cNvSpPr txBox="1"/>
          <p:nvPr/>
        </p:nvSpPr>
        <p:spPr>
          <a:xfrm>
            <a:off x="1147233" y="530225"/>
            <a:ext cx="491100" cy="474600"/>
          </a:xfrm>
          <a:prstGeom prst="rect">
            <a:avLst/>
          </a:prstGeom>
          <a:gradFill>
            <a:gsLst>
              <a:gs pos="0">
                <a:schemeClr val="folHlink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5" name="Google Shape;125;p14"/>
          <p:cNvSpPr txBox="1"/>
          <p:nvPr/>
        </p:nvSpPr>
        <p:spPr>
          <a:xfrm>
            <a:off x="101600" y="457200"/>
            <a:ext cx="747300" cy="4224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hlink"/>
              </a:gs>
            </a:gsLst>
            <a:lin ang="18900044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6" name="Google Shape;126;p14"/>
          <p:cNvSpPr txBox="1"/>
          <p:nvPr/>
        </p:nvSpPr>
        <p:spPr>
          <a:xfrm>
            <a:off x="948267" y="0"/>
            <a:ext cx="42300" cy="1052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7" name="Google Shape;127;p14"/>
          <p:cNvSpPr txBox="1"/>
          <p:nvPr/>
        </p:nvSpPr>
        <p:spPr>
          <a:xfrm>
            <a:off x="590549" y="533400"/>
            <a:ext cx="10968300" cy="3180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128" name="Google Shape;128;p14"/>
          <p:cNvCxnSpPr/>
          <p:nvPr/>
        </p:nvCxnSpPr>
        <p:spPr>
          <a:xfrm>
            <a:off x="812800" y="2624137"/>
            <a:ext cx="10871100" cy="0"/>
          </a:xfrm>
          <a:prstGeom prst="straightConnector1">
            <a:avLst/>
          </a:prstGeom>
          <a:noFill/>
          <a:ln cap="flat" cmpd="sng" w="76200">
            <a:solidFill>
              <a:schemeClr val="folHlink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29" name="Google Shape;129;p14"/>
          <p:cNvCxnSpPr/>
          <p:nvPr/>
        </p:nvCxnSpPr>
        <p:spPr>
          <a:xfrm>
            <a:off x="812800" y="3886200"/>
            <a:ext cx="10871100" cy="0"/>
          </a:xfrm>
          <a:prstGeom prst="straightConnector1">
            <a:avLst/>
          </a:prstGeom>
          <a:noFill/>
          <a:ln cap="flat" cmpd="sng" w="76200">
            <a:solidFill>
              <a:schemeClr val="folHlink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30" name="Google Shape;130;p14"/>
          <p:cNvSpPr txBox="1"/>
          <p:nvPr/>
        </p:nvSpPr>
        <p:spPr>
          <a:xfrm>
            <a:off x="863600" y="2716212"/>
            <a:ext cx="10769700" cy="1077300"/>
          </a:xfrm>
          <a:prstGeom prst="rect">
            <a:avLst/>
          </a:prstGeom>
          <a:solidFill>
            <a:srgbClr val="3333CC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1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TCP can be best modeled as a </a:t>
            </a:r>
            <a:br>
              <a:rPr b="1" i="1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1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Selective Repeat protocol.</a:t>
            </a:r>
            <a:endParaRPr/>
          </a:p>
        </p:txBody>
      </p:sp>
      <p:grpSp>
        <p:nvGrpSpPr>
          <p:cNvPr id="131" name="Google Shape;131;p14"/>
          <p:cNvGrpSpPr/>
          <p:nvPr/>
        </p:nvGrpSpPr>
        <p:grpSpPr>
          <a:xfrm>
            <a:off x="812800" y="1981200"/>
            <a:ext cx="1523899" cy="566741"/>
            <a:chOff x="1200" y="1248"/>
            <a:chExt cx="720" cy="357"/>
          </a:xfrm>
        </p:grpSpPr>
        <p:pic>
          <p:nvPicPr>
            <p:cNvPr id="132" name="Google Shape;132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" name="Google Shape;133;p14"/>
            <p:cNvSpPr txBox="1"/>
            <p:nvPr/>
          </p:nvSpPr>
          <p:spPr>
            <a:xfrm>
              <a:off x="1284" y="1248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hlink"/>
                </a:buClr>
                <a:buSzPts val="2800"/>
                <a:buFont typeface="Times New Roman"/>
                <a:buNone/>
              </a:pPr>
              <a:r>
                <a:rPr b="1" i="1" lang="en-US" sz="2800" u="none">
                  <a:solidFill>
                    <a:schemeClr val="hlink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Note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5"/>
          <p:cNvSpPr txBox="1"/>
          <p:nvPr>
            <p:ph idx="11" type="ftr"/>
          </p:nvPr>
        </p:nvSpPr>
        <p:spPr>
          <a:xfrm>
            <a:off x="8737600" y="6477000"/>
            <a:ext cx="3251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TCP/IP Protocol Suite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5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fld id="{00000000-1234-1234-1234-123412341234}" type="slidenum">
              <a:rPr lang="en-US"/>
              <a:t>‹#›</a:t>
            </a:fld>
            <a:endParaRPr sz="11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5"/>
          <p:cNvSpPr txBox="1"/>
          <p:nvPr>
            <p:ph type="title"/>
          </p:nvPr>
        </p:nvSpPr>
        <p:spPr>
          <a:xfrm>
            <a:off x="914400" y="228600"/>
            <a:ext cx="9160800" cy="8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00CC"/>
                </a:solidFill>
              </a:rPr>
              <a:t>Rules for Generating ACK (1)</a:t>
            </a:r>
            <a:endParaRPr/>
          </a:p>
        </p:txBody>
      </p:sp>
      <p:sp>
        <p:nvSpPr>
          <p:cNvPr id="141" name="Google Shape;141;p15"/>
          <p:cNvSpPr txBox="1"/>
          <p:nvPr>
            <p:ph idx="1" type="body"/>
          </p:nvPr>
        </p:nvSpPr>
        <p:spPr>
          <a:xfrm>
            <a:off x="914400" y="1324348"/>
            <a:ext cx="10261500" cy="51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1. When one end sends a data segment to the other end, it must include an ACK.  That gives the next sequence number it expects to receive.</a:t>
            </a:r>
            <a:endParaRPr/>
          </a:p>
          <a:p>
            <a:pPr indent="-381000" lvl="0" marL="342900" rtl="0" algn="l">
              <a:lnSpc>
                <a:spcPct val="150000"/>
              </a:lnSpc>
              <a:spcBef>
                <a:spcPts val="96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2.</a:t>
            </a:r>
            <a:r>
              <a:rPr lang="en-US" sz="2400">
                <a:solidFill>
                  <a:schemeClr val="dk2"/>
                </a:solidFill>
              </a:rPr>
              <a:t> </a:t>
            </a:r>
            <a:r>
              <a:rPr lang="en-US" sz="2400"/>
              <a:t>The receiver needs to </a:t>
            </a:r>
            <a:r>
              <a:rPr lang="en-US" sz="2400">
                <a:solidFill>
                  <a:schemeClr val="dk2"/>
                </a:solidFill>
              </a:rPr>
              <a:t>delay sending</a:t>
            </a:r>
            <a:r>
              <a:rPr lang="en-US" sz="2400"/>
              <a:t> (until </a:t>
            </a:r>
            <a:r>
              <a:rPr lang="en-US" sz="2400">
                <a:solidFill>
                  <a:srgbClr val="FF0000"/>
                </a:solidFill>
              </a:rPr>
              <a:t>another segment arrives or 500ms</a:t>
            </a:r>
            <a:r>
              <a:rPr lang="en-US" sz="2400"/>
              <a:t>) an ACK segment if there is only one outstanding in-order segment. It prevents ACK segments from creating extra traffic</a:t>
            </a:r>
            <a:r>
              <a:rPr lang="en-US" sz="2400">
                <a:solidFill>
                  <a:schemeClr val="dk2"/>
                </a:solidFill>
              </a:rPr>
              <a:t>.</a:t>
            </a:r>
            <a:endParaRPr/>
          </a:p>
          <a:p>
            <a:pPr indent="-381000" lvl="0" marL="342900" rtl="0" algn="l">
              <a:lnSpc>
                <a:spcPct val="150000"/>
              </a:lnSpc>
              <a:spcBef>
                <a:spcPts val="96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3. There </a:t>
            </a:r>
            <a:r>
              <a:rPr lang="en-US" sz="2400">
                <a:solidFill>
                  <a:schemeClr val="dk2"/>
                </a:solidFill>
              </a:rPr>
              <a:t>should not be more than 2 in-order unacknowledged segments</a:t>
            </a:r>
            <a:r>
              <a:rPr lang="en-US" sz="2400"/>
              <a:t> at any time. It prevent the unnecessary retransmission.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6"/>
          <p:cNvSpPr txBox="1"/>
          <p:nvPr>
            <p:ph idx="11" type="ftr"/>
          </p:nvPr>
        </p:nvSpPr>
        <p:spPr>
          <a:xfrm>
            <a:off x="8737600" y="6477000"/>
            <a:ext cx="3251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TCP/IP Protocol Suite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6"/>
          <p:cNvSpPr txBox="1"/>
          <p:nvPr>
            <p:ph type="title"/>
          </p:nvPr>
        </p:nvSpPr>
        <p:spPr>
          <a:xfrm>
            <a:off x="914400" y="228600"/>
            <a:ext cx="9160800" cy="8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00CC"/>
                </a:solidFill>
              </a:rPr>
              <a:t>Rules for Generating ACK (2)</a:t>
            </a:r>
            <a:endParaRPr/>
          </a:p>
        </p:txBody>
      </p:sp>
      <p:sp>
        <p:nvSpPr>
          <p:cNvPr id="148" name="Google Shape;148;p16"/>
          <p:cNvSpPr txBox="1"/>
          <p:nvPr>
            <p:ph idx="1" type="body"/>
          </p:nvPr>
        </p:nvSpPr>
        <p:spPr>
          <a:xfrm>
            <a:off x="914400" y="1511278"/>
            <a:ext cx="102615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4. When a </a:t>
            </a:r>
            <a:r>
              <a:rPr lang="en-US" sz="2400">
                <a:solidFill>
                  <a:srgbClr val="FF0000"/>
                </a:solidFill>
              </a:rPr>
              <a:t>segment arrives with an out-of-order sequence number </a:t>
            </a:r>
            <a:r>
              <a:rPr lang="en-US" sz="2400"/>
              <a:t>that is higher than expected, the receiver immediately sends an ACK segment announcing the sequence number of the next expected segment. (for </a:t>
            </a:r>
            <a:r>
              <a:rPr lang="en-US" sz="2400">
                <a:solidFill>
                  <a:schemeClr val="dk2"/>
                </a:solidFill>
              </a:rPr>
              <a:t>fast retransmission</a:t>
            </a:r>
            <a:r>
              <a:rPr lang="en-US" sz="2400"/>
              <a:t>)</a:t>
            </a:r>
            <a:endParaRPr/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5.</a:t>
            </a:r>
            <a:r>
              <a:rPr lang="en-US" sz="2400">
                <a:solidFill>
                  <a:schemeClr val="dk2"/>
                </a:solidFill>
              </a:rPr>
              <a:t> </a:t>
            </a:r>
            <a:r>
              <a:rPr lang="en-US" sz="2400"/>
              <a:t>When a </a:t>
            </a:r>
            <a:r>
              <a:rPr lang="en-US" sz="2400">
                <a:solidFill>
                  <a:srgbClr val="FF0000"/>
                </a:solidFill>
              </a:rPr>
              <a:t>missing segment </a:t>
            </a:r>
            <a:r>
              <a:rPr lang="en-US" sz="2400"/>
              <a:t>arrives, the receiver sends an ACK segment to announce the next sequence number expected.</a:t>
            </a:r>
            <a:endParaRPr/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sz="2400"/>
              <a:t>6. If a </a:t>
            </a:r>
            <a:r>
              <a:rPr lang="en-US" sz="2400">
                <a:solidFill>
                  <a:srgbClr val="FF0000"/>
                </a:solidFill>
              </a:rPr>
              <a:t>duplicate segment </a:t>
            </a:r>
            <a:r>
              <a:rPr lang="en-US" sz="2400"/>
              <a:t>arrives, the receiver immediately sends an ACK.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7"/>
          <p:cNvSpPr txBox="1"/>
          <p:nvPr/>
        </p:nvSpPr>
        <p:spPr>
          <a:xfrm>
            <a:off x="101600" y="6296025"/>
            <a:ext cx="3860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</a:pPr>
            <a:r>
              <a:rPr b="1" i="0" lang="en-US" sz="1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TCP/IP Protocol Suite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9389533" y="6243637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1320800" y="90487"/>
            <a:ext cx="762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Times New Roman"/>
              <a:buNone/>
            </a:pPr>
            <a:r>
              <a:rPr b="1" i="0" lang="en-US" sz="1800" u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15.29</a:t>
            </a:r>
            <a:r>
              <a:rPr b="1" i="0" lang="en-US" sz="1800" u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b="1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Normal operation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488949" y="107950"/>
            <a:ext cx="584400" cy="474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8" name="Google Shape;158;p17"/>
          <p:cNvSpPr txBox="1"/>
          <p:nvPr/>
        </p:nvSpPr>
        <p:spPr>
          <a:xfrm>
            <a:off x="999067" y="107950"/>
            <a:ext cx="438000" cy="4746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9" name="Google Shape;159;p17"/>
          <p:cNvSpPr txBox="1"/>
          <p:nvPr/>
        </p:nvSpPr>
        <p:spPr>
          <a:xfrm>
            <a:off x="654049" y="530225"/>
            <a:ext cx="563100" cy="474600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0" name="Google Shape;160;p17"/>
          <p:cNvSpPr txBox="1"/>
          <p:nvPr/>
        </p:nvSpPr>
        <p:spPr>
          <a:xfrm>
            <a:off x="1147233" y="530225"/>
            <a:ext cx="491100" cy="474600"/>
          </a:xfrm>
          <a:prstGeom prst="rect">
            <a:avLst/>
          </a:prstGeom>
          <a:gradFill>
            <a:gsLst>
              <a:gs pos="0">
                <a:schemeClr val="folHlink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1" name="Google Shape;161;p17"/>
          <p:cNvSpPr txBox="1"/>
          <p:nvPr/>
        </p:nvSpPr>
        <p:spPr>
          <a:xfrm>
            <a:off x="101600" y="457200"/>
            <a:ext cx="747300" cy="4224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hlink"/>
              </a:gs>
            </a:gsLst>
            <a:lin ang="18900044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2" name="Google Shape;162;p17"/>
          <p:cNvSpPr txBox="1"/>
          <p:nvPr/>
        </p:nvSpPr>
        <p:spPr>
          <a:xfrm>
            <a:off x="948267" y="0"/>
            <a:ext cx="42300" cy="1052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3" name="Google Shape;163;p17"/>
          <p:cNvSpPr txBox="1"/>
          <p:nvPr/>
        </p:nvSpPr>
        <p:spPr>
          <a:xfrm>
            <a:off x="590549" y="533400"/>
            <a:ext cx="10968300" cy="3180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64" name="Google Shape;16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5250" y="742950"/>
            <a:ext cx="9580150" cy="5228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8"/>
          <p:cNvSpPr txBox="1"/>
          <p:nvPr/>
        </p:nvSpPr>
        <p:spPr>
          <a:xfrm>
            <a:off x="101600" y="6296025"/>
            <a:ext cx="3860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</a:pPr>
            <a:r>
              <a:rPr b="1" i="0" lang="en-US" sz="1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TCP/IP Protocol Suite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9389533" y="6243637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1320800" y="90487"/>
            <a:ext cx="762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Times New Roman"/>
              <a:buNone/>
            </a:pPr>
            <a:r>
              <a:rPr b="1" i="0" lang="en-US" sz="1800" u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15.30</a:t>
            </a:r>
            <a:r>
              <a:rPr b="1" i="0" lang="en-US" sz="1800" u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b="1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Lost segment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488949" y="107950"/>
            <a:ext cx="584400" cy="474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4" name="Google Shape;174;p18"/>
          <p:cNvSpPr txBox="1"/>
          <p:nvPr/>
        </p:nvSpPr>
        <p:spPr>
          <a:xfrm>
            <a:off x="999067" y="107950"/>
            <a:ext cx="438000" cy="4746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5" name="Google Shape;175;p18"/>
          <p:cNvSpPr txBox="1"/>
          <p:nvPr/>
        </p:nvSpPr>
        <p:spPr>
          <a:xfrm>
            <a:off x="654049" y="530225"/>
            <a:ext cx="563100" cy="474600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6" name="Google Shape;176;p18"/>
          <p:cNvSpPr txBox="1"/>
          <p:nvPr/>
        </p:nvSpPr>
        <p:spPr>
          <a:xfrm>
            <a:off x="1147233" y="530225"/>
            <a:ext cx="491100" cy="474600"/>
          </a:xfrm>
          <a:prstGeom prst="rect">
            <a:avLst/>
          </a:prstGeom>
          <a:gradFill>
            <a:gsLst>
              <a:gs pos="0">
                <a:schemeClr val="folHlink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7" name="Google Shape;177;p18"/>
          <p:cNvSpPr txBox="1"/>
          <p:nvPr/>
        </p:nvSpPr>
        <p:spPr>
          <a:xfrm>
            <a:off x="101600" y="457200"/>
            <a:ext cx="747300" cy="4224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hlink"/>
              </a:gs>
            </a:gsLst>
            <a:lin ang="18900044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8" name="Google Shape;178;p18"/>
          <p:cNvSpPr txBox="1"/>
          <p:nvPr/>
        </p:nvSpPr>
        <p:spPr>
          <a:xfrm>
            <a:off x="948267" y="0"/>
            <a:ext cx="42300" cy="1052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9" name="Google Shape;179;p18"/>
          <p:cNvSpPr txBox="1"/>
          <p:nvPr/>
        </p:nvSpPr>
        <p:spPr>
          <a:xfrm>
            <a:off x="590549" y="533400"/>
            <a:ext cx="10968300" cy="3180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80" name="Google Shape;18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725" y="779450"/>
            <a:ext cx="10156326" cy="4753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9"/>
          <p:cNvSpPr txBox="1"/>
          <p:nvPr/>
        </p:nvSpPr>
        <p:spPr>
          <a:xfrm>
            <a:off x="101600" y="6296025"/>
            <a:ext cx="3860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</a:pPr>
            <a:r>
              <a:rPr b="1" i="0" lang="en-US" sz="1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TCP/IP Protocol Suite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9389533" y="6243637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488949" y="107950"/>
            <a:ext cx="584400" cy="474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9" name="Google Shape;189;p19"/>
          <p:cNvSpPr txBox="1"/>
          <p:nvPr/>
        </p:nvSpPr>
        <p:spPr>
          <a:xfrm>
            <a:off x="999067" y="107950"/>
            <a:ext cx="438000" cy="4746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0" name="Google Shape;190;p19"/>
          <p:cNvSpPr txBox="1"/>
          <p:nvPr/>
        </p:nvSpPr>
        <p:spPr>
          <a:xfrm>
            <a:off x="654049" y="530225"/>
            <a:ext cx="563100" cy="474600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1" name="Google Shape;191;p19"/>
          <p:cNvSpPr txBox="1"/>
          <p:nvPr/>
        </p:nvSpPr>
        <p:spPr>
          <a:xfrm>
            <a:off x="1147233" y="530225"/>
            <a:ext cx="491100" cy="474600"/>
          </a:xfrm>
          <a:prstGeom prst="rect">
            <a:avLst/>
          </a:prstGeom>
          <a:gradFill>
            <a:gsLst>
              <a:gs pos="0">
                <a:schemeClr val="folHlink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2" name="Google Shape;192;p19"/>
          <p:cNvSpPr txBox="1"/>
          <p:nvPr/>
        </p:nvSpPr>
        <p:spPr>
          <a:xfrm>
            <a:off x="101600" y="457200"/>
            <a:ext cx="747300" cy="4224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hlink"/>
              </a:gs>
            </a:gsLst>
            <a:lin ang="18900044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3" name="Google Shape;193;p19"/>
          <p:cNvSpPr txBox="1"/>
          <p:nvPr/>
        </p:nvSpPr>
        <p:spPr>
          <a:xfrm>
            <a:off x="948267" y="0"/>
            <a:ext cx="42300" cy="1052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4" name="Google Shape;194;p19"/>
          <p:cNvSpPr txBox="1"/>
          <p:nvPr/>
        </p:nvSpPr>
        <p:spPr>
          <a:xfrm>
            <a:off x="590549" y="533400"/>
            <a:ext cx="10968300" cy="3180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195" name="Google Shape;195;p19"/>
          <p:cNvCxnSpPr/>
          <p:nvPr/>
        </p:nvCxnSpPr>
        <p:spPr>
          <a:xfrm>
            <a:off x="812800" y="2624137"/>
            <a:ext cx="10871100" cy="0"/>
          </a:xfrm>
          <a:prstGeom prst="straightConnector1">
            <a:avLst/>
          </a:prstGeom>
          <a:noFill/>
          <a:ln cap="flat" cmpd="sng" w="76200">
            <a:solidFill>
              <a:schemeClr val="folHlink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96" name="Google Shape;196;p19"/>
          <p:cNvCxnSpPr/>
          <p:nvPr/>
        </p:nvCxnSpPr>
        <p:spPr>
          <a:xfrm>
            <a:off x="812800" y="3886200"/>
            <a:ext cx="10871100" cy="0"/>
          </a:xfrm>
          <a:prstGeom prst="straightConnector1">
            <a:avLst/>
          </a:prstGeom>
          <a:noFill/>
          <a:ln cap="flat" cmpd="sng" w="76200">
            <a:solidFill>
              <a:schemeClr val="folHlink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97" name="Google Shape;197;p19"/>
          <p:cNvSpPr txBox="1"/>
          <p:nvPr/>
        </p:nvSpPr>
        <p:spPr>
          <a:xfrm>
            <a:off x="863600" y="2716212"/>
            <a:ext cx="10769700" cy="1077300"/>
          </a:xfrm>
          <a:prstGeom prst="rect">
            <a:avLst/>
          </a:prstGeom>
          <a:solidFill>
            <a:srgbClr val="3333CC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1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receiver TCP delivers only ordered data to the process.</a:t>
            </a:r>
            <a:endParaRPr/>
          </a:p>
        </p:txBody>
      </p:sp>
      <p:grpSp>
        <p:nvGrpSpPr>
          <p:cNvPr id="198" name="Google Shape;198;p19"/>
          <p:cNvGrpSpPr/>
          <p:nvPr/>
        </p:nvGrpSpPr>
        <p:grpSpPr>
          <a:xfrm>
            <a:off x="812800" y="1981200"/>
            <a:ext cx="1523899" cy="566741"/>
            <a:chOff x="1200" y="1248"/>
            <a:chExt cx="720" cy="357"/>
          </a:xfrm>
        </p:grpSpPr>
        <p:pic>
          <p:nvPicPr>
            <p:cNvPr id="199" name="Google Shape;199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0" name="Google Shape;200;p19"/>
            <p:cNvSpPr txBox="1"/>
            <p:nvPr/>
          </p:nvSpPr>
          <p:spPr>
            <a:xfrm>
              <a:off x="1284" y="1248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hlink"/>
                </a:buClr>
                <a:buSzPts val="2800"/>
                <a:buFont typeface="Times New Roman"/>
                <a:buNone/>
              </a:pPr>
              <a:r>
                <a:rPr b="1" i="1" lang="en-US" sz="2800" u="none">
                  <a:solidFill>
                    <a:schemeClr val="hlink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Note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0"/>
          <p:cNvSpPr txBox="1"/>
          <p:nvPr/>
        </p:nvSpPr>
        <p:spPr>
          <a:xfrm>
            <a:off x="101600" y="6296025"/>
            <a:ext cx="3860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</a:pPr>
            <a:r>
              <a:rPr b="1" i="0" lang="en-US" sz="1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TCP/IP Protocol Suite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9389533" y="6243637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1320800" y="90487"/>
            <a:ext cx="762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Times New Roman"/>
              <a:buNone/>
            </a:pPr>
            <a:r>
              <a:rPr b="1" i="0" lang="en-US" sz="1800" u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15.31</a:t>
            </a:r>
            <a:r>
              <a:rPr b="1" i="0" lang="en-US" sz="1800" u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b="1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Fast retransmission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488949" y="107950"/>
            <a:ext cx="584400" cy="474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0" name="Google Shape;210;p20"/>
          <p:cNvSpPr txBox="1"/>
          <p:nvPr/>
        </p:nvSpPr>
        <p:spPr>
          <a:xfrm>
            <a:off x="999067" y="107950"/>
            <a:ext cx="438000" cy="4746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1" name="Google Shape;211;p20"/>
          <p:cNvSpPr txBox="1"/>
          <p:nvPr/>
        </p:nvSpPr>
        <p:spPr>
          <a:xfrm>
            <a:off x="654049" y="530225"/>
            <a:ext cx="563100" cy="474600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1147233" y="530225"/>
            <a:ext cx="491100" cy="474600"/>
          </a:xfrm>
          <a:prstGeom prst="rect">
            <a:avLst/>
          </a:prstGeom>
          <a:gradFill>
            <a:gsLst>
              <a:gs pos="0">
                <a:schemeClr val="folHlink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101600" y="457200"/>
            <a:ext cx="747300" cy="4224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hlink"/>
              </a:gs>
            </a:gsLst>
            <a:lin ang="18900044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948267" y="0"/>
            <a:ext cx="42300" cy="1052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>
            <a:off x="590549" y="533400"/>
            <a:ext cx="10968300" cy="3180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16" name="Google Shape;21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7375" y="696900"/>
            <a:ext cx="7649625" cy="5335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39300" y="3433762"/>
            <a:ext cx="1181100" cy="135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43533" y="3719512"/>
            <a:ext cx="12192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13900" y="4419600"/>
            <a:ext cx="1228725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519833" y="4445000"/>
            <a:ext cx="523875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39300" y="5265737"/>
            <a:ext cx="1228725" cy="56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1"/>
          <p:cNvSpPr txBox="1"/>
          <p:nvPr>
            <p:ph type="title"/>
          </p:nvPr>
        </p:nvSpPr>
        <p:spPr>
          <a:xfrm>
            <a:off x="1117600" y="475200"/>
            <a:ext cx="10744200" cy="8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Fast  Retransmit</a:t>
            </a:r>
            <a:endParaRPr/>
          </a:p>
        </p:txBody>
      </p:sp>
      <p:sp>
        <p:nvSpPr>
          <p:cNvPr id="227" name="Google Shape;227;p21"/>
          <p:cNvSpPr txBox="1"/>
          <p:nvPr>
            <p:ph idx="1" type="body"/>
          </p:nvPr>
        </p:nvSpPr>
        <p:spPr>
          <a:xfrm>
            <a:off x="1117600" y="1615329"/>
            <a:ext cx="51693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342900" rtl="0" algn="l">
              <a:spcBef>
                <a:spcPts val="0"/>
              </a:spcBef>
              <a:spcAft>
                <a:spcPts val="0"/>
              </a:spcAft>
              <a:buSzPts val="2120"/>
              <a:buChar char="▪"/>
            </a:pPr>
            <a:r>
              <a:rPr lang="en-US" sz="2600"/>
              <a:t>Time-out period  often relatively long:</a:t>
            </a:r>
            <a:endParaRPr sz="3000"/>
          </a:p>
          <a:p>
            <a:pPr indent="-298450" lvl="1" marL="742950" rtl="0" algn="l">
              <a:spcBef>
                <a:spcPts val="40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long delay before resending lost packet</a:t>
            </a:r>
            <a:endParaRPr sz="2600"/>
          </a:p>
          <a:p>
            <a:pPr indent="-355600" lvl="0" marL="342900" rtl="0" algn="l">
              <a:spcBef>
                <a:spcPts val="480"/>
              </a:spcBef>
              <a:spcAft>
                <a:spcPts val="0"/>
              </a:spcAft>
              <a:buSzPts val="2120"/>
              <a:buChar char="▪"/>
            </a:pPr>
            <a:r>
              <a:rPr lang="en-US" sz="2600"/>
              <a:t>Detect lost segments via duplicate ACKs.</a:t>
            </a:r>
            <a:endParaRPr sz="3000"/>
          </a:p>
          <a:p>
            <a:pPr indent="-298450" lvl="1" marL="742950" rtl="0" algn="l">
              <a:spcBef>
                <a:spcPts val="400"/>
              </a:spcBef>
              <a:spcAft>
                <a:spcPts val="0"/>
              </a:spcAft>
              <a:buSzPts val="2200"/>
              <a:buChar char="•"/>
            </a:pPr>
            <a:r>
              <a:rPr lang="en-US" sz="2200">
                <a:solidFill>
                  <a:schemeClr val="dk1"/>
                </a:solidFill>
              </a:rPr>
              <a:t>Sender often sends many segments back-to-back</a:t>
            </a:r>
            <a:endParaRPr sz="2600"/>
          </a:p>
          <a:p>
            <a:pPr indent="-298450" lvl="1" marL="742950" rtl="0" algn="l">
              <a:spcBef>
                <a:spcPts val="400"/>
              </a:spcBef>
              <a:spcAft>
                <a:spcPts val="0"/>
              </a:spcAft>
              <a:buSzPts val="2200"/>
              <a:buChar char="•"/>
            </a:pPr>
            <a:r>
              <a:rPr lang="en-US" sz="2200">
                <a:solidFill>
                  <a:schemeClr val="dk1"/>
                </a:solidFill>
              </a:rPr>
              <a:t>If segment is lost, there will likely be many duplicate ACKs.</a:t>
            </a:r>
            <a:endParaRPr sz="2200"/>
          </a:p>
        </p:txBody>
      </p:sp>
      <p:sp>
        <p:nvSpPr>
          <p:cNvPr id="228" name="Google Shape;228;p21"/>
          <p:cNvSpPr txBox="1"/>
          <p:nvPr>
            <p:ph idx="2" type="body"/>
          </p:nvPr>
        </p:nvSpPr>
        <p:spPr>
          <a:xfrm>
            <a:off x="5994400" y="1600200"/>
            <a:ext cx="52833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61950" lvl="0" marL="342900" rtl="0" algn="l">
              <a:spcBef>
                <a:spcPts val="0"/>
              </a:spcBef>
              <a:spcAft>
                <a:spcPts val="0"/>
              </a:spcAft>
              <a:buSzPts val="2220"/>
              <a:buChar char="▪"/>
            </a:pPr>
            <a:r>
              <a:rPr lang="en-US" sz="2700"/>
              <a:t>If sender receives 3 ACKs for the same data, it supposes that segment after ACKed data was lost:</a:t>
            </a:r>
            <a:endParaRPr sz="3100"/>
          </a:p>
          <a:p>
            <a:pPr indent="-304800" lvl="1" marL="742950" rtl="0" algn="l">
              <a:spcBef>
                <a:spcPts val="400"/>
              </a:spcBef>
              <a:spcAft>
                <a:spcPts val="0"/>
              </a:spcAft>
              <a:buSzPts val="2300"/>
              <a:buChar char="•"/>
            </a:pPr>
            <a:r>
              <a:rPr lang="en-US" sz="2300" u="sng">
                <a:solidFill>
                  <a:srgbClr val="FF0000"/>
                </a:solidFill>
              </a:rPr>
              <a:t>fast retransmit:</a:t>
            </a:r>
            <a:r>
              <a:rPr lang="en-US" sz="2300">
                <a:solidFill>
                  <a:srgbClr val="FF0000"/>
                </a:solidFill>
              </a:rPr>
              <a:t> </a:t>
            </a:r>
            <a:r>
              <a:rPr lang="en-US" sz="2300"/>
              <a:t>resend segment before timer expires</a:t>
            </a:r>
            <a:endParaRPr sz="27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2"/>
          <p:cNvSpPr txBox="1"/>
          <p:nvPr/>
        </p:nvSpPr>
        <p:spPr>
          <a:xfrm>
            <a:off x="101600" y="6296025"/>
            <a:ext cx="3860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</a:pPr>
            <a:r>
              <a:rPr b="1" i="0" lang="en-US" sz="1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TCP/IP Protocol Suite</a:t>
            </a:r>
            <a:endParaRPr/>
          </a:p>
        </p:txBody>
      </p:sp>
      <p:sp>
        <p:nvSpPr>
          <p:cNvPr id="235" name="Google Shape;235;p22"/>
          <p:cNvSpPr txBox="1"/>
          <p:nvPr/>
        </p:nvSpPr>
        <p:spPr>
          <a:xfrm>
            <a:off x="9389533" y="6243637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1320800" y="90487"/>
            <a:ext cx="762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Times New Roman"/>
              <a:buNone/>
            </a:pPr>
            <a:r>
              <a:rPr b="1" i="0" lang="en-US" sz="1800" u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15.32</a:t>
            </a:r>
            <a:r>
              <a:rPr b="1" i="0" lang="en-US" sz="1800" u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b="1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Lost acknowledgment</a:t>
            </a:r>
            <a:endParaRPr/>
          </a:p>
        </p:txBody>
      </p:sp>
      <p:sp>
        <p:nvSpPr>
          <p:cNvPr id="237" name="Google Shape;237;p22"/>
          <p:cNvSpPr txBox="1"/>
          <p:nvPr/>
        </p:nvSpPr>
        <p:spPr>
          <a:xfrm>
            <a:off x="488949" y="107950"/>
            <a:ext cx="584400" cy="474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8" name="Google Shape;238;p22"/>
          <p:cNvSpPr txBox="1"/>
          <p:nvPr/>
        </p:nvSpPr>
        <p:spPr>
          <a:xfrm>
            <a:off x="999067" y="107950"/>
            <a:ext cx="438000" cy="4746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9" name="Google Shape;239;p22"/>
          <p:cNvSpPr txBox="1"/>
          <p:nvPr/>
        </p:nvSpPr>
        <p:spPr>
          <a:xfrm>
            <a:off x="654049" y="530225"/>
            <a:ext cx="563100" cy="474600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40" name="Google Shape;240;p22"/>
          <p:cNvSpPr txBox="1"/>
          <p:nvPr/>
        </p:nvSpPr>
        <p:spPr>
          <a:xfrm>
            <a:off x="1147233" y="530225"/>
            <a:ext cx="491100" cy="474600"/>
          </a:xfrm>
          <a:prstGeom prst="rect">
            <a:avLst/>
          </a:prstGeom>
          <a:gradFill>
            <a:gsLst>
              <a:gs pos="0">
                <a:schemeClr val="folHlink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41" name="Google Shape;241;p22"/>
          <p:cNvSpPr txBox="1"/>
          <p:nvPr/>
        </p:nvSpPr>
        <p:spPr>
          <a:xfrm>
            <a:off x="101600" y="457200"/>
            <a:ext cx="747300" cy="4224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hlink"/>
              </a:gs>
            </a:gsLst>
            <a:lin ang="18900044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42" name="Google Shape;242;p22"/>
          <p:cNvSpPr txBox="1"/>
          <p:nvPr/>
        </p:nvSpPr>
        <p:spPr>
          <a:xfrm>
            <a:off x="948267" y="0"/>
            <a:ext cx="42300" cy="1052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43" name="Google Shape;243;p22"/>
          <p:cNvSpPr txBox="1"/>
          <p:nvPr/>
        </p:nvSpPr>
        <p:spPr>
          <a:xfrm>
            <a:off x="590549" y="533400"/>
            <a:ext cx="10968300" cy="3180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44" name="Google Shape;24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9626" y="857250"/>
            <a:ext cx="8754976" cy="4729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3"/>
          <p:cNvSpPr txBox="1"/>
          <p:nvPr/>
        </p:nvSpPr>
        <p:spPr>
          <a:xfrm>
            <a:off x="101600" y="6296025"/>
            <a:ext cx="3860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</a:pPr>
            <a:r>
              <a:rPr b="1" i="0" lang="en-US" sz="1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TCP/IP Protocol Suite</a:t>
            </a:r>
            <a:endParaRPr/>
          </a:p>
        </p:txBody>
      </p:sp>
      <p:sp>
        <p:nvSpPr>
          <p:cNvPr id="251" name="Google Shape;251;p23"/>
          <p:cNvSpPr txBox="1"/>
          <p:nvPr/>
        </p:nvSpPr>
        <p:spPr>
          <a:xfrm>
            <a:off x="9389533" y="6243637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52" name="Google Shape;252;p23"/>
          <p:cNvSpPr txBox="1"/>
          <p:nvPr/>
        </p:nvSpPr>
        <p:spPr>
          <a:xfrm>
            <a:off x="1320800" y="90487"/>
            <a:ext cx="1056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Times New Roman"/>
              <a:buNone/>
            </a:pPr>
            <a:r>
              <a:rPr b="1" i="0" lang="en-US" sz="1800" u="non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15.33</a:t>
            </a:r>
            <a:r>
              <a:rPr b="1" i="0" lang="en-US" sz="1800" u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b="1" i="1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Lost acknowledgment corrected by resending a segment</a:t>
            </a:r>
            <a:endParaRPr/>
          </a:p>
        </p:txBody>
      </p:sp>
      <p:sp>
        <p:nvSpPr>
          <p:cNvPr id="253" name="Google Shape;253;p23"/>
          <p:cNvSpPr txBox="1"/>
          <p:nvPr/>
        </p:nvSpPr>
        <p:spPr>
          <a:xfrm>
            <a:off x="488949" y="107950"/>
            <a:ext cx="584400" cy="474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4" name="Google Shape;254;p23"/>
          <p:cNvSpPr txBox="1"/>
          <p:nvPr/>
        </p:nvSpPr>
        <p:spPr>
          <a:xfrm>
            <a:off x="999067" y="107950"/>
            <a:ext cx="438000" cy="4746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5" name="Google Shape;255;p23"/>
          <p:cNvSpPr txBox="1"/>
          <p:nvPr/>
        </p:nvSpPr>
        <p:spPr>
          <a:xfrm>
            <a:off x="654049" y="530225"/>
            <a:ext cx="563100" cy="474600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6" name="Google Shape;256;p23"/>
          <p:cNvSpPr txBox="1"/>
          <p:nvPr/>
        </p:nvSpPr>
        <p:spPr>
          <a:xfrm>
            <a:off x="1147233" y="530225"/>
            <a:ext cx="491100" cy="474600"/>
          </a:xfrm>
          <a:prstGeom prst="rect">
            <a:avLst/>
          </a:prstGeom>
          <a:gradFill>
            <a:gsLst>
              <a:gs pos="0">
                <a:schemeClr val="folHlink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7" name="Google Shape;257;p23"/>
          <p:cNvSpPr txBox="1"/>
          <p:nvPr/>
        </p:nvSpPr>
        <p:spPr>
          <a:xfrm>
            <a:off x="101600" y="457200"/>
            <a:ext cx="747300" cy="4224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hlink"/>
              </a:gs>
            </a:gsLst>
            <a:lin ang="18900044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8" name="Google Shape;258;p23"/>
          <p:cNvSpPr txBox="1"/>
          <p:nvPr/>
        </p:nvSpPr>
        <p:spPr>
          <a:xfrm>
            <a:off x="948267" y="0"/>
            <a:ext cx="42300" cy="1052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9" name="Google Shape;259;p23"/>
          <p:cNvSpPr txBox="1"/>
          <p:nvPr/>
        </p:nvSpPr>
        <p:spPr>
          <a:xfrm>
            <a:off x="590549" y="533400"/>
            <a:ext cx="10968300" cy="3180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60" name="Google Shape;26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34574" y="1079500"/>
            <a:ext cx="9378721" cy="43442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4"/>
          <p:cNvSpPr txBox="1"/>
          <p:nvPr/>
        </p:nvSpPr>
        <p:spPr>
          <a:xfrm>
            <a:off x="101600" y="6296025"/>
            <a:ext cx="3860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</a:pPr>
            <a:r>
              <a:rPr b="1" i="0" lang="en-US" sz="1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TCP/IP Protocol Suite</a:t>
            </a:r>
            <a:endParaRPr/>
          </a:p>
        </p:txBody>
      </p:sp>
      <p:sp>
        <p:nvSpPr>
          <p:cNvPr id="267" name="Google Shape;267;p24"/>
          <p:cNvSpPr txBox="1"/>
          <p:nvPr/>
        </p:nvSpPr>
        <p:spPr>
          <a:xfrm>
            <a:off x="9389533" y="6243637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68" name="Google Shape;268;p24"/>
          <p:cNvSpPr txBox="1"/>
          <p:nvPr/>
        </p:nvSpPr>
        <p:spPr>
          <a:xfrm>
            <a:off x="488949" y="107950"/>
            <a:ext cx="584400" cy="474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69" name="Google Shape;269;p24"/>
          <p:cNvSpPr txBox="1"/>
          <p:nvPr/>
        </p:nvSpPr>
        <p:spPr>
          <a:xfrm>
            <a:off x="999067" y="107950"/>
            <a:ext cx="438000" cy="4746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70" name="Google Shape;270;p24"/>
          <p:cNvSpPr txBox="1"/>
          <p:nvPr/>
        </p:nvSpPr>
        <p:spPr>
          <a:xfrm>
            <a:off x="654049" y="530225"/>
            <a:ext cx="563100" cy="474600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71" name="Google Shape;271;p24"/>
          <p:cNvSpPr txBox="1"/>
          <p:nvPr/>
        </p:nvSpPr>
        <p:spPr>
          <a:xfrm>
            <a:off x="1147233" y="530225"/>
            <a:ext cx="491100" cy="474600"/>
          </a:xfrm>
          <a:prstGeom prst="rect">
            <a:avLst/>
          </a:prstGeom>
          <a:gradFill>
            <a:gsLst>
              <a:gs pos="0">
                <a:schemeClr val="folHlink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72" name="Google Shape;272;p24"/>
          <p:cNvSpPr txBox="1"/>
          <p:nvPr/>
        </p:nvSpPr>
        <p:spPr>
          <a:xfrm>
            <a:off x="101600" y="457200"/>
            <a:ext cx="747300" cy="4224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hlink"/>
              </a:gs>
            </a:gsLst>
            <a:lin ang="18900044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73" name="Google Shape;273;p24"/>
          <p:cNvSpPr txBox="1"/>
          <p:nvPr/>
        </p:nvSpPr>
        <p:spPr>
          <a:xfrm>
            <a:off x="948267" y="0"/>
            <a:ext cx="42300" cy="1052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74" name="Google Shape;274;p24"/>
          <p:cNvSpPr txBox="1"/>
          <p:nvPr/>
        </p:nvSpPr>
        <p:spPr>
          <a:xfrm>
            <a:off x="590549" y="533400"/>
            <a:ext cx="10968300" cy="3180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275" name="Google Shape;275;p24"/>
          <p:cNvCxnSpPr/>
          <p:nvPr/>
        </p:nvCxnSpPr>
        <p:spPr>
          <a:xfrm>
            <a:off x="812800" y="2624137"/>
            <a:ext cx="10871100" cy="0"/>
          </a:xfrm>
          <a:prstGeom prst="straightConnector1">
            <a:avLst/>
          </a:prstGeom>
          <a:noFill/>
          <a:ln cap="flat" cmpd="sng" w="76200">
            <a:solidFill>
              <a:schemeClr val="folHlink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76" name="Google Shape;276;p24"/>
          <p:cNvCxnSpPr/>
          <p:nvPr/>
        </p:nvCxnSpPr>
        <p:spPr>
          <a:xfrm>
            <a:off x="812800" y="4343400"/>
            <a:ext cx="10871100" cy="0"/>
          </a:xfrm>
          <a:prstGeom prst="straightConnector1">
            <a:avLst/>
          </a:prstGeom>
          <a:noFill/>
          <a:ln cap="flat" cmpd="sng" w="76200">
            <a:solidFill>
              <a:schemeClr val="folHlink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77" name="Google Shape;277;p24"/>
          <p:cNvSpPr txBox="1"/>
          <p:nvPr/>
        </p:nvSpPr>
        <p:spPr>
          <a:xfrm>
            <a:off x="863600" y="2716212"/>
            <a:ext cx="10769700" cy="1569900"/>
          </a:xfrm>
          <a:prstGeom prst="rect">
            <a:avLst/>
          </a:prstGeom>
          <a:solidFill>
            <a:srgbClr val="3333CC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1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Lost acknowledgments may create deadlock if they are not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b="1" i="1" lang="en-US" sz="32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properly handled.</a:t>
            </a:r>
            <a:endParaRPr/>
          </a:p>
        </p:txBody>
      </p:sp>
      <p:grpSp>
        <p:nvGrpSpPr>
          <p:cNvPr id="278" name="Google Shape;278;p24"/>
          <p:cNvGrpSpPr/>
          <p:nvPr/>
        </p:nvGrpSpPr>
        <p:grpSpPr>
          <a:xfrm>
            <a:off x="812800" y="1981200"/>
            <a:ext cx="1523899" cy="566741"/>
            <a:chOff x="1200" y="1248"/>
            <a:chExt cx="720" cy="357"/>
          </a:xfrm>
        </p:grpSpPr>
        <p:pic>
          <p:nvPicPr>
            <p:cNvPr id="279" name="Google Shape;279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0" name="Google Shape;280;p24"/>
            <p:cNvSpPr txBox="1"/>
            <p:nvPr/>
          </p:nvSpPr>
          <p:spPr>
            <a:xfrm>
              <a:off x="1284" y="1248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hlink"/>
                </a:buClr>
                <a:buSzPts val="2800"/>
                <a:buFont typeface="Times New Roman"/>
                <a:buNone/>
              </a:pPr>
              <a:r>
                <a:rPr b="1" i="1" lang="en-US" sz="2800" u="none">
                  <a:solidFill>
                    <a:schemeClr val="hlink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Note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5"/>
          <p:cNvSpPr txBox="1"/>
          <p:nvPr/>
        </p:nvSpPr>
        <p:spPr>
          <a:xfrm>
            <a:off x="101600" y="6296025"/>
            <a:ext cx="3860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</a:pPr>
            <a:r>
              <a:rPr b="1" i="0" lang="en-US" sz="1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TCP/IP Protocol Suite</a:t>
            </a:r>
            <a:endParaRPr/>
          </a:p>
        </p:txBody>
      </p:sp>
      <p:sp>
        <p:nvSpPr>
          <p:cNvPr id="287" name="Google Shape;287;p25"/>
          <p:cNvSpPr txBox="1"/>
          <p:nvPr/>
        </p:nvSpPr>
        <p:spPr>
          <a:xfrm>
            <a:off x="9389533" y="6243637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88" name="Google Shape;288;p25"/>
          <p:cNvSpPr txBox="1"/>
          <p:nvPr/>
        </p:nvSpPr>
        <p:spPr>
          <a:xfrm>
            <a:off x="304800" y="355600"/>
            <a:ext cx="11204400" cy="646500"/>
          </a:xfrm>
          <a:prstGeom prst="rect">
            <a:avLst/>
          </a:prstGeom>
          <a:solidFill>
            <a:schemeClr val="folHlink"/>
          </a:solidFill>
          <a:ln cap="flat" cmpd="sng" w="9525">
            <a:solidFill>
              <a:schemeClr val="fol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mes"/>
              <a:buNone/>
            </a:pPr>
            <a:r>
              <a:rPr b="1" i="0" lang="en-US" sz="3600" u="none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15-9  CONGESTION CONTROL</a:t>
            </a:r>
            <a:endParaRPr/>
          </a:p>
        </p:txBody>
      </p:sp>
      <p:sp>
        <p:nvSpPr>
          <p:cNvPr id="289" name="Google Shape;289;p25"/>
          <p:cNvSpPr txBox="1"/>
          <p:nvPr/>
        </p:nvSpPr>
        <p:spPr>
          <a:xfrm>
            <a:off x="10972800" y="6400800"/>
            <a:ext cx="24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90" name="Google Shape;290;p25"/>
          <p:cNvSpPr txBox="1"/>
          <p:nvPr/>
        </p:nvSpPr>
        <p:spPr>
          <a:xfrm>
            <a:off x="203200" y="1524000"/>
            <a:ext cx="11785500" cy="31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mo"/>
              <a:buNone/>
            </a:pPr>
            <a:r>
              <a:rPr b="1" i="0" lang="en-US" sz="2800" u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TCP uses</a:t>
            </a:r>
            <a:endParaRPr b="1" i="0" sz="2800" u="none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mo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mo"/>
              <a:buNone/>
            </a:pPr>
            <a:r>
              <a:rPr b="1" lang="en-US" sz="2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1. </a:t>
            </a:r>
            <a:r>
              <a:rPr b="1" i="0" lang="en-US" sz="2800" u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congestion window and </a:t>
            </a:r>
            <a:endParaRPr b="1" i="0" sz="2800" u="none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mo"/>
              <a:buNone/>
            </a:pPr>
            <a:r>
              <a:rPr b="1" lang="en-US" sz="2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2. </a:t>
            </a:r>
            <a:r>
              <a:rPr b="1" i="0" lang="en-US" sz="2800" u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congestion policy </a:t>
            </a:r>
            <a:endParaRPr b="1" i="0" sz="2800" u="none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mo"/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mo"/>
              <a:buNone/>
            </a:pPr>
            <a:r>
              <a:rPr b="1" lang="en-US" sz="2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to </a:t>
            </a:r>
            <a:r>
              <a:rPr b="1" i="0" lang="en-US" sz="2800" u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avoid congestion and detect and alleviate congestion after it has occurred.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99"/>
            </a:gs>
            <a:gs pos="100000">
              <a:srgbClr val="767647"/>
            </a:gs>
          </a:gsLst>
          <a:lin ang="0" scaled="0"/>
        </a:gra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6"/>
          <p:cNvSpPr txBox="1"/>
          <p:nvPr/>
        </p:nvSpPr>
        <p:spPr>
          <a:xfrm>
            <a:off x="101600" y="6296025"/>
            <a:ext cx="3860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ahoma"/>
              <a:buNone/>
            </a:pPr>
            <a:r>
              <a:rPr b="1" i="0" lang="en-US" sz="1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TCP/IP Protocol Suite</a:t>
            </a:r>
            <a:endParaRPr/>
          </a:p>
        </p:txBody>
      </p:sp>
      <p:sp>
        <p:nvSpPr>
          <p:cNvPr id="297" name="Google Shape;297;p26"/>
          <p:cNvSpPr txBox="1"/>
          <p:nvPr/>
        </p:nvSpPr>
        <p:spPr>
          <a:xfrm>
            <a:off x="9389533" y="6243637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98" name="Google Shape;298;p26"/>
          <p:cNvSpPr txBox="1"/>
          <p:nvPr/>
        </p:nvSpPr>
        <p:spPr>
          <a:xfrm>
            <a:off x="304800" y="152400"/>
            <a:ext cx="7292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Times"/>
              <a:buNone/>
            </a:pPr>
            <a:r>
              <a:rPr b="1" i="1" lang="en-US" sz="3200" u="none">
                <a:solidFill>
                  <a:schemeClr val="hlink"/>
                </a:solidFill>
                <a:latin typeface="Times"/>
                <a:ea typeface="Times"/>
                <a:cs typeface="Times"/>
                <a:sym typeface="Times"/>
              </a:rPr>
              <a:t>Topics Discussed in the Section</a:t>
            </a:r>
            <a:endParaRPr/>
          </a:p>
        </p:txBody>
      </p:sp>
      <p:sp>
        <p:nvSpPr>
          <p:cNvPr id="299" name="Google Shape;299;p26"/>
          <p:cNvSpPr txBox="1"/>
          <p:nvPr/>
        </p:nvSpPr>
        <p:spPr>
          <a:xfrm>
            <a:off x="10972800" y="6400800"/>
            <a:ext cx="245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00" name="Google Shape;300;p26"/>
          <p:cNvSpPr txBox="1"/>
          <p:nvPr/>
        </p:nvSpPr>
        <p:spPr>
          <a:xfrm>
            <a:off x="406400" y="989012"/>
            <a:ext cx="11175900" cy="11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08025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76"/>
              <a:buFont typeface="Noto Sans Symbols"/>
              <a:buChar char="✔"/>
            </a:pPr>
            <a:r>
              <a:rPr b="1" i="0" lang="en-US" sz="2800" u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Congestion Window</a:t>
            </a:r>
            <a:endParaRPr/>
          </a:p>
          <a:p>
            <a:pPr indent="-208025" lvl="0" marL="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3276"/>
              <a:buFont typeface="Noto Sans Symbols"/>
              <a:buChar char="✔"/>
            </a:pPr>
            <a:r>
              <a:rPr b="1" i="0" lang="en-US" sz="2800" u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Congestion Policy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7"/>
          <p:cNvSpPr txBox="1"/>
          <p:nvPr>
            <p:ph idx="12" type="sldNum"/>
          </p:nvPr>
        </p:nvSpPr>
        <p:spPr>
          <a:xfrm>
            <a:off x="9347200" y="6477000"/>
            <a:ext cx="2844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fld id="{00000000-1234-1234-1234-123412341234}" type="slidenum">
              <a:rPr lang="en-US"/>
              <a:t>‹#›</a:t>
            </a:fld>
            <a:endParaRPr sz="11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7"/>
          <p:cNvSpPr txBox="1"/>
          <p:nvPr>
            <p:ph type="title"/>
          </p:nvPr>
        </p:nvSpPr>
        <p:spPr>
          <a:xfrm>
            <a:off x="827689" y="152400"/>
            <a:ext cx="105297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Congestion</a:t>
            </a:r>
            <a:endParaRPr/>
          </a:p>
        </p:txBody>
      </p:sp>
      <p:sp>
        <p:nvSpPr>
          <p:cNvPr id="307" name="Google Shape;307;p27"/>
          <p:cNvSpPr txBox="1"/>
          <p:nvPr>
            <p:ph idx="1" type="body"/>
          </p:nvPr>
        </p:nvSpPr>
        <p:spPr>
          <a:xfrm>
            <a:off x="762000" y="1638225"/>
            <a:ext cx="10385100" cy="44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080"/>
              <a:buChar char="▪"/>
            </a:pPr>
            <a:r>
              <a:rPr lang="en-US"/>
              <a:t>Informally: “too many sources sending too much data too fast for </a:t>
            </a:r>
            <a:r>
              <a:rPr i="1" lang="en-US">
                <a:solidFill>
                  <a:schemeClr val="accent2"/>
                </a:solidFill>
              </a:rPr>
              <a:t>network</a:t>
            </a:r>
            <a:r>
              <a:rPr lang="en-US"/>
              <a:t> to handle”</a:t>
            </a:r>
            <a:endParaRPr/>
          </a:p>
          <a:p>
            <a:pPr indent="-342900" lvl="0" marL="342900" rtl="0" algn="l">
              <a:spcBef>
                <a:spcPts val="520"/>
              </a:spcBef>
              <a:spcAft>
                <a:spcPts val="0"/>
              </a:spcAft>
              <a:buSzPts val="2080"/>
              <a:buChar char="▪"/>
            </a:pPr>
            <a:r>
              <a:rPr lang="en-US"/>
              <a:t>Appears if the </a:t>
            </a:r>
            <a:r>
              <a:rPr lang="en-US" u="sng"/>
              <a:t>load</a:t>
            </a:r>
            <a:r>
              <a:rPr lang="en-US"/>
              <a:t> on the network is greater than the </a:t>
            </a:r>
            <a:r>
              <a:rPr lang="en-US" u="sng"/>
              <a:t>capacity</a:t>
            </a:r>
            <a:r>
              <a:rPr lang="en-US"/>
              <a:t> of the network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2200"/>
              <a:buChar char="•"/>
            </a:pPr>
            <a:r>
              <a:rPr b="1" lang="en-US"/>
              <a:t>load:</a:t>
            </a:r>
            <a:r>
              <a:rPr lang="en-US"/>
              <a:t> the number of packets sent to the network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2200"/>
              <a:buChar char="•"/>
            </a:pPr>
            <a:r>
              <a:rPr b="1" lang="en-US"/>
              <a:t>capacity:</a:t>
            </a:r>
            <a:r>
              <a:rPr lang="en-US"/>
              <a:t> the number of packets a network can handle</a:t>
            </a:r>
            <a:endParaRPr/>
          </a:p>
          <a:p>
            <a:pPr indent="-342900" lvl="0" marL="342900" rtl="0" algn="l">
              <a:spcBef>
                <a:spcPts val="520"/>
              </a:spcBef>
              <a:spcAft>
                <a:spcPts val="0"/>
              </a:spcAft>
              <a:buSzPts val="2080"/>
              <a:buChar char="▪"/>
            </a:pPr>
            <a:r>
              <a:rPr lang="en-US"/>
              <a:t>manifestations: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2200"/>
              <a:buChar char="•"/>
            </a:pPr>
            <a:r>
              <a:rPr lang="en-US"/>
              <a:t>buffer overflow at routers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2200"/>
              <a:buChar char="•"/>
            </a:pPr>
            <a:r>
              <a:rPr lang="en-US"/>
              <a:t>queuing in router buffers</a:t>
            </a:r>
            <a:endParaRPr/>
          </a:p>
          <a:p>
            <a:pPr indent="-342900" lvl="0" marL="342900" rtl="0" algn="l">
              <a:spcBef>
                <a:spcPts val="520"/>
              </a:spcBef>
              <a:spcAft>
                <a:spcPts val="0"/>
              </a:spcAft>
              <a:buSzPts val="2080"/>
              <a:buFont typeface="Noto Sans Symbol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8"/>
          <p:cNvSpPr txBox="1"/>
          <p:nvPr>
            <p:ph type="title"/>
          </p:nvPr>
        </p:nvSpPr>
        <p:spPr>
          <a:xfrm>
            <a:off x="798690" y="208643"/>
            <a:ext cx="11393400" cy="8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000"/>
              <a:t>Causes/costs of congestion: insights</a:t>
            </a:r>
            <a:endParaRPr b="0" sz="4000"/>
          </a:p>
        </p:txBody>
      </p:sp>
      <p:grpSp>
        <p:nvGrpSpPr>
          <p:cNvPr id="314" name="Google Shape;314;p28"/>
          <p:cNvGrpSpPr/>
          <p:nvPr/>
        </p:nvGrpSpPr>
        <p:grpSpPr>
          <a:xfrm>
            <a:off x="1054099" y="5185696"/>
            <a:ext cx="8420101" cy="1336368"/>
            <a:chOff x="1054099" y="4728508"/>
            <a:chExt cx="8420101" cy="1336368"/>
          </a:xfrm>
        </p:grpSpPr>
        <p:sp>
          <p:nvSpPr>
            <p:cNvPr id="315" name="Google Shape;315;p28"/>
            <p:cNvSpPr/>
            <p:nvPr/>
          </p:nvSpPr>
          <p:spPr>
            <a:xfrm>
              <a:off x="1206500" y="5114925"/>
              <a:ext cx="8267700" cy="409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16" name="Google Shape;316;p28"/>
            <p:cNvSpPr/>
            <p:nvPr/>
          </p:nvSpPr>
          <p:spPr>
            <a:xfrm>
              <a:off x="1054099" y="4926013"/>
              <a:ext cx="6735900" cy="80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800"/>
                <a:buFont typeface="Noto Sans Symbols"/>
                <a:buChar char="▪"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upstream transmission capacity / buffering wasted for packets lost downstream</a:t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17" name="Google Shape;317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734126" y="4728508"/>
              <a:ext cx="1657096" cy="133636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8" name="Google Shape;318;p28"/>
          <p:cNvGrpSpPr/>
          <p:nvPr/>
        </p:nvGrpSpPr>
        <p:grpSpPr>
          <a:xfrm>
            <a:off x="1028700" y="2052023"/>
            <a:ext cx="10080600" cy="1334790"/>
            <a:chOff x="1028700" y="1860299"/>
            <a:chExt cx="10080600" cy="1334790"/>
          </a:xfrm>
        </p:grpSpPr>
        <p:sp>
          <p:nvSpPr>
            <p:cNvPr id="319" name="Google Shape;319;p28"/>
            <p:cNvSpPr/>
            <p:nvPr/>
          </p:nvSpPr>
          <p:spPr>
            <a:xfrm>
              <a:off x="1028700" y="2139156"/>
              <a:ext cx="10080600" cy="4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800"/>
                <a:buFont typeface="Noto Sans Symbols"/>
                <a:buChar char="▪"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delay increases as capacity approached </a:t>
              </a:r>
              <a:endParaRPr/>
            </a:p>
          </p:txBody>
        </p:sp>
        <p:pic>
          <p:nvPicPr>
            <p:cNvPr id="320" name="Google Shape;320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451601" y="1860299"/>
              <a:ext cx="1402989" cy="133479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21" name="Google Shape;321;p28"/>
          <p:cNvGrpSpPr/>
          <p:nvPr/>
        </p:nvGrpSpPr>
        <p:grpSpPr>
          <a:xfrm>
            <a:off x="1041400" y="4167737"/>
            <a:ext cx="9952138" cy="1463042"/>
            <a:chOff x="1041400" y="4167737"/>
            <a:chExt cx="9952138" cy="1463042"/>
          </a:xfrm>
        </p:grpSpPr>
        <p:sp>
          <p:nvSpPr>
            <p:cNvPr id="322" name="Google Shape;322;p28"/>
            <p:cNvSpPr/>
            <p:nvPr/>
          </p:nvSpPr>
          <p:spPr>
            <a:xfrm>
              <a:off x="1041400" y="4352873"/>
              <a:ext cx="6769200" cy="76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800"/>
                <a:buFont typeface="Noto Sans Symbols"/>
                <a:buChar char="▪"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un-needed duplicates further decreases effective throughput</a:t>
              </a:r>
              <a:endParaRPr/>
            </a:p>
          </p:txBody>
        </p:sp>
        <p:pic>
          <p:nvPicPr>
            <p:cNvPr id="323" name="Google Shape;323;p2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9364995" y="4167737"/>
              <a:ext cx="1628543" cy="146304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24" name="Google Shape;324;p28"/>
          <p:cNvGrpSpPr/>
          <p:nvPr/>
        </p:nvGrpSpPr>
        <p:grpSpPr>
          <a:xfrm>
            <a:off x="1041400" y="2983830"/>
            <a:ext cx="8301120" cy="1447534"/>
            <a:chOff x="1041400" y="2983830"/>
            <a:chExt cx="8301120" cy="1447534"/>
          </a:xfrm>
        </p:grpSpPr>
        <p:sp>
          <p:nvSpPr>
            <p:cNvPr id="325" name="Google Shape;325;p28"/>
            <p:cNvSpPr/>
            <p:nvPr/>
          </p:nvSpPr>
          <p:spPr>
            <a:xfrm>
              <a:off x="1041400" y="3256108"/>
              <a:ext cx="6332700" cy="42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800"/>
                <a:buFont typeface="Noto Sans Symbols"/>
                <a:buChar char="▪"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loss/retransmission decreases effective throughput</a:t>
              </a:r>
              <a:endParaRPr/>
            </a:p>
          </p:txBody>
        </p:sp>
        <p:pic>
          <p:nvPicPr>
            <p:cNvPr id="326" name="Google Shape;326;p2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723915" y="2983830"/>
              <a:ext cx="1618605" cy="14475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27" name="Google Shape;327;p28"/>
          <p:cNvGrpSpPr/>
          <p:nvPr/>
        </p:nvGrpSpPr>
        <p:grpSpPr>
          <a:xfrm>
            <a:off x="1041400" y="1190115"/>
            <a:ext cx="8210814" cy="1330482"/>
            <a:chOff x="1041400" y="1190115"/>
            <a:chExt cx="8210814" cy="1330482"/>
          </a:xfrm>
        </p:grpSpPr>
        <p:sp>
          <p:nvSpPr>
            <p:cNvPr id="328" name="Google Shape;328;p28"/>
            <p:cNvSpPr/>
            <p:nvPr/>
          </p:nvSpPr>
          <p:spPr>
            <a:xfrm>
              <a:off x="1041400" y="1395413"/>
              <a:ext cx="6538800" cy="4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800"/>
                <a:buFont typeface="Noto Sans Symbols"/>
                <a:buChar char="▪"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throughput can never exceed capacity </a:t>
              </a:r>
              <a:endParaRPr/>
            </a:p>
          </p:txBody>
        </p:sp>
        <p:pic>
          <p:nvPicPr>
            <p:cNvPr id="329" name="Google Shape;329;p2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729084" y="1190115"/>
              <a:ext cx="1523130" cy="133048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0" name="Google Shape;330;p28"/>
          <p:cNvSpPr txBox="1"/>
          <p:nvPr>
            <p:ph idx="12" type="sldNum"/>
          </p:nvPr>
        </p:nvSpPr>
        <p:spPr>
          <a:xfrm>
            <a:off x="9219616" y="644308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6" name="Google Shape;336;p29"/>
          <p:cNvGrpSpPr/>
          <p:nvPr/>
        </p:nvGrpSpPr>
        <p:grpSpPr>
          <a:xfrm>
            <a:off x="10476914" y="2368655"/>
            <a:ext cx="717898" cy="1154400"/>
            <a:chOff x="7664720" y="2795550"/>
            <a:chExt cx="717898" cy="1154400"/>
          </a:xfrm>
        </p:grpSpPr>
        <p:sp>
          <p:nvSpPr>
            <p:cNvPr id="337" name="Google Shape;337;p29"/>
            <p:cNvSpPr/>
            <p:nvPr/>
          </p:nvSpPr>
          <p:spPr>
            <a:xfrm>
              <a:off x="7671781" y="2795550"/>
              <a:ext cx="702600" cy="11544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00A3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38" name="Google Shape;338;p29"/>
            <p:cNvCxnSpPr/>
            <p:nvPr/>
          </p:nvCxnSpPr>
          <p:spPr>
            <a:xfrm>
              <a:off x="7664720" y="3029172"/>
              <a:ext cx="7026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39" name="Google Shape;339;p29"/>
            <p:cNvCxnSpPr/>
            <p:nvPr/>
          </p:nvCxnSpPr>
          <p:spPr>
            <a:xfrm>
              <a:off x="7668839" y="3266304"/>
              <a:ext cx="7026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0" name="Google Shape;340;p29"/>
            <p:cNvCxnSpPr/>
            <p:nvPr/>
          </p:nvCxnSpPr>
          <p:spPr>
            <a:xfrm>
              <a:off x="7680018" y="3499906"/>
              <a:ext cx="7026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1" name="Google Shape;341;p29"/>
            <p:cNvCxnSpPr/>
            <p:nvPr/>
          </p:nvCxnSpPr>
          <p:spPr>
            <a:xfrm>
              <a:off x="7670015" y="3726448"/>
              <a:ext cx="7026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342" name="Google Shape;342;p29"/>
          <p:cNvSpPr/>
          <p:nvPr/>
        </p:nvSpPr>
        <p:spPr>
          <a:xfrm flipH="1">
            <a:off x="6810066" y="2305050"/>
            <a:ext cx="250825" cy="1201737"/>
          </a:xfrm>
          <a:custGeom>
            <a:rect b="b" l="l" r="r" t="t"/>
            <a:pathLst>
              <a:path extrusionOk="0" h="1284" w="366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>
            <a:gsLst>
              <a:gs pos="0">
                <a:srgbClr val="B2B2B2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343" name="Google Shape;343;p29"/>
          <p:cNvGrpSpPr/>
          <p:nvPr/>
        </p:nvGrpSpPr>
        <p:grpSpPr>
          <a:xfrm>
            <a:off x="6405254" y="3243263"/>
            <a:ext cx="525462" cy="434992"/>
            <a:chOff x="-44" y="1473"/>
            <a:chExt cx="981" cy="1105"/>
          </a:xfrm>
        </p:grpSpPr>
        <p:pic>
          <p:nvPicPr>
            <p:cNvPr descr="desktop_computer_stylized_medium" id="344" name="Google Shape;344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5" name="Google Shape;345;p2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6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346" name="Google Shape;346;p29"/>
          <p:cNvGrpSpPr/>
          <p:nvPr/>
        </p:nvGrpSpPr>
        <p:grpSpPr>
          <a:xfrm>
            <a:off x="7045286" y="2362077"/>
            <a:ext cx="717898" cy="1154400"/>
            <a:chOff x="7664720" y="2799688"/>
            <a:chExt cx="717898" cy="1154400"/>
          </a:xfrm>
        </p:grpSpPr>
        <p:sp>
          <p:nvSpPr>
            <p:cNvPr id="347" name="Google Shape;347;p29"/>
            <p:cNvSpPr/>
            <p:nvPr/>
          </p:nvSpPr>
          <p:spPr>
            <a:xfrm>
              <a:off x="7671781" y="2799688"/>
              <a:ext cx="702600" cy="11544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00A3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48" name="Google Shape;348;p29"/>
            <p:cNvCxnSpPr/>
            <p:nvPr/>
          </p:nvCxnSpPr>
          <p:spPr>
            <a:xfrm>
              <a:off x="7664720" y="3029172"/>
              <a:ext cx="7026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9" name="Google Shape;349;p29"/>
            <p:cNvCxnSpPr/>
            <p:nvPr/>
          </p:nvCxnSpPr>
          <p:spPr>
            <a:xfrm>
              <a:off x="7668839" y="3266304"/>
              <a:ext cx="7026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0" name="Google Shape;350;p29"/>
            <p:cNvCxnSpPr/>
            <p:nvPr/>
          </p:nvCxnSpPr>
          <p:spPr>
            <a:xfrm>
              <a:off x="7680018" y="3499906"/>
              <a:ext cx="7026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51" name="Google Shape;351;p29"/>
            <p:cNvCxnSpPr/>
            <p:nvPr/>
          </p:nvCxnSpPr>
          <p:spPr>
            <a:xfrm>
              <a:off x="7670015" y="3726448"/>
              <a:ext cx="7026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352" name="Google Shape;352;p29"/>
          <p:cNvSpPr txBox="1"/>
          <p:nvPr>
            <p:ph idx="1" type="body"/>
          </p:nvPr>
        </p:nvSpPr>
        <p:spPr>
          <a:xfrm>
            <a:off x="884903" y="1939313"/>
            <a:ext cx="5562600" cy="25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</a:rPr>
              <a:t>End-end congestion control:</a:t>
            </a:r>
            <a:endParaRPr/>
          </a:p>
          <a:p>
            <a:pPr indent="-336550" lvl="0" marL="4667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▪"/>
            </a:pPr>
            <a:r>
              <a:rPr lang="en-US" sz="3200"/>
              <a:t>no explicit feedback from network</a:t>
            </a:r>
            <a:endParaRPr/>
          </a:p>
          <a:p>
            <a:pPr indent="-336550" lvl="0" marL="4667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▪"/>
            </a:pPr>
            <a:r>
              <a:rPr lang="en-US" sz="3200"/>
              <a:t>congestion </a:t>
            </a:r>
            <a:r>
              <a:rPr i="1" lang="en-US" sz="3200">
                <a:solidFill>
                  <a:srgbClr val="C00000"/>
                </a:solidFill>
              </a:rPr>
              <a:t>inferred</a:t>
            </a:r>
            <a:r>
              <a:rPr lang="en-US" sz="3200"/>
              <a:t> from observed loss, delay</a:t>
            </a:r>
            <a:endParaRPr/>
          </a:p>
        </p:txBody>
      </p:sp>
      <p:sp>
        <p:nvSpPr>
          <p:cNvPr id="353" name="Google Shape;353;p29"/>
          <p:cNvSpPr txBox="1"/>
          <p:nvPr>
            <p:ph type="title"/>
          </p:nvPr>
        </p:nvSpPr>
        <p:spPr>
          <a:xfrm>
            <a:off x="838200" y="451821"/>
            <a:ext cx="10515600" cy="8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000"/>
              <a:t>Approaches towards congestion control</a:t>
            </a:r>
            <a:endParaRPr sz="4000"/>
          </a:p>
        </p:txBody>
      </p:sp>
      <p:sp>
        <p:nvSpPr>
          <p:cNvPr id="354" name="Google Shape;354;p29"/>
          <p:cNvSpPr/>
          <p:nvPr/>
        </p:nvSpPr>
        <p:spPr>
          <a:xfrm>
            <a:off x="7675918" y="3459066"/>
            <a:ext cx="2848872" cy="1480907"/>
          </a:xfrm>
          <a:custGeom>
            <a:rect b="b" l="l" r="r" t="t"/>
            <a:pathLst>
              <a:path extrusionOk="0" h="933" w="1794">
                <a:moveTo>
                  <a:pt x="6" y="483"/>
                </a:moveTo>
                <a:cubicBezTo>
                  <a:pt x="0" y="365"/>
                  <a:pt x="16" y="189"/>
                  <a:pt x="108" y="125"/>
                </a:cubicBezTo>
                <a:cubicBezTo>
                  <a:pt x="200" y="61"/>
                  <a:pt x="389" y="116"/>
                  <a:pt x="559" y="100"/>
                </a:cubicBezTo>
                <a:cubicBezTo>
                  <a:pt x="729" y="84"/>
                  <a:pt x="935" y="0"/>
                  <a:pt x="1128" y="29"/>
                </a:cubicBezTo>
                <a:cubicBezTo>
                  <a:pt x="1321" y="58"/>
                  <a:pt x="1638" y="142"/>
                  <a:pt x="1716" y="275"/>
                </a:cubicBezTo>
                <a:cubicBezTo>
                  <a:pt x="1794" y="408"/>
                  <a:pt x="1652" y="721"/>
                  <a:pt x="1596" y="827"/>
                </a:cubicBezTo>
                <a:cubicBezTo>
                  <a:pt x="1540" y="933"/>
                  <a:pt x="1506" y="894"/>
                  <a:pt x="1380" y="911"/>
                </a:cubicBezTo>
                <a:cubicBezTo>
                  <a:pt x="1254" y="928"/>
                  <a:pt x="1001" y="929"/>
                  <a:pt x="840" y="929"/>
                </a:cubicBezTo>
                <a:cubicBezTo>
                  <a:pt x="679" y="929"/>
                  <a:pt x="530" y="927"/>
                  <a:pt x="414" y="911"/>
                </a:cubicBezTo>
                <a:cubicBezTo>
                  <a:pt x="298" y="895"/>
                  <a:pt x="211" y="903"/>
                  <a:pt x="143" y="832"/>
                </a:cubicBezTo>
                <a:cubicBezTo>
                  <a:pt x="75" y="761"/>
                  <a:pt x="4" y="624"/>
                  <a:pt x="6" y="483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29"/>
          <p:cNvSpPr/>
          <p:nvPr/>
        </p:nvSpPr>
        <p:spPr>
          <a:xfrm>
            <a:off x="8314293" y="3762231"/>
            <a:ext cx="543096" cy="295229"/>
          </a:xfrm>
          <a:custGeom>
            <a:rect b="b" l="l" r="r" t="t"/>
            <a:pathLst>
              <a:path extrusionOk="0" h="186" w="342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29"/>
          <p:cNvSpPr/>
          <p:nvPr/>
        </p:nvSpPr>
        <p:spPr>
          <a:xfrm>
            <a:off x="9356021" y="3755882"/>
            <a:ext cx="504984" cy="307927"/>
          </a:xfrm>
          <a:custGeom>
            <a:rect b="b" l="l" r="r" t="t"/>
            <a:pathLst>
              <a:path extrusionOk="0" h="194" w="318">
                <a:moveTo>
                  <a:pt x="0" y="0"/>
                </a:moveTo>
                <a:lnTo>
                  <a:pt x="318" y="194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29"/>
          <p:cNvSpPr/>
          <p:nvPr/>
        </p:nvSpPr>
        <p:spPr>
          <a:xfrm>
            <a:off x="8290473" y="4147933"/>
            <a:ext cx="481164" cy="238088"/>
          </a:xfrm>
          <a:custGeom>
            <a:rect b="b" l="l" r="r" t="t"/>
            <a:pathLst>
              <a:path extrusionOk="0" h="174" w="294">
                <a:moveTo>
                  <a:pt x="0" y="0"/>
                </a:moveTo>
                <a:lnTo>
                  <a:pt x="294" y="174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29"/>
          <p:cNvSpPr/>
          <p:nvPr/>
        </p:nvSpPr>
        <p:spPr>
          <a:xfrm>
            <a:off x="9238509" y="4124124"/>
            <a:ext cx="628848" cy="247611"/>
          </a:xfrm>
          <a:custGeom>
            <a:rect b="b" l="l" r="r" t="t"/>
            <a:pathLst>
              <a:path extrusionOk="0" h="174" w="378">
                <a:moveTo>
                  <a:pt x="0" y="174"/>
                </a:moveTo>
                <a:lnTo>
                  <a:pt x="378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29"/>
          <p:cNvSpPr/>
          <p:nvPr/>
        </p:nvSpPr>
        <p:spPr>
          <a:xfrm>
            <a:off x="9905469" y="4178091"/>
            <a:ext cx="206440" cy="507920"/>
          </a:xfrm>
          <a:custGeom>
            <a:rect b="b" l="l" r="r" t="t"/>
            <a:pathLst>
              <a:path extrusionOk="0" h="500" w="118">
                <a:moveTo>
                  <a:pt x="0" y="500"/>
                </a:moveTo>
                <a:lnTo>
                  <a:pt x="118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29"/>
          <p:cNvSpPr/>
          <p:nvPr/>
        </p:nvSpPr>
        <p:spPr>
          <a:xfrm>
            <a:off x="8670005" y="4711407"/>
            <a:ext cx="736832" cy="74601"/>
          </a:xfrm>
          <a:custGeom>
            <a:rect b="b" l="l" r="r" t="t"/>
            <a:pathLst>
              <a:path extrusionOk="0" h="32" w="370">
                <a:moveTo>
                  <a:pt x="370" y="32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29"/>
          <p:cNvSpPr/>
          <p:nvPr/>
        </p:nvSpPr>
        <p:spPr>
          <a:xfrm>
            <a:off x="8133261" y="4171742"/>
            <a:ext cx="193736" cy="425383"/>
          </a:xfrm>
          <a:custGeom>
            <a:rect b="b" l="l" r="r" t="t"/>
            <a:pathLst>
              <a:path extrusionOk="0" h="412" w="176">
                <a:moveTo>
                  <a:pt x="162" y="408"/>
                </a:moveTo>
                <a:lnTo>
                  <a:pt x="176" y="412"/>
                </a:ln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2" name="Google Shape;362;p29"/>
          <p:cNvGrpSpPr/>
          <p:nvPr/>
        </p:nvGrpSpPr>
        <p:grpSpPr>
          <a:xfrm>
            <a:off x="9719388" y="3946464"/>
            <a:ext cx="581264" cy="284549"/>
            <a:chOff x="7493876" y="2774731"/>
            <a:chExt cx="1490420" cy="890885"/>
          </a:xfrm>
        </p:grpSpPr>
        <p:sp>
          <p:nvSpPr>
            <p:cNvPr id="363" name="Google Shape;363;p29"/>
            <p:cNvSpPr/>
            <p:nvPr/>
          </p:nvSpPr>
          <p:spPr>
            <a:xfrm>
              <a:off x="7493876" y="3084399"/>
              <a:ext cx="1490420" cy="581217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64" name="Google Shape;364;p29"/>
            <p:cNvSpPr/>
            <p:nvPr/>
          </p:nvSpPr>
          <p:spPr>
            <a:xfrm>
              <a:off x="7494729" y="2774731"/>
              <a:ext cx="1480200" cy="57900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65" name="Google Shape;365;p29"/>
            <p:cNvGrpSpPr/>
            <p:nvPr/>
          </p:nvGrpSpPr>
          <p:grpSpPr>
            <a:xfrm>
              <a:off x="7713435" y="2848414"/>
              <a:ext cx="1043670" cy="423496"/>
              <a:chOff x="7786941" y="2884917"/>
              <a:chExt cx="899018" cy="352209"/>
            </a:xfrm>
          </p:grpSpPr>
          <p:sp>
            <p:nvSpPr>
              <p:cNvPr id="366" name="Google Shape;366;p29"/>
              <p:cNvSpPr/>
              <p:nvPr/>
            </p:nvSpPr>
            <p:spPr>
              <a:xfrm>
                <a:off x="7811770" y="2884917"/>
                <a:ext cx="852825" cy="196850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7" name="Google Shape;367;p29"/>
              <p:cNvSpPr/>
              <p:nvPr/>
            </p:nvSpPr>
            <p:spPr>
              <a:xfrm>
                <a:off x="8367548" y="3054383"/>
                <a:ext cx="318411" cy="16947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8" name="Google Shape;368;p29"/>
              <p:cNvSpPr/>
              <p:nvPr/>
            </p:nvSpPr>
            <p:spPr>
              <a:xfrm>
                <a:off x="7786941" y="3054383"/>
                <a:ext cx="312657" cy="167509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9" name="Google Shape;369;p29"/>
              <p:cNvSpPr/>
              <p:nvPr/>
            </p:nvSpPr>
            <p:spPr>
              <a:xfrm>
                <a:off x="7895013" y="2971083"/>
                <a:ext cx="679816" cy="26604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70" name="Google Shape;370;p29"/>
          <p:cNvGrpSpPr/>
          <p:nvPr/>
        </p:nvGrpSpPr>
        <p:grpSpPr>
          <a:xfrm>
            <a:off x="9351260" y="4600224"/>
            <a:ext cx="581264" cy="284549"/>
            <a:chOff x="7493876" y="2774731"/>
            <a:chExt cx="1490420" cy="890885"/>
          </a:xfrm>
        </p:grpSpPr>
        <p:sp>
          <p:nvSpPr>
            <p:cNvPr id="371" name="Google Shape;371;p29"/>
            <p:cNvSpPr/>
            <p:nvPr/>
          </p:nvSpPr>
          <p:spPr>
            <a:xfrm>
              <a:off x="7493876" y="3084399"/>
              <a:ext cx="1490420" cy="581217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72" name="Google Shape;372;p29"/>
            <p:cNvSpPr/>
            <p:nvPr/>
          </p:nvSpPr>
          <p:spPr>
            <a:xfrm>
              <a:off x="7494729" y="2774731"/>
              <a:ext cx="1480200" cy="57900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73" name="Google Shape;373;p29"/>
            <p:cNvGrpSpPr/>
            <p:nvPr/>
          </p:nvGrpSpPr>
          <p:grpSpPr>
            <a:xfrm>
              <a:off x="7713435" y="2848414"/>
              <a:ext cx="1043670" cy="423496"/>
              <a:chOff x="7786941" y="2884917"/>
              <a:chExt cx="899018" cy="352209"/>
            </a:xfrm>
          </p:grpSpPr>
          <p:sp>
            <p:nvSpPr>
              <p:cNvPr id="374" name="Google Shape;374;p29"/>
              <p:cNvSpPr/>
              <p:nvPr/>
            </p:nvSpPr>
            <p:spPr>
              <a:xfrm>
                <a:off x="7811770" y="2884917"/>
                <a:ext cx="852825" cy="196850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5" name="Google Shape;375;p29"/>
              <p:cNvSpPr/>
              <p:nvPr/>
            </p:nvSpPr>
            <p:spPr>
              <a:xfrm>
                <a:off x="8367548" y="3054383"/>
                <a:ext cx="318411" cy="16947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6" name="Google Shape;376;p29"/>
              <p:cNvSpPr/>
              <p:nvPr/>
            </p:nvSpPr>
            <p:spPr>
              <a:xfrm>
                <a:off x="7786941" y="3054383"/>
                <a:ext cx="312657" cy="167509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7" name="Google Shape;377;p29"/>
              <p:cNvSpPr/>
              <p:nvPr/>
            </p:nvSpPr>
            <p:spPr>
              <a:xfrm>
                <a:off x="7895013" y="2971083"/>
                <a:ext cx="679816" cy="26604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78" name="Google Shape;378;p29"/>
          <p:cNvGrpSpPr/>
          <p:nvPr/>
        </p:nvGrpSpPr>
        <p:grpSpPr>
          <a:xfrm>
            <a:off x="8194786" y="4551555"/>
            <a:ext cx="581264" cy="284549"/>
            <a:chOff x="7493876" y="2774731"/>
            <a:chExt cx="1490420" cy="890885"/>
          </a:xfrm>
        </p:grpSpPr>
        <p:sp>
          <p:nvSpPr>
            <p:cNvPr id="379" name="Google Shape;379;p29"/>
            <p:cNvSpPr/>
            <p:nvPr/>
          </p:nvSpPr>
          <p:spPr>
            <a:xfrm>
              <a:off x="7493876" y="3084399"/>
              <a:ext cx="1490420" cy="581217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80" name="Google Shape;380;p29"/>
            <p:cNvSpPr/>
            <p:nvPr/>
          </p:nvSpPr>
          <p:spPr>
            <a:xfrm>
              <a:off x="7494729" y="2774731"/>
              <a:ext cx="1480200" cy="57900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81" name="Google Shape;381;p29"/>
            <p:cNvGrpSpPr/>
            <p:nvPr/>
          </p:nvGrpSpPr>
          <p:grpSpPr>
            <a:xfrm>
              <a:off x="7713435" y="2848414"/>
              <a:ext cx="1043670" cy="423496"/>
              <a:chOff x="7786941" y="2884917"/>
              <a:chExt cx="899018" cy="352209"/>
            </a:xfrm>
          </p:grpSpPr>
          <p:sp>
            <p:nvSpPr>
              <p:cNvPr id="382" name="Google Shape;382;p29"/>
              <p:cNvSpPr/>
              <p:nvPr/>
            </p:nvSpPr>
            <p:spPr>
              <a:xfrm>
                <a:off x="7811770" y="2884917"/>
                <a:ext cx="852825" cy="196850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3" name="Google Shape;383;p29"/>
              <p:cNvSpPr/>
              <p:nvPr/>
            </p:nvSpPr>
            <p:spPr>
              <a:xfrm>
                <a:off x="8367548" y="3054383"/>
                <a:ext cx="318411" cy="16947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4" name="Google Shape;384;p29"/>
              <p:cNvSpPr/>
              <p:nvPr/>
            </p:nvSpPr>
            <p:spPr>
              <a:xfrm>
                <a:off x="7786941" y="3054383"/>
                <a:ext cx="312657" cy="167509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5" name="Google Shape;385;p29"/>
              <p:cNvSpPr/>
              <p:nvPr/>
            </p:nvSpPr>
            <p:spPr>
              <a:xfrm>
                <a:off x="7895013" y="2971083"/>
                <a:ext cx="679816" cy="26604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86" name="Google Shape;386;p29"/>
          <p:cNvGrpSpPr/>
          <p:nvPr/>
        </p:nvGrpSpPr>
        <p:grpSpPr>
          <a:xfrm>
            <a:off x="8800286" y="3636156"/>
            <a:ext cx="581264" cy="284549"/>
            <a:chOff x="7493876" y="2774731"/>
            <a:chExt cx="1490420" cy="890885"/>
          </a:xfrm>
        </p:grpSpPr>
        <p:sp>
          <p:nvSpPr>
            <p:cNvPr id="387" name="Google Shape;387;p29"/>
            <p:cNvSpPr/>
            <p:nvPr/>
          </p:nvSpPr>
          <p:spPr>
            <a:xfrm>
              <a:off x="7493876" y="3084399"/>
              <a:ext cx="1490420" cy="581217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88" name="Google Shape;388;p29"/>
            <p:cNvSpPr/>
            <p:nvPr/>
          </p:nvSpPr>
          <p:spPr>
            <a:xfrm>
              <a:off x="7494729" y="2774731"/>
              <a:ext cx="1480200" cy="57900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89" name="Google Shape;389;p29"/>
            <p:cNvGrpSpPr/>
            <p:nvPr/>
          </p:nvGrpSpPr>
          <p:grpSpPr>
            <a:xfrm>
              <a:off x="7713435" y="2848414"/>
              <a:ext cx="1043670" cy="423496"/>
              <a:chOff x="7786941" y="2884917"/>
              <a:chExt cx="899018" cy="352209"/>
            </a:xfrm>
          </p:grpSpPr>
          <p:sp>
            <p:nvSpPr>
              <p:cNvPr id="390" name="Google Shape;390;p29"/>
              <p:cNvSpPr/>
              <p:nvPr/>
            </p:nvSpPr>
            <p:spPr>
              <a:xfrm>
                <a:off x="7811770" y="2884917"/>
                <a:ext cx="852825" cy="196850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1" name="Google Shape;391;p29"/>
              <p:cNvSpPr/>
              <p:nvPr/>
            </p:nvSpPr>
            <p:spPr>
              <a:xfrm>
                <a:off x="8367548" y="3054383"/>
                <a:ext cx="318411" cy="16947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2" name="Google Shape;392;p29"/>
              <p:cNvSpPr/>
              <p:nvPr/>
            </p:nvSpPr>
            <p:spPr>
              <a:xfrm>
                <a:off x="7786941" y="3054383"/>
                <a:ext cx="312657" cy="167509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3" name="Google Shape;393;p29"/>
              <p:cNvSpPr/>
              <p:nvPr/>
            </p:nvSpPr>
            <p:spPr>
              <a:xfrm>
                <a:off x="7895013" y="2971083"/>
                <a:ext cx="679816" cy="26604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94" name="Google Shape;394;p29"/>
          <p:cNvGrpSpPr/>
          <p:nvPr/>
        </p:nvGrpSpPr>
        <p:grpSpPr>
          <a:xfrm>
            <a:off x="8710947" y="4233995"/>
            <a:ext cx="581264" cy="284549"/>
            <a:chOff x="7493876" y="2774731"/>
            <a:chExt cx="1490420" cy="890885"/>
          </a:xfrm>
        </p:grpSpPr>
        <p:sp>
          <p:nvSpPr>
            <p:cNvPr id="395" name="Google Shape;395;p29"/>
            <p:cNvSpPr/>
            <p:nvPr/>
          </p:nvSpPr>
          <p:spPr>
            <a:xfrm>
              <a:off x="7493876" y="3084399"/>
              <a:ext cx="1490420" cy="581217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96" name="Google Shape;396;p29"/>
            <p:cNvSpPr/>
            <p:nvPr/>
          </p:nvSpPr>
          <p:spPr>
            <a:xfrm>
              <a:off x="7494729" y="2774731"/>
              <a:ext cx="1480200" cy="57900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97" name="Google Shape;397;p29"/>
            <p:cNvGrpSpPr/>
            <p:nvPr/>
          </p:nvGrpSpPr>
          <p:grpSpPr>
            <a:xfrm>
              <a:off x="7713435" y="2848414"/>
              <a:ext cx="1043670" cy="423496"/>
              <a:chOff x="7786941" y="2884917"/>
              <a:chExt cx="899018" cy="352209"/>
            </a:xfrm>
          </p:grpSpPr>
          <p:sp>
            <p:nvSpPr>
              <p:cNvPr id="398" name="Google Shape;398;p29"/>
              <p:cNvSpPr/>
              <p:nvPr/>
            </p:nvSpPr>
            <p:spPr>
              <a:xfrm>
                <a:off x="7811770" y="2884917"/>
                <a:ext cx="852825" cy="196850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9" name="Google Shape;399;p29"/>
              <p:cNvSpPr/>
              <p:nvPr/>
            </p:nvSpPr>
            <p:spPr>
              <a:xfrm>
                <a:off x="8367548" y="3054383"/>
                <a:ext cx="318411" cy="16947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0" name="Google Shape;400;p29"/>
              <p:cNvSpPr/>
              <p:nvPr/>
            </p:nvSpPr>
            <p:spPr>
              <a:xfrm>
                <a:off x="7786941" y="3054383"/>
                <a:ext cx="312657" cy="167509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1" name="Google Shape;401;p29"/>
              <p:cNvSpPr/>
              <p:nvPr/>
            </p:nvSpPr>
            <p:spPr>
              <a:xfrm>
                <a:off x="7895013" y="2971083"/>
                <a:ext cx="679816" cy="26604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02" name="Google Shape;402;p29"/>
          <p:cNvGrpSpPr/>
          <p:nvPr/>
        </p:nvGrpSpPr>
        <p:grpSpPr>
          <a:xfrm>
            <a:off x="7764268" y="3944292"/>
            <a:ext cx="581264" cy="284549"/>
            <a:chOff x="7493876" y="2774731"/>
            <a:chExt cx="1490420" cy="890885"/>
          </a:xfrm>
        </p:grpSpPr>
        <p:sp>
          <p:nvSpPr>
            <p:cNvPr id="403" name="Google Shape;403;p29"/>
            <p:cNvSpPr/>
            <p:nvPr/>
          </p:nvSpPr>
          <p:spPr>
            <a:xfrm>
              <a:off x="7493876" y="3084399"/>
              <a:ext cx="1490420" cy="581217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04" name="Google Shape;404;p29"/>
            <p:cNvSpPr/>
            <p:nvPr/>
          </p:nvSpPr>
          <p:spPr>
            <a:xfrm>
              <a:off x="7494729" y="2774731"/>
              <a:ext cx="1480200" cy="57900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05" name="Google Shape;405;p29"/>
            <p:cNvGrpSpPr/>
            <p:nvPr/>
          </p:nvGrpSpPr>
          <p:grpSpPr>
            <a:xfrm>
              <a:off x="7713435" y="2848414"/>
              <a:ext cx="1043670" cy="423496"/>
              <a:chOff x="7786941" y="2884917"/>
              <a:chExt cx="899018" cy="352209"/>
            </a:xfrm>
          </p:grpSpPr>
          <p:sp>
            <p:nvSpPr>
              <p:cNvPr id="406" name="Google Shape;406;p29"/>
              <p:cNvSpPr/>
              <p:nvPr/>
            </p:nvSpPr>
            <p:spPr>
              <a:xfrm>
                <a:off x="7811770" y="2884917"/>
                <a:ext cx="852825" cy="196850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7" name="Google Shape;407;p29"/>
              <p:cNvSpPr/>
              <p:nvPr/>
            </p:nvSpPr>
            <p:spPr>
              <a:xfrm>
                <a:off x="8367548" y="3054383"/>
                <a:ext cx="318411" cy="16947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8" name="Google Shape;408;p29"/>
              <p:cNvSpPr/>
              <p:nvPr/>
            </p:nvSpPr>
            <p:spPr>
              <a:xfrm>
                <a:off x="7786941" y="3054383"/>
                <a:ext cx="312657" cy="167509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9" name="Google Shape;409;p29"/>
              <p:cNvSpPr/>
              <p:nvPr/>
            </p:nvSpPr>
            <p:spPr>
              <a:xfrm>
                <a:off x="7895013" y="2971083"/>
                <a:ext cx="679816" cy="26604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10" name="Google Shape;410;p29"/>
          <p:cNvGrpSpPr/>
          <p:nvPr/>
        </p:nvGrpSpPr>
        <p:grpSpPr>
          <a:xfrm>
            <a:off x="8867832" y="4245561"/>
            <a:ext cx="456600" cy="226500"/>
            <a:chOff x="6859123" y="5156933"/>
            <a:chExt cx="456600" cy="226500"/>
          </a:xfrm>
        </p:grpSpPr>
        <p:sp>
          <p:nvSpPr>
            <p:cNvPr id="411" name="Google Shape;411;p29"/>
            <p:cNvSpPr/>
            <p:nvPr/>
          </p:nvSpPr>
          <p:spPr>
            <a:xfrm>
              <a:off x="6859123" y="5156933"/>
              <a:ext cx="456600" cy="226500"/>
            </a:xfrm>
            <a:prstGeom prst="rect">
              <a:avLst/>
            </a:prstGeom>
            <a:solidFill>
              <a:srgbClr val="F989B2"/>
            </a:solidFill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12" name="Google Shape;412;p29"/>
            <p:cNvCxnSpPr/>
            <p:nvPr/>
          </p:nvCxnSpPr>
          <p:spPr>
            <a:xfrm rot="10800000">
              <a:off x="7249115" y="5190023"/>
              <a:ext cx="0" cy="155700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3" name="Google Shape;413;p29"/>
            <p:cNvCxnSpPr/>
            <p:nvPr/>
          </p:nvCxnSpPr>
          <p:spPr>
            <a:xfrm rot="10800000">
              <a:off x="7197800" y="5190023"/>
              <a:ext cx="0" cy="155700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4" name="Google Shape;414;p29"/>
            <p:cNvCxnSpPr/>
            <p:nvPr/>
          </p:nvCxnSpPr>
          <p:spPr>
            <a:xfrm rot="10800000">
              <a:off x="7146485" y="5190023"/>
              <a:ext cx="0" cy="155700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5" name="Google Shape;415;p29"/>
            <p:cNvCxnSpPr/>
            <p:nvPr/>
          </p:nvCxnSpPr>
          <p:spPr>
            <a:xfrm rot="10800000">
              <a:off x="7095171" y="5190023"/>
              <a:ext cx="0" cy="155700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6" name="Google Shape;416;p29"/>
            <p:cNvCxnSpPr/>
            <p:nvPr/>
          </p:nvCxnSpPr>
          <p:spPr>
            <a:xfrm rot="10800000">
              <a:off x="7043856" y="5190023"/>
              <a:ext cx="0" cy="155700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7" name="Google Shape;417;p29"/>
            <p:cNvCxnSpPr/>
            <p:nvPr/>
          </p:nvCxnSpPr>
          <p:spPr>
            <a:xfrm rot="10800000">
              <a:off x="6992541" y="5190023"/>
              <a:ext cx="0" cy="155700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18" name="Google Shape;418;p29"/>
            <p:cNvCxnSpPr/>
            <p:nvPr/>
          </p:nvCxnSpPr>
          <p:spPr>
            <a:xfrm rot="10800000">
              <a:off x="6941227" y="5190023"/>
              <a:ext cx="0" cy="155700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419" name="Google Shape;419;p29"/>
          <p:cNvGrpSpPr/>
          <p:nvPr/>
        </p:nvGrpSpPr>
        <p:grpSpPr>
          <a:xfrm>
            <a:off x="7428575" y="2677315"/>
            <a:ext cx="3355703" cy="1705017"/>
            <a:chOff x="7428575" y="2677315"/>
            <a:chExt cx="3355703" cy="1705017"/>
          </a:xfrm>
        </p:grpSpPr>
        <p:sp>
          <p:nvSpPr>
            <p:cNvPr id="420" name="Google Shape;420;p29"/>
            <p:cNvSpPr/>
            <p:nvPr/>
          </p:nvSpPr>
          <p:spPr>
            <a:xfrm>
              <a:off x="9335149" y="2701273"/>
              <a:ext cx="1406439" cy="1681059"/>
            </a:xfrm>
            <a:custGeom>
              <a:rect b="b" l="l" r="r" t="t"/>
              <a:pathLst>
                <a:path extrusionOk="0" h="1681059" w="1541303">
                  <a:moveTo>
                    <a:pt x="0" y="1681059"/>
                  </a:moveTo>
                  <a:lnTo>
                    <a:pt x="539056" y="1465436"/>
                  </a:lnTo>
                  <a:lnTo>
                    <a:pt x="1541303" y="1445471"/>
                  </a:lnTo>
                  <a:lnTo>
                    <a:pt x="1525331" y="0"/>
                  </a:lnTo>
                </a:path>
              </a:pathLst>
            </a:custGeom>
            <a:noFill/>
            <a:ln cap="flat" cmpd="sng" w="44450">
              <a:solidFill>
                <a:srgbClr val="2E75B5"/>
              </a:solidFill>
              <a:prstDash val="solid"/>
              <a:miter lim="800000"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" name="Google Shape;421;p29"/>
            <p:cNvSpPr/>
            <p:nvPr/>
          </p:nvSpPr>
          <p:spPr>
            <a:xfrm>
              <a:off x="7473006" y="2677315"/>
              <a:ext cx="1448585" cy="1701024"/>
            </a:xfrm>
            <a:custGeom>
              <a:rect b="b" l="l" r="r" t="t"/>
              <a:pathLst>
                <a:path extrusionOk="0" h="1701024" w="1549289">
                  <a:moveTo>
                    <a:pt x="0" y="0"/>
                  </a:moveTo>
                  <a:lnTo>
                    <a:pt x="7986" y="1481408"/>
                  </a:lnTo>
                  <a:lnTo>
                    <a:pt x="1030198" y="1485401"/>
                  </a:lnTo>
                  <a:lnTo>
                    <a:pt x="1549289" y="1701024"/>
                  </a:lnTo>
                </a:path>
              </a:pathLst>
            </a:custGeom>
            <a:noFill/>
            <a:ln cap="flat" cmpd="sng" w="38100">
              <a:solidFill>
                <a:srgbClr val="2E75B5"/>
              </a:solidFill>
              <a:prstDash val="solid"/>
              <a:miter lim="800000"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" name="Google Shape;422;p29"/>
            <p:cNvSpPr txBox="1"/>
            <p:nvPr/>
          </p:nvSpPr>
          <p:spPr>
            <a:xfrm>
              <a:off x="10184578" y="3556614"/>
              <a:ext cx="599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E75B5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2E75B5"/>
                  </a:solidFill>
                  <a:latin typeface="Calibri"/>
                  <a:ea typeface="Calibri"/>
                  <a:cs typeface="Calibri"/>
                  <a:sym typeface="Calibri"/>
                </a:rPr>
                <a:t>data</a:t>
              </a:r>
              <a:endParaRPr/>
            </a:p>
          </p:txBody>
        </p:sp>
        <p:sp>
          <p:nvSpPr>
            <p:cNvPr id="423" name="Google Shape;423;p29"/>
            <p:cNvSpPr txBox="1"/>
            <p:nvPr/>
          </p:nvSpPr>
          <p:spPr>
            <a:xfrm>
              <a:off x="7428575" y="3517694"/>
              <a:ext cx="599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E75B5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2E75B5"/>
                  </a:solidFill>
                  <a:latin typeface="Calibri"/>
                  <a:ea typeface="Calibri"/>
                  <a:cs typeface="Calibri"/>
                  <a:sym typeface="Calibri"/>
                </a:rPr>
                <a:t>data</a:t>
              </a:r>
              <a:endParaRPr/>
            </a:p>
          </p:txBody>
        </p:sp>
      </p:grpSp>
      <p:grpSp>
        <p:nvGrpSpPr>
          <p:cNvPr id="424" name="Google Shape;424;p29"/>
          <p:cNvGrpSpPr/>
          <p:nvPr/>
        </p:nvGrpSpPr>
        <p:grpSpPr>
          <a:xfrm>
            <a:off x="6799618" y="2691243"/>
            <a:ext cx="4657185" cy="1827509"/>
            <a:chOff x="6799618" y="2691243"/>
            <a:chExt cx="4657185" cy="1827509"/>
          </a:xfrm>
        </p:grpSpPr>
        <p:sp>
          <p:nvSpPr>
            <p:cNvPr id="425" name="Google Shape;425;p29"/>
            <p:cNvSpPr/>
            <p:nvPr/>
          </p:nvSpPr>
          <p:spPr>
            <a:xfrm>
              <a:off x="7353946" y="2691243"/>
              <a:ext cx="3497252" cy="1827509"/>
            </a:xfrm>
            <a:custGeom>
              <a:rect b="b" l="l" r="r" t="t"/>
              <a:pathLst>
                <a:path extrusionOk="0" h="1827509" w="3832605">
                  <a:moveTo>
                    <a:pt x="0" y="0"/>
                  </a:moveTo>
                  <a:lnTo>
                    <a:pt x="15169" y="1588809"/>
                  </a:lnTo>
                  <a:lnTo>
                    <a:pt x="1185946" y="1592482"/>
                  </a:lnTo>
                  <a:lnTo>
                    <a:pt x="1572183" y="1823837"/>
                  </a:lnTo>
                  <a:lnTo>
                    <a:pt x="2147513" y="1827509"/>
                  </a:lnTo>
                  <a:lnTo>
                    <a:pt x="2727724" y="1591143"/>
                  </a:lnTo>
                  <a:lnTo>
                    <a:pt x="3832605" y="1589734"/>
                  </a:lnTo>
                  <a:cubicBezTo>
                    <a:pt x="3829493" y="1109929"/>
                    <a:pt x="3833014" y="605902"/>
                    <a:pt x="3829902" y="126097"/>
                  </a:cubicBezTo>
                </a:path>
              </a:pathLst>
            </a:custGeom>
            <a:noFill/>
            <a:ln cap="flat" cmpd="sng" w="25400">
              <a:solidFill>
                <a:srgbClr val="00B05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" name="Google Shape;426;p29"/>
            <p:cNvSpPr txBox="1"/>
            <p:nvPr/>
          </p:nvSpPr>
          <p:spPr>
            <a:xfrm>
              <a:off x="6799618" y="3650736"/>
              <a:ext cx="647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B05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B050"/>
                  </a:solidFill>
                  <a:latin typeface="Calibri"/>
                  <a:ea typeface="Calibri"/>
                  <a:cs typeface="Calibri"/>
                  <a:sym typeface="Calibri"/>
                </a:rPr>
                <a:t>ACKs</a:t>
              </a:r>
              <a:endParaRPr/>
            </a:p>
          </p:txBody>
        </p:sp>
        <p:sp>
          <p:nvSpPr>
            <p:cNvPr id="427" name="Google Shape;427;p29"/>
            <p:cNvSpPr txBox="1"/>
            <p:nvPr/>
          </p:nvSpPr>
          <p:spPr>
            <a:xfrm>
              <a:off x="10809403" y="3772400"/>
              <a:ext cx="647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B05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B050"/>
                  </a:solidFill>
                  <a:latin typeface="Calibri"/>
                  <a:ea typeface="Calibri"/>
                  <a:cs typeface="Calibri"/>
                  <a:sym typeface="Calibri"/>
                </a:rPr>
                <a:t>ACKs</a:t>
              </a:r>
              <a:endParaRPr/>
            </a:p>
          </p:txBody>
        </p:sp>
      </p:grpSp>
      <p:sp>
        <p:nvSpPr>
          <p:cNvPr id="428" name="Google Shape;428;p29"/>
          <p:cNvSpPr/>
          <p:nvPr/>
        </p:nvSpPr>
        <p:spPr>
          <a:xfrm>
            <a:off x="11178866" y="2363683"/>
            <a:ext cx="250825" cy="1212850"/>
          </a:xfrm>
          <a:custGeom>
            <a:rect b="b" l="l" r="r" t="t"/>
            <a:pathLst>
              <a:path extrusionOk="0" h="1284" w="366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>
            <a:gsLst>
              <a:gs pos="0">
                <a:srgbClr val="B2B2B2"/>
              </a:gs>
              <a:gs pos="100000">
                <a:srgbClr val="FFFFFF"/>
              </a:gs>
            </a:gsLst>
            <a:lin ang="0" scaled="0"/>
          </a:gra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429" name="Google Shape;429;p29"/>
          <p:cNvGrpSpPr/>
          <p:nvPr/>
        </p:nvGrpSpPr>
        <p:grpSpPr>
          <a:xfrm>
            <a:off x="11355079" y="3260620"/>
            <a:ext cx="230793" cy="442062"/>
            <a:chOff x="4140" y="429"/>
            <a:chExt cx="1419" cy="2400"/>
          </a:xfrm>
        </p:grpSpPr>
        <p:sp>
          <p:nvSpPr>
            <p:cNvPr id="430" name="Google Shape;430;p29"/>
            <p:cNvSpPr/>
            <p:nvPr/>
          </p:nvSpPr>
          <p:spPr>
            <a:xfrm>
              <a:off x="5268" y="433"/>
              <a:ext cx="283" cy="2283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31" name="Google Shape;431;p29"/>
            <p:cNvSpPr/>
            <p:nvPr/>
          </p:nvSpPr>
          <p:spPr>
            <a:xfrm>
              <a:off x="4208" y="429"/>
              <a:ext cx="900" cy="2400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32" name="Google Shape;432;p29"/>
            <p:cNvSpPr/>
            <p:nvPr/>
          </p:nvSpPr>
          <p:spPr>
            <a:xfrm>
              <a:off x="5321" y="570"/>
              <a:ext cx="169" cy="2112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33" name="Google Shape;433;p29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34" name="Google Shape;434;p29"/>
            <p:cNvSpPr/>
            <p:nvPr/>
          </p:nvSpPr>
          <p:spPr>
            <a:xfrm>
              <a:off x="4208" y="696"/>
              <a:ext cx="600" cy="0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435" name="Google Shape;435;p29"/>
            <p:cNvGrpSpPr/>
            <p:nvPr/>
          </p:nvGrpSpPr>
          <p:grpSpPr>
            <a:xfrm>
              <a:off x="4745" y="670"/>
              <a:ext cx="490" cy="18"/>
              <a:chOff x="609" y="2570"/>
              <a:chExt cx="612" cy="17"/>
            </a:xfrm>
          </p:grpSpPr>
          <p:sp>
            <p:nvSpPr>
              <p:cNvPr id="436" name="Google Shape;436;p29"/>
              <p:cNvSpPr/>
              <p:nvPr/>
            </p:nvSpPr>
            <p:spPr>
              <a:xfrm>
                <a:off x="609" y="2570"/>
                <a:ext cx="600" cy="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437" name="Google Shape;437;p29"/>
              <p:cNvSpPr/>
              <p:nvPr/>
            </p:nvSpPr>
            <p:spPr>
              <a:xfrm>
                <a:off x="621" y="2587"/>
                <a:ext cx="600" cy="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438" name="Google Shape;438;p29"/>
            <p:cNvSpPr/>
            <p:nvPr/>
          </p:nvSpPr>
          <p:spPr>
            <a:xfrm>
              <a:off x="4228" y="1015"/>
              <a:ext cx="600" cy="0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439" name="Google Shape;439;p29"/>
            <p:cNvGrpSpPr/>
            <p:nvPr/>
          </p:nvGrpSpPr>
          <p:grpSpPr>
            <a:xfrm>
              <a:off x="4745" y="998"/>
              <a:ext cx="490" cy="17"/>
              <a:chOff x="612" y="2572"/>
              <a:chExt cx="612" cy="18"/>
            </a:xfrm>
          </p:grpSpPr>
          <p:sp>
            <p:nvSpPr>
              <p:cNvPr id="440" name="Google Shape;440;p29"/>
              <p:cNvSpPr/>
              <p:nvPr/>
            </p:nvSpPr>
            <p:spPr>
              <a:xfrm>
                <a:off x="612" y="2572"/>
                <a:ext cx="600" cy="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441" name="Google Shape;441;p29"/>
              <p:cNvSpPr/>
              <p:nvPr/>
            </p:nvSpPr>
            <p:spPr>
              <a:xfrm>
                <a:off x="624" y="2590"/>
                <a:ext cx="600" cy="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442" name="Google Shape;442;p29"/>
            <p:cNvSpPr/>
            <p:nvPr/>
          </p:nvSpPr>
          <p:spPr>
            <a:xfrm>
              <a:off x="4218" y="1360"/>
              <a:ext cx="600" cy="0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43" name="Google Shape;443;p29"/>
            <p:cNvSpPr/>
            <p:nvPr/>
          </p:nvSpPr>
          <p:spPr>
            <a:xfrm>
              <a:off x="4228" y="1653"/>
              <a:ext cx="600" cy="0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444" name="Google Shape;444;p29"/>
            <p:cNvGrpSpPr/>
            <p:nvPr/>
          </p:nvGrpSpPr>
          <p:grpSpPr>
            <a:xfrm>
              <a:off x="4735" y="1627"/>
              <a:ext cx="492" cy="326"/>
              <a:chOff x="614" y="2568"/>
              <a:chExt cx="613" cy="300"/>
            </a:xfrm>
          </p:grpSpPr>
          <p:sp>
            <p:nvSpPr>
              <p:cNvPr id="445" name="Google Shape;445;p29"/>
              <p:cNvSpPr/>
              <p:nvPr/>
            </p:nvSpPr>
            <p:spPr>
              <a:xfrm>
                <a:off x="614" y="2568"/>
                <a:ext cx="600" cy="30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446" name="Google Shape;446;p29"/>
              <p:cNvSpPr/>
              <p:nvPr/>
            </p:nvSpPr>
            <p:spPr>
              <a:xfrm>
                <a:off x="627" y="2584"/>
                <a:ext cx="600" cy="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447" name="Google Shape;447;p29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448" name="Google Shape;448;p29"/>
            <p:cNvGrpSpPr/>
            <p:nvPr/>
          </p:nvGrpSpPr>
          <p:grpSpPr>
            <a:xfrm>
              <a:off x="4735" y="1325"/>
              <a:ext cx="492" cy="18"/>
              <a:chOff x="609" y="2566"/>
              <a:chExt cx="613" cy="18"/>
            </a:xfrm>
          </p:grpSpPr>
          <p:sp>
            <p:nvSpPr>
              <p:cNvPr id="449" name="Google Shape;449;p29"/>
              <p:cNvSpPr/>
              <p:nvPr/>
            </p:nvSpPr>
            <p:spPr>
              <a:xfrm>
                <a:off x="609" y="2566"/>
                <a:ext cx="600" cy="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450" name="Google Shape;450;p29"/>
              <p:cNvSpPr/>
              <p:nvPr/>
            </p:nvSpPr>
            <p:spPr>
              <a:xfrm>
                <a:off x="622" y="2584"/>
                <a:ext cx="600" cy="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451" name="Google Shape;451;p29"/>
            <p:cNvSpPr/>
            <p:nvPr/>
          </p:nvSpPr>
          <p:spPr>
            <a:xfrm>
              <a:off x="5253" y="429"/>
              <a:ext cx="0" cy="240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52" name="Google Shape;452;p29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53" name="Google Shape;453;p29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54" name="Google Shape;454;p29"/>
            <p:cNvSpPr/>
            <p:nvPr/>
          </p:nvSpPr>
          <p:spPr>
            <a:xfrm>
              <a:off x="5516" y="2610"/>
              <a:ext cx="0" cy="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55" name="Google Shape;455;p29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56" name="Google Shape;456;p29"/>
            <p:cNvSpPr/>
            <p:nvPr/>
          </p:nvSpPr>
          <p:spPr>
            <a:xfrm>
              <a:off x="4140" y="2678"/>
              <a:ext cx="1200" cy="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57" name="Google Shape;457;p29"/>
            <p:cNvSpPr/>
            <p:nvPr/>
          </p:nvSpPr>
          <p:spPr>
            <a:xfrm>
              <a:off x="4208" y="2713"/>
              <a:ext cx="1200" cy="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58" name="Google Shape;458;p29"/>
            <p:cNvSpPr/>
            <p:nvPr/>
          </p:nvSpPr>
          <p:spPr>
            <a:xfrm>
              <a:off x="4306" y="2385"/>
              <a:ext cx="300" cy="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59" name="Google Shape;459;p29"/>
            <p:cNvSpPr/>
            <p:nvPr/>
          </p:nvSpPr>
          <p:spPr>
            <a:xfrm>
              <a:off x="4482" y="2385"/>
              <a:ext cx="300" cy="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29"/>
            <p:cNvSpPr/>
            <p:nvPr/>
          </p:nvSpPr>
          <p:spPr>
            <a:xfrm>
              <a:off x="4657" y="2377"/>
              <a:ext cx="300" cy="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61" name="Google Shape;461;p29"/>
            <p:cNvSpPr/>
            <p:nvPr/>
          </p:nvSpPr>
          <p:spPr>
            <a:xfrm>
              <a:off x="5057" y="1834"/>
              <a:ext cx="0" cy="900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462" name="Google Shape;462;p29"/>
          <p:cNvSpPr txBox="1"/>
          <p:nvPr/>
        </p:nvSpPr>
        <p:spPr>
          <a:xfrm>
            <a:off x="921800" y="4257398"/>
            <a:ext cx="55626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6550" lvl="0" marL="4667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approach taken by TCP</a:t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9"/>
          <p:cNvSpPr txBox="1"/>
          <p:nvPr>
            <p:ph idx="12" type="sldNum"/>
          </p:nvPr>
        </p:nvSpPr>
        <p:spPr>
          <a:xfrm>
            <a:off x="9219616" y="644308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30"/>
          <p:cNvSpPr txBox="1"/>
          <p:nvPr>
            <p:ph idx="1" type="body"/>
          </p:nvPr>
        </p:nvSpPr>
        <p:spPr>
          <a:xfrm>
            <a:off x="718945" y="5640403"/>
            <a:ext cx="5781300" cy="7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7812" lvl="0" marL="40798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Char char="▪"/>
            </a:pPr>
            <a:r>
              <a:rPr lang="en-US" sz="3000"/>
              <a:t>TCP ECN, ATM, DECbit protocols</a:t>
            </a:r>
            <a:endParaRPr sz="3500"/>
          </a:p>
        </p:txBody>
      </p:sp>
      <p:sp>
        <p:nvSpPr>
          <p:cNvPr id="470" name="Google Shape;470;p30"/>
          <p:cNvSpPr txBox="1"/>
          <p:nvPr>
            <p:ph type="title"/>
          </p:nvPr>
        </p:nvSpPr>
        <p:spPr>
          <a:xfrm>
            <a:off x="838200" y="451821"/>
            <a:ext cx="10515600" cy="8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000"/>
              <a:t>Approaches towards congestion control</a:t>
            </a:r>
            <a:endParaRPr sz="4000"/>
          </a:p>
        </p:txBody>
      </p:sp>
      <p:sp>
        <p:nvSpPr>
          <p:cNvPr id="471" name="Google Shape;471;p30"/>
          <p:cNvSpPr/>
          <p:nvPr/>
        </p:nvSpPr>
        <p:spPr>
          <a:xfrm>
            <a:off x="7675918" y="3459066"/>
            <a:ext cx="2848872" cy="1480907"/>
          </a:xfrm>
          <a:custGeom>
            <a:rect b="b" l="l" r="r" t="t"/>
            <a:pathLst>
              <a:path extrusionOk="0" h="933" w="1794">
                <a:moveTo>
                  <a:pt x="6" y="483"/>
                </a:moveTo>
                <a:cubicBezTo>
                  <a:pt x="0" y="365"/>
                  <a:pt x="16" y="189"/>
                  <a:pt x="108" y="125"/>
                </a:cubicBezTo>
                <a:cubicBezTo>
                  <a:pt x="200" y="61"/>
                  <a:pt x="389" y="116"/>
                  <a:pt x="559" y="100"/>
                </a:cubicBezTo>
                <a:cubicBezTo>
                  <a:pt x="729" y="84"/>
                  <a:pt x="935" y="0"/>
                  <a:pt x="1128" y="29"/>
                </a:cubicBezTo>
                <a:cubicBezTo>
                  <a:pt x="1321" y="58"/>
                  <a:pt x="1638" y="142"/>
                  <a:pt x="1716" y="275"/>
                </a:cubicBezTo>
                <a:cubicBezTo>
                  <a:pt x="1794" y="408"/>
                  <a:pt x="1652" y="721"/>
                  <a:pt x="1596" y="827"/>
                </a:cubicBezTo>
                <a:cubicBezTo>
                  <a:pt x="1540" y="933"/>
                  <a:pt x="1506" y="894"/>
                  <a:pt x="1380" y="911"/>
                </a:cubicBezTo>
                <a:cubicBezTo>
                  <a:pt x="1254" y="928"/>
                  <a:pt x="1001" y="929"/>
                  <a:pt x="840" y="929"/>
                </a:cubicBezTo>
                <a:cubicBezTo>
                  <a:pt x="679" y="929"/>
                  <a:pt x="530" y="927"/>
                  <a:pt x="414" y="911"/>
                </a:cubicBezTo>
                <a:cubicBezTo>
                  <a:pt x="298" y="895"/>
                  <a:pt x="211" y="903"/>
                  <a:pt x="143" y="832"/>
                </a:cubicBezTo>
                <a:cubicBezTo>
                  <a:pt x="75" y="761"/>
                  <a:pt x="4" y="624"/>
                  <a:pt x="6" y="483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30"/>
          <p:cNvSpPr/>
          <p:nvPr/>
        </p:nvSpPr>
        <p:spPr>
          <a:xfrm>
            <a:off x="8314293" y="3762231"/>
            <a:ext cx="543096" cy="295229"/>
          </a:xfrm>
          <a:custGeom>
            <a:rect b="b" l="l" r="r" t="t"/>
            <a:pathLst>
              <a:path extrusionOk="0" h="186" w="342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30"/>
          <p:cNvSpPr/>
          <p:nvPr/>
        </p:nvSpPr>
        <p:spPr>
          <a:xfrm>
            <a:off x="9356021" y="3755882"/>
            <a:ext cx="504984" cy="307927"/>
          </a:xfrm>
          <a:custGeom>
            <a:rect b="b" l="l" r="r" t="t"/>
            <a:pathLst>
              <a:path extrusionOk="0" h="194" w="318">
                <a:moveTo>
                  <a:pt x="0" y="0"/>
                </a:moveTo>
                <a:lnTo>
                  <a:pt x="318" y="194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30"/>
          <p:cNvSpPr/>
          <p:nvPr/>
        </p:nvSpPr>
        <p:spPr>
          <a:xfrm>
            <a:off x="8290473" y="4147933"/>
            <a:ext cx="481164" cy="238088"/>
          </a:xfrm>
          <a:custGeom>
            <a:rect b="b" l="l" r="r" t="t"/>
            <a:pathLst>
              <a:path extrusionOk="0" h="174" w="294">
                <a:moveTo>
                  <a:pt x="0" y="0"/>
                </a:moveTo>
                <a:lnTo>
                  <a:pt x="294" y="174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30"/>
          <p:cNvSpPr/>
          <p:nvPr/>
        </p:nvSpPr>
        <p:spPr>
          <a:xfrm>
            <a:off x="9238509" y="4124124"/>
            <a:ext cx="628848" cy="247611"/>
          </a:xfrm>
          <a:custGeom>
            <a:rect b="b" l="l" r="r" t="t"/>
            <a:pathLst>
              <a:path extrusionOk="0" h="174" w="378">
                <a:moveTo>
                  <a:pt x="0" y="174"/>
                </a:moveTo>
                <a:lnTo>
                  <a:pt x="378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30"/>
          <p:cNvSpPr/>
          <p:nvPr/>
        </p:nvSpPr>
        <p:spPr>
          <a:xfrm>
            <a:off x="9905469" y="4178091"/>
            <a:ext cx="206440" cy="507920"/>
          </a:xfrm>
          <a:custGeom>
            <a:rect b="b" l="l" r="r" t="t"/>
            <a:pathLst>
              <a:path extrusionOk="0" h="500" w="118">
                <a:moveTo>
                  <a:pt x="0" y="500"/>
                </a:moveTo>
                <a:lnTo>
                  <a:pt x="118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30"/>
          <p:cNvSpPr/>
          <p:nvPr/>
        </p:nvSpPr>
        <p:spPr>
          <a:xfrm>
            <a:off x="8670005" y="4711407"/>
            <a:ext cx="736832" cy="74601"/>
          </a:xfrm>
          <a:custGeom>
            <a:rect b="b" l="l" r="r" t="t"/>
            <a:pathLst>
              <a:path extrusionOk="0" h="32" w="370">
                <a:moveTo>
                  <a:pt x="370" y="32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30"/>
          <p:cNvSpPr/>
          <p:nvPr/>
        </p:nvSpPr>
        <p:spPr>
          <a:xfrm>
            <a:off x="8133261" y="4171742"/>
            <a:ext cx="193736" cy="425383"/>
          </a:xfrm>
          <a:custGeom>
            <a:rect b="b" l="l" r="r" t="t"/>
            <a:pathLst>
              <a:path extrusionOk="0" h="412" w="176">
                <a:moveTo>
                  <a:pt x="162" y="408"/>
                </a:moveTo>
                <a:lnTo>
                  <a:pt x="176" y="412"/>
                </a:ln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79" name="Google Shape;479;p30"/>
          <p:cNvGrpSpPr/>
          <p:nvPr/>
        </p:nvGrpSpPr>
        <p:grpSpPr>
          <a:xfrm>
            <a:off x="9719388" y="3946464"/>
            <a:ext cx="581264" cy="284549"/>
            <a:chOff x="7493876" y="2774731"/>
            <a:chExt cx="1490420" cy="890885"/>
          </a:xfrm>
        </p:grpSpPr>
        <p:sp>
          <p:nvSpPr>
            <p:cNvPr id="480" name="Google Shape;480;p30"/>
            <p:cNvSpPr/>
            <p:nvPr/>
          </p:nvSpPr>
          <p:spPr>
            <a:xfrm>
              <a:off x="7493876" y="3084399"/>
              <a:ext cx="1490420" cy="581217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81" name="Google Shape;481;p30"/>
            <p:cNvSpPr/>
            <p:nvPr/>
          </p:nvSpPr>
          <p:spPr>
            <a:xfrm>
              <a:off x="7494729" y="2774731"/>
              <a:ext cx="1480200" cy="57900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82" name="Google Shape;482;p30"/>
            <p:cNvGrpSpPr/>
            <p:nvPr/>
          </p:nvGrpSpPr>
          <p:grpSpPr>
            <a:xfrm>
              <a:off x="7713435" y="2848414"/>
              <a:ext cx="1043670" cy="423496"/>
              <a:chOff x="7786941" y="2884917"/>
              <a:chExt cx="899018" cy="352209"/>
            </a:xfrm>
          </p:grpSpPr>
          <p:sp>
            <p:nvSpPr>
              <p:cNvPr id="483" name="Google Shape;483;p30"/>
              <p:cNvSpPr/>
              <p:nvPr/>
            </p:nvSpPr>
            <p:spPr>
              <a:xfrm>
                <a:off x="7811770" y="2884917"/>
                <a:ext cx="852825" cy="196850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4" name="Google Shape;484;p30"/>
              <p:cNvSpPr/>
              <p:nvPr/>
            </p:nvSpPr>
            <p:spPr>
              <a:xfrm>
                <a:off x="8367548" y="3054383"/>
                <a:ext cx="318411" cy="16947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5" name="Google Shape;485;p30"/>
              <p:cNvSpPr/>
              <p:nvPr/>
            </p:nvSpPr>
            <p:spPr>
              <a:xfrm>
                <a:off x="7786941" y="3054383"/>
                <a:ext cx="312657" cy="167509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6" name="Google Shape;486;p30"/>
              <p:cNvSpPr/>
              <p:nvPr/>
            </p:nvSpPr>
            <p:spPr>
              <a:xfrm>
                <a:off x="7895013" y="2971083"/>
                <a:ext cx="679816" cy="26604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87" name="Google Shape;487;p30"/>
          <p:cNvGrpSpPr/>
          <p:nvPr/>
        </p:nvGrpSpPr>
        <p:grpSpPr>
          <a:xfrm>
            <a:off x="9351260" y="4600224"/>
            <a:ext cx="581264" cy="284549"/>
            <a:chOff x="7493876" y="2774731"/>
            <a:chExt cx="1490420" cy="890885"/>
          </a:xfrm>
        </p:grpSpPr>
        <p:sp>
          <p:nvSpPr>
            <p:cNvPr id="488" name="Google Shape;488;p30"/>
            <p:cNvSpPr/>
            <p:nvPr/>
          </p:nvSpPr>
          <p:spPr>
            <a:xfrm>
              <a:off x="7493876" y="3084399"/>
              <a:ext cx="1490420" cy="581217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89" name="Google Shape;489;p30"/>
            <p:cNvSpPr/>
            <p:nvPr/>
          </p:nvSpPr>
          <p:spPr>
            <a:xfrm>
              <a:off x="7494729" y="2774731"/>
              <a:ext cx="1480200" cy="57900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90" name="Google Shape;490;p30"/>
            <p:cNvGrpSpPr/>
            <p:nvPr/>
          </p:nvGrpSpPr>
          <p:grpSpPr>
            <a:xfrm>
              <a:off x="7713435" y="2848414"/>
              <a:ext cx="1043670" cy="423496"/>
              <a:chOff x="7786941" y="2884917"/>
              <a:chExt cx="899018" cy="352209"/>
            </a:xfrm>
          </p:grpSpPr>
          <p:sp>
            <p:nvSpPr>
              <p:cNvPr id="491" name="Google Shape;491;p30"/>
              <p:cNvSpPr/>
              <p:nvPr/>
            </p:nvSpPr>
            <p:spPr>
              <a:xfrm>
                <a:off x="7811770" y="2884917"/>
                <a:ext cx="852825" cy="196850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2" name="Google Shape;492;p30"/>
              <p:cNvSpPr/>
              <p:nvPr/>
            </p:nvSpPr>
            <p:spPr>
              <a:xfrm>
                <a:off x="8367548" y="3054383"/>
                <a:ext cx="318411" cy="16947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3" name="Google Shape;493;p30"/>
              <p:cNvSpPr/>
              <p:nvPr/>
            </p:nvSpPr>
            <p:spPr>
              <a:xfrm>
                <a:off x="7786941" y="3054383"/>
                <a:ext cx="312657" cy="167509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4" name="Google Shape;494;p30"/>
              <p:cNvSpPr/>
              <p:nvPr/>
            </p:nvSpPr>
            <p:spPr>
              <a:xfrm>
                <a:off x="7895013" y="2971083"/>
                <a:ext cx="679816" cy="26604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95" name="Google Shape;495;p30"/>
          <p:cNvGrpSpPr/>
          <p:nvPr/>
        </p:nvGrpSpPr>
        <p:grpSpPr>
          <a:xfrm>
            <a:off x="8194786" y="4551555"/>
            <a:ext cx="581264" cy="284549"/>
            <a:chOff x="7493876" y="2774731"/>
            <a:chExt cx="1490420" cy="890885"/>
          </a:xfrm>
        </p:grpSpPr>
        <p:sp>
          <p:nvSpPr>
            <p:cNvPr id="496" name="Google Shape;496;p30"/>
            <p:cNvSpPr/>
            <p:nvPr/>
          </p:nvSpPr>
          <p:spPr>
            <a:xfrm>
              <a:off x="7493876" y="3084399"/>
              <a:ext cx="1490420" cy="581217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97" name="Google Shape;497;p30"/>
            <p:cNvSpPr/>
            <p:nvPr/>
          </p:nvSpPr>
          <p:spPr>
            <a:xfrm>
              <a:off x="7494729" y="2774731"/>
              <a:ext cx="1480200" cy="57900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98" name="Google Shape;498;p30"/>
            <p:cNvGrpSpPr/>
            <p:nvPr/>
          </p:nvGrpSpPr>
          <p:grpSpPr>
            <a:xfrm>
              <a:off x="7713435" y="2848414"/>
              <a:ext cx="1043670" cy="423496"/>
              <a:chOff x="7786941" y="2884917"/>
              <a:chExt cx="899018" cy="352209"/>
            </a:xfrm>
          </p:grpSpPr>
          <p:sp>
            <p:nvSpPr>
              <p:cNvPr id="499" name="Google Shape;499;p30"/>
              <p:cNvSpPr/>
              <p:nvPr/>
            </p:nvSpPr>
            <p:spPr>
              <a:xfrm>
                <a:off x="7811770" y="2884917"/>
                <a:ext cx="852825" cy="196850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0" name="Google Shape;500;p30"/>
              <p:cNvSpPr/>
              <p:nvPr/>
            </p:nvSpPr>
            <p:spPr>
              <a:xfrm>
                <a:off x="8367548" y="3054383"/>
                <a:ext cx="318411" cy="16947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1" name="Google Shape;501;p30"/>
              <p:cNvSpPr/>
              <p:nvPr/>
            </p:nvSpPr>
            <p:spPr>
              <a:xfrm>
                <a:off x="7786941" y="3054383"/>
                <a:ext cx="312657" cy="167509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2" name="Google Shape;502;p30"/>
              <p:cNvSpPr/>
              <p:nvPr/>
            </p:nvSpPr>
            <p:spPr>
              <a:xfrm>
                <a:off x="7895013" y="2971083"/>
                <a:ext cx="679816" cy="26604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03" name="Google Shape;503;p30"/>
          <p:cNvGrpSpPr/>
          <p:nvPr/>
        </p:nvGrpSpPr>
        <p:grpSpPr>
          <a:xfrm>
            <a:off x="8800286" y="3636156"/>
            <a:ext cx="581264" cy="284549"/>
            <a:chOff x="7493876" y="2774731"/>
            <a:chExt cx="1490420" cy="890885"/>
          </a:xfrm>
        </p:grpSpPr>
        <p:sp>
          <p:nvSpPr>
            <p:cNvPr id="504" name="Google Shape;504;p30"/>
            <p:cNvSpPr/>
            <p:nvPr/>
          </p:nvSpPr>
          <p:spPr>
            <a:xfrm>
              <a:off x="7493876" y="3084399"/>
              <a:ext cx="1490420" cy="581217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05" name="Google Shape;505;p30"/>
            <p:cNvSpPr/>
            <p:nvPr/>
          </p:nvSpPr>
          <p:spPr>
            <a:xfrm>
              <a:off x="7494729" y="2774731"/>
              <a:ext cx="1480200" cy="57900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06" name="Google Shape;506;p30"/>
            <p:cNvGrpSpPr/>
            <p:nvPr/>
          </p:nvGrpSpPr>
          <p:grpSpPr>
            <a:xfrm>
              <a:off x="7713435" y="2848414"/>
              <a:ext cx="1043670" cy="423496"/>
              <a:chOff x="7786941" y="2884917"/>
              <a:chExt cx="899018" cy="352209"/>
            </a:xfrm>
          </p:grpSpPr>
          <p:sp>
            <p:nvSpPr>
              <p:cNvPr id="507" name="Google Shape;507;p30"/>
              <p:cNvSpPr/>
              <p:nvPr/>
            </p:nvSpPr>
            <p:spPr>
              <a:xfrm>
                <a:off x="7811770" y="2884917"/>
                <a:ext cx="852825" cy="196850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8" name="Google Shape;508;p30"/>
              <p:cNvSpPr/>
              <p:nvPr/>
            </p:nvSpPr>
            <p:spPr>
              <a:xfrm>
                <a:off x="8367548" y="3054383"/>
                <a:ext cx="318411" cy="16947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9" name="Google Shape;509;p30"/>
              <p:cNvSpPr/>
              <p:nvPr/>
            </p:nvSpPr>
            <p:spPr>
              <a:xfrm>
                <a:off x="7786941" y="3054383"/>
                <a:ext cx="312657" cy="167509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0" name="Google Shape;510;p30"/>
              <p:cNvSpPr/>
              <p:nvPr/>
            </p:nvSpPr>
            <p:spPr>
              <a:xfrm>
                <a:off x="7895013" y="2971083"/>
                <a:ext cx="679816" cy="26604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11" name="Google Shape;511;p30"/>
          <p:cNvGrpSpPr/>
          <p:nvPr/>
        </p:nvGrpSpPr>
        <p:grpSpPr>
          <a:xfrm>
            <a:off x="8710947" y="4233995"/>
            <a:ext cx="581264" cy="284549"/>
            <a:chOff x="7493876" y="2774731"/>
            <a:chExt cx="1490420" cy="890885"/>
          </a:xfrm>
        </p:grpSpPr>
        <p:sp>
          <p:nvSpPr>
            <p:cNvPr id="512" name="Google Shape;512;p30"/>
            <p:cNvSpPr/>
            <p:nvPr/>
          </p:nvSpPr>
          <p:spPr>
            <a:xfrm>
              <a:off x="7493876" y="3084399"/>
              <a:ext cx="1490420" cy="581217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13" name="Google Shape;513;p30"/>
            <p:cNvSpPr/>
            <p:nvPr/>
          </p:nvSpPr>
          <p:spPr>
            <a:xfrm>
              <a:off x="7494729" y="2774731"/>
              <a:ext cx="1480200" cy="57900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14" name="Google Shape;514;p30"/>
            <p:cNvGrpSpPr/>
            <p:nvPr/>
          </p:nvGrpSpPr>
          <p:grpSpPr>
            <a:xfrm>
              <a:off x="7713435" y="2848414"/>
              <a:ext cx="1043670" cy="423496"/>
              <a:chOff x="7786941" y="2884917"/>
              <a:chExt cx="899018" cy="352209"/>
            </a:xfrm>
          </p:grpSpPr>
          <p:sp>
            <p:nvSpPr>
              <p:cNvPr id="515" name="Google Shape;515;p30"/>
              <p:cNvSpPr/>
              <p:nvPr/>
            </p:nvSpPr>
            <p:spPr>
              <a:xfrm>
                <a:off x="7811770" y="2884917"/>
                <a:ext cx="852825" cy="196850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6" name="Google Shape;516;p30"/>
              <p:cNvSpPr/>
              <p:nvPr/>
            </p:nvSpPr>
            <p:spPr>
              <a:xfrm>
                <a:off x="8367548" y="3054383"/>
                <a:ext cx="318411" cy="16947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7" name="Google Shape;517;p30"/>
              <p:cNvSpPr/>
              <p:nvPr/>
            </p:nvSpPr>
            <p:spPr>
              <a:xfrm>
                <a:off x="7786941" y="3054383"/>
                <a:ext cx="312657" cy="167509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8" name="Google Shape;518;p30"/>
              <p:cNvSpPr/>
              <p:nvPr/>
            </p:nvSpPr>
            <p:spPr>
              <a:xfrm>
                <a:off x="7895013" y="2971083"/>
                <a:ext cx="679816" cy="26604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19" name="Google Shape;519;p30"/>
          <p:cNvGrpSpPr/>
          <p:nvPr/>
        </p:nvGrpSpPr>
        <p:grpSpPr>
          <a:xfrm>
            <a:off x="7764268" y="3944292"/>
            <a:ext cx="581264" cy="284549"/>
            <a:chOff x="7493876" y="2774731"/>
            <a:chExt cx="1490420" cy="890885"/>
          </a:xfrm>
        </p:grpSpPr>
        <p:sp>
          <p:nvSpPr>
            <p:cNvPr id="520" name="Google Shape;520;p30"/>
            <p:cNvSpPr/>
            <p:nvPr/>
          </p:nvSpPr>
          <p:spPr>
            <a:xfrm>
              <a:off x="7493876" y="3084399"/>
              <a:ext cx="1490420" cy="581217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21" name="Google Shape;521;p30"/>
            <p:cNvSpPr/>
            <p:nvPr/>
          </p:nvSpPr>
          <p:spPr>
            <a:xfrm>
              <a:off x="7494729" y="2774731"/>
              <a:ext cx="1480200" cy="57900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22" name="Google Shape;522;p30"/>
            <p:cNvGrpSpPr/>
            <p:nvPr/>
          </p:nvGrpSpPr>
          <p:grpSpPr>
            <a:xfrm>
              <a:off x="7713435" y="2848414"/>
              <a:ext cx="1043670" cy="423496"/>
              <a:chOff x="7786941" y="2884917"/>
              <a:chExt cx="899018" cy="352209"/>
            </a:xfrm>
          </p:grpSpPr>
          <p:sp>
            <p:nvSpPr>
              <p:cNvPr id="523" name="Google Shape;523;p30"/>
              <p:cNvSpPr/>
              <p:nvPr/>
            </p:nvSpPr>
            <p:spPr>
              <a:xfrm>
                <a:off x="7811770" y="2884917"/>
                <a:ext cx="852825" cy="196850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4" name="Google Shape;524;p30"/>
              <p:cNvSpPr/>
              <p:nvPr/>
            </p:nvSpPr>
            <p:spPr>
              <a:xfrm>
                <a:off x="8367548" y="3054383"/>
                <a:ext cx="318411" cy="16947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5" name="Google Shape;525;p30"/>
              <p:cNvSpPr/>
              <p:nvPr/>
            </p:nvSpPr>
            <p:spPr>
              <a:xfrm>
                <a:off x="7786941" y="3054383"/>
                <a:ext cx="312657" cy="167509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6" name="Google Shape;526;p30"/>
              <p:cNvSpPr/>
              <p:nvPr/>
            </p:nvSpPr>
            <p:spPr>
              <a:xfrm>
                <a:off x="7895013" y="2971083"/>
                <a:ext cx="679816" cy="26604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27" name="Google Shape;527;p30"/>
          <p:cNvSpPr/>
          <p:nvPr/>
        </p:nvSpPr>
        <p:spPr>
          <a:xfrm>
            <a:off x="11178866" y="2363683"/>
            <a:ext cx="250825" cy="1212850"/>
          </a:xfrm>
          <a:custGeom>
            <a:rect b="b" l="l" r="r" t="t"/>
            <a:pathLst>
              <a:path extrusionOk="0" h="1284" w="366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>
            <a:gsLst>
              <a:gs pos="0">
                <a:srgbClr val="B2B2B2"/>
              </a:gs>
              <a:gs pos="100000">
                <a:srgbClr val="FFFFFF"/>
              </a:gs>
            </a:gsLst>
            <a:lin ang="0" scaled="0"/>
          </a:gra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528" name="Google Shape;528;p30"/>
          <p:cNvGrpSpPr/>
          <p:nvPr/>
        </p:nvGrpSpPr>
        <p:grpSpPr>
          <a:xfrm>
            <a:off x="11355079" y="3260620"/>
            <a:ext cx="230793" cy="442062"/>
            <a:chOff x="4140" y="429"/>
            <a:chExt cx="1419" cy="2400"/>
          </a:xfrm>
        </p:grpSpPr>
        <p:sp>
          <p:nvSpPr>
            <p:cNvPr id="529" name="Google Shape;529;p30"/>
            <p:cNvSpPr/>
            <p:nvPr/>
          </p:nvSpPr>
          <p:spPr>
            <a:xfrm>
              <a:off x="5268" y="433"/>
              <a:ext cx="283" cy="2283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30" name="Google Shape;530;p30"/>
            <p:cNvSpPr/>
            <p:nvPr/>
          </p:nvSpPr>
          <p:spPr>
            <a:xfrm>
              <a:off x="4208" y="429"/>
              <a:ext cx="900" cy="2400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31" name="Google Shape;531;p30"/>
            <p:cNvSpPr/>
            <p:nvPr/>
          </p:nvSpPr>
          <p:spPr>
            <a:xfrm>
              <a:off x="5321" y="570"/>
              <a:ext cx="169" cy="2112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32" name="Google Shape;532;p30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33" name="Google Shape;533;p30"/>
            <p:cNvSpPr/>
            <p:nvPr/>
          </p:nvSpPr>
          <p:spPr>
            <a:xfrm>
              <a:off x="4208" y="696"/>
              <a:ext cx="600" cy="0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534" name="Google Shape;534;p30"/>
            <p:cNvGrpSpPr/>
            <p:nvPr/>
          </p:nvGrpSpPr>
          <p:grpSpPr>
            <a:xfrm>
              <a:off x="4745" y="670"/>
              <a:ext cx="490" cy="18"/>
              <a:chOff x="609" y="2570"/>
              <a:chExt cx="612" cy="17"/>
            </a:xfrm>
          </p:grpSpPr>
          <p:sp>
            <p:nvSpPr>
              <p:cNvPr id="535" name="Google Shape;535;p30"/>
              <p:cNvSpPr/>
              <p:nvPr/>
            </p:nvSpPr>
            <p:spPr>
              <a:xfrm>
                <a:off x="609" y="2570"/>
                <a:ext cx="600" cy="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536" name="Google Shape;536;p30"/>
              <p:cNvSpPr/>
              <p:nvPr/>
            </p:nvSpPr>
            <p:spPr>
              <a:xfrm>
                <a:off x="621" y="2587"/>
                <a:ext cx="600" cy="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537" name="Google Shape;537;p30"/>
            <p:cNvSpPr/>
            <p:nvPr/>
          </p:nvSpPr>
          <p:spPr>
            <a:xfrm>
              <a:off x="4228" y="1015"/>
              <a:ext cx="600" cy="0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538" name="Google Shape;538;p30"/>
            <p:cNvGrpSpPr/>
            <p:nvPr/>
          </p:nvGrpSpPr>
          <p:grpSpPr>
            <a:xfrm>
              <a:off x="4745" y="998"/>
              <a:ext cx="490" cy="17"/>
              <a:chOff x="612" y="2572"/>
              <a:chExt cx="612" cy="18"/>
            </a:xfrm>
          </p:grpSpPr>
          <p:sp>
            <p:nvSpPr>
              <p:cNvPr id="539" name="Google Shape;539;p30"/>
              <p:cNvSpPr/>
              <p:nvPr/>
            </p:nvSpPr>
            <p:spPr>
              <a:xfrm>
                <a:off x="612" y="2572"/>
                <a:ext cx="600" cy="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540" name="Google Shape;540;p30"/>
              <p:cNvSpPr/>
              <p:nvPr/>
            </p:nvSpPr>
            <p:spPr>
              <a:xfrm>
                <a:off x="624" y="2590"/>
                <a:ext cx="600" cy="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541" name="Google Shape;541;p30"/>
            <p:cNvSpPr/>
            <p:nvPr/>
          </p:nvSpPr>
          <p:spPr>
            <a:xfrm>
              <a:off x="4218" y="1360"/>
              <a:ext cx="600" cy="0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42" name="Google Shape;542;p30"/>
            <p:cNvSpPr/>
            <p:nvPr/>
          </p:nvSpPr>
          <p:spPr>
            <a:xfrm>
              <a:off x="4228" y="1653"/>
              <a:ext cx="600" cy="0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543" name="Google Shape;543;p30"/>
            <p:cNvGrpSpPr/>
            <p:nvPr/>
          </p:nvGrpSpPr>
          <p:grpSpPr>
            <a:xfrm>
              <a:off x="4735" y="1627"/>
              <a:ext cx="492" cy="326"/>
              <a:chOff x="614" y="2568"/>
              <a:chExt cx="613" cy="300"/>
            </a:xfrm>
          </p:grpSpPr>
          <p:sp>
            <p:nvSpPr>
              <p:cNvPr id="544" name="Google Shape;544;p30"/>
              <p:cNvSpPr/>
              <p:nvPr/>
            </p:nvSpPr>
            <p:spPr>
              <a:xfrm>
                <a:off x="614" y="2568"/>
                <a:ext cx="600" cy="30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545" name="Google Shape;545;p30"/>
              <p:cNvSpPr/>
              <p:nvPr/>
            </p:nvSpPr>
            <p:spPr>
              <a:xfrm>
                <a:off x="627" y="2584"/>
                <a:ext cx="600" cy="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546" name="Google Shape;546;p30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547" name="Google Shape;547;p30"/>
            <p:cNvGrpSpPr/>
            <p:nvPr/>
          </p:nvGrpSpPr>
          <p:grpSpPr>
            <a:xfrm>
              <a:off x="4735" y="1325"/>
              <a:ext cx="492" cy="18"/>
              <a:chOff x="609" y="2566"/>
              <a:chExt cx="613" cy="18"/>
            </a:xfrm>
          </p:grpSpPr>
          <p:sp>
            <p:nvSpPr>
              <p:cNvPr id="548" name="Google Shape;548;p30"/>
              <p:cNvSpPr/>
              <p:nvPr/>
            </p:nvSpPr>
            <p:spPr>
              <a:xfrm>
                <a:off x="609" y="2566"/>
                <a:ext cx="600" cy="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549" name="Google Shape;549;p30"/>
              <p:cNvSpPr/>
              <p:nvPr/>
            </p:nvSpPr>
            <p:spPr>
              <a:xfrm>
                <a:off x="622" y="2584"/>
                <a:ext cx="600" cy="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550" name="Google Shape;550;p30"/>
            <p:cNvSpPr/>
            <p:nvPr/>
          </p:nvSpPr>
          <p:spPr>
            <a:xfrm>
              <a:off x="5253" y="429"/>
              <a:ext cx="0" cy="240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51" name="Google Shape;551;p30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52" name="Google Shape;552;p30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53" name="Google Shape;553;p30"/>
            <p:cNvSpPr/>
            <p:nvPr/>
          </p:nvSpPr>
          <p:spPr>
            <a:xfrm>
              <a:off x="5516" y="2610"/>
              <a:ext cx="0" cy="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54" name="Google Shape;554;p30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55" name="Google Shape;555;p30"/>
            <p:cNvSpPr/>
            <p:nvPr/>
          </p:nvSpPr>
          <p:spPr>
            <a:xfrm>
              <a:off x="4140" y="2678"/>
              <a:ext cx="1200" cy="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56" name="Google Shape;556;p30"/>
            <p:cNvSpPr/>
            <p:nvPr/>
          </p:nvSpPr>
          <p:spPr>
            <a:xfrm>
              <a:off x="4208" y="2713"/>
              <a:ext cx="1200" cy="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57" name="Google Shape;557;p30"/>
            <p:cNvSpPr/>
            <p:nvPr/>
          </p:nvSpPr>
          <p:spPr>
            <a:xfrm>
              <a:off x="4306" y="2385"/>
              <a:ext cx="300" cy="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58" name="Google Shape;558;p30"/>
            <p:cNvSpPr/>
            <p:nvPr/>
          </p:nvSpPr>
          <p:spPr>
            <a:xfrm>
              <a:off x="4482" y="2385"/>
              <a:ext cx="300" cy="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p30"/>
            <p:cNvSpPr/>
            <p:nvPr/>
          </p:nvSpPr>
          <p:spPr>
            <a:xfrm>
              <a:off x="4657" y="2377"/>
              <a:ext cx="300" cy="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60" name="Google Shape;560;p30"/>
            <p:cNvSpPr/>
            <p:nvPr/>
          </p:nvSpPr>
          <p:spPr>
            <a:xfrm>
              <a:off x="5057" y="1834"/>
              <a:ext cx="0" cy="900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561" name="Google Shape;561;p30"/>
          <p:cNvSpPr/>
          <p:nvPr/>
        </p:nvSpPr>
        <p:spPr>
          <a:xfrm flipH="1">
            <a:off x="6810066" y="2305050"/>
            <a:ext cx="250825" cy="1201737"/>
          </a:xfrm>
          <a:custGeom>
            <a:rect b="b" l="l" r="r" t="t"/>
            <a:pathLst>
              <a:path extrusionOk="0" h="1284" w="366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>
            <a:gsLst>
              <a:gs pos="0">
                <a:srgbClr val="B2B2B2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562" name="Google Shape;562;p30"/>
          <p:cNvGrpSpPr/>
          <p:nvPr/>
        </p:nvGrpSpPr>
        <p:grpSpPr>
          <a:xfrm>
            <a:off x="6405254" y="3243263"/>
            <a:ext cx="525462" cy="434992"/>
            <a:chOff x="-44" y="1473"/>
            <a:chExt cx="981" cy="1105"/>
          </a:xfrm>
        </p:grpSpPr>
        <p:pic>
          <p:nvPicPr>
            <p:cNvPr descr="desktop_computer_stylized_medium" id="563" name="Google Shape;563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4" name="Google Shape;564;p3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6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565" name="Google Shape;565;p30"/>
          <p:cNvGrpSpPr/>
          <p:nvPr/>
        </p:nvGrpSpPr>
        <p:grpSpPr>
          <a:xfrm>
            <a:off x="7045286" y="2362077"/>
            <a:ext cx="717898" cy="1154400"/>
            <a:chOff x="7664720" y="2799688"/>
            <a:chExt cx="717898" cy="1154400"/>
          </a:xfrm>
        </p:grpSpPr>
        <p:sp>
          <p:nvSpPr>
            <p:cNvPr id="566" name="Google Shape;566;p30"/>
            <p:cNvSpPr/>
            <p:nvPr/>
          </p:nvSpPr>
          <p:spPr>
            <a:xfrm>
              <a:off x="7671781" y="2799688"/>
              <a:ext cx="702600" cy="11544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00A3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67" name="Google Shape;567;p30"/>
            <p:cNvCxnSpPr/>
            <p:nvPr/>
          </p:nvCxnSpPr>
          <p:spPr>
            <a:xfrm>
              <a:off x="7664720" y="3029172"/>
              <a:ext cx="7026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68" name="Google Shape;568;p30"/>
            <p:cNvCxnSpPr/>
            <p:nvPr/>
          </p:nvCxnSpPr>
          <p:spPr>
            <a:xfrm>
              <a:off x="7668839" y="3266304"/>
              <a:ext cx="7026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69" name="Google Shape;569;p30"/>
            <p:cNvCxnSpPr/>
            <p:nvPr/>
          </p:nvCxnSpPr>
          <p:spPr>
            <a:xfrm>
              <a:off x="7680018" y="3499906"/>
              <a:ext cx="7026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70" name="Google Shape;570;p30"/>
            <p:cNvCxnSpPr/>
            <p:nvPr/>
          </p:nvCxnSpPr>
          <p:spPr>
            <a:xfrm>
              <a:off x="7670015" y="3726448"/>
              <a:ext cx="7026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571" name="Google Shape;571;p30"/>
          <p:cNvGrpSpPr/>
          <p:nvPr/>
        </p:nvGrpSpPr>
        <p:grpSpPr>
          <a:xfrm>
            <a:off x="10476914" y="2368655"/>
            <a:ext cx="717898" cy="1154400"/>
            <a:chOff x="7664720" y="2795550"/>
            <a:chExt cx="717898" cy="1154400"/>
          </a:xfrm>
        </p:grpSpPr>
        <p:sp>
          <p:nvSpPr>
            <p:cNvPr id="572" name="Google Shape;572;p30"/>
            <p:cNvSpPr/>
            <p:nvPr/>
          </p:nvSpPr>
          <p:spPr>
            <a:xfrm>
              <a:off x="7671781" y="2795550"/>
              <a:ext cx="702600" cy="1154400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00A3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73" name="Google Shape;573;p30"/>
            <p:cNvCxnSpPr/>
            <p:nvPr/>
          </p:nvCxnSpPr>
          <p:spPr>
            <a:xfrm>
              <a:off x="7664720" y="3029172"/>
              <a:ext cx="7026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74" name="Google Shape;574;p30"/>
            <p:cNvCxnSpPr/>
            <p:nvPr/>
          </p:nvCxnSpPr>
          <p:spPr>
            <a:xfrm>
              <a:off x="7668839" y="3266304"/>
              <a:ext cx="7026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75" name="Google Shape;575;p30"/>
            <p:cNvCxnSpPr/>
            <p:nvPr/>
          </p:nvCxnSpPr>
          <p:spPr>
            <a:xfrm>
              <a:off x="7680018" y="3499906"/>
              <a:ext cx="7026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76" name="Google Shape;576;p30"/>
            <p:cNvCxnSpPr/>
            <p:nvPr/>
          </p:nvCxnSpPr>
          <p:spPr>
            <a:xfrm>
              <a:off x="7670015" y="3726448"/>
              <a:ext cx="7026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577" name="Google Shape;577;p30"/>
          <p:cNvGrpSpPr/>
          <p:nvPr/>
        </p:nvGrpSpPr>
        <p:grpSpPr>
          <a:xfrm>
            <a:off x="8867832" y="4245561"/>
            <a:ext cx="456600" cy="226500"/>
            <a:chOff x="6859123" y="5156933"/>
            <a:chExt cx="456600" cy="226500"/>
          </a:xfrm>
        </p:grpSpPr>
        <p:sp>
          <p:nvSpPr>
            <p:cNvPr id="578" name="Google Shape;578;p30"/>
            <p:cNvSpPr/>
            <p:nvPr/>
          </p:nvSpPr>
          <p:spPr>
            <a:xfrm>
              <a:off x="6859123" y="5156933"/>
              <a:ext cx="456600" cy="226500"/>
            </a:xfrm>
            <a:prstGeom prst="rect">
              <a:avLst/>
            </a:prstGeom>
            <a:solidFill>
              <a:srgbClr val="F989B2"/>
            </a:solidFill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79" name="Google Shape;579;p30"/>
            <p:cNvCxnSpPr/>
            <p:nvPr/>
          </p:nvCxnSpPr>
          <p:spPr>
            <a:xfrm rot="10800000">
              <a:off x="7249115" y="5190023"/>
              <a:ext cx="0" cy="155700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80" name="Google Shape;580;p30"/>
            <p:cNvCxnSpPr/>
            <p:nvPr/>
          </p:nvCxnSpPr>
          <p:spPr>
            <a:xfrm rot="10800000">
              <a:off x="7197800" y="5190023"/>
              <a:ext cx="0" cy="155700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81" name="Google Shape;581;p30"/>
            <p:cNvCxnSpPr/>
            <p:nvPr/>
          </p:nvCxnSpPr>
          <p:spPr>
            <a:xfrm rot="10800000">
              <a:off x="7146485" y="5190023"/>
              <a:ext cx="0" cy="155700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82" name="Google Shape;582;p30"/>
            <p:cNvCxnSpPr/>
            <p:nvPr/>
          </p:nvCxnSpPr>
          <p:spPr>
            <a:xfrm rot="10800000">
              <a:off x="7095171" y="5190023"/>
              <a:ext cx="0" cy="155700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83" name="Google Shape;583;p30"/>
            <p:cNvCxnSpPr/>
            <p:nvPr/>
          </p:nvCxnSpPr>
          <p:spPr>
            <a:xfrm rot="10800000">
              <a:off x="7043856" y="5190023"/>
              <a:ext cx="0" cy="155700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84" name="Google Shape;584;p30"/>
            <p:cNvCxnSpPr/>
            <p:nvPr/>
          </p:nvCxnSpPr>
          <p:spPr>
            <a:xfrm rot="10800000">
              <a:off x="6992541" y="5190023"/>
              <a:ext cx="0" cy="155700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85" name="Google Shape;585;p30"/>
            <p:cNvCxnSpPr/>
            <p:nvPr/>
          </p:nvCxnSpPr>
          <p:spPr>
            <a:xfrm rot="10800000">
              <a:off x="6941227" y="5190023"/>
              <a:ext cx="0" cy="155700"/>
            </a:xfrm>
            <a:prstGeom prst="straightConnector1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586" name="Google Shape;586;p30"/>
          <p:cNvGrpSpPr/>
          <p:nvPr/>
        </p:nvGrpSpPr>
        <p:grpSpPr>
          <a:xfrm>
            <a:off x="7552398" y="2762175"/>
            <a:ext cx="3061681" cy="1432100"/>
            <a:chOff x="7552398" y="2762175"/>
            <a:chExt cx="3061681" cy="1432100"/>
          </a:xfrm>
        </p:grpSpPr>
        <p:sp>
          <p:nvSpPr>
            <p:cNvPr id="587" name="Google Shape;587;p30"/>
            <p:cNvSpPr/>
            <p:nvPr/>
          </p:nvSpPr>
          <p:spPr>
            <a:xfrm flipH="1">
              <a:off x="9104671" y="2771139"/>
              <a:ext cx="1509408" cy="1423136"/>
            </a:xfrm>
            <a:custGeom>
              <a:rect b="b" l="l" r="r" t="t"/>
              <a:pathLst>
                <a:path extrusionOk="0" h="1378340" w="1509408">
                  <a:moveTo>
                    <a:pt x="1509408" y="1378340"/>
                  </a:moveTo>
                  <a:cubicBezTo>
                    <a:pt x="1268229" y="509348"/>
                    <a:pt x="882368" y="54174"/>
                    <a:pt x="0" y="0"/>
                  </a:cubicBezTo>
                </a:path>
              </a:pathLst>
            </a:cu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8" name="Google Shape;588;p30"/>
            <p:cNvSpPr/>
            <p:nvPr/>
          </p:nvSpPr>
          <p:spPr>
            <a:xfrm>
              <a:off x="7552398" y="2762175"/>
              <a:ext cx="1509408" cy="1423136"/>
            </a:xfrm>
            <a:custGeom>
              <a:rect b="b" l="l" r="r" t="t"/>
              <a:pathLst>
                <a:path extrusionOk="0" h="1378340" w="1509408">
                  <a:moveTo>
                    <a:pt x="1509408" y="1378340"/>
                  </a:moveTo>
                  <a:cubicBezTo>
                    <a:pt x="1268229" y="509348"/>
                    <a:pt x="882368" y="54174"/>
                    <a:pt x="0" y="0"/>
                  </a:cubicBezTo>
                </a:path>
              </a:pathLst>
            </a:cu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89" name="Google Shape;589;p30"/>
          <p:cNvGrpSpPr/>
          <p:nvPr/>
        </p:nvGrpSpPr>
        <p:grpSpPr>
          <a:xfrm>
            <a:off x="7428575" y="2677315"/>
            <a:ext cx="3355703" cy="1705017"/>
            <a:chOff x="7428575" y="2677315"/>
            <a:chExt cx="3355703" cy="1705017"/>
          </a:xfrm>
        </p:grpSpPr>
        <p:sp>
          <p:nvSpPr>
            <p:cNvPr id="590" name="Google Shape;590;p30"/>
            <p:cNvSpPr/>
            <p:nvPr/>
          </p:nvSpPr>
          <p:spPr>
            <a:xfrm>
              <a:off x="9335149" y="2701273"/>
              <a:ext cx="1406439" cy="1681059"/>
            </a:xfrm>
            <a:custGeom>
              <a:rect b="b" l="l" r="r" t="t"/>
              <a:pathLst>
                <a:path extrusionOk="0" h="1681059" w="1541303">
                  <a:moveTo>
                    <a:pt x="0" y="1681059"/>
                  </a:moveTo>
                  <a:lnTo>
                    <a:pt x="539056" y="1465436"/>
                  </a:lnTo>
                  <a:lnTo>
                    <a:pt x="1541303" y="1445471"/>
                  </a:lnTo>
                  <a:lnTo>
                    <a:pt x="1525331" y="0"/>
                  </a:lnTo>
                </a:path>
              </a:pathLst>
            </a:custGeom>
            <a:noFill/>
            <a:ln cap="flat" cmpd="sng" w="44450">
              <a:solidFill>
                <a:srgbClr val="2E75B5"/>
              </a:solidFill>
              <a:prstDash val="solid"/>
              <a:miter lim="800000"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1" name="Google Shape;591;p30"/>
            <p:cNvSpPr/>
            <p:nvPr/>
          </p:nvSpPr>
          <p:spPr>
            <a:xfrm>
              <a:off x="7473006" y="2677315"/>
              <a:ext cx="1448585" cy="1701024"/>
            </a:xfrm>
            <a:custGeom>
              <a:rect b="b" l="l" r="r" t="t"/>
              <a:pathLst>
                <a:path extrusionOk="0" h="1701024" w="1549289">
                  <a:moveTo>
                    <a:pt x="0" y="0"/>
                  </a:moveTo>
                  <a:lnTo>
                    <a:pt x="7986" y="1481408"/>
                  </a:lnTo>
                  <a:lnTo>
                    <a:pt x="1030198" y="1485401"/>
                  </a:lnTo>
                  <a:lnTo>
                    <a:pt x="1549289" y="1701024"/>
                  </a:lnTo>
                </a:path>
              </a:pathLst>
            </a:custGeom>
            <a:noFill/>
            <a:ln cap="flat" cmpd="sng" w="38100">
              <a:solidFill>
                <a:srgbClr val="2E75B5"/>
              </a:solidFill>
              <a:prstDash val="solid"/>
              <a:miter lim="800000"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2" name="Google Shape;592;p30"/>
            <p:cNvSpPr txBox="1"/>
            <p:nvPr/>
          </p:nvSpPr>
          <p:spPr>
            <a:xfrm>
              <a:off x="10184578" y="3556614"/>
              <a:ext cx="599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E75B5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2E75B5"/>
                  </a:solidFill>
                  <a:latin typeface="Calibri"/>
                  <a:ea typeface="Calibri"/>
                  <a:cs typeface="Calibri"/>
                  <a:sym typeface="Calibri"/>
                </a:rPr>
                <a:t>data</a:t>
              </a:r>
              <a:endParaRPr/>
            </a:p>
          </p:txBody>
        </p:sp>
        <p:sp>
          <p:nvSpPr>
            <p:cNvPr id="593" name="Google Shape;593;p30"/>
            <p:cNvSpPr txBox="1"/>
            <p:nvPr/>
          </p:nvSpPr>
          <p:spPr>
            <a:xfrm>
              <a:off x="7428575" y="3517694"/>
              <a:ext cx="599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E75B5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2E75B5"/>
                  </a:solidFill>
                  <a:latin typeface="Calibri"/>
                  <a:ea typeface="Calibri"/>
                  <a:cs typeface="Calibri"/>
                  <a:sym typeface="Calibri"/>
                </a:rPr>
                <a:t>data</a:t>
              </a:r>
              <a:endParaRPr/>
            </a:p>
          </p:txBody>
        </p:sp>
      </p:grpSp>
      <p:grpSp>
        <p:nvGrpSpPr>
          <p:cNvPr id="594" name="Google Shape;594;p30"/>
          <p:cNvGrpSpPr/>
          <p:nvPr/>
        </p:nvGrpSpPr>
        <p:grpSpPr>
          <a:xfrm>
            <a:off x="6799618" y="2691243"/>
            <a:ext cx="4657185" cy="1827509"/>
            <a:chOff x="6799618" y="2691243"/>
            <a:chExt cx="4657185" cy="1827509"/>
          </a:xfrm>
        </p:grpSpPr>
        <p:sp>
          <p:nvSpPr>
            <p:cNvPr id="595" name="Google Shape;595;p30"/>
            <p:cNvSpPr/>
            <p:nvPr/>
          </p:nvSpPr>
          <p:spPr>
            <a:xfrm>
              <a:off x="7353946" y="2691243"/>
              <a:ext cx="3497252" cy="1827509"/>
            </a:xfrm>
            <a:custGeom>
              <a:rect b="b" l="l" r="r" t="t"/>
              <a:pathLst>
                <a:path extrusionOk="0" h="1827509" w="3832605">
                  <a:moveTo>
                    <a:pt x="0" y="0"/>
                  </a:moveTo>
                  <a:lnTo>
                    <a:pt x="15169" y="1588809"/>
                  </a:lnTo>
                  <a:lnTo>
                    <a:pt x="1185946" y="1592482"/>
                  </a:lnTo>
                  <a:lnTo>
                    <a:pt x="1572183" y="1823837"/>
                  </a:lnTo>
                  <a:lnTo>
                    <a:pt x="2147513" y="1827509"/>
                  </a:lnTo>
                  <a:lnTo>
                    <a:pt x="2727724" y="1591143"/>
                  </a:lnTo>
                  <a:lnTo>
                    <a:pt x="3832605" y="1589734"/>
                  </a:lnTo>
                  <a:cubicBezTo>
                    <a:pt x="3829493" y="1109929"/>
                    <a:pt x="3833014" y="605902"/>
                    <a:pt x="3829902" y="126097"/>
                  </a:cubicBezTo>
                </a:path>
              </a:pathLst>
            </a:custGeom>
            <a:noFill/>
            <a:ln cap="flat" cmpd="sng" w="25400">
              <a:solidFill>
                <a:srgbClr val="00B05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6" name="Google Shape;596;p30"/>
            <p:cNvSpPr txBox="1"/>
            <p:nvPr/>
          </p:nvSpPr>
          <p:spPr>
            <a:xfrm>
              <a:off x="6799618" y="3650736"/>
              <a:ext cx="647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B05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B050"/>
                  </a:solidFill>
                  <a:latin typeface="Calibri"/>
                  <a:ea typeface="Calibri"/>
                  <a:cs typeface="Calibri"/>
                  <a:sym typeface="Calibri"/>
                </a:rPr>
                <a:t>ACKs</a:t>
              </a:r>
              <a:endParaRPr/>
            </a:p>
          </p:txBody>
        </p:sp>
        <p:sp>
          <p:nvSpPr>
            <p:cNvPr id="597" name="Google Shape;597;p30"/>
            <p:cNvSpPr txBox="1"/>
            <p:nvPr/>
          </p:nvSpPr>
          <p:spPr>
            <a:xfrm>
              <a:off x="10809403" y="3772400"/>
              <a:ext cx="647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B05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B050"/>
                  </a:solidFill>
                  <a:latin typeface="Calibri"/>
                  <a:ea typeface="Calibri"/>
                  <a:cs typeface="Calibri"/>
                  <a:sym typeface="Calibri"/>
                </a:rPr>
                <a:t>ACKs</a:t>
              </a:r>
              <a:endParaRPr/>
            </a:p>
          </p:txBody>
        </p:sp>
      </p:grpSp>
      <p:sp>
        <p:nvSpPr>
          <p:cNvPr id="598" name="Google Shape;598;p30"/>
          <p:cNvSpPr txBox="1"/>
          <p:nvPr/>
        </p:nvSpPr>
        <p:spPr>
          <a:xfrm>
            <a:off x="8061221" y="2622756"/>
            <a:ext cx="2095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explicit congestion info</a:t>
            </a:r>
            <a:endParaRPr/>
          </a:p>
        </p:txBody>
      </p:sp>
      <p:sp>
        <p:nvSpPr>
          <p:cNvPr id="599" name="Google Shape;599;p30"/>
          <p:cNvSpPr txBox="1"/>
          <p:nvPr/>
        </p:nvSpPr>
        <p:spPr>
          <a:xfrm>
            <a:off x="698090" y="1818967"/>
            <a:ext cx="5781300" cy="38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500"/>
              <a:buFont typeface="Noto Sans Symbols"/>
              <a:buNone/>
            </a:pPr>
            <a:r>
              <a:rPr b="0" i="0" lang="en-US" sz="35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Network-assisted congestion control:</a:t>
            </a:r>
            <a:endParaRPr/>
          </a:p>
          <a:p>
            <a:pPr indent="-277812" lvl="0" marL="407987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000"/>
              <a:buFont typeface="Noto Sans Symbols"/>
              <a:buChar char="▪"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routers provide </a:t>
            </a:r>
            <a:r>
              <a:rPr b="0" i="1" lang="en-US" sz="30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direct</a:t>
            </a: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feedback to sending/receiving hosts with flows passing through congested router</a:t>
            </a:r>
            <a:endParaRPr/>
          </a:p>
          <a:p>
            <a:pPr indent="-277812" lvl="0" marL="407987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000"/>
              <a:buFont typeface="Noto Sans Symbols"/>
              <a:buChar char="▪"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may indicate congestion level or explicitly set sending rate</a:t>
            </a:r>
            <a:endParaRPr/>
          </a:p>
        </p:txBody>
      </p:sp>
      <p:sp>
        <p:nvSpPr>
          <p:cNvPr id="600" name="Google Shape;600;p30"/>
          <p:cNvSpPr txBox="1"/>
          <p:nvPr>
            <p:ph idx="12" type="sldNum"/>
          </p:nvPr>
        </p:nvSpPr>
        <p:spPr>
          <a:xfrm>
            <a:off x="9219616" y="644308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31"/>
          <p:cNvSpPr txBox="1"/>
          <p:nvPr>
            <p:ph idx="12" type="sldNum"/>
          </p:nvPr>
        </p:nvSpPr>
        <p:spPr>
          <a:xfrm>
            <a:off x="9347200" y="6477000"/>
            <a:ext cx="2844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fld id="{00000000-1234-1234-1234-123412341234}" type="slidenum">
              <a:rPr lang="en-US"/>
              <a:t>‹#›</a:t>
            </a:fld>
            <a:endParaRPr sz="11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31"/>
          <p:cNvSpPr txBox="1"/>
          <p:nvPr>
            <p:ph type="title"/>
          </p:nvPr>
        </p:nvSpPr>
        <p:spPr>
          <a:xfrm>
            <a:off x="762000" y="152400"/>
            <a:ext cx="10615800" cy="145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TCP Congestion Control</a:t>
            </a:r>
            <a:endParaRPr/>
          </a:p>
        </p:txBody>
      </p:sp>
      <p:sp>
        <p:nvSpPr>
          <p:cNvPr id="607" name="Google Shape;607;p31"/>
          <p:cNvSpPr txBox="1"/>
          <p:nvPr>
            <p:ph idx="1" type="body"/>
          </p:nvPr>
        </p:nvSpPr>
        <p:spPr>
          <a:xfrm>
            <a:off x="762000" y="1427450"/>
            <a:ext cx="10079700" cy="52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93700" lvl="0" marL="342900" rtl="0" algn="l"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 u="sng">
                <a:solidFill>
                  <a:srgbClr val="FF0000"/>
                </a:solidFill>
              </a:rPr>
              <a:t>How does  sender perceive congestion?</a:t>
            </a:r>
            <a:endParaRPr/>
          </a:p>
          <a:p>
            <a:pPr indent="-304800" lvl="1" marL="742950" rtl="0" algn="l">
              <a:spcBef>
                <a:spcPts val="400"/>
              </a:spcBef>
              <a:spcAft>
                <a:spcPts val="0"/>
              </a:spcAft>
              <a:buSzPts val="2300"/>
              <a:buChar char="•"/>
            </a:pPr>
            <a:r>
              <a:rPr lang="en-US" sz="2300"/>
              <a:t>loss event = timeout </a:t>
            </a:r>
            <a:r>
              <a:rPr i="1" lang="en-US" sz="2300"/>
              <a:t>or</a:t>
            </a:r>
            <a:r>
              <a:rPr lang="en-US" sz="2300"/>
              <a:t> 3 duplicate acks</a:t>
            </a:r>
            <a:endParaRPr sz="2700"/>
          </a:p>
          <a:p>
            <a:pPr indent="-361950" lvl="0" marL="342900" rtl="0" algn="l">
              <a:spcBef>
                <a:spcPts val="400"/>
              </a:spcBef>
              <a:spcAft>
                <a:spcPts val="0"/>
              </a:spcAft>
              <a:buSzPts val="1900"/>
              <a:buChar char="▪"/>
            </a:pPr>
            <a:r>
              <a:rPr lang="en-US" sz="2300"/>
              <a:t>Retransmission of the lost packets does not solve congestion problem – it aggravates it</a:t>
            </a:r>
            <a:endParaRPr sz="3100"/>
          </a:p>
          <a:p>
            <a:pPr indent="-361950" lvl="0" marL="342900" rtl="0" algn="l">
              <a:spcBef>
                <a:spcPts val="400"/>
              </a:spcBef>
              <a:spcAft>
                <a:spcPts val="0"/>
              </a:spcAft>
              <a:buSzPts val="1900"/>
              <a:buChar char="▪"/>
            </a:pPr>
            <a:r>
              <a:rPr lang="en-US" sz="2300"/>
              <a:t>In flow control, sender window size determined by the receiver window – no information about the network congestion</a:t>
            </a:r>
            <a:endParaRPr sz="3100"/>
          </a:p>
          <a:p>
            <a:pPr indent="-361950" lvl="0" marL="342900" rtl="0" algn="l">
              <a:spcBef>
                <a:spcPts val="400"/>
              </a:spcBef>
              <a:spcAft>
                <a:spcPts val="0"/>
              </a:spcAft>
              <a:buSzPts val="1900"/>
              <a:buChar char="▪"/>
            </a:pPr>
            <a:r>
              <a:rPr lang="en-US" sz="2300"/>
              <a:t>TCP sender</a:t>
            </a:r>
            <a:endParaRPr sz="3100"/>
          </a:p>
          <a:p>
            <a:pPr indent="-304800" lvl="1" marL="742950" rtl="0" algn="l">
              <a:spcBef>
                <a:spcPts val="440"/>
              </a:spcBef>
              <a:spcAft>
                <a:spcPts val="0"/>
              </a:spcAft>
              <a:buSzPts val="2500"/>
              <a:buChar char="•"/>
            </a:pPr>
            <a:r>
              <a:rPr lang="en-US" sz="2700"/>
              <a:t>Maintains congestion window</a:t>
            </a:r>
            <a:r>
              <a:rPr b="1" lang="en-US" sz="2700">
                <a:latin typeface="Courier New"/>
                <a:ea typeface="Courier New"/>
                <a:cs typeface="Courier New"/>
                <a:sym typeface="Courier New"/>
              </a:rPr>
              <a:t> CongWin</a:t>
            </a:r>
            <a:r>
              <a:rPr lang="en-US" sz="2700"/>
              <a:t> </a:t>
            </a:r>
            <a:endParaRPr sz="2700"/>
          </a:p>
          <a:p>
            <a:pPr indent="-247650" lvl="2" marL="1143000" rtl="0" algn="l">
              <a:spcBef>
                <a:spcPts val="400"/>
              </a:spcBef>
              <a:spcAft>
                <a:spcPts val="0"/>
              </a:spcAft>
              <a:buSzPts val="2300"/>
              <a:buChar char="•"/>
            </a:pPr>
            <a:r>
              <a:rPr lang="en-US" sz="2300"/>
              <a:t>dynamic function of perceived network congestion</a:t>
            </a:r>
            <a:endParaRPr sz="2300"/>
          </a:p>
          <a:p>
            <a:pPr indent="-285750" lvl="1" marL="742950" rtl="0" algn="l">
              <a:spcBef>
                <a:spcPts val="620"/>
              </a:spcBef>
              <a:spcAft>
                <a:spcPts val="0"/>
              </a:spcAft>
              <a:buSzPts val="2200"/>
              <a:buChar char="•"/>
            </a:pPr>
            <a:r>
              <a:rPr lang="en-US" sz="2700"/>
              <a:t>Limits sender window to</a:t>
            </a:r>
            <a:r>
              <a:rPr lang="en-US" sz="3400"/>
              <a:t> </a:t>
            </a:r>
            <a:r>
              <a:rPr lang="en-US" sz="2700">
                <a:solidFill>
                  <a:srgbClr val="3333CC"/>
                </a:solidFill>
              </a:rPr>
              <a:t>min (receiver window size, congestion window size) </a:t>
            </a:r>
            <a:endParaRPr sz="2700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600"/>
              <a:buFont typeface="Noto Sans Symbols"/>
              <a:buNone/>
            </a:pPr>
            <a:r>
              <a:rPr b="1" lang="en-US" sz="23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	LastByteSent-LastByteAcked ≤ min{CongWin,RcvWindow}</a:t>
            </a:r>
            <a:endParaRPr sz="31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32"/>
          <p:cNvSpPr txBox="1"/>
          <p:nvPr>
            <p:ph idx="12" type="sldNum"/>
          </p:nvPr>
        </p:nvSpPr>
        <p:spPr>
          <a:xfrm>
            <a:off x="9347200" y="6477000"/>
            <a:ext cx="2844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fld id="{00000000-1234-1234-1234-123412341234}" type="slidenum">
              <a:rPr lang="en-US"/>
              <a:t>‹#›</a:t>
            </a:fld>
            <a:endParaRPr sz="11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32"/>
          <p:cNvSpPr txBox="1"/>
          <p:nvPr>
            <p:ph type="title"/>
          </p:nvPr>
        </p:nvSpPr>
        <p:spPr>
          <a:xfrm>
            <a:off x="685800" y="228600"/>
            <a:ext cx="10218600" cy="13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TCP Congestion Control</a:t>
            </a:r>
            <a:endParaRPr/>
          </a:p>
        </p:txBody>
      </p:sp>
      <p:sp>
        <p:nvSpPr>
          <p:cNvPr id="614" name="Google Shape;614;p32"/>
          <p:cNvSpPr txBox="1"/>
          <p:nvPr>
            <p:ph idx="1" type="body"/>
          </p:nvPr>
        </p:nvSpPr>
        <p:spPr>
          <a:xfrm>
            <a:off x="685800" y="1905000"/>
            <a:ext cx="101355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080"/>
              <a:buFont typeface="Noto Sans Symbols"/>
              <a:buNone/>
            </a:pPr>
            <a:r>
              <a:rPr lang="en-US" sz="3000"/>
              <a:t>What is the size of </a:t>
            </a:r>
            <a:r>
              <a:rPr b="1" lang="en-US" sz="3000">
                <a:latin typeface="Courier New"/>
                <a:ea typeface="Courier New"/>
                <a:cs typeface="Courier New"/>
                <a:sym typeface="Courier New"/>
              </a:rPr>
              <a:t>CongWin?</a:t>
            </a:r>
            <a:endParaRPr b="1"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rtl="0" algn="l">
              <a:spcBef>
                <a:spcPts val="520"/>
              </a:spcBef>
              <a:spcAft>
                <a:spcPts val="0"/>
              </a:spcAft>
              <a:buSzPts val="2080"/>
              <a:buFont typeface="Noto Sans Symbols"/>
              <a:buNone/>
            </a:pPr>
            <a:r>
              <a:rPr lang="en-US" sz="3000" u="sng">
                <a:solidFill>
                  <a:srgbClr val="FF0000"/>
                </a:solidFill>
              </a:rPr>
              <a:t>three mechanisms:</a:t>
            </a:r>
            <a:endParaRPr sz="3000"/>
          </a:p>
          <a:p>
            <a:pPr indent="-298450" lvl="1" marL="74295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lphaLcPeriod"/>
            </a:pPr>
            <a:r>
              <a:rPr lang="en-US" sz="2600"/>
              <a:t>Slow Start</a:t>
            </a:r>
            <a:endParaRPr sz="2600"/>
          </a:p>
          <a:p>
            <a:pPr indent="-298450" lvl="1" marL="742950" rtl="0" algn="l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SzPts val="2400"/>
              <a:buAutoNum type="alphaLcPeriod"/>
            </a:pPr>
            <a:r>
              <a:rPr lang="en-US" sz="2600"/>
              <a:t>Additive increase (AI)</a:t>
            </a:r>
            <a:endParaRPr sz="2600"/>
          </a:p>
          <a:p>
            <a:pPr indent="-298450" lvl="1" marL="742950" rtl="0" algn="l">
              <a:lnSpc>
                <a:spcPct val="150000"/>
              </a:lnSpc>
              <a:spcBef>
                <a:spcPts val="440"/>
              </a:spcBef>
              <a:spcAft>
                <a:spcPts val="0"/>
              </a:spcAft>
              <a:buSzPts val="2400"/>
              <a:buAutoNum type="alphaLcPeriod"/>
            </a:pPr>
            <a:r>
              <a:rPr lang="en-US" sz="2600"/>
              <a:t>Multiplicative Decrease (MD)</a:t>
            </a:r>
            <a:endParaRPr sz="3000"/>
          </a:p>
          <a:p>
            <a:pPr indent="-210820" lvl="0" marL="342900" rtl="0" algn="l">
              <a:spcBef>
                <a:spcPts val="520"/>
              </a:spcBef>
              <a:spcAft>
                <a:spcPts val="0"/>
              </a:spcAft>
              <a:buSzPts val="2080"/>
              <a:buNone/>
            </a:pPr>
            <a:r>
              <a:t/>
            </a:r>
            <a:endParaRPr sz="30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33"/>
          <p:cNvSpPr txBox="1"/>
          <p:nvPr>
            <p:ph type="title"/>
          </p:nvPr>
        </p:nvSpPr>
        <p:spPr>
          <a:xfrm>
            <a:off x="811390" y="258153"/>
            <a:ext cx="11393400" cy="8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000"/>
              <a:t>TCP congestion control: AIMD</a:t>
            </a:r>
            <a:endParaRPr b="0" sz="4000"/>
          </a:p>
        </p:txBody>
      </p:sp>
      <p:sp>
        <p:nvSpPr>
          <p:cNvPr id="621" name="Google Shape;621;p33"/>
          <p:cNvSpPr/>
          <p:nvPr/>
        </p:nvSpPr>
        <p:spPr>
          <a:xfrm>
            <a:off x="901700" y="1168400"/>
            <a:ext cx="10274400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2100" lvl="0" marL="2921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approach: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senders can</a:t>
            </a:r>
            <a:r>
              <a:rPr b="0" i="1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increase sending rate until packet loss (congestion) occurs, then decrease sending rate on loss event</a:t>
            </a:r>
            <a:endParaRPr b="0" i="0" sz="28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22" name="Google Shape;622;p33"/>
          <p:cNvSpPr txBox="1"/>
          <p:nvPr/>
        </p:nvSpPr>
        <p:spPr>
          <a:xfrm>
            <a:off x="8688708" y="4380805"/>
            <a:ext cx="2769300" cy="1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3A3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0013A3"/>
                </a:solidFill>
                <a:latin typeface="Calibri"/>
                <a:ea typeface="Calibri"/>
                <a:cs typeface="Calibri"/>
                <a:sym typeface="Calibri"/>
              </a:rPr>
              <a:t>AIMD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sawtooth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behavior: </a:t>
            </a:r>
            <a:r>
              <a:rPr b="0" i="1" lang="en-US" sz="2800" u="none" cap="none" strike="noStrike">
                <a:solidFill>
                  <a:srgbClr val="0013A3"/>
                </a:solidFill>
                <a:latin typeface="Calibri"/>
                <a:ea typeface="Calibri"/>
                <a:cs typeface="Calibri"/>
                <a:sym typeface="Calibri"/>
              </a:rPr>
              <a:t>probing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for bandwidth</a:t>
            </a:r>
            <a:endParaRPr/>
          </a:p>
        </p:txBody>
      </p:sp>
      <p:sp>
        <p:nvSpPr>
          <p:cNvPr id="623" name="Google Shape;623;p33"/>
          <p:cNvSpPr/>
          <p:nvPr/>
        </p:nvSpPr>
        <p:spPr>
          <a:xfrm>
            <a:off x="4717339" y="3774454"/>
            <a:ext cx="685800" cy="304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624" name="Google Shape;624;p33"/>
          <p:cNvCxnSpPr/>
          <p:nvPr/>
        </p:nvCxnSpPr>
        <p:spPr>
          <a:xfrm flipH="1" rot="10800000">
            <a:off x="3898189" y="5196916"/>
            <a:ext cx="169800" cy="169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5" name="Google Shape;625;p33"/>
          <p:cNvCxnSpPr/>
          <p:nvPr/>
        </p:nvCxnSpPr>
        <p:spPr>
          <a:xfrm>
            <a:off x="4079164" y="5185741"/>
            <a:ext cx="0" cy="642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6" name="Google Shape;626;p33"/>
          <p:cNvCxnSpPr/>
          <p:nvPr/>
        </p:nvCxnSpPr>
        <p:spPr>
          <a:xfrm flipH="1" rot="10800000">
            <a:off x="4068052" y="4869904"/>
            <a:ext cx="982800" cy="981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7" name="Google Shape;627;p33"/>
          <p:cNvCxnSpPr/>
          <p:nvPr/>
        </p:nvCxnSpPr>
        <p:spPr>
          <a:xfrm>
            <a:off x="5039602" y="4871416"/>
            <a:ext cx="0" cy="801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8" name="Google Shape;628;p33"/>
          <p:cNvCxnSpPr/>
          <p:nvPr/>
        </p:nvCxnSpPr>
        <p:spPr>
          <a:xfrm flipH="1" rot="10800000">
            <a:off x="5031664" y="5168354"/>
            <a:ext cx="525600" cy="523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9" name="Google Shape;629;p33"/>
          <p:cNvCxnSpPr/>
          <p:nvPr/>
        </p:nvCxnSpPr>
        <p:spPr>
          <a:xfrm>
            <a:off x="5557127" y="5163516"/>
            <a:ext cx="0" cy="689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0" name="Google Shape;630;p33"/>
          <p:cNvCxnSpPr/>
          <p:nvPr/>
        </p:nvCxnSpPr>
        <p:spPr>
          <a:xfrm flipH="1" rot="10800000">
            <a:off x="5568240" y="4849266"/>
            <a:ext cx="969900" cy="981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1" name="Google Shape;631;p33"/>
          <p:cNvCxnSpPr/>
          <p:nvPr/>
        </p:nvCxnSpPr>
        <p:spPr>
          <a:xfrm>
            <a:off x="6533440" y="4849191"/>
            <a:ext cx="11100" cy="834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2" name="Google Shape;632;p33"/>
          <p:cNvCxnSpPr/>
          <p:nvPr/>
        </p:nvCxnSpPr>
        <p:spPr>
          <a:xfrm flipH="1" rot="10800000">
            <a:off x="6538202" y="5012854"/>
            <a:ext cx="666900" cy="666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3" name="Google Shape;633;p33"/>
          <p:cNvCxnSpPr/>
          <p:nvPr/>
        </p:nvCxnSpPr>
        <p:spPr>
          <a:xfrm>
            <a:off x="7204952" y="4998416"/>
            <a:ext cx="0" cy="747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4" name="Google Shape;634;p33"/>
          <p:cNvCxnSpPr/>
          <p:nvPr/>
        </p:nvCxnSpPr>
        <p:spPr>
          <a:xfrm flipH="1" rot="10800000">
            <a:off x="7195427" y="4746116"/>
            <a:ext cx="876300" cy="1014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35" name="Google Shape;635;p33"/>
          <p:cNvGrpSpPr/>
          <p:nvPr/>
        </p:nvGrpSpPr>
        <p:grpSpPr>
          <a:xfrm>
            <a:off x="3439504" y="4254399"/>
            <a:ext cx="4601986" cy="2568617"/>
            <a:chOff x="4099904" y="3936900"/>
            <a:chExt cx="4601986" cy="2568617"/>
          </a:xfrm>
        </p:grpSpPr>
        <p:sp>
          <p:nvSpPr>
            <p:cNvPr id="636" name="Google Shape;636;p33"/>
            <p:cNvSpPr txBox="1"/>
            <p:nvPr/>
          </p:nvSpPr>
          <p:spPr>
            <a:xfrm rot="-5400000">
              <a:off x="3117104" y="4919700"/>
              <a:ext cx="2273400" cy="307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TCP sender  Sending rate</a:t>
              </a:r>
              <a:endParaRPr/>
            </a:p>
          </p:txBody>
        </p:sp>
        <p:cxnSp>
          <p:nvCxnSpPr>
            <p:cNvPr id="637" name="Google Shape;637;p33"/>
            <p:cNvCxnSpPr/>
            <p:nvPr/>
          </p:nvCxnSpPr>
          <p:spPr>
            <a:xfrm>
              <a:off x="4558589" y="6176341"/>
              <a:ext cx="41433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638" name="Google Shape;638;p33"/>
            <p:cNvCxnSpPr/>
            <p:nvPr/>
          </p:nvCxnSpPr>
          <p:spPr>
            <a:xfrm>
              <a:off x="4546600" y="4203700"/>
              <a:ext cx="900" cy="19743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39" name="Google Shape;639;p33"/>
            <p:cNvSpPr txBox="1"/>
            <p:nvPr/>
          </p:nvSpPr>
          <p:spPr>
            <a:xfrm>
              <a:off x="6125452" y="6166816"/>
              <a:ext cx="5763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Tahoma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time</a:t>
              </a:r>
              <a:endParaRPr/>
            </a:p>
          </p:txBody>
        </p:sp>
      </p:grpSp>
      <p:grpSp>
        <p:nvGrpSpPr>
          <p:cNvPr id="640" name="Google Shape;640;p33"/>
          <p:cNvGrpSpPr/>
          <p:nvPr/>
        </p:nvGrpSpPr>
        <p:grpSpPr>
          <a:xfrm>
            <a:off x="965200" y="2146300"/>
            <a:ext cx="5054441" cy="1905000"/>
            <a:chOff x="0" y="4533900"/>
            <a:chExt cx="4762500" cy="1905000"/>
          </a:xfrm>
        </p:grpSpPr>
        <p:sp>
          <p:nvSpPr>
            <p:cNvPr id="641" name="Google Shape;641;p33"/>
            <p:cNvSpPr/>
            <p:nvPr/>
          </p:nvSpPr>
          <p:spPr>
            <a:xfrm>
              <a:off x="406846" y="4737100"/>
              <a:ext cx="4335000" cy="143520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00B05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2" name="Google Shape;642;p33"/>
            <p:cNvSpPr/>
            <p:nvPr/>
          </p:nvSpPr>
          <p:spPr>
            <a:xfrm>
              <a:off x="0" y="4991100"/>
              <a:ext cx="4762500" cy="14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1" marL="45720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600"/>
                <a:buFont typeface="Calibri"/>
                <a:buNone/>
              </a:pPr>
              <a:r>
                <a:rPr b="0" i="0" lang="en-US" sz="2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increase sending rate </a:t>
              </a:r>
              <a:r>
                <a:rPr b="0" i="0" lang="en-US" sz="2600" u="none" cap="none" strike="noStrike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rPr>
                <a:t>by </a:t>
              </a:r>
              <a:r>
                <a:rPr b="0" i="0" lang="en-US" sz="2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 maximum segment size every RTT until loss detected</a:t>
              </a:r>
              <a:endParaRPr b="0" i="1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3" name="Google Shape;643;p33"/>
            <p:cNvSpPr/>
            <p:nvPr/>
          </p:nvSpPr>
          <p:spPr>
            <a:xfrm>
              <a:off x="508000" y="4533900"/>
              <a:ext cx="2667000" cy="444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800"/>
                <a:buFont typeface="Calibri"/>
                <a:buNone/>
              </a:pPr>
              <a:r>
                <a:rPr b="0" i="1" lang="en-US" sz="2800" u="sng" cap="none" strike="noStrike">
                  <a:solidFill>
                    <a:srgbClr val="00B050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r>
                <a:rPr b="0" i="1" lang="en-US" sz="2800" u="none" cap="none" strike="noStrike">
                  <a:solidFill>
                    <a:srgbClr val="00B050"/>
                  </a:solidFill>
                  <a:latin typeface="Calibri"/>
                  <a:ea typeface="Calibri"/>
                  <a:cs typeface="Calibri"/>
                  <a:sym typeface="Calibri"/>
                </a:rPr>
                <a:t>dditive </a:t>
              </a:r>
              <a:r>
                <a:rPr b="0" i="1" lang="en-US" sz="2800" u="sng" cap="none" strike="noStrike">
                  <a:solidFill>
                    <a:srgbClr val="00B050"/>
                  </a:solidFill>
                  <a:latin typeface="Calibri"/>
                  <a:ea typeface="Calibri"/>
                  <a:cs typeface="Calibri"/>
                  <a:sym typeface="Calibri"/>
                </a:rPr>
                <a:t>I</a:t>
              </a:r>
              <a:r>
                <a:rPr b="0" i="1" lang="en-US" sz="2800" u="none" cap="none" strike="noStrike">
                  <a:solidFill>
                    <a:srgbClr val="00B050"/>
                  </a:solidFill>
                  <a:latin typeface="Calibri"/>
                  <a:ea typeface="Calibri"/>
                  <a:cs typeface="Calibri"/>
                  <a:sym typeface="Calibri"/>
                </a:rPr>
                <a:t>ncrease</a:t>
              </a:r>
              <a:endParaRPr b="0" i="0" sz="2800" u="none" cap="none" strike="noStrike">
                <a:solidFill>
                  <a:srgbClr val="00B050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grpSp>
        <p:nvGrpSpPr>
          <p:cNvPr id="644" name="Google Shape;644;p33"/>
          <p:cNvGrpSpPr/>
          <p:nvPr/>
        </p:nvGrpSpPr>
        <p:grpSpPr>
          <a:xfrm>
            <a:off x="6007100" y="2197100"/>
            <a:ext cx="4749900" cy="1422300"/>
            <a:chOff x="38100" y="4533900"/>
            <a:chExt cx="4749900" cy="1422300"/>
          </a:xfrm>
        </p:grpSpPr>
        <p:sp>
          <p:nvSpPr>
            <p:cNvPr id="645" name="Google Shape;645;p33"/>
            <p:cNvSpPr/>
            <p:nvPr/>
          </p:nvSpPr>
          <p:spPr>
            <a:xfrm>
              <a:off x="342900" y="4686300"/>
              <a:ext cx="4267200" cy="1269900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6" name="Google Shape;646;p33"/>
            <p:cNvSpPr/>
            <p:nvPr/>
          </p:nvSpPr>
          <p:spPr>
            <a:xfrm>
              <a:off x="38100" y="4991100"/>
              <a:ext cx="4749900" cy="82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1" marL="45720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600"/>
                <a:buFont typeface="Calibri"/>
                <a:buNone/>
              </a:pPr>
              <a:r>
                <a:rPr b="0" i="0" lang="en-US" sz="2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cut sending rate in half at each loss event</a:t>
              </a:r>
              <a:endParaRPr b="0" i="1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7330" lvl="0" marL="342900" marR="0" rtl="0" algn="l">
                <a:lnSpc>
                  <a:spcPct val="85000"/>
                </a:lnSpc>
                <a:spcBef>
                  <a:spcPts val="560"/>
                </a:spcBef>
                <a:spcAft>
                  <a:spcPts val="0"/>
                </a:spcAft>
                <a:buClr>
                  <a:srgbClr val="000099"/>
                </a:buClr>
                <a:buSzPts val="1820"/>
                <a:buFont typeface="Noto Sans Symbols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47" name="Google Shape;647;p33"/>
            <p:cNvSpPr/>
            <p:nvPr/>
          </p:nvSpPr>
          <p:spPr>
            <a:xfrm>
              <a:off x="508000" y="4533900"/>
              <a:ext cx="3746400" cy="444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800"/>
                <a:buFont typeface="Calibri"/>
                <a:buNone/>
              </a:pPr>
              <a:r>
                <a:rPr b="0" i="1" lang="en-US" sz="2800" u="sng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M</a:t>
              </a:r>
              <a:r>
                <a:rPr b="0" i="1" lang="en-US" sz="2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ultiplicative </a:t>
              </a:r>
              <a:r>
                <a:rPr b="0" i="1" lang="en-US" sz="2800" u="sng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r>
                <a:rPr b="0" i="1" lang="en-US" sz="2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ecrease</a:t>
              </a:r>
              <a:endParaRPr b="0" i="0" sz="2800" u="none" cap="none" strike="noStrike">
                <a:solidFill>
                  <a:srgbClr val="C00000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grpSp>
        <p:nvGrpSpPr>
          <p:cNvPr id="648" name="Google Shape;648;p33"/>
          <p:cNvGrpSpPr/>
          <p:nvPr/>
        </p:nvGrpSpPr>
        <p:grpSpPr>
          <a:xfrm>
            <a:off x="3952943" y="3784600"/>
            <a:ext cx="3599100" cy="1591338"/>
            <a:chOff x="3965643" y="3797300"/>
            <a:chExt cx="3599100" cy="1591338"/>
          </a:xfrm>
        </p:grpSpPr>
        <p:grpSp>
          <p:nvGrpSpPr>
            <p:cNvPr id="649" name="Google Shape;649;p33"/>
            <p:cNvGrpSpPr/>
            <p:nvPr/>
          </p:nvGrpSpPr>
          <p:grpSpPr>
            <a:xfrm>
              <a:off x="3965643" y="4159386"/>
              <a:ext cx="3599100" cy="1229252"/>
              <a:chOff x="3965643" y="4159386"/>
              <a:chExt cx="3599100" cy="1229252"/>
            </a:xfrm>
          </p:grpSpPr>
          <p:cxnSp>
            <p:nvCxnSpPr>
              <p:cNvPr id="650" name="Google Shape;650;p33"/>
              <p:cNvCxnSpPr/>
              <p:nvPr/>
            </p:nvCxnSpPr>
            <p:spPr>
              <a:xfrm>
                <a:off x="3972128" y="4163438"/>
                <a:ext cx="0" cy="10563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B05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651" name="Google Shape;651;p33"/>
              <p:cNvCxnSpPr/>
              <p:nvPr/>
            </p:nvCxnSpPr>
            <p:spPr>
              <a:xfrm>
                <a:off x="4480128" y="4163438"/>
                <a:ext cx="0" cy="12213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B05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652" name="Google Shape;652;p33"/>
              <p:cNvCxnSpPr/>
              <p:nvPr/>
            </p:nvCxnSpPr>
            <p:spPr>
              <a:xfrm>
                <a:off x="5295630" y="4163438"/>
                <a:ext cx="0" cy="12252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B05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653" name="Google Shape;653;p33"/>
              <p:cNvCxnSpPr/>
              <p:nvPr/>
            </p:nvCxnSpPr>
            <p:spPr>
              <a:xfrm>
                <a:off x="5964941" y="4171542"/>
                <a:ext cx="0" cy="12042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B05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654" name="Google Shape;654;p33"/>
              <p:cNvCxnSpPr/>
              <p:nvPr/>
            </p:nvCxnSpPr>
            <p:spPr>
              <a:xfrm>
                <a:off x="6794500" y="4165056"/>
                <a:ext cx="0" cy="11937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B05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655" name="Google Shape;655;p33"/>
              <p:cNvCxnSpPr/>
              <p:nvPr/>
            </p:nvCxnSpPr>
            <p:spPr>
              <a:xfrm>
                <a:off x="7559743" y="4159386"/>
                <a:ext cx="0" cy="11064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B05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656" name="Google Shape;656;p33"/>
              <p:cNvCxnSpPr/>
              <p:nvPr/>
            </p:nvCxnSpPr>
            <p:spPr>
              <a:xfrm>
                <a:off x="3965643" y="4162357"/>
                <a:ext cx="35991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B05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657" name="Google Shape;657;p33"/>
            <p:cNvCxnSpPr/>
            <p:nvPr/>
          </p:nvCxnSpPr>
          <p:spPr>
            <a:xfrm>
              <a:off x="5651500" y="3797300"/>
              <a:ext cx="0" cy="381000"/>
            </a:xfrm>
            <a:prstGeom prst="straightConnector1">
              <a:avLst/>
            </a:prstGeom>
            <a:noFill/>
            <a:ln cap="flat" cmpd="sng" w="12700">
              <a:solidFill>
                <a:srgbClr val="00B05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658" name="Google Shape;658;p33"/>
          <p:cNvGrpSpPr/>
          <p:nvPr/>
        </p:nvGrpSpPr>
        <p:grpSpPr>
          <a:xfrm>
            <a:off x="4108500" y="3622650"/>
            <a:ext cx="3819476" cy="1695475"/>
            <a:chOff x="4108500" y="3622650"/>
            <a:chExt cx="3819476" cy="1695475"/>
          </a:xfrm>
        </p:grpSpPr>
        <p:grpSp>
          <p:nvGrpSpPr>
            <p:cNvPr id="659" name="Google Shape;659;p33"/>
            <p:cNvGrpSpPr/>
            <p:nvPr/>
          </p:nvGrpSpPr>
          <p:grpSpPr>
            <a:xfrm>
              <a:off x="4108500" y="3975100"/>
              <a:ext cx="3819476" cy="1343025"/>
              <a:chOff x="4108500" y="3975100"/>
              <a:chExt cx="3819476" cy="1343025"/>
            </a:xfrm>
          </p:grpSpPr>
          <p:cxnSp>
            <p:nvCxnSpPr>
              <p:cNvPr id="660" name="Google Shape;660;p33"/>
              <p:cNvCxnSpPr/>
              <p:nvPr/>
            </p:nvCxnSpPr>
            <p:spPr>
              <a:xfrm flipH="1">
                <a:off x="7245300" y="3981450"/>
                <a:ext cx="679500" cy="12540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661" name="Google Shape;661;p33"/>
              <p:cNvCxnSpPr/>
              <p:nvPr/>
            </p:nvCxnSpPr>
            <p:spPr>
              <a:xfrm flipH="1">
                <a:off x="4108500" y="3975100"/>
                <a:ext cx="3816300" cy="13398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662" name="Google Shape;662;p33"/>
              <p:cNvCxnSpPr/>
              <p:nvPr/>
            </p:nvCxnSpPr>
            <p:spPr>
              <a:xfrm flipH="1">
                <a:off x="5070600" y="3978275"/>
                <a:ext cx="2854200" cy="12987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663" name="Google Shape;663;p33"/>
              <p:cNvCxnSpPr/>
              <p:nvPr/>
            </p:nvCxnSpPr>
            <p:spPr>
              <a:xfrm flipH="1">
                <a:off x="5607176" y="3984625"/>
                <a:ext cx="2320800" cy="13335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664" name="Google Shape;664;p33"/>
              <p:cNvCxnSpPr/>
              <p:nvPr/>
            </p:nvCxnSpPr>
            <p:spPr>
              <a:xfrm flipH="1">
                <a:off x="6565800" y="3984625"/>
                <a:ext cx="1359000" cy="11937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cxnSp>
          <p:nvCxnSpPr>
            <p:cNvPr id="665" name="Google Shape;665;p33"/>
            <p:cNvCxnSpPr/>
            <p:nvPr/>
          </p:nvCxnSpPr>
          <p:spPr>
            <a:xfrm rot="10800000">
              <a:off x="7921625" y="3622650"/>
              <a:ext cx="0" cy="358800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666" name="Google Shape;666;p33"/>
          <p:cNvSpPr txBox="1"/>
          <p:nvPr>
            <p:ph idx="12" type="sldNum"/>
          </p:nvPr>
        </p:nvSpPr>
        <p:spPr>
          <a:xfrm>
            <a:off x="9219616" y="644308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34"/>
          <p:cNvSpPr txBox="1"/>
          <p:nvPr>
            <p:ph idx="12" type="sldNum"/>
          </p:nvPr>
        </p:nvSpPr>
        <p:spPr>
          <a:xfrm>
            <a:off x="9347200" y="6477000"/>
            <a:ext cx="2844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2" name="Google Shape;672;p34"/>
          <p:cNvSpPr txBox="1"/>
          <p:nvPr>
            <p:ph idx="4294967295" type="title"/>
          </p:nvPr>
        </p:nvSpPr>
        <p:spPr>
          <a:xfrm>
            <a:off x="406400" y="152400"/>
            <a:ext cx="114807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TCP Slow Start</a:t>
            </a:r>
            <a:endParaRPr/>
          </a:p>
        </p:txBody>
      </p:sp>
      <p:sp>
        <p:nvSpPr>
          <p:cNvPr id="673" name="Google Shape;673;p34"/>
          <p:cNvSpPr txBox="1"/>
          <p:nvPr>
            <p:ph idx="4294967295" type="body"/>
          </p:nvPr>
        </p:nvSpPr>
        <p:spPr>
          <a:xfrm>
            <a:off x="406400" y="1143000"/>
            <a:ext cx="117855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080"/>
              <a:buChar char="▪"/>
            </a:pPr>
            <a:r>
              <a:rPr lang="en-US"/>
              <a:t>When connection begins,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CongWin</a:t>
            </a:r>
            <a:r>
              <a:rPr lang="en-US"/>
              <a:t> = 1 MSS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2200"/>
              <a:buChar char="•"/>
            </a:pPr>
            <a:r>
              <a:rPr lang="en-US"/>
              <a:t>Example: MSS = 500 bytes &amp; RTT = 200 msec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2200"/>
              <a:buChar char="•"/>
            </a:pPr>
            <a:r>
              <a:rPr lang="en-US"/>
              <a:t>initial rate = 20 kbps</a:t>
            </a:r>
            <a:endParaRPr/>
          </a:p>
          <a:p>
            <a:pPr indent="-342900" lvl="0" marL="342900" rtl="0" algn="l">
              <a:spcBef>
                <a:spcPts val="520"/>
              </a:spcBef>
              <a:spcAft>
                <a:spcPts val="0"/>
              </a:spcAft>
              <a:buSzPts val="2080"/>
              <a:buChar char="▪"/>
            </a:pPr>
            <a:r>
              <a:rPr lang="en-US"/>
              <a:t>available bandwidth may be &gt;&gt; MSS/RTT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2200"/>
              <a:buChar char="•"/>
            </a:pPr>
            <a:r>
              <a:rPr lang="en-US"/>
              <a:t>It is desirable to quickly ramp up to respectable rate</a:t>
            </a:r>
            <a:endParaRPr/>
          </a:p>
          <a:p>
            <a:pPr indent="-342900" lvl="0" marL="342900" rtl="0" algn="l">
              <a:spcBef>
                <a:spcPts val="520"/>
              </a:spcBef>
              <a:spcAft>
                <a:spcPts val="0"/>
              </a:spcAft>
              <a:buSzPts val="2080"/>
              <a:buChar char="▪"/>
            </a:pPr>
            <a:r>
              <a:rPr lang="en-US"/>
              <a:t>When connection begins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2200"/>
              <a:buChar char="•"/>
            </a:pPr>
            <a:r>
              <a:rPr lang="en-US"/>
              <a:t>increase rate exponentially fast until 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first loss event 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or reaches a threshold (then additive increase)</a:t>
            </a:r>
            <a:endParaRPr/>
          </a:p>
          <a:p>
            <a:pPr indent="-210820" lvl="0" marL="342900" rtl="0" algn="l">
              <a:spcBef>
                <a:spcPts val="520"/>
              </a:spcBef>
              <a:spcAft>
                <a:spcPts val="0"/>
              </a:spcAft>
              <a:buSzPts val="208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20"/>
              </a:spcBef>
              <a:spcAft>
                <a:spcPts val="0"/>
              </a:spcAft>
              <a:buSzPts val="2080"/>
              <a:buChar char="▪"/>
            </a:pPr>
            <a:r>
              <a:rPr lang="en-US">
                <a:highlight>
                  <a:srgbClr val="EA9999"/>
                </a:highlight>
              </a:rPr>
              <a:t>MSS = Maximum Segment Size</a:t>
            </a:r>
            <a:endParaRPr>
              <a:highlight>
                <a:srgbClr val="EA9999"/>
              </a:highlight>
            </a:endParaRPr>
          </a:p>
        </p:txBody>
      </p:sp>
      <p:sp>
        <p:nvSpPr>
          <p:cNvPr id="674" name="Google Shape;674;p34"/>
          <p:cNvSpPr/>
          <p:nvPr/>
        </p:nvSpPr>
        <p:spPr>
          <a:xfrm>
            <a:off x="6502400" y="1600200"/>
            <a:ext cx="53847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3359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F2936"/>
              </a:buClr>
              <a:buSzPts val="2040"/>
              <a:buFont typeface="Arial"/>
              <a:buNone/>
            </a:pPr>
            <a:r>
              <a:t/>
            </a:r>
            <a:endParaRPr sz="24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675" name="Google Shape;675;p34"/>
          <p:cNvSpPr/>
          <p:nvPr/>
        </p:nvSpPr>
        <p:spPr>
          <a:xfrm>
            <a:off x="5892800" y="1447800"/>
            <a:ext cx="53847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3359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F2936"/>
              </a:buClr>
              <a:buSzPts val="2040"/>
              <a:buFont typeface="Arial"/>
              <a:buNone/>
            </a:pPr>
            <a:r>
              <a:t/>
            </a:r>
            <a:endParaRPr sz="24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35"/>
          <p:cNvSpPr txBox="1"/>
          <p:nvPr>
            <p:ph idx="12" type="sldNum"/>
          </p:nvPr>
        </p:nvSpPr>
        <p:spPr>
          <a:xfrm>
            <a:off x="9219616" y="644308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81" name="Google Shape;681;p35"/>
          <p:cNvSpPr txBox="1"/>
          <p:nvPr>
            <p:ph idx="4294967295" type="title"/>
          </p:nvPr>
        </p:nvSpPr>
        <p:spPr>
          <a:xfrm>
            <a:off x="711200" y="228600"/>
            <a:ext cx="114807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TCP Slow Start</a:t>
            </a:r>
            <a:endParaRPr/>
          </a:p>
        </p:txBody>
      </p:sp>
      <p:pic>
        <p:nvPicPr>
          <p:cNvPr id="682" name="Google Shape;682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69400" y="905875"/>
            <a:ext cx="7454174" cy="5627475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35"/>
          <p:cNvSpPr txBox="1"/>
          <p:nvPr>
            <p:ph idx="1" type="body"/>
          </p:nvPr>
        </p:nvSpPr>
        <p:spPr>
          <a:xfrm>
            <a:off x="838200" y="1724025"/>
            <a:ext cx="10515600" cy="5084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74650" lvl="0" marL="342900" rtl="0" algn="l">
              <a:spcBef>
                <a:spcPts val="0"/>
              </a:spcBef>
              <a:spcAft>
                <a:spcPts val="0"/>
              </a:spcAft>
              <a:buSzPts val="2100"/>
              <a:buChar char="▪"/>
            </a:pPr>
            <a:r>
              <a:rPr lang="en-US" sz="2500"/>
              <a:t>done by incrementing </a:t>
            </a:r>
            <a:endParaRPr sz="33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2500">
                <a:latin typeface="Courier New"/>
                <a:ea typeface="Courier New"/>
                <a:cs typeface="Courier New"/>
                <a:sym typeface="Courier New"/>
              </a:rPr>
              <a:t>  CongWin</a:t>
            </a:r>
            <a:r>
              <a:rPr lang="en-US" sz="2500"/>
              <a:t> for every</a:t>
            </a:r>
            <a:endParaRPr sz="33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500"/>
              <a:t>     ACK received</a:t>
            </a:r>
            <a:endParaRPr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500" u="sng">
                <a:solidFill>
                  <a:srgbClr val="FF0000"/>
                </a:solidFill>
              </a:rPr>
              <a:t>Summary:</a:t>
            </a:r>
            <a:r>
              <a:rPr lang="en-US" sz="2500"/>
              <a:t> initial rate is slow </a:t>
            </a:r>
            <a:endParaRPr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500"/>
              <a:t>but ramps up exponentially fast</a:t>
            </a:r>
            <a:endParaRPr sz="33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25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36"/>
          <p:cNvSpPr txBox="1"/>
          <p:nvPr>
            <p:ph idx="12" type="sldNum"/>
          </p:nvPr>
        </p:nvSpPr>
        <p:spPr>
          <a:xfrm>
            <a:off x="9347200" y="6477000"/>
            <a:ext cx="2844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fld id="{00000000-1234-1234-1234-123412341234}" type="slidenum">
              <a:rPr lang="en-US"/>
              <a:t>‹#›</a:t>
            </a:fld>
            <a:endParaRPr sz="11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36"/>
          <p:cNvSpPr txBox="1"/>
          <p:nvPr>
            <p:ph type="title"/>
          </p:nvPr>
        </p:nvSpPr>
        <p:spPr>
          <a:xfrm>
            <a:off x="533400" y="76200"/>
            <a:ext cx="10261800" cy="93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Additive Increase</a:t>
            </a:r>
            <a:endParaRPr/>
          </a:p>
        </p:txBody>
      </p:sp>
      <p:sp>
        <p:nvSpPr>
          <p:cNvPr id="690" name="Google Shape;690;p36"/>
          <p:cNvSpPr txBox="1"/>
          <p:nvPr>
            <p:ph idx="1" type="body"/>
          </p:nvPr>
        </p:nvSpPr>
        <p:spPr>
          <a:xfrm>
            <a:off x="406400" y="1066800"/>
            <a:ext cx="11074500" cy="54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080"/>
              <a:buChar char="▪"/>
            </a:pPr>
            <a:r>
              <a:rPr lang="en-US"/>
              <a:t>for each successfully received ACK, increase the window size by </a:t>
            </a:r>
            <a:r>
              <a:rPr i="1" lang="en-US"/>
              <a:t>((1/n) * MSS))</a:t>
            </a:r>
            <a:r>
              <a:rPr lang="en-US"/>
              <a:t>. 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2200"/>
              <a:buChar char="•"/>
            </a:pPr>
            <a:r>
              <a:rPr i="1" lang="en-US"/>
              <a:t>n </a:t>
            </a:r>
            <a:r>
              <a:rPr lang="en-US"/>
              <a:t>= current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CongWin</a:t>
            </a:r>
            <a:r>
              <a:rPr lang="en-US"/>
              <a:t> size</a:t>
            </a:r>
            <a:endParaRPr/>
          </a:p>
          <a:p>
            <a:pPr indent="0" lvl="0" marL="0" rtl="0" algn="l">
              <a:spcBef>
                <a:spcPts val="520"/>
              </a:spcBef>
              <a:spcAft>
                <a:spcPts val="0"/>
              </a:spcAft>
              <a:buSzPts val="2080"/>
              <a:buNone/>
            </a:pPr>
            <a:r>
              <a:rPr lang="en-US"/>
              <a:t>	</a:t>
            </a:r>
            <a:endParaRPr/>
          </a:p>
        </p:txBody>
      </p:sp>
      <p:pic>
        <p:nvPicPr>
          <p:cNvPr id="691" name="Google Shape;691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38775" y="1638225"/>
            <a:ext cx="6754976" cy="4838774"/>
          </a:xfrm>
          <a:prstGeom prst="rect">
            <a:avLst/>
          </a:prstGeom>
          <a:noFill/>
          <a:ln>
            <a:noFill/>
          </a:ln>
        </p:spPr>
      </p:pic>
      <p:sp>
        <p:nvSpPr>
          <p:cNvPr id="692" name="Google Shape;692;p36"/>
          <p:cNvSpPr txBox="1"/>
          <p:nvPr/>
        </p:nvSpPr>
        <p:spPr>
          <a:xfrm>
            <a:off x="406400" y="3087188"/>
            <a:ext cx="3738900" cy="13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080"/>
              <a:buFont typeface="Noto Sans Symbols"/>
              <a:buChar char="❑"/>
            </a:pPr>
            <a:r>
              <a:rPr lang="en-US"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other word, increase 1 MSS after each RTT.	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3000"/>
                                        <p:tgtEl>
                                          <p:spTgt spid="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37"/>
          <p:cNvSpPr txBox="1"/>
          <p:nvPr>
            <p:ph idx="12" type="sldNum"/>
          </p:nvPr>
        </p:nvSpPr>
        <p:spPr>
          <a:xfrm>
            <a:off x="9347200" y="6477000"/>
            <a:ext cx="2844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fld id="{00000000-1234-1234-1234-123412341234}" type="slidenum">
              <a:rPr lang="en-US"/>
              <a:t>‹#›</a:t>
            </a:fld>
            <a:endParaRPr sz="11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37"/>
          <p:cNvSpPr txBox="1"/>
          <p:nvPr>
            <p:ph type="title"/>
          </p:nvPr>
        </p:nvSpPr>
        <p:spPr>
          <a:xfrm>
            <a:off x="762000" y="152400"/>
            <a:ext cx="10266600" cy="11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Multiplicative Decrease</a:t>
            </a:r>
            <a:endParaRPr/>
          </a:p>
        </p:txBody>
      </p:sp>
      <p:sp>
        <p:nvSpPr>
          <p:cNvPr id="699" name="Google Shape;699;p37"/>
          <p:cNvSpPr txBox="1"/>
          <p:nvPr>
            <p:ph idx="1" type="body"/>
          </p:nvPr>
        </p:nvSpPr>
        <p:spPr>
          <a:xfrm>
            <a:off x="762000" y="1676400"/>
            <a:ext cx="102174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080"/>
              <a:buChar char="▪"/>
            </a:pPr>
            <a:r>
              <a:rPr lang="en-US"/>
              <a:t>after loss event reduce or cut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CongWin</a:t>
            </a:r>
            <a:r>
              <a:rPr lang="en-US"/>
              <a:t> to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2200"/>
              <a:buChar char="•"/>
            </a:pPr>
            <a:r>
              <a:rPr lang="en-US"/>
              <a:t>half of previous value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2200"/>
              <a:buChar char="•"/>
            </a:pPr>
            <a:r>
              <a:rPr lang="en-US"/>
              <a:t>Or any specific value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38"/>
          <p:cNvSpPr txBox="1"/>
          <p:nvPr>
            <p:ph idx="12" type="sldNum"/>
          </p:nvPr>
        </p:nvSpPr>
        <p:spPr>
          <a:xfrm>
            <a:off x="9347200" y="6477000"/>
            <a:ext cx="2844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fld id="{00000000-1234-1234-1234-123412341234}" type="slidenum">
              <a:rPr lang="en-US"/>
              <a:t>‹#›</a:t>
            </a:fld>
            <a:endParaRPr sz="11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38"/>
          <p:cNvSpPr txBox="1"/>
          <p:nvPr>
            <p:ph type="title"/>
          </p:nvPr>
        </p:nvSpPr>
        <p:spPr>
          <a:xfrm>
            <a:off x="457200" y="76200"/>
            <a:ext cx="10558800" cy="105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Congestion control in TCP</a:t>
            </a:r>
            <a:endParaRPr/>
          </a:p>
        </p:txBody>
      </p:sp>
      <p:sp>
        <p:nvSpPr>
          <p:cNvPr id="707" name="Google Shape;707;p38"/>
          <p:cNvSpPr txBox="1"/>
          <p:nvPr>
            <p:ph idx="1" type="body"/>
          </p:nvPr>
        </p:nvSpPr>
        <p:spPr>
          <a:xfrm>
            <a:off x="406400" y="1416250"/>
            <a:ext cx="11675700" cy="53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63550" lvl="0" marL="457200" rtl="0" algn="l">
              <a:spcBef>
                <a:spcPts val="0"/>
              </a:spcBef>
              <a:spcAft>
                <a:spcPts val="0"/>
              </a:spcAft>
              <a:buSzPts val="2180"/>
              <a:buFont typeface="Arial"/>
              <a:buAutoNum type="arabicPeriod"/>
            </a:pPr>
            <a:r>
              <a:rPr lang="en-US" sz="2900"/>
              <a:t>Slow Start (SS) (Exponential Increase)</a:t>
            </a:r>
            <a:endParaRPr sz="2900"/>
          </a:p>
          <a:p>
            <a:pPr indent="-425450" lvl="1" marL="876300" rtl="0" algn="l">
              <a:spcBef>
                <a:spcPts val="440"/>
              </a:spcBef>
              <a:spcAft>
                <a:spcPts val="0"/>
              </a:spcAft>
              <a:buSzPts val="2300"/>
              <a:buFont typeface="Arial"/>
              <a:buChar char="•"/>
            </a:pPr>
            <a:r>
              <a:rPr lang="en-US" sz="2500"/>
              <a:t>start with the congestion window (</a:t>
            </a:r>
            <a:r>
              <a:rPr b="1" lang="en-US" sz="2500">
                <a:latin typeface="Courier New"/>
                <a:ea typeface="Courier New"/>
                <a:cs typeface="Courier New"/>
                <a:sym typeface="Courier New"/>
              </a:rPr>
              <a:t>CongWin</a:t>
            </a:r>
            <a:r>
              <a:rPr lang="en-US" sz="2500"/>
              <a:t>) = 1MSS</a:t>
            </a:r>
            <a:endParaRPr sz="2500"/>
          </a:p>
          <a:p>
            <a:pPr indent="-425450" lvl="1" marL="876300" rtl="0" algn="l">
              <a:spcBef>
                <a:spcPts val="440"/>
              </a:spcBef>
              <a:spcAft>
                <a:spcPts val="0"/>
              </a:spcAft>
              <a:buSzPts val="2300"/>
              <a:buFont typeface="Arial"/>
              <a:buChar char="•"/>
            </a:pPr>
            <a:r>
              <a:rPr lang="en-US" sz="2500"/>
              <a:t>for each successfully received ACK increase the cwnd size by 1 until the </a:t>
            </a:r>
            <a:r>
              <a:rPr b="1" lang="en-US" sz="2500">
                <a:latin typeface="Courier New"/>
                <a:ea typeface="Courier New"/>
                <a:cs typeface="Courier New"/>
                <a:sym typeface="Courier New"/>
              </a:rPr>
              <a:t>CongWin</a:t>
            </a:r>
            <a:r>
              <a:rPr lang="en-US" sz="2500"/>
              <a:t> =  threshold value;</a:t>
            </a:r>
            <a:endParaRPr sz="2500"/>
          </a:p>
          <a:p>
            <a:pPr indent="-508000" lvl="0" marL="457200" rtl="0" algn="l">
              <a:spcBef>
                <a:spcPts val="420"/>
              </a:spcBef>
              <a:spcAft>
                <a:spcPts val="0"/>
              </a:spcAft>
              <a:buSzPts val="2480"/>
              <a:buFont typeface="Arial"/>
              <a:buAutoNum type="arabicPeriod"/>
            </a:pPr>
            <a:r>
              <a:rPr lang="en-US" sz="2900"/>
              <a:t>Additive Increase (AI) (Congestion Avoidance)</a:t>
            </a:r>
            <a:endParaRPr sz="3600"/>
          </a:p>
          <a:p>
            <a:pPr indent="-425450" lvl="1" marL="876300" rtl="0" algn="l">
              <a:spcBef>
                <a:spcPts val="440"/>
              </a:spcBef>
              <a:spcAft>
                <a:spcPts val="0"/>
              </a:spcAft>
              <a:buSzPts val="2300"/>
              <a:buFont typeface="Arial"/>
              <a:buChar char="•"/>
            </a:pPr>
            <a:r>
              <a:rPr lang="en-US" sz="2500"/>
              <a:t>after that, for each successfully received ACK, increase the window size by 1/</a:t>
            </a:r>
            <a:r>
              <a:rPr i="1" lang="en-US" sz="2500"/>
              <a:t>n</a:t>
            </a:r>
            <a:r>
              <a:rPr lang="en-US" sz="2500"/>
              <a:t> segments up to a size of the receiver window. </a:t>
            </a:r>
            <a:r>
              <a:rPr i="1" lang="en-US" sz="2500"/>
              <a:t>n</a:t>
            </a:r>
            <a:r>
              <a:rPr lang="en-US" sz="2500"/>
              <a:t>=current </a:t>
            </a:r>
            <a:r>
              <a:rPr b="1" lang="en-US" sz="2500">
                <a:latin typeface="Courier New"/>
                <a:ea typeface="Courier New"/>
                <a:cs typeface="Courier New"/>
                <a:sym typeface="Courier New"/>
              </a:rPr>
              <a:t>CongWin</a:t>
            </a:r>
            <a:r>
              <a:rPr lang="en-US" sz="2500"/>
              <a:t> size</a:t>
            </a:r>
            <a:endParaRPr sz="2500"/>
          </a:p>
          <a:p>
            <a:pPr indent="-463550" lvl="0" marL="457200" rtl="0" algn="l">
              <a:spcBef>
                <a:spcPts val="520"/>
              </a:spcBef>
              <a:spcAft>
                <a:spcPts val="0"/>
              </a:spcAft>
              <a:buSzPts val="2180"/>
              <a:buFont typeface="Arial"/>
              <a:buAutoNum type="arabicPeriod"/>
            </a:pPr>
            <a:r>
              <a:rPr lang="en-US" sz="2900"/>
              <a:t>Multiplicative Decrease (MD)</a:t>
            </a:r>
            <a:endParaRPr sz="2900"/>
          </a:p>
          <a:p>
            <a:pPr indent="-425450" lvl="1" marL="876300" rtl="0" algn="l">
              <a:spcBef>
                <a:spcPts val="440"/>
              </a:spcBef>
              <a:spcAft>
                <a:spcPts val="0"/>
              </a:spcAft>
              <a:buSzPts val="2300"/>
              <a:buFont typeface="Arial"/>
              <a:buChar char="•"/>
            </a:pPr>
            <a:r>
              <a:rPr lang="en-US" sz="2500"/>
              <a:t>if a time-out occurs the (TCP Tahoe, TCP Reno)</a:t>
            </a:r>
            <a:endParaRPr sz="2500"/>
          </a:p>
          <a:p>
            <a:pPr indent="-381000" lvl="2" marL="1295400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n-US" sz="2100"/>
              <a:t>	Threshold = ½ (</a:t>
            </a: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CongWin), CongWin</a:t>
            </a:r>
            <a:r>
              <a:rPr lang="en-US" sz="2100"/>
              <a:t> = 1 MSS, 	.</a:t>
            </a:r>
            <a:endParaRPr sz="2100"/>
          </a:p>
          <a:p>
            <a:pPr indent="-425450" lvl="1" marL="876300" rtl="0" algn="l">
              <a:spcBef>
                <a:spcPts val="440"/>
              </a:spcBef>
              <a:spcAft>
                <a:spcPts val="0"/>
              </a:spcAft>
              <a:buSzPts val="2300"/>
              <a:buFont typeface="Arial"/>
              <a:buChar char="•"/>
            </a:pPr>
            <a:r>
              <a:rPr lang="en-US" sz="2500"/>
              <a:t>if 3 duplicated ACKs received (TCP Reno)</a:t>
            </a:r>
            <a:endParaRPr sz="2500"/>
          </a:p>
          <a:p>
            <a:pPr indent="-381000" lvl="2" marL="1295400" rtl="0" algn="l"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rPr lang="en-US" sz="2100"/>
              <a:t>	Threshold = ½ (</a:t>
            </a: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CongWin), </a:t>
            </a:r>
            <a:r>
              <a:rPr lang="en-US" sz="2100"/>
              <a:t> </a:t>
            </a: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CongWin = threshold</a:t>
            </a:r>
            <a:endParaRPr sz="21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39"/>
          <p:cNvSpPr txBox="1"/>
          <p:nvPr>
            <p:ph idx="12" type="sldNum"/>
          </p:nvPr>
        </p:nvSpPr>
        <p:spPr>
          <a:xfrm>
            <a:off x="9347200" y="6477000"/>
            <a:ext cx="2844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fld id="{00000000-1234-1234-1234-123412341234}" type="slidenum">
              <a:rPr lang="en-US"/>
              <a:t>‹#›</a:t>
            </a:fld>
            <a:endParaRPr sz="11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39"/>
          <p:cNvSpPr txBox="1"/>
          <p:nvPr>
            <p:ph type="title"/>
          </p:nvPr>
        </p:nvSpPr>
        <p:spPr>
          <a:xfrm>
            <a:off x="381000" y="152400"/>
            <a:ext cx="10360200" cy="10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Congestion control in TCP</a:t>
            </a:r>
            <a:endParaRPr/>
          </a:p>
        </p:txBody>
      </p:sp>
      <p:pic>
        <p:nvPicPr>
          <p:cNvPr id="714" name="Google Shape;714;p3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4000" y="1241427"/>
            <a:ext cx="11785500" cy="521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40"/>
          <p:cNvSpPr txBox="1"/>
          <p:nvPr>
            <p:ph idx="12" type="sldNum"/>
          </p:nvPr>
        </p:nvSpPr>
        <p:spPr>
          <a:xfrm>
            <a:off x="9347200" y="6477000"/>
            <a:ext cx="2844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ic Sans MS"/>
              <a:buNone/>
            </a:pPr>
            <a:fld id="{00000000-1234-1234-1234-123412341234}" type="slidenum">
              <a:rPr lang="en-US"/>
              <a:t>‹#›</a:t>
            </a:fld>
            <a:endParaRPr sz="11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40"/>
          <p:cNvSpPr txBox="1"/>
          <p:nvPr>
            <p:ph type="title"/>
          </p:nvPr>
        </p:nvSpPr>
        <p:spPr>
          <a:xfrm>
            <a:off x="457200" y="152400"/>
            <a:ext cx="10278300" cy="9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Congestion control in TCP</a:t>
            </a:r>
            <a:endParaRPr/>
          </a:p>
        </p:txBody>
      </p:sp>
      <p:pic>
        <p:nvPicPr>
          <p:cNvPr id="721" name="Google Shape;721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8645" y="1223945"/>
            <a:ext cx="10799157" cy="494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41"/>
          <p:cNvSpPr txBox="1"/>
          <p:nvPr>
            <p:ph idx="12" type="sldNum"/>
          </p:nvPr>
        </p:nvSpPr>
        <p:spPr>
          <a:xfrm>
            <a:off x="8737600" y="6477000"/>
            <a:ext cx="3251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Transport</a:t>
            </a:r>
            <a:r>
              <a:rPr lang="en-US" sz="1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Layer</a:t>
            </a:r>
            <a:endParaRPr/>
          </a:p>
        </p:txBody>
      </p:sp>
      <p:sp>
        <p:nvSpPr>
          <p:cNvPr id="727" name="Google Shape;727;p41"/>
          <p:cNvSpPr txBox="1"/>
          <p:nvPr>
            <p:ph idx="1" type="body"/>
          </p:nvPr>
        </p:nvSpPr>
        <p:spPr>
          <a:xfrm>
            <a:off x="711200" y="1219200"/>
            <a:ext cx="9578100" cy="17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20"/>
              <a:buFont typeface="Noto Sans Symbols"/>
              <a:buNone/>
            </a:pPr>
            <a:r>
              <a:rPr lang="en-US" sz="2400">
                <a:solidFill>
                  <a:srgbClr val="FF0000"/>
                </a:solidFill>
              </a:rPr>
              <a:t>Q:</a:t>
            </a:r>
            <a:r>
              <a:rPr lang="en-US" sz="2400"/>
              <a:t> when should the exponential increase switch to linear?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1920"/>
              <a:buFont typeface="Noto Sans Symbols"/>
              <a:buNone/>
            </a:pPr>
            <a:r>
              <a:rPr lang="en-US" sz="2400">
                <a:solidFill>
                  <a:srgbClr val="FF0000"/>
                </a:solidFill>
              </a:rPr>
              <a:t>A:</a:t>
            </a:r>
            <a:r>
              <a:rPr lang="en-US" sz="2400"/>
              <a:t> when </a:t>
            </a: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cwnd</a:t>
            </a:r>
            <a:r>
              <a:rPr lang="en-US" sz="2400"/>
              <a:t> gets to 1/2 of its value before timeout.</a:t>
            </a:r>
            <a:r>
              <a:rPr lang="en-US"/>
              <a:t> </a:t>
            </a:r>
            <a:endParaRPr/>
          </a:p>
        </p:txBody>
      </p:sp>
      <p:sp>
        <p:nvSpPr>
          <p:cNvPr id="728" name="Google Shape;728;p41"/>
          <p:cNvSpPr txBox="1"/>
          <p:nvPr>
            <p:ph idx="2" type="body"/>
          </p:nvPr>
        </p:nvSpPr>
        <p:spPr>
          <a:xfrm>
            <a:off x="787399" y="3090212"/>
            <a:ext cx="5250900" cy="29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Font typeface="Noto Sans Symbols"/>
              <a:buNone/>
            </a:pPr>
            <a:r>
              <a:rPr lang="en-US" u="sng">
                <a:solidFill>
                  <a:srgbClr val="FF0000"/>
                </a:solidFill>
              </a:rPr>
              <a:t>Implementation: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1920"/>
              <a:buFont typeface="Noto Sans Symbols"/>
              <a:buChar char="❖"/>
            </a:pPr>
            <a:r>
              <a:rPr lang="en-US" sz="2400"/>
              <a:t>variable </a:t>
            </a: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ssthresh</a:t>
            </a: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1920"/>
              <a:buFont typeface="Noto Sans Symbols"/>
              <a:buChar char="❖"/>
            </a:pPr>
            <a:r>
              <a:rPr lang="en-US" sz="2400"/>
              <a:t>on loss event, </a:t>
            </a: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ssthresh</a:t>
            </a:r>
            <a:r>
              <a:rPr lang="en-US" sz="2400"/>
              <a:t> is set to 1/2 of </a:t>
            </a: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cwnd</a:t>
            </a: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/>
              <a:t>just before loss event</a:t>
            </a:r>
            <a:endParaRPr/>
          </a:p>
        </p:txBody>
      </p:sp>
      <p:pic>
        <p:nvPicPr>
          <p:cNvPr id="729" name="Google Shape;7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19800" y="3100099"/>
            <a:ext cx="5105400" cy="2911475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41"/>
          <p:cNvSpPr txBox="1"/>
          <p:nvPr>
            <p:ph type="title"/>
          </p:nvPr>
        </p:nvSpPr>
        <p:spPr>
          <a:xfrm>
            <a:off x="609600" y="76200"/>
            <a:ext cx="11238300" cy="9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TCP: Switching from Slow Start to Additive Increase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42"/>
          <p:cNvSpPr txBox="1"/>
          <p:nvPr>
            <p:ph type="title"/>
          </p:nvPr>
        </p:nvSpPr>
        <p:spPr>
          <a:xfrm>
            <a:off x="798690" y="276953"/>
            <a:ext cx="11393400" cy="8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TCP CUBIC</a:t>
            </a:r>
            <a:endParaRPr b="0" sz="4400"/>
          </a:p>
        </p:txBody>
      </p:sp>
      <p:sp>
        <p:nvSpPr>
          <p:cNvPr id="737" name="Google Shape;737;p42"/>
          <p:cNvSpPr txBox="1"/>
          <p:nvPr/>
        </p:nvSpPr>
        <p:spPr>
          <a:xfrm>
            <a:off x="798690" y="1308100"/>
            <a:ext cx="111642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0200" lvl="0" marL="4603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 there a better way than AIMD to “probe” for usable bandwidth?</a:t>
            </a:r>
            <a:endParaRPr/>
          </a:p>
          <a:p>
            <a:pPr indent="0" lvl="0" marL="1301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38" name="Google Shape;738;p42"/>
          <p:cNvGrpSpPr/>
          <p:nvPr/>
        </p:nvGrpSpPr>
        <p:grpSpPr>
          <a:xfrm>
            <a:off x="1454066" y="4302985"/>
            <a:ext cx="6080602" cy="1989137"/>
            <a:chOff x="73" y="2432"/>
            <a:chExt cx="3830" cy="1253"/>
          </a:xfrm>
        </p:grpSpPr>
        <p:sp>
          <p:nvSpPr>
            <p:cNvPr id="739" name="Google Shape;739;p42"/>
            <p:cNvSpPr/>
            <p:nvPr/>
          </p:nvSpPr>
          <p:spPr>
            <a:xfrm>
              <a:off x="678" y="2556"/>
              <a:ext cx="3225" cy="579"/>
            </a:xfrm>
            <a:custGeom>
              <a:rect b="b" l="l" r="r" t="t"/>
              <a:pathLst>
                <a:path extrusionOk="0" h="579" w="2481">
                  <a:moveTo>
                    <a:pt x="0" y="573"/>
                  </a:moveTo>
                  <a:lnTo>
                    <a:pt x="414" y="18"/>
                  </a:lnTo>
                  <a:lnTo>
                    <a:pt x="414" y="579"/>
                  </a:lnTo>
                  <a:lnTo>
                    <a:pt x="819" y="18"/>
                  </a:lnTo>
                  <a:lnTo>
                    <a:pt x="825" y="579"/>
                  </a:lnTo>
                  <a:lnTo>
                    <a:pt x="1245" y="15"/>
                  </a:lnTo>
                  <a:lnTo>
                    <a:pt x="1245" y="576"/>
                  </a:lnTo>
                  <a:lnTo>
                    <a:pt x="1647" y="6"/>
                  </a:lnTo>
                  <a:lnTo>
                    <a:pt x="1647" y="570"/>
                  </a:lnTo>
                  <a:lnTo>
                    <a:pt x="2064" y="6"/>
                  </a:lnTo>
                  <a:lnTo>
                    <a:pt x="2064" y="564"/>
                  </a:lnTo>
                  <a:lnTo>
                    <a:pt x="2481" y="0"/>
                  </a:lnTo>
                </a:path>
              </a:pathLst>
            </a:custGeom>
            <a:noFill/>
            <a:ln cap="flat" cmpd="sng" w="28575">
              <a:solidFill>
                <a:srgbClr val="CC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40" name="Google Shape;740;p42"/>
            <p:cNvCxnSpPr/>
            <p:nvPr/>
          </p:nvCxnSpPr>
          <p:spPr>
            <a:xfrm>
              <a:off x="675" y="3685"/>
              <a:ext cx="27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1" name="Google Shape;741;p42"/>
            <p:cNvCxnSpPr/>
            <p:nvPr/>
          </p:nvCxnSpPr>
          <p:spPr>
            <a:xfrm>
              <a:off x="682" y="2432"/>
              <a:ext cx="0" cy="12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2" name="Google Shape;742;p42"/>
            <p:cNvCxnSpPr/>
            <p:nvPr/>
          </p:nvCxnSpPr>
          <p:spPr>
            <a:xfrm>
              <a:off x="606" y="2571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3" name="Google Shape;743;p42"/>
            <p:cNvCxnSpPr/>
            <p:nvPr/>
          </p:nvCxnSpPr>
          <p:spPr>
            <a:xfrm>
              <a:off x="606" y="3117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44" name="Google Shape;744;p42"/>
            <p:cNvSpPr txBox="1"/>
            <p:nvPr/>
          </p:nvSpPr>
          <p:spPr>
            <a:xfrm>
              <a:off x="171" y="2437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Tahoma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W</a:t>
              </a:r>
              <a:r>
                <a:rPr b="0" baseline="-25000" i="0" lang="en-US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max</a:t>
              </a:r>
              <a:endParaRPr/>
            </a:p>
          </p:txBody>
        </p:sp>
        <p:sp>
          <p:nvSpPr>
            <p:cNvPr id="745" name="Google Shape;745;p42"/>
            <p:cNvSpPr txBox="1"/>
            <p:nvPr/>
          </p:nvSpPr>
          <p:spPr>
            <a:xfrm>
              <a:off x="73" y="2971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Tahoma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W</a:t>
              </a:r>
              <a:r>
                <a:rPr b="0" baseline="-25000" i="0" lang="en-US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max</a:t>
              </a:r>
              <a:r>
                <a:rPr b="0" i="0" lang="en-US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/2</a:t>
              </a:r>
              <a:endParaRPr/>
            </a:p>
          </p:txBody>
        </p:sp>
      </p:grpSp>
      <p:grpSp>
        <p:nvGrpSpPr>
          <p:cNvPr id="746" name="Google Shape;746;p42"/>
          <p:cNvGrpSpPr/>
          <p:nvPr/>
        </p:nvGrpSpPr>
        <p:grpSpPr>
          <a:xfrm>
            <a:off x="2427206" y="4523647"/>
            <a:ext cx="843458" cy="852092"/>
            <a:chOff x="4111628" y="4803047"/>
            <a:chExt cx="843458" cy="852092"/>
          </a:xfrm>
        </p:grpSpPr>
        <p:sp>
          <p:nvSpPr>
            <p:cNvPr id="747" name="Google Shape;747;p42"/>
            <p:cNvSpPr/>
            <p:nvPr/>
          </p:nvSpPr>
          <p:spPr>
            <a:xfrm>
              <a:off x="4111628" y="4803047"/>
              <a:ext cx="843458" cy="852092"/>
            </a:xfrm>
            <a:custGeom>
              <a:rect b="b" l="l" r="r" t="t"/>
              <a:pathLst>
                <a:path extrusionOk="0" h="2103931" w="1147562">
                  <a:moveTo>
                    <a:pt x="1147562" y="0"/>
                  </a:moveTo>
                  <a:cubicBezTo>
                    <a:pt x="315981" y="116560"/>
                    <a:pt x="138906" y="965397"/>
                    <a:pt x="0" y="2103931"/>
                  </a:cubicBezTo>
                </a:path>
              </a:pathLst>
            </a:custGeom>
            <a:noFill/>
            <a:ln cap="flat" cmpd="sng" w="25400">
              <a:solidFill>
                <a:srgbClr val="0000A3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48" name="Google Shape;748;p42"/>
            <p:cNvCxnSpPr/>
            <p:nvPr/>
          </p:nvCxnSpPr>
          <p:spPr>
            <a:xfrm>
              <a:off x="4953802" y="4803047"/>
              <a:ext cx="0" cy="798900"/>
            </a:xfrm>
            <a:prstGeom prst="straightConnector1">
              <a:avLst/>
            </a:prstGeom>
            <a:noFill/>
            <a:ln cap="flat" cmpd="sng" w="28575">
              <a:solidFill>
                <a:srgbClr val="0000A3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749" name="Google Shape;749;p42"/>
          <p:cNvGrpSpPr/>
          <p:nvPr/>
        </p:nvGrpSpPr>
        <p:grpSpPr>
          <a:xfrm>
            <a:off x="7913115" y="4293106"/>
            <a:ext cx="3050575" cy="1377649"/>
            <a:chOff x="7913115" y="4572506"/>
            <a:chExt cx="3050575" cy="1377649"/>
          </a:xfrm>
        </p:grpSpPr>
        <p:cxnSp>
          <p:nvCxnSpPr>
            <p:cNvPr id="750" name="Google Shape;750;p42"/>
            <p:cNvCxnSpPr/>
            <p:nvPr/>
          </p:nvCxnSpPr>
          <p:spPr>
            <a:xfrm>
              <a:off x="7913115" y="4779235"/>
              <a:ext cx="866400" cy="0"/>
            </a:xfrm>
            <a:prstGeom prst="straightConnector1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51" name="Google Shape;751;p42"/>
            <p:cNvCxnSpPr/>
            <p:nvPr/>
          </p:nvCxnSpPr>
          <p:spPr>
            <a:xfrm>
              <a:off x="7913115" y="5243961"/>
              <a:ext cx="866400" cy="0"/>
            </a:xfrm>
            <a:prstGeom prst="straightConnector1">
              <a:avLst/>
            </a:prstGeom>
            <a:noFill/>
            <a:ln cap="flat" cmpd="sng" w="38100">
              <a:solidFill>
                <a:srgbClr val="0000A3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sp>
          <p:nvSpPr>
            <p:cNvPr id="752" name="Google Shape;752;p42"/>
            <p:cNvSpPr txBox="1"/>
            <p:nvPr/>
          </p:nvSpPr>
          <p:spPr>
            <a:xfrm>
              <a:off x="8779389" y="4572506"/>
              <a:ext cx="1178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classic TCP</a:t>
              </a:r>
              <a:endParaRPr/>
            </a:p>
          </p:txBody>
        </p:sp>
        <p:sp>
          <p:nvSpPr>
            <p:cNvPr id="753" name="Google Shape;753;p42"/>
            <p:cNvSpPr txBox="1"/>
            <p:nvPr/>
          </p:nvSpPr>
          <p:spPr>
            <a:xfrm>
              <a:off x="8779390" y="5109855"/>
              <a:ext cx="2184300" cy="84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TCP CUBIC - higher throughput in this example</a:t>
              </a:r>
              <a:endParaRPr/>
            </a:p>
          </p:txBody>
        </p:sp>
      </p:grpSp>
      <p:sp>
        <p:nvSpPr>
          <p:cNvPr id="754" name="Google Shape;754;p42"/>
          <p:cNvSpPr txBox="1"/>
          <p:nvPr/>
        </p:nvSpPr>
        <p:spPr>
          <a:xfrm>
            <a:off x="798690" y="1787378"/>
            <a:ext cx="111642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0200" lvl="0" marL="4603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Insight/intuition: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max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sending rate at which congestion loss was detected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congestion state of bottleneck link probably (?) hasn’t changed much</a:t>
            </a:r>
            <a:endParaRPr/>
          </a:p>
          <a:p>
            <a:pPr indent="0" lvl="0" marL="1301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55" name="Google Shape;755;p42"/>
          <p:cNvGrpSpPr/>
          <p:nvPr/>
        </p:nvGrpSpPr>
        <p:grpSpPr>
          <a:xfrm>
            <a:off x="3268173" y="4514248"/>
            <a:ext cx="4264003" cy="882145"/>
            <a:chOff x="4952595" y="4780948"/>
            <a:chExt cx="4264003" cy="882145"/>
          </a:xfrm>
        </p:grpSpPr>
        <p:grpSp>
          <p:nvGrpSpPr>
            <p:cNvPr id="756" name="Google Shape;756;p42"/>
            <p:cNvGrpSpPr/>
            <p:nvPr/>
          </p:nvGrpSpPr>
          <p:grpSpPr>
            <a:xfrm>
              <a:off x="4952595" y="4811001"/>
              <a:ext cx="843458" cy="852092"/>
              <a:chOff x="4111628" y="4803047"/>
              <a:chExt cx="843458" cy="852092"/>
            </a:xfrm>
          </p:grpSpPr>
          <p:sp>
            <p:nvSpPr>
              <p:cNvPr id="757" name="Google Shape;757;p42"/>
              <p:cNvSpPr/>
              <p:nvPr/>
            </p:nvSpPr>
            <p:spPr>
              <a:xfrm>
                <a:off x="4111628" y="4803047"/>
                <a:ext cx="843458" cy="852092"/>
              </a:xfrm>
              <a:custGeom>
                <a:rect b="b" l="l" r="r" t="t"/>
                <a:pathLst>
                  <a:path extrusionOk="0" h="2103931" w="1147562">
                    <a:moveTo>
                      <a:pt x="1147562" y="0"/>
                    </a:moveTo>
                    <a:cubicBezTo>
                      <a:pt x="315981" y="116560"/>
                      <a:pt x="138906" y="965397"/>
                      <a:pt x="0" y="2103931"/>
                    </a:cubicBezTo>
                  </a:path>
                </a:pathLst>
              </a:custGeom>
              <a:noFill/>
              <a:ln cap="flat" cmpd="sng" w="25400">
                <a:solidFill>
                  <a:srgbClr val="0000A3"/>
                </a:solidFill>
                <a:prstDash val="dash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758" name="Google Shape;758;p42"/>
              <p:cNvCxnSpPr/>
              <p:nvPr/>
            </p:nvCxnSpPr>
            <p:spPr>
              <a:xfrm>
                <a:off x="4953802" y="4803047"/>
                <a:ext cx="0" cy="7989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A3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759" name="Google Shape;759;p42"/>
            <p:cNvGrpSpPr/>
            <p:nvPr/>
          </p:nvGrpSpPr>
          <p:grpSpPr>
            <a:xfrm>
              <a:off x="5815757" y="4805638"/>
              <a:ext cx="843458" cy="852092"/>
              <a:chOff x="4111628" y="4803047"/>
              <a:chExt cx="843458" cy="852092"/>
            </a:xfrm>
          </p:grpSpPr>
          <p:sp>
            <p:nvSpPr>
              <p:cNvPr id="760" name="Google Shape;760;p42"/>
              <p:cNvSpPr/>
              <p:nvPr/>
            </p:nvSpPr>
            <p:spPr>
              <a:xfrm>
                <a:off x="4111628" y="4803047"/>
                <a:ext cx="843458" cy="852092"/>
              </a:xfrm>
              <a:custGeom>
                <a:rect b="b" l="l" r="r" t="t"/>
                <a:pathLst>
                  <a:path extrusionOk="0" h="2103931" w="1147562">
                    <a:moveTo>
                      <a:pt x="1147562" y="0"/>
                    </a:moveTo>
                    <a:cubicBezTo>
                      <a:pt x="315981" y="116560"/>
                      <a:pt x="138906" y="965397"/>
                      <a:pt x="0" y="2103931"/>
                    </a:cubicBezTo>
                  </a:path>
                </a:pathLst>
              </a:custGeom>
              <a:noFill/>
              <a:ln cap="flat" cmpd="sng" w="25400">
                <a:solidFill>
                  <a:srgbClr val="0000A3"/>
                </a:solidFill>
                <a:prstDash val="dash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761" name="Google Shape;761;p42"/>
              <p:cNvCxnSpPr/>
              <p:nvPr/>
            </p:nvCxnSpPr>
            <p:spPr>
              <a:xfrm>
                <a:off x="4953802" y="4803047"/>
                <a:ext cx="0" cy="7989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A3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762" name="Google Shape;762;p42"/>
            <p:cNvGrpSpPr/>
            <p:nvPr/>
          </p:nvGrpSpPr>
          <p:grpSpPr>
            <a:xfrm>
              <a:off x="6678746" y="4793293"/>
              <a:ext cx="829794" cy="852092"/>
              <a:chOff x="4111628" y="4803047"/>
              <a:chExt cx="843458" cy="852092"/>
            </a:xfrm>
          </p:grpSpPr>
          <p:sp>
            <p:nvSpPr>
              <p:cNvPr id="763" name="Google Shape;763;p42"/>
              <p:cNvSpPr/>
              <p:nvPr/>
            </p:nvSpPr>
            <p:spPr>
              <a:xfrm>
                <a:off x="4111628" y="4803047"/>
                <a:ext cx="843458" cy="852092"/>
              </a:xfrm>
              <a:custGeom>
                <a:rect b="b" l="l" r="r" t="t"/>
                <a:pathLst>
                  <a:path extrusionOk="0" h="2103931" w="1147562">
                    <a:moveTo>
                      <a:pt x="1147562" y="0"/>
                    </a:moveTo>
                    <a:cubicBezTo>
                      <a:pt x="315981" y="116560"/>
                      <a:pt x="138906" y="965397"/>
                      <a:pt x="0" y="2103931"/>
                    </a:cubicBezTo>
                  </a:path>
                </a:pathLst>
              </a:custGeom>
              <a:noFill/>
              <a:ln cap="flat" cmpd="sng" w="25400">
                <a:solidFill>
                  <a:srgbClr val="0000A3"/>
                </a:solidFill>
                <a:prstDash val="dash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764" name="Google Shape;764;p42"/>
              <p:cNvCxnSpPr/>
              <p:nvPr/>
            </p:nvCxnSpPr>
            <p:spPr>
              <a:xfrm>
                <a:off x="4953802" y="4803047"/>
                <a:ext cx="0" cy="7989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A3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765" name="Google Shape;765;p42"/>
            <p:cNvGrpSpPr/>
            <p:nvPr/>
          </p:nvGrpSpPr>
          <p:grpSpPr>
            <a:xfrm>
              <a:off x="7533029" y="4780948"/>
              <a:ext cx="829794" cy="852092"/>
              <a:chOff x="4111628" y="4803047"/>
              <a:chExt cx="843458" cy="852092"/>
            </a:xfrm>
          </p:grpSpPr>
          <p:sp>
            <p:nvSpPr>
              <p:cNvPr id="766" name="Google Shape;766;p42"/>
              <p:cNvSpPr/>
              <p:nvPr/>
            </p:nvSpPr>
            <p:spPr>
              <a:xfrm>
                <a:off x="4111628" y="4803047"/>
                <a:ext cx="843458" cy="852092"/>
              </a:xfrm>
              <a:custGeom>
                <a:rect b="b" l="l" r="r" t="t"/>
                <a:pathLst>
                  <a:path extrusionOk="0" h="2103931" w="1147562">
                    <a:moveTo>
                      <a:pt x="1147562" y="0"/>
                    </a:moveTo>
                    <a:cubicBezTo>
                      <a:pt x="315981" y="116560"/>
                      <a:pt x="138906" y="965397"/>
                      <a:pt x="0" y="2103931"/>
                    </a:cubicBezTo>
                  </a:path>
                </a:pathLst>
              </a:custGeom>
              <a:noFill/>
              <a:ln cap="flat" cmpd="sng" w="25400">
                <a:solidFill>
                  <a:srgbClr val="0000A3"/>
                </a:solidFill>
                <a:prstDash val="dash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767" name="Google Shape;767;p42"/>
              <p:cNvCxnSpPr/>
              <p:nvPr/>
            </p:nvCxnSpPr>
            <p:spPr>
              <a:xfrm>
                <a:off x="4953802" y="4803047"/>
                <a:ext cx="0" cy="7989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A3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768" name="Google Shape;768;p42"/>
            <p:cNvSpPr/>
            <p:nvPr/>
          </p:nvSpPr>
          <p:spPr>
            <a:xfrm>
              <a:off x="8387484" y="4790798"/>
              <a:ext cx="829114" cy="852092"/>
            </a:xfrm>
            <a:custGeom>
              <a:rect b="b" l="l" r="r" t="t"/>
              <a:pathLst>
                <a:path extrusionOk="0" h="2103931" w="1147562">
                  <a:moveTo>
                    <a:pt x="1147562" y="0"/>
                  </a:moveTo>
                  <a:cubicBezTo>
                    <a:pt x="315981" y="116560"/>
                    <a:pt x="138906" y="965397"/>
                    <a:pt x="0" y="2103931"/>
                  </a:cubicBezTo>
                </a:path>
              </a:pathLst>
            </a:custGeom>
            <a:noFill/>
            <a:ln cap="flat" cmpd="sng" w="25400">
              <a:solidFill>
                <a:srgbClr val="0000A3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69" name="Google Shape;769;p42"/>
          <p:cNvSpPr txBox="1"/>
          <p:nvPr/>
        </p:nvSpPr>
        <p:spPr>
          <a:xfrm>
            <a:off x="785990" y="3009900"/>
            <a:ext cx="11164200" cy="8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197484" lvl="1" marL="6953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after cutting rate/window in half on loss, initially ramp to to W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max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1" lang="en-US" sz="2400" u="none" cap="none" strike="noStrike">
                <a:solidFill>
                  <a:srgbClr val="0013A3"/>
                </a:solidFill>
                <a:latin typeface="Calibri"/>
                <a:ea typeface="Calibri"/>
                <a:cs typeface="Calibri"/>
                <a:sym typeface="Calibri"/>
              </a:rPr>
              <a:t>faster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but then approach W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max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more </a:t>
            </a:r>
            <a:r>
              <a:rPr b="0" i="1" lang="en-US" sz="2400" u="none" cap="none" strike="noStrike">
                <a:solidFill>
                  <a:srgbClr val="0013A3"/>
                </a:solidFill>
                <a:latin typeface="Calibri"/>
                <a:ea typeface="Calibri"/>
                <a:cs typeface="Calibri"/>
                <a:sym typeface="Calibri"/>
              </a:rPr>
              <a:t>slowly</a:t>
            </a:r>
            <a:endParaRPr/>
          </a:p>
          <a:p>
            <a:pPr indent="0" lvl="0" marL="1301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42"/>
          <p:cNvSpPr txBox="1"/>
          <p:nvPr>
            <p:ph idx="12" type="sldNum"/>
          </p:nvPr>
        </p:nvSpPr>
        <p:spPr>
          <a:xfrm>
            <a:off x="9219616" y="644308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43"/>
          <p:cNvSpPr txBox="1"/>
          <p:nvPr>
            <p:ph type="title"/>
          </p:nvPr>
        </p:nvSpPr>
        <p:spPr>
          <a:xfrm>
            <a:off x="798690" y="276953"/>
            <a:ext cx="11393400" cy="8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TCP CUBIC</a:t>
            </a:r>
            <a:endParaRPr b="0" sz="4400"/>
          </a:p>
        </p:txBody>
      </p:sp>
      <p:sp>
        <p:nvSpPr>
          <p:cNvPr id="777" name="Google Shape;777;p43"/>
          <p:cNvSpPr txBox="1"/>
          <p:nvPr/>
        </p:nvSpPr>
        <p:spPr>
          <a:xfrm>
            <a:off x="798690" y="1308101"/>
            <a:ext cx="111642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245745" lvl="0" marL="412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K: point in time when TCP window size will reach W</a:t>
            </a:r>
            <a:r>
              <a:rPr b="0" baseline="-2500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max</a:t>
            </a:r>
            <a:endParaRPr/>
          </a:p>
          <a:p>
            <a:pPr indent="-260984" lvl="1" marL="8032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 itself is tunable</a:t>
            </a:r>
            <a:endParaRPr/>
          </a:p>
          <a:p>
            <a:pPr indent="0" lvl="0" marL="1301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43"/>
          <p:cNvSpPr txBox="1"/>
          <p:nvPr/>
        </p:nvSpPr>
        <p:spPr>
          <a:xfrm>
            <a:off x="952087" y="3043946"/>
            <a:ext cx="10287900" cy="9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08915" lvl="1" marL="6953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larger increases when further away from K</a:t>
            </a:r>
            <a:endParaRPr/>
          </a:p>
          <a:p>
            <a:pPr indent="-20891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smaller increases (cautious) when nearer K</a:t>
            </a:r>
            <a:endParaRPr/>
          </a:p>
          <a:p>
            <a:pPr indent="0" lvl="0" marL="1301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79" name="Google Shape;779;p43"/>
          <p:cNvGrpSpPr/>
          <p:nvPr/>
        </p:nvGrpSpPr>
        <p:grpSpPr>
          <a:xfrm>
            <a:off x="5030365" y="2893914"/>
            <a:ext cx="5714516" cy="3639313"/>
            <a:chOff x="5030365" y="2893914"/>
            <a:chExt cx="5714516" cy="3639313"/>
          </a:xfrm>
        </p:grpSpPr>
        <p:sp>
          <p:nvSpPr>
            <p:cNvPr id="780" name="Google Shape;780;p43"/>
            <p:cNvSpPr txBox="1"/>
            <p:nvPr/>
          </p:nvSpPr>
          <p:spPr>
            <a:xfrm>
              <a:off x="5030365" y="5185258"/>
              <a:ext cx="808200" cy="88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TCP</a:t>
              </a:r>
              <a:endParaRPr/>
            </a:p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sending </a:t>
              </a:r>
              <a:endParaRPr/>
            </a:p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rate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81" name="Google Shape;781;p43"/>
            <p:cNvCxnSpPr/>
            <p:nvPr/>
          </p:nvCxnSpPr>
          <p:spPr>
            <a:xfrm>
              <a:off x="5801903" y="6262085"/>
              <a:ext cx="45981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782" name="Google Shape;782;p43"/>
            <p:cNvCxnSpPr/>
            <p:nvPr/>
          </p:nvCxnSpPr>
          <p:spPr>
            <a:xfrm rot="10800000">
              <a:off x="5801904" y="4039988"/>
              <a:ext cx="0" cy="22224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783" name="Google Shape;783;p43"/>
            <p:cNvSpPr/>
            <p:nvPr/>
          </p:nvSpPr>
          <p:spPr>
            <a:xfrm>
              <a:off x="5815989" y="4445300"/>
              <a:ext cx="481809" cy="1809533"/>
            </a:xfrm>
            <a:custGeom>
              <a:rect b="b" l="l" r="r" t="t"/>
              <a:pathLst>
                <a:path extrusionOk="0" h="3160756" w="892239">
                  <a:moveTo>
                    <a:pt x="892239" y="0"/>
                  </a:moveTo>
                  <a:cubicBezTo>
                    <a:pt x="857076" y="951096"/>
                    <a:pt x="829323" y="1859859"/>
                    <a:pt x="793426" y="2355915"/>
                  </a:cubicBezTo>
                  <a:cubicBezTo>
                    <a:pt x="757529" y="2851971"/>
                    <a:pt x="751946" y="2746980"/>
                    <a:pt x="676858" y="2976336"/>
                  </a:cubicBezTo>
                  <a:cubicBezTo>
                    <a:pt x="601770" y="3205692"/>
                    <a:pt x="160327" y="3152732"/>
                    <a:pt x="0" y="3160551"/>
                  </a:cubicBezTo>
                </a:path>
              </a:pathLst>
            </a:custGeom>
            <a:noFill/>
            <a:ln cap="flat" cmpd="sng" w="12700">
              <a:solidFill>
                <a:srgbClr val="7B7B7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84" name="Google Shape;784;p43"/>
            <p:cNvCxnSpPr/>
            <p:nvPr/>
          </p:nvCxnSpPr>
          <p:spPr>
            <a:xfrm>
              <a:off x="6296864" y="4404648"/>
              <a:ext cx="27747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grpSp>
          <p:nvGrpSpPr>
            <p:cNvPr id="785" name="Google Shape;785;p43"/>
            <p:cNvGrpSpPr/>
            <p:nvPr/>
          </p:nvGrpSpPr>
          <p:grpSpPr>
            <a:xfrm>
              <a:off x="6350308" y="4445192"/>
              <a:ext cx="795759" cy="900412"/>
              <a:chOff x="1257299" y="2448186"/>
              <a:chExt cx="919846" cy="1571400"/>
            </a:xfrm>
          </p:grpSpPr>
          <p:cxnSp>
            <p:nvCxnSpPr>
              <p:cNvPr id="786" name="Google Shape;786;p43"/>
              <p:cNvCxnSpPr/>
              <p:nvPr/>
            </p:nvCxnSpPr>
            <p:spPr>
              <a:xfrm flipH="1">
                <a:off x="1294545" y="2448186"/>
                <a:ext cx="882600" cy="1571400"/>
              </a:xfrm>
              <a:prstGeom prst="straightConnector1">
                <a:avLst/>
              </a:prstGeom>
              <a:noFill/>
              <a:ln cap="flat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787" name="Google Shape;787;p43"/>
              <p:cNvSpPr/>
              <p:nvPr/>
            </p:nvSpPr>
            <p:spPr>
              <a:xfrm>
                <a:off x="1257299" y="2450273"/>
                <a:ext cx="854934" cy="1562169"/>
              </a:xfrm>
              <a:custGeom>
                <a:rect b="b" l="l" r="r" t="t"/>
                <a:pathLst>
                  <a:path extrusionOk="0" h="2103931" w="1147562">
                    <a:moveTo>
                      <a:pt x="1147562" y="0"/>
                    </a:moveTo>
                    <a:cubicBezTo>
                      <a:pt x="-38197" y="56892"/>
                      <a:pt x="50361" y="547727"/>
                      <a:pt x="0" y="2103931"/>
                    </a:cubicBezTo>
                  </a:path>
                </a:pathLst>
              </a:custGeom>
              <a:noFill/>
              <a:ln cap="flat" cmpd="sng" w="25400">
                <a:solidFill>
                  <a:srgbClr val="0000A3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8" name="Google Shape;788;p43"/>
            <p:cNvGrpSpPr/>
            <p:nvPr/>
          </p:nvGrpSpPr>
          <p:grpSpPr>
            <a:xfrm>
              <a:off x="7112482" y="4441553"/>
              <a:ext cx="795759" cy="900412"/>
              <a:chOff x="1257299" y="2448186"/>
              <a:chExt cx="919846" cy="1571400"/>
            </a:xfrm>
          </p:grpSpPr>
          <p:cxnSp>
            <p:nvCxnSpPr>
              <p:cNvPr id="789" name="Google Shape;789;p43"/>
              <p:cNvCxnSpPr/>
              <p:nvPr/>
            </p:nvCxnSpPr>
            <p:spPr>
              <a:xfrm flipH="1">
                <a:off x="1294545" y="2448186"/>
                <a:ext cx="882600" cy="1571400"/>
              </a:xfrm>
              <a:prstGeom prst="straightConnector1">
                <a:avLst/>
              </a:prstGeom>
              <a:noFill/>
              <a:ln cap="flat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790" name="Google Shape;790;p43"/>
              <p:cNvSpPr/>
              <p:nvPr/>
            </p:nvSpPr>
            <p:spPr>
              <a:xfrm>
                <a:off x="1257299" y="2450273"/>
                <a:ext cx="854934" cy="1562169"/>
              </a:xfrm>
              <a:custGeom>
                <a:rect b="b" l="l" r="r" t="t"/>
                <a:pathLst>
                  <a:path extrusionOk="0" h="2103931" w="1147562">
                    <a:moveTo>
                      <a:pt x="1147562" y="0"/>
                    </a:moveTo>
                    <a:cubicBezTo>
                      <a:pt x="-38197" y="56892"/>
                      <a:pt x="50361" y="547727"/>
                      <a:pt x="0" y="2103931"/>
                    </a:cubicBezTo>
                  </a:path>
                </a:pathLst>
              </a:custGeom>
              <a:noFill/>
              <a:ln cap="flat" cmpd="sng" w="25400">
                <a:solidFill>
                  <a:srgbClr val="0000A3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91" name="Google Shape;791;p43"/>
            <p:cNvGrpSpPr/>
            <p:nvPr/>
          </p:nvGrpSpPr>
          <p:grpSpPr>
            <a:xfrm>
              <a:off x="7915936" y="4439585"/>
              <a:ext cx="795759" cy="900412"/>
              <a:chOff x="1257299" y="2448186"/>
              <a:chExt cx="919846" cy="1571400"/>
            </a:xfrm>
          </p:grpSpPr>
          <p:cxnSp>
            <p:nvCxnSpPr>
              <p:cNvPr id="792" name="Google Shape;792;p43"/>
              <p:cNvCxnSpPr/>
              <p:nvPr/>
            </p:nvCxnSpPr>
            <p:spPr>
              <a:xfrm flipH="1">
                <a:off x="1294545" y="2448186"/>
                <a:ext cx="882600" cy="1571400"/>
              </a:xfrm>
              <a:prstGeom prst="straightConnector1">
                <a:avLst/>
              </a:prstGeom>
              <a:noFill/>
              <a:ln cap="flat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793" name="Google Shape;793;p43"/>
              <p:cNvSpPr/>
              <p:nvPr/>
            </p:nvSpPr>
            <p:spPr>
              <a:xfrm>
                <a:off x="1257299" y="2450273"/>
                <a:ext cx="854934" cy="1562169"/>
              </a:xfrm>
              <a:custGeom>
                <a:rect b="b" l="l" r="r" t="t"/>
                <a:pathLst>
                  <a:path extrusionOk="0" h="2103931" w="1147562">
                    <a:moveTo>
                      <a:pt x="1147562" y="0"/>
                    </a:moveTo>
                    <a:cubicBezTo>
                      <a:pt x="-38197" y="56892"/>
                      <a:pt x="50361" y="547727"/>
                      <a:pt x="0" y="2103931"/>
                    </a:cubicBezTo>
                  </a:path>
                </a:pathLst>
              </a:custGeom>
              <a:noFill/>
              <a:ln cap="flat" cmpd="sng" w="25400">
                <a:solidFill>
                  <a:srgbClr val="0000A3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94" name="Google Shape;794;p43"/>
            <p:cNvGrpSpPr/>
            <p:nvPr/>
          </p:nvGrpSpPr>
          <p:grpSpPr>
            <a:xfrm>
              <a:off x="8750353" y="4432784"/>
              <a:ext cx="795759" cy="900412"/>
              <a:chOff x="1257299" y="2448186"/>
              <a:chExt cx="919846" cy="1571400"/>
            </a:xfrm>
          </p:grpSpPr>
          <p:cxnSp>
            <p:nvCxnSpPr>
              <p:cNvPr id="795" name="Google Shape;795;p43"/>
              <p:cNvCxnSpPr/>
              <p:nvPr/>
            </p:nvCxnSpPr>
            <p:spPr>
              <a:xfrm flipH="1">
                <a:off x="1294545" y="2448186"/>
                <a:ext cx="882600" cy="1571400"/>
              </a:xfrm>
              <a:prstGeom prst="straightConnector1">
                <a:avLst/>
              </a:prstGeom>
              <a:noFill/>
              <a:ln cap="flat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796" name="Google Shape;796;p43"/>
              <p:cNvSpPr/>
              <p:nvPr/>
            </p:nvSpPr>
            <p:spPr>
              <a:xfrm>
                <a:off x="1257299" y="2450273"/>
                <a:ext cx="854934" cy="1562169"/>
              </a:xfrm>
              <a:custGeom>
                <a:rect b="b" l="l" r="r" t="t"/>
                <a:pathLst>
                  <a:path extrusionOk="0" h="2103931" w="1147562">
                    <a:moveTo>
                      <a:pt x="1147562" y="0"/>
                    </a:moveTo>
                    <a:cubicBezTo>
                      <a:pt x="-38197" y="56892"/>
                      <a:pt x="50361" y="547727"/>
                      <a:pt x="0" y="2103931"/>
                    </a:cubicBezTo>
                  </a:path>
                </a:pathLst>
              </a:custGeom>
              <a:noFill/>
              <a:ln cap="flat" cmpd="sng" w="25400">
                <a:solidFill>
                  <a:srgbClr val="0000A3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97" name="Google Shape;797;p43"/>
            <p:cNvGrpSpPr/>
            <p:nvPr/>
          </p:nvGrpSpPr>
          <p:grpSpPr>
            <a:xfrm rot="10800000">
              <a:off x="9544572" y="3097171"/>
              <a:ext cx="1128177" cy="1337038"/>
              <a:chOff x="873045" y="2448184"/>
              <a:chExt cx="1304100" cy="2333400"/>
            </a:xfrm>
          </p:grpSpPr>
          <p:cxnSp>
            <p:nvCxnSpPr>
              <p:cNvPr id="798" name="Google Shape;798;p43"/>
              <p:cNvCxnSpPr/>
              <p:nvPr/>
            </p:nvCxnSpPr>
            <p:spPr>
              <a:xfrm flipH="1">
                <a:off x="873045" y="2448184"/>
                <a:ext cx="1304100" cy="2333400"/>
              </a:xfrm>
              <a:prstGeom prst="straightConnector1">
                <a:avLst/>
              </a:prstGeom>
              <a:noFill/>
              <a:ln cap="flat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799" name="Google Shape;799;p43"/>
              <p:cNvSpPr/>
              <p:nvPr/>
            </p:nvSpPr>
            <p:spPr>
              <a:xfrm>
                <a:off x="1252647" y="2450273"/>
                <a:ext cx="859591" cy="1599842"/>
              </a:xfrm>
              <a:custGeom>
                <a:rect b="b" l="l" r="r" t="t"/>
                <a:pathLst>
                  <a:path extrusionOk="0" h="2154669" w="1153813">
                    <a:moveTo>
                      <a:pt x="1153813" y="0"/>
                    </a:moveTo>
                    <a:cubicBezTo>
                      <a:pt x="-31946" y="56892"/>
                      <a:pt x="50361" y="598465"/>
                      <a:pt x="0" y="2154669"/>
                    </a:cubicBezTo>
                  </a:path>
                </a:pathLst>
              </a:custGeom>
              <a:noFill/>
              <a:ln cap="flat" cmpd="sng" w="25400">
                <a:solidFill>
                  <a:srgbClr val="0000A3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800" name="Google Shape;800;p43"/>
            <p:cNvCxnSpPr/>
            <p:nvPr/>
          </p:nvCxnSpPr>
          <p:spPr>
            <a:xfrm flipH="1">
              <a:off x="10340073" y="2893914"/>
              <a:ext cx="30600" cy="717000"/>
            </a:xfrm>
            <a:prstGeom prst="straightConnector1">
              <a:avLst/>
            </a:prstGeom>
            <a:noFill/>
            <a:ln cap="flat" cmpd="sng" w="25400">
              <a:solidFill>
                <a:srgbClr val="0000A3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sp>
          <p:nvSpPr>
            <p:cNvPr id="801" name="Google Shape;801;p43"/>
            <p:cNvSpPr txBox="1"/>
            <p:nvPr/>
          </p:nvSpPr>
          <p:spPr>
            <a:xfrm>
              <a:off x="9881790" y="5941210"/>
              <a:ext cx="5181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time</a:t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2" name="Google Shape;802;p43"/>
            <p:cNvSpPr txBox="1"/>
            <p:nvPr/>
          </p:nvSpPr>
          <p:spPr>
            <a:xfrm>
              <a:off x="9472281" y="4611687"/>
              <a:ext cx="1272600" cy="93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TCP Reno</a:t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85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A3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A3"/>
                  </a:solidFill>
                  <a:latin typeface="Calibri"/>
                  <a:ea typeface="Calibri"/>
                  <a:cs typeface="Calibri"/>
                  <a:sym typeface="Calibri"/>
                </a:rPr>
                <a:t>TCP CUBIC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3" name="Google Shape;803;p43"/>
            <p:cNvSpPr txBox="1"/>
            <p:nvPr/>
          </p:nvSpPr>
          <p:spPr>
            <a:xfrm>
              <a:off x="5297976" y="4213131"/>
              <a:ext cx="549300" cy="27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W</a:t>
              </a:r>
              <a:r>
                <a:rPr b="0" baseline="-2500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max</a:t>
              </a:r>
              <a:endParaRPr b="0" baseline="-2500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4" name="Google Shape;804;p43"/>
            <p:cNvSpPr txBox="1"/>
            <p:nvPr/>
          </p:nvSpPr>
          <p:spPr>
            <a:xfrm>
              <a:off x="6180953" y="6255332"/>
              <a:ext cx="312900" cy="27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r>
                <a:rPr b="0" baseline="-2500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 b="0" baseline="-2500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5" name="Google Shape;805;p43"/>
            <p:cNvSpPr txBox="1"/>
            <p:nvPr/>
          </p:nvSpPr>
          <p:spPr>
            <a:xfrm>
              <a:off x="6997088" y="6257827"/>
              <a:ext cx="305400" cy="27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r>
                <a:rPr b="0" baseline="-2500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 </a:t>
              </a:r>
              <a:endParaRPr b="0" baseline="-2500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6" name="Google Shape;806;p43"/>
            <p:cNvSpPr txBox="1"/>
            <p:nvPr/>
          </p:nvSpPr>
          <p:spPr>
            <a:xfrm>
              <a:off x="7796251" y="6257147"/>
              <a:ext cx="312900" cy="27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r>
                <a:rPr b="0" baseline="-2500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 </a:t>
              </a:r>
              <a:endParaRPr b="0" baseline="-2500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7" name="Google Shape;807;p43"/>
            <p:cNvSpPr txBox="1"/>
            <p:nvPr/>
          </p:nvSpPr>
          <p:spPr>
            <a:xfrm>
              <a:off x="8625086" y="6256467"/>
              <a:ext cx="305400" cy="27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r>
                <a:rPr b="0" baseline="-2500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3 </a:t>
              </a:r>
              <a:endParaRPr b="0" baseline="-2500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8" name="Google Shape;808;p43"/>
            <p:cNvSpPr txBox="1"/>
            <p:nvPr/>
          </p:nvSpPr>
          <p:spPr>
            <a:xfrm>
              <a:off x="9424249" y="6256467"/>
              <a:ext cx="312900" cy="27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</a:t>
              </a:r>
              <a:r>
                <a:rPr b="0" baseline="-2500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4 </a:t>
              </a:r>
              <a:endParaRPr b="0" baseline="-2500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09" name="Google Shape;809;p43"/>
          <p:cNvSpPr txBox="1"/>
          <p:nvPr/>
        </p:nvSpPr>
        <p:spPr>
          <a:xfrm>
            <a:off x="797674" y="3941197"/>
            <a:ext cx="3455700" cy="20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295275" lvl="0" marL="4603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TCP CUBIC default in Linux, most popular TCP for popular Web servers</a:t>
            </a:r>
            <a:endParaRPr/>
          </a:p>
          <a:p>
            <a:pPr indent="0" lvl="0" marL="1301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43"/>
          <p:cNvSpPr txBox="1"/>
          <p:nvPr/>
        </p:nvSpPr>
        <p:spPr>
          <a:xfrm>
            <a:off x="785990" y="2146300"/>
            <a:ext cx="11164200" cy="20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0200" lvl="0" marL="4603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increase W as a function of the </a:t>
            </a:r>
            <a:r>
              <a:rPr b="0" i="1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cube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of the distance between current time  and K</a:t>
            </a:r>
            <a:endParaRPr/>
          </a:p>
          <a:p>
            <a:pPr indent="0" lvl="0" marL="1301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43"/>
          <p:cNvSpPr txBox="1"/>
          <p:nvPr>
            <p:ph idx="12" type="sldNum"/>
          </p:nvPr>
        </p:nvSpPr>
        <p:spPr>
          <a:xfrm>
            <a:off x="9219616" y="644308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44"/>
          <p:cNvSpPr txBox="1"/>
          <p:nvPr>
            <p:ph type="title"/>
          </p:nvPr>
        </p:nvSpPr>
        <p:spPr>
          <a:xfrm>
            <a:off x="838200" y="451821"/>
            <a:ext cx="10515600" cy="894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/>
              <a:t>TCP Evolution Timeline</a:t>
            </a:r>
            <a:endParaRPr sz="4800"/>
          </a:p>
        </p:txBody>
      </p:sp>
      <p:sp>
        <p:nvSpPr>
          <p:cNvPr id="818" name="Google Shape;818;p44"/>
          <p:cNvSpPr txBox="1"/>
          <p:nvPr>
            <p:ph idx="12" type="sldNum"/>
          </p:nvPr>
        </p:nvSpPr>
        <p:spPr>
          <a:xfrm>
            <a:off x="9219616" y="6443089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19" name="Google Shape;819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00" y="1575025"/>
            <a:ext cx="10444375" cy="466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5" name="Google Shape;825;p45"/>
          <p:cNvGrpSpPr/>
          <p:nvPr/>
        </p:nvGrpSpPr>
        <p:grpSpPr>
          <a:xfrm>
            <a:off x="7593682" y="3434128"/>
            <a:ext cx="1107084" cy="716094"/>
            <a:chOff x="7493876" y="2774731"/>
            <a:chExt cx="1490420" cy="890885"/>
          </a:xfrm>
        </p:grpSpPr>
        <p:sp>
          <p:nvSpPr>
            <p:cNvPr id="826" name="Google Shape;826;p45"/>
            <p:cNvSpPr/>
            <p:nvPr/>
          </p:nvSpPr>
          <p:spPr>
            <a:xfrm>
              <a:off x="7493876" y="3084399"/>
              <a:ext cx="1490420" cy="581217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27" name="Google Shape;827;p45"/>
            <p:cNvSpPr/>
            <p:nvPr/>
          </p:nvSpPr>
          <p:spPr>
            <a:xfrm>
              <a:off x="7494729" y="2774731"/>
              <a:ext cx="1480200" cy="57900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28" name="Google Shape;828;p45"/>
            <p:cNvGrpSpPr/>
            <p:nvPr/>
          </p:nvGrpSpPr>
          <p:grpSpPr>
            <a:xfrm>
              <a:off x="7713435" y="2848414"/>
              <a:ext cx="1043670" cy="423496"/>
              <a:chOff x="7786941" y="2884917"/>
              <a:chExt cx="899018" cy="352209"/>
            </a:xfrm>
          </p:grpSpPr>
          <p:sp>
            <p:nvSpPr>
              <p:cNvPr id="829" name="Google Shape;829;p45"/>
              <p:cNvSpPr/>
              <p:nvPr/>
            </p:nvSpPr>
            <p:spPr>
              <a:xfrm>
                <a:off x="7811770" y="2884917"/>
                <a:ext cx="852825" cy="196850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0" name="Google Shape;830;p45"/>
              <p:cNvSpPr/>
              <p:nvPr/>
            </p:nvSpPr>
            <p:spPr>
              <a:xfrm>
                <a:off x="8367548" y="3054383"/>
                <a:ext cx="318411" cy="16947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1" name="Google Shape;831;p45"/>
              <p:cNvSpPr/>
              <p:nvPr/>
            </p:nvSpPr>
            <p:spPr>
              <a:xfrm>
                <a:off x="7786941" y="3054383"/>
                <a:ext cx="312657" cy="167509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2" name="Google Shape;832;p45"/>
              <p:cNvSpPr/>
              <p:nvPr/>
            </p:nvSpPr>
            <p:spPr>
              <a:xfrm>
                <a:off x="7895013" y="2971083"/>
                <a:ext cx="679816" cy="26604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33" name="Google Shape;833;p45"/>
          <p:cNvGrpSpPr/>
          <p:nvPr/>
        </p:nvGrpSpPr>
        <p:grpSpPr>
          <a:xfrm>
            <a:off x="5720048" y="3438509"/>
            <a:ext cx="1107084" cy="716094"/>
            <a:chOff x="7493876" y="2774731"/>
            <a:chExt cx="1490420" cy="890885"/>
          </a:xfrm>
        </p:grpSpPr>
        <p:sp>
          <p:nvSpPr>
            <p:cNvPr id="834" name="Google Shape;834;p45"/>
            <p:cNvSpPr/>
            <p:nvPr/>
          </p:nvSpPr>
          <p:spPr>
            <a:xfrm>
              <a:off x="7493876" y="3084399"/>
              <a:ext cx="1490420" cy="581217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35" name="Google Shape;835;p45"/>
            <p:cNvSpPr/>
            <p:nvPr/>
          </p:nvSpPr>
          <p:spPr>
            <a:xfrm>
              <a:off x="7494729" y="2774731"/>
              <a:ext cx="1480200" cy="57900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36" name="Google Shape;836;p45"/>
            <p:cNvGrpSpPr/>
            <p:nvPr/>
          </p:nvGrpSpPr>
          <p:grpSpPr>
            <a:xfrm>
              <a:off x="7713435" y="2848414"/>
              <a:ext cx="1043670" cy="423496"/>
              <a:chOff x="7786941" y="2884917"/>
              <a:chExt cx="899018" cy="352209"/>
            </a:xfrm>
          </p:grpSpPr>
          <p:sp>
            <p:nvSpPr>
              <p:cNvPr id="837" name="Google Shape;837;p45"/>
              <p:cNvSpPr/>
              <p:nvPr/>
            </p:nvSpPr>
            <p:spPr>
              <a:xfrm>
                <a:off x="7811770" y="2884917"/>
                <a:ext cx="852825" cy="196850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8" name="Google Shape;838;p45"/>
              <p:cNvSpPr/>
              <p:nvPr/>
            </p:nvSpPr>
            <p:spPr>
              <a:xfrm>
                <a:off x="8367548" y="3054383"/>
                <a:ext cx="318411" cy="16947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9" name="Google Shape;839;p45"/>
              <p:cNvSpPr/>
              <p:nvPr/>
            </p:nvSpPr>
            <p:spPr>
              <a:xfrm>
                <a:off x="7786941" y="3054383"/>
                <a:ext cx="312657" cy="167509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0" name="Google Shape;840;p45"/>
              <p:cNvSpPr/>
              <p:nvPr/>
            </p:nvSpPr>
            <p:spPr>
              <a:xfrm>
                <a:off x="7895013" y="2971083"/>
                <a:ext cx="679816" cy="26604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41" name="Google Shape;841;p45"/>
          <p:cNvSpPr txBox="1"/>
          <p:nvPr>
            <p:ph type="title"/>
          </p:nvPr>
        </p:nvSpPr>
        <p:spPr>
          <a:xfrm>
            <a:off x="798719" y="271755"/>
            <a:ext cx="11393400" cy="8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TCP fairness</a:t>
            </a:r>
            <a:endParaRPr b="0" sz="4400"/>
          </a:p>
        </p:txBody>
      </p:sp>
      <p:sp>
        <p:nvSpPr>
          <p:cNvPr id="842" name="Google Shape;842;p45"/>
          <p:cNvSpPr txBox="1"/>
          <p:nvPr/>
        </p:nvSpPr>
        <p:spPr>
          <a:xfrm>
            <a:off x="876300" y="1271325"/>
            <a:ext cx="10174200" cy="10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Fairness goal: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if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K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TCP sessions share same bottleneck link of bandwidth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each should have average rate of 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R/K</a:t>
            </a:r>
            <a:endParaRPr/>
          </a:p>
        </p:txBody>
      </p:sp>
      <p:cxnSp>
        <p:nvCxnSpPr>
          <p:cNvPr id="843" name="Google Shape;843;p45"/>
          <p:cNvCxnSpPr/>
          <p:nvPr/>
        </p:nvCxnSpPr>
        <p:spPr>
          <a:xfrm flipH="1" rot="10800000">
            <a:off x="6816123" y="3752768"/>
            <a:ext cx="819300" cy="9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4" name="Google Shape;844;p45"/>
          <p:cNvSpPr/>
          <p:nvPr/>
        </p:nvSpPr>
        <p:spPr>
          <a:xfrm>
            <a:off x="6986588" y="3552825"/>
            <a:ext cx="147600" cy="200100"/>
          </a:xfrm>
          <a:prstGeom prst="rect">
            <a:avLst/>
          </a:prstGeom>
          <a:solidFill>
            <a:srgbClr val="009900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45" name="Google Shape;845;p45"/>
          <p:cNvSpPr/>
          <p:nvPr/>
        </p:nvSpPr>
        <p:spPr>
          <a:xfrm>
            <a:off x="6296025" y="3614738"/>
            <a:ext cx="147600" cy="200100"/>
          </a:xfrm>
          <a:prstGeom prst="rect">
            <a:avLst/>
          </a:prstGeom>
          <a:solidFill>
            <a:srgbClr val="009900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46" name="Google Shape;846;p45"/>
          <p:cNvSpPr/>
          <p:nvPr/>
        </p:nvSpPr>
        <p:spPr>
          <a:xfrm>
            <a:off x="6586538" y="3552825"/>
            <a:ext cx="147600" cy="200100"/>
          </a:xfrm>
          <a:prstGeom prst="rect">
            <a:avLst/>
          </a:prstGeom>
          <a:solidFill>
            <a:srgbClr val="009900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47" name="Google Shape;847;p45"/>
          <p:cNvSpPr txBox="1"/>
          <p:nvPr/>
        </p:nvSpPr>
        <p:spPr>
          <a:xfrm>
            <a:off x="2370566" y="2468215"/>
            <a:ext cx="233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TCP connection 1</a:t>
            </a:r>
            <a:endParaRPr/>
          </a:p>
        </p:txBody>
      </p:sp>
      <p:sp>
        <p:nvSpPr>
          <p:cNvPr id="848" name="Google Shape;848;p45"/>
          <p:cNvSpPr txBox="1"/>
          <p:nvPr/>
        </p:nvSpPr>
        <p:spPr>
          <a:xfrm>
            <a:off x="5510979" y="4275418"/>
            <a:ext cx="1518900" cy="10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bottleneck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router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capacity R</a:t>
            </a:r>
            <a:endParaRPr/>
          </a:p>
        </p:txBody>
      </p:sp>
      <p:sp>
        <p:nvSpPr>
          <p:cNvPr id="849" name="Google Shape;849;p45"/>
          <p:cNvSpPr/>
          <p:nvPr/>
        </p:nvSpPr>
        <p:spPr>
          <a:xfrm>
            <a:off x="4765675" y="2967952"/>
            <a:ext cx="4227325" cy="719138"/>
          </a:xfrm>
          <a:custGeom>
            <a:rect b="b" l="l" r="r" t="t"/>
            <a:pathLst>
              <a:path extrusionOk="0" h="453" w="2412">
                <a:moveTo>
                  <a:pt x="0" y="0"/>
                </a:moveTo>
                <a:cubicBezTo>
                  <a:pt x="93" y="65"/>
                  <a:pt x="156" y="318"/>
                  <a:pt x="558" y="390"/>
                </a:cubicBezTo>
                <a:cubicBezTo>
                  <a:pt x="959" y="453"/>
                  <a:pt x="2026" y="423"/>
                  <a:pt x="2412" y="432"/>
                </a:cubicBezTo>
              </a:path>
            </a:pathLst>
          </a:custGeom>
          <a:noFill/>
          <a:ln cap="flat" cmpd="sng" w="38100">
            <a:solidFill>
              <a:srgbClr val="00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50" name="Google Shape;850;p45"/>
          <p:cNvSpPr/>
          <p:nvPr/>
        </p:nvSpPr>
        <p:spPr>
          <a:xfrm>
            <a:off x="6457950" y="3614738"/>
            <a:ext cx="147600" cy="200100"/>
          </a:xfrm>
          <a:prstGeom prst="rect">
            <a:avLst/>
          </a:prstGeom>
          <a:solidFill>
            <a:srgbClr val="3333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51" name="Google Shape;851;p45"/>
          <p:cNvSpPr/>
          <p:nvPr/>
        </p:nvSpPr>
        <p:spPr>
          <a:xfrm>
            <a:off x="4724400" y="3763963"/>
            <a:ext cx="4268601" cy="719138"/>
          </a:xfrm>
          <a:custGeom>
            <a:rect b="b" l="l" r="r" t="t"/>
            <a:pathLst>
              <a:path extrusionOk="0" h="453" w="2412">
                <a:moveTo>
                  <a:pt x="0" y="453"/>
                </a:moveTo>
                <a:cubicBezTo>
                  <a:pt x="93" y="388"/>
                  <a:pt x="156" y="134"/>
                  <a:pt x="558" y="63"/>
                </a:cubicBezTo>
                <a:cubicBezTo>
                  <a:pt x="959" y="0"/>
                  <a:pt x="2026" y="36"/>
                  <a:pt x="2412" y="29"/>
                </a:cubicBezTo>
              </a:path>
            </a:pathLst>
          </a:custGeom>
          <a:noFill/>
          <a:ln cap="flat" cmpd="sng" w="38100">
            <a:solidFill>
              <a:srgbClr val="3333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52" name="Google Shape;852;p45"/>
          <p:cNvSpPr txBox="1"/>
          <p:nvPr/>
        </p:nvSpPr>
        <p:spPr>
          <a:xfrm>
            <a:off x="2354381" y="4692948"/>
            <a:ext cx="233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TCP connection 2</a:t>
            </a:r>
            <a:endParaRPr/>
          </a:p>
        </p:txBody>
      </p:sp>
      <p:grpSp>
        <p:nvGrpSpPr>
          <p:cNvPr id="853" name="Google Shape;853;p45"/>
          <p:cNvGrpSpPr/>
          <p:nvPr/>
        </p:nvGrpSpPr>
        <p:grpSpPr>
          <a:xfrm>
            <a:off x="3975100" y="2860675"/>
            <a:ext cx="766763" cy="704877"/>
            <a:chOff x="-44" y="1473"/>
            <a:chExt cx="981" cy="1105"/>
          </a:xfrm>
        </p:grpSpPr>
        <p:pic>
          <p:nvPicPr>
            <p:cNvPr descr="desktop_computer_stylized_medium" id="854" name="Google Shape;854;p4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5" name="Google Shape;855;p45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6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856" name="Google Shape;856;p45"/>
          <p:cNvGrpSpPr/>
          <p:nvPr/>
        </p:nvGrpSpPr>
        <p:grpSpPr>
          <a:xfrm>
            <a:off x="3978275" y="4106863"/>
            <a:ext cx="766763" cy="704877"/>
            <a:chOff x="-44" y="1473"/>
            <a:chExt cx="981" cy="1105"/>
          </a:xfrm>
        </p:grpSpPr>
        <p:pic>
          <p:nvPicPr>
            <p:cNvPr descr="desktop_computer_stylized_medium" id="857" name="Google Shape;857;p4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8" name="Google Shape;858;p45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6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859" name="Google Shape;859;p45"/>
          <p:cNvSpPr txBox="1"/>
          <p:nvPr>
            <p:ph idx="12" type="sldNum"/>
          </p:nvPr>
        </p:nvSpPr>
        <p:spPr>
          <a:xfrm>
            <a:off x="9219616" y="644308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46"/>
          <p:cNvSpPr txBox="1"/>
          <p:nvPr>
            <p:ph type="title"/>
          </p:nvPr>
        </p:nvSpPr>
        <p:spPr>
          <a:xfrm>
            <a:off x="798690" y="234526"/>
            <a:ext cx="11393400" cy="8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Q: is TCP Fair?</a:t>
            </a:r>
            <a:endParaRPr b="0" sz="4400"/>
          </a:p>
        </p:txBody>
      </p:sp>
      <p:sp>
        <p:nvSpPr>
          <p:cNvPr id="866" name="Google Shape;866;p46"/>
          <p:cNvSpPr txBox="1"/>
          <p:nvPr/>
        </p:nvSpPr>
        <p:spPr>
          <a:xfrm>
            <a:off x="1028116" y="1209675"/>
            <a:ext cx="106431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Example: two competing TCP sessions:</a:t>
            </a:r>
            <a:endParaRPr/>
          </a:p>
          <a:p>
            <a:pPr indent="-215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additive increase gives slope of 1, as throughout increases</a:t>
            </a:r>
            <a:endParaRPr/>
          </a:p>
          <a:p>
            <a:pPr indent="-215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multiplicative decrease decreases throughput proportionally </a:t>
            </a:r>
            <a:endParaRPr/>
          </a:p>
        </p:txBody>
      </p:sp>
      <p:cxnSp>
        <p:nvCxnSpPr>
          <p:cNvPr id="867" name="Google Shape;867;p46"/>
          <p:cNvCxnSpPr/>
          <p:nvPr/>
        </p:nvCxnSpPr>
        <p:spPr>
          <a:xfrm>
            <a:off x="1701800" y="6091237"/>
            <a:ext cx="36387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8" name="Google Shape;868;p46"/>
          <p:cNvCxnSpPr/>
          <p:nvPr/>
        </p:nvCxnSpPr>
        <p:spPr>
          <a:xfrm rot="10800000">
            <a:off x="1701800" y="2995612"/>
            <a:ext cx="0" cy="30861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9" name="Google Shape;869;p46"/>
          <p:cNvCxnSpPr/>
          <p:nvPr/>
        </p:nvCxnSpPr>
        <p:spPr>
          <a:xfrm rot="7861838">
            <a:off x="1095269" y="4730880"/>
            <a:ext cx="3560905" cy="14252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70" name="Google Shape;870;p46"/>
          <p:cNvCxnSpPr/>
          <p:nvPr/>
        </p:nvCxnSpPr>
        <p:spPr>
          <a:xfrm>
            <a:off x="1682750" y="3243262"/>
            <a:ext cx="2819400" cy="2809800"/>
          </a:xfrm>
          <a:prstGeom prst="straightConnector1">
            <a:avLst/>
          </a:prstGeom>
          <a:noFill/>
          <a:ln cap="flat" cmpd="sng" w="38100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1" name="Google Shape;871;p46"/>
          <p:cNvSpPr txBox="1"/>
          <p:nvPr/>
        </p:nvSpPr>
        <p:spPr>
          <a:xfrm>
            <a:off x="1331913" y="3071812"/>
            <a:ext cx="403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2" name="Google Shape;872;p46"/>
          <p:cNvSpPr txBox="1"/>
          <p:nvPr/>
        </p:nvSpPr>
        <p:spPr>
          <a:xfrm>
            <a:off x="4284663" y="6119812"/>
            <a:ext cx="403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p46"/>
          <p:cNvSpPr txBox="1"/>
          <p:nvPr/>
        </p:nvSpPr>
        <p:spPr>
          <a:xfrm>
            <a:off x="2560638" y="3062287"/>
            <a:ext cx="3546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equal bandwidth share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4" name="Google Shape;874;p46"/>
          <p:cNvSpPr txBox="1"/>
          <p:nvPr/>
        </p:nvSpPr>
        <p:spPr>
          <a:xfrm>
            <a:off x="1141413" y="6100762"/>
            <a:ext cx="3546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Connection 1 throughput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5" name="Google Shape;875;p46"/>
          <p:cNvSpPr txBox="1"/>
          <p:nvPr/>
        </p:nvSpPr>
        <p:spPr>
          <a:xfrm rot="-5396510">
            <a:off x="-272545" y="4638082"/>
            <a:ext cx="3546602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Connection 2 throughput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76" name="Google Shape;876;p46"/>
          <p:cNvCxnSpPr/>
          <p:nvPr/>
        </p:nvCxnSpPr>
        <p:spPr>
          <a:xfrm rot="7861931">
            <a:off x="2805186" y="5348346"/>
            <a:ext cx="1293712" cy="4686"/>
          </a:xfrm>
          <a:prstGeom prst="straightConnector1">
            <a:avLst/>
          </a:prstGeom>
          <a:noFill/>
          <a:ln cap="flat" cmpd="sng" w="19050">
            <a:solidFill>
              <a:srgbClr val="C00000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877" name="Google Shape;877;p46"/>
          <p:cNvSpPr txBox="1"/>
          <p:nvPr/>
        </p:nvSpPr>
        <p:spPr>
          <a:xfrm>
            <a:off x="3475038" y="4919662"/>
            <a:ext cx="4537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congestion avoidance: additive increase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78" name="Google Shape;878;p46"/>
          <p:cNvCxnSpPr/>
          <p:nvPr/>
        </p:nvCxnSpPr>
        <p:spPr>
          <a:xfrm flipH="1">
            <a:off x="2692475" y="4881562"/>
            <a:ext cx="1171500" cy="631800"/>
          </a:xfrm>
          <a:prstGeom prst="straightConnector1">
            <a:avLst/>
          </a:prstGeom>
          <a:noFill/>
          <a:ln cap="flat" cmpd="sng" w="19050">
            <a:solidFill>
              <a:srgbClr val="C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79" name="Google Shape;879;p46"/>
          <p:cNvSpPr txBox="1"/>
          <p:nvPr/>
        </p:nvSpPr>
        <p:spPr>
          <a:xfrm>
            <a:off x="4006850" y="4675187"/>
            <a:ext cx="3460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loss: decrease window by factor of 2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80" name="Google Shape;880;p46"/>
          <p:cNvCxnSpPr/>
          <p:nvPr/>
        </p:nvCxnSpPr>
        <p:spPr>
          <a:xfrm rot="7861999">
            <a:off x="2484453" y="5021240"/>
            <a:ext cx="1303279" cy="23819"/>
          </a:xfrm>
          <a:prstGeom prst="straightConnector1">
            <a:avLst/>
          </a:prstGeom>
          <a:noFill/>
          <a:ln cap="flat" cmpd="sng" w="19050">
            <a:solidFill>
              <a:srgbClr val="C00000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881" name="Google Shape;881;p46"/>
          <p:cNvSpPr txBox="1"/>
          <p:nvPr/>
        </p:nvSpPr>
        <p:spPr>
          <a:xfrm>
            <a:off x="3189288" y="4433887"/>
            <a:ext cx="4537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congestion avoidance: additive increase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82" name="Google Shape;882;p46"/>
          <p:cNvCxnSpPr/>
          <p:nvPr/>
        </p:nvCxnSpPr>
        <p:spPr>
          <a:xfrm flipH="1">
            <a:off x="2549600" y="4595812"/>
            <a:ext cx="981000" cy="765300"/>
          </a:xfrm>
          <a:prstGeom prst="straightConnector1">
            <a:avLst/>
          </a:prstGeom>
          <a:noFill/>
          <a:ln cap="flat" cmpd="sng" w="19050">
            <a:solidFill>
              <a:srgbClr val="C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83" name="Google Shape;883;p46"/>
          <p:cNvSpPr txBox="1"/>
          <p:nvPr/>
        </p:nvSpPr>
        <p:spPr>
          <a:xfrm>
            <a:off x="3606800" y="4227512"/>
            <a:ext cx="3460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loss: decrease window by factor of 2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84" name="Google Shape;884;p46"/>
          <p:cNvCxnSpPr/>
          <p:nvPr/>
        </p:nvCxnSpPr>
        <p:spPr>
          <a:xfrm rot="7862132">
            <a:off x="2340778" y="4874422"/>
            <a:ext cx="1279460" cy="14252"/>
          </a:xfrm>
          <a:prstGeom prst="straightConnector1">
            <a:avLst/>
          </a:prstGeom>
          <a:noFill/>
          <a:ln cap="flat" cmpd="sng" w="19050">
            <a:solidFill>
              <a:srgbClr val="C000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885" name="Google Shape;885;p46"/>
          <p:cNvCxnSpPr/>
          <p:nvPr/>
        </p:nvCxnSpPr>
        <p:spPr>
          <a:xfrm flipH="1">
            <a:off x="2482975" y="4414837"/>
            <a:ext cx="911100" cy="888900"/>
          </a:xfrm>
          <a:prstGeom prst="straightConnector1">
            <a:avLst/>
          </a:prstGeom>
          <a:noFill/>
          <a:ln cap="flat" cmpd="sng" w="19050">
            <a:solidFill>
              <a:srgbClr val="C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6" name="Google Shape;886;p46"/>
          <p:cNvCxnSpPr/>
          <p:nvPr/>
        </p:nvCxnSpPr>
        <p:spPr>
          <a:xfrm rot="7862132">
            <a:off x="2261403" y="4810922"/>
            <a:ext cx="1279460" cy="14252"/>
          </a:xfrm>
          <a:prstGeom prst="straightConnector1">
            <a:avLst/>
          </a:prstGeom>
          <a:noFill/>
          <a:ln cap="flat" cmpd="sng" w="19050">
            <a:solidFill>
              <a:srgbClr val="C00000"/>
            </a:solidFill>
            <a:prstDash val="solid"/>
            <a:round/>
            <a:headEnd len="med" w="med" type="triangle"/>
            <a:tailEnd len="med" w="med" type="none"/>
          </a:ln>
        </p:spPr>
      </p:cxnSp>
      <p:grpSp>
        <p:nvGrpSpPr>
          <p:cNvPr id="887" name="Google Shape;887;p46"/>
          <p:cNvGrpSpPr/>
          <p:nvPr/>
        </p:nvGrpSpPr>
        <p:grpSpPr>
          <a:xfrm>
            <a:off x="7983110" y="3205277"/>
            <a:ext cx="3864000" cy="2713510"/>
            <a:chOff x="7983110" y="3205277"/>
            <a:chExt cx="3864000" cy="2713510"/>
          </a:xfrm>
        </p:grpSpPr>
        <p:sp>
          <p:nvSpPr>
            <p:cNvPr id="888" name="Google Shape;888;p46"/>
            <p:cNvSpPr txBox="1"/>
            <p:nvPr/>
          </p:nvSpPr>
          <p:spPr>
            <a:xfrm>
              <a:off x="8130707" y="3671674"/>
              <a:ext cx="3703200" cy="219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2800"/>
                <a:buFont typeface="Calibri"/>
                <a:buNone/>
              </a:pPr>
              <a:r>
                <a:rPr b="0" i="1" lang="en-US" sz="2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A: </a:t>
              </a: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Yes, under idealized assumptions:</a:t>
              </a:r>
              <a:endParaRPr/>
            </a:p>
            <a:p>
              <a:pPr indent="-228600" lvl="0" marL="3429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Pts val="2400"/>
                <a:buFont typeface="Noto Sans Symbols"/>
                <a:buChar char="▪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same RTT</a:t>
              </a:r>
              <a:endParaRPr/>
            </a:p>
            <a:p>
              <a:pPr indent="-228600" lvl="0" marL="3429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Pts val="2400"/>
                <a:buFont typeface="Noto Sans Symbols"/>
                <a:buChar char="▪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fixed number of sessions only in congestion avoidance </a:t>
              </a:r>
              <a:endParaRPr/>
            </a:p>
          </p:txBody>
        </p:sp>
        <p:sp>
          <p:nvSpPr>
            <p:cNvPr id="889" name="Google Shape;889;p46"/>
            <p:cNvSpPr/>
            <p:nvPr/>
          </p:nvSpPr>
          <p:spPr>
            <a:xfrm>
              <a:off x="7983110" y="3468687"/>
              <a:ext cx="3864000" cy="2450100"/>
            </a:xfrm>
            <a:prstGeom prst="rect">
              <a:avLst/>
            </a:prstGeom>
            <a:noFill/>
            <a:ln cap="flat" cmpd="sng" w="222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0" name="Google Shape;890;p46"/>
            <p:cNvSpPr/>
            <p:nvPr/>
          </p:nvSpPr>
          <p:spPr>
            <a:xfrm>
              <a:off x="8338252" y="3328994"/>
              <a:ext cx="1762800" cy="255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1" name="Google Shape;891;p46"/>
            <p:cNvSpPr txBox="1"/>
            <p:nvPr/>
          </p:nvSpPr>
          <p:spPr>
            <a:xfrm>
              <a:off x="8332482" y="3205277"/>
              <a:ext cx="17685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2800"/>
                <a:buFont typeface="Calibri"/>
                <a:buNone/>
              </a:pPr>
              <a:r>
                <a:rPr b="0" i="1" lang="en-US" sz="2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Is</a:t>
              </a:r>
              <a:r>
                <a:rPr b="0" i="0" lang="en-US" sz="2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 TCP fair?</a:t>
              </a:r>
              <a:endParaRPr/>
            </a:p>
          </p:txBody>
        </p:sp>
      </p:grpSp>
      <p:sp>
        <p:nvSpPr>
          <p:cNvPr id="892" name="Google Shape;892;p46"/>
          <p:cNvSpPr/>
          <p:nvPr/>
        </p:nvSpPr>
        <p:spPr>
          <a:xfrm>
            <a:off x="2998274" y="5695379"/>
            <a:ext cx="166200" cy="1662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46"/>
          <p:cNvSpPr txBox="1"/>
          <p:nvPr>
            <p:ph idx="12" type="sldNum"/>
          </p:nvPr>
        </p:nvSpPr>
        <p:spPr>
          <a:xfrm>
            <a:off x="9219616" y="644308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47"/>
          <p:cNvSpPr txBox="1"/>
          <p:nvPr>
            <p:ph type="title"/>
          </p:nvPr>
        </p:nvSpPr>
        <p:spPr>
          <a:xfrm>
            <a:off x="780345" y="261078"/>
            <a:ext cx="10834500" cy="8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Fairness: must all network apps be “fair”?</a:t>
            </a:r>
            <a:endParaRPr b="0" sz="4400"/>
          </a:p>
        </p:txBody>
      </p:sp>
      <p:sp>
        <p:nvSpPr>
          <p:cNvPr id="900" name="Google Shape;900;p47"/>
          <p:cNvSpPr txBox="1"/>
          <p:nvPr/>
        </p:nvSpPr>
        <p:spPr>
          <a:xfrm>
            <a:off x="749300" y="1219200"/>
            <a:ext cx="52071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Fairness and UDP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multimedia apps often do not use TCP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 not want rate throttled by congestion control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instead use UDP: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send audio/video at constant rate, tolerate packet loss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there is no “Internet police” policing use of congestion control</a:t>
            </a:r>
            <a:endParaRPr/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p47"/>
          <p:cNvSpPr txBox="1"/>
          <p:nvPr/>
        </p:nvSpPr>
        <p:spPr>
          <a:xfrm>
            <a:off x="6210301" y="1193800"/>
            <a:ext cx="5575200" cy="50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Fairness, parallel TCP connections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application can open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multiple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parallel connections between two hosts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web browsers do this , e.g., link of rate R with 9 existing connections: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new app asks for 1 TCP, gets rate R/10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new app asks for 11 TCPs, gets R/2 </a:t>
            </a:r>
            <a:endParaRPr/>
          </a:p>
          <a:p>
            <a:pPr indent="-698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47"/>
          <p:cNvSpPr txBox="1"/>
          <p:nvPr>
            <p:ph idx="12" type="sldNum"/>
          </p:nvPr>
        </p:nvSpPr>
        <p:spPr>
          <a:xfrm>
            <a:off x="9219616" y="644308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