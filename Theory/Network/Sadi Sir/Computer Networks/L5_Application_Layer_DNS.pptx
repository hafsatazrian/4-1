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Gill Sans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04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gwwkNKnrQd/nLpGytljHSVW0CB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04" orient="horz"/>
        <p:guide pos="57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GillSans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Gill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Version History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8.1. Updates throughout, including a lot more animations.  These are the ppt files used to make Chapter 2 online lectures in Sept. 2020.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8.0  (April 2020)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reformatted for 16:9 aspect ratio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updated to 8</a:t>
            </a:r>
            <a:r>
              <a:rPr baseline="30000" lang="en-US"/>
              <a:t>th</a:t>
            </a:r>
            <a:r>
              <a:rPr lang="en-US"/>
              <a:t> edition material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Use of Calibri font, rather that Gill Sans MT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Add LOTS more animation throughout</a:t>
            </a:r>
            <a:endParaRPr/>
          </a:p>
        </p:txBody>
      </p:sp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2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"/>
          <p:cNvSpPr/>
          <p:nvPr/>
        </p:nvSpPr>
        <p:spPr>
          <a:xfrm>
            <a:off x="0" y="2384201"/>
            <a:ext cx="12192000" cy="20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Chapter 2</a:t>
            </a:r>
            <a:br>
              <a:rPr b="1" i="0" lang="en-US" sz="6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Application Layer</a:t>
            </a:r>
            <a:endParaRPr b="1" i="0" sz="54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DD7E6B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endParaRPr b="1" sz="5400">
              <a:solidFill>
                <a:srgbClr val="DD7E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Application layer: overview</a:t>
            </a:r>
            <a:endParaRPr/>
          </a:p>
        </p:txBody>
      </p:sp>
      <p:sp>
        <p:nvSpPr>
          <p:cNvPr id="42" name="Google Shape;42;p2"/>
          <p:cNvSpPr txBox="1"/>
          <p:nvPr/>
        </p:nvSpPr>
        <p:spPr>
          <a:xfrm>
            <a:off x="809241" y="1870563"/>
            <a:ext cx="1122878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1638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Web and HTTP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Web Cache and HTTP/2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Domain Name System DNS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DNS: Domain Name System</a:t>
            </a:r>
            <a:endParaRPr sz="4400"/>
          </a:p>
        </p:txBody>
      </p:sp>
      <p:sp>
        <p:nvSpPr>
          <p:cNvPr id="49" name="Google Shape;49;p3"/>
          <p:cNvSpPr txBox="1"/>
          <p:nvPr/>
        </p:nvSpPr>
        <p:spPr>
          <a:xfrm>
            <a:off x="753721" y="1340962"/>
            <a:ext cx="490197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people: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many identifiers: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SSN, name, passport #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Internet hosts, routers: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 address (32 bit) - used for addressing datagrams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“name”, e.g., cs.umass.edu - used by humans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how to map between IP address and name, and vice versa ?</a:t>
            </a:r>
            <a:endParaRPr/>
          </a:p>
        </p:txBody>
      </p:sp>
      <p:sp>
        <p:nvSpPr>
          <p:cNvPr id="50" name="Google Shape;50;p3"/>
          <p:cNvSpPr txBox="1"/>
          <p:nvPr/>
        </p:nvSpPr>
        <p:spPr>
          <a:xfrm>
            <a:off x="5592033" y="1281002"/>
            <a:ext cx="6088112" cy="5006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Domain Name System (DNS):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distributed database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implemented in hierarchy of many </a:t>
            </a: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name servers</a:t>
            </a:r>
            <a:endParaRPr b="0" i="0" sz="28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application-layer protocol: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hosts, DNS servers communicate to </a:t>
            </a: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resolve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names (address/name translation)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core Internet function,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implemented as application-layer protocol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complexity at network’s “edge”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DNS: services, structure</a:t>
            </a:r>
            <a:endParaRPr sz="4400"/>
          </a:p>
        </p:txBody>
      </p:sp>
      <p:sp>
        <p:nvSpPr>
          <p:cNvPr id="58" name="Google Shape;58;p4"/>
          <p:cNvSpPr txBox="1"/>
          <p:nvPr/>
        </p:nvSpPr>
        <p:spPr>
          <a:xfrm>
            <a:off x="6618515" y="1271135"/>
            <a:ext cx="4978400" cy="2263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 Why not centralize DNS?</a:t>
            </a:r>
            <a:endParaRPr/>
          </a:p>
          <a:p>
            <a:pPr indent="-233362" lvl="0" marL="58261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 point of failure</a:t>
            </a:r>
            <a:endParaRPr/>
          </a:p>
          <a:p>
            <a:pPr indent="-233362" lvl="0" marL="58261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traffic volume</a:t>
            </a:r>
            <a:endParaRPr/>
          </a:p>
          <a:p>
            <a:pPr indent="-233362" lvl="0" marL="58261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distant centralized database</a:t>
            </a:r>
            <a:endParaRPr/>
          </a:p>
          <a:p>
            <a:pPr indent="-233362" lvl="0" marL="58261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maintenance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31837" y="1300163"/>
            <a:ext cx="580866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DNS services: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hostname-to-IP-address translation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aliasing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canonical, alias names</a:t>
            </a:r>
            <a:endParaRPr/>
          </a:p>
          <a:p>
            <a:pPr indent="-287338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mail server aliasing</a:t>
            </a:r>
            <a:endParaRPr/>
          </a:p>
          <a:p>
            <a:pPr indent="-287338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load distribution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replicated Web servers: many IP addresses correspond to one name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6777862" y="3709428"/>
            <a:ext cx="4956937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1788" lvl="0" marL="346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doesn‘t scale!</a:t>
            </a:r>
            <a:endParaRPr/>
          </a:p>
          <a:p>
            <a:pPr indent="-292100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Comcast DNS servers alone: 600B DNS queries/day</a:t>
            </a:r>
            <a:endParaRPr/>
          </a:p>
          <a:p>
            <a:pPr indent="-292100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Akamai DNS servers alone: 2.2T DNS queries/day</a:t>
            </a:r>
            <a:endParaRPr/>
          </a:p>
        </p:txBody>
      </p:sp>
      <p:sp>
        <p:nvSpPr>
          <p:cNvPr id="61" name="Google Shape;61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 txBox="1"/>
          <p:nvPr>
            <p:ph type="title"/>
          </p:nvPr>
        </p:nvSpPr>
        <p:spPr>
          <a:xfrm>
            <a:off x="697091" y="30625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Thinking about the DNS</a:t>
            </a:r>
            <a:endParaRPr sz="4400"/>
          </a:p>
        </p:txBody>
      </p:sp>
      <p:sp>
        <p:nvSpPr>
          <p:cNvPr id="68" name="Google Shape;68;p5"/>
          <p:cNvSpPr txBox="1"/>
          <p:nvPr/>
        </p:nvSpPr>
        <p:spPr>
          <a:xfrm>
            <a:off x="731837" y="1300163"/>
            <a:ext cx="6338434" cy="1053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humongous distributed database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34950" lvl="0" marL="3508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~ billion records, each simple</a:t>
            </a:r>
            <a:endParaRPr/>
          </a:p>
        </p:txBody>
      </p:sp>
      <p:sp>
        <p:nvSpPr>
          <p:cNvPr id="69" name="Google Shape;69;p5"/>
          <p:cNvSpPr txBox="1"/>
          <p:nvPr/>
        </p:nvSpPr>
        <p:spPr>
          <a:xfrm>
            <a:off x="716718" y="2281087"/>
            <a:ext cx="5971949" cy="2307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handles many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trillions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of queries/day:</a:t>
            </a:r>
            <a:endParaRPr/>
          </a:p>
          <a:p>
            <a:pPr indent="-217488" lvl="0" marL="3508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more reads than writes</a:t>
            </a:r>
            <a:endParaRPr/>
          </a:p>
          <a:p>
            <a:pPr indent="-217488" lvl="0" marL="3508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performance matters: 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almost every Internet transaction interacts with DNS - msecs count!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0" name="Google Shape;70;p5"/>
          <p:cNvSpPr txBox="1"/>
          <p:nvPr/>
        </p:nvSpPr>
        <p:spPr>
          <a:xfrm>
            <a:off x="716717" y="4432300"/>
            <a:ext cx="7038749" cy="1358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organizationally, physically decentralized: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millions of different organizations responsible for their records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750584" y="5871634"/>
            <a:ext cx="7038749" cy="563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“bulletproof”: reliability, security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SEC Says That It's Not Easy Determining Whether Teva Whistleblowers Are  Deserving Of A Bounty - FCPA Professor" id="72" name="Google Shape;7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7866" y="4143022"/>
            <a:ext cx="2937933" cy="244827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DNS: a distributed, hierarchical </a:t>
            </a:r>
            <a:r>
              <a:rPr lang="en-US"/>
              <a:t>d</a:t>
            </a:r>
            <a:r>
              <a:rPr lang="en-US" sz="4400"/>
              <a:t>atabase</a:t>
            </a:r>
            <a:endParaRPr sz="4400"/>
          </a:p>
        </p:txBody>
      </p:sp>
      <p:sp>
        <p:nvSpPr>
          <p:cNvPr id="80" name="Google Shape;80;p6"/>
          <p:cNvSpPr txBox="1"/>
          <p:nvPr/>
        </p:nvSpPr>
        <p:spPr>
          <a:xfrm>
            <a:off x="478971" y="4398565"/>
            <a:ext cx="11713029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71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Client wants IP address for </a:t>
            </a: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www.amazon.com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; 1</a:t>
            </a:r>
            <a:r>
              <a:rPr b="0" baseline="3000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approximation: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queries root server to find .com DNS server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queries .com DNS server to get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amazon.com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 server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queries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amazon.com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 server to get  IP address for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www.amazon.com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" name="Google Shape;81;p6"/>
          <p:cNvGrpSpPr/>
          <p:nvPr/>
        </p:nvGrpSpPr>
        <p:grpSpPr>
          <a:xfrm>
            <a:off x="1321991" y="1815164"/>
            <a:ext cx="10791292" cy="1046691"/>
            <a:chOff x="1321991" y="1815164"/>
            <a:chExt cx="10791292" cy="1046691"/>
          </a:xfrm>
        </p:grpSpPr>
        <p:sp>
          <p:nvSpPr>
            <p:cNvPr id="82" name="Google Shape;82;p6"/>
            <p:cNvSpPr txBox="1"/>
            <p:nvPr/>
          </p:nvSpPr>
          <p:spPr>
            <a:xfrm>
              <a:off x="1321991" y="2431570"/>
              <a:ext cx="2057411" cy="368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.com DNS servers</a:t>
              </a:r>
              <a:endParaRPr/>
            </a:p>
          </p:txBody>
        </p:sp>
        <p:sp>
          <p:nvSpPr>
            <p:cNvPr id="83" name="Google Shape;83;p6"/>
            <p:cNvSpPr txBox="1"/>
            <p:nvPr/>
          </p:nvSpPr>
          <p:spPr>
            <a:xfrm>
              <a:off x="3969789" y="2432961"/>
              <a:ext cx="1954541" cy="368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.org DNS servers</a:t>
              </a:r>
              <a:endParaRPr/>
            </a:p>
          </p:txBody>
        </p:sp>
        <p:sp>
          <p:nvSpPr>
            <p:cNvPr id="84" name="Google Shape;84;p6"/>
            <p:cNvSpPr txBox="1"/>
            <p:nvPr/>
          </p:nvSpPr>
          <p:spPr>
            <a:xfrm>
              <a:off x="6546026" y="2432961"/>
              <a:ext cx="2005231" cy="368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.edu DNS servers</a:t>
              </a:r>
              <a:endParaRPr/>
            </a:p>
          </p:txBody>
        </p:sp>
        <p:cxnSp>
          <p:nvCxnSpPr>
            <p:cNvPr id="85" name="Google Shape;85;p6"/>
            <p:cNvCxnSpPr/>
            <p:nvPr/>
          </p:nvCxnSpPr>
          <p:spPr>
            <a:xfrm flipH="1">
              <a:off x="2538547" y="1831861"/>
              <a:ext cx="2075302" cy="601100"/>
            </a:xfrm>
            <a:prstGeom prst="straightConnector1">
              <a:avLst/>
            </a:prstGeom>
            <a:noFill/>
            <a:ln cap="flat" cmpd="sng" w="317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" name="Google Shape;86;p6"/>
            <p:cNvCxnSpPr/>
            <p:nvPr/>
          </p:nvCxnSpPr>
          <p:spPr>
            <a:xfrm>
              <a:off x="4901588" y="1815164"/>
              <a:ext cx="0" cy="616406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" name="Google Shape;87;p6"/>
            <p:cNvCxnSpPr/>
            <p:nvPr/>
          </p:nvCxnSpPr>
          <p:spPr>
            <a:xfrm>
              <a:off x="5257908" y="1831861"/>
              <a:ext cx="2146864" cy="60110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8" name="Google Shape;88;p6"/>
            <p:cNvSpPr txBox="1"/>
            <p:nvPr/>
          </p:nvSpPr>
          <p:spPr>
            <a:xfrm>
              <a:off x="4066204" y="1934852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89" name="Google Shape;89;p6"/>
            <p:cNvSpPr txBox="1"/>
            <p:nvPr/>
          </p:nvSpPr>
          <p:spPr>
            <a:xfrm>
              <a:off x="5225966" y="1923399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90" name="Google Shape;90;p6"/>
            <p:cNvSpPr txBox="1"/>
            <p:nvPr/>
          </p:nvSpPr>
          <p:spPr>
            <a:xfrm>
              <a:off x="9724296" y="2400190"/>
              <a:ext cx="238898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Top Level Domain</a:t>
              </a:r>
              <a:endParaRPr/>
            </a:p>
          </p:txBody>
        </p:sp>
      </p:grpSp>
      <p:grpSp>
        <p:nvGrpSpPr>
          <p:cNvPr id="91" name="Google Shape;91;p6"/>
          <p:cNvGrpSpPr/>
          <p:nvPr/>
        </p:nvGrpSpPr>
        <p:grpSpPr>
          <a:xfrm>
            <a:off x="3874373" y="1407648"/>
            <a:ext cx="7294880" cy="461665"/>
            <a:chOff x="3874373" y="1407648"/>
            <a:chExt cx="7294880" cy="461665"/>
          </a:xfrm>
        </p:grpSpPr>
        <p:sp>
          <p:nvSpPr>
            <p:cNvPr id="92" name="Google Shape;92;p6"/>
            <p:cNvSpPr txBox="1"/>
            <p:nvPr/>
          </p:nvSpPr>
          <p:spPr>
            <a:xfrm>
              <a:off x="3874373" y="1432519"/>
              <a:ext cx="2064866" cy="367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Root DNS Servers</a:t>
              </a:r>
              <a:endParaRPr/>
            </a:p>
          </p:txBody>
        </p:sp>
        <p:sp>
          <p:nvSpPr>
            <p:cNvPr id="93" name="Google Shape;93;p6"/>
            <p:cNvSpPr txBox="1"/>
            <p:nvPr/>
          </p:nvSpPr>
          <p:spPr>
            <a:xfrm>
              <a:off x="10397760" y="1407648"/>
              <a:ext cx="77149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Root</a:t>
              </a:r>
              <a:endParaRPr/>
            </a:p>
          </p:txBody>
        </p:sp>
      </p:grpSp>
      <p:grpSp>
        <p:nvGrpSpPr>
          <p:cNvPr id="94" name="Google Shape;94;p6"/>
          <p:cNvGrpSpPr/>
          <p:nvPr/>
        </p:nvGrpSpPr>
        <p:grpSpPr>
          <a:xfrm>
            <a:off x="877709" y="2766905"/>
            <a:ext cx="10877911" cy="1053317"/>
            <a:chOff x="877709" y="2766905"/>
            <a:chExt cx="10877911" cy="1053317"/>
          </a:xfrm>
        </p:grpSpPr>
        <p:sp>
          <p:nvSpPr>
            <p:cNvPr id="95" name="Google Shape;95;p6"/>
            <p:cNvSpPr txBox="1"/>
            <p:nvPr/>
          </p:nvSpPr>
          <p:spPr>
            <a:xfrm>
              <a:off x="6241887" y="3150942"/>
              <a:ext cx="1478951" cy="641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nyu.edu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sp>
          <p:nvSpPr>
            <p:cNvPr id="96" name="Google Shape;96;p6"/>
            <p:cNvSpPr txBox="1"/>
            <p:nvPr/>
          </p:nvSpPr>
          <p:spPr>
            <a:xfrm>
              <a:off x="7813272" y="3150942"/>
              <a:ext cx="1478951" cy="641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umass.edu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cxnSp>
          <p:nvCxnSpPr>
            <p:cNvPr id="97" name="Google Shape;97;p6"/>
            <p:cNvCxnSpPr/>
            <p:nvPr/>
          </p:nvCxnSpPr>
          <p:spPr>
            <a:xfrm flipH="1">
              <a:off x="6774130" y="2766905"/>
              <a:ext cx="559079" cy="420213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" name="Google Shape;98;p6"/>
            <p:cNvCxnSpPr/>
            <p:nvPr/>
          </p:nvCxnSpPr>
          <p:spPr>
            <a:xfrm>
              <a:off x="7762582" y="2766905"/>
              <a:ext cx="500935" cy="420213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9" name="Google Shape;99;p6"/>
            <p:cNvSpPr txBox="1"/>
            <p:nvPr/>
          </p:nvSpPr>
          <p:spPr>
            <a:xfrm>
              <a:off x="877709" y="3173205"/>
              <a:ext cx="1505787" cy="647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yahoo.com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sp>
          <p:nvSpPr>
            <p:cNvPr id="100" name="Google Shape;100;p6"/>
            <p:cNvSpPr txBox="1"/>
            <p:nvPr/>
          </p:nvSpPr>
          <p:spPr>
            <a:xfrm>
              <a:off x="2484875" y="3150942"/>
              <a:ext cx="1492369" cy="641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amazon.com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cxnSp>
          <p:nvCxnSpPr>
            <p:cNvPr id="101" name="Google Shape;101;p6"/>
            <p:cNvCxnSpPr/>
            <p:nvPr/>
          </p:nvCxnSpPr>
          <p:spPr>
            <a:xfrm flipH="1">
              <a:off x="1666383" y="2773863"/>
              <a:ext cx="369738" cy="413256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" name="Google Shape;102;p6"/>
            <p:cNvCxnSpPr/>
            <p:nvPr/>
          </p:nvCxnSpPr>
          <p:spPr>
            <a:xfrm>
              <a:off x="2538547" y="2773863"/>
              <a:ext cx="429373" cy="425779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3" name="Google Shape;103;p6"/>
            <p:cNvSpPr txBox="1"/>
            <p:nvPr/>
          </p:nvSpPr>
          <p:spPr>
            <a:xfrm>
              <a:off x="4312691" y="3132853"/>
              <a:ext cx="1480442" cy="641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pbs.org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cxnSp>
          <p:nvCxnSpPr>
            <p:cNvPr id="104" name="Google Shape;104;p6"/>
            <p:cNvCxnSpPr/>
            <p:nvPr/>
          </p:nvCxnSpPr>
          <p:spPr>
            <a:xfrm>
              <a:off x="4904570" y="2766905"/>
              <a:ext cx="0" cy="417431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5" name="Google Shape;105;p6"/>
            <p:cNvSpPr txBox="1"/>
            <p:nvPr/>
          </p:nvSpPr>
          <p:spPr>
            <a:xfrm>
              <a:off x="9919925" y="3273362"/>
              <a:ext cx="183569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Authoritative</a:t>
              </a:r>
              <a:endParaRPr/>
            </a:p>
          </p:txBody>
        </p:sp>
        <p:sp>
          <p:nvSpPr>
            <p:cNvPr id="106" name="Google Shape;106;p6"/>
            <p:cNvSpPr txBox="1"/>
            <p:nvPr/>
          </p:nvSpPr>
          <p:spPr>
            <a:xfrm>
              <a:off x="7292568" y="2785396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07" name="Google Shape;107;p6"/>
            <p:cNvSpPr txBox="1"/>
            <p:nvPr/>
          </p:nvSpPr>
          <p:spPr>
            <a:xfrm>
              <a:off x="2030793" y="2776330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08" name="Google Shape;108;p6"/>
            <p:cNvSpPr txBox="1"/>
            <p:nvPr/>
          </p:nvSpPr>
          <p:spPr>
            <a:xfrm>
              <a:off x="4390346" y="2768742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09" name="Google Shape;109;p6"/>
            <p:cNvSpPr txBox="1"/>
            <p:nvPr/>
          </p:nvSpPr>
          <p:spPr>
            <a:xfrm>
              <a:off x="4877758" y="2777057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110" name="Google Shape;110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6464" y="1529543"/>
            <a:ext cx="7122656" cy="2152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"/>
          <p:cNvSpPr/>
          <p:nvPr/>
        </p:nvSpPr>
        <p:spPr>
          <a:xfrm>
            <a:off x="6940647" y="1546167"/>
            <a:ext cx="2646699" cy="379307"/>
          </a:xfrm>
          <a:prstGeom prst="rect">
            <a:avLst/>
          </a:prstGeom>
          <a:solidFill>
            <a:srgbClr val="FBBFC7">
              <a:alpha val="4078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DNS: root </a:t>
            </a:r>
            <a:r>
              <a:rPr lang="en-US"/>
              <a:t>n</a:t>
            </a:r>
            <a:r>
              <a:rPr lang="en-US" sz="4400"/>
              <a:t>ame </a:t>
            </a:r>
            <a:r>
              <a:rPr lang="en-US"/>
              <a:t>s</a:t>
            </a:r>
            <a:r>
              <a:rPr lang="en-US" sz="4400"/>
              <a:t>ervers</a:t>
            </a:r>
            <a:endParaRPr sz="4400"/>
          </a:p>
        </p:txBody>
      </p:sp>
      <p:sp>
        <p:nvSpPr>
          <p:cNvPr id="119" name="Google Shape;119;p7"/>
          <p:cNvSpPr txBox="1"/>
          <p:nvPr/>
        </p:nvSpPr>
        <p:spPr>
          <a:xfrm>
            <a:off x="651717" y="1432390"/>
            <a:ext cx="5444283" cy="2455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8925" lvl="0" marL="403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official, contact-of-last-resort by name servers that can not resolve name</a:t>
            </a:r>
            <a:endParaRPr/>
          </a:p>
        </p:txBody>
      </p:sp>
      <p:sp>
        <p:nvSpPr>
          <p:cNvPr id="120" name="Google Shape;120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DNS: root </a:t>
            </a:r>
            <a:r>
              <a:rPr lang="en-US"/>
              <a:t>n</a:t>
            </a:r>
            <a:r>
              <a:rPr lang="en-US" sz="4400"/>
              <a:t>ame </a:t>
            </a:r>
            <a:r>
              <a:rPr lang="en-US"/>
              <a:t>s</a:t>
            </a:r>
            <a:r>
              <a:rPr lang="en-US" sz="4400"/>
              <a:t>ervers</a:t>
            </a:r>
            <a:endParaRPr sz="4400"/>
          </a:p>
        </p:txBody>
      </p:sp>
      <p:pic>
        <p:nvPicPr>
          <p:cNvPr id="127" name="Google Shape;12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0900" y="2856025"/>
            <a:ext cx="62611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8"/>
          <p:cNvSpPr txBox="1"/>
          <p:nvPr/>
        </p:nvSpPr>
        <p:spPr>
          <a:xfrm>
            <a:off x="651717" y="1432390"/>
            <a:ext cx="5444283" cy="2455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8925" lvl="0" marL="403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official, contact-of-last-resort by name servers that can not resolve name</a:t>
            </a:r>
            <a:endParaRPr/>
          </a:p>
          <a:p>
            <a:pPr indent="-288925" lvl="0" marL="4032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incredibly important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function</a:t>
            </a:r>
            <a:endParaRPr/>
          </a:p>
          <a:p>
            <a:pPr indent="-317500" lvl="1" marL="635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couldn’t function without it!</a:t>
            </a:r>
            <a:endParaRPr/>
          </a:p>
          <a:p>
            <a:pPr indent="-317500" lvl="1" marL="635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DNSSEC – provides security (authentication, message integrity)</a:t>
            </a:r>
            <a:endParaRPr/>
          </a:p>
          <a:p>
            <a:pPr indent="-288925" lvl="0" marL="4032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ICANN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(Internet Corporation for Assigned Names and Numbers)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manages root DNS domain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6423186" y="1752600"/>
            <a:ext cx="5142916" cy="1198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13 logical root name “servers” worldwide each “server” replicated many times (~200 servers in US)</a:t>
            </a:r>
            <a:endParaRPr b="0" i="0" sz="2000" u="none" cap="none" strike="noStrik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Top-Level Domain, and </a:t>
            </a:r>
            <a:r>
              <a:rPr lang="en-US"/>
              <a:t>a</a:t>
            </a:r>
            <a:r>
              <a:rPr lang="en-US" sz="4400"/>
              <a:t>uthoritative </a:t>
            </a:r>
            <a:r>
              <a:rPr lang="en-US"/>
              <a:t>s</a:t>
            </a:r>
            <a:r>
              <a:rPr lang="en-US" sz="4400"/>
              <a:t>ervers</a:t>
            </a:r>
            <a:endParaRPr sz="4400"/>
          </a:p>
        </p:txBody>
      </p:sp>
      <p:sp>
        <p:nvSpPr>
          <p:cNvPr id="137" name="Google Shape;137;p9"/>
          <p:cNvSpPr txBox="1"/>
          <p:nvPr/>
        </p:nvSpPr>
        <p:spPr>
          <a:xfrm>
            <a:off x="832558" y="1286218"/>
            <a:ext cx="10868375" cy="2032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Top-Level Domain (TLD) servers:</a:t>
            </a:r>
            <a:endParaRPr/>
          </a:p>
          <a:p>
            <a:pPr indent="-287338" lvl="1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responsible for .com, .org, .net, .edu, .aero, .jobs, .museums, and all top-level country domains, e.g.: .cn, .uk, .fr, .ca, .jp</a:t>
            </a:r>
            <a:endParaRPr/>
          </a:p>
          <a:p>
            <a:pPr indent="-287338" lvl="1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 Solutions: authoritative registry for .com, .net TLD</a:t>
            </a:r>
            <a:endParaRPr/>
          </a:p>
          <a:p>
            <a:pPr indent="-287338" lvl="1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Educause: .edu TLD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 txBox="1"/>
          <p:nvPr/>
        </p:nvSpPr>
        <p:spPr>
          <a:xfrm>
            <a:off x="714024" y="4503552"/>
            <a:ext cx="10868375" cy="1829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authoritative DNS servers: </a:t>
            </a:r>
            <a:endParaRPr/>
          </a:p>
          <a:p>
            <a:pPr indent="-28733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organization’s own DNS server(s), providing authoritative hostname to IP mappings for organization’s named hosts </a:t>
            </a:r>
            <a:endParaRPr/>
          </a:p>
          <a:p>
            <a:pPr indent="-28733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be maintained by organization or service provider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5332" y="3122476"/>
            <a:ext cx="5317067" cy="16064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9"/>
          <p:cNvGrpSpPr/>
          <p:nvPr/>
        </p:nvGrpSpPr>
        <p:grpSpPr>
          <a:xfrm>
            <a:off x="4419600" y="1744133"/>
            <a:ext cx="6959600" cy="2235200"/>
            <a:chOff x="4419600" y="1744133"/>
            <a:chExt cx="6959600" cy="2235200"/>
          </a:xfrm>
        </p:grpSpPr>
        <p:sp>
          <p:nvSpPr>
            <p:cNvPr id="141" name="Google Shape;141;p9"/>
            <p:cNvSpPr/>
            <p:nvPr/>
          </p:nvSpPr>
          <p:spPr>
            <a:xfrm>
              <a:off x="6366933" y="3742267"/>
              <a:ext cx="5012267" cy="237066"/>
            </a:xfrm>
            <a:prstGeom prst="rect">
              <a:avLst/>
            </a:prstGeom>
            <a:solidFill>
              <a:srgbClr val="FBBFC7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2" name="Google Shape;142;p9"/>
            <p:cNvCxnSpPr/>
            <p:nvPr/>
          </p:nvCxnSpPr>
          <p:spPr>
            <a:xfrm>
              <a:off x="4419600" y="1744133"/>
              <a:ext cx="1998133" cy="1998133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43" name="Google Shape;143;p9"/>
          <p:cNvGrpSpPr/>
          <p:nvPr/>
        </p:nvGrpSpPr>
        <p:grpSpPr>
          <a:xfrm>
            <a:off x="5249333" y="4233333"/>
            <a:ext cx="6265334" cy="575734"/>
            <a:chOff x="5249333" y="4233333"/>
            <a:chExt cx="6265334" cy="575734"/>
          </a:xfrm>
        </p:grpSpPr>
        <p:sp>
          <p:nvSpPr>
            <p:cNvPr id="144" name="Google Shape;144;p9"/>
            <p:cNvSpPr/>
            <p:nvPr/>
          </p:nvSpPr>
          <p:spPr>
            <a:xfrm>
              <a:off x="6248400" y="4233333"/>
              <a:ext cx="5266267" cy="372534"/>
            </a:xfrm>
            <a:prstGeom prst="rect">
              <a:avLst/>
            </a:prstGeom>
            <a:solidFill>
              <a:srgbClr val="FBBFC7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5" name="Google Shape;145;p9"/>
            <p:cNvCxnSpPr/>
            <p:nvPr/>
          </p:nvCxnSpPr>
          <p:spPr>
            <a:xfrm flipH="1" rot="10800000">
              <a:off x="5249333" y="4267199"/>
              <a:ext cx="999068" cy="541868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46" name="Google Shape;146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Local DNS name </a:t>
            </a:r>
            <a:r>
              <a:rPr lang="en-US"/>
              <a:t>s</a:t>
            </a:r>
            <a:r>
              <a:rPr lang="en-US" sz="4400"/>
              <a:t>ervers</a:t>
            </a:r>
            <a:endParaRPr sz="4400"/>
          </a:p>
        </p:txBody>
      </p:sp>
      <p:sp>
        <p:nvSpPr>
          <p:cNvPr id="153" name="Google Shape;153;p10"/>
          <p:cNvSpPr txBox="1"/>
          <p:nvPr/>
        </p:nvSpPr>
        <p:spPr>
          <a:xfrm>
            <a:off x="798691" y="1489418"/>
            <a:ext cx="1098357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host makes DNS query, it is sent to its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DNS server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DNS server returns reply, answering:</a:t>
            </a:r>
            <a:endParaRPr/>
          </a:p>
          <a:p>
            <a:pPr indent="-231775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its local cache of recent name-to-address translation pairs (possibly out of date!)</a:t>
            </a:r>
            <a:endParaRPr/>
          </a:p>
          <a:p>
            <a:pPr indent="-231775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forwarding request into DNS hierarchy for resolution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ISP has local DNS name server; to find yours: </a:t>
            </a:r>
            <a:endParaRPr/>
          </a:p>
          <a:p>
            <a:pPr indent="-231775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MacOS: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% scutil --dns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Windows: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&gt;ipconfig /all</a:t>
            </a:r>
            <a:endParaRPr/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DNS server doesn’t strictly belong to hierarchy</a:t>
            </a:r>
            <a:endParaRPr/>
          </a:p>
        </p:txBody>
      </p:sp>
      <p:sp>
        <p:nvSpPr>
          <p:cNvPr id="154" name="Google Shape;154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 name resolution: iterated query</a:t>
            </a:r>
            <a:endParaRPr sz="4400"/>
          </a:p>
        </p:txBody>
      </p:sp>
      <p:sp>
        <p:nvSpPr>
          <p:cNvPr id="161" name="Google Shape;161;p11"/>
          <p:cNvSpPr txBox="1"/>
          <p:nvPr/>
        </p:nvSpPr>
        <p:spPr>
          <a:xfrm>
            <a:off x="684201" y="1617338"/>
            <a:ext cx="5664200" cy="1061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at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engineering.nyu.edu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wants IP address for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gaia.cs.umass.edu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858433" y="2824122"/>
            <a:ext cx="4093780" cy="261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Iterated query:</a:t>
            </a:r>
            <a:endParaRPr/>
          </a:p>
          <a:p>
            <a:pPr indent="-28575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contacted server replies with name of server to contact</a:t>
            </a:r>
            <a:endParaRPr/>
          </a:p>
          <a:p>
            <a:pPr indent="-28575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“I don’t know this name, but ask this server”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 txBox="1"/>
          <p:nvPr/>
        </p:nvSpPr>
        <p:spPr>
          <a:xfrm>
            <a:off x="4953226" y="3848735"/>
            <a:ext cx="185499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requesting host at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engineering.nyu.edu</a:t>
            </a:r>
            <a:endParaRPr/>
          </a:p>
        </p:txBody>
      </p:sp>
      <p:sp>
        <p:nvSpPr>
          <p:cNvPr id="164" name="Google Shape;164;p11"/>
          <p:cNvSpPr txBox="1"/>
          <p:nvPr/>
        </p:nvSpPr>
        <p:spPr>
          <a:xfrm>
            <a:off x="10182058" y="4237785"/>
            <a:ext cx="18780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gaia.cs.umass.edu</a:t>
            </a:r>
            <a:endParaRPr/>
          </a:p>
        </p:txBody>
      </p:sp>
      <p:sp>
        <p:nvSpPr>
          <p:cNvPr id="165" name="Google Shape;165;p11"/>
          <p:cNvSpPr txBox="1"/>
          <p:nvPr/>
        </p:nvSpPr>
        <p:spPr>
          <a:xfrm>
            <a:off x="8172896" y="1322438"/>
            <a:ext cx="20113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root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" name="Google Shape;166;p11"/>
          <p:cNvCxnSpPr/>
          <p:nvPr/>
        </p:nvCxnSpPr>
        <p:spPr>
          <a:xfrm>
            <a:off x="6489235" y="3275781"/>
            <a:ext cx="1196994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11"/>
          <p:cNvCxnSpPr/>
          <p:nvPr/>
        </p:nvCxnSpPr>
        <p:spPr>
          <a:xfrm flipH="1" rot="10800000">
            <a:off x="7968785" y="2005693"/>
            <a:ext cx="914400" cy="97155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11"/>
          <p:cNvCxnSpPr/>
          <p:nvPr/>
        </p:nvCxnSpPr>
        <p:spPr>
          <a:xfrm flipH="1" rot="10800000">
            <a:off x="8254535" y="3167743"/>
            <a:ext cx="1485900" cy="9525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11"/>
          <p:cNvCxnSpPr/>
          <p:nvPr/>
        </p:nvCxnSpPr>
        <p:spPr>
          <a:xfrm rot="10800000">
            <a:off x="8254535" y="3339193"/>
            <a:ext cx="1419225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" name="Google Shape;170;p11"/>
          <p:cNvCxnSpPr/>
          <p:nvPr/>
        </p:nvCxnSpPr>
        <p:spPr>
          <a:xfrm flipH="1">
            <a:off x="8178335" y="2234293"/>
            <a:ext cx="733425" cy="762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" name="Google Shape;171;p11"/>
          <p:cNvCxnSpPr/>
          <p:nvPr/>
        </p:nvCxnSpPr>
        <p:spPr>
          <a:xfrm rot="10800000">
            <a:off x="6381511" y="3439703"/>
            <a:ext cx="1319232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72" name="Google Shape;172;p11"/>
          <p:cNvGrpSpPr/>
          <p:nvPr/>
        </p:nvGrpSpPr>
        <p:grpSpPr>
          <a:xfrm>
            <a:off x="6759111" y="3847199"/>
            <a:ext cx="1876425" cy="554038"/>
            <a:chOff x="2838" y="2132"/>
            <a:chExt cx="1182" cy="349"/>
          </a:xfrm>
        </p:grpSpPr>
        <p:sp>
          <p:nvSpPr>
            <p:cNvPr id="173" name="Google Shape;173;p11"/>
            <p:cNvSpPr/>
            <p:nvPr/>
          </p:nvSpPr>
          <p:spPr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1"/>
            <p:cNvSpPr txBox="1"/>
            <p:nvPr/>
          </p:nvSpPr>
          <p:spPr>
            <a:xfrm>
              <a:off x="2887" y="2132"/>
              <a:ext cx="1085" cy="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local DNS server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dns.nyu.edu</a:t>
              </a:r>
              <a:endParaRPr/>
            </a:p>
          </p:txBody>
        </p:sp>
      </p:grpSp>
      <p:sp>
        <p:nvSpPr>
          <p:cNvPr id="175" name="Google Shape;175;p11"/>
          <p:cNvSpPr txBox="1"/>
          <p:nvPr/>
        </p:nvSpPr>
        <p:spPr>
          <a:xfrm>
            <a:off x="6939499" y="288670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8108485" y="222318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8546635" y="246130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8860960" y="287088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8891123" y="3358243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9488023" y="439805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8921285" y="5214030"/>
            <a:ext cx="23971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authoritative DNS server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dns.cs.umass.edu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8860960" y="442821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1"/>
          <p:cNvSpPr txBox="1"/>
          <p:nvPr/>
        </p:nvSpPr>
        <p:spPr>
          <a:xfrm>
            <a:off x="6940022" y="3470502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p11"/>
          <p:cNvCxnSpPr/>
          <p:nvPr/>
        </p:nvCxnSpPr>
        <p:spPr>
          <a:xfrm>
            <a:off x="8187860" y="3499530"/>
            <a:ext cx="1493838" cy="131445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p11"/>
          <p:cNvCxnSpPr/>
          <p:nvPr/>
        </p:nvCxnSpPr>
        <p:spPr>
          <a:xfrm rot="10800000">
            <a:off x="8148173" y="3624943"/>
            <a:ext cx="1493837" cy="130175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6" name="Google Shape;186;p11"/>
          <p:cNvSpPr txBox="1"/>
          <p:nvPr/>
        </p:nvSpPr>
        <p:spPr>
          <a:xfrm>
            <a:off x="8974583" y="2608490"/>
            <a:ext cx="20113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TLD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7" name="Google Shape;187;p11"/>
          <p:cNvGrpSpPr/>
          <p:nvPr/>
        </p:nvGrpSpPr>
        <p:grpSpPr>
          <a:xfrm flipH="1">
            <a:off x="10659797" y="4619665"/>
            <a:ext cx="787391" cy="614055"/>
            <a:chOff x="-44" y="1473"/>
            <a:chExt cx="981" cy="1105"/>
          </a:xfrm>
        </p:grpSpPr>
        <p:pic>
          <p:nvPicPr>
            <p:cNvPr descr="desktop_computer_stylized_medium" id="188" name="Google Shape;188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" name="Google Shape;189;p1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" name="Google Shape;190;p11"/>
          <p:cNvGrpSpPr/>
          <p:nvPr/>
        </p:nvGrpSpPr>
        <p:grpSpPr>
          <a:xfrm>
            <a:off x="5483417" y="3053085"/>
            <a:ext cx="883580" cy="766310"/>
            <a:chOff x="-44" y="1473"/>
            <a:chExt cx="981" cy="1105"/>
          </a:xfrm>
        </p:grpSpPr>
        <p:pic>
          <p:nvPicPr>
            <p:cNvPr descr="desktop_computer_stylized_medium" id="191" name="Google Shape;191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" name="Google Shape;192;p1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3" name="Google Shape;193;p11"/>
          <p:cNvGrpSpPr/>
          <p:nvPr/>
        </p:nvGrpSpPr>
        <p:grpSpPr>
          <a:xfrm>
            <a:off x="9794410" y="4528230"/>
            <a:ext cx="390525" cy="641350"/>
            <a:chOff x="4140" y="429"/>
            <a:chExt cx="1425" cy="2396"/>
          </a:xfrm>
        </p:grpSpPr>
        <p:sp>
          <p:nvSpPr>
            <p:cNvPr id="194" name="Google Shape;194;p1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1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1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9" name="Google Shape;199;p11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200" name="Google Shape;200;p11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2" name="Google Shape;202;p11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3" name="Google Shape;203;p11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204" name="Google Shape;204;p11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6" name="Google Shape;206;p11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1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8" name="Google Shape;208;p11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209" name="Google Shape;209;p11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1" name="Google Shape;211;p1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2" name="Google Shape;212;p11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213" name="Google Shape;213;p11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1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5" name="Google Shape;215;p11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1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1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1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1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1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1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1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" name="Google Shape;226;p11"/>
          <p:cNvGrpSpPr/>
          <p:nvPr/>
        </p:nvGrpSpPr>
        <p:grpSpPr>
          <a:xfrm>
            <a:off x="7790985" y="3015343"/>
            <a:ext cx="390525" cy="641350"/>
            <a:chOff x="4140" y="429"/>
            <a:chExt cx="1425" cy="2396"/>
          </a:xfrm>
        </p:grpSpPr>
        <p:sp>
          <p:nvSpPr>
            <p:cNvPr id="227" name="Google Shape;227;p1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1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1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2" name="Google Shape;232;p11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233" name="Google Shape;233;p11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11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5" name="Google Shape;235;p11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6" name="Google Shape;236;p11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237" name="Google Shape;237;p11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9" name="Google Shape;239;p11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1" name="Google Shape;241;p11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242" name="Google Shape;242;p11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11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4" name="Google Shape;244;p1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5" name="Google Shape;245;p11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246" name="Google Shape;246;p11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8" name="Google Shape;248;p11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1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1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1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1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1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1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1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9" name="Google Shape;259;p11"/>
          <p:cNvGrpSpPr/>
          <p:nvPr/>
        </p:nvGrpSpPr>
        <p:grpSpPr>
          <a:xfrm>
            <a:off x="8945098" y="1753280"/>
            <a:ext cx="390525" cy="641350"/>
            <a:chOff x="4140" y="429"/>
            <a:chExt cx="1425" cy="2396"/>
          </a:xfrm>
        </p:grpSpPr>
        <p:sp>
          <p:nvSpPr>
            <p:cNvPr id="260" name="Google Shape;260;p1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1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1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5" name="Google Shape;265;p11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266" name="Google Shape;266;p11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8" name="Google Shape;268;p11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9" name="Google Shape;269;p11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270" name="Google Shape;270;p11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11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2" name="Google Shape;272;p11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1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4" name="Google Shape;274;p11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275" name="Google Shape;275;p11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11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7" name="Google Shape;277;p1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8" name="Google Shape;278;p11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279" name="Google Shape;279;p11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11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1" name="Google Shape;281;p11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1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1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1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1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11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11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11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1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1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1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9761073" y="3005818"/>
            <a:ext cx="390525" cy="641350"/>
            <a:chOff x="4140" y="429"/>
            <a:chExt cx="1425" cy="2396"/>
          </a:xfrm>
        </p:grpSpPr>
        <p:sp>
          <p:nvSpPr>
            <p:cNvPr id="293" name="Google Shape;293;p1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1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1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8" name="Google Shape;298;p11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1" name="Google Shape;301;p11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2" name="Google Shape;302;p11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303" name="Google Shape;303;p11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11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5" name="Google Shape;305;p11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1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7" name="Google Shape;307;p11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308" name="Google Shape;308;p11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11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0" name="Google Shape;310;p1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1" name="Google Shape;311;p11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312" name="Google Shape;312;p11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11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4" name="Google Shape;314;p11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1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1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1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1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11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1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1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5" name="Google Shape;325;p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 name resolution: recursive query</a:t>
            </a:r>
            <a:endParaRPr sz="4400"/>
          </a:p>
        </p:txBody>
      </p:sp>
      <p:sp>
        <p:nvSpPr>
          <p:cNvPr id="332" name="Google Shape;332;p12"/>
          <p:cNvSpPr txBox="1"/>
          <p:nvPr/>
        </p:nvSpPr>
        <p:spPr>
          <a:xfrm>
            <a:off x="4588154" y="3848735"/>
            <a:ext cx="181652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requesting host at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engineering.nyu.edu</a:t>
            </a:r>
            <a:endParaRPr/>
          </a:p>
        </p:txBody>
      </p:sp>
      <p:sp>
        <p:nvSpPr>
          <p:cNvPr id="333" name="Google Shape;333;p12"/>
          <p:cNvSpPr txBox="1"/>
          <p:nvPr/>
        </p:nvSpPr>
        <p:spPr>
          <a:xfrm>
            <a:off x="10049161" y="4208147"/>
            <a:ext cx="18780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gaia.cs.umass.edu</a:t>
            </a:r>
            <a:endParaRPr/>
          </a:p>
        </p:txBody>
      </p:sp>
      <p:sp>
        <p:nvSpPr>
          <p:cNvPr id="334" name="Google Shape;334;p12"/>
          <p:cNvSpPr txBox="1"/>
          <p:nvPr/>
        </p:nvSpPr>
        <p:spPr>
          <a:xfrm>
            <a:off x="7788588" y="1322438"/>
            <a:ext cx="20113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root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5" name="Google Shape;335;p12"/>
          <p:cNvCxnSpPr/>
          <p:nvPr/>
        </p:nvCxnSpPr>
        <p:spPr>
          <a:xfrm>
            <a:off x="6104927" y="3275781"/>
            <a:ext cx="1196994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" name="Google Shape;336;p12"/>
          <p:cNvCxnSpPr/>
          <p:nvPr/>
        </p:nvCxnSpPr>
        <p:spPr>
          <a:xfrm flipH="1" rot="10800000">
            <a:off x="7584477" y="2005693"/>
            <a:ext cx="914400" cy="97155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7" name="Google Shape;337;p12"/>
          <p:cNvCxnSpPr/>
          <p:nvPr/>
        </p:nvCxnSpPr>
        <p:spPr>
          <a:xfrm>
            <a:off x="9672062" y="3760198"/>
            <a:ext cx="2427" cy="702311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8" name="Google Shape;338;p12"/>
          <p:cNvCxnSpPr/>
          <p:nvPr/>
        </p:nvCxnSpPr>
        <p:spPr>
          <a:xfrm rot="10800000">
            <a:off x="9491701" y="3747010"/>
            <a:ext cx="2427" cy="734919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9" name="Google Shape;339;p12"/>
          <p:cNvCxnSpPr/>
          <p:nvPr/>
        </p:nvCxnSpPr>
        <p:spPr>
          <a:xfrm>
            <a:off x="9038381" y="2075731"/>
            <a:ext cx="405154" cy="841218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0" name="Google Shape;340;p12"/>
          <p:cNvCxnSpPr/>
          <p:nvPr/>
        </p:nvCxnSpPr>
        <p:spPr>
          <a:xfrm rot="10800000">
            <a:off x="5997203" y="3439703"/>
            <a:ext cx="1319232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341" name="Google Shape;341;p12"/>
          <p:cNvGrpSpPr/>
          <p:nvPr/>
        </p:nvGrpSpPr>
        <p:grpSpPr>
          <a:xfrm>
            <a:off x="6374803" y="3847199"/>
            <a:ext cx="1876425" cy="554038"/>
            <a:chOff x="2838" y="2132"/>
            <a:chExt cx="1182" cy="349"/>
          </a:xfrm>
        </p:grpSpPr>
        <p:sp>
          <p:nvSpPr>
            <p:cNvPr id="342" name="Google Shape;342;p12"/>
            <p:cNvSpPr/>
            <p:nvPr/>
          </p:nvSpPr>
          <p:spPr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2"/>
            <p:cNvSpPr txBox="1"/>
            <p:nvPr/>
          </p:nvSpPr>
          <p:spPr>
            <a:xfrm>
              <a:off x="2887" y="2132"/>
              <a:ext cx="1085" cy="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local DNS server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dns.nyu.edu</a:t>
              </a:r>
              <a:endParaRPr/>
            </a:p>
          </p:txBody>
        </p:sp>
      </p:grpSp>
      <p:sp>
        <p:nvSpPr>
          <p:cNvPr id="344" name="Google Shape;344;p12"/>
          <p:cNvSpPr txBox="1"/>
          <p:nvPr/>
        </p:nvSpPr>
        <p:spPr>
          <a:xfrm>
            <a:off x="6555191" y="288670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2"/>
          <p:cNvSpPr txBox="1"/>
          <p:nvPr/>
        </p:nvSpPr>
        <p:spPr>
          <a:xfrm>
            <a:off x="7724177" y="222318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2"/>
          <p:cNvSpPr txBox="1"/>
          <p:nvPr/>
        </p:nvSpPr>
        <p:spPr>
          <a:xfrm>
            <a:off x="8785965" y="2130702"/>
            <a:ext cx="1196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2"/>
          <p:cNvSpPr txBox="1"/>
          <p:nvPr/>
        </p:nvSpPr>
        <p:spPr>
          <a:xfrm>
            <a:off x="9681511" y="3917024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2"/>
          <p:cNvSpPr txBox="1"/>
          <p:nvPr/>
        </p:nvSpPr>
        <p:spPr>
          <a:xfrm>
            <a:off x="9130827" y="3968637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2"/>
          <p:cNvSpPr txBox="1"/>
          <p:nvPr/>
        </p:nvSpPr>
        <p:spPr>
          <a:xfrm>
            <a:off x="8914934" y="268526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2"/>
          <p:cNvSpPr txBox="1"/>
          <p:nvPr/>
        </p:nvSpPr>
        <p:spPr>
          <a:xfrm>
            <a:off x="8536977" y="5214030"/>
            <a:ext cx="23971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authoritative DNS server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dns.cs.umass.edu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2"/>
          <p:cNvSpPr txBox="1"/>
          <p:nvPr/>
        </p:nvSpPr>
        <p:spPr>
          <a:xfrm>
            <a:off x="8122727" y="2626662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2"/>
          <p:cNvSpPr txBox="1"/>
          <p:nvPr/>
        </p:nvSpPr>
        <p:spPr>
          <a:xfrm>
            <a:off x="6555714" y="3470502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" name="Google Shape;353;p12"/>
          <p:cNvCxnSpPr/>
          <p:nvPr/>
        </p:nvCxnSpPr>
        <p:spPr>
          <a:xfrm rot="10800000">
            <a:off x="8981775" y="2427554"/>
            <a:ext cx="344289" cy="64545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4" name="Google Shape;354;p12"/>
          <p:cNvCxnSpPr/>
          <p:nvPr/>
        </p:nvCxnSpPr>
        <p:spPr>
          <a:xfrm flipH="1">
            <a:off x="7792268" y="2275514"/>
            <a:ext cx="710991" cy="774754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5" name="Google Shape;355;p12"/>
          <p:cNvSpPr txBox="1"/>
          <p:nvPr/>
        </p:nvSpPr>
        <p:spPr>
          <a:xfrm>
            <a:off x="9662504" y="2971557"/>
            <a:ext cx="20113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TLD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6" name="Google Shape;356;p12"/>
          <p:cNvGrpSpPr/>
          <p:nvPr/>
        </p:nvGrpSpPr>
        <p:grpSpPr>
          <a:xfrm flipH="1">
            <a:off x="10526900" y="4590027"/>
            <a:ext cx="787391" cy="614055"/>
            <a:chOff x="-44" y="1473"/>
            <a:chExt cx="981" cy="1105"/>
          </a:xfrm>
        </p:grpSpPr>
        <p:pic>
          <p:nvPicPr>
            <p:cNvPr descr="desktop_computer_stylized_medium" id="357" name="Google Shape;357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8" name="Google Shape;358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9" name="Google Shape;359;p12"/>
          <p:cNvGrpSpPr/>
          <p:nvPr/>
        </p:nvGrpSpPr>
        <p:grpSpPr>
          <a:xfrm>
            <a:off x="5099109" y="3053085"/>
            <a:ext cx="883580" cy="766310"/>
            <a:chOff x="-44" y="1473"/>
            <a:chExt cx="981" cy="1105"/>
          </a:xfrm>
        </p:grpSpPr>
        <p:pic>
          <p:nvPicPr>
            <p:cNvPr descr="desktop_computer_stylized_medium" id="360" name="Google Shape;360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1" name="Google Shape;361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2" name="Google Shape;362;p12"/>
          <p:cNvGrpSpPr/>
          <p:nvPr/>
        </p:nvGrpSpPr>
        <p:grpSpPr>
          <a:xfrm>
            <a:off x="9410102" y="4528230"/>
            <a:ext cx="390525" cy="641350"/>
            <a:chOff x="4140" y="429"/>
            <a:chExt cx="1425" cy="2396"/>
          </a:xfrm>
        </p:grpSpPr>
        <p:sp>
          <p:nvSpPr>
            <p:cNvPr id="363" name="Google Shape;363;p1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12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2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8" name="Google Shape;368;p12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369" name="Google Shape;369;p12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12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1" name="Google Shape;371;p12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2" name="Google Shape;372;p12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373" name="Google Shape;373;p12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12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5" name="Google Shape;375;p12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12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7" name="Google Shape;377;p12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378" name="Google Shape;378;p12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12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0" name="Google Shape;380;p1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1" name="Google Shape;381;p12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382" name="Google Shape;382;p12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12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4" name="Google Shape;384;p12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2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2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2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2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12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2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2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5" name="Google Shape;395;p12"/>
          <p:cNvGrpSpPr/>
          <p:nvPr/>
        </p:nvGrpSpPr>
        <p:grpSpPr>
          <a:xfrm>
            <a:off x="7406677" y="3015343"/>
            <a:ext cx="390525" cy="641350"/>
            <a:chOff x="4140" y="429"/>
            <a:chExt cx="1425" cy="2396"/>
          </a:xfrm>
        </p:grpSpPr>
        <p:sp>
          <p:nvSpPr>
            <p:cNvPr id="396" name="Google Shape;396;p1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2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2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1" name="Google Shape;401;p12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402" name="Google Shape;402;p12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12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4" name="Google Shape;404;p12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5" name="Google Shape;405;p12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406" name="Google Shape;406;p12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2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8" name="Google Shape;408;p12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12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0" name="Google Shape;410;p12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411" name="Google Shape;411;p12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12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3" name="Google Shape;413;p1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4" name="Google Shape;414;p12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415" name="Google Shape;415;p12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12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7" name="Google Shape;417;p12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1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12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1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2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2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12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12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2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12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8" name="Google Shape;428;p12"/>
          <p:cNvGrpSpPr/>
          <p:nvPr/>
        </p:nvGrpSpPr>
        <p:grpSpPr>
          <a:xfrm>
            <a:off x="8560790" y="1753280"/>
            <a:ext cx="390525" cy="641350"/>
            <a:chOff x="4140" y="429"/>
            <a:chExt cx="1425" cy="2396"/>
          </a:xfrm>
        </p:grpSpPr>
        <p:sp>
          <p:nvSpPr>
            <p:cNvPr id="429" name="Google Shape;429;p1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2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1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1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12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4" name="Google Shape;434;p12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435" name="Google Shape;435;p12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12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7" name="Google Shape;437;p12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8" name="Google Shape;438;p12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439" name="Google Shape;439;p12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12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1" name="Google Shape;441;p12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12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3" name="Google Shape;443;p12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444" name="Google Shape;444;p12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12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6" name="Google Shape;446;p1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7" name="Google Shape;447;p12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448" name="Google Shape;448;p12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12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0" name="Google Shape;450;p12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1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1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12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1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2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12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12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12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12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12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1" name="Google Shape;461;p12"/>
          <p:cNvGrpSpPr/>
          <p:nvPr/>
        </p:nvGrpSpPr>
        <p:grpSpPr>
          <a:xfrm>
            <a:off x="9376765" y="3005818"/>
            <a:ext cx="390525" cy="641350"/>
            <a:chOff x="4140" y="429"/>
            <a:chExt cx="1425" cy="2396"/>
          </a:xfrm>
        </p:grpSpPr>
        <p:sp>
          <p:nvSpPr>
            <p:cNvPr id="462" name="Google Shape;462;p1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12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1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12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7" name="Google Shape;467;p12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468" name="Google Shape;468;p12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12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0" name="Google Shape;470;p12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1" name="Google Shape;471;p12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472" name="Google Shape;472;p12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12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4" name="Google Shape;474;p12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12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6" name="Google Shape;476;p12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477" name="Google Shape;477;p12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12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9" name="Google Shape;479;p1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0" name="Google Shape;480;p12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481" name="Google Shape;481;p12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12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3" name="Google Shape;483;p12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1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12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1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12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12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2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2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12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12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4" name="Google Shape;494;p12"/>
          <p:cNvSpPr/>
          <p:nvPr/>
        </p:nvSpPr>
        <p:spPr>
          <a:xfrm>
            <a:off x="810552" y="2790656"/>
            <a:ext cx="3704869" cy="3241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Recursive query:</a:t>
            </a:r>
            <a:endParaRPr/>
          </a:p>
          <a:p>
            <a:pPr indent="-288925" lvl="0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puts burden of name resolution on contacted name server</a:t>
            </a:r>
            <a:endParaRPr/>
          </a:p>
          <a:p>
            <a:pPr indent="-288925" lvl="0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heavy load at upper levels of hierarchy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495" name="Google Shape;495;p12"/>
          <p:cNvSpPr txBox="1"/>
          <p:nvPr/>
        </p:nvSpPr>
        <p:spPr>
          <a:xfrm>
            <a:off x="684201" y="1617338"/>
            <a:ext cx="5664200" cy="1061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at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engineering.nyu.edu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wants IP address for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gaia.cs.umass.edu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Caching DNS Information</a:t>
            </a:r>
            <a:endParaRPr sz="4400"/>
          </a:p>
        </p:txBody>
      </p:sp>
      <p:sp>
        <p:nvSpPr>
          <p:cNvPr id="503" name="Google Shape;503;p13"/>
          <p:cNvSpPr txBox="1"/>
          <p:nvPr/>
        </p:nvSpPr>
        <p:spPr>
          <a:xfrm>
            <a:off x="952952" y="1446555"/>
            <a:ext cx="10515600" cy="473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527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once (any) name server learns mapping, it </a:t>
            </a:r>
            <a:r>
              <a:rPr b="0" i="1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caches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mapping, and i</a:t>
            </a:r>
            <a:r>
              <a:rPr b="0" i="1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mmediately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returns a cached mapping in response to a query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caching improves response time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cache entries timeout (disappear) after some time (TTL)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TLD servers typically cached in local name servers</a:t>
            </a:r>
            <a:endParaRPr/>
          </a:p>
          <a:p>
            <a:pPr indent="-29527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cached entries may be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out-of-date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named host changes IP address, may not be known Internet-wide until all TTLs expire!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best-effort name-to-address translation!</a:t>
            </a:r>
            <a:endParaRPr b="0" i="1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39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4"/>
          <p:cNvSpPr txBox="1"/>
          <p:nvPr>
            <p:ph type="title"/>
          </p:nvPr>
        </p:nvSpPr>
        <p:spPr>
          <a:xfrm>
            <a:off x="8382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 records</a:t>
            </a:r>
            <a:endParaRPr sz="4400"/>
          </a:p>
        </p:txBody>
      </p:sp>
      <p:sp>
        <p:nvSpPr>
          <p:cNvPr id="511" name="Google Shape;511;p14"/>
          <p:cNvSpPr txBox="1"/>
          <p:nvPr/>
        </p:nvSpPr>
        <p:spPr>
          <a:xfrm>
            <a:off x="1347787" y="1358900"/>
            <a:ext cx="9574213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DNS: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distributed database storing resource records </a:t>
            </a: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(RR)</a:t>
            </a:r>
            <a:endParaRPr/>
          </a:p>
        </p:txBody>
      </p:sp>
      <p:sp>
        <p:nvSpPr>
          <p:cNvPr id="512" name="Google Shape;512;p14"/>
          <p:cNvSpPr txBox="1"/>
          <p:nvPr/>
        </p:nvSpPr>
        <p:spPr>
          <a:xfrm>
            <a:off x="1080534" y="4388077"/>
            <a:ext cx="4547961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type=NS</a:t>
            </a:r>
            <a:endParaRPr/>
          </a:p>
          <a:p>
            <a:pPr indent="-288925" lvl="1" marL="3460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name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domain (e.g., foo.com)</a:t>
            </a:r>
            <a:endParaRPr/>
          </a:p>
          <a:p>
            <a:pPr indent="-288925" lvl="1" marL="3460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value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hostname of authoritative name server for this domain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 txBox="1"/>
          <p:nvPr/>
        </p:nvSpPr>
        <p:spPr>
          <a:xfrm>
            <a:off x="2659064" y="1860128"/>
            <a:ext cx="63325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RR format: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name, value, type, ttl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1067384" y="2774950"/>
            <a:ext cx="3810000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type=A</a:t>
            </a:r>
            <a:endParaRPr/>
          </a:p>
          <a:p>
            <a:pPr indent="-317500" lvl="1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name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hostname</a:t>
            </a:r>
            <a:endParaRPr/>
          </a:p>
          <a:p>
            <a:pPr indent="-317500" lvl="1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value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IP address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4"/>
          <p:cNvSpPr/>
          <p:nvPr/>
        </p:nvSpPr>
        <p:spPr>
          <a:xfrm>
            <a:off x="6015718" y="2797175"/>
            <a:ext cx="6176282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type=CNAME</a:t>
            </a:r>
            <a:endParaRPr/>
          </a:p>
          <a:p>
            <a:pPr indent="-317500" lvl="1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name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alias name for some “canonical” (the real) name</a:t>
            </a:r>
            <a:endParaRPr/>
          </a:p>
          <a:p>
            <a:pPr indent="-317500" lvl="1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www.ibm.com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really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servereast.backup2.ibm.com</a:t>
            </a:r>
            <a:endParaRPr/>
          </a:p>
          <a:p>
            <a:pPr indent="-317500" lvl="1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value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canonical name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4"/>
          <p:cNvSpPr/>
          <p:nvPr/>
        </p:nvSpPr>
        <p:spPr>
          <a:xfrm>
            <a:off x="6015718" y="4968875"/>
            <a:ext cx="5287866" cy="1309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type=MX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value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name of SMTP mail server associated with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name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1358900" y="1270000"/>
            <a:ext cx="9690100" cy="1155700"/>
          </a:xfrm>
          <a:prstGeom prst="rect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4" name="Google Shape;524;p15"/>
          <p:cNvGrpSpPr/>
          <p:nvPr/>
        </p:nvGrpSpPr>
        <p:grpSpPr>
          <a:xfrm>
            <a:off x="6272212" y="1937764"/>
            <a:ext cx="3671888" cy="4505326"/>
            <a:chOff x="6272212" y="1937764"/>
            <a:chExt cx="3671888" cy="4505326"/>
          </a:xfrm>
        </p:grpSpPr>
        <p:sp>
          <p:nvSpPr>
            <p:cNvPr id="525" name="Google Shape;525;p15"/>
            <p:cNvSpPr/>
            <p:nvPr/>
          </p:nvSpPr>
          <p:spPr>
            <a:xfrm>
              <a:off x="6297612" y="2339402"/>
              <a:ext cx="3614738" cy="4103688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sx="101000" rotWithShape="0" algn="bl" dir="18900000" dist="38100" sy="101000">
                <a:srgbClr val="0000A3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6" name="Google Shape;526;p15"/>
            <p:cNvCxnSpPr/>
            <p:nvPr/>
          </p:nvCxnSpPr>
          <p:spPr>
            <a:xfrm>
              <a:off x="6286500" y="5766814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7" name="Google Shape;527;p15"/>
            <p:cNvCxnSpPr/>
            <p:nvPr/>
          </p:nvCxnSpPr>
          <p:spPr>
            <a:xfrm>
              <a:off x="6297612" y="5081014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8" name="Google Shape;528;p15"/>
            <p:cNvCxnSpPr/>
            <p:nvPr/>
          </p:nvCxnSpPr>
          <p:spPr>
            <a:xfrm>
              <a:off x="6286500" y="4395214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9" name="Google Shape;529;p15"/>
            <p:cNvCxnSpPr/>
            <p:nvPr/>
          </p:nvCxnSpPr>
          <p:spPr>
            <a:xfrm>
              <a:off x="6286500" y="3720527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0" name="Google Shape;530;p15"/>
            <p:cNvCxnSpPr/>
            <p:nvPr/>
          </p:nvCxnSpPr>
          <p:spPr>
            <a:xfrm>
              <a:off x="6284912" y="3263327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1" name="Google Shape;531;p15"/>
            <p:cNvCxnSpPr/>
            <p:nvPr/>
          </p:nvCxnSpPr>
          <p:spPr>
            <a:xfrm>
              <a:off x="6272212" y="2812477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2" name="Google Shape;532;p15"/>
            <p:cNvCxnSpPr/>
            <p:nvPr/>
          </p:nvCxnSpPr>
          <p:spPr>
            <a:xfrm>
              <a:off x="8104187" y="2350514"/>
              <a:ext cx="3175" cy="136048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33" name="Google Shape;533;p15"/>
            <p:cNvSpPr txBox="1"/>
            <p:nvPr/>
          </p:nvSpPr>
          <p:spPr>
            <a:xfrm>
              <a:off x="6542087" y="2410839"/>
              <a:ext cx="13112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identification</a:t>
              </a:r>
              <a:endParaRPr/>
            </a:p>
          </p:txBody>
        </p:sp>
        <p:sp>
          <p:nvSpPr>
            <p:cNvPr id="534" name="Google Shape;534;p15"/>
            <p:cNvSpPr txBox="1"/>
            <p:nvPr/>
          </p:nvSpPr>
          <p:spPr>
            <a:xfrm>
              <a:off x="8666162" y="2410839"/>
              <a:ext cx="6127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flags</a:t>
              </a:r>
              <a:endParaRPr/>
            </a:p>
          </p:txBody>
        </p:sp>
        <p:sp>
          <p:nvSpPr>
            <p:cNvPr id="535" name="Google Shape;535;p15"/>
            <p:cNvSpPr txBox="1"/>
            <p:nvPr/>
          </p:nvSpPr>
          <p:spPr>
            <a:xfrm>
              <a:off x="6573837" y="2868039"/>
              <a:ext cx="12223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questions</a:t>
              </a:r>
              <a:endParaRPr/>
            </a:p>
          </p:txBody>
        </p:sp>
        <p:sp>
          <p:nvSpPr>
            <p:cNvPr id="536" name="Google Shape;536;p15"/>
            <p:cNvSpPr txBox="1"/>
            <p:nvPr/>
          </p:nvSpPr>
          <p:spPr>
            <a:xfrm>
              <a:off x="6457950" y="3879277"/>
              <a:ext cx="3278188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questions (variable # of questions)</a:t>
              </a:r>
              <a:endParaRPr/>
            </a:p>
          </p:txBody>
        </p:sp>
        <p:sp>
          <p:nvSpPr>
            <p:cNvPr id="537" name="Google Shape;537;p15"/>
            <p:cNvSpPr txBox="1"/>
            <p:nvPr/>
          </p:nvSpPr>
          <p:spPr>
            <a:xfrm>
              <a:off x="8167687" y="3323652"/>
              <a:ext cx="1671638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additional RRs</a:t>
              </a:r>
              <a:endParaRPr/>
            </a:p>
          </p:txBody>
        </p:sp>
        <p:sp>
          <p:nvSpPr>
            <p:cNvPr id="538" name="Google Shape;538;p15"/>
            <p:cNvSpPr txBox="1"/>
            <p:nvPr/>
          </p:nvSpPr>
          <p:spPr>
            <a:xfrm>
              <a:off x="6415087" y="3325239"/>
              <a:ext cx="15843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authority RRs</a:t>
              </a:r>
              <a:endParaRPr/>
            </a:p>
          </p:txBody>
        </p:sp>
        <p:sp>
          <p:nvSpPr>
            <p:cNvPr id="539" name="Google Shape;539;p15"/>
            <p:cNvSpPr txBox="1"/>
            <p:nvPr/>
          </p:nvSpPr>
          <p:spPr>
            <a:xfrm>
              <a:off x="8266112" y="2877564"/>
              <a:ext cx="14589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answer RRs</a:t>
              </a:r>
              <a:endParaRPr/>
            </a:p>
          </p:txBody>
        </p:sp>
        <p:sp>
          <p:nvSpPr>
            <p:cNvPr id="540" name="Google Shape;540;p15"/>
            <p:cNvSpPr txBox="1"/>
            <p:nvPr/>
          </p:nvSpPr>
          <p:spPr>
            <a:xfrm>
              <a:off x="6765925" y="4563489"/>
              <a:ext cx="26908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answers (variable # of RRs)</a:t>
              </a:r>
              <a:endParaRPr/>
            </a:p>
          </p:txBody>
        </p:sp>
        <p:sp>
          <p:nvSpPr>
            <p:cNvPr id="541" name="Google Shape;541;p15"/>
            <p:cNvSpPr txBox="1"/>
            <p:nvPr/>
          </p:nvSpPr>
          <p:spPr>
            <a:xfrm>
              <a:off x="6796087" y="5249289"/>
              <a:ext cx="27146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authority (variable # of RRs)</a:t>
              </a:r>
              <a:endParaRPr/>
            </a:p>
          </p:txBody>
        </p:sp>
        <p:sp>
          <p:nvSpPr>
            <p:cNvPr id="542" name="Google Shape;542;p15"/>
            <p:cNvSpPr txBox="1"/>
            <p:nvPr/>
          </p:nvSpPr>
          <p:spPr>
            <a:xfrm>
              <a:off x="6492875" y="5916039"/>
              <a:ext cx="31861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additional info (variable # of RRs)</a:t>
              </a:r>
              <a:endParaRPr/>
            </a:p>
          </p:txBody>
        </p:sp>
        <p:grpSp>
          <p:nvGrpSpPr>
            <p:cNvPr id="543" name="Google Shape;543;p15"/>
            <p:cNvGrpSpPr/>
            <p:nvPr/>
          </p:nvGrpSpPr>
          <p:grpSpPr>
            <a:xfrm>
              <a:off x="6302375" y="1937764"/>
              <a:ext cx="1747837" cy="274638"/>
              <a:chOff x="2691" y="1194"/>
              <a:chExt cx="1101" cy="173"/>
            </a:xfrm>
          </p:grpSpPr>
          <p:sp>
            <p:nvSpPr>
              <p:cNvPr id="544" name="Google Shape;544;p15"/>
              <p:cNvSpPr txBox="1"/>
              <p:nvPr/>
            </p:nvSpPr>
            <p:spPr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 bytes</a:t>
                </a:r>
                <a:endParaRPr/>
              </a:p>
            </p:txBody>
          </p:sp>
          <p:cxnSp>
            <p:nvCxnSpPr>
              <p:cNvPr id="545" name="Google Shape;545;p15"/>
              <p:cNvCxnSpPr/>
              <p:nvPr/>
            </p:nvCxnSpPr>
            <p:spPr>
              <a:xfrm>
                <a:off x="3465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46" name="Google Shape;546;p15"/>
              <p:cNvCxnSpPr/>
              <p:nvPr/>
            </p:nvCxnSpPr>
            <p:spPr>
              <a:xfrm rot="10800000">
                <a:off x="2691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547" name="Google Shape;547;p15"/>
            <p:cNvGrpSpPr/>
            <p:nvPr/>
          </p:nvGrpSpPr>
          <p:grpSpPr>
            <a:xfrm>
              <a:off x="8077200" y="1937764"/>
              <a:ext cx="1747837" cy="274638"/>
              <a:chOff x="2691" y="1194"/>
              <a:chExt cx="1101" cy="173"/>
            </a:xfrm>
          </p:grpSpPr>
          <p:sp>
            <p:nvSpPr>
              <p:cNvPr id="548" name="Google Shape;548;p15"/>
              <p:cNvSpPr txBox="1"/>
              <p:nvPr/>
            </p:nvSpPr>
            <p:spPr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 bytes</a:t>
                </a:r>
                <a:endParaRPr/>
              </a:p>
            </p:txBody>
          </p:sp>
          <p:cxnSp>
            <p:nvCxnSpPr>
              <p:cNvPr id="549" name="Google Shape;549;p15"/>
              <p:cNvCxnSpPr/>
              <p:nvPr/>
            </p:nvCxnSpPr>
            <p:spPr>
              <a:xfrm>
                <a:off x="3465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50" name="Google Shape;550;p15"/>
              <p:cNvCxnSpPr/>
              <p:nvPr/>
            </p:nvCxnSpPr>
            <p:spPr>
              <a:xfrm rot="10800000">
                <a:off x="2691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sp>
        <p:nvSpPr>
          <p:cNvPr id="551" name="Google Shape;551;p15"/>
          <p:cNvSpPr txBox="1"/>
          <p:nvPr>
            <p:ph type="title"/>
          </p:nvPr>
        </p:nvSpPr>
        <p:spPr>
          <a:xfrm>
            <a:off x="8382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 protocol messages</a:t>
            </a:r>
            <a:endParaRPr sz="4400"/>
          </a:p>
        </p:txBody>
      </p:sp>
      <p:sp>
        <p:nvSpPr>
          <p:cNvPr id="552" name="Google Shape;552;p15"/>
          <p:cNvSpPr txBox="1"/>
          <p:nvPr/>
        </p:nvSpPr>
        <p:spPr>
          <a:xfrm>
            <a:off x="693057" y="1391557"/>
            <a:ext cx="1039336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reply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messages, both have same 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format:</a:t>
            </a:r>
            <a:endParaRPr b="0" i="0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5"/>
          <p:cNvSpPr/>
          <p:nvPr/>
        </p:nvSpPr>
        <p:spPr>
          <a:xfrm>
            <a:off x="1407887" y="2394964"/>
            <a:ext cx="4688114" cy="3838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message header:</a:t>
            </a:r>
            <a:endParaRPr/>
          </a:p>
          <a:p>
            <a:pPr indent="-227013" lvl="0" marL="2270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identification: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16 bit # for query, reply to query uses same #</a:t>
            </a:r>
            <a:endParaRPr/>
          </a:p>
          <a:p>
            <a:pPr indent="-227013" lvl="0" marL="2270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flags:</a:t>
            </a:r>
            <a:endParaRPr/>
          </a:p>
          <a:p>
            <a:pPr indent="-230188" lvl="1" marL="460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query or reply</a:t>
            </a:r>
            <a:endParaRPr/>
          </a:p>
          <a:p>
            <a:pPr indent="-230188" lvl="1" marL="460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recursion desired </a:t>
            </a:r>
            <a:endParaRPr/>
          </a:p>
          <a:p>
            <a:pPr indent="-230188" lvl="1" marL="460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recursion available</a:t>
            </a:r>
            <a:endParaRPr/>
          </a:p>
          <a:p>
            <a:pPr indent="-230188" lvl="1" marL="460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reply is authoritative</a:t>
            </a:r>
            <a:endParaRPr/>
          </a:p>
        </p:txBody>
      </p:sp>
      <p:cxnSp>
        <p:nvCxnSpPr>
          <p:cNvPr id="554" name="Google Shape;554;p15"/>
          <p:cNvCxnSpPr/>
          <p:nvPr/>
        </p:nvCxnSpPr>
        <p:spPr>
          <a:xfrm flipH="1" rot="10800000">
            <a:off x="3710672" y="2610864"/>
            <a:ext cx="2902854" cy="295274"/>
          </a:xfrm>
          <a:prstGeom prst="straightConnector1">
            <a:avLst/>
          </a:prstGeom>
          <a:noFill/>
          <a:ln cap="flat" cmpd="sng" w="127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" name="Google Shape;555;p15"/>
          <p:cNvCxnSpPr/>
          <p:nvPr/>
        </p:nvCxnSpPr>
        <p:spPr>
          <a:xfrm flipH="1" rot="10800000">
            <a:off x="2352675" y="2590227"/>
            <a:ext cx="6383337" cy="1208088"/>
          </a:xfrm>
          <a:prstGeom prst="straightConnector1">
            <a:avLst/>
          </a:prstGeom>
          <a:noFill/>
          <a:ln cap="flat" cmpd="sng" w="127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6" name="Google Shape;556;p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2" name="Google Shape;562;p16"/>
          <p:cNvGrpSpPr/>
          <p:nvPr/>
        </p:nvGrpSpPr>
        <p:grpSpPr>
          <a:xfrm>
            <a:off x="6272212" y="1937764"/>
            <a:ext cx="3671888" cy="4505326"/>
            <a:chOff x="6272212" y="1937764"/>
            <a:chExt cx="3671888" cy="4505326"/>
          </a:xfrm>
        </p:grpSpPr>
        <p:sp>
          <p:nvSpPr>
            <p:cNvPr id="563" name="Google Shape;563;p16"/>
            <p:cNvSpPr/>
            <p:nvPr/>
          </p:nvSpPr>
          <p:spPr>
            <a:xfrm>
              <a:off x="6297612" y="2339402"/>
              <a:ext cx="3614738" cy="4103688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sx="101000" rotWithShape="0" algn="bl" dir="18900000" dist="38100" sy="101000">
                <a:srgbClr val="0000A3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4" name="Google Shape;564;p16"/>
            <p:cNvCxnSpPr/>
            <p:nvPr/>
          </p:nvCxnSpPr>
          <p:spPr>
            <a:xfrm>
              <a:off x="6286500" y="5766814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5" name="Google Shape;565;p16"/>
            <p:cNvCxnSpPr/>
            <p:nvPr/>
          </p:nvCxnSpPr>
          <p:spPr>
            <a:xfrm>
              <a:off x="6297612" y="5081014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6" name="Google Shape;566;p16"/>
            <p:cNvCxnSpPr/>
            <p:nvPr/>
          </p:nvCxnSpPr>
          <p:spPr>
            <a:xfrm>
              <a:off x="6286500" y="4395214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" name="Google Shape;567;p16"/>
            <p:cNvCxnSpPr/>
            <p:nvPr/>
          </p:nvCxnSpPr>
          <p:spPr>
            <a:xfrm>
              <a:off x="6286500" y="3720527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8" name="Google Shape;568;p16"/>
            <p:cNvCxnSpPr/>
            <p:nvPr/>
          </p:nvCxnSpPr>
          <p:spPr>
            <a:xfrm>
              <a:off x="6284912" y="3263327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9" name="Google Shape;569;p16"/>
            <p:cNvCxnSpPr/>
            <p:nvPr/>
          </p:nvCxnSpPr>
          <p:spPr>
            <a:xfrm>
              <a:off x="6272212" y="2812477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" name="Google Shape;570;p16"/>
            <p:cNvCxnSpPr/>
            <p:nvPr/>
          </p:nvCxnSpPr>
          <p:spPr>
            <a:xfrm>
              <a:off x="8104187" y="2350514"/>
              <a:ext cx="3175" cy="136048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71" name="Google Shape;571;p16"/>
            <p:cNvSpPr txBox="1"/>
            <p:nvPr/>
          </p:nvSpPr>
          <p:spPr>
            <a:xfrm>
              <a:off x="6542087" y="2410839"/>
              <a:ext cx="13112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identification</a:t>
              </a:r>
              <a:endParaRPr/>
            </a:p>
          </p:txBody>
        </p:sp>
        <p:sp>
          <p:nvSpPr>
            <p:cNvPr id="572" name="Google Shape;572;p16"/>
            <p:cNvSpPr txBox="1"/>
            <p:nvPr/>
          </p:nvSpPr>
          <p:spPr>
            <a:xfrm>
              <a:off x="8666162" y="2410839"/>
              <a:ext cx="6127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flags</a:t>
              </a:r>
              <a:endParaRPr/>
            </a:p>
          </p:txBody>
        </p:sp>
        <p:sp>
          <p:nvSpPr>
            <p:cNvPr id="573" name="Google Shape;573;p16"/>
            <p:cNvSpPr txBox="1"/>
            <p:nvPr/>
          </p:nvSpPr>
          <p:spPr>
            <a:xfrm>
              <a:off x="6573837" y="2868039"/>
              <a:ext cx="12223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questions</a:t>
              </a:r>
              <a:endParaRPr/>
            </a:p>
          </p:txBody>
        </p:sp>
        <p:sp>
          <p:nvSpPr>
            <p:cNvPr id="574" name="Google Shape;574;p16"/>
            <p:cNvSpPr txBox="1"/>
            <p:nvPr/>
          </p:nvSpPr>
          <p:spPr>
            <a:xfrm>
              <a:off x="6457950" y="3879277"/>
              <a:ext cx="3278188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questions (variable # of questions)</a:t>
              </a:r>
              <a:endParaRPr/>
            </a:p>
          </p:txBody>
        </p:sp>
        <p:sp>
          <p:nvSpPr>
            <p:cNvPr id="575" name="Google Shape;575;p16"/>
            <p:cNvSpPr txBox="1"/>
            <p:nvPr/>
          </p:nvSpPr>
          <p:spPr>
            <a:xfrm>
              <a:off x="8167687" y="3323652"/>
              <a:ext cx="1671638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additional RRs</a:t>
              </a:r>
              <a:endParaRPr/>
            </a:p>
          </p:txBody>
        </p:sp>
        <p:sp>
          <p:nvSpPr>
            <p:cNvPr id="576" name="Google Shape;576;p16"/>
            <p:cNvSpPr txBox="1"/>
            <p:nvPr/>
          </p:nvSpPr>
          <p:spPr>
            <a:xfrm>
              <a:off x="6415087" y="3325239"/>
              <a:ext cx="15843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authority RRs</a:t>
              </a:r>
              <a:endParaRPr/>
            </a:p>
          </p:txBody>
        </p:sp>
        <p:sp>
          <p:nvSpPr>
            <p:cNvPr id="577" name="Google Shape;577;p16"/>
            <p:cNvSpPr txBox="1"/>
            <p:nvPr/>
          </p:nvSpPr>
          <p:spPr>
            <a:xfrm>
              <a:off x="8266112" y="2877564"/>
              <a:ext cx="14589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answer RRs</a:t>
              </a:r>
              <a:endParaRPr/>
            </a:p>
          </p:txBody>
        </p:sp>
        <p:sp>
          <p:nvSpPr>
            <p:cNvPr id="578" name="Google Shape;578;p16"/>
            <p:cNvSpPr txBox="1"/>
            <p:nvPr/>
          </p:nvSpPr>
          <p:spPr>
            <a:xfrm>
              <a:off x="6765925" y="4563489"/>
              <a:ext cx="26908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answers (variable # of RRs)</a:t>
              </a:r>
              <a:endParaRPr/>
            </a:p>
          </p:txBody>
        </p:sp>
        <p:sp>
          <p:nvSpPr>
            <p:cNvPr id="579" name="Google Shape;579;p16"/>
            <p:cNvSpPr txBox="1"/>
            <p:nvPr/>
          </p:nvSpPr>
          <p:spPr>
            <a:xfrm>
              <a:off x="6796087" y="5249289"/>
              <a:ext cx="27146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authority (variable # of RRs)</a:t>
              </a:r>
              <a:endParaRPr/>
            </a:p>
          </p:txBody>
        </p:sp>
        <p:sp>
          <p:nvSpPr>
            <p:cNvPr id="580" name="Google Shape;580;p16"/>
            <p:cNvSpPr txBox="1"/>
            <p:nvPr/>
          </p:nvSpPr>
          <p:spPr>
            <a:xfrm>
              <a:off x="6492875" y="5916039"/>
              <a:ext cx="31861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additional info (variable # of RRs)</a:t>
              </a:r>
              <a:endParaRPr/>
            </a:p>
          </p:txBody>
        </p:sp>
        <p:grpSp>
          <p:nvGrpSpPr>
            <p:cNvPr id="581" name="Google Shape;581;p16"/>
            <p:cNvGrpSpPr/>
            <p:nvPr/>
          </p:nvGrpSpPr>
          <p:grpSpPr>
            <a:xfrm>
              <a:off x="6302375" y="1937764"/>
              <a:ext cx="1747837" cy="274638"/>
              <a:chOff x="2691" y="1194"/>
              <a:chExt cx="1101" cy="173"/>
            </a:xfrm>
          </p:grpSpPr>
          <p:sp>
            <p:nvSpPr>
              <p:cNvPr id="582" name="Google Shape;582;p16"/>
              <p:cNvSpPr txBox="1"/>
              <p:nvPr/>
            </p:nvSpPr>
            <p:spPr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 bytes</a:t>
                </a:r>
                <a:endParaRPr/>
              </a:p>
            </p:txBody>
          </p:sp>
          <p:cxnSp>
            <p:nvCxnSpPr>
              <p:cNvPr id="583" name="Google Shape;583;p16"/>
              <p:cNvCxnSpPr/>
              <p:nvPr/>
            </p:nvCxnSpPr>
            <p:spPr>
              <a:xfrm>
                <a:off x="3465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84" name="Google Shape;584;p16"/>
              <p:cNvCxnSpPr/>
              <p:nvPr/>
            </p:nvCxnSpPr>
            <p:spPr>
              <a:xfrm rot="10800000">
                <a:off x="2691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585" name="Google Shape;585;p16"/>
            <p:cNvGrpSpPr/>
            <p:nvPr/>
          </p:nvGrpSpPr>
          <p:grpSpPr>
            <a:xfrm>
              <a:off x="8077200" y="1937764"/>
              <a:ext cx="1747837" cy="274638"/>
              <a:chOff x="2691" y="1194"/>
              <a:chExt cx="1101" cy="173"/>
            </a:xfrm>
          </p:grpSpPr>
          <p:sp>
            <p:nvSpPr>
              <p:cNvPr id="586" name="Google Shape;586;p16"/>
              <p:cNvSpPr txBox="1"/>
              <p:nvPr/>
            </p:nvSpPr>
            <p:spPr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 bytes</a:t>
                </a:r>
                <a:endParaRPr/>
              </a:p>
            </p:txBody>
          </p:sp>
          <p:cxnSp>
            <p:nvCxnSpPr>
              <p:cNvPr id="587" name="Google Shape;587;p16"/>
              <p:cNvCxnSpPr/>
              <p:nvPr/>
            </p:nvCxnSpPr>
            <p:spPr>
              <a:xfrm>
                <a:off x="3465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88" name="Google Shape;588;p16"/>
              <p:cNvCxnSpPr/>
              <p:nvPr/>
            </p:nvCxnSpPr>
            <p:spPr>
              <a:xfrm rot="10800000">
                <a:off x="2691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sp>
        <p:nvSpPr>
          <p:cNvPr id="589" name="Google Shape;589;p16"/>
          <p:cNvSpPr txBox="1"/>
          <p:nvPr/>
        </p:nvSpPr>
        <p:spPr>
          <a:xfrm>
            <a:off x="693057" y="1391557"/>
            <a:ext cx="1039336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reply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messages, both have same 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format:</a:t>
            </a:r>
            <a:endParaRPr b="0" i="0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6"/>
          <p:cNvSpPr txBox="1"/>
          <p:nvPr/>
        </p:nvSpPr>
        <p:spPr>
          <a:xfrm>
            <a:off x="1027795" y="3882482"/>
            <a:ext cx="3970338" cy="4090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name, type fields for a query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6"/>
          <p:cNvSpPr txBox="1"/>
          <p:nvPr/>
        </p:nvSpPr>
        <p:spPr>
          <a:xfrm>
            <a:off x="998138" y="4604794"/>
            <a:ext cx="4003170" cy="4090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RRs in response to query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6"/>
          <p:cNvSpPr txBox="1"/>
          <p:nvPr/>
        </p:nvSpPr>
        <p:spPr>
          <a:xfrm>
            <a:off x="217715" y="5271771"/>
            <a:ext cx="4801281" cy="4090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records for authoritative servers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6"/>
          <p:cNvSpPr txBox="1"/>
          <p:nvPr/>
        </p:nvSpPr>
        <p:spPr>
          <a:xfrm>
            <a:off x="399371" y="5790401"/>
            <a:ext cx="4614409" cy="7229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additional “ helpful” info that may be used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4" name="Google Shape;594;p16"/>
          <p:cNvCxnSpPr/>
          <p:nvPr/>
        </p:nvCxnSpPr>
        <p:spPr>
          <a:xfrm rot="10800000">
            <a:off x="5070475" y="6126704"/>
            <a:ext cx="1371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16"/>
          <p:cNvCxnSpPr/>
          <p:nvPr/>
        </p:nvCxnSpPr>
        <p:spPr>
          <a:xfrm rot="10800000">
            <a:off x="5078413" y="5467891"/>
            <a:ext cx="1371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" name="Google Shape;596;p16"/>
          <p:cNvCxnSpPr/>
          <p:nvPr/>
        </p:nvCxnSpPr>
        <p:spPr>
          <a:xfrm rot="10800000">
            <a:off x="5086350" y="4809079"/>
            <a:ext cx="1371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" name="Google Shape;597;p16"/>
          <p:cNvCxnSpPr/>
          <p:nvPr/>
        </p:nvCxnSpPr>
        <p:spPr>
          <a:xfrm rot="10800000">
            <a:off x="5072063" y="4083591"/>
            <a:ext cx="1371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8" name="Google Shape;598;p16"/>
          <p:cNvSpPr txBox="1"/>
          <p:nvPr>
            <p:ph type="title"/>
          </p:nvPr>
        </p:nvSpPr>
        <p:spPr>
          <a:xfrm>
            <a:off x="8382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 protocol messages</a:t>
            </a:r>
            <a:endParaRPr sz="4400"/>
          </a:p>
        </p:txBody>
      </p:sp>
      <p:sp>
        <p:nvSpPr>
          <p:cNvPr id="599" name="Google Shape;599;p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7"/>
          <p:cNvSpPr txBox="1"/>
          <p:nvPr>
            <p:ph type="title"/>
          </p:nvPr>
        </p:nvSpPr>
        <p:spPr>
          <a:xfrm>
            <a:off x="8382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Getting your info into the DNS</a:t>
            </a:r>
            <a:endParaRPr sz="4400"/>
          </a:p>
        </p:txBody>
      </p:sp>
      <p:sp>
        <p:nvSpPr>
          <p:cNvPr id="606" name="Google Shape;606;p17"/>
          <p:cNvSpPr txBox="1"/>
          <p:nvPr/>
        </p:nvSpPr>
        <p:spPr>
          <a:xfrm>
            <a:off x="838200" y="1404537"/>
            <a:ext cx="1025334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new startup “Network Utopia”</a:t>
            </a:r>
            <a:endParaRPr/>
          </a:p>
          <a:p>
            <a:pPr indent="-29527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register name networkuptopia.com at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DNS registrar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(e.g., Network Solutions)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 names, IP addresses of authoritative name server (primary and secondary)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registrar inserts NS, A RRs into .com TLD server: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635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(networkutopia.com, dns1.networkutopia.com, NS)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Noto Sans Symbols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(dns1.networkutopia.com, 212.212.212.1, A)</a:t>
            </a:r>
            <a:endParaRPr b="0" i="0" sz="2200" u="none" cap="none" strike="noStrike">
              <a:solidFill>
                <a:srgbClr val="ED7D3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29527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authoritative server locally with IP address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212.212.212.1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type A record for www.networkuptopia.com</a:t>
            </a:r>
            <a:endParaRPr/>
          </a:p>
          <a:p>
            <a:pPr indent="-2952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type MX record for networkutopia.com</a:t>
            </a:r>
            <a:endParaRPr/>
          </a:p>
          <a:p>
            <a:pPr indent="-222250" lvl="0" marL="3524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8"/>
          <p:cNvSpPr txBox="1"/>
          <p:nvPr>
            <p:ph type="title"/>
          </p:nvPr>
        </p:nvSpPr>
        <p:spPr>
          <a:xfrm>
            <a:off x="8382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 security</a:t>
            </a:r>
            <a:endParaRPr sz="4400"/>
          </a:p>
        </p:txBody>
      </p:sp>
      <p:sp>
        <p:nvSpPr>
          <p:cNvPr id="614" name="Google Shape;614;p18"/>
          <p:cNvSpPr txBox="1"/>
          <p:nvPr/>
        </p:nvSpPr>
        <p:spPr>
          <a:xfrm>
            <a:off x="838200" y="1526094"/>
            <a:ext cx="502557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22228B"/>
                </a:solidFill>
                <a:latin typeface="Calibri"/>
                <a:ea typeface="Calibri"/>
                <a:cs typeface="Calibri"/>
                <a:sym typeface="Calibri"/>
              </a:rPr>
              <a:t>DDoS attacks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bombard root servers with traffic</a:t>
            </a:r>
            <a:endParaRPr/>
          </a:p>
          <a:p>
            <a:pPr indent="-227012" lvl="1" marL="5746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 successful to date</a:t>
            </a:r>
            <a:endParaRPr/>
          </a:p>
          <a:p>
            <a:pPr indent="-227012" lvl="1" marL="5746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traffic filtering</a:t>
            </a:r>
            <a:endParaRPr/>
          </a:p>
          <a:p>
            <a:pPr indent="-227012" lvl="1" marL="5746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DNS servers cache IPs of TLD servers, allowing root server bypass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bombard TLD servers</a:t>
            </a:r>
            <a:endParaRPr/>
          </a:p>
          <a:p>
            <a:pPr indent="-227012" lvl="1" marL="5746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potentially more dangerous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Comic Sans M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5" name="Google Shape;615;p18"/>
          <p:cNvSpPr txBox="1"/>
          <p:nvPr/>
        </p:nvSpPr>
        <p:spPr>
          <a:xfrm>
            <a:off x="6096000" y="1526094"/>
            <a:ext cx="4760686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21218A"/>
                </a:solidFill>
                <a:latin typeface="Calibri"/>
                <a:ea typeface="Calibri"/>
                <a:cs typeface="Calibri"/>
                <a:sym typeface="Calibri"/>
              </a:rPr>
              <a:t>Spoofing  attacks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intercept DNS queries, returning bogus replies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 cache poisoning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RFC 4033: DNSSEC authentication services</a:t>
            </a:r>
            <a:endParaRPr/>
          </a:p>
        </p:txBody>
      </p:sp>
      <p:sp>
        <p:nvSpPr>
          <p:cNvPr id="616" name="Google Shape;616;p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2020-01-18T07:24:59Z</dcterms:created>
  <dc:creator>James Kurose</dc:creator>
</cp:coreProperties>
</file>