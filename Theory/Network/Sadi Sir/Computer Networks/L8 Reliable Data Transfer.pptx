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3"/>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6858000" cx="12192000"/>
  <p:notesSz cx="6858000" cy="9144000"/>
  <p:embeddedFontLst>
    <p:embeddedFont>
      <p:font typeface="Tahoma"/>
      <p:regular r:id="rId54"/>
      <p:bold r:id="rId55"/>
    </p:embeddedFont>
    <p:embeddedFont>
      <p:font typeface="Noto Sans Symbols"/>
      <p:regular r:id="rId56"/>
      <p:bold r:id="rId57"/>
    </p:embeddedFont>
    <p:embeddedFont>
      <p:font typeface="Gill Sans"/>
      <p:regular r:id="rId58"/>
      <p:bold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Tahoma-bold.fntdata"/><Relationship Id="rId10" Type="http://schemas.openxmlformats.org/officeDocument/2006/relationships/slide" Target="slides/slide5.xml"/><Relationship Id="rId54" Type="http://schemas.openxmlformats.org/officeDocument/2006/relationships/font" Target="fonts/Tahoma-regular.fntdata"/><Relationship Id="rId13" Type="http://schemas.openxmlformats.org/officeDocument/2006/relationships/slide" Target="slides/slide8.xml"/><Relationship Id="rId57" Type="http://schemas.openxmlformats.org/officeDocument/2006/relationships/font" Target="fonts/NotoSansSymbols-bold.fntdata"/><Relationship Id="rId12" Type="http://schemas.openxmlformats.org/officeDocument/2006/relationships/slide" Target="slides/slide7.xml"/><Relationship Id="rId56" Type="http://schemas.openxmlformats.org/officeDocument/2006/relationships/font" Target="fonts/NotoSansSymbols-regular.fntdata"/><Relationship Id="rId15" Type="http://schemas.openxmlformats.org/officeDocument/2006/relationships/slide" Target="slides/slide10.xml"/><Relationship Id="rId59" Type="http://schemas.openxmlformats.org/officeDocument/2006/relationships/font" Target="fonts/GillSans-bold.fntdata"/><Relationship Id="rId14" Type="http://schemas.openxmlformats.org/officeDocument/2006/relationships/slide" Target="slides/slide9.xml"/><Relationship Id="rId58" Type="http://schemas.openxmlformats.org/officeDocument/2006/relationships/font" Target="fonts/GillSans-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g3800e6f9c1c_0_4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g3800e6f9c1c_0_4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Version History</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US"/>
              <a:t>8.1. Updates throughout, including a lot more animations.  These are the ppt files used to make Chapter 2 online lectures in Sept. 2020.</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US"/>
              <a:t>8.0  (April 2020)</a:t>
            </a:r>
            <a:endParaRPr/>
          </a:p>
          <a:p>
            <a:pPr indent="-171450" lvl="0" marL="171450" rtl="0" algn="l">
              <a:lnSpc>
                <a:spcPct val="100000"/>
              </a:lnSpc>
              <a:spcBef>
                <a:spcPts val="360"/>
              </a:spcBef>
              <a:spcAft>
                <a:spcPts val="0"/>
              </a:spcAft>
              <a:buClr>
                <a:schemeClr val="dk1"/>
              </a:buClr>
              <a:buSzPts val="1200"/>
              <a:buFont typeface="Arial"/>
              <a:buChar char="•"/>
            </a:pPr>
            <a:r>
              <a:rPr lang="en-US"/>
              <a:t>All slides reformatted for 16:9 aspect ratio</a:t>
            </a:r>
            <a:endParaRPr/>
          </a:p>
          <a:p>
            <a:pPr indent="-171450" lvl="0" marL="171450" rtl="0" algn="l">
              <a:lnSpc>
                <a:spcPct val="100000"/>
              </a:lnSpc>
              <a:spcBef>
                <a:spcPts val="360"/>
              </a:spcBef>
              <a:spcAft>
                <a:spcPts val="0"/>
              </a:spcAft>
              <a:buClr>
                <a:schemeClr val="dk1"/>
              </a:buClr>
              <a:buSzPts val="1200"/>
              <a:buFont typeface="Arial"/>
              <a:buChar char="•"/>
            </a:pPr>
            <a:r>
              <a:rPr lang="en-US"/>
              <a:t>All slides updated to 8</a:t>
            </a:r>
            <a:r>
              <a:rPr baseline="30000" lang="en-US"/>
              <a:t>th</a:t>
            </a:r>
            <a:r>
              <a:rPr lang="en-US"/>
              <a:t> edition material</a:t>
            </a:r>
            <a:endParaRPr/>
          </a:p>
          <a:p>
            <a:pPr indent="-171450" lvl="0" marL="171450" rtl="0" algn="l">
              <a:lnSpc>
                <a:spcPct val="100000"/>
              </a:lnSpc>
              <a:spcBef>
                <a:spcPts val="360"/>
              </a:spcBef>
              <a:spcAft>
                <a:spcPts val="0"/>
              </a:spcAft>
              <a:buClr>
                <a:schemeClr val="dk1"/>
              </a:buClr>
              <a:buSzPts val="1200"/>
              <a:buFont typeface="Arial"/>
              <a:buChar char="•"/>
            </a:pPr>
            <a:r>
              <a:rPr lang="en-US"/>
              <a:t>Use of Calibri font, rather that Gill Sans MT</a:t>
            </a:r>
            <a:endParaRPr/>
          </a:p>
          <a:p>
            <a:pPr indent="-171450" lvl="0" marL="171450" rtl="0" algn="l">
              <a:lnSpc>
                <a:spcPct val="100000"/>
              </a:lnSpc>
              <a:spcBef>
                <a:spcPts val="360"/>
              </a:spcBef>
              <a:spcAft>
                <a:spcPts val="0"/>
              </a:spcAft>
              <a:buClr>
                <a:schemeClr val="dk1"/>
              </a:buClr>
              <a:buSzPts val="1200"/>
              <a:buFont typeface="Arial"/>
              <a:buChar char="•"/>
            </a:pPr>
            <a:r>
              <a:rPr lang="en-US"/>
              <a:t>Add LOTS more animation throughout</a:t>
            </a:r>
            <a:endParaRPr/>
          </a:p>
        </p:txBody>
      </p:sp>
      <p:sp>
        <p:nvSpPr>
          <p:cNvPr id="44" name="Google Shape;44;g3800e6f9c1c_0_4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 name="Google Shape;5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By logical communication , we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mean that from an application’s perspective, it is as if the hosts running the processes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were directly connected; in reality, the hosts may be on opposite sides of the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planet, connected via numerous routers and a wide range of link types. Application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processes use the logical communication provided by the transport layer to send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messages to each other, free from the worry of the details of the physical infrastructure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used to carry these messages.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Let’s look at each of these three (logical communications, actions, </a:t>
            </a:r>
            <a:endParaRPr/>
          </a:p>
        </p:txBody>
      </p:sp>
      <p:sp>
        <p:nvSpPr>
          <p:cNvPr id="69" name="Google Shape;6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800e6f9c1c_0_4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078" name="Google Shape;1078;g3800e6f9c1c_0_4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9" name="Google Shape;1079;g3800e6f9c1c_0_4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800e6f9c1c_0_4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086" name="Google Shape;1086;g3800e6f9c1c_0_4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7" name="Google Shape;1087;g3800e6f9c1c_0_4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5" name="Google Shape;1095;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6" name="Google Shape;1096;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4" name="Google Shape;1104;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note arrows through reliable data transfer channel is just one way – reliably send from sender to receiver</a:t>
            </a:r>
            <a:endParaRPr/>
          </a:p>
        </p:txBody>
      </p:sp>
      <p:sp>
        <p:nvSpPr>
          <p:cNvPr id="1105" name="Google Shape;1105;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4" name="Google Shape;1174;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Spend some time talking about how its to the sender and receiver side protocol that IMPLEMENTS reliable data transfer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Communication over unreliable channel is TWO-way: sender and receiver will exchange messages back and forth to IMPLEMENT one-way  reliable data transfer</a:t>
            </a:r>
            <a:endParaRPr/>
          </a:p>
          <a:p>
            <a:pPr indent="0" lvl="0" marL="0" rtl="0" algn="l">
              <a:spcBef>
                <a:spcPts val="0"/>
              </a:spcBef>
              <a:spcAft>
                <a:spcPts val="0"/>
              </a:spcAft>
              <a:buNone/>
            </a:pPr>
            <a:r>
              <a:t/>
            </a:r>
            <a:endParaRPr/>
          </a:p>
        </p:txBody>
      </p:sp>
      <p:sp>
        <p:nvSpPr>
          <p:cNvPr id="1175" name="Google Shape;1175;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4" name="Google Shape;1324;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So we have a sender side and a receiver side. How much work they’ll have to do depends on the  IMPAIRMENTS introduced by channel – if the channel is perfect – no problem!</a:t>
            </a:r>
            <a:endParaRPr/>
          </a:p>
        </p:txBody>
      </p:sp>
      <p:sp>
        <p:nvSpPr>
          <p:cNvPr id="1325" name="Google Shape;1325;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3" name="Google Shape;1413;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a point of view to keep in mind – it’s easy for US to look at sender and receiver together and see what is happening.  OH – that message sent was lost.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But think about it say from senders POV How does the sender know if its transmitted message over the unreliable channel got though??  ONLY if receiver somehow signals to the sender that it was received.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key point here is that one side does NOT know what is going on at the other side – it’s as if there’s a curtain between them.  Everything they know about the other can ONLY be learned by sending/receiving messages.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Sender process wants to make sure a segment got through.  But it can just somehow magically look through curtain to see if receiver got it.  It will be up to the receiver to let the sender KNOW that it (the receiver) has correctly received the segment.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will the sender and receiver do that – that’s the PROTOCOL.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Before starting to develop a protocol, let’s look more closely at the interface (the API if you will) </a:t>
            </a:r>
            <a:endParaRPr/>
          </a:p>
        </p:txBody>
      </p:sp>
      <p:sp>
        <p:nvSpPr>
          <p:cNvPr id="1414" name="Google Shape;1414;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4" name="Google Shape;1504;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5" name="Google Shape;1505;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3" name="Shape 1633"/>
        <p:cNvGrpSpPr/>
        <p:nvPr/>
      </p:nvGrpSpPr>
      <p:grpSpPr>
        <a:xfrm>
          <a:off x="0" y="0"/>
          <a:ext cx="0" cy="0"/>
          <a:chOff x="0" y="0"/>
          <a:chExt cx="0" cy="0"/>
        </a:xfrm>
      </p:grpSpPr>
      <p:sp>
        <p:nvSpPr>
          <p:cNvPr id="1634" name="Google Shape;1634;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5" name="Google Shape;1635;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SO let’s get started in developing our reliable data transfer protocol, which we’ll call rdt (need a good acronym for protocol – like HTTP, TCP, UDP, IP)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Bullet points 1 and 2</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if we are going to develop a protocol, so we’ll need some way to SPECIFY a protocol.  </a:t>
            </a:r>
            <a:r>
              <a:rPr b="1" i="1" lang="en-US"/>
              <a:t>How</a:t>
            </a:r>
            <a:r>
              <a:rPr lang="en-US"/>
              <a:t> do we do that?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could write text, but as all know, that’s prone to misinterpretation, and might be incomplete.  You might write a specification, and then think “oh yeah – I forgot about that case”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we need is more </a:t>
            </a:r>
            <a:r>
              <a:rPr b="1" i="1" lang="en-US"/>
              <a:t>formal</a:t>
            </a:r>
            <a:r>
              <a:rPr lang="en-US"/>
              <a:t> way to specify a protocol.  In fact, with a formal specification there may be ways to PROVE PROPERTIES about a specification.  But that’s an advanced topic we won’t get into here. We’ll start here by adopting a fairly simple protocol specification technique known as finite state machines (FSM)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as the name might suggest, a central notion of finite state machines is the notion of STATE </a:t>
            </a:r>
            <a:endParaRPr/>
          </a:p>
          <a:p>
            <a:pPr indent="0" lvl="0" marL="0" rtl="0" algn="l">
              <a:spcBef>
                <a:spcPts val="0"/>
              </a:spcBef>
              <a:spcAft>
                <a:spcPts val="0"/>
              </a:spcAft>
              <a:buNone/>
            </a:pPr>
            <a:r>
              <a:rPr lang="en-US"/>
              <a:t>&lt;talk about state&gt;</a:t>
            </a:r>
            <a:endParaRPr/>
          </a:p>
        </p:txBody>
      </p:sp>
      <p:sp>
        <p:nvSpPr>
          <p:cNvPr id="1636" name="Google Shape;1636;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9" name="Shape 1659"/>
        <p:cNvGrpSpPr/>
        <p:nvPr/>
      </p:nvGrpSpPr>
      <p:grpSpPr>
        <a:xfrm>
          <a:off x="0" y="0"/>
          <a:ext cx="0" cy="0"/>
          <a:chOff x="0" y="0"/>
          <a:chExt cx="0" cy="0"/>
        </a:xfrm>
      </p:grpSpPr>
      <p:sp>
        <p:nvSpPr>
          <p:cNvPr id="1660" name="Google Shape;1660;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1" name="Google Shape;1661;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 We’ll start with the simplest case possible - an unreliable channel that is, in fact perfect – no segments are lost, corrupted, duplicated or reordered.  The sender just sends and it pops out the other side(perhaps after some delay) perfectly.</a:t>
            </a:r>
            <a:endParaRPr/>
          </a:p>
          <a:p>
            <a:pPr indent="0" lvl="0" marL="0" rtl="0" algn="l">
              <a:spcBef>
                <a:spcPts val="0"/>
              </a:spcBef>
              <a:spcAft>
                <a:spcPts val="0"/>
              </a:spcAft>
              <a:buNone/>
            </a:pPr>
            <a:r>
              <a:t/>
            </a:r>
            <a:endParaRPr/>
          </a:p>
        </p:txBody>
      </p:sp>
      <p:sp>
        <p:nvSpPr>
          <p:cNvPr id="1662" name="Google Shape;1662;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0" name="Shape 1690"/>
        <p:cNvGrpSpPr/>
        <p:nvPr/>
      </p:nvGrpSpPr>
      <p:grpSpPr>
        <a:xfrm>
          <a:off x="0" y="0"/>
          <a:ext cx="0" cy="0"/>
          <a:chOff x="0" y="0"/>
          <a:chExt cx="0" cy="0"/>
        </a:xfrm>
      </p:grpSpPr>
      <p:sp>
        <p:nvSpPr>
          <p:cNvPr id="1691" name="Google Shape;1691;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2" name="Google Shape;1692;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3" name="Google Shape;1693;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9" name="Shape 1699"/>
        <p:cNvGrpSpPr/>
        <p:nvPr/>
      </p:nvGrpSpPr>
      <p:grpSpPr>
        <a:xfrm>
          <a:off x="0" y="0"/>
          <a:ext cx="0" cy="0"/>
          <a:chOff x="0" y="0"/>
          <a:chExt cx="0" cy="0"/>
        </a:xfrm>
      </p:grpSpPr>
      <p:sp>
        <p:nvSpPr>
          <p:cNvPr id="1700" name="Google Shape;1700;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1" name="Google Shape;1701;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2" name="Google Shape;1702;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3" name="Shape 1713"/>
        <p:cNvGrpSpPr/>
        <p:nvPr/>
      </p:nvGrpSpPr>
      <p:grpSpPr>
        <a:xfrm>
          <a:off x="0" y="0"/>
          <a:ext cx="0" cy="0"/>
          <a:chOff x="0" y="0"/>
          <a:chExt cx="0" cy="0"/>
        </a:xfrm>
      </p:grpSpPr>
      <p:sp>
        <p:nvSpPr>
          <p:cNvPr id="1714" name="Google Shape;1714;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5" name="Google Shape;1715;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6" name="Google Shape;1716;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1" name="Shape 1761"/>
        <p:cNvGrpSpPr/>
        <p:nvPr/>
      </p:nvGrpSpPr>
      <p:grpSpPr>
        <a:xfrm>
          <a:off x="0" y="0"/>
          <a:ext cx="0" cy="0"/>
          <a:chOff x="0" y="0"/>
          <a:chExt cx="0" cy="0"/>
        </a:xfrm>
      </p:grpSpPr>
      <p:sp>
        <p:nvSpPr>
          <p:cNvPr id="1762" name="Google Shape;1762;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3" name="Google Shape;1763;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4" name="Google Shape;1764;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0" name="Shape 1810"/>
        <p:cNvGrpSpPr/>
        <p:nvPr/>
      </p:nvGrpSpPr>
      <p:grpSpPr>
        <a:xfrm>
          <a:off x="0" y="0"/>
          <a:ext cx="0" cy="0"/>
          <a:chOff x="0" y="0"/>
          <a:chExt cx="0" cy="0"/>
        </a:xfrm>
      </p:grpSpPr>
      <p:sp>
        <p:nvSpPr>
          <p:cNvPr id="1811" name="Google Shape;1811;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2" name="Google Shape;1812;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3" name="Google Shape;1813;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0" name="Shape 1870"/>
        <p:cNvGrpSpPr/>
        <p:nvPr/>
      </p:nvGrpSpPr>
      <p:grpSpPr>
        <a:xfrm>
          <a:off x="0" y="0"/>
          <a:ext cx="0" cy="0"/>
          <a:chOff x="0" y="0"/>
          <a:chExt cx="0" cy="0"/>
        </a:xfrm>
      </p:grpSpPr>
      <p:sp>
        <p:nvSpPr>
          <p:cNvPr id="1871" name="Google Shape;1871;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2" name="Google Shape;1872;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3" name="Google Shape;1873;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3" name="Shape 1933"/>
        <p:cNvGrpSpPr/>
        <p:nvPr/>
      </p:nvGrpSpPr>
      <p:grpSpPr>
        <a:xfrm>
          <a:off x="0" y="0"/>
          <a:ext cx="0" cy="0"/>
          <a:chOff x="0" y="0"/>
          <a:chExt cx="0" cy="0"/>
        </a:xfrm>
      </p:grpSpPr>
      <p:sp>
        <p:nvSpPr>
          <p:cNvPr id="1934" name="Google Shape;1934;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5" name="Google Shape;1935;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6" name="Google Shape;1936;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7" name="Shape 1947"/>
        <p:cNvGrpSpPr/>
        <p:nvPr/>
      </p:nvGrpSpPr>
      <p:grpSpPr>
        <a:xfrm>
          <a:off x="0" y="0"/>
          <a:ext cx="0" cy="0"/>
          <a:chOff x="0" y="0"/>
          <a:chExt cx="0" cy="0"/>
        </a:xfrm>
      </p:grpSpPr>
      <p:sp>
        <p:nvSpPr>
          <p:cNvPr id="1948" name="Google Shape;1948;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9" name="Google Shape;1949;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0" name="Google Shape;1950;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7" name="Shape 1997"/>
        <p:cNvGrpSpPr/>
        <p:nvPr/>
      </p:nvGrpSpPr>
      <p:grpSpPr>
        <a:xfrm>
          <a:off x="0" y="0"/>
          <a:ext cx="0" cy="0"/>
          <a:chOff x="0" y="0"/>
          <a:chExt cx="0" cy="0"/>
        </a:xfrm>
      </p:grpSpPr>
      <p:sp>
        <p:nvSpPr>
          <p:cNvPr id="1998" name="Google Shape;1998;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9" name="Google Shape;1999;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0" name="Google Shape;2000;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2" name="Shape 2042"/>
        <p:cNvGrpSpPr/>
        <p:nvPr/>
      </p:nvGrpSpPr>
      <p:grpSpPr>
        <a:xfrm>
          <a:off x="0" y="0"/>
          <a:ext cx="0" cy="0"/>
          <a:chOff x="0" y="0"/>
          <a:chExt cx="0" cy="0"/>
        </a:xfrm>
      </p:grpSpPr>
      <p:sp>
        <p:nvSpPr>
          <p:cNvPr id="2043" name="Google Shape;2043;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4" name="Google Shape;2044;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5" name="Google Shape;2045;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1" name="Shape 2051"/>
        <p:cNvGrpSpPr/>
        <p:nvPr/>
      </p:nvGrpSpPr>
      <p:grpSpPr>
        <a:xfrm>
          <a:off x="0" y="0"/>
          <a:ext cx="0" cy="0"/>
          <a:chOff x="0" y="0"/>
          <a:chExt cx="0" cy="0"/>
        </a:xfrm>
      </p:grpSpPr>
      <p:sp>
        <p:nvSpPr>
          <p:cNvPr id="2052" name="Google Shape;2052;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3" name="Google Shape;2053;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4" name="Google Shape;2054;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0" name="Shape 2060"/>
        <p:cNvGrpSpPr/>
        <p:nvPr/>
      </p:nvGrpSpPr>
      <p:grpSpPr>
        <a:xfrm>
          <a:off x="0" y="0"/>
          <a:ext cx="0" cy="0"/>
          <a:chOff x="0" y="0"/>
          <a:chExt cx="0" cy="0"/>
        </a:xfrm>
      </p:grpSpPr>
      <p:sp>
        <p:nvSpPr>
          <p:cNvPr id="2061" name="Google Shape;2061;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2" name="Google Shape;2062;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3" name="Google Shape;2063;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4" name="Shape 2104"/>
        <p:cNvGrpSpPr/>
        <p:nvPr/>
      </p:nvGrpSpPr>
      <p:grpSpPr>
        <a:xfrm>
          <a:off x="0" y="0"/>
          <a:ext cx="0" cy="0"/>
          <a:chOff x="0" y="0"/>
          <a:chExt cx="0" cy="0"/>
        </a:xfrm>
      </p:grpSpPr>
      <p:sp>
        <p:nvSpPr>
          <p:cNvPr id="2105" name="Google Shape;2105;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6" name="Google Shape;2106;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7" name="Google Shape;2107;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3" name="Shape 2113"/>
        <p:cNvGrpSpPr/>
        <p:nvPr/>
      </p:nvGrpSpPr>
      <p:grpSpPr>
        <a:xfrm>
          <a:off x="0" y="0"/>
          <a:ext cx="0" cy="0"/>
          <a:chOff x="0" y="0"/>
          <a:chExt cx="0" cy="0"/>
        </a:xfrm>
      </p:grpSpPr>
      <p:sp>
        <p:nvSpPr>
          <p:cNvPr id="2114" name="Google Shape;2114;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5" name="Google Shape;2115;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6" name="Google Shape;2116;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5" name="Shape 2125"/>
        <p:cNvGrpSpPr/>
        <p:nvPr/>
      </p:nvGrpSpPr>
      <p:grpSpPr>
        <a:xfrm>
          <a:off x="0" y="0"/>
          <a:ext cx="0" cy="0"/>
          <a:chOff x="0" y="0"/>
          <a:chExt cx="0" cy="0"/>
        </a:xfrm>
      </p:grpSpPr>
      <p:sp>
        <p:nvSpPr>
          <p:cNvPr id="2126" name="Google Shape;2126;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7" name="Google Shape;2127;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see the familiar four state sender from our rdt 2.1 and 2.2 protocols. Top two states when sending packet with zero seq # and bottom two </a:t>
            </a:r>
            <a:endParaRPr/>
          </a:p>
        </p:txBody>
      </p:sp>
      <p:sp>
        <p:nvSpPr>
          <p:cNvPr id="2128" name="Google Shape;2128;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6" name="Shape 2176"/>
        <p:cNvGrpSpPr/>
        <p:nvPr/>
      </p:nvGrpSpPr>
      <p:grpSpPr>
        <a:xfrm>
          <a:off x="0" y="0"/>
          <a:ext cx="0" cy="0"/>
          <a:chOff x="0" y="0"/>
          <a:chExt cx="0" cy="0"/>
        </a:xfrm>
      </p:grpSpPr>
      <p:sp>
        <p:nvSpPr>
          <p:cNvPr id="2177" name="Google Shape;2177;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8" name="Google Shape;2178;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see the familiar four state sender from our rdt 2.1 and 2.2 protocols. Top two states when sending packet with zero seq # and bottom two </a:t>
            </a:r>
            <a:endParaRPr/>
          </a:p>
        </p:txBody>
      </p:sp>
      <p:sp>
        <p:nvSpPr>
          <p:cNvPr id="2179" name="Google Shape;2179;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9" name="Shape 2259"/>
        <p:cNvGrpSpPr/>
        <p:nvPr/>
      </p:nvGrpSpPr>
      <p:grpSpPr>
        <a:xfrm>
          <a:off x="0" y="0"/>
          <a:ext cx="0" cy="0"/>
          <a:chOff x="0" y="0"/>
          <a:chExt cx="0" cy="0"/>
        </a:xfrm>
      </p:grpSpPr>
      <p:sp>
        <p:nvSpPr>
          <p:cNvPr id="2260" name="Google Shape;2260;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1" name="Google Shape;2261;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2" name="Google Shape;2262;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2" name="Shape 2342"/>
        <p:cNvGrpSpPr/>
        <p:nvPr/>
      </p:nvGrpSpPr>
      <p:grpSpPr>
        <a:xfrm>
          <a:off x="0" y="0"/>
          <a:ext cx="0" cy="0"/>
          <a:chOff x="0" y="0"/>
          <a:chExt cx="0" cy="0"/>
        </a:xfrm>
      </p:grpSpPr>
      <p:sp>
        <p:nvSpPr>
          <p:cNvPr id="2343" name="Google Shape;2343;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4" name="Google Shape;2344;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5" name="Google Shape;2345;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9" name="Shape 2459"/>
        <p:cNvGrpSpPr/>
        <p:nvPr/>
      </p:nvGrpSpPr>
      <p:grpSpPr>
        <a:xfrm>
          <a:off x="0" y="0"/>
          <a:ext cx="0" cy="0"/>
          <a:chOff x="0" y="0"/>
          <a:chExt cx="0" cy="0"/>
        </a:xfrm>
      </p:grpSpPr>
      <p:sp>
        <p:nvSpPr>
          <p:cNvPr id="2460" name="Google Shape;2460;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1" name="Google Shape;2461;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if RTT=30 msec, 1KB pkt every 30 msec: 33kB/sec thruput over 1 Gbps link</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network protocol limits use of physical resources</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Let’s develop a formula for utilization</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t/>
            </a:r>
            <a:endParaRPr/>
          </a:p>
        </p:txBody>
      </p:sp>
      <p:sp>
        <p:nvSpPr>
          <p:cNvPr id="2462" name="Google Shape;2462;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3" name="Shape 2483"/>
        <p:cNvGrpSpPr/>
        <p:nvPr/>
      </p:nvGrpSpPr>
      <p:grpSpPr>
        <a:xfrm>
          <a:off x="0" y="0"/>
          <a:ext cx="0" cy="0"/>
          <a:chOff x="0" y="0"/>
          <a:chExt cx="0" cy="0"/>
        </a:xfrm>
      </p:grpSpPr>
      <p:sp>
        <p:nvSpPr>
          <p:cNvPr id="2484" name="Google Shape;2484;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5" name="Google Shape;2485;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6" name="Google Shape;2486;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8" name="Shape 2518"/>
        <p:cNvGrpSpPr/>
        <p:nvPr/>
      </p:nvGrpSpPr>
      <p:grpSpPr>
        <a:xfrm>
          <a:off x="0" y="0"/>
          <a:ext cx="0" cy="0"/>
          <a:chOff x="0" y="0"/>
          <a:chExt cx="0" cy="0"/>
        </a:xfrm>
      </p:grpSpPr>
      <p:sp>
        <p:nvSpPr>
          <p:cNvPr id="2519" name="Google Shape;2519;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0" name="Google Shape;2520;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1" name="Google Shape;2521;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1" name="Shape 2571"/>
        <p:cNvGrpSpPr/>
        <p:nvPr/>
      </p:nvGrpSpPr>
      <p:grpSpPr>
        <a:xfrm>
          <a:off x="0" y="0"/>
          <a:ext cx="0" cy="0"/>
          <a:chOff x="0" y="0"/>
          <a:chExt cx="0" cy="0"/>
        </a:xfrm>
      </p:grpSpPr>
      <p:sp>
        <p:nvSpPr>
          <p:cNvPr id="2572" name="Google Shape;2572;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3" name="Google Shape;2573;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4" name="Google Shape;2574;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9" name="Shape 2659"/>
        <p:cNvGrpSpPr/>
        <p:nvPr/>
      </p:nvGrpSpPr>
      <p:grpSpPr>
        <a:xfrm>
          <a:off x="0" y="0"/>
          <a:ext cx="0" cy="0"/>
          <a:chOff x="0" y="0"/>
          <a:chExt cx="0" cy="0"/>
        </a:xfrm>
      </p:grpSpPr>
      <p:sp>
        <p:nvSpPr>
          <p:cNvPr id="2660" name="Google Shape;2660;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1" name="Google Shape;2661;p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two generic forms of pipelined protocols: </a:t>
            </a:r>
            <a:r>
              <a:rPr b="0" i="1" lang="en-US" sz="1200" u="none" cap="none" strike="noStrike">
                <a:solidFill>
                  <a:srgbClr val="CC0000"/>
                </a:solidFill>
                <a:latin typeface="Calibri"/>
                <a:ea typeface="Calibri"/>
                <a:cs typeface="Calibri"/>
                <a:sym typeface="Calibri"/>
              </a:rPr>
              <a:t>go-Back-N, selective repeat</a:t>
            </a:r>
            <a:endParaRPr/>
          </a:p>
          <a:p>
            <a:pPr indent="0" lvl="0" marL="0" rtl="0" algn="l">
              <a:spcBef>
                <a:spcPts val="0"/>
              </a:spcBef>
              <a:spcAft>
                <a:spcPts val="0"/>
              </a:spcAft>
              <a:buNone/>
            </a:pPr>
            <a:r>
              <a:t/>
            </a:r>
            <a:endParaRPr/>
          </a:p>
        </p:txBody>
      </p:sp>
      <p:sp>
        <p:nvSpPr>
          <p:cNvPr id="2662" name="Google Shape;2662;p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6" name="Shape 2726"/>
        <p:cNvGrpSpPr/>
        <p:nvPr/>
      </p:nvGrpSpPr>
      <p:grpSpPr>
        <a:xfrm>
          <a:off x="0" y="0"/>
          <a:ext cx="0" cy="0"/>
          <a:chOff x="0" y="0"/>
          <a:chExt cx="0" cy="0"/>
        </a:xfrm>
      </p:grpSpPr>
      <p:sp>
        <p:nvSpPr>
          <p:cNvPr id="2727" name="Google Shape;2727;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8" name="Google Shape;2728;p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window size of 14, 8 have been sent but are not yet acknowledged, 6 sequence numbers are available for us. In window, but no calls from above to use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Note – we’ll skip the Go-Back-N FSM specification you can check that out in PowerPoint slides or book)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TCP uses cumulative ACK</a:t>
            </a:r>
            <a:endParaRPr/>
          </a:p>
        </p:txBody>
      </p:sp>
      <p:sp>
        <p:nvSpPr>
          <p:cNvPr id="2729" name="Google Shape;2729;p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7" name="Shape 2737"/>
        <p:cNvGrpSpPr/>
        <p:nvPr/>
      </p:nvGrpSpPr>
      <p:grpSpPr>
        <a:xfrm>
          <a:off x="0" y="0"/>
          <a:ext cx="0" cy="0"/>
          <a:chOff x="0" y="0"/>
          <a:chExt cx="0" cy="0"/>
        </a:xfrm>
      </p:grpSpPr>
      <p:sp>
        <p:nvSpPr>
          <p:cNvPr id="2738" name="Google Shape;2738;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9" name="Google Shape;2739;p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Note – we’ll skip the Go-Back-N FSM specification (actually it’s  </a:t>
            </a:r>
            <a:endParaRPr/>
          </a:p>
        </p:txBody>
      </p:sp>
      <p:sp>
        <p:nvSpPr>
          <p:cNvPr id="2740" name="Google Shape;2740;p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2" name="Shape 2772"/>
        <p:cNvGrpSpPr/>
        <p:nvPr/>
      </p:nvGrpSpPr>
      <p:grpSpPr>
        <a:xfrm>
          <a:off x="0" y="0"/>
          <a:ext cx="0" cy="0"/>
          <a:chOff x="0" y="0"/>
          <a:chExt cx="0" cy="0"/>
        </a:xfrm>
      </p:grpSpPr>
      <p:sp>
        <p:nvSpPr>
          <p:cNvPr id="2773" name="Google Shape;2773;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4" name="Google Shape;2774;p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Let’s skip FSM specification for GBN – check out the book or ppt – and let’s watch GBN sender and receivers  in action.</a:t>
            </a:r>
            <a:endParaRPr/>
          </a:p>
          <a:p>
            <a:pPr indent="0" lvl="0" marL="0" rtl="0" algn="l">
              <a:spcBef>
                <a:spcPts val="0"/>
              </a:spcBef>
              <a:spcAft>
                <a:spcPts val="0"/>
              </a:spcAft>
              <a:buNone/>
            </a:pPr>
            <a:r>
              <a:rPr lang="en-US"/>
              <a:t>Let assume a window size of 4.  at t=0, sender sends packets 0, 1, 2 3, 4, and packet 2 will be lost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the receiver:</a:t>
            </a:r>
            <a:endParaRPr/>
          </a:p>
          <a:p>
            <a:pPr indent="0" lvl="0" marL="0" rtl="0" algn="l">
              <a:spcBef>
                <a:spcPts val="0"/>
              </a:spcBef>
              <a:spcAft>
                <a:spcPts val="0"/>
              </a:spcAft>
              <a:buNone/>
            </a:pPr>
            <a:r>
              <a:rPr lang="en-US"/>
              <a:t>Packet 0 received ACK0 generated</a:t>
            </a:r>
            <a:endParaRPr/>
          </a:p>
          <a:p>
            <a:pPr indent="0" lvl="0" marL="0" rtl="0" algn="l">
              <a:spcBef>
                <a:spcPts val="0"/>
              </a:spcBef>
              <a:spcAft>
                <a:spcPts val="0"/>
              </a:spcAft>
              <a:buNone/>
            </a:pPr>
            <a:r>
              <a:rPr lang="en-US"/>
              <a:t>Packet 1 received ACK1 generated</a:t>
            </a:r>
            <a:endParaRPr/>
          </a:p>
          <a:p>
            <a:pPr indent="0" lvl="0" marL="0" rtl="0" algn="l">
              <a:spcBef>
                <a:spcPts val="0"/>
              </a:spcBef>
              <a:spcAft>
                <a:spcPts val="0"/>
              </a:spcAft>
              <a:buNone/>
            </a:pPr>
            <a:r>
              <a:rPr lang="en-US"/>
              <a:t>Packet 2 is lost, and so when packet 3 is received, ACK 1 is sent – that’s the cumulative ACK, re-Acknowledging the receipt of packet 1. and in this implementation packet 3 is discarded</a:t>
            </a:r>
            <a:endParaRPr/>
          </a:p>
          <a:p>
            <a:pPr indent="0" lvl="0" marL="0" rtl="0" algn="l">
              <a:spcBef>
                <a:spcPts val="0"/>
              </a:spcBef>
              <a:spcAft>
                <a:spcPts val="0"/>
              </a:spcAft>
              <a:buNone/>
            </a:pPr>
            <a:r>
              <a:t/>
            </a:r>
            <a:endParaRPr/>
          </a:p>
        </p:txBody>
      </p:sp>
      <p:sp>
        <p:nvSpPr>
          <p:cNvPr id="2775" name="Google Shape;2775;p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9" name="Shape 2859"/>
        <p:cNvGrpSpPr/>
        <p:nvPr/>
      </p:nvGrpSpPr>
      <p:grpSpPr>
        <a:xfrm>
          <a:off x="0" y="0"/>
          <a:ext cx="0" cy="0"/>
          <a:chOff x="0" y="0"/>
          <a:chExt cx="0" cy="0"/>
        </a:xfrm>
      </p:grpSpPr>
      <p:sp>
        <p:nvSpPr>
          <p:cNvPr id="2860" name="Google Shape;2860;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1" name="Google Shape;2861;p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An important mechanism of GBN was the use of the cumulative acknowledgements, and as we mentioned, cumulative ACKs are used in TCP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 alternate ACK mechanism would be for the receiver to individually acknowledge specific packets as they are received.  This mechanism is at the heart of the Selective repeat protocol.</a:t>
            </a:r>
            <a:endParaRPr/>
          </a:p>
          <a:p>
            <a:pPr indent="0" lvl="0" marL="0" rtl="0" algn="l">
              <a:spcBef>
                <a:spcPts val="0"/>
              </a:spcBef>
              <a:spcAft>
                <a:spcPts val="0"/>
              </a:spcAft>
              <a:buNone/>
            </a:pPr>
            <a:r>
              <a:t/>
            </a:r>
            <a:endParaRPr/>
          </a:p>
        </p:txBody>
      </p:sp>
      <p:sp>
        <p:nvSpPr>
          <p:cNvPr id="2862" name="Google Shape;2862;p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7" name="Shape 2867"/>
        <p:cNvGrpSpPr/>
        <p:nvPr/>
      </p:nvGrpSpPr>
      <p:grpSpPr>
        <a:xfrm>
          <a:off x="0" y="0"/>
          <a:ext cx="0" cy="0"/>
          <a:chOff x="0" y="0"/>
          <a:chExt cx="0" cy="0"/>
        </a:xfrm>
      </p:grpSpPr>
      <p:sp>
        <p:nvSpPr>
          <p:cNvPr id="2868" name="Google Shape;2868;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9" name="Google Shape;2869;p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0" name="Google Shape;2870;p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5" name="Shape 2885"/>
        <p:cNvGrpSpPr/>
        <p:nvPr/>
      </p:nvGrpSpPr>
      <p:grpSpPr>
        <a:xfrm>
          <a:off x="0" y="0"/>
          <a:ext cx="0" cy="0"/>
          <a:chOff x="0" y="0"/>
          <a:chExt cx="0" cy="0"/>
        </a:xfrm>
      </p:grpSpPr>
      <p:sp>
        <p:nvSpPr>
          <p:cNvPr id="2886" name="Google Shape;2886;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7" name="Google Shape;2887;p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If the packet is in order, its data will be delivered, as will any buffered data that can now be delivered in order</a:t>
            </a:r>
            <a:endParaRPr/>
          </a:p>
        </p:txBody>
      </p:sp>
      <p:sp>
        <p:nvSpPr>
          <p:cNvPr id="2888" name="Google Shape;2888;p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3" name="Shape 2903"/>
        <p:cNvGrpSpPr/>
        <p:nvPr/>
      </p:nvGrpSpPr>
      <p:grpSpPr>
        <a:xfrm>
          <a:off x="0" y="0"/>
          <a:ext cx="0" cy="0"/>
          <a:chOff x="0" y="0"/>
          <a:chExt cx="0" cy="0"/>
        </a:xfrm>
      </p:grpSpPr>
      <p:sp>
        <p:nvSpPr>
          <p:cNvPr id="2904" name="Google Shape;2904;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5" name="Google Shape;2905;p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6" name="Google Shape;2906;p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3" name="Shape 2983"/>
        <p:cNvGrpSpPr/>
        <p:nvPr/>
      </p:nvGrpSpPr>
      <p:grpSpPr>
        <a:xfrm>
          <a:off x="0" y="0"/>
          <a:ext cx="0" cy="0"/>
          <a:chOff x="0" y="0"/>
          <a:chExt cx="0" cy="0"/>
        </a:xfrm>
      </p:grpSpPr>
      <p:sp>
        <p:nvSpPr>
          <p:cNvPr id="2984" name="Google Shape;2984;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5" name="Google Shape;2985;p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6" name="Google Shape;2986;p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9" name="Shape 3069"/>
        <p:cNvGrpSpPr/>
        <p:nvPr/>
      </p:nvGrpSpPr>
      <p:grpSpPr>
        <a:xfrm>
          <a:off x="0" y="0"/>
          <a:ext cx="0" cy="0"/>
          <a:chOff x="0" y="0"/>
          <a:chExt cx="0" cy="0"/>
        </a:xfrm>
      </p:grpSpPr>
      <p:sp>
        <p:nvSpPr>
          <p:cNvPr id="3070" name="Google Shape;3070;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1" name="Google Shape;3071;p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2" name="Google Shape;3072;p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2" name="Shape 3162"/>
        <p:cNvGrpSpPr/>
        <p:nvPr/>
      </p:nvGrpSpPr>
      <p:grpSpPr>
        <a:xfrm>
          <a:off x="0" y="0"/>
          <a:ext cx="0" cy="0"/>
          <a:chOff x="0" y="0"/>
          <a:chExt cx="0" cy="0"/>
        </a:xfrm>
      </p:grpSpPr>
      <p:sp>
        <p:nvSpPr>
          <p:cNvPr id="3163" name="Google Shape;3163;g381b0be397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64" name="Google Shape;3164;g381b0be397d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5" name="Google Shape;3165;g381b0be397d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 name="Shape 16"/>
        <p:cNvGrpSpPr/>
        <p:nvPr/>
      </p:nvGrpSpPr>
      <p:grpSpPr>
        <a:xfrm>
          <a:off x="0" y="0"/>
          <a:ext cx="0" cy="0"/>
          <a:chOff x="0" y="0"/>
          <a:chExt cx="0" cy="0"/>
        </a:xfrm>
      </p:grpSpPr>
      <p:sp>
        <p:nvSpPr>
          <p:cNvPr id="17" name="Google Shape;17;p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5" name="Shape 25"/>
        <p:cNvGrpSpPr/>
        <p:nvPr/>
      </p:nvGrpSpPr>
      <p:grpSpPr>
        <a:xfrm>
          <a:off x="0" y="0"/>
          <a:ext cx="0" cy="0"/>
          <a:chOff x="0" y="0"/>
          <a:chExt cx="0" cy="0"/>
        </a:xfrm>
      </p:grpSpPr>
      <p:sp>
        <p:nvSpPr>
          <p:cNvPr id="26" name="Google Shape;26;p5"/>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 name="Shape 29"/>
        <p:cNvGrpSpPr/>
        <p:nvPr/>
      </p:nvGrpSpPr>
      <p:grpSpPr>
        <a:xfrm>
          <a:off x="0" y="0"/>
          <a:ext cx="0" cy="0"/>
          <a:chOff x="0" y="0"/>
          <a:chExt cx="0" cy="0"/>
        </a:xfrm>
      </p:grpSpPr>
      <p:sp>
        <p:nvSpPr>
          <p:cNvPr id="30" name="Google Shape;30;p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2" name="Google Shape;32;p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3" name="Shape 33"/>
        <p:cNvGrpSpPr/>
        <p:nvPr/>
      </p:nvGrpSpPr>
      <p:grpSpPr>
        <a:xfrm>
          <a:off x="0" y="0"/>
          <a:ext cx="0" cy="0"/>
          <a:chOff x="0" y="0"/>
          <a:chExt cx="0" cy="0"/>
        </a:xfrm>
      </p:grpSpPr>
      <p:sp>
        <p:nvSpPr>
          <p:cNvPr id="34" name="Google Shape;34;p7"/>
          <p:cNvSpPr txBox="1"/>
          <p:nvPr>
            <p:ph type="title"/>
          </p:nvPr>
        </p:nvSpPr>
        <p:spPr>
          <a:xfrm>
            <a:off x="406400" y="152400"/>
            <a:ext cx="11480700" cy="838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 name="Google Shape;35;p7"/>
          <p:cNvSpPr txBox="1"/>
          <p:nvPr>
            <p:ph idx="10" type="dt"/>
          </p:nvPr>
        </p:nvSpPr>
        <p:spPr>
          <a:xfrm>
            <a:off x="406400" y="6553200"/>
            <a:ext cx="3048000" cy="228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7"/>
          <p:cNvSpPr txBox="1"/>
          <p:nvPr>
            <p:ph idx="12" type="sldNum"/>
          </p:nvPr>
        </p:nvSpPr>
        <p:spPr>
          <a:xfrm>
            <a:off x="8737600" y="6477000"/>
            <a:ext cx="3251100" cy="2286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37" name="Google Shape;37;p7"/>
          <p:cNvSpPr txBox="1"/>
          <p:nvPr>
            <p:ph idx="1" type="body"/>
          </p:nvPr>
        </p:nvSpPr>
        <p:spPr>
          <a:xfrm>
            <a:off x="508000" y="1143000"/>
            <a:ext cx="11379300" cy="2362200"/>
          </a:xfrm>
          <a:prstGeom prst="rect">
            <a:avLst/>
          </a:prstGeom>
          <a:noFill/>
          <a:ln>
            <a:noFill/>
          </a:ln>
        </p:spPr>
        <p:txBody>
          <a:bodyPr anchorCtr="0" anchor="t" bIns="45700" lIns="91425" spcFirstLastPara="1" rIns="91425" wrap="square" tIns="45700">
            <a:noAutofit/>
          </a:bodyPr>
          <a:lstStyle>
            <a:lvl1pPr indent="-320040" lvl="0" marL="457200" algn="l">
              <a:lnSpc>
                <a:spcPct val="100000"/>
              </a:lnSpc>
              <a:spcBef>
                <a:spcPts val="360"/>
              </a:spcBef>
              <a:spcAft>
                <a:spcPts val="0"/>
              </a:spcAft>
              <a:buSzPts val="144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o"/>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8" name="Google Shape;38;p7"/>
          <p:cNvSpPr txBox="1"/>
          <p:nvPr>
            <p:ph idx="2" type="body"/>
          </p:nvPr>
        </p:nvSpPr>
        <p:spPr>
          <a:xfrm>
            <a:off x="508000" y="3657600"/>
            <a:ext cx="11379300" cy="2514600"/>
          </a:xfrm>
          <a:prstGeom prst="rect">
            <a:avLst/>
          </a:prstGeom>
          <a:noFill/>
          <a:ln>
            <a:noFill/>
          </a:ln>
        </p:spPr>
        <p:txBody>
          <a:bodyPr anchorCtr="0" anchor="t" bIns="45700" lIns="91425" spcFirstLastPara="1" rIns="91425" wrap="square" tIns="45700">
            <a:noAutofit/>
          </a:bodyPr>
          <a:lstStyle>
            <a:lvl1pPr indent="-320040" lvl="0" marL="457200" algn="l">
              <a:lnSpc>
                <a:spcPct val="100000"/>
              </a:lnSpc>
              <a:spcBef>
                <a:spcPts val="360"/>
              </a:spcBef>
              <a:spcAft>
                <a:spcPts val="0"/>
              </a:spcAft>
              <a:buSzPts val="144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o"/>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0" name="Shape 4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000"/>
              <a:buFont typeface="Calibri"/>
              <a:buNone/>
              <a:defRPr b="1" i="0" sz="40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4"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20" Type="http://schemas.openxmlformats.org/officeDocument/2006/relationships/image" Target="../media/image23.png"/><Relationship Id="rId11" Type="http://schemas.openxmlformats.org/officeDocument/2006/relationships/image" Target="../media/image41.png"/><Relationship Id="rId22" Type="http://schemas.openxmlformats.org/officeDocument/2006/relationships/image" Target="../media/image35.png"/><Relationship Id="rId10" Type="http://schemas.openxmlformats.org/officeDocument/2006/relationships/image" Target="../media/image13.png"/><Relationship Id="rId21" Type="http://schemas.openxmlformats.org/officeDocument/2006/relationships/image" Target="../media/image26.png"/><Relationship Id="rId13" Type="http://schemas.openxmlformats.org/officeDocument/2006/relationships/image" Target="../media/image17.png"/><Relationship Id="rId12" Type="http://schemas.openxmlformats.org/officeDocument/2006/relationships/image" Target="../media/image4.png"/><Relationship Id="rId23" Type="http://schemas.openxmlformats.org/officeDocument/2006/relationships/image" Target="../media/image45.png"/><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0.png"/><Relationship Id="rId9" Type="http://schemas.openxmlformats.org/officeDocument/2006/relationships/image" Target="../media/image11.png"/><Relationship Id="rId15" Type="http://schemas.openxmlformats.org/officeDocument/2006/relationships/image" Target="../media/image12.png"/><Relationship Id="rId14" Type="http://schemas.openxmlformats.org/officeDocument/2006/relationships/image" Target="../media/image15.png"/><Relationship Id="rId17" Type="http://schemas.openxmlformats.org/officeDocument/2006/relationships/image" Target="../media/image9.png"/><Relationship Id="rId16" Type="http://schemas.openxmlformats.org/officeDocument/2006/relationships/image" Target="../media/image3.png"/><Relationship Id="rId5" Type="http://schemas.openxmlformats.org/officeDocument/2006/relationships/image" Target="../media/image8.png"/><Relationship Id="rId19" Type="http://schemas.openxmlformats.org/officeDocument/2006/relationships/image" Target="../media/image36.png"/><Relationship Id="rId6" Type="http://schemas.openxmlformats.org/officeDocument/2006/relationships/image" Target="../media/image1.png"/><Relationship Id="rId18" Type="http://schemas.openxmlformats.org/officeDocument/2006/relationships/image" Target="../media/image24.png"/><Relationship Id="rId7" Type="http://schemas.openxmlformats.org/officeDocument/2006/relationships/image" Target="../media/image7.png"/><Relationship Id="rId8" Type="http://schemas.openxmlformats.org/officeDocument/2006/relationships/image" Target="../media/image16.png"/></Relationships>
</file>

<file path=ppt/slides/_rels/slide5.xml.rels><?xml version="1.0" encoding="UTF-8" standalone="yes"?><Relationships xmlns="http://schemas.openxmlformats.org/package/2006/relationships"><Relationship Id="rId20" Type="http://schemas.openxmlformats.org/officeDocument/2006/relationships/image" Target="../media/image23.png"/><Relationship Id="rId11" Type="http://schemas.openxmlformats.org/officeDocument/2006/relationships/image" Target="../media/image41.png"/><Relationship Id="rId22" Type="http://schemas.openxmlformats.org/officeDocument/2006/relationships/image" Target="../media/image35.png"/><Relationship Id="rId10" Type="http://schemas.openxmlformats.org/officeDocument/2006/relationships/image" Target="../media/image13.png"/><Relationship Id="rId21" Type="http://schemas.openxmlformats.org/officeDocument/2006/relationships/image" Target="../media/image26.png"/><Relationship Id="rId13" Type="http://schemas.openxmlformats.org/officeDocument/2006/relationships/image" Target="../media/image17.png"/><Relationship Id="rId12" Type="http://schemas.openxmlformats.org/officeDocument/2006/relationships/image" Target="../media/image4.png"/><Relationship Id="rId23" Type="http://schemas.openxmlformats.org/officeDocument/2006/relationships/image" Target="../media/image45.png"/><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0.png"/><Relationship Id="rId9" Type="http://schemas.openxmlformats.org/officeDocument/2006/relationships/image" Target="../media/image11.png"/><Relationship Id="rId15" Type="http://schemas.openxmlformats.org/officeDocument/2006/relationships/image" Target="../media/image12.png"/><Relationship Id="rId14" Type="http://schemas.openxmlformats.org/officeDocument/2006/relationships/image" Target="../media/image15.png"/><Relationship Id="rId17" Type="http://schemas.openxmlformats.org/officeDocument/2006/relationships/image" Target="../media/image9.png"/><Relationship Id="rId16" Type="http://schemas.openxmlformats.org/officeDocument/2006/relationships/image" Target="../media/image3.png"/><Relationship Id="rId5" Type="http://schemas.openxmlformats.org/officeDocument/2006/relationships/image" Target="../media/image8.png"/><Relationship Id="rId19" Type="http://schemas.openxmlformats.org/officeDocument/2006/relationships/image" Target="../media/image36.png"/><Relationship Id="rId6" Type="http://schemas.openxmlformats.org/officeDocument/2006/relationships/image" Target="../media/image1.png"/><Relationship Id="rId18" Type="http://schemas.openxmlformats.org/officeDocument/2006/relationships/image" Target="../media/image24.png"/><Relationship Id="rId7" Type="http://schemas.openxmlformats.org/officeDocument/2006/relationships/image" Target="../media/image7.png"/><Relationship Id="rId8"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5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3.png"/><Relationship Id="rId4" Type="http://schemas.openxmlformats.org/officeDocument/2006/relationships/image" Target="../media/image5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5.png"/><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5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5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hyperlink" Target="https://media.pearsoncmg.com/ph/esm/ecs_kurose_compnetwork_8/cw/#interactiveanimations" TargetMode="External"/><Relationship Id="rId4" Type="http://schemas.openxmlformats.org/officeDocument/2006/relationships/hyperlink" Target="https://www.tkn.tu-berlin.de/teaching/rn/animations/gbn_s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0"/>
          <p:cNvSpPr/>
          <p:nvPr/>
        </p:nvSpPr>
        <p:spPr>
          <a:xfrm>
            <a:off x="0" y="2384200"/>
            <a:ext cx="12192000" cy="2408700"/>
          </a:xfrm>
          <a:prstGeom prst="rect">
            <a:avLst/>
          </a:prstGeom>
          <a:no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5400"/>
              <a:buFont typeface="Arial"/>
              <a:buNone/>
            </a:pPr>
            <a:r>
              <a:rPr b="1" i="0" lang="en-US" sz="5400" u="none" cap="none" strike="noStrike">
                <a:solidFill>
                  <a:srgbClr val="000099"/>
                </a:solidFill>
                <a:latin typeface="Calibri"/>
                <a:ea typeface="Calibri"/>
                <a:cs typeface="Calibri"/>
                <a:sym typeface="Calibri"/>
              </a:rPr>
              <a:t>Chapter 3</a:t>
            </a:r>
            <a:br>
              <a:rPr b="1" i="0" lang="en-US" sz="6000" u="none" cap="none" strike="noStrike">
                <a:solidFill>
                  <a:srgbClr val="000099"/>
                </a:solidFill>
                <a:latin typeface="Calibri"/>
                <a:ea typeface="Calibri"/>
                <a:cs typeface="Calibri"/>
                <a:sym typeface="Calibri"/>
              </a:rPr>
            </a:br>
            <a:r>
              <a:rPr b="1" i="0" lang="en-US" sz="5400" u="none" cap="none" strike="noStrike">
                <a:solidFill>
                  <a:srgbClr val="000099"/>
                </a:solidFill>
                <a:latin typeface="Calibri"/>
                <a:ea typeface="Calibri"/>
                <a:cs typeface="Calibri"/>
                <a:sym typeface="Calibri"/>
              </a:rPr>
              <a:t>Transport Layer</a:t>
            </a:r>
            <a:endParaRPr b="1" i="0" sz="5400" u="none" cap="none" strike="noStrike">
              <a:solidFill>
                <a:srgbClr val="000099"/>
              </a:solidFill>
              <a:latin typeface="Calibri"/>
              <a:ea typeface="Calibri"/>
              <a:cs typeface="Calibri"/>
              <a:sym typeface="Calibri"/>
            </a:endParaRPr>
          </a:p>
          <a:p>
            <a:pPr indent="0" lvl="0" marL="0" marR="0" rtl="0" algn="ctr">
              <a:lnSpc>
                <a:spcPct val="85000"/>
              </a:lnSpc>
              <a:spcBef>
                <a:spcPts val="0"/>
              </a:spcBef>
              <a:spcAft>
                <a:spcPts val="0"/>
              </a:spcAft>
              <a:buClr>
                <a:srgbClr val="000000"/>
              </a:buClr>
              <a:buSzPts val="5400"/>
              <a:buFont typeface="Arial"/>
              <a:buNone/>
            </a:pPr>
            <a:r>
              <a:rPr b="1" lang="en-US" sz="5400">
                <a:solidFill>
                  <a:srgbClr val="DD7E6B"/>
                </a:solidFill>
                <a:latin typeface="Calibri"/>
                <a:ea typeface="Calibri"/>
                <a:cs typeface="Calibri"/>
                <a:sym typeface="Calibri"/>
              </a:rPr>
              <a:t>Reliable Data Transfer</a:t>
            </a:r>
            <a:endParaRPr b="1" sz="5400">
              <a:solidFill>
                <a:srgbClr val="DD7E6B"/>
              </a:solidFill>
              <a:latin typeface="Calibri"/>
              <a:ea typeface="Calibri"/>
              <a:cs typeface="Calibri"/>
              <a:sym typeface="Calibri"/>
            </a:endParaRPr>
          </a:p>
          <a:p>
            <a:pPr indent="0" lvl="0" marL="0" marR="0" rtl="0" algn="ctr">
              <a:lnSpc>
                <a:spcPct val="85000"/>
              </a:lnSpc>
              <a:spcBef>
                <a:spcPts val="0"/>
              </a:spcBef>
              <a:spcAft>
                <a:spcPts val="0"/>
              </a:spcAft>
              <a:buClr>
                <a:srgbClr val="000000"/>
              </a:buClr>
              <a:buSzPts val="5400"/>
              <a:buFont typeface="Arial"/>
              <a:buNone/>
            </a:pPr>
            <a:r>
              <a:rPr b="1" lang="en-US" sz="5400">
                <a:solidFill>
                  <a:srgbClr val="DD7E6B"/>
                </a:solidFill>
                <a:latin typeface="Calibri"/>
                <a:ea typeface="Calibri"/>
                <a:cs typeface="Calibri"/>
                <a:sym typeface="Calibri"/>
              </a:rPr>
              <a:t>(rdt)</a:t>
            </a:r>
            <a:endParaRPr b="1" sz="5400">
              <a:solidFill>
                <a:srgbClr val="DD7E6B"/>
              </a:solidFill>
              <a:latin typeface="Calibri"/>
              <a:ea typeface="Calibri"/>
              <a:cs typeface="Calibri"/>
              <a:sym typeface="Calibri"/>
            </a:endParaRPr>
          </a:p>
        </p:txBody>
      </p:sp>
      <p:sp>
        <p:nvSpPr>
          <p:cNvPr id="47" name="Google Shape;47;p10"/>
          <p:cNvSpPr txBox="1"/>
          <p:nvPr>
            <p:ph idx="12" type="sldNum"/>
          </p:nvPr>
        </p:nvSpPr>
        <p:spPr>
          <a:xfrm>
            <a:off x="6553200" y="6477000"/>
            <a:ext cx="2438400" cy="2286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1"/>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overview</a:t>
            </a:r>
            <a:endParaRPr sz="4400"/>
          </a:p>
        </p:txBody>
      </p:sp>
      <p:sp>
        <p:nvSpPr>
          <p:cNvPr id="54" name="Google Shape;54;p11"/>
          <p:cNvSpPr txBox="1"/>
          <p:nvPr>
            <p:ph idx="1" type="body"/>
          </p:nvPr>
        </p:nvSpPr>
        <p:spPr>
          <a:xfrm>
            <a:off x="781763" y="1253331"/>
            <a:ext cx="4842088" cy="4351338"/>
          </a:xfrm>
          <a:prstGeom prst="rect">
            <a:avLst/>
          </a:prstGeom>
          <a:noFill/>
          <a:ln>
            <a:noFill/>
          </a:ln>
        </p:spPr>
        <p:txBody>
          <a:bodyPr anchorCtr="0" anchor="t" bIns="45700" lIns="91425" spcFirstLastPara="1" rIns="91425" wrap="square" tIns="45700">
            <a:noAutofit/>
          </a:bodyPr>
          <a:lstStyle/>
          <a:p>
            <a:pPr indent="0" lvl="0" marL="11113" rtl="0" algn="l">
              <a:lnSpc>
                <a:spcPct val="90000"/>
              </a:lnSpc>
              <a:spcBef>
                <a:spcPts val="0"/>
              </a:spcBef>
              <a:spcAft>
                <a:spcPts val="0"/>
              </a:spcAft>
              <a:buSzPts val="3200"/>
              <a:buNone/>
            </a:pPr>
            <a:r>
              <a:rPr i="1" lang="en-US" sz="3200">
                <a:solidFill>
                  <a:srgbClr val="CC0000"/>
                </a:solidFill>
                <a:latin typeface="Calibri"/>
                <a:ea typeface="Calibri"/>
                <a:cs typeface="Calibri"/>
                <a:sym typeface="Calibri"/>
              </a:rPr>
              <a:t>Our goal:</a:t>
            </a:r>
            <a:r>
              <a:rPr i="1" lang="en-US" sz="3200">
                <a:latin typeface="Calibri"/>
                <a:ea typeface="Calibri"/>
                <a:cs typeface="Calibri"/>
                <a:sym typeface="Calibri"/>
              </a:rPr>
              <a:t> </a:t>
            </a:r>
            <a:endParaRPr/>
          </a:p>
          <a:p>
            <a:pPr indent="-285750" lvl="0" marL="400050" rtl="0" algn="l">
              <a:lnSpc>
                <a:spcPct val="90000"/>
              </a:lnSpc>
              <a:spcBef>
                <a:spcPts val="1000"/>
              </a:spcBef>
              <a:spcAft>
                <a:spcPts val="0"/>
              </a:spcAft>
              <a:buSzPts val="3200"/>
              <a:buFont typeface="Noto Sans Symbols"/>
              <a:buChar char="▪"/>
            </a:pPr>
            <a:r>
              <a:rPr lang="en-US" sz="3200"/>
              <a:t>understand principles behind transport layer services:</a:t>
            </a:r>
            <a:endParaRPr/>
          </a:p>
          <a:p>
            <a:pPr indent="-231775" lvl="1" marL="695325" rtl="0" algn="l">
              <a:lnSpc>
                <a:spcPct val="90000"/>
              </a:lnSpc>
              <a:spcBef>
                <a:spcPts val="500"/>
              </a:spcBef>
              <a:spcAft>
                <a:spcPts val="0"/>
              </a:spcAft>
              <a:buSzPts val="2800"/>
              <a:buFont typeface="Arial"/>
              <a:buChar char="•"/>
            </a:pPr>
            <a:r>
              <a:rPr lang="en-US" sz="2800"/>
              <a:t>multiplexing, demultiplexing</a:t>
            </a:r>
            <a:endParaRPr/>
          </a:p>
          <a:p>
            <a:pPr indent="-231775" lvl="1" marL="695325" rtl="0" algn="l">
              <a:lnSpc>
                <a:spcPct val="90000"/>
              </a:lnSpc>
              <a:spcBef>
                <a:spcPts val="500"/>
              </a:spcBef>
              <a:spcAft>
                <a:spcPts val="0"/>
              </a:spcAft>
              <a:buSzPts val="2800"/>
              <a:buFont typeface="Arial"/>
              <a:buChar char="•"/>
            </a:pPr>
            <a:r>
              <a:rPr lang="en-US" sz="2800"/>
              <a:t>reliable data transfer</a:t>
            </a:r>
            <a:endParaRPr/>
          </a:p>
          <a:p>
            <a:pPr indent="-231775" lvl="1" marL="695325" rtl="0" algn="l">
              <a:lnSpc>
                <a:spcPct val="90000"/>
              </a:lnSpc>
              <a:spcBef>
                <a:spcPts val="500"/>
              </a:spcBef>
              <a:spcAft>
                <a:spcPts val="0"/>
              </a:spcAft>
              <a:buSzPts val="2800"/>
              <a:buFont typeface="Arial"/>
              <a:buChar char="•"/>
            </a:pPr>
            <a:r>
              <a:rPr lang="en-US" sz="2800"/>
              <a:t>flow control</a:t>
            </a:r>
            <a:endParaRPr/>
          </a:p>
          <a:p>
            <a:pPr indent="-231775" lvl="1" marL="695325" rtl="0" algn="l">
              <a:lnSpc>
                <a:spcPct val="90000"/>
              </a:lnSpc>
              <a:spcBef>
                <a:spcPts val="500"/>
              </a:spcBef>
              <a:spcAft>
                <a:spcPts val="0"/>
              </a:spcAft>
              <a:buSzPts val="2800"/>
              <a:buFont typeface="Arial"/>
              <a:buChar char="•"/>
            </a:pPr>
            <a:r>
              <a:rPr lang="en-US" sz="2800"/>
              <a:t>congestion control</a:t>
            </a:r>
            <a:endParaRPr sz="3200"/>
          </a:p>
          <a:p>
            <a:pPr indent="-44450" lvl="0" marL="352425" rtl="0" algn="l">
              <a:lnSpc>
                <a:spcPct val="90000"/>
              </a:lnSpc>
              <a:spcBef>
                <a:spcPts val="1000"/>
              </a:spcBef>
              <a:spcAft>
                <a:spcPts val="0"/>
              </a:spcAft>
              <a:buSzPts val="2800"/>
              <a:buNone/>
            </a:pPr>
            <a:r>
              <a:t/>
            </a:r>
            <a:endParaRPr/>
          </a:p>
        </p:txBody>
      </p:sp>
      <p:sp>
        <p:nvSpPr>
          <p:cNvPr id="55" name="Google Shape;55;p11"/>
          <p:cNvSpPr txBox="1"/>
          <p:nvPr>
            <p:ph idx="2" type="body"/>
          </p:nvPr>
        </p:nvSpPr>
        <p:spPr>
          <a:xfrm>
            <a:off x="5968416" y="1815962"/>
            <a:ext cx="5994400" cy="4799013"/>
          </a:xfrm>
          <a:prstGeom prst="rect">
            <a:avLst/>
          </a:prstGeom>
          <a:noFill/>
          <a:ln>
            <a:noFill/>
          </a:ln>
        </p:spPr>
        <p:txBody>
          <a:bodyPr anchorCtr="0" anchor="t" bIns="45700" lIns="91425" spcFirstLastPara="1" rIns="91425" wrap="square" tIns="45700">
            <a:normAutofit/>
          </a:bodyPr>
          <a:lstStyle/>
          <a:p>
            <a:pPr indent="-285750" lvl="0" marL="457200" rtl="0" algn="l">
              <a:lnSpc>
                <a:spcPct val="90000"/>
              </a:lnSpc>
              <a:spcBef>
                <a:spcPts val="0"/>
              </a:spcBef>
              <a:spcAft>
                <a:spcPts val="0"/>
              </a:spcAft>
              <a:buSzPts val="3200"/>
              <a:buFont typeface="Noto Sans Symbols"/>
              <a:buChar char="▪"/>
            </a:pPr>
            <a:r>
              <a:rPr lang="en-US" sz="3200"/>
              <a:t>learn about Internet transport layer protocols:</a:t>
            </a:r>
            <a:endParaRPr/>
          </a:p>
          <a:p>
            <a:pPr indent="-231775" lvl="1" marL="695325" rtl="0" algn="l">
              <a:lnSpc>
                <a:spcPct val="90000"/>
              </a:lnSpc>
              <a:spcBef>
                <a:spcPts val="500"/>
              </a:spcBef>
              <a:spcAft>
                <a:spcPts val="0"/>
              </a:spcAft>
              <a:buSzPts val="2800"/>
              <a:buFont typeface="Arial"/>
              <a:buChar char="•"/>
            </a:pPr>
            <a:r>
              <a:rPr lang="en-US" sz="2800"/>
              <a:t>UDP: connectionless transport</a:t>
            </a:r>
            <a:endParaRPr/>
          </a:p>
          <a:p>
            <a:pPr indent="-231775" lvl="1" marL="695325" rtl="0" algn="l">
              <a:lnSpc>
                <a:spcPct val="90000"/>
              </a:lnSpc>
              <a:spcBef>
                <a:spcPts val="500"/>
              </a:spcBef>
              <a:spcAft>
                <a:spcPts val="0"/>
              </a:spcAft>
              <a:buSzPts val="2800"/>
              <a:buFont typeface="Arial"/>
              <a:buChar char="•"/>
            </a:pPr>
            <a:r>
              <a:rPr lang="en-US" sz="2800"/>
              <a:t>TCP: connection-oriented reliable transport</a:t>
            </a:r>
            <a:endParaRPr/>
          </a:p>
          <a:p>
            <a:pPr indent="-231775" lvl="1" marL="695325" rtl="0" algn="l">
              <a:lnSpc>
                <a:spcPct val="90000"/>
              </a:lnSpc>
              <a:spcBef>
                <a:spcPts val="500"/>
              </a:spcBef>
              <a:spcAft>
                <a:spcPts val="0"/>
              </a:spcAft>
              <a:buSzPts val="2800"/>
              <a:buFont typeface="Arial"/>
              <a:buChar char="•"/>
            </a:pPr>
            <a:r>
              <a:rPr lang="en-US" sz="2800"/>
              <a:t>TCP congestion control</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56" name="Google Shape;56;p11"/>
          <p:cNvSpPr txBox="1"/>
          <p:nvPr>
            <p:ph idx="12" type="sldNum"/>
          </p:nvPr>
        </p:nvSpPr>
        <p:spPr>
          <a:xfrm>
            <a:off x="9219616" y="64546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2"/>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roadmap</a:t>
            </a:r>
            <a:endParaRPr sz="4400"/>
          </a:p>
        </p:txBody>
      </p:sp>
      <p:sp>
        <p:nvSpPr>
          <p:cNvPr id="63" name="Google Shape;63;p12"/>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SzPts val="3200"/>
              <a:buChar char="▪"/>
            </a:pPr>
            <a:r>
              <a:rPr lang="en-US" sz="3200"/>
              <a:t>Transport-layer services</a:t>
            </a:r>
            <a:endParaRPr/>
          </a:p>
          <a:p>
            <a:pPr indent="-285750" lvl="0" marL="403225" rtl="0" algn="l">
              <a:lnSpc>
                <a:spcPct val="90000"/>
              </a:lnSpc>
              <a:spcBef>
                <a:spcPts val="800"/>
              </a:spcBef>
              <a:spcAft>
                <a:spcPts val="0"/>
              </a:spcAft>
              <a:buClr>
                <a:srgbClr val="7F7F7F"/>
              </a:buClr>
              <a:buSzPts val="3200"/>
              <a:buChar char="▪"/>
            </a:pPr>
            <a:r>
              <a:rPr lang="en-US" sz="3200">
                <a:solidFill>
                  <a:srgbClr val="7F7F7F"/>
                </a:solidFill>
              </a:rPr>
              <a:t>Principles of reliable data transfer </a:t>
            </a:r>
            <a:endParaRPr>
              <a:solidFill>
                <a:srgbClr val="7F7F7F"/>
              </a:solidFill>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64" name="Google Shape;64;p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descr="A train crossing a bridge over a body of water&#10;&#10;Description automatically generated" id="65" name="Google Shape;65;p12"/>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3"/>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services and protocols</a:t>
            </a:r>
            <a:endParaRPr sz="4400"/>
          </a:p>
        </p:txBody>
      </p:sp>
      <p:sp>
        <p:nvSpPr>
          <p:cNvPr id="72" name="Google Shape;72;p13"/>
          <p:cNvSpPr txBox="1"/>
          <p:nvPr/>
        </p:nvSpPr>
        <p:spPr>
          <a:xfrm>
            <a:off x="681218" y="1443831"/>
            <a:ext cx="5815703" cy="1621947"/>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provide</a:t>
            </a:r>
            <a:r>
              <a:rPr b="0" i="1" lang="en-US" sz="2800" u="none" cap="none" strike="noStrike">
                <a:solidFill>
                  <a:srgbClr val="FF0000"/>
                </a:solidFill>
                <a:latin typeface="Calibri"/>
                <a:ea typeface="Calibri"/>
                <a:cs typeface="Calibri"/>
                <a:sym typeface="Calibri"/>
              </a:rPr>
              <a:t> </a:t>
            </a:r>
            <a:r>
              <a:rPr b="0" i="1" lang="en-US" sz="2800" u="none" cap="none" strike="noStrike">
                <a:solidFill>
                  <a:srgbClr val="CC0000"/>
                </a:solidFill>
                <a:latin typeface="Calibri"/>
                <a:ea typeface="Calibri"/>
                <a:cs typeface="Calibri"/>
                <a:sym typeface="Calibri"/>
              </a:rPr>
              <a:t>logical communication</a:t>
            </a:r>
            <a:r>
              <a:rPr b="0" i="0" lang="en-US" sz="2800" u="none" cap="none" strike="noStrike">
                <a:solidFill>
                  <a:srgbClr val="000000"/>
                </a:solidFill>
                <a:latin typeface="Calibri"/>
                <a:ea typeface="Calibri"/>
                <a:cs typeface="Calibri"/>
                <a:sym typeface="Calibri"/>
              </a:rPr>
              <a:t> between application processes running on different hosts</a:t>
            </a:r>
            <a:endParaRPr/>
          </a:p>
        </p:txBody>
      </p:sp>
      <p:sp>
        <p:nvSpPr>
          <p:cNvPr id="73" name="Google Shape;73;p13"/>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 name="Google Shape;74;p13"/>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5" name="Google Shape;75;p13"/>
          <p:cNvGrpSpPr/>
          <p:nvPr/>
        </p:nvGrpSpPr>
        <p:grpSpPr>
          <a:xfrm>
            <a:off x="7205350" y="3289251"/>
            <a:ext cx="1458912" cy="933450"/>
            <a:chOff x="2889" y="1631"/>
            <a:chExt cx="980" cy="743"/>
          </a:xfrm>
        </p:grpSpPr>
        <p:sp>
          <p:nvSpPr>
            <p:cNvPr id="76" name="Google Shape;76;p13"/>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7" name="Google Shape;77;p13"/>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78" name="Google Shape;78;p13"/>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9" name="Google Shape;79;p13"/>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80" name="Google Shape;80;p13"/>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a:p>
        </p:txBody>
      </p:sp>
      <p:sp>
        <p:nvSpPr>
          <p:cNvPr id="81" name="Google Shape;81;p13"/>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82" name="Google Shape;82;p13"/>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3" name="Google Shape;83;p13"/>
          <p:cNvGrpSpPr/>
          <p:nvPr/>
        </p:nvGrpSpPr>
        <p:grpSpPr>
          <a:xfrm>
            <a:off x="10837700" y="3928050"/>
            <a:ext cx="687393" cy="721548"/>
            <a:chOff x="5203089" y="1751190"/>
            <a:chExt cx="858331" cy="662414"/>
          </a:xfrm>
        </p:grpSpPr>
        <p:sp>
          <p:nvSpPr>
            <p:cNvPr id="84" name="Google Shape;84;p13"/>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 name="Google Shape;85;p13"/>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6" name="Google Shape;86;p13"/>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87" name="Google Shape;87;p13"/>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8" name="Google Shape;88;p13"/>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89" name="Google Shape;89;p13"/>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90" name="Google Shape;90;p13"/>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91" name="Google Shape;91;p13"/>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92" name="Google Shape;92;p13"/>
          <p:cNvGrpSpPr/>
          <p:nvPr/>
        </p:nvGrpSpPr>
        <p:grpSpPr>
          <a:xfrm>
            <a:off x="10771171" y="3194171"/>
            <a:ext cx="594613" cy="648336"/>
            <a:chOff x="5203089" y="1751190"/>
            <a:chExt cx="858331" cy="662414"/>
          </a:xfrm>
        </p:grpSpPr>
        <p:sp>
          <p:nvSpPr>
            <p:cNvPr id="93" name="Google Shape;93;p13"/>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 name="Google Shape;94;p13"/>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95" name="Google Shape;95;p13"/>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96" name="Google Shape;96;p13"/>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97" name="Google Shape;97;p13"/>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98" name="Google Shape;98;p13"/>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99" name="Google Shape;99;p13"/>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00" name="Google Shape;100;p13"/>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101" name="Google Shape;101;p13"/>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 name="Google Shape;102;p13"/>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103" name="Google Shape;103;p13"/>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 name="Google Shape;104;p13"/>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a:p>
        </p:txBody>
      </p:sp>
      <p:sp>
        <p:nvSpPr>
          <p:cNvPr id="105" name="Google Shape;105;p13"/>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sp>
        <p:nvSpPr>
          <p:cNvPr id="106" name="Google Shape;106;p13"/>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107" name="Google Shape;107;p13"/>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108" name="Google Shape;108;p13"/>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109" name="Google Shape;109;p13"/>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110" name="Google Shape;110;p13"/>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111" name="Google Shape;111;p13"/>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112" name="Google Shape;112;p13"/>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13" name="Google Shape;113;p13"/>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14" name="Google Shape;114;p13"/>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115" name="Google Shape;115;p13"/>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116" name="Google Shape;116;p13"/>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117" name="Google Shape;117;p13"/>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118" name="Google Shape;118;p13"/>
          <p:cNvGrpSpPr/>
          <p:nvPr/>
        </p:nvGrpSpPr>
        <p:grpSpPr>
          <a:xfrm>
            <a:off x="7562238" y="2127325"/>
            <a:ext cx="3578867" cy="3640284"/>
            <a:chOff x="7562238" y="2127325"/>
            <a:chExt cx="3578867" cy="3640284"/>
          </a:xfrm>
        </p:grpSpPr>
        <p:grpSp>
          <p:nvGrpSpPr>
            <p:cNvPr id="119" name="Google Shape;119;p13"/>
            <p:cNvGrpSpPr/>
            <p:nvPr/>
          </p:nvGrpSpPr>
          <p:grpSpPr>
            <a:xfrm>
              <a:off x="7857253" y="2127325"/>
              <a:ext cx="3283852" cy="3640284"/>
              <a:chOff x="7881336" y="2104198"/>
              <a:chExt cx="3283852" cy="3640284"/>
            </a:xfrm>
          </p:grpSpPr>
          <p:cxnSp>
            <p:nvCxnSpPr>
              <p:cNvPr id="120" name="Google Shape;120;p13"/>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121" name="Google Shape;121;p13"/>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122" name="Google Shape;122;p13"/>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123" name="Google Shape;123;p13"/>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124" name="Google Shape;124;p13"/>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125" name="Google Shape;125;p13"/>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126" name="Google Shape;126;p13"/>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127" name="Google Shape;127;p13"/>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128" name="Google Shape;128;p13"/>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129" name="Google Shape;129;p13"/>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130" name="Google Shape;130;p13"/>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131" name="Google Shape;131;p13"/>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132" name="Google Shape;132;p13"/>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133" name="Google Shape;133;p13"/>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134" name="Google Shape;134;p13"/>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135" name="Google Shape;135;p13"/>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136" name="Google Shape;136;p13"/>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137" name="Google Shape;137;p13"/>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138" name="Google Shape;138;p13"/>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139" name="Google Shape;139;p13"/>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140" name="Google Shape;140;p13"/>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141" name="Google Shape;141;p13"/>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142" name="Google Shape;142;p13"/>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143" name="Google Shape;143;p13"/>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144" name="Google Shape;144;p13"/>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145" name="Google Shape;145;p13"/>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146" name="Google Shape;146;p13"/>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147" name="Google Shape;147;p13"/>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148" name="Google Shape;148;p13"/>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149" name="Google Shape;149;p13"/>
          <p:cNvGrpSpPr/>
          <p:nvPr/>
        </p:nvGrpSpPr>
        <p:grpSpPr>
          <a:xfrm>
            <a:off x="8050698" y="2309376"/>
            <a:ext cx="298450" cy="464008"/>
            <a:chOff x="3130" y="3288"/>
            <a:chExt cx="410" cy="742"/>
          </a:xfrm>
        </p:grpSpPr>
        <p:cxnSp>
          <p:nvCxnSpPr>
            <p:cNvPr id="150" name="Google Shape;150;p13"/>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151" name="Google Shape;151;p13"/>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152" name="Google Shape;152;p13"/>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53" name="Google Shape;153;p13"/>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54" name="Google Shape;154;p13"/>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155" name="Google Shape;155;p13"/>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156" name="Google Shape;156;p13"/>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157" name="Google Shape;157;p13"/>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158" name="Google Shape;158;p13"/>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159" name="Google Shape;159;p13"/>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160" name="Google Shape;160;p13"/>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161" name="Google Shape;161;p13"/>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162" name="Google Shape;162;p13"/>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163" name="Google Shape;163;p13"/>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164" name="Google Shape;164;p13"/>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165" name="Google Shape;165;p13"/>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166" name="Google Shape;166;p13"/>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167" name="Google Shape;167;p13"/>
          <p:cNvGrpSpPr/>
          <p:nvPr/>
        </p:nvGrpSpPr>
        <p:grpSpPr>
          <a:xfrm>
            <a:off x="9783558" y="4989983"/>
            <a:ext cx="393760" cy="218578"/>
            <a:chOff x="7493876" y="2774731"/>
            <a:chExt cx="1481958" cy="894622"/>
          </a:xfrm>
        </p:grpSpPr>
        <p:sp>
          <p:nvSpPr>
            <p:cNvPr id="168" name="Google Shape;168;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69" name="Google Shape;169;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70" name="Google Shape;170;p13"/>
            <p:cNvGrpSpPr/>
            <p:nvPr/>
          </p:nvGrpSpPr>
          <p:grpSpPr>
            <a:xfrm>
              <a:off x="7713663" y="2848339"/>
              <a:ext cx="1042107" cy="425543"/>
              <a:chOff x="7786941" y="2884917"/>
              <a:chExt cx="897649" cy="353919"/>
            </a:xfrm>
          </p:grpSpPr>
          <p:sp>
            <p:nvSpPr>
              <p:cNvPr id="171" name="Google Shape;171;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2" name="Google Shape;172;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3" name="Google Shape;173;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4" name="Google Shape;174;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75" name="Google Shape;175;p13"/>
          <p:cNvGrpSpPr/>
          <p:nvPr/>
        </p:nvGrpSpPr>
        <p:grpSpPr>
          <a:xfrm>
            <a:off x="9849365" y="5339037"/>
            <a:ext cx="309740" cy="190838"/>
            <a:chOff x="3668110" y="2448910"/>
            <a:chExt cx="3794234" cy="2165130"/>
          </a:xfrm>
        </p:grpSpPr>
        <p:sp>
          <p:nvSpPr>
            <p:cNvPr id="176" name="Google Shape;176;p1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7" name="Google Shape;177;p1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78" name="Google Shape;178;p13"/>
            <p:cNvGrpSpPr/>
            <p:nvPr/>
          </p:nvGrpSpPr>
          <p:grpSpPr>
            <a:xfrm>
              <a:off x="3941378" y="2603243"/>
              <a:ext cx="3202061" cy="1066110"/>
              <a:chOff x="7939341" y="3037317"/>
              <a:chExt cx="897649" cy="353919"/>
            </a:xfrm>
          </p:grpSpPr>
          <p:sp>
            <p:nvSpPr>
              <p:cNvPr id="179" name="Google Shape;179;p1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0" name="Google Shape;180;p1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1" name="Google Shape;181;p1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2" name="Google Shape;182;p1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83" name="Google Shape;183;p13"/>
          <p:cNvGrpSpPr/>
          <p:nvPr/>
        </p:nvGrpSpPr>
        <p:grpSpPr>
          <a:xfrm>
            <a:off x="8676619" y="4967420"/>
            <a:ext cx="393760" cy="218578"/>
            <a:chOff x="7493876" y="2774731"/>
            <a:chExt cx="1481958" cy="894622"/>
          </a:xfrm>
        </p:grpSpPr>
        <p:sp>
          <p:nvSpPr>
            <p:cNvPr id="184" name="Google Shape;184;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85" name="Google Shape;185;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86" name="Google Shape;186;p13"/>
            <p:cNvGrpSpPr/>
            <p:nvPr/>
          </p:nvGrpSpPr>
          <p:grpSpPr>
            <a:xfrm>
              <a:off x="7713663" y="2848339"/>
              <a:ext cx="1042107" cy="425543"/>
              <a:chOff x="7786941" y="2884917"/>
              <a:chExt cx="897649" cy="353919"/>
            </a:xfrm>
          </p:grpSpPr>
          <p:sp>
            <p:nvSpPr>
              <p:cNvPr id="187" name="Google Shape;187;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8" name="Google Shape;188;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9" name="Google Shape;189;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0" name="Google Shape;190;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91" name="Google Shape;191;p13"/>
          <p:cNvGrpSpPr/>
          <p:nvPr/>
        </p:nvGrpSpPr>
        <p:grpSpPr>
          <a:xfrm>
            <a:off x="8311520" y="5194433"/>
            <a:ext cx="309740" cy="190838"/>
            <a:chOff x="3668110" y="2448910"/>
            <a:chExt cx="3794234" cy="2165130"/>
          </a:xfrm>
        </p:grpSpPr>
        <p:sp>
          <p:nvSpPr>
            <p:cNvPr id="192" name="Google Shape;192;p1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3" name="Google Shape;193;p1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94" name="Google Shape;194;p13"/>
            <p:cNvGrpSpPr/>
            <p:nvPr/>
          </p:nvGrpSpPr>
          <p:grpSpPr>
            <a:xfrm>
              <a:off x="3941378" y="2603243"/>
              <a:ext cx="3202061" cy="1066110"/>
              <a:chOff x="7939341" y="3037317"/>
              <a:chExt cx="897649" cy="353919"/>
            </a:xfrm>
          </p:grpSpPr>
          <p:sp>
            <p:nvSpPr>
              <p:cNvPr id="195" name="Google Shape;195;p1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 name="Google Shape;196;p1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7" name="Google Shape;197;p1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8" name="Google Shape;198;p1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99" name="Google Shape;199;p13"/>
          <p:cNvGrpSpPr/>
          <p:nvPr/>
        </p:nvGrpSpPr>
        <p:grpSpPr>
          <a:xfrm>
            <a:off x="8439827" y="2812309"/>
            <a:ext cx="353678" cy="168275"/>
            <a:chOff x="7493876" y="2774731"/>
            <a:chExt cx="1481958" cy="894622"/>
          </a:xfrm>
        </p:grpSpPr>
        <p:sp>
          <p:nvSpPr>
            <p:cNvPr id="200" name="Google Shape;200;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1" name="Google Shape;201;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2" name="Google Shape;202;p13"/>
            <p:cNvGrpSpPr/>
            <p:nvPr/>
          </p:nvGrpSpPr>
          <p:grpSpPr>
            <a:xfrm>
              <a:off x="7713663" y="2848339"/>
              <a:ext cx="1042107" cy="425543"/>
              <a:chOff x="7786941" y="2884917"/>
              <a:chExt cx="897649" cy="353919"/>
            </a:xfrm>
          </p:grpSpPr>
          <p:sp>
            <p:nvSpPr>
              <p:cNvPr id="203" name="Google Shape;203;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4" name="Google Shape;204;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5" name="Google Shape;205;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6" name="Google Shape;206;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07" name="Google Shape;207;p13"/>
          <p:cNvGrpSpPr/>
          <p:nvPr/>
        </p:nvGrpSpPr>
        <p:grpSpPr>
          <a:xfrm>
            <a:off x="8050070" y="3965994"/>
            <a:ext cx="354986" cy="175668"/>
            <a:chOff x="7493876" y="2774731"/>
            <a:chExt cx="1481958" cy="894622"/>
          </a:xfrm>
        </p:grpSpPr>
        <p:sp>
          <p:nvSpPr>
            <p:cNvPr id="208" name="Google Shape;208;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9" name="Google Shape;209;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10" name="Google Shape;210;p13"/>
            <p:cNvGrpSpPr/>
            <p:nvPr/>
          </p:nvGrpSpPr>
          <p:grpSpPr>
            <a:xfrm>
              <a:off x="7713663" y="2848339"/>
              <a:ext cx="1042107" cy="425543"/>
              <a:chOff x="7786941" y="2884917"/>
              <a:chExt cx="897649" cy="353919"/>
            </a:xfrm>
          </p:grpSpPr>
          <p:sp>
            <p:nvSpPr>
              <p:cNvPr id="211" name="Google Shape;211;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2" name="Google Shape;212;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3" name="Google Shape;213;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4" name="Google Shape;214;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15" name="Google Shape;215;p13"/>
          <p:cNvGrpSpPr/>
          <p:nvPr/>
        </p:nvGrpSpPr>
        <p:grpSpPr>
          <a:xfrm>
            <a:off x="10884085" y="3601365"/>
            <a:ext cx="170989" cy="97052"/>
            <a:chOff x="7493876" y="2774731"/>
            <a:chExt cx="1481958" cy="894622"/>
          </a:xfrm>
        </p:grpSpPr>
        <p:sp>
          <p:nvSpPr>
            <p:cNvPr id="216" name="Google Shape;216;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17" name="Google Shape;217;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18" name="Google Shape;218;p13"/>
            <p:cNvGrpSpPr/>
            <p:nvPr/>
          </p:nvGrpSpPr>
          <p:grpSpPr>
            <a:xfrm>
              <a:off x="7713663" y="2848339"/>
              <a:ext cx="1042107" cy="425543"/>
              <a:chOff x="7786941" y="2884917"/>
              <a:chExt cx="897649" cy="353919"/>
            </a:xfrm>
          </p:grpSpPr>
          <p:sp>
            <p:nvSpPr>
              <p:cNvPr id="219" name="Google Shape;219;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0" name="Google Shape;220;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1" name="Google Shape;221;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2" name="Google Shape;222;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23" name="Google Shape;223;p13"/>
          <p:cNvGrpSpPr/>
          <p:nvPr/>
        </p:nvGrpSpPr>
        <p:grpSpPr>
          <a:xfrm>
            <a:off x="10410609" y="3496138"/>
            <a:ext cx="353678" cy="198344"/>
            <a:chOff x="7493876" y="2774731"/>
            <a:chExt cx="1481958" cy="894622"/>
          </a:xfrm>
        </p:grpSpPr>
        <p:sp>
          <p:nvSpPr>
            <p:cNvPr id="224" name="Google Shape;224;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25" name="Google Shape;225;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26" name="Google Shape;226;p13"/>
            <p:cNvGrpSpPr/>
            <p:nvPr/>
          </p:nvGrpSpPr>
          <p:grpSpPr>
            <a:xfrm>
              <a:off x="7713663" y="2848339"/>
              <a:ext cx="1042107" cy="425543"/>
              <a:chOff x="7786941" y="2884917"/>
              <a:chExt cx="897649" cy="353919"/>
            </a:xfrm>
          </p:grpSpPr>
          <p:sp>
            <p:nvSpPr>
              <p:cNvPr id="227" name="Google Shape;227;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8" name="Google Shape;228;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9" name="Google Shape;229;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0" name="Google Shape;230;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31" name="Google Shape;231;p13"/>
          <p:cNvGrpSpPr/>
          <p:nvPr/>
        </p:nvGrpSpPr>
        <p:grpSpPr>
          <a:xfrm>
            <a:off x="9948724" y="2202292"/>
            <a:ext cx="353678" cy="198344"/>
            <a:chOff x="7493876" y="2774731"/>
            <a:chExt cx="1481958" cy="894622"/>
          </a:xfrm>
        </p:grpSpPr>
        <p:sp>
          <p:nvSpPr>
            <p:cNvPr id="232" name="Google Shape;232;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33" name="Google Shape;233;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34" name="Google Shape;234;p13"/>
            <p:cNvGrpSpPr/>
            <p:nvPr/>
          </p:nvGrpSpPr>
          <p:grpSpPr>
            <a:xfrm>
              <a:off x="7713663" y="2848339"/>
              <a:ext cx="1042107" cy="425543"/>
              <a:chOff x="7786941" y="2884917"/>
              <a:chExt cx="897649" cy="353919"/>
            </a:xfrm>
          </p:grpSpPr>
          <p:sp>
            <p:nvSpPr>
              <p:cNvPr id="235" name="Google Shape;235;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6" name="Google Shape;236;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7" name="Google Shape;237;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8" name="Google Shape;238;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39" name="Google Shape;239;p13"/>
          <p:cNvGrpSpPr/>
          <p:nvPr/>
        </p:nvGrpSpPr>
        <p:grpSpPr>
          <a:xfrm>
            <a:off x="10527214" y="2613367"/>
            <a:ext cx="353678" cy="198344"/>
            <a:chOff x="7493876" y="2774731"/>
            <a:chExt cx="1481958" cy="894622"/>
          </a:xfrm>
        </p:grpSpPr>
        <p:sp>
          <p:nvSpPr>
            <p:cNvPr id="240" name="Google Shape;240;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1" name="Google Shape;241;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42" name="Google Shape;242;p13"/>
            <p:cNvGrpSpPr/>
            <p:nvPr/>
          </p:nvGrpSpPr>
          <p:grpSpPr>
            <a:xfrm>
              <a:off x="7713663" y="2848339"/>
              <a:ext cx="1042107" cy="425543"/>
              <a:chOff x="7786941" y="2884917"/>
              <a:chExt cx="897649" cy="353919"/>
            </a:xfrm>
          </p:grpSpPr>
          <p:sp>
            <p:nvSpPr>
              <p:cNvPr id="243" name="Google Shape;243;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4" name="Google Shape;244;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5" name="Google Shape;245;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6" name="Google Shape;246;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47" name="Google Shape;247;p13"/>
          <p:cNvGrpSpPr/>
          <p:nvPr/>
        </p:nvGrpSpPr>
        <p:grpSpPr>
          <a:xfrm>
            <a:off x="10643825" y="2107963"/>
            <a:ext cx="353678" cy="198344"/>
            <a:chOff x="7493876" y="2774731"/>
            <a:chExt cx="1481958" cy="894622"/>
          </a:xfrm>
        </p:grpSpPr>
        <p:sp>
          <p:nvSpPr>
            <p:cNvPr id="248" name="Google Shape;248;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9" name="Google Shape;249;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0" name="Google Shape;250;p13"/>
            <p:cNvGrpSpPr/>
            <p:nvPr/>
          </p:nvGrpSpPr>
          <p:grpSpPr>
            <a:xfrm>
              <a:off x="7713663" y="2848339"/>
              <a:ext cx="1042107" cy="425543"/>
              <a:chOff x="7786941" y="2884917"/>
              <a:chExt cx="897649" cy="353919"/>
            </a:xfrm>
          </p:grpSpPr>
          <p:sp>
            <p:nvSpPr>
              <p:cNvPr id="251" name="Google Shape;251;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2" name="Google Shape;252;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3" name="Google Shape;253;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4" name="Google Shape;254;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55" name="Google Shape;255;p13"/>
          <p:cNvGrpSpPr/>
          <p:nvPr/>
        </p:nvGrpSpPr>
        <p:grpSpPr>
          <a:xfrm>
            <a:off x="9098788" y="3956624"/>
            <a:ext cx="367224" cy="240304"/>
            <a:chOff x="7493876" y="2774731"/>
            <a:chExt cx="1481958" cy="894622"/>
          </a:xfrm>
        </p:grpSpPr>
        <p:sp>
          <p:nvSpPr>
            <p:cNvPr id="256" name="Google Shape;256;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7" name="Google Shape;257;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8" name="Google Shape;258;p13"/>
            <p:cNvGrpSpPr/>
            <p:nvPr/>
          </p:nvGrpSpPr>
          <p:grpSpPr>
            <a:xfrm>
              <a:off x="7713663" y="2848339"/>
              <a:ext cx="1042107" cy="425543"/>
              <a:chOff x="7786941" y="2884917"/>
              <a:chExt cx="897649" cy="353919"/>
            </a:xfrm>
          </p:grpSpPr>
          <p:sp>
            <p:nvSpPr>
              <p:cNvPr id="259" name="Google Shape;259;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0" name="Google Shape;260;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1" name="Google Shape;261;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2" name="Google Shape;262;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63" name="Google Shape;263;p13"/>
          <p:cNvGrpSpPr/>
          <p:nvPr/>
        </p:nvGrpSpPr>
        <p:grpSpPr>
          <a:xfrm>
            <a:off x="9980126" y="2661565"/>
            <a:ext cx="353678" cy="198344"/>
            <a:chOff x="7493876" y="2774731"/>
            <a:chExt cx="1481958" cy="894622"/>
          </a:xfrm>
        </p:grpSpPr>
        <p:sp>
          <p:nvSpPr>
            <p:cNvPr id="264" name="Google Shape;264;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65" name="Google Shape;265;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66" name="Google Shape;266;p13"/>
            <p:cNvGrpSpPr/>
            <p:nvPr/>
          </p:nvGrpSpPr>
          <p:grpSpPr>
            <a:xfrm>
              <a:off x="7713663" y="2848339"/>
              <a:ext cx="1042107" cy="425543"/>
              <a:chOff x="7786941" y="2884917"/>
              <a:chExt cx="897649" cy="353919"/>
            </a:xfrm>
          </p:grpSpPr>
          <p:sp>
            <p:nvSpPr>
              <p:cNvPr id="267" name="Google Shape;267;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8" name="Google Shape;268;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9" name="Google Shape;269;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0" name="Google Shape;270;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71" name="Google Shape;271;p13"/>
          <p:cNvGrpSpPr/>
          <p:nvPr/>
        </p:nvGrpSpPr>
        <p:grpSpPr>
          <a:xfrm>
            <a:off x="9497138" y="3394032"/>
            <a:ext cx="367224" cy="240304"/>
            <a:chOff x="7493876" y="2774731"/>
            <a:chExt cx="1481958" cy="894622"/>
          </a:xfrm>
        </p:grpSpPr>
        <p:sp>
          <p:nvSpPr>
            <p:cNvPr id="272" name="Google Shape;272;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3" name="Google Shape;273;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74" name="Google Shape;274;p13"/>
            <p:cNvGrpSpPr/>
            <p:nvPr/>
          </p:nvGrpSpPr>
          <p:grpSpPr>
            <a:xfrm>
              <a:off x="7713663" y="2848339"/>
              <a:ext cx="1042107" cy="425543"/>
              <a:chOff x="7786941" y="2884917"/>
              <a:chExt cx="897649" cy="353919"/>
            </a:xfrm>
          </p:grpSpPr>
          <p:sp>
            <p:nvSpPr>
              <p:cNvPr id="275" name="Google Shape;275;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6" name="Google Shape;276;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7" name="Google Shape;277;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8" name="Google Shape;278;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79" name="Google Shape;279;p13"/>
          <p:cNvGrpSpPr/>
          <p:nvPr/>
        </p:nvGrpSpPr>
        <p:grpSpPr>
          <a:xfrm>
            <a:off x="9601554" y="3999763"/>
            <a:ext cx="367224" cy="240304"/>
            <a:chOff x="7493876" y="2774731"/>
            <a:chExt cx="1481958" cy="894622"/>
          </a:xfrm>
        </p:grpSpPr>
        <p:sp>
          <p:nvSpPr>
            <p:cNvPr id="280" name="Google Shape;280;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81" name="Google Shape;281;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82" name="Google Shape;282;p13"/>
            <p:cNvGrpSpPr/>
            <p:nvPr/>
          </p:nvGrpSpPr>
          <p:grpSpPr>
            <a:xfrm>
              <a:off x="7713663" y="2848339"/>
              <a:ext cx="1042107" cy="425543"/>
              <a:chOff x="7786941" y="2884917"/>
              <a:chExt cx="897649" cy="353919"/>
            </a:xfrm>
          </p:grpSpPr>
          <p:sp>
            <p:nvSpPr>
              <p:cNvPr id="283" name="Google Shape;283;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4" name="Google Shape;284;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5" name="Google Shape;285;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6" name="Google Shape;286;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87" name="Google Shape;287;p13"/>
          <p:cNvGrpSpPr/>
          <p:nvPr/>
        </p:nvGrpSpPr>
        <p:grpSpPr>
          <a:xfrm>
            <a:off x="10375259" y="3992325"/>
            <a:ext cx="353678" cy="198344"/>
            <a:chOff x="7493876" y="2774731"/>
            <a:chExt cx="1481958" cy="894622"/>
          </a:xfrm>
        </p:grpSpPr>
        <p:sp>
          <p:nvSpPr>
            <p:cNvPr id="288" name="Google Shape;288;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89" name="Google Shape;289;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90" name="Google Shape;290;p13"/>
            <p:cNvGrpSpPr/>
            <p:nvPr/>
          </p:nvGrpSpPr>
          <p:grpSpPr>
            <a:xfrm>
              <a:off x="7713663" y="2848339"/>
              <a:ext cx="1042107" cy="425543"/>
              <a:chOff x="7786941" y="2884917"/>
              <a:chExt cx="897649" cy="353919"/>
            </a:xfrm>
          </p:grpSpPr>
          <p:sp>
            <p:nvSpPr>
              <p:cNvPr id="291" name="Google Shape;291;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2" name="Google Shape;292;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3" name="Google Shape;293;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4" name="Google Shape;294;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95" name="Google Shape;295;p13"/>
          <p:cNvGrpSpPr/>
          <p:nvPr/>
        </p:nvGrpSpPr>
        <p:grpSpPr>
          <a:xfrm>
            <a:off x="9247893" y="4775686"/>
            <a:ext cx="393760" cy="218578"/>
            <a:chOff x="7493876" y="2774731"/>
            <a:chExt cx="1481958" cy="894622"/>
          </a:xfrm>
        </p:grpSpPr>
        <p:sp>
          <p:nvSpPr>
            <p:cNvPr id="296" name="Google Shape;296;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97" name="Google Shape;297;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98" name="Google Shape;298;p13"/>
            <p:cNvGrpSpPr/>
            <p:nvPr/>
          </p:nvGrpSpPr>
          <p:grpSpPr>
            <a:xfrm>
              <a:off x="7713663" y="2848339"/>
              <a:ext cx="1042107" cy="425543"/>
              <a:chOff x="7786941" y="2884917"/>
              <a:chExt cx="897649" cy="353919"/>
            </a:xfrm>
          </p:grpSpPr>
          <p:sp>
            <p:nvSpPr>
              <p:cNvPr id="299" name="Google Shape;299;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0" name="Google Shape;300;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1" name="Google Shape;301;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2" name="Google Shape;302;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03" name="Google Shape;303;p13"/>
          <p:cNvGrpSpPr/>
          <p:nvPr/>
        </p:nvGrpSpPr>
        <p:grpSpPr>
          <a:xfrm>
            <a:off x="10925982" y="4369125"/>
            <a:ext cx="228295" cy="120400"/>
            <a:chOff x="7493876" y="2774731"/>
            <a:chExt cx="1481958" cy="894622"/>
          </a:xfrm>
        </p:grpSpPr>
        <p:sp>
          <p:nvSpPr>
            <p:cNvPr id="304" name="Google Shape;304;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5" name="Google Shape;305;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6" name="Google Shape;306;p13"/>
            <p:cNvGrpSpPr/>
            <p:nvPr/>
          </p:nvGrpSpPr>
          <p:grpSpPr>
            <a:xfrm>
              <a:off x="7713663" y="2848339"/>
              <a:ext cx="1042107" cy="425543"/>
              <a:chOff x="7786941" y="2884917"/>
              <a:chExt cx="897649" cy="353919"/>
            </a:xfrm>
          </p:grpSpPr>
          <p:sp>
            <p:nvSpPr>
              <p:cNvPr id="307" name="Google Shape;307;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8" name="Google Shape;308;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9" name="Google Shape;309;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0" name="Google Shape;310;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11" name="Google Shape;311;p13"/>
          <p:cNvGrpSpPr/>
          <p:nvPr/>
        </p:nvGrpSpPr>
        <p:grpSpPr>
          <a:xfrm>
            <a:off x="7439074" y="2356613"/>
            <a:ext cx="534987" cy="414882"/>
            <a:chOff x="7432700" y="2327293"/>
            <a:chExt cx="534987" cy="414882"/>
          </a:xfrm>
        </p:grpSpPr>
        <p:pic>
          <p:nvPicPr>
            <p:cNvPr descr="antenna_stylized" id="312" name="Google Shape;312;p13"/>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313" name="Google Shape;313;p13"/>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314" name="Google Shape;314;p13"/>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15" name="Google Shape;315;p13"/>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316" name="Google Shape;316;p13"/>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7" name="Google Shape;317;p13"/>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8" name="Google Shape;318;p13"/>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9" name="Google Shape;319;p13"/>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0" name="Google Shape;320;p13"/>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1" name="Google Shape;321;p13"/>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22" name="Google Shape;322;p13"/>
            <p:cNvGrpSpPr/>
            <p:nvPr/>
          </p:nvGrpSpPr>
          <p:grpSpPr>
            <a:xfrm>
              <a:off x="7594735" y="2642220"/>
              <a:ext cx="98740" cy="36846"/>
              <a:chOff x="1740" y="2642"/>
              <a:chExt cx="752" cy="327"/>
            </a:xfrm>
          </p:grpSpPr>
          <p:sp>
            <p:nvSpPr>
              <p:cNvPr id="323" name="Google Shape;323;p1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4" name="Google Shape;324;p1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5" name="Google Shape;325;p1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6" name="Google Shape;326;p1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7" name="Google Shape;327;p1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8" name="Google Shape;328;p1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29" name="Google Shape;329;p13"/>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0" name="Google Shape;330;p13"/>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1" name="Google Shape;331;p13"/>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2" name="Google Shape;332;p13"/>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3" name="Google Shape;333;p13"/>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4" name="Google Shape;334;p13"/>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5" name="Google Shape;335;p13"/>
          <p:cNvGrpSpPr/>
          <p:nvPr/>
        </p:nvGrpSpPr>
        <p:grpSpPr>
          <a:xfrm>
            <a:off x="8637781" y="2319727"/>
            <a:ext cx="530702" cy="478009"/>
            <a:chOff x="8631407" y="2290407"/>
            <a:chExt cx="530702" cy="478009"/>
          </a:xfrm>
        </p:grpSpPr>
        <p:pic>
          <p:nvPicPr>
            <p:cNvPr descr="light2.png" id="336" name="Google Shape;336;p13"/>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337" name="Google Shape;337;p13"/>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338" name="Google Shape;338;p13"/>
          <p:cNvGrpSpPr/>
          <p:nvPr/>
        </p:nvGrpSpPr>
        <p:grpSpPr>
          <a:xfrm>
            <a:off x="8499539" y="2059124"/>
            <a:ext cx="849312" cy="226109"/>
            <a:chOff x="8493165" y="2029804"/>
            <a:chExt cx="849312" cy="226109"/>
          </a:xfrm>
        </p:grpSpPr>
        <p:pic>
          <p:nvPicPr>
            <p:cNvPr descr="car_icon_small" id="339" name="Google Shape;339;p13"/>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340" name="Google Shape;340;p13"/>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341" name="Google Shape;341;p13"/>
          <p:cNvGrpSpPr/>
          <p:nvPr/>
        </p:nvGrpSpPr>
        <p:grpSpPr>
          <a:xfrm>
            <a:off x="7493518" y="3325424"/>
            <a:ext cx="857739" cy="583764"/>
            <a:chOff x="7487144" y="3296104"/>
            <a:chExt cx="857739" cy="583764"/>
          </a:xfrm>
        </p:grpSpPr>
        <p:grpSp>
          <p:nvGrpSpPr>
            <p:cNvPr id="342" name="Google Shape;342;p13"/>
            <p:cNvGrpSpPr/>
            <p:nvPr/>
          </p:nvGrpSpPr>
          <p:grpSpPr>
            <a:xfrm>
              <a:off x="7487144" y="3389820"/>
              <a:ext cx="350807" cy="310034"/>
              <a:chOff x="7487144" y="3389820"/>
              <a:chExt cx="350807" cy="310034"/>
            </a:xfrm>
          </p:grpSpPr>
          <p:pic>
            <p:nvPicPr>
              <p:cNvPr descr="antenna_stylized" id="343" name="Google Shape;343;p13"/>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344" name="Google Shape;344;p13"/>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345" name="Google Shape;345;p13"/>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46" name="Google Shape;346;p13"/>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347" name="Google Shape;347;p13"/>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8" name="Google Shape;348;p13"/>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9" name="Google Shape;349;p13"/>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 name="Google Shape;350;p13"/>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1" name="Google Shape;351;p13"/>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2" name="Google Shape;352;p13"/>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53" name="Google Shape;353;p13"/>
              <p:cNvGrpSpPr/>
              <p:nvPr/>
            </p:nvGrpSpPr>
            <p:grpSpPr>
              <a:xfrm>
                <a:off x="7593395" y="3625649"/>
                <a:ext cx="64747" cy="27592"/>
                <a:chOff x="1740" y="2642"/>
                <a:chExt cx="752" cy="327"/>
              </a:xfrm>
            </p:grpSpPr>
            <p:sp>
              <p:nvSpPr>
                <p:cNvPr id="354" name="Google Shape;354;p1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 name="Google Shape;355;p1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6" name="Google Shape;356;p1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7" name="Google Shape;357;p1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8" name="Google Shape;358;p1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9" name="Google Shape;359;p1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60" name="Google Shape;360;p13"/>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1" name="Google Shape;361;p13"/>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2" name="Google Shape;362;p13"/>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3" name="Google Shape;363;p13"/>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4" name="Google Shape;364;p13"/>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5" name="Google Shape;365;p13"/>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6" name="Google Shape;366;p13"/>
            <p:cNvGrpSpPr/>
            <p:nvPr/>
          </p:nvGrpSpPr>
          <p:grpSpPr>
            <a:xfrm flipH="1">
              <a:off x="7985622" y="3537823"/>
              <a:ext cx="359261" cy="342045"/>
              <a:chOff x="2839" y="3501"/>
              <a:chExt cx="755" cy="803"/>
            </a:xfrm>
          </p:grpSpPr>
          <p:pic>
            <p:nvPicPr>
              <p:cNvPr descr="desktop_computer_stylized_medium" id="367" name="Google Shape;367;p13"/>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368" name="Google Shape;368;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9" name="Google Shape;369;p13"/>
            <p:cNvGrpSpPr/>
            <p:nvPr/>
          </p:nvGrpSpPr>
          <p:grpSpPr>
            <a:xfrm>
              <a:off x="7797061" y="3296104"/>
              <a:ext cx="347997" cy="396620"/>
              <a:chOff x="7797061" y="3296104"/>
              <a:chExt cx="347997" cy="396620"/>
            </a:xfrm>
          </p:grpSpPr>
          <p:pic>
            <p:nvPicPr>
              <p:cNvPr descr="fridge2.png" id="370" name="Google Shape;370;p13"/>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371" name="Google Shape;371;p13"/>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372" name="Google Shape;372;p13"/>
          <p:cNvGrpSpPr/>
          <p:nvPr/>
        </p:nvGrpSpPr>
        <p:grpSpPr>
          <a:xfrm>
            <a:off x="11064947" y="3428485"/>
            <a:ext cx="518448" cy="1212242"/>
            <a:chOff x="11058573" y="3399165"/>
            <a:chExt cx="518448" cy="1212242"/>
          </a:xfrm>
        </p:grpSpPr>
        <p:grpSp>
          <p:nvGrpSpPr>
            <p:cNvPr id="373" name="Google Shape;373;p13"/>
            <p:cNvGrpSpPr/>
            <p:nvPr/>
          </p:nvGrpSpPr>
          <p:grpSpPr>
            <a:xfrm>
              <a:off x="11087182" y="4159591"/>
              <a:ext cx="489839" cy="451816"/>
              <a:chOff x="5103720" y="2693365"/>
              <a:chExt cx="611650" cy="414788"/>
            </a:xfrm>
          </p:grpSpPr>
          <p:cxnSp>
            <p:nvCxnSpPr>
              <p:cNvPr id="374" name="Google Shape;374;p13"/>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75" name="Google Shape;375;p13"/>
              <p:cNvGrpSpPr/>
              <p:nvPr/>
            </p:nvGrpSpPr>
            <p:grpSpPr>
              <a:xfrm>
                <a:off x="5275406" y="2693365"/>
                <a:ext cx="439964" cy="414788"/>
                <a:chOff x="5275406" y="2711455"/>
                <a:chExt cx="452949" cy="405518"/>
              </a:xfrm>
            </p:grpSpPr>
            <p:pic>
              <p:nvPicPr>
                <p:cNvPr descr="server_rack.png" id="376" name="Google Shape;376;p13"/>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377" name="Google Shape;377;p13"/>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378" name="Google Shape;378;p13"/>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379" name="Google Shape;379;p13"/>
            <p:cNvGrpSpPr/>
            <p:nvPr/>
          </p:nvGrpSpPr>
          <p:grpSpPr>
            <a:xfrm>
              <a:off x="11058573" y="3399165"/>
              <a:ext cx="423724" cy="405973"/>
              <a:chOff x="5103720" y="2693365"/>
              <a:chExt cx="611650" cy="414788"/>
            </a:xfrm>
          </p:grpSpPr>
          <p:cxnSp>
            <p:nvCxnSpPr>
              <p:cNvPr id="380" name="Google Shape;380;p13"/>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81" name="Google Shape;381;p13"/>
              <p:cNvGrpSpPr/>
              <p:nvPr/>
            </p:nvGrpSpPr>
            <p:grpSpPr>
              <a:xfrm>
                <a:off x="5275406" y="2693365"/>
                <a:ext cx="439964" cy="414788"/>
                <a:chOff x="5275406" y="2711455"/>
                <a:chExt cx="452949" cy="405518"/>
              </a:xfrm>
            </p:grpSpPr>
            <p:pic>
              <p:nvPicPr>
                <p:cNvPr descr="server_rack.png" id="382" name="Google Shape;382;p13"/>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383" name="Google Shape;383;p13"/>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384" name="Google Shape;384;p13"/>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385" name="Google Shape;385;p13"/>
          <p:cNvGrpSpPr/>
          <p:nvPr/>
        </p:nvGrpSpPr>
        <p:grpSpPr>
          <a:xfrm flipH="1">
            <a:off x="7980855" y="4900161"/>
            <a:ext cx="345630" cy="320302"/>
            <a:chOff x="2839" y="3501"/>
            <a:chExt cx="755" cy="803"/>
          </a:xfrm>
        </p:grpSpPr>
        <p:pic>
          <p:nvPicPr>
            <p:cNvPr descr="desktop_computer_stylized_medium" id="386" name="Google Shape;386;p13"/>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387" name="Google Shape;387;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88" name="Google Shape;388;p13"/>
          <p:cNvGrpSpPr/>
          <p:nvPr/>
        </p:nvGrpSpPr>
        <p:grpSpPr>
          <a:xfrm>
            <a:off x="9201681" y="5852809"/>
            <a:ext cx="310186" cy="312008"/>
            <a:chOff x="877" y="1008"/>
            <a:chExt cx="2747" cy="2626"/>
          </a:xfrm>
        </p:grpSpPr>
        <p:pic>
          <p:nvPicPr>
            <p:cNvPr descr="antenna_stylized" id="389" name="Google Shape;389;p13"/>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390" name="Google Shape;390;p13"/>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391" name="Google Shape;391;p13"/>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92" name="Google Shape;392;p13"/>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393" name="Google Shape;393;p13"/>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4" name="Google Shape;394;p13"/>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5" name="Google Shape;395;p13"/>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6" name="Google Shape;396;p13"/>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7" name="Google Shape;397;p13"/>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8" name="Google Shape;398;p13"/>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99" name="Google Shape;399;p13"/>
            <p:cNvGrpSpPr/>
            <p:nvPr/>
          </p:nvGrpSpPr>
          <p:grpSpPr>
            <a:xfrm>
              <a:off x="1709" y="3008"/>
              <a:ext cx="507" cy="234"/>
              <a:chOff x="1740" y="2642"/>
              <a:chExt cx="752" cy="327"/>
            </a:xfrm>
          </p:grpSpPr>
          <p:sp>
            <p:nvSpPr>
              <p:cNvPr id="400" name="Google Shape;400;p1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1" name="Google Shape;401;p1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2" name="Google Shape;402;p1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3" name="Google Shape;403;p1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4" name="Google Shape;404;p1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5" name="Google Shape;405;p1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06" name="Google Shape;406;p13"/>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7" name="Google Shape;407;p13"/>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8" name="Google Shape;408;p13"/>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9" name="Google Shape;409;p13"/>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0" name="Google Shape;410;p13"/>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1" name="Google Shape;411;p13"/>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12" name="Google Shape;412;p13"/>
          <p:cNvGrpSpPr/>
          <p:nvPr/>
        </p:nvGrpSpPr>
        <p:grpSpPr>
          <a:xfrm flipH="1">
            <a:off x="8153909" y="5504657"/>
            <a:ext cx="345630" cy="320302"/>
            <a:chOff x="2839" y="3501"/>
            <a:chExt cx="755" cy="803"/>
          </a:xfrm>
        </p:grpSpPr>
        <p:pic>
          <p:nvPicPr>
            <p:cNvPr descr="desktop_computer_stylized_medium" id="413" name="Google Shape;413;p13"/>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14" name="Google Shape;414;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15" name="Google Shape;415;p13"/>
          <p:cNvGrpSpPr/>
          <p:nvPr/>
        </p:nvGrpSpPr>
        <p:grpSpPr>
          <a:xfrm flipH="1">
            <a:off x="8552134" y="5526130"/>
            <a:ext cx="345630" cy="320302"/>
            <a:chOff x="2839" y="3501"/>
            <a:chExt cx="755" cy="803"/>
          </a:xfrm>
        </p:grpSpPr>
        <p:pic>
          <p:nvPicPr>
            <p:cNvPr descr="desktop_computer_stylized_medium" id="416" name="Google Shape;416;p13"/>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17" name="Google Shape;417;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18" name="Google Shape;418;p13"/>
          <p:cNvGrpSpPr/>
          <p:nvPr/>
        </p:nvGrpSpPr>
        <p:grpSpPr>
          <a:xfrm>
            <a:off x="9534746" y="5795138"/>
            <a:ext cx="319264" cy="256836"/>
            <a:chOff x="877" y="1008"/>
            <a:chExt cx="2747" cy="2626"/>
          </a:xfrm>
        </p:grpSpPr>
        <p:pic>
          <p:nvPicPr>
            <p:cNvPr descr="antenna_stylized" id="419" name="Google Shape;419;p13"/>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420" name="Google Shape;420;p13"/>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421" name="Google Shape;421;p13"/>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422" name="Google Shape;422;p13"/>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423" name="Google Shape;423;p13"/>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4" name="Google Shape;424;p13"/>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5" name="Google Shape;425;p13"/>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6" name="Google Shape;426;p13"/>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7" name="Google Shape;427;p13"/>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8" name="Google Shape;428;p13"/>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29" name="Google Shape;429;p13"/>
            <p:cNvGrpSpPr/>
            <p:nvPr/>
          </p:nvGrpSpPr>
          <p:grpSpPr>
            <a:xfrm>
              <a:off x="1709" y="3008"/>
              <a:ext cx="507" cy="234"/>
              <a:chOff x="1740" y="2642"/>
              <a:chExt cx="752" cy="327"/>
            </a:xfrm>
          </p:grpSpPr>
          <p:sp>
            <p:nvSpPr>
              <p:cNvPr id="430" name="Google Shape;430;p1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1" name="Google Shape;431;p1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 name="Google Shape;432;p1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3" name="Google Shape;433;p1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4" name="Google Shape;434;p1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5" name="Google Shape;435;p1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36" name="Google Shape;436;p13"/>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7" name="Google Shape;437;p13"/>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8" name="Google Shape;438;p13"/>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9" name="Google Shape;439;p13"/>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0" name="Google Shape;440;p13"/>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1" name="Google Shape;441;p13"/>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42" name="Google Shape;442;p13"/>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3" name="Google Shape;443;p13"/>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4" name="Google Shape;444;p13"/>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5" name="Google Shape;445;p13"/>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46" name="Google Shape;446;p13"/>
          <p:cNvGrpSpPr/>
          <p:nvPr/>
        </p:nvGrpSpPr>
        <p:grpSpPr>
          <a:xfrm>
            <a:off x="10091053" y="5670891"/>
            <a:ext cx="69517" cy="21877"/>
            <a:chOff x="613" y="2566"/>
            <a:chExt cx="721" cy="144"/>
          </a:xfrm>
        </p:grpSpPr>
        <p:sp>
          <p:nvSpPr>
            <p:cNvPr id="447" name="Google Shape;447;p1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8" name="Google Shape;448;p1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49" name="Google Shape;449;p13"/>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50" name="Google Shape;450;p13"/>
          <p:cNvGrpSpPr/>
          <p:nvPr/>
        </p:nvGrpSpPr>
        <p:grpSpPr>
          <a:xfrm>
            <a:off x="10091005" y="5718110"/>
            <a:ext cx="69517" cy="19515"/>
            <a:chOff x="615" y="2564"/>
            <a:chExt cx="721" cy="139"/>
          </a:xfrm>
        </p:grpSpPr>
        <p:sp>
          <p:nvSpPr>
            <p:cNvPr id="451" name="Google Shape;451;p1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2" name="Google Shape;452;p1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53" name="Google Shape;453;p13"/>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4" name="Google Shape;454;p13"/>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55" name="Google Shape;455;p13"/>
          <p:cNvGrpSpPr/>
          <p:nvPr/>
        </p:nvGrpSpPr>
        <p:grpSpPr>
          <a:xfrm>
            <a:off x="10089851" y="5813708"/>
            <a:ext cx="69541" cy="19618"/>
            <a:chOff x="618" y="2586"/>
            <a:chExt cx="720" cy="124"/>
          </a:xfrm>
        </p:grpSpPr>
        <p:sp>
          <p:nvSpPr>
            <p:cNvPr id="456" name="Google Shape;456;p1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7" name="Google Shape;457;p1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58" name="Google Shape;458;p13"/>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59" name="Google Shape;459;p13"/>
          <p:cNvGrpSpPr/>
          <p:nvPr/>
        </p:nvGrpSpPr>
        <p:grpSpPr>
          <a:xfrm>
            <a:off x="10089849" y="5767606"/>
            <a:ext cx="70700" cy="19515"/>
            <a:chOff x="613" y="2571"/>
            <a:chExt cx="732" cy="134"/>
          </a:xfrm>
        </p:grpSpPr>
        <p:sp>
          <p:nvSpPr>
            <p:cNvPr id="460" name="Google Shape;460;p1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1" name="Google Shape;461;p1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62" name="Google Shape;462;p13"/>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3" name="Google Shape;463;p13"/>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4" name="Google Shape;464;p13"/>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5" name="Google Shape;465;p13"/>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6" name="Google Shape;466;p13"/>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7" name="Google Shape;467;p13"/>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8" name="Google Shape;468;p13"/>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9" name="Google Shape;469;p13"/>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70" name="Google Shape;470;p13"/>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471" name="Google Shape;471;p13"/>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72" name="Google Shape;472;p13"/>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73" name="Google Shape;473;p13"/>
          <p:cNvGrpSpPr/>
          <p:nvPr/>
        </p:nvGrpSpPr>
        <p:grpSpPr>
          <a:xfrm flipH="1">
            <a:off x="7773981" y="5281060"/>
            <a:ext cx="345630" cy="320302"/>
            <a:chOff x="2839" y="3501"/>
            <a:chExt cx="755" cy="803"/>
          </a:xfrm>
        </p:grpSpPr>
        <p:pic>
          <p:nvPicPr>
            <p:cNvPr descr="desktop_computer_stylized_medium" id="474" name="Google Shape;474;p13"/>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75" name="Google Shape;475;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76" name="Google Shape;476;p13"/>
          <p:cNvSpPr/>
          <p:nvPr/>
        </p:nvSpPr>
        <p:spPr>
          <a:xfrm>
            <a:off x="6406266" y="1372497"/>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77" name="Google Shape;477;p13"/>
          <p:cNvGrpSpPr/>
          <p:nvPr/>
        </p:nvGrpSpPr>
        <p:grpSpPr>
          <a:xfrm>
            <a:off x="7750224" y="1859725"/>
            <a:ext cx="415925" cy="385763"/>
            <a:chOff x="2751" y="1851"/>
            <a:chExt cx="462" cy="478"/>
          </a:xfrm>
        </p:grpSpPr>
        <p:pic>
          <p:nvPicPr>
            <p:cNvPr descr="iphone_stylized_small" id="478" name="Google Shape;478;p13"/>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479" name="Google Shape;479;p13"/>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grpSp>
        <p:nvGrpSpPr>
          <p:cNvPr id="480" name="Google Shape;480;p13"/>
          <p:cNvGrpSpPr/>
          <p:nvPr/>
        </p:nvGrpSpPr>
        <p:grpSpPr>
          <a:xfrm>
            <a:off x="10002508" y="5616400"/>
            <a:ext cx="214974" cy="403920"/>
            <a:chOff x="4140" y="429"/>
            <a:chExt cx="1425" cy="2396"/>
          </a:xfrm>
        </p:grpSpPr>
        <p:sp>
          <p:nvSpPr>
            <p:cNvPr id="481" name="Google Shape;481;p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2" name="Google Shape;482;p1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3" name="Google Shape;483;p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4" name="Google Shape;484;p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5" name="Google Shape;485;p13"/>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86" name="Google Shape;486;p13"/>
            <p:cNvGrpSpPr/>
            <p:nvPr/>
          </p:nvGrpSpPr>
          <p:grpSpPr>
            <a:xfrm>
              <a:off x="4748" y="666"/>
              <a:ext cx="578" cy="150"/>
              <a:chOff x="613" y="2566"/>
              <a:chExt cx="721" cy="144"/>
            </a:xfrm>
          </p:grpSpPr>
          <p:sp>
            <p:nvSpPr>
              <p:cNvPr id="487" name="Google Shape;487;p1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8" name="Google Shape;488;p1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89" name="Google Shape;489;p13"/>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90" name="Google Shape;490;p13"/>
            <p:cNvGrpSpPr/>
            <p:nvPr/>
          </p:nvGrpSpPr>
          <p:grpSpPr>
            <a:xfrm>
              <a:off x="4748" y="990"/>
              <a:ext cx="578" cy="134"/>
              <a:chOff x="615" y="2564"/>
              <a:chExt cx="721" cy="139"/>
            </a:xfrm>
          </p:grpSpPr>
          <p:sp>
            <p:nvSpPr>
              <p:cNvPr id="491" name="Google Shape;491;p1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2" name="Google Shape;492;p1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93" name="Google Shape;493;p13"/>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4" name="Google Shape;494;p13"/>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95" name="Google Shape;495;p13"/>
            <p:cNvGrpSpPr/>
            <p:nvPr/>
          </p:nvGrpSpPr>
          <p:grpSpPr>
            <a:xfrm>
              <a:off x="4738" y="1647"/>
              <a:ext cx="578" cy="135"/>
              <a:chOff x="618" y="2586"/>
              <a:chExt cx="720" cy="124"/>
            </a:xfrm>
          </p:grpSpPr>
          <p:sp>
            <p:nvSpPr>
              <p:cNvPr id="496" name="Google Shape;496;p1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7" name="Google Shape;497;p1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98" name="Google Shape;498;p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99" name="Google Shape;499;p13"/>
            <p:cNvGrpSpPr/>
            <p:nvPr/>
          </p:nvGrpSpPr>
          <p:grpSpPr>
            <a:xfrm>
              <a:off x="4738" y="1330"/>
              <a:ext cx="588" cy="134"/>
              <a:chOff x="613" y="2571"/>
              <a:chExt cx="732" cy="134"/>
            </a:xfrm>
          </p:grpSpPr>
          <p:sp>
            <p:nvSpPr>
              <p:cNvPr id="500" name="Google Shape;500;p1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1" name="Google Shape;501;p1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02" name="Google Shape;502;p1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3" name="Google Shape;503;p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4" name="Google Shape;504;p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5" name="Google Shape;505;p1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6" name="Google Shape;506;p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7" name="Google Shape;507;p13"/>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8" name="Google Shape;508;p13"/>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9" name="Google Shape;509;p1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0" name="Google Shape;510;p1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11" name="Google Shape;511;p1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2" name="Google Shape;512;p13"/>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513" name="Google Shape;513;p13"/>
          <p:cNvGrpSpPr/>
          <p:nvPr/>
        </p:nvGrpSpPr>
        <p:grpSpPr>
          <a:xfrm>
            <a:off x="7680324" y="1137866"/>
            <a:ext cx="3489213" cy="4926975"/>
            <a:chOff x="7680324" y="1137866"/>
            <a:chExt cx="3489213" cy="4926975"/>
          </a:xfrm>
        </p:grpSpPr>
        <p:sp>
          <p:nvSpPr>
            <p:cNvPr id="514" name="Google Shape;514;p13"/>
            <p:cNvSpPr/>
            <p:nvPr/>
          </p:nvSpPr>
          <p:spPr>
            <a:xfrm>
              <a:off x="8005845" y="1190714"/>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5" name="Google Shape;515;p13"/>
            <p:cNvSpPr/>
            <p:nvPr/>
          </p:nvSpPr>
          <p:spPr>
            <a:xfrm>
              <a:off x="10104523" y="4775289"/>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16" name="Google Shape;516;p13"/>
            <p:cNvGrpSpPr/>
            <p:nvPr/>
          </p:nvGrpSpPr>
          <p:grpSpPr>
            <a:xfrm>
              <a:off x="7680324" y="1137866"/>
              <a:ext cx="3489213" cy="4926975"/>
              <a:chOff x="7680324" y="1137866"/>
              <a:chExt cx="3489213" cy="4926975"/>
            </a:xfrm>
          </p:grpSpPr>
          <p:sp>
            <p:nvSpPr>
              <p:cNvPr id="517" name="Google Shape;517;p13"/>
              <p:cNvSpPr/>
              <p:nvPr/>
            </p:nvSpPr>
            <p:spPr>
              <a:xfrm>
                <a:off x="7680324" y="181417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8" name="Google Shape;518;p13"/>
              <p:cNvSpPr/>
              <p:nvPr/>
            </p:nvSpPr>
            <p:spPr>
              <a:xfrm>
                <a:off x="9823450" y="5554772"/>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19" name="Google Shape;519;p13"/>
              <p:cNvGrpSpPr/>
              <p:nvPr/>
            </p:nvGrpSpPr>
            <p:grpSpPr>
              <a:xfrm>
                <a:off x="10288915" y="4742972"/>
                <a:ext cx="880622" cy="861812"/>
                <a:chOff x="10288915" y="4742972"/>
                <a:chExt cx="880622" cy="861812"/>
              </a:xfrm>
            </p:grpSpPr>
            <p:grpSp>
              <p:nvGrpSpPr>
                <p:cNvPr id="520" name="Google Shape;520;p13"/>
                <p:cNvGrpSpPr/>
                <p:nvPr/>
              </p:nvGrpSpPr>
              <p:grpSpPr>
                <a:xfrm>
                  <a:off x="10288915" y="5273951"/>
                  <a:ext cx="177192" cy="330833"/>
                  <a:chOff x="4140" y="429"/>
                  <a:chExt cx="1425" cy="2396"/>
                </a:xfrm>
              </p:grpSpPr>
              <p:sp>
                <p:nvSpPr>
                  <p:cNvPr id="521" name="Google Shape;521;p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22" name="Google Shape;522;p1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3" name="Google Shape;523;p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24" name="Google Shape;524;p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25" name="Google Shape;525;p13"/>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26" name="Google Shape;526;p13"/>
                  <p:cNvGrpSpPr/>
                  <p:nvPr/>
                </p:nvGrpSpPr>
                <p:grpSpPr>
                  <a:xfrm>
                    <a:off x="4748" y="666"/>
                    <a:ext cx="578" cy="150"/>
                    <a:chOff x="613" y="2566"/>
                    <a:chExt cx="721" cy="144"/>
                  </a:xfrm>
                </p:grpSpPr>
                <p:sp>
                  <p:nvSpPr>
                    <p:cNvPr id="527" name="Google Shape;527;p1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8" name="Google Shape;528;p1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29" name="Google Shape;529;p13"/>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30" name="Google Shape;530;p13"/>
                  <p:cNvGrpSpPr/>
                  <p:nvPr/>
                </p:nvGrpSpPr>
                <p:grpSpPr>
                  <a:xfrm>
                    <a:off x="4748" y="990"/>
                    <a:ext cx="578" cy="134"/>
                    <a:chOff x="615" y="2564"/>
                    <a:chExt cx="721" cy="139"/>
                  </a:xfrm>
                </p:grpSpPr>
                <p:sp>
                  <p:nvSpPr>
                    <p:cNvPr id="531" name="Google Shape;531;p1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2" name="Google Shape;532;p1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33" name="Google Shape;533;p13"/>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4" name="Google Shape;534;p13"/>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35" name="Google Shape;535;p13"/>
                  <p:cNvGrpSpPr/>
                  <p:nvPr/>
                </p:nvGrpSpPr>
                <p:grpSpPr>
                  <a:xfrm>
                    <a:off x="4738" y="1647"/>
                    <a:ext cx="578" cy="135"/>
                    <a:chOff x="618" y="2586"/>
                    <a:chExt cx="720" cy="124"/>
                  </a:xfrm>
                </p:grpSpPr>
                <p:sp>
                  <p:nvSpPr>
                    <p:cNvPr id="536" name="Google Shape;536;p1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7" name="Google Shape;537;p1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38" name="Google Shape;538;p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39" name="Google Shape;539;p13"/>
                  <p:cNvGrpSpPr/>
                  <p:nvPr/>
                </p:nvGrpSpPr>
                <p:grpSpPr>
                  <a:xfrm>
                    <a:off x="4738" y="1330"/>
                    <a:ext cx="588" cy="134"/>
                    <a:chOff x="613" y="2571"/>
                    <a:chExt cx="732" cy="134"/>
                  </a:xfrm>
                </p:grpSpPr>
                <p:sp>
                  <p:nvSpPr>
                    <p:cNvPr id="540" name="Google Shape;540;p1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1" name="Google Shape;541;p1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42" name="Google Shape;542;p1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3" name="Google Shape;543;p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4" name="Google Shape;544;p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5" name="Google Shape;545;p1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6" name="Google Shape;546;p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7" name="Google Shape;547;p13"/>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8" name="Google Shape;548;p13"/>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49" name="Google Shape;549;p1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50" name="Google Shape;550;p1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51" name="Google Shape;551;p1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52" name="Google Shape;552;p13"/>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53" name="Google Shape;553;p13"/>
                <p:cNvSpPr/>
                <p:nvPr/>
              </p:nvSpPr>
              <p:spPr>
                <a:xfrm>
                  <a:off x="10452186" y="4753064"/>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4" name="Google Shape;554;p13"/>
                <p:cNvSpPr/>
                <p:nvPr/>
              </p:nvSpPr>
              <p:spPr>
                <a:xfrm>
                  <a:off x="10418848" y="4776877"/>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5" name="Google Shape;555;p13"/>
                <p:cNvSpPr/>
                <p:nvPr/>
              </p:nvSpPr>
              <p:spPr>
                <a:xfrm>
                  <a:off x="10425991" y="4930726"/>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6" name="Google Shape;556;p13"/>
                <p:cNvSpPr txBox="1"/>
                <p:nvPr/>
              </p:nvSpPr>
              <p:spPr>
                <a:xfrm>
                  <a:off x="10355149" y="4742972"/>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557" name="Google Shape;557;p13"/>
                <p:cNvCxnSpPr/>
                <p:nvPr/>
              </p:nvCxnSpPr>
              <p:spPr>
                <a:xfrm>
                  <a:off x="10418848" y="5119777"/>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558" name="Google Shape;558;p13"/>
                <p:cNvCxnSpPr/>
                <p:nvPr/>
              </p:nvCxnSpPr>
              <p:spPr>
                <a:xfrm>
                  <a:off x="10428373" y="5257889"/>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559" name="Google Shape;559;p13"/>
                <p:cNvCxnSpPr/>
                <p:nvPr/>
              </p:nvCxnSpPr>
              <p:spPr>
                <a:xfrm>
                  <a:off x="10428373" y="5396002"/>
                  <a:ext cx="690563" cy="4763"/>
                </a:xfrm>
                <a:prstGeom prst="straightConnector1">
                  <a:avLst/>
                </a:prstGeom>
                <a:noFill/>
                <a:ln cap="flat" cmpd="sng" w="12700">
                  <a:solidFill>
                    <a:schemeClr val="dk1"/>
                  </a:solidFill>
                  <a:prstDash val="solid"/>
                  <a:round/>
                  <a:headEnd len="med" w="med" type="none"/>
                  <a:tailEnd len="med" w="med" type="none"/>
                </a:ln>
              </p:spPr>
            </p:cxnSp>
          </p:grpSp>
          <p:grpSp>
            <p:nvGrpSpPr>
              <p:cNvPr id="560" name="Google Shape;560;p13"/>
              <p:cNvGrpSpPr/>
              <p:nvPr/>
            </p:nvGrpSpPr>
            <p:grpSpPr>
              <a:xfrm>
                <a:off x="8252702" y="1137866"/>
                <a:ext cx="814388" cy="854075"/>
                <a:chOff x="9791027" y="656358"/>
                <a:chExt cx="814388" cy="854075"/>
              </a:xfrm>
            </p:grpSpPr>
            <p:sp>
              <p:nvSpPr>
                <p:cNvPr id="561" name="Google Shape;561;p13"/>
                <p:cNvSpPr/>
                <p:nvPr/>
              </p:nvSpPr>
              <p:spPr>
                <a:xfrm>
                  <a:off x="9888064" y="666450"/>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62" name="Google Shape;562;p13"/>
                <p:cNvSpPr/>
                <p:nvPr/>
              </p:nvSpPr>
              <p:spPr>
                <a:xfrm>
                  <a:off x="9854726" y="690263"/>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63" name="Google Shape;563;p13"/>
                <p:cNvSpPr/>
                <p:nvPr/>
              </p:nvSpPr>
              <p:spPr>
                <a:xfrm>
                  <a:off x="9861869" y="844112"/>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64" name="Google Shape;564;p13"/>
                <p:cNvSpPr txBox="1"/>
                <p:nvPr/>
              </p:nvSpPr>
              <p:spPr>
                <a:xfrm>
                  <a:off x="9791027" y="656358"/>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565" name="Google Shape;565;p13"/>
                <p:cNvCxnSpPr/>
                <p:nvPr/>
              </p:nvCxnSpPr>
              <p:spPr>
                <a:xfrm>
                  <a:off x="9854726" y="1033163"/>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566" name="Google Shape;566;p13"/>
                <p:cNvCxnSpPr/>
                <p:nvPr/>
              </p:nvCxnSpPr>
              <p:spPr>
                <a:xfrm>
                  <a:off x="9864251" y="1171275"/>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567" name="Google Shape;567;p13"/>
                <p:cNvCxnSpPr/>
                <p:nvPr/>
              </p:nvCxnSpPr>
              <p:spPr>
                <a:xfrm>
                  <a:off x="9864251" y="1309388"/>
                  <a:ext cx="690563" cy="4763"/>
                </a:xfrm>
                <a:prstGeom prst="straightConnector1">
                  <a:avLst/>
                </a:prstGeom>
                <a:noFill/>
                <a:ln cap="flat" cmpd="sng" w="12700">
                  <a:solidFill>
                    <a:schemeClr val="dk1"/>
                  </a:solidFill>
                  <a:prstDash val="solid"/>
                  <a:round/>
                  <a:headEnd len="med" w="med" type="none"/>
                  <a:tailEnd len="med" w="med" type="none"/>
                </a:ln>
              </p:spPr>
            </p:cxnSp>
          </p:grpSp>
          <p:sp>
            <p:nvSpPr>
              <p:cNvPr id="568" name="Google Shape;568;p13"/>
              <p:cNvSpPr/>
              <p:nvPr/>
            </p:nvSpPr>
            <p:spPr>
              <a:xfrm rot="-1710802">
                <a:off x="9544123" y="1270072"/>
                <a:ext cx="626354" cy="3838406"/>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69" name="Google Shape;569;p13"/>
              <p:cNvSpPr txBox="1"/>
              <p:nvPr/>
            </p:nvSpPr>
            <p:spPr>
              <a:xfrm rot="3706861">
                <a:off x="8640694" y="3103268"/>
                <a:ext cx="25504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logical end-end transport</a:t>
                </a:r>
                <a:endParaRPr/>
              </a:p>
            </p:txBody>
          </p:sp>
        </p:grpSp>
      </p:grpSp>
      <p:sp>
        <p:nvSpPr>
          <p:cNvPr id="570" name="Google Shape;570;p13"/>
          <p:cNvSpPr txBox="1"/>
          <p:nvPr/>
        </p:nvSpPr>
        <p:spPr>
          <a:xfrm>
            <a:off x="684691" y="2787535"/>
            <a:ext cx="5815703" cy="232775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transport protocols actions in end systems: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sender: breaks application messages into </a:t>
            </a:r>
            <a:r>
              <a:rPr b="0" i="1" lang="en-US" sz="2400" u="none" cap="none" strike="noStrike">
                <a:solidFill>
                  <a:srgbClr val="CC0000"/>
                </a:solidFill>
                <a:latin typeface="Calibri"/>
                <a:ea typeface="Calibri"/>
                <a:cs typeface="Calibri"/>
                <a:sym typeface="Calibri"/>
              </a:rPr>
              <a:t>segments</a:t>
            </a:r>
            <a:r>
              <a:rPr b="0" i="0" lang="en-US" sz="2400" u="none" cap="none" strike="noStrike">
                <a:solidFill>
                  <a:srgbClr val="000000"/>
                </a:solidFill>
                <a:latin typeface="Calibri"/>
                <a:ea typeface="Calibri"/>
                <a:cs typeface="Calibri"/>
                <a:sym typeface="Calibri"/>
              </a:rPr>
              <a:t>, passes to  network layer</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receiver: reassembles segments into messages, passes to application layer</a:t>
            </a:r>
            <a:endParaRPr/>
          </a:p>
        </p:txBody>
      </p:sp>
      <p:sp>
        <p:nvSpPr>
          <p:cNvPr id="571" name="Google Shape;571;p13"/>
          <p:cNvSpPr txBox="1"/>
          <p:nvPr/>
        </p:nvSpPr>
        <p:spPr>
          <a:xfrm>
            <a:off x="681217" y="5165099"/>
            <a:ext cx="5815703" cy="1448546"/>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two transport protocols available to Internet applications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TCP, UDP</a:t>
            </a:r>
            <a:endParaRPr/>
          </a:p>
        </p:txBody>
      </p:sp>
      <p:sp>
        <p:nvSpPr>
          <p:cNvPr id="572" name="Google Shape;572;p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gtEl>
                                        <p:attrNameLst>
                                          <p:attrName>style.visibility</p:attrName>
                                        </p:attrNameLst>
                                      </p:cBhvr>
                                      <p:to>
                                        <p:strVal val="visible"/>
                                      </p:to>
                                    </p:set>
                                    <p:animEffect filter="fade" transition="in">
                                      <p:cBhvr>
                                        <p:cTn dur="500"/>
                                        <p:tgtEl>
                                          <p:spTgt spid="513"/>
                                        </p:tgtEl>
                                      </p:cBhvr>
                                    </p:animEffect>
                                  </p:childTnLst>
                                </p:cTn>
                              </p:par>
                              <p:par>
                                <p:cTn fill="hold" nodeType="with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500"/>
                                        <p:tgtEl>
                                          <p:spTgt spid="4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0"/>
                                        </p:tgtEl>
                                        <p:attrNameLst>
                                          <p:attrName>style.visibility</p:attrName>
                                        </p:attrNameLst>
                                      </p:cBhvr>
                                      <p:to>
                                        <p:strVal val="visible"/>
                                      </p:to>
                                    </p:set>
                                    <p:animEffect filter="fade" transition="in">
                                      <p:cBhvr>
                                        <p:cTn dur="500"/>
                                        <p:tgtEl>
                                          <p:spTgt spid="5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500"/>
                                        <p:tgtEl>
                                          <p:spTgt spid="5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14"/>
          <p:cNvSpPr txBox="1"/>
          <p:nvPr>
            <p:ph type="title"/>
          </p:nvPr>
        </p:nvSpPr>
        <p:spPr>
          <a:xfrm>
            <a:off x="768711" y="259345"/>
            <a:ext cx="10515600" cy="89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Two principal Internet transport protocols</a:t>
            </a:r>
            <a:endParaRPr sz="4800"/>
          </a:p>
        </p:txBody>
      </p:sp>
      <p:sp>
        <p:nvSpPr>
          <p:cNvPr id="579" name="Google Shape;579;p14"/>
          <p:cNvSpPr/>
          <p:nvPr/>
        </p:nvSpPr>
        <p:spPr>
          <a:xfrm>
            <a:off x="8985188" y="3065778"/>
            <a:ext cx="1123614" cy="1336674"/>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0" name="Google Shape;580;p14"/>
          <p:cNvSpPr/>
          <p:nvPr/>
        </p:nvSpPr>
        <p:spPr>
          <a:xfrm>
            <a:off x="7274076" y="1826035"/>
            <a:ext cx="1736725" cy="1317705"/>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81" name="Google Shape;581;p14"/>
          <p:cNvGrpSpPr/>
          <p:nvPr/>
        </p:nvGrpSpPr>
        <p:grpSpPr>
          <a:xfrm>
            <a:off x="7205350" y="3289251"/>
            <a:ext cx="1339817" cy="1017624"/>
            <a:chOff x="2889" y="1631"/>
            <a:chExt cx="900" cy="810"/>
          </a:xfrm>
        </p:grpSpPr>
        <p:sp>
          <p:nvSpPr>
            <p:cNvPr id="582" name="Google Shape;582;p14"/>
            <p:cNvSpPr/>
            <p:nvPr/>
          </p:nvSpPr>
          <p:spPr>
            <a:xfrm>
              <a:off x="3046" y="1841"/>
              <a:ext cx="600" cy="600"/>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83" name="Google Shape;583;p14"/>
            <p:cNvSpPr/>
            <p:nvPr/>
          </p:nvSpPr>
          <p:spPr>
            <a:xfrm>
              <a:off x="2889" y="1631"/>
              <a:ext cx="900" cy="30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584" name="Google Shape;584;p14"/>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5" name="Google Shape;585;p14"/>
          <p:cNvSpPr txBox="1"/>
          <p:nvPr/>
        </p:nvSpPr>
        <p:spPr>
          <a:xfrm>
            <a:off x="7679274" y="1488461"/>
            <a:ext cx="13395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586" name="Google Shape;586;p14"/>
          <p:cNvSpPr txBox="1"/>
          <p:nvPr/>
        </p:nvSpPr>
        <p:spPr>
          <a:xfrm>
            <a:off x="7330835" y="4191922"/>
            <a:ext cx="1955700" cy="26880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a:p>
        </p:txBody>
      </p:sp>
      <p:sp>
        <p:nvSpPr>
          <p:cNvPr id="587" name="Google Shape;587;p14"/>
          <p:cNvSpPr txBox="1"/>
          <p:nvPr/>
        </p:nvSpPr>
        <p:spPr>
          <a:xfrm>
            <a:off x="7306908" y="5779775"/>
            <a:ext cx="1195200" cy="44130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588" name="Google Shape;588;p14"/>
          <p:cNvSpPr/>
          <p:nvPr/>
        </p:nvSpPr>
        <p:spPr>
          <a:xfrm>
            <a:off x="10222146" y="3179540"/>
            <a:ext cx="1274128" cy="1933312"/>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89" name="Google Shape;589;p14"/>
          <p:cNvGrpSpPr/>
          <p:nvPr/>
        </p:nvGrpSpPr>
        <p:grpSpPr>
          <a:xfrm>
            <a:off x="10837448" y="3928102"/>
            <a:ext cx="687351" cy="721727"/>
            <a:chOff x="5203089" y="1751190"/>
            <a:chExt cx="858331" cy="662560"/>
          </a:xfrm>
        </p:grpSpPr>
        <p:sp>
          <p:nvSpPr>
            <p:cNvPr id="590" name="Google Shape;590;p1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1" name="Google Shape;591;p1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92" name="Google Shape;592;p14"/>
            <p:cNvCxnSpPr/>
            <p:nvPr/>
          </p:nvCxnSpPr>
          <p:spPr>
            <a:xfrm flipH="1" rot="10800000">
              <a:off x="5270526" y="2029521"/>
              <a:ext cx="295200" cy="73500"/>
            </a:xfrm>
            <a:prstGeom prst="straightConnector1">
              <a:avLst/>
            </a:prstGeom>
            <a:noFill/>
            <a:ln cap="flat" cmpd="sng" w="44450">
              <a:solidFill>
                <a:schemeClr val="lt1"/>
              </a:solidFill>
              <a:prstDash val="solid"/>
              <a:miter lim="800000"/>
              <a:headEnd len="sm" w="sm" type="none"/>
              <a:tailEnd len="sm" w="sm" type="none"/>
            </a:ln>
          </p:spPr>
        </p:cxnSp>
        <p:cxnSp>
          <p:nvCxnSpPr>
            <p:cNvPr id="593" name="Google Shape;593;p14"/>
            <p:cNvCxnSpPr/>
            <p:nvPr/>
          </p:nvCxnSpPr>
          <p:spPr>
            <a:xfrm flipH="1" rot="10800000">
              <a:off x="5275406" y="2261662"/>
              <a:ext cx="290400" cy="16800"/>
            </a:xfrm>
            <a:prstGeom prst="straightConnector1">
              <a:avLst/>
            </a:prstGeom>
            <a:noFill/>
            <a:ln cap="flat" cmpd="sng" w="44450">
              <a:solidFill>
                <a:schemeClr val="lt1"/>
              </a:solidFill>
              <a:prstDash val="solid"/>
              <a:miter lim="800000"/>
              <a:headEnd len="sm" w="sm" type="none"/>
              <a:tailEnd len="sm" w="sm" type="none"/>
            </a:ln>
          </p:spPr>
        </p:cxnSp>
        <p:cxnSp>
          <p:nvCxnSpPr>
            <p:cNvPr id="594" name="Google Shape;594;p14"/>
            <p:cNvCxnSpPr/>
            <p:nvPr/>
          </p:nvCxnSpPr>
          <p:spPr>
            <a:xfrm flipH="1" rot="10800000">
              <a:off x="5275406" y="2151874"/>
              <a:ext cx="290400" cy="48300"/>
            </a:xfrm>
            <a:prstGeom prst="straightConnector1">
              <a:avLst/>
            </a:prstGeom>
            <a:noFill/>
            <a:ln cap="flat" cmpd="sng" w="44450">
              <a:solidFill>
                <a:schemeClr val="lt1"/>
              </a:solidFill>
              <a:prstDash val="solid"/>
              <a:miter lim="800000"/>
              <a:headEnd len="sm" w="sm" type="none"/>
              <a:tailEnd len="sm" w="sm" type="none"/>
            </a:ln>
          </p:spPr>
        </p:cxnSp>
        <p:cxnSp>
          <p:nvCxnSpPr>
            <p:cNvPr id="595" name="Google Shape;595;p14"/>
            <p:cNvCxnSpPr/>
            <p:nvPr/>
          </p:nvCxnSpPr>
          <p:spPr>
            <a:xfrm>
              <a:off x="5270094" y="2354086"/>
              <a:ext cx="295800" cy="0"/>
            </a:xfrm>
            <a:prstGeom prst="straightConnector1">
              <a:avLst/>
            </a:prstGeom>
            <a:noFill/>
            <a:ln cap="flat" cmpd="sng" w="44450">
              <a:solidFill>
                <a:schemeClr val="lt1"/>
              </a:solidFill>
              <a:prstDash val="solid"/>
              <a:miter lim="800000"/>
              <a:headEnd len="sm" w="sm" type="none"/>
              <a:tailEnd len="sm" w="sm" type="none"/>
            </a:ln>
          </p:spPr>
        </p:cxnSp>
        <p:cxnSp>
          <p:nvCxnSpPr>
            <p:cNvPr id="596" name="Google Shape;596;p14"/>
            <p:cNvCxnSpPr/>
            <p:nvPr/>
          </p:nvCxnSpPr>
          <p:spPr>
            <a:xfrm rot="10800000">
              <a:off x="5950242" y="1866873"/>
              <a:ext cx="0" cy="465300"/>
            </a:xfrm>
            <a:prstGeom prst="straightConnector1">
              <a:avLst/>
            </a:prstGeom>
            <a:noFill/>
            <a:ln cap="flat" cmpd="sng" w="44450">
              <a:solidFill>
                <a:schemeClr val="lt1"/>
              </a:solidFill>
              <a:prstDash val="dash"/>
              <a:miter lim="800000"/>
              <a:headEnd len="sm" w="sm" type="none"/>
              <a:tailEnd len="sm" w="sm" type="none"/>
            </a:ln>
          </p:spPr>
        </p:cxnSp>
        <p:cxnSp>
          <p:nvCxnSpPr>
            <p:cNvPr id="597" name="Google Shape;597;p14"/>
            <p:cNvCxnSpPr/>
            <p:nvPr/>
          </p:nvCxnSpPr>
          <p:spPr>
            <a:xfrm>
              <a:off x="5628589" y="1936750"/>
              <a:ext cx="0" cy="477000"/>
            </a:xfrm>
            <a:prstGeom prst="straightConnector1">
              <a:avLst/>
            </a:prstGeom>
            <a:noFill/>
            <a:ln cap="flat" cmpd="sng" w="15875">
              <a:solidFill>
                <a:srgbClr val="0000A8"/>
              </a:solidFill>
              <a:prstDash val="solid"/>
              <a:miter lim="800000"/>
              <a:headEnd len="sm" w="sm" type="none"/>
              <a:tailEnd len="sm" w="sm" type="none"/>
            </a:ln>
          </p:spPr>
        </p:cxnSp>
      </p:grpSp>
      <p:grpSp>
        <p:nvGrpSpPr>
          <p:cNvPr id="598" name="Google Shape;598;p14"/>
          <p:cNvGrpSpPr/>
          <p:nvPr/>
        </p:nvGrpSpPr>
        <p:grpSpPr>
          <a:xfrm>
            <a:off x="10771406" y="3194088"/>
            <a:ext cx="594652" cy="648447"/>
            <a:chOff x="5203089" y="1751190"/>
            <a:chExt cx="858331" cy="662560"/>
          </a:xfrm>
        </p:grpSpPr>
        <p:sp>
          <p:nvSpPr>
            <p:cNvPr id="599" name="Google Shape;599;p1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0" name="Google Shape;600;p1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01" name="Google Shape;601;p14"/>
            <p:cNvCxnSpPr/>
            <p:nvPr/>
          </p:nvCxnSpPr>
          <p:spPr>
            <a:xfrm flipH="1" rot="10800000">
              <a:off x="5270526" y="2029521"/>
              <a:ext cx="295200" cy="73500"/>
            </a:xfrm>
            <a:prstGeom prst="straightConnector1">
              <a:avLst/>
            </a:prstGeom>
            <a:noFill/>
            <a:ln cap="flat" cmpd="sng" w="44450">
              <a:solidFill>
                <a:schemeClr val="lt1"/>
              </a:solidFill>
              <a:prstDash val="solid"/>
              <a:miter lim="800000"/>
              <a:headEnd len="sm" w="sm" type="none"/>
              <a:tailEnd len="sm" w="sm" type="none"/>
            </a:ln>
          </p:spPr>
        </p:cxnSp>
        <p:cxnSp>
          <p:nvCxnSpPr>
            <p:cNvPr id="602" name="Google Shape;602;p14"/>
            <p:cNvCxnSpPr/>
            <p:nvPr/>
          </p:nvCxnSpPr>
          <p:spPr>
            <a:xfrm flipH="1" rot="10800000">
              <a:off x="5275406" y="2261662"/>
              <a:ext cx="290400" cy="16800"/>
            </a:xfrm>
            <a:prstGeom prst="straightConnector1">
              <a:avLst/>
            </a:prstGeom>
            <a:noFill/>
            <a:ln cap="flat" cmpd="sng" w="44450">
              <a:solidFill>
                <a:schemeClr val="lt1"/>
              </a:solidFill>
              <a:prstDash val="solid"/>
              <a:miter lim="800000"/>
              <a:headEnd len="sm" w="sm" type="none"/>
              <a:tailEnd len="sm" w="sm" type="none"/>
            </a:ln>
          </p:spPr>
        </p:cxnSp>
        <p:cxnSp>
          <p:nvCxnSpPr>
            <p:cNvPr id="603" name="Google Shape;603;p14"/>
            <p:cNvCxnSpPr/>
            <p:nvPr/>
          </p:nvCxnSpPr>
          <p:spPr>
            <a:xfrm flipH="1" rot="10800000">
              <a:off x="5275406" y="2151874"/>
              <a:ext cx="290400" cy="48300"/>
            </a:xfrm>
            <a:prstGeom prst="straightConnector1">
              <a:avLst/>
            </a:prstGeom>
            <a:noFill/>
            <a:ln cap="flat" cmpd="sng" w="44450">
              <a:solidFill>
                <a:schemeClr val="lt1"/>
              </a:solidFill>
              <a:prstDash val="solid"/>
              <a:miter lim="800000"/>
              <a:headEnd len="sm" w="sm" type="none"/>
              <a:tailEnd len="sm" w="sm" type="none"/>
            </a:ln>
          </p:spPr>
        </p:cxnSp>
        <p:cxnSp>
          <p:nvCxnSpPr>
            <p:cNvPr id="604" name="Google Shape;604;p14"/>
            <p:cNvCxnSpPr/>
            <p:nvPr/>
          </p:nvCxnSpPr>
          <p:spPr>
            <a:xfrm>
              <a:off x="5270094" y="2354086"/>
              <a:ext cx="295800" cy="0"/>
            </a:xfrm>
            <a:prstGeom prst="straightConnector1">
              <a:avLst/>
            </a:prstGeom>
            <a:noFill/>
            <a:ln cap="flat" cmpd="sng" w="44450">
              <a:solidFill>
                <a:schemeClr val="lt1"/>
              </a:solidFill>
              <a:prstDash val="solid"/>
              <a:miter lim="800000"/>
              <a:headEnd len="sm" w="sm" type="none"/>
              <a:tailEnd len="sm" w="sm" type="none"/>
            </a:ln>
          </p:spPr>
        </p:cxnSp>
        <p:cxnSp>
          <p:nvCxnSpPr>
            <p:cNvPr id="605" name="Google Shape;605;p14"/>
            <p:cNvCxnSpPr/>
            <p:nvPr/>
          </p:nvCxnSpPr>
          <p:spPr>
            <a:xfrm rot="10800000">
              <a:off x="5950242" y="1866873"/>
              <a:ext cx="0" cy="465300"/>
            </a:xfrm>
            <a:prstGeom prst="straightConnector1">
              <a:avLst/>
            </a:prstGeom>
            <a:noFill/>
            <a:ln cap="flat" cmpd="sng" w="44450">
              <a:solidFill>
                <a:schemeClr val="lt1"/>
              </a:solidFill>
              <a:prstDash val="dash"/>
              <a:miter lim="800000"/>
              <a:headEnd len="sm" w="sm" type="none"/>
              <a:tailEnd len="sm" w="sm" type="none"/>
            </a:ln>
          </p:spPr>
        </p:cxnSp>
        <p:cxnSp>
          <p:nvCxnSpPr>
            <p:cNvPr id="606" name="Google Shape;606;p14"/>
            <p:cNvCxnSpPr/>
            <p:nvPr/>
          </p:nvCxnSpPr>
          <p:spPr>
            <a:xfrm>
              <a:off x="5628589" y="1936750"/>
              <a:ext cx="0" cy="477000"/>
            </a:xfrm>
            <a:prstGeom prst="straightConnector1">
              <a:avLst/>
            </a:prstGeom>
            <a:noFill/>
            <a:ln cap="flat" cmpd="sng" w="15875">
              <a:solidFill>
                <a:srgbClr val="0000A8"/>
              </a:solidFill>
              <a:prstDash val="solid"/>
              <a:miter lim="800000"/>
              <a:headEnd len="sm" w="sm" type="none"/>
              <a:tailEnd len="sm" w="sm" type="none"/>
            </a:ln>
          </p:spPr>
        </p:cxnSp>
      </p:grpSp>
      <p:sp>
        <p:nvSpPr>
          <p:cNvPr id="607" name="Google Shape;607;p14"/>
          <p:cNvSpPr/>
          <p:nvPr/>
        </p:nvSpPr>
        <p:spPr>
          <a:xfrm>
            <a:off x="9540813" y="1782042"/>
            <a:ext cx="1499440" cy="1387700"/>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 name="Google Shape;608;p14"/>
          <p:cNvSpPr txBox="1"/>
          <p:nvPr/>
        </p:nvSpPr>
        <p:spPr>
          <a:xfrm>
            <a:off x="9427201" y="1851195"/>
            <a:ext cx="1725000" cy="2862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609" name="Google Shape;609;p14"/>
          <p:cNvSpPr/>
          <p:nvPr/>
        </p:nvSpPr>
        <p:spPr>
          <a:xfrm>
            <a:off x="9279068" y="3677908"/>
            <a:ext cx="305700" cy="197700"/>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0" name="Google Shape;610;p14"/>
          <p:cNvSpPr txBox="1"/>
          <p:nvPr/>
        </p:nvSpPr>
        <p:spPr>
          <a:xfrm>
            <a:off x="8766162" y="3447919"/>
            <a:ext cx="1040700" cy="4800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a:p>
        </p:txBody>
      </p:sp>
      <p:sp>
        <p:nvSpPr>
          <p:cNvPr id="611" name="Google Shape;611;p14"/>
          <p:cNvSpPr txBox="1"/>
          <p:nvPr/>
        </p:nvSpPr>
        <p:spPr>
          <a:xfrm>
            <a:off x="10917767" y="4677937"/>
            <a:ext cx="813000" cy="3831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sp>
        <p:nvSpPr>
          <p:cNvPr id="612" name="Google Shape;612;p14"/>
          <p:cNvSpPr txBox="1"/>
          <p:nvPr/>
        </p:nvSpPr>
        <p:spPr>
          <a:xfrm>
            <a:off x="10063018" y="4228248"/>
            <a:ext cx="843000" cy="6741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613" name="Google Shape;613;p14"/>
          <p:cNvCxnSpPr/>
          <p:nvPr/>
        </p:nvCxnSpPr>
        <p:spPr>
          <a:xfrm rot="10800000">
            <a:off x="10559784" y="3580237"/>
            <a:ext cx="413100" cy="63600"/>
          </a:xfrm>
          <a:prstGeom prst="straightConnector1">
            <a:avLst/>
          </a:prstGeom>
          <a:noFill/>
          <a:ln cap="flat" cmpd="sng" w="9525">
            <a:solidFill>
              <a:schemeClr val="dk1"/>
            </a:solidFill>
            <a:prstDash val="solid"/>
            <a:miter lim="800000"/>
            <a:headEnd len="sm" w="sm" type="none"/>
            <a:tailEnd len="sm" w="sm" type="none"/>
          </a:ln>
        </p:spPr>
      </p:cxnSp>
      <p:cxnSp>
        <p:nvCxnSpPr>
          <p:cNvPr id="614" name="Google Shape;614;p14"/>
          <p:cNvCxnSpPr/>
          <p:nvPr/>
        </p:nvCxnSpPr>
        <p:spPr>
          <a:xfrm rot="10800000">
            <a:off x="10660801" y="3640759"/>
            <a:ext cx="345900" cy="738900"/>
          </a:xfrm>
          <a:prstGeom prst="straightConnector1">
            <a:avLst/>
          </a:prstGeom>
          <a:noFill/>
          <a:ln cap="flat" cmpd="sng" w="9525">
            <a:solidFill>
              <a:schemeClr val="dk1"/>
            </a:solidFill>
            <a:prstDash val="solid"/>
            <a:miter lim="800000"/>
            <a:headEnd len="sm" w="sm" type="none"/>
            <a:tailEnd len="sm" w="sm" type="none"/>
          </a:ln>
        </p:spPr>
      </p:cxnSp>
      <p:cxnSp>
        <p:nvCxnSpPr>
          <p:cNvPr id="615" name="Google Shape;615;p14"/>
          <p:cNvCxnSpPr/>
          <p:nvPr/>
        </p:nvCxnSpPr>
        <p:spPr>
          <a:xfrm flipH="1" rot="10800000">
            <a:off x="10636897" y="3633361"/>
            <a:ext cx="336000" cy="395400"/>
          </a:xfrm>
          <a:prstGeom prst="straightConnector1">
            <a:avLst/>
          </a:prstGeom>
          <a:noFill/>
          <a:ln cap="flat" cmpd="sng" w="9525">
            <a:solidFill>
              <a:schemeClr val="dk1"/>
            </a:solidFill>
            <a:prstDash val="solid"/>
            <a:miter lim="800000"/>
            <a:headEnd len="sm" w="sm" type="none"/>
            <a:tailEnd len="sm" w="sm" type="none"/>
          </a:ln>
        </p:spPr>
      </p:cxnSp>
      <p:cxnSp>
        <p:nvCxnSpPr>
          <p:cNvPr id="616" name="Google Shape;616;p14"/>
          <p:cNvCxnSpPr/>
          <p:nvPr/>
        </p:nvCxnSpPr>
        <p:spPr>
          <a:xfrm rot="10800000">
            <a:off x="10570775" y="3594944"/>
            <a:ext cx="0" cy="485700"/>
          </a:xfrm>
          <a:prstGeom prst="straightConnector1">
            <a:avLst/>
          </a:prstGeom>
          <a:noFill/>
          <a:ln cap="flat" cmpd="sng" w="9525">
            <a:solidFill>
              <a:schemeClr val="dk1"/>
            </a:solidFill>
            <a:prstDash val="solid"/>
            <a:miter lim="800000"/>
            <a:headEnd len="sm" w="sm" type="none"/>
            <a:tailEnd len="sm" w="sm" type="none"/>
          </a:ln>
        </p:spPr>
      </p:cxnSp>
      <p:cxnSp>
        <p:nvCxnSpPr>
          <p:cNvPr id="617" name="Google Shape;617;p14"/>
          <p:cNvCxnSpPr/>
          <p:nvPr/>
        </p:nvCxnSpPr>
        <p:spPr>
          <a:xfrm rot="10800000">
            <a:off x="10550663" y="4071689"/>
            <a:ext cx="508500" cy="348600"/>
          </a:xfrm>
          <a:prstGeom prst="straightConnector1">
            <a:avLst/>
          </a:prstGeom>
          <a:noFill/>
          <a:ln cap="flat" cmpd="sng" w="9525">
            <a:solidFill>
              <a:schemeClr val="dk1"/>
            </a:solidFill>
            <a:prstDash val="solid"/>
            <a:miter lim="800000"/>
            <a:headEnd len="sm" w="sm" type="none"/>
            <a:tailEnd len="sm" w="sm" type="none"/>
          </a:ln>
        </p:spPr>
      </p:cxnSp>
      <p:cxnSp>
        <p:nvCxnSpPr>
          <p:cNvPr id="618" name="Google Shape;618;p14"/>
          <p:cNvCxnSpPr/>
          <p:nvPr/>
        </p:nvCxnSpPr>
        <p:spPr>
          <a:xfrm rot="10800000">
            <a:off x="9895120" y="4087742"/>
            <a:ext cx="655500" cy="0"/>
          </a:xfrm>
          <a:prstGeom prst="straightConnector1">
            <a:avLst/>
          </a:prstGeom>
          <a:noFill/>
          <a:ln cap="flat" cmpd="sng" w="9525">
            <a:solidFill>
              <a:schemeClr val="dk1"/>
            </a:solidFill>
            <a:prstDash val="solid"/>
            <a:miter lim="800000"/>
            <a:headEnd len="sm" w="sm" type="none"/>
            <a:tailEnd len="sm" w="sm" type="none"/>
          </a:ln>
        </p:spPr>
      </p:cxnSp>
      <p:cxnSp>
        <p:nvCxnSpPr>
          <p:cNvPr id="619" name="Google Shape;619;p14"/>
          <p:cNvCxnSpPr/>
          <p:nvPr/>
        </p:nvCxnSpPr>
        <p:spPr>
          <a:xfrm rot="10800000">
            <a:off x="9219541" y="4087742"/>
            <a:ext cx="655500" cy="0"/>
          </a:xfrm>
          <a:prstGeom prst="straightConnector1">
            <a:avLst/>
          </a:prstGeom>
          <a:noFill/>
          <a:ln cap="flat" cmpd="sng" w="9525">
            <a:solidFill>
              <a:schemeClr val="dk1"/>
            </a:solidFill>
            <a:prstDash val="solid"/>
            <a:miter lim="800000"/>
            <a:headEnd len="sm" w="sm" type="none"/>
            <a:tailEnd len="sm" w="sm" type="none"/>
          </a:ln>
        </p:spPr>
      </p:cxnSp>
      <p:cxnSp>
        <p:nvCxnSpPr>
          <p:cNvPr id="620" name="Google Shape;620;p14"/>
          <p:cNvCxnSpPr/>
          <p:nvPr/>
        </p:nvCxnSpPr>
        <p:spPr>
          <a:xfrm flipH="1">
            <a:off x="9276792" y="3507672"/>
            <a:ext cx="382500" cy="517200"/>
          </a:xfrm>
          <a:prstGeom prst="straightConnector1">
            <a:avLst/>
          </a:prstGeom>
          <a:noFill/>
          <a:ln cap="flat" cmpd="sng" w="9525">
            <a:solidFill>
              <a:schemeClr val="dk1"/>
            </a:solidFill>
            <a:prstDash val="solid"/>
            <a:miter lim="800000"/>
            <a:headEnd len="sm" w="sm" type="none"/>
            <a:tailEnd len="sm" w="sm" type="none"/>
          </a:ln>
        </p:spPr>
      </p:cxnSp>
      <p:cxnSp>
        <p:nvCxnSpPr>
          <p:cNvPr id="621" name="Google Shape;621;p14"/>
          <p:cNvCxnSpPr/>
          <p:nvPr/>
        </p:nvCxnSpPr>
        <p:spPr>
          <a:xfrm>
            <a:off x="9733069" y="3507672"/>
            <a:ext cx="0" cy="540300"/>
          </a:xfrm>
          <a:prstGeom prst="straightConnector1">
            <a:avLst/>
          </a:prstGeom>
          <a:noFill/>
          <a:ln cap="flat" cmpd="sng" w="9525">
            <a:solidFill>
              <a:schemeClr val="dk1"/>
            </a:solidFill>
            <a:prstDash val="solid"/>
            <a:miter lim="800000"/>
            <a:headEnd len="sm" w="sm" type="none"/>
            <a:tailEnd len="sm" w="sm" type="none"/>
          </a:ln>
        </p:spPr>
      </p:cxnSp>
      <p:cxnSp>
        <p:nvCxnSpPr>
          <p:cNvPr id="622" name="Google Shape;622;p14"/>
          <p:cNvCxnSpPr/>
          <p:nvPr/>
        </p:nvCxnSpPr>
        <p:spPr>
          <a:xfrm>
            <a:off x="10137668" y="2754692"/>
            <a:ext cx="488100" cy="839400"/>
          </a:xfrm>
          <a:prstGeom prst="straightConnector1">
            <a:avLst/>
          </a:prstGeom>
          <a:noFill/>
          <a:ln cap="flat" cmpd="sng" w="9525">
            <a:solidFill>
              <a:schemeClr val="dk1"/>
            </a:solidFill>
            <a:prstDash val="solid"/>
            <a:miter lim="800000"/>
            <a:headEnd len="sm" w="sm" type="none"/>
            <a:tailEnd len="sm" w="sm" type="none"/>
          </a:ln>
        </p:spPr>
      </p:cxnSp>
      <p:cxnSp>
        <p:nvCxnSpPr>
          <p:cNvPr id="623" name="Google Shape;623;p14"/>
          <p:cNvCxnSpPr/>
          <p:nvPr/>
        </p:nvCxnSpPr>
        <p:spPr>
          <a:xfrm flipH="1">
            <a:off x="9798751" y="2695013"/>
            <a:ext cx="380400" cy="694800"/>
          </a:xfrm>
          <a:prstGeom prst="straightConnector1">
            <a:avLst/>
          </a:prstGeom>
          <a:noFill/>
          <a:ln cap="flat" cmpd="sng" w="12700">
            <a:solidFill>
              <a:schemeClr val="dk1"/>
            </a:solidFill>
            <a:prstDash val="solid"/>
            <a:miter lim="800000"/>
            <a:headEnd len="sm" w="sm" type="none"/>
            <a:tailEnd len="sm" w="sm" type="none"/>
          </a:ln>
        </p:spPr>
      </p:cxnSp>
      <p:grpSp>
        <p:nvGrpSpPr>
          <p:cNvPr id="624" name="Google Shape;624;p14"/>
          <p:cNvGrpSpPr/>
          <p:nvPr/>
        </p:nvGrpSpPr>
        <p:grpSpPr>
          <a:xfrm>
            <a:off x="7562238" y="2127325"/>
            <a:ext cx="3578867" cy="3640284"/>
            <a:chOff x="7562238" y="2127325"/>
            <a:chExt cx="3578867" cy="3640284"/>
          </a:xfrm>
        </p:grpSpPr>
        <p:grpSp>
          <p:nvGrpSpPr>
            <p:cNvPr id="625" name="Google Shape;625;p14"/>
            <p:cNvGrpSpPr/>
            <p:nvPr/>
          </p:nvGrpSpPr>
          <p:grpSpPr>
            <a:xfrm>
              <a:off x="7857253" y="2127325"/>
              <a:ext cx="3283852" cy="3640284"/>
              <a:chOff x="7881336" y="2104198"/>
              <a:chExt cx="3283852" cy="3640284"/>
            </a:xfrm>
          </p:grpSpPr>
          <p:cxnSp>
            <p:nvCxnSpPr>
              <p:cNvPr id="626" name="Google Shape;626;p14"/>
              <p:cNvCxnSpPr/>
              <p:nvPr/>
            </p:nvCxnSpPr>
            <p:spPr>
              <a:xfrm flipH="1" rot="5400000">
                <a:off x="9813653" y="5228573"/>
                <a:ext cx="388200" cy="7500"/>
              </a:xfrm>
              <a:prstGeom prst="straightConnector1">
                <a:avLst/>
              </a:prstGeom>
              <a:noFill/>
              <a:ln cap="flat" cmpd="sng" w="12700">
                <a:solidFill>
                  <a:schemeClr val="dk1"/>
                </a:solidFill>
                <a:prstDash val="solid"/>
                <a:round/>
                <a:headEnd len="med" w="med" type="none"/>
                <a:tailEnd len="med" w="med" type="none"/>
              </a:ln>
            </p:spPr>
          </p:cxnSp>
          <p:cxnSp>
            <p:nvCxnSpPr>
              <p:cNvPr id="627" name="Google Shape;627;p14"/>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628" name="Google Shape;628;p14"/>
              <p:cNvCxnSpPr/>
              <p:nvPr/>
            </p:nvCxnSpPr>
            <p:spPr>
              <a:xfrm>
                <a:off x="9457042" y="4815390"/>
                <a:ext cx="524400" cy="261600"/>
              </a:xfrm>
              <a:prstGeom prst="straightConnector1">
                <a:avLst/>
              </a:prstGeom>
              <a:noFill/>
              <a:ln cap="flat" cmpd="sng" w="9525">
                <a:solidFill>
                  <a:schemeClr val="dk1"/>
                </a:solidFill>
                <a:prstDash val="solid"/>
                <a:round/>
                <a:headEnd len="med" w="med" type="none"/>
                <a:tailEnd len="med" w="med" type="none"/>
              </a:ln>
            </p:spPr>
          </p:cxnSp>
          <p:cxnSp>
            <p:nvCxnSpPr>
              <p:cNvPr id="629" name="Google Shape;629;p14"/>
              <p:cNvCxnSpPr/>
              <p:nvPr/>
            </p:nvCxnSpPr>
            <p:spPr>
              <a:xfrm flipH="1" rot="10800000">
                <a:off x="8874149" y="4815356"/>
                <a:ext cx="569400" cy="246300"/>
              </a:xfrm>
              <a:prstGeom prst="straightConnector1">
                <a:avLst/>
              </a:prstGeom>
              <a:noFill/>
              <a:ln cap="flat" cmpd="sng" w="9525">
                <a:solidFill>
                  <a:schemeClr val="dk1"/>
                </a:solidFill>
                <a:prstDash val="solid"/>
                <a:round/>
                <a:headEnd len="med" w="med" type="none"/>
                <a:tailEnd len="med" w="med" type="none"/>
              </a:ln>
            </p:spPr>
          </p:cxnSp>
          <p:cxnSp>
            <p:nvCxnSpPr>
              <p:cNvPr id="630" name="Google Shape;630;p14"/>
              <p:cNvCxnSpPr/>
              <p:nvPr/>
            </p:nvCxnSpPr>
            <p:spPr>
              <a:xfrm>
                <a:off x="8845827" y="5085749"/>
                <a:ext cx="1030500" cy="0"/>
              </a:xfrm>
              <a:prstGeom prst="straightConnector1">
                <a:avLst/>
              </a:prstGeom>
              <a:noFill/>
              <a:ln cap="flat" cmpd="sng" w="9525">
                <a:solidFill>
                  <a:schemeClr val="dk1"/>
                </a:solidFill>
                <a:prstDash val="solid"/>
                <a:round/>
                <a:headEnd len="med" w="med" type="none"/>
                <a:tailEnd len="med" w="med" type="none"/>
              </a:ln>
            </p:spPr>
          </p:cxnSp>
          <p:cxnSp>
            <p:nvCxnSpPr>
              <p:cNvPr id="631" name="Google Shape;631;p14"/>
              <p:cNvCxnSpPr/>
              <p:nvPr/>
            </p:nvCxnSpPr>
            <p:spPr>
              <a:xfrm>
                <a:off x="8234290" y="5094207"/>
                <a:ext cx="226800" cy="126900"/>
              </a:xfrm>
              <a:prstGeom prst="straightConnector1">
                <a:avLst/>
              </a:prstGeom>
              <a:noFill/>
              <a:ln cap="flat" cmpd="sng" w="9525">
                <a:solidFill>
                  <a:schemeClr val="dk1"/>
                </a:solidFill>
                <a:prstDash val="solid"/>
                <a:round/>
                <a:headEnd len="med" w="med" type="none"/>
                <a:tailEnd len="med" w="med" type="none"/>
              </a:ln>
            </p:spPr>
          </p:cxnSp>
          <p:cxnSp>
            <p:nvCxnSpPr>
              <p:cNvPr id="632" name="Google Shape;632;p14"/>
              <p:cNvCxnSpPr/>
              <p:nvPr/>
            </p:nvCxnSpPr>
            <p:spPr>
              <a:xfrm flipH="1" rot="10800000">
                <a:off x="7972450" y="5267443"/>
                <a:ext cx="412800" cy="126900"/>
              </a:xfrm>
              <a:prstGeom prst="straightConnector1">
                <a:avLst/>
              </a:prstGeom>
              <a:noFill/>
              <a:ln cap="flat" cmpd="sng" w="9525">
                <a:solidFill>
                  <a:schemeClr val="dk1"/>
                </a:solidFill>
                <a:prstDash val="solid"/>
                <a:round/>
                <a:headEnd len="med" w="med" type="none"/>
                <a:tailEnd len="med" w="med" type="none"/>
              </a:ln>
            </p:spPr>
          </p:cxnSp>
          <p:cxnSp>
            <p:nvCxnSpPr>
              <p:cNvPr id="633" name="Google Shape;633;p14"/>
              <p:cNvCxnSpPr/>
              <p:nvPr/>
            </p:nvCxnSpPr>
            <p:spPr>
              <a:xfrm flipH="1">
                <a:off x="8397880" y="5259125"/>
                <a:ext cx="68100" cy="294000"/>
              </a:xfrm>
              <a:prstGeom prst="straightConnector1">
                <a:avLst/>
              </a:prstGeom>
              <a:noFill/>
              <a:ln cap="flat" cmpd="sng" w="9525">
                <a:solidFill>
                  <a:schemeClr val="dk1"/>
                </a:solidFill>
                <a:prstDash val="solid"/>
                <a:round/>
                <a:headEnd len="med" w="med" type="none"/>
                <a:tailEnd len="med" w="med" type="none"/>
              </a:ln>
            </p:spPr>
          </p:cxnSp>
          <p:cxnSp>
            <p:nvCxnSpPr>
              <p:cNvPr id="634" name="Google Shape;634;p14"/>
              <p:cNvCxnSpPr/>
              <p:nvPr/>
            </p:nvCxnSpPr>
            <p:spPr>
              <a:xfrm rot="10800000">
                <a:off x="8512688" y="5284680"/>
                <a:ext cx="280500" cy="270000"/>
              </a:xfrm>
              <a:prstGeom prst="straightConnector1">
                <a:avLst/>
              </a:prstGeom>
              <a:noFill/>
              <a:ln cap="flat" cmpd="sng" w="9525">
                <a:solidFill>
                  <a:schemeClr val="dk1"/>
                </a:solidFill>
                <a:prstDash val="solid"/>
                <a:round/>
                <a:headEnd len="med" w="med" type="none"/>
                <a:tailEnd len="med" w="med" type="none"/>
              </a:ln>
            </p:spPr>
          </p:cxnSp>
          <p:cxnSp>
            <p:nvCxnSpPr>
              <p:cNvPr id="635" name="Google Shape;635;p14"/>
              <p:cNvCxnSpPr/>
              <p:nvPr/>
            </p:nvCxnSpPr>
            <p:spPr>
              <a:xfrm>
                <a:off x="8512814" y="5234921"/>
                <a:ext cx="914100" cy="468600"/>
              </a:xfrm>
              <a:prstGeom prst="straightConnector1">
                <a:avLst/>
              </a:prstGeom>
              <a:noFill/>
              <a:ln cap="flat" cmpd="sng" w="9525">
                <a:solidFill>
                  <a:schemeClr val="dk1"/>
                </a:solidFill>
                <a:prstDash val="solid"/>
                <a:round/>
                <a:headEnd len="med" w="med" type="none"/>
                <a:tailEnd len="med" w="med" type="none"/>
              </a:ln>
            </p:spPr>
          </p:cxnSp>
          <p:cxnSp>
            <p:nvCxnSpPr>
              <p:cNvPr id="636" name="Google Shape;636;p14"/>
              <p:cNvCxnSpPr/>
              <p:nvPr/>
            </p:nvCxnSpPr>
            <p:spPr>
              <a:xfrm>
                <a:off x="8271861" y="3806843"/>
                <a:ext cx="0" cy="131700"/>
              </a:xfrm>
              <a:prstGeom prst="straightConnector1">
                <a:avLst/>
              </a:prstGeom>
              <a:noFill/>
              <a:ln cap="flat" cmpd="sng" w="9525">
                <a:solidFill>
                  <a:schemeClr val="dk1"/>
                </a:solidFill>
                <a:prstDash val="solid"/>
                <a:round/>
                <a:headEnd len="med" w="med" type="none"/>
                <a:tailEnd len="med" w="med" type="none"/>
              </a:ln>
            </p:spPr>
          </p:cxnSp>
          <p:cxnSp>
            <p:nvCxnSpPr>
              <p:cNvPr id="637" name="Google Shape;637;p14"/>
              <p:cNvCxnSpPr/>
              <p:nvPr/>
            </p:nvCxnSpPr>
            <p:spPr>
              <a:xfrm flipH="1" rot="10800000">
                <a:off x="7881336" y="4017855"/>
                <a:ext cx="168300" cy="3300"/>
              </a:xfrm>
              <a:prstGeom prst="straightConnector1">
                <a:avLst/>
              </a:prstGeom>
              <a:noFill/>
              <a:ln cap="flat" cmpd="sng" w="9525">
                <a:solidFill>
                  <a:schemeClr val="dk1"/>
                </a:solidFill>
                <a:prstDash val="solid"/>
                <a:round/>
                <a:headEnd len="med" w="med" type="none"/>
                <a:tailEnd len="med" w="med" type="none"/>
              </a:ln>
            </p:spPr>
          </p:cxnSp>
          <p:cxnSp>
            <p:nvCxnSpPr>
              <p:cNvPr id="638" name="Google Shape;638;p14"/>
              <p:cNvCxnSpPr/>
              <p:nvPr/>
            </p:nvCxnSpPr>
            <p:spPr>
              <a:xfrm flipH="1" rot="5400000">
                <a:off x="9909566" y="5560282"/>
                <a:ext cx="366900" cy="1500"/>
              </a:xfrm>
              <a:prstGeom prst="straightConnector1">
                <a:avLst/>
              </a:prstGeom>
              <a:noFill/>
              <a:ln cap="flat" cmpd="sng" w="12700">
                <a:solidFill>
                  <a:schemeClr val="dk1"/>
                </a:solidFill>
                <a:prstDash val="solid"/>
                <a:round/>
                <a:headEnd len="med" w="med" type="none"/>
                <a:tailEnd len="med" w="med" type="none"/>
              </a:ln>
            </p:spPr>
          </p:cxnSp>
          <p:cxnSp>
            <p:nvCxnSpPr>
              <p:cNvPr id="639" name="Google Shape;639;p14"/>
              <p:cNvCxnSpPr/>
              <p:nvPr/>
            </p:nvCxnSpPr>
            <p:spPr>
              <a:xfrm flipH="1" rot="10800000">
                <a:off x="8483508" y="5013306"/>
                <a:ext cx="404100" cy="207900"/>
              </a:xfrm>
              <a:prstGeom prst="straightConnector1">
                <a:avLst/>
              </a:prstGeom>
              <a:noFill/>
              <a:ln cap="flat" cmpd="sng" w="9525">
                <a:solidFill>
                  <a:schemeClr val="dk1"/>
                </a:solidFill>
                <a:prstDash val="solid"/>
                <a:round/>
                <a:headEnd len="med" w="med" type="none"/>
                <a:tailEnd len="med" w="med" type="none"/>
              </a:ln>
            </p:spPr>
          </p:cxnSp>
          <p:cxnSp>
            <p:nvCxnSpPr>
              <p:cNvPr id="640" name="Google Shape;640;p14"/>
              <p:cNvCxnSpPr/>
              <p:nvPr/>
            </p:nvCxnSpPr>
            <p:spPr>
              <a:xfrm flipH="1">
                <a:off x="10124785" y="2146305"/>
                <a:ext cx="761400" cy="577500"/>
              </a:xfrm>
              <a:prstGeom prst="straightConnector1">
                <a:avLst/>
              </a:prstGeom>
              <a:noFill/>
              <a:ln cap="flat" cmpd="sng" w="12700">
                <a:solidFill>
                  <a:schemeClr val="dk1"/>
                </a:solidFill>
                <a:prstDash val="solid"/>
                <a:miter lim="800000"/>
                <a:headEnd len="sm" w="sm" type="none"/>
                <a:tailEnd len="sm" w="sm" type="none"/>
              </a:ln>
            </p:spPr>
          </p:cxnSp>
          <p:cxnSp>
            <p:nvCxnSpPr>
              <p:cNvPr id="641" name="Google Shape;641;p14"/>
              <p:cNvCxnSpPr/>
              <p:nvPr/>
            </p:nvCxnSpPr>
            <p:spPr>
              <a:xfrm flipH="1">
                <a:off x="10124788" y="2245186"/>
                <a:ext cx="3900" cy="518400"/>
              </a:xfrm>
              <a:prstGeom prst="straightConnector1">
                <a:avLst/>
              </a:prstGeom>
              <a:noFill/>
              <a:ln cap="flat" cmpd="sng" w="12700">
                <a:solidFill>
                  <a:schemeClr val="dk1"/>
                </a:solidFill>
                <a:prstDash val="solid"/>
                <a:miter lim="800000"/>
                <a:headEnd len="sm" w="sm" type="none"/>
                <a:tailEnd len="sm" w="sm" type="none"/>
              </a:ln>
            </p:spPr>
          </p:cxnSp>
          <p:cxnSp>
            <p:nvCxnSpPr>
              <p:cNvPr id="642" name="Google Shape;642;p14"/>
              <p:cNvCxnSpPr/>
              <p:nvPr/>
            </p:nvCxnSpPr>
            <p:spPr>
              <a:xfrm flipH="1">
                <a:off x="10696178" y="2177379"/>
                <a:ext cx="149400" cy="518400"/>
              </a:xfrm>
              <a:prstGeom prst="straightConnector1">
                <a:avLst/>
              </a:prstGeom>
              <a:noFill/>
              <a:ln cap="flat" cmpd="sng" w="12700">
                <a:solidFill>
                  <a:schemeClr val="dk1"/>
                </a:solidFill>
                <a:prstDash val="solid"/>
                <a:miter lim="800000"/>
                <a:headEnd len="sm" w="sm" type="none"/>
                <a:tailEnd len="sm" w="sm" type="none"/>
              </a:ln>
            </p:spPr>
          </p:cxnSp>
          <p:cxnSp>
            <p:nvCxnSpPr>
              <p:cNvPr id="643" name="Google Shape;643;p14"/>
              <p:cNvCxnSpPr/>
              <p:nvPr/>
            </p:nvCxnSpPr>
            <p:spPr>
              <a:xfrm flipH="1">
                <a:off x="10166332" y="2695840"/>
                <a:ext cx="574200" cy="27900"/>
              </a:xfrm>
              <a:prstGeom prst="straightConnector1">
                <a:avLst/>
              </a:prstGeom>
              <a:noFill/>
              <a:ln cap="flat" cmpd="sng" w="12700">
                <a:solidFill>
                  <a:schemeClr val="dk1"/>
                </a:solidFill>
                <a:prstDash val="solid"/>
                <a:miter lim="800000"/>
                <a:headEnd len="sm" w="sm" type="none"/>
                <a:tailEnd len="sm" w="sm" type="none"/>
              </a:ln>
            </p:spPr>
          </p:cxnSp>
          <p:cxnSp>
            <p:nvCxnSpPr>
              <p:cNvPr id="644" name="Google Shape;644;p14"/>
              <p:cNvCxnSpPr/>
              <p:nvPr/>
            </p:nvCxnSpPr>
            <p:spPr>
              <a:xfrm flipH="1">
                <a:off x="10093514" y="2146305"/>
                <a:ext cx="788700" cy="99000"/>
              </a:xfrm>
              <a:prstGeom prst="straightConnector1">
                <a:avLst/>
              </a:prstGeom>
              <a:noFill/>
              <a:ln cap="flat" cmpd="sng" w="12700">
                <a:solidFill>
                  <a:schemeClr val="dk1"/>
                </a:solidFill>
                <a:prstDash val="solid"/>
                <a:miter lim="800000"/>
                <a:headEnd len="sm" w="sm" type="none"/>
                <a:tailEnd len="sm" w="sm" type="none"/>
              </a:ln>
            </p:spPr>
          </p:cxnSp>
          <p:cxnSp>
            <p:nvCxnSpPr>
              <p:cNvPr id="645" name="Google Shape;645;p14"/>
              <p:cNvCxnSpPr/>
              <p:nvPr/>
            </p:nvCxnSpPr>
            <p:spPr>
              <a:xfrm flipH="1">
                <a:off x="10886188" y="2104198"/>
                <a:ext cx="279000" cy="42000"/>
              </a:xfrm>
              <a:prstGeom prst="straightConnector1">
                <a:avLst/>
              </a:prstGeom>
              <a:noFill/>
              <a:ln cap="flat" cmpd="sng" w="12700">
                <a:solidFill>
                  <a:schemeClr val="dk1"/>
                </a:solidFill>
                <a:prstDash val="solid"/>
                <a:miter lim="800000"/>
                <a:headEnd len="sm" w="sm" type="none"/>
                <a:tailEnd len="sm" w="sm" type="none"/>
              </a:ln>
            </p:spPr>
          </p:cxnSp>
          <p:cxnSp>
            <p:nvCxnSpPr>
              <p:cNvPr id="646" name="Google Shape;646;p14"/>
              <p:cNvCxnSpPr/>
              <p:nvPr/>
            </p:nvCxnSpPr>
            <p:spPr>
              <a:xfrm rot="10800000">
                <a:off x="10706218" y="2695847"/>
                <a:ext cx="353400" cy="67800"/>
              </a:xfrm>
              <a:prstGeom prst="straightConnector1">
                <a:avLst/>
              </a:prstGeom>
              <a:noFill/>
              <a:ln cap="flat" cmpd="sng" w="12700">
                <a:solidFill>
                  <a:schemeClr val="dk1"/>
                </a:solidFill>
                <a:prstDash val="solid"/>
                <a:miter lim="800000"/>
                <a:headEnd len="sm" w="sm" type="none"/>
                <a:tailEnd len="sm" w="sm" type="none"/>
              </a:ln>
            </p:spPr>
          </p:cxnSp>
          <p:cxnSp>
            <p:nvCxnSpPr>
              <p:cNvPr id="647" name="Google Shape;647;p14"/>
              <p:cNvCxnSpPr/>
              <p:nvPr/>
            </p:nvCxnSpPr>
            <p:spPr>
              <a:xfrm flipH="1">
                <a:off x="8793425" y="2245186"/>
                <a:ext cx="1300200" cy="606600"/>
              </a:xfrm>
              <a:prstGeom prst="straightConnector1">
                <a:avLst/>
              </a:prstGeom>
              <a:noFill/>
              <a:ln cap="flat" cmpd="sng" w="12700">
                <a:solidFill>
                  <a:schemeClr val="dk1"/>
                </a:solidFill>
                <a:prstDash val="solid"/>
                <a:miter lim="800000"/>
                <a:headEnd len="sm" w="sm" type="none"/>
                <a:tailEnd len="sm" w="sm" type="none"/>
              </a:ln>
            </p:spPr>
          </p:cxnSp>
          <p:cxnSp>
            <p:nvCxnSpPr>
              <p:cNvPr id="648" name="Google Shape;648;p14"/>
              <p:cNvCxnSpPr/>
              <p:nvPr/>
            </p:nvCxnSpPr>
            <p:spPr>
              <a:xfrm flipH="1" rot="10800000">
                <a:off x="9402788" y="4090255"/>
                <a:ext cx="429300" cy="705600"/>
              </a:xfrm>
              <a:prstGeom prst="straightConnector1">
                <a:avLst/>
              </a:prstGeom>
              <a:noFill/>
              <a:ln cap="flat" cmpd="sng" w="9525">
                <a:solidFill>
                  <a:schemeClr val="dk1"/>
                </a:solidFill>
                <a:prstDash val="solid"/>
                <a:round/>
                <a:headEnd len="med" w="med" type="none"/>
                <a:tailEnd len="med" w="med" type="none"/>
              </a:ln>
            </p:spPr>
          </p:cxnSp>
          <p:cxnSp>
            <p:nvCxnSpPr>
              <p:cNvPr id="649" name="Google Shape;649;p14"/>
              <p:cNvCxnSpPr/>
              <p:nvPr/>
            </p:nvCxnSpPr>
            <p:spPr>
              <a:xfrm flipH="1" rot="10800000">
                <a:off x="8268637" y="4024204"/>
                <a:ext cx="969000" cy="3300"/>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650" name="Google Shape;650;p14"/>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651" name="Google Shape;651;p14"/>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652" name="Google Shape;652;p14"/>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653" name="Google Shape;653;p14"/>
            <p:cNvSpPr/>
            <p:nvPr/>
          </p:nvSpPr>
          <p:spPr>
            <a:xfrm>
              <a:off x="8174541" y="2292995"/>
              <a:ext cx="52500" cy="49500"/>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654" name="Google Shape;654;p14"/>
          <p:cNvCxnSpPr/>
          <p:nvPr/>
        </p:nvCxnSpPr>
        <p:spPr>
          <a:xfrm>
            <a:off x="8207860" y="2700359"/>
            <a:ext cx="228000" cy="174300"/>
          </a:xfrm>
          <a:prstGeom prst="straightConnector1">
            <a:avLst/>
          </a:prstGeom>
          <a:noFill/>
          <a:ln cap="flat" cmpd="sng" w="9525">
            <a:solidFill>
              <a:schemeClr val="dk1"/>
            </a:solidFill>
            <a:prstDash val="solid"/>
            <a:round/>
            <a:headEnd len="med" w="med" type="none"/>
            <a:tailEnd len="med" w="med" type="none"/>
          </a:ln>
        </p:spPr>
      </p:cxnSp>
      <p:grpSp>
        <p:nvGrpSpPr>
          <p:cNvPr id="655" name="Google Shape;655;p14"/>
          <p:cNvGrpSpPr/>
          <p:nvPr/>
        </p:nvGrpSpPr>
        <p:grpSpPr>
          <a:xfrm>
            <a:off x="7981545" y="2309376"/>
            <a:ext cx="436756" cy="420234"/>
            <a:chOff x="3035" y="3288"/>
            <a:chExt cx="600" cy="672"/>
          </a:xfrm>
        </p:grpSpPr>
        <p:cxnSp>
          <p:nvCxnSpPr>
            <p:cNvPr id="656" name="Google Shape;656;p14"/>
            <p:cNvCxnSpPr/>
            <p:nvPr/>
          </p:nvCxnSpPr>
          <p:spPr>
            <a:xfrm flipH="1">
              <a:off x="3035" y="3288"/>
              <a:ext cx="300" cy="600"/>
            </a:xfrm>
            <a:prstGeom prst="straightConnector1">
              <a:avLst/>
            </a:prstGeom>
            <a:noFill/>
            <a:ln cap="flat" cmpd="sng" w="19050">
              <a:solidFill>
                <a:schemeClr val="dk1"/>
              </a:solidFill>
              <a:prstDash val="solid"/>
              <a:round/>
              <a:headEnd len="med" w="med" type="none"/>
              <a:tailEnd len="med" w="med" type="none"/>
            </a:ln>
          </p:spPr>
        </p:cxnSp>
        <p:cxnSp>
          <p:nvCxnSpPr>
            <p:cNvPr id="657" name="Google Shape;657;p14"/>
            <p:cNvCxnSpPr/>
            <p:nvPr/>
          </p:nvCxnSpPr>
          <p:spPr>
            <a:xfrm>
              <a:off x="3335" y="3288"/>
              <a:ext cx="300" cy="600"/>
            </a:xfrm>
            <a:prstGeom prst="straightConnector1">
              <a:avLst/>
            </a:prstGeom>
            <a:noFill/>
            <a:ln cap="flat" cmpd="sng" w="19050">
              <a:solidFill>
                <a:schemeClr val="dk1"/>
              </a:solidFill>
              <a:prstDash val="solid"/>
              <a:round/>
              <a:headEnd len="med" w="med" type="none"/>
              <a:tailEnd len="med" w="med" type="none"/>
            </a:ln>
          </p:spPr>
        </p:cxnSp>
        <p:cxnSp>
          <p:nvCxnSpPr>
            <p:cNvPr id="658" name="Google Shape;658;p14"/>
            <p:cNvCxnSpPr/>
            <p:nvPr/>
          </p:nvCxnSpPr>
          <p:spPr>
            <a:xfrm>
              <a:off x="3130" y="3957"/>
              <a:ext cx="300" cy="0"/>
            </a:xfrm>
            <a:prstGeom prst="straightConnector1">
              <a:avLst/>
            </a:prstGeom>
            <a:noFill/>
            <a:ln cap="flat" cmpd="sng" w="19050">
              <a:solidFill>
                <a:schemeClr val="dk1"/>
              </a:solidFill>
              <a:prstDash val="solid"/>
              <a:round/>
              <a:headEnd len="med" w="med" type="none"/>
              <a:tailEnd len="med" w="med" type="none"/>
            </a:ln>
          </p:spPr>
        </p:cxnSp>
        <p:cxnSp>
          <p:nvCxnSpPr>
            <p:cNvPr id="659" name="Google Shape;659;p14"/>
            <p:cNvCxnSpPr/>
            <p:nvPr/>
          </p:nvCxnSpPr>
          <p:spPr>
            <a:xfrm rot="10800000">
              <a:off x="3240" y="3957"/>
              <a:ext cx="300" cy="0"/>
            </a:xfrm>
            <a:prstGeom prst="straightConnector1">
              <a:avLst/>
            </a:prstGeom>
            <a:noFill/>
            <a:ln cap="flat" cmpd="sng" w="19050">
              <a:solidFill>
                <a:schemeClr val="dk1"/>
              </a:solidFill>
              <a:prstDash val="solid"/>
              <a:round/>
              <a:headEnd len="med" w="med" type="none"/>
              <a:tailEnd len="med" w="med" type="none"/>
            </a:ln>
          </p:spPr>
        </p:cxnSp>
        <p:cxnSp>
          <p:nvCxnSpPr>
            <p:cNvPr id="660" name="Google Shape;660;p14"/>
            <p:cNvCxnSpPr/>
            <p:nvPr/>
          </p:nvCxnSpPr>
          <p:spPr>
            <a:xfrm>
              <a:off x="3335" y="3303"/>
              <a:ext cx="0" cy="600"/>
            </a:xfrm>
            <a:prstGeom prst="straightConnector1">
              <a:avLst/>
            </a:prstGeom>
            <a:noFill/>
            <a:ln cap="flat" cmpd="sng" w="19050">
              <a:solidFill>
                <a:schemeClr val="dk1"/>
              </a:solidFill>
              <a:prstDash val="solid"/>
              <a:round/>
              <a:headEnd len="med" w="med" type="none"/>
              <a:tailEnd len="med" w="med" type="none"/>
            </a:ln>
          </p:spPr>
        </p:cxnSp>
        <p:cxnSp>
          <p:nvCxnSpPr>
            <p:cNvPr id="661" name="Google Shape;661;p14"/>
            <p:cNvCxnSpPr/>
            <p:nvPr/>
          </p:nvCxnSpPr>
          <p:spPr>
            <a:xfrm>
              <a:off x="3130" y="3960"/>
              <a:ext cx="300" cy="0"/>
            </a:xfrm>
            <a:prstGeom prst="straightConnector1">
              <a:avLst/>
            </a:prstGeom>
            <a:noFill/>
            <a:ln cap="flat" cmpd="sng" w="19050">
              <a:solidFill>
                <a:schemeClr val="dk1"/>
              </a:solidFill>
              <a:prstDash val="solid"/>
              <a:round/>
              <a:headEnd len="med" w="med" type="none"/>
              <a:tailEnd len="med" w="med" type="none"/>
            </a:ln>
          </p:spPr>
        </p:cxnSp>
        <p:cxnSp>
          <p:nvCxnSpPr>
            <p:cNvPr id="662" name="Google Shape;662;p14"/>
            <p:cNvCxnSpPr/>
            <p:nvPr/>
          </p:nvCxnSpPr>
          <p:spPr>
            <a:xfrm rot="10800000">
              <a:off x="3240" y="3957"/>
              <a:ext cx="300" cy="0"/>
            </a:xfrm>
            <a:prstGeom prst="straightConnector1">
              <a:avLst/>
            </a:prstGeom>
            <a:noFill/>
            <a:ln cap="flat" cmpd="sng" w="19050">
              <a:solidFill>
                <a:schemeClr val="dk1"/>
              </a:solidFill>
              <a:prstDash val="solid"/>
              <a:round/>
              <a:headEnd len="med" w="med" type="none"/>
              <a:tailEnd len="med" w="med" type="none"/>
            </a:ln>
          </p:spPr>
        </p:cxnSp>
        <p:cxnSp>
          <p:nvCxnSpPr>
            <p:cNvPr id="663" name="Google Shape;663;p14"/>
            <p:cNvCxnSpPr/>
            <p:nvPr/>
          </p:nvCxnSpPr>
          <p:spPr>
            <a:xfrm>
              <a:off x="3217" y="3668"/>
              <a:ext cx="0" cy="0"/>
            </a:xfrm>
            <a:prstGeom prst="straightConnector1">
              <a:avLst/>
            </a:prstGeom>
            <a:noFill/>
            <a:ln cap="flat" cmpd="sng" w="19050">
              <a:solidFill>
                <a:schemeClr val="dk1"/>
              </a:solidFill>
              <a:prstDash val="solid"/>
              <a:round/>
              <a:headEnd len="med" w="med" type="none"/>
              <a:tailEnd len="med" w="med" type="none"/>
            </a:ln>
          </p:spPr>
        </p:cxnSp>
        <p:cxnSp>
          <p:nvCxnSpPr>
            <p:cNvPr id="664" name="Google Shape;664;p14"/>
            <p:cNvCxnSpPr/>
            <p:nvPr/>
          </p:nvCxnSpPr>
          <p:spPr>
            <a:xfrm>
              <a:off x="3335" y="3723"/>
              <a:ext cx="0" cy="0"/>
            </a:xfrm>
            <a:prstGeom prst="straightConnector1">
              <a:avLst/>
            </a:prstGeom>
            <a:noFill/>
            <a:ln cap="flat" cmpd="sng" w="19050">
              <a:solidFill>
                <a:schemeClr val="dk1"/>
              </a:solidFill>
              <a:prstDash val="solid"/>
              <a:round/>
              <a:headEnd len="med" w="med" type="none"/>
              <a:tailEnd len="med" w="med" type="none"/>
            </a:ln>
          </p:spPr>
        </p:cxnSp>
        <p:cxnSp>
          <p:nvCxnSpPr>
            <p:cNvPr id="665" name="Google Shape;665;p14"/>
            <p:cNvCxnSpPr/>
            <p:nvPr/>
          </p:nvCxnSpPr>
          <p:spPr>
            <a:xfrm>
              <a:off x="3178" y="3766"/>
              <a:ext cx="300" cy="0"/>
            </a:xfrm>
            <a:prstGeom prst="straightConnector1">
              <a:avLst/>
            </a:prstGeom>
            <a:noFill/>
            <a:ln cap="flat" cmpd="sng" w="19050">
              <a:solidFill>
                <a:schemeClr val="dk1"/>
              </a:solidFill>
              <a:prstDash val="solid"/>
              <a:round/>
              <a:headEnd len="med" w="med" type="none"/>
              <a:tailEnd len="med" w="med" type="none"/>
            </a:ln>
          </p:spPr>
        </p:cxnSp>
        <p:cxnSp>
          <p:nvCxnSpPr>
            <p:cNvPr id="666" name="Google Shape;666;p14"/>
            <p:cNvCxnSpPr/>
            <p:nvPr/>
          </p:nvCxnSpPr>
          <p:spPr>
            <a:xfrm>
              <a:off x="3335" y="3847"/>
              <a:ext cx="300" cy="0"/>
            </a:xfrm>
            <a:prstGeom prst="straightConnector1">
              <a:avLst/>
            </a:prstGeom>
            <a:noFill/>
            <a:ln cap="flat" cmpd="sng" w="19050">
              <a:solidFill>
                <a:schemeClr val="dk1"/>
              </a:solidFill>
              <a:prstDash val="solid"/>
              <a:round/>
              <a:headEnd len="med" w="med" type="none"/>
              <a:tailEnd len="med" w="med" type="none"/>
            </a:ln>
          </p:spPr>
        </p:cxnSp>
        <p:cxnSp>
          <p:nvCxnSpPr>
            <p:cNvPr id="667" name="Google Shape;667;p14"/>
            <p:cNvCxnSpPr/>
            <p:nvPr/>
          </p:nvCxnSpPr>
          <p:spPr>
            <a:xfrm>
              <a:off x="3335" y="3594"/>
              <a:ext cx="0" cy="0"/>
            </a:xfrm>
            <a:prstGeom prst="straightConnector1">
              <a:avLst/>
            </a:prstGeom>
            <a:noFill/>
            <a:ln cap="flat" cmpd="sng" w="19050">
              <a:solidFill>
                <a:schemeClr val="dk1"/>
              </a:solidFill>
              <a:prstDash val="solid"/>
              <a:round/>
              <a:headEnd len="med" w="med" type="none"/>
              <a:tailEnd len="med" w="med" type="none"/>
            </a:ln>
          </p:spPr>
        </p:cxnSp>
        <p:cxnSp>
          <p:nvCxnSpPr>
            <p:cNvPr id="668" name="Google Shape;668;p14"/>
            <p:cNvCxnSpPr/>
            <p:nvPr/>
          </p:nvCxnSpPr>
          <p:spPr>
            <a:xfrm>
              <a:off x="3335" y="3449"/>
              <a:ext cx="0" cy="0"/>
            </a:xfrm>
            <a:prstGeom prst="straightConnector1">
              <a:avLst/>
            </a:prstGeom>
            <a:noFill/>
            <a:ln cap="flat" cmpd="sng" w="19050">
              <a:solidFill>
                <a:schemeClr val="dk1"/>
              </a:solidFill>
              <a:prstDash val="solid"/>
              <a:round/>
              <a:headEnd len="med" w="med" type="none"/>
              <a:tailEnd len="med" w="med" type="none"/>
            </a:ln>
          </p:spPr>
        </p:cxnSp>
        <p:cxnSp>
          <p:nvCxnSpPr>
            <p:cNvPr id="669" name="Google Shape;669;p14"/>
            <p:cNvCxnSpPr/>
            <p:nvPr/>
          </p:nvCxnSpPr>
          <p:spPr>
            <a:xfrm>
              <a:off x="3247" y="3558"/>
              <a:ext cx="0" cy="0"/>
            </a:xfrm>
            <a:prstGeom prst="straightConnector1">
              <a:avLst/>
            </a:prstGeom>
            <a:noFill/>
            <a:ln cap="flat" cmpd="sng" w="19050">
              <a:solidFill>
                <a:schemeClr val="dk1"/>
              </a:solidFill>
              <a:prstDash val="solid"/>
              <a:round/>
              <a:headEnd len="med" w="med" type="none"/>
              <a:tailEnd len="med" w="med" type="none"/>
            </a:ln>
          </p:spPr>
        </p:cxnSp>
        <p:cxnSp>
          <p:nvCxnSpPr>
            <p:cNvPr id="670" name="Google Shape;670;p14"/>
            <p:cNvCxnSpPr/>
            <p:nvPr/>
          </p:nvCxnSpPr>
          <p:spPr>
            <a:xfrm>
              <a:off x="3289" y="3422"/>
              <a:ext cx="0" cy="0"/>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671" name="Google Shape;671;p14"/>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672" name="Google Shape;672;p14"/>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673" name="Google Shape;673;p14"/>
          <p:cNvGrpSpPr/>
          <p:nvPr/>
        </p:nvGrpSpPr>
        <p:grpSpPr>
          <a:xfrm>
            <a:off x="9783539" y="4989915"/>
            <a:ext cx="396005" cy="217643"/>
            <a:chOff x="7493876" y="2774731"/>
            <a:chExt cx="1490420" cy="890885"/>
          </a:xfrm>
        </p:grpSpPr>
        <p:sp>
          <p:nvSpPr>
            <p:cNvPr id="674" name="Google Shape;674;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75" name="Google Shape;675;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76" name="Google Shape;676;p14"/>
            <p:cNvGrpSpPr/>
            <p:nvPr/>
          </p:nvGrpSpPr>
          <p:grpSpPr>
            <a:xfrm>
              <a:off x="7713435" y="2848414"/>
              <a:ext cx="1043670" cy="423496"/>
              <a:chOff x="7786941" y="2884917"/>
              <a:chExt cx="899018" cy="352209"/>
            </a:xfrm>
          </p:grpSpPr>
          <p:sp>
            <p:nvSpPr>
              <p:cNvPr id="677" name="Google Shape;677;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8" name="Google Shape;678;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9" name="Google Shape;679;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0" name="Google Shape;680;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81" name="Google Shape;681;p14"/>
          <p:cNvGrpSpPr/>
          <p:nvPr/>
        </p:nvGrpSpPr>
        <p:grpSpPr>
          <a:xfrm>
            <a:off x="9849239" y="5338935"/>
            <a:ext cx="309609" cy="190754"/>
            <a:chOff x="3668110" y="2448910"/>
            <a:chExt cx="3794234" cy="2165199"/>
          </a:xfrm>
        </p:grpSpPr>
        <p:sp>
          <p:nvSpPr>
            <p:cNvPr id="682" name="Google Shape;682;p14"/>
            <p:cNvSpPr/>
            <p:nvPr/>
          </p:nvSpPr>
          <p:spPr>
            <a:xfrm>
              <a:off x="3668110" y="3741409"/>
              <a:ext cx="3780600" cy="872700"/>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3" name="Google Shape;683;p1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84" name="Google Shape;684;p14"/>
            <p:cNvGrpSpPr/>
            <p:nvPr/>
          </p:nvGrpSpPr>
          <p:grpSpPr>
            <a:xfrm>
              <a:off x="3941666" y="2603245"/>
              <a:ext cx="3206977" cy="1060959"/>
              <a:chOff x="7939341" y="3037317"/>
              <a:chExt cx="899018" cy="352209"/>
            </a:xfrm>
          </p:grpSpPr>
          <p:sp>
            <p:nvSpPr>
              <p:cNvPr id="685" name="Google Shape;685;p14"/>
              <p:cNvSpPr/>
              <p:nvPr/>
            </p:nvSpPr>
            <p:spPr>
              <a:xfrm>
                <a:off x="7964170" y="30373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6" name="Google Shape;686;p14"/>
              <p:cNvSpPr/>
              <p:nvPr/>
            </p:nvSpPr>
            <p:spPr>
              <a:xfrm>
                <a:off x="8519948" y="32067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7" name="Google Shape;687;p14"/>
              <p:cNvSpPr/>
              <p:nvPr/>
            </p:nvSpPr>
            <p:spPr>
              <a:xfrm>
                <a:off x="7939341" y="32067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8" name="Google Shape;688;p14"/>
              <p:cNvSpPr/>
              <p:nvPr/>
            </p:nvSpPr>
            <p:spPr>
              <a:xfrm>
                <a:off x="8047413" y="31234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89" name="Google Shape;689;p14"/>
          <p:cNvGrpSpPr/>
          <p:nvPr/>
        </p:nvGrpSpPr>
        <p:grpSpPr>
          <a:xfrm>
            <a:off x="8676600" y="4967352"/>
            <a:ext cx="396005" cy="217643"/>
            <a:chOff x="7493876" y="2774731"/>
            <a:chExt cx="1490420" cy="890885"/>
          </a:xfrm>
        </p:grpSpPr>
        <p:sp>
          <p:nvSpPr>
            <p:cNvPr id="690" name="Google Shape;690;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91" name="Google Shape;691;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92" name="Google Shape;692;p14"/>
            <p:cNvGrpSpPr/>
            <p:nvPr/>
          </p:nvGrpSpPr>
          <p:grpSpPr>
            <a:xfrm>
              <a:off x="7713435" y="2848414"/>
              <a:ext cx="1043670" cy="423496"/>
              <a:chOff x="7786941" y="2884917"/>
              <a:chExt cx="899018" cy="352209"/>
            </a:xfrm>
          </p:grpSpPr>
          <p:sp>
            <p:nvSpPr>
              <p:cNvPr id="693" name="Google Shape;693;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4" name="Google Shape;694;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5" name="Google Shape;695;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6" name="Google Shape;696;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97" name="Google Shape;697;p14"/>
          <p:cNvGrpSpPr/>
          <p:nvPr/>
        </p:nvGrpSpPr>
        <p:grpSpPr>
          <a:xfrm>
            <a:off x="8311394" y="5194331"/>
            <a:ext cx="309609" cy="190754"/>
            <a:chOff x="3668110" y="2448910"/>
            <a:chExt cx="3794234" cy="2165199"/>
          </a:xfrm>
        </p:grpSpPr>
        <p:sp>
          <p:nvSpPr>
            <p:cNvPr id="698" name="Google Shape;698;p14"/>
            <p:cNvSpPr/>
            <p:nvPr/>
          </p:nvSpPr>
          <p:spPr>
            <a:xfrm>
              <a:off x="3668110" y="3741409"/>
              <a:ext cx="3780600" cy="872700"/>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9" name="Google Shape;699;p1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00" name="Google Shape;700;p14"/>
            <p:cNvGrpSpPr/>
            <p:nvPr/>
          </p:nvGrpSpPr>
          <p:grpSpPr>
            <a:xfrm>
              <a:off x="3941666" y="2603245"/>
              <a:ext cx="3206977" cy="1060959"/>
              <a:chOff x="7939341" y="3037317"/>
              <a:chExt cx="899018" cy="352209"/>
            </a:xfrm>
          </p:grpSpPr>
          <p:sp>
            <p:nvSpPr>
              <p:cNvPr id="701" name="Google Shape;701;p14"/>
              <p:cNvSpPr/>
              <p:nvPr/>
            </p:nvSpPr>
            <p:spPr>
              <a:xfrm>
                <a:off x="7964170" y="30373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2" name="Google Shape;702;p14"/>
              <p:cNvSpPr/>
              <p:nvPr/>
            </p:nvSpPr>
            <p:spPr>
              <a:xfrm>
                <a:off x="8519948" y="32067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3" name="Google Shape;703;p14"/>
              <p:cNvSpPr/>
              <p:nvPr/>
            </p:nvSpPr>
            <p:spPr>
              <a:xfrm>
                <a:off x="7939341" y="32067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4" name="Google Shape;704;p14"/>
              <p:cNvSpPr/>
              <p:nvPr/>
            </p:nvSpPr>
            <p:spPr>
              <a:xfrm>
                <a:off x="8047413" y="31234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05" name="Google Shape;705;p14"/>
          <p:cNvGrpSpPr/>
          <p:nvPr/>
        </p:nvGrpSpPr>
        <p:grpSpPr>
          <a:xfrm>
            <a:off x="8440158" y="2812320"/>
            <a:ext cx="355763" cy="167576"/>
            <a:chOff x="7493876" y="2774731"/>
            <a:chExt cx="1490420" cy="890885"/>
          </a:xfrm>
        </p:grpSpPr>
        <p:sp>
          <p:nvSpPr>
            <p:cNvPr id="706" name="Google Shape;706;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07" name="Google Shape;707;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08" name="Google Shape;708;p14"/>
            <p:cNvGrpSpPr/>
            <p:nvPr/>
          </p:nvGrpSpPr>
          <p:grpSpPr>
            <a:xfrm>
              <a:off x="7713435" y="2848414"/>
              <a:ext cx="1043670" cy="423496"/>
              <a:chOff x="7786941" y="2884917"/>
              <a:chExt cx="899018" cy="352209"/>
            </a:xfrm>
          </p:grpSpPr>
          <p:sp>
            <p:nvSpPr>
              <p:cNvPr id="709" name="Google Shape;709;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0" name="Google Shape;710;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1" name="Google Shape;711;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2" name="Google Shape;712;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13" name="Google Shape;713;p14"/>
          <p:cNvGrpSpPr/>
          <p:nvPr/>
        </p:nvGrpSpPr>
        <p:grpSpPr>
          <a:xfrm>
            <a:off x="8049781" y="3966105"/>
            <a:ext cx="356956" cy="174970"/>
            <a:chOff x="7493876" y="2774731"/>
            <a:chExt cx="1490420" cy="890885"/>
          </a:xfrm>
        </p:grpSpPr>
        <p:sp>
          <p:nvSpPr>
            <p:cNvPr id="714" name="Google Shape;714;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15" name="Google Shape;715;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16" name="Google Shape;716;p14"/>
            <p:cNvGrpSpPr/>
            <p:nvPr/>
          </p:nvGrpSpPr>
          <p:grpSpPr>
            <a:xfrm>
              <a:off x="7713435" y="2848414"/>
              <a:ext cx="1043670" cy="423496"/>
              <a:chOff x="7786941" y="2884917"/>
              <a:chExt cx="899018" cy="352209"/>
            </a:xfrm>
          </p:grpSpPr>
          <p:sp>
            <p:nvSpPr>
              <p:cNvPr id="717" name="Google Shape;717;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8" name="Google Shape;718;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9" name="Google Shape;719;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0" name="Google Shape;720;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21" name="Google Shape;721;p14"/>
          <p:cNvGrpSpPr/>
          <p:nvPr/>
        </p:nvGrpSpPr>
        <p:grpSpPr>
          <a:xfrm>
            <a:off x="10884231" y="3601410"/>
            <a:ext cx="171994" cy="96661"/>
            <a:chOff x="7493876" y="2774731"/>
            <a:chExt cx="1490420" cy="890885"/>
          </a:xfrm>
        </p:grpSpPr>
        <p:sp>
          <p:nvSpPr>
            <p:cNvPr id="722" name="Google Shape;722;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23" name="Google Shape;723;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24" name="Google Shape;724;p14"/>
            <p:cNvGrpSpPr/>
            <p:nvPr/>
          </p:nvGrpSpPr>
          <p:grpSpPr>
            <a:xfrm>
              <a:off x="7713435" y="2848414"/>
              <a:ext cx="1043670" cy="423496"/>
              <a:chOff x="7786941" y="2884917"/>
              <a:chExt cx="899018" cy="352209"/>
            </a:xfrm>
          </p:grpSpPr>
          <p:sp>
            <p:nvSpPr>
              <p:cNvPr id="725" name="Google Shape;725;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6" name="Google Shape;726;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7" name="Google Shape;727;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8" name="Google Shape;728;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29" name="Google Shape;729;p14"/>
          <p:cNvGrpSpPr/>
          <p:nvPr/>
        </p:nvGrpSpPr>
        <p:grpSpPr>
          <a:xfrm>
            <a:off x="10410940" y="3496118"/>
            <a:ext cx="355763" cy="197509"/>
            <a:chOff x="7493876" y="2774731"/>
            <a:chExt cx="1490420" cy="890885"/>
          </a:xfrm>
        </p:grpSpPr>
        <p:sp>
          <p:nvSpPr>
            <p:cNvPr id="730" name="Google Shape;730;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31" name="Google Shape;731;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32" name="Google Shape;732;p14"/>
            <p:cNvGrpSpPr/>
            <p:nvPr/>
          </p:nvGrpSpPr>
          <p:grpSpPr>
            <a:xfrm>
              <a:off x="7713435" y="2848414"/>
              <a:ext cx="1043670" cy="423496"/>
              <a:chOff x="7786941" y="2884917"/>
              <a:chExt cx="899018" cy="352209"/>
            </a:xfrm>
          </p:grpSpPr>
          <p:sp>
            <p:nvSpPr>
              <p:cNvPr id="733" name="Google Shape;733;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4" name="Google Shape;734;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5" name="Google Shape;735;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6" name="Google Shape;736;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37" name="Google Shape;737;p14"/>
          <p:cNvGrpSpPr/>
          <p:nvPr/>
        </p:nvGrpSpPr>
        <p:grpSpPr>
          <a:xfrm>
            <a:off x="9949055" y="2202272"/>
            <a:ext cx="355763" cy="197509"/>
            <a:chOff x="7493876" y="2774731"/>
            <a:chExt cx="1490420" cy="890885"/>
          </a:xfrm>
        </p:grpSpPr>
        <p:sp>
          <p:nvSpPr>
            <p:cNvPr id="738" name="Google Shape;738;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39" name="Google Shape;739;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40" name="Google Shape;740;p14"/>
            <p:cNvGrpSpPr/>
            <p:nvPr/>
          </p:nvGrpSpPr>
          <p:grpSpPr>
            <a:xfrm>
              <a:off x="7713435" y="2848414"/>
              <a:ext cx="1043670" cy="423496"/>
              <a:chOff x="7786941" y="2884917"/>
              <a:chExt cx="899018" cy="352209"/>
            </a:xfrm>
          </p:grpSpPr>
          <p:sp>
            <p:nvSpPr>
              <p:cNvPr id="741" name="Google Shape;741;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2" name="Google Shape;742;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3" name="Google Shape;743;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4" name="Google Shape;744;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45" name="Google Shape;745;p14"/>
          <p:cNvGrpSpPr/>
          <p:nvPr/>
        </p:nvGrpSpPr>
        <p:grpSpPr>
          <a:xfrm>
            <a:off x="10527545" y="2613347"/>
            <a:ext cx="355763" cy="197509"/>
            <a:chOff x="7493876" y="2774731"/>
            <a:chExt cx="1490420" cy="890885"/>
          </a:xfrm>
        </p:grpSpPr>
        <p:sp>
          <p:nvSpPr>
            <p:cNvPr id="746" name="Google Shape;746;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47" name="Google Shape;747;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48" name="Google Shape;748;p14"/>
            <p:cNvGrpSpPr/>
            <p:nvPr/>
          </p:nvGrpSpPr>
          <p:grpSpPr>
            <a:xfrm>
              <a:off x="7713435" y="2848414"/>
              <a:ext cx="1043670" cy="423496"/>
              <a:chOff x="7786941" y="2884917"/>
              <a:chExt cx="899018" cy="352209"/>
            </a:xfrm>
          </p:grpSpPr>
          <p:sp>
            <p:nvSpPr>
              <p:cNvPr id="749" name="Google Shape;749;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0" name="Google Shape;750;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1" name="Google Shape;751;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2" name="Google Shape;752;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53" name="Google Shape;753;p14"/>
          <p:cNvGrpSpPr/>
          <p:nvPr/>
        </p:nvGrpSpPr>
        <p:grpSpPr>
          <a:xfrm>
            <a:off x="10644156" y="2107943"/>
            <a:ext cx="355763" cy="197509"/>
            <a:chOff x="7493876" y="2774731"/>
            <a:chExt cx="1490420" cy="890885"/>
          </a:xfrm>
        </p:grpSpPr>
        <p:sp>
          <p:nvSpPr>
            <p:cNvPr id="754" name="Google Shape;754;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55" name="Google Shape;755;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56" name="Google Shape;756;p14"/>
            <p:cNvGrpSpPr/>
            <p:nvPr/>
          </p:nvGrpSpPr>
          <p:grpSpPr>
            <a:xfrm>
              <a:off x="7713435" y="2848414"/>
              <a:ext cx="1043670" cy="423496"/>
              <a:chOff x="7786941" y="2884917"/>
              <a:chExt cx="899018" cy="352209"/>
            </a:xfrm>
          </p:grpSpPr>
          <p:sp>
            <p:nvSpPr>
              <p:cNvPr id="757" name="Google Shape;757;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8" name="Google Shape;758;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9" name="Google Shape;759;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0" name="Google Shape;760;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1" name="Google Shape;761;p14"/>
          <p:cNvGrpSpPr/>
          <p:nvPr/>
        </p:nvGrpSpPr>
        <p:grpSpPr>
          <a:xfrm>
            <a:off x="9098814" y="3956598"/>
            <a:ext cx="369326" cy="239292"/>
            <a:chOff x="7493876" y="2774731"/>
            <a:chExt cx="1490420" cy="890885"/>
          </a:xfrm>
        </p:grpSpPr>
        <p:sp>
          <p:nvSpPr>
            <p:cNvPr id="762" name="Google Shape;762;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63" name="Google Shape;763;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64" name="Google Shape;764;p14"/>
            <p:cNvGrpSpPr/>
            <p:nvPr/>
          </p:nvGrpSpPr>
          <p:grpSpPr>
            <a:xfrm>
              <a:off x="7713435" y="2848414"/>
              <a:ext cx="1043670" cy="423496"/>
              <a:chOff x="7786941" y="2884917"/>
              <a:chExt cx="899018" cy="352209"/>
            </a:xfrm>
          </p:grpSpPr>
          <p:sp>
            <p:nvSpPr>
              <p:cNvPr id="765" name="Google Shape;765;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6" name="Google Shape;766;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7" name="Google Shape;767;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8" name="Google Shape;768;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69" name="Google Shape;769;p14"/>
          <p:cNvGrpSpPr/>
          <p:nvPr/>
        </p:nvGrpSpPr>
        <p:grpSpPr>
          <a:xfrm>
            <a:off x="9980457" y="2661545"/>
            <a:ext cx="355763" cy="197509"/>
            <a:chOff x="7493876" y="2774731"/>
            <a:chExt cx="1490420" cy="890885"/>
          </a:xfrm>
        </p:grpSpPr>
        <p:sp>
          <p:nvSpPr>
            <p:cNvPr id="770" name="Google Shape;770;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1" name="Google Shape;771;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72" name="Google Shape;772;p14"/>
            <p:cNvGrpSpPr/>
            <p:nvPr/>
          </p:nvGrpSpPr>
          <p:grpSpPr>
            <a:xfrm>
              <a:off x="7713435" y="2848414"/>
              <a:ext cx="1043670" cy="423496"/>
              <a:chOff x="7786941" y="2884917"/>
              <a:chExt cx="899018" cy="352209"/>
            </a:xfrm>
          </p:grpSpPr>
          <p:sp>
            <p:nvSpPr>
              <p:cNvPr id="773" name="Google Shape;773;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4" name="Google Shape;774;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5" name="Google Shape;775;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6" name="Google Shape;776;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77" name="Google Shape;777;p14"/>
          <p:cNvGrpSpPr/>
          <p:nvPr/>
        </p:nvGrpSpPr>
        <p:grpSpPr>
          <a:xfrm>
            <a:off x="9497164" y="3394006"/>
            <a:ext cx="369326" cy="239292"/>
            <a:chOff x="7493876" y="2774731"/>
            <a:chExt cx="1490420" cy="890885"/>
          </a:xfrm>
        </p:grpSpPr>
        <p:sp>
          <p:nvSpPr>
            <p:cNvPr id="778" name="Google Shape;778;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9" name="Google Shape;779;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0" name="Google Shape;780;p14"/>
            <p:cNvGrpSpPr/>
            <p:nvPr/>
          </p:nvGrpSpPr>
          <p:grpSpPr>
            <a:xfrm>
              <a:off x="7713435" y="2848414"/>
              <a:ext cx="1043670" cy="423496"/>
              <a:chOff x="7786941" y="2884917"/>
              <a:chExt cx="899018" cy="352209"/>
            </a:xfrm>
          </p:grpSpPr>
          <p:sp>
            <p:nvSpPr>
              <p:cNvPr id="781" name="Google Shape;781;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2" name="Google Shape;782;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3" name="Google Shape;783;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4" name="Google Shape;784;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5" name="Google Shape;785;p14"/>
          <p:cNvGrpSpPr/>
          <p:nvPr/>
        </p:nvGrpSpPr>
        <p:grpSpPr>
          <a:xfrm>
            <a:off x="9601580" y="3999737"/>
            <a:ext cx="369326" cy="239292"/>
            <a:chOff x="7493876" y="2774731"/>
            <a:chExt cx="1490420" cy="890885"/>
          </a:xfrm>
        </p:grpSpPr>
        <p:sp>
          <p:nvSpPr>
            <p:cNvPr id="786" name="Google Shape;786;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7" name="Google Shape;787;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8" name="Google Shape;788;p14"/>
            <p:cNvGrpSpPr/>
            <p:nvPr/>
          </p:nvGrpSpPr>
          <p:grpSpPr>
            <a:xfrm>
              <a:off x="7713435" y="2848414"/>
              <a:ext cx="1043670" cy="423496"/>
              <a:chOff x="7786941" y="2884917"/>
              <a:chExt cx="899018" cy="352209"/>
            </a:xfrm>
          </p:grpSpPr>
          <p:sp>
            <p:nvSpPr>
              <p:cNvPr id="789" name="Google Shape;789;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 name="Google Shape;790;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 name="Google Shape;791;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2" name="Google Shape;792;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3" name="Google Shape;793;p14"/>
          <p:cNvGrpSpPr/>
          <p:nvPr/>
        </p:nvGrpSpPr>
        <p:grpSpPr>
          <a:xfrm>
            <a:off x="10375590" y="3992305"/>
            <a:ext cx="355763" cy="197509"/>
            <a:chOff x="7493876" y="2774731"/>
            <a:chExt cx="1490420" cy="890885"/>
          </a:xfrm>
        </p:grpSpPr>
        <p:sp>
          <p:nvSpPr>
            <p:cNvPr id="794" name="Google Shape;794;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5" name="Google Shape;795;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6" name="Google Shape;796;p14"/>
            <p:cNvGrpSpPr/>
            <p:nvPr/>
          </p:nvGrpSpPr>
          <p:grpSpPr>
            <a:xfrm>
              <a:off x="7713435" y="2848414"/>
              <a:ext cx="1043670" cy="423496"/>
              <a:chOff x="7786941" y="2884917"/>
              <a:chExt cx="899018" cy="352209"/>
            </a:xfrm>
          </p:grpSpPr>
          <p:sp>
            <p:nvSpPr>
              <p:cNvPr id="797" name="Google Shape;797;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8" name="Google Shape;798;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 name="Google Shape;799;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0" name="Google Shape;800;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01" name="Google Shape;801;p14"/>
          <p:cNvGrpSpPr/>
          <p:nvPr/>
        </p:nvGrpSpPr>
        <p:grpSpPr>
          <a:xfrm>
            <a:off x="9247874" y="4775618"/>
            <a:ext cx="396005" cy="217643"/>
            <a:chOff x="7493876" y="2774731"/>
            <a:chExt cx="1490420" cy="890885"/>
          </a:xfrm>
        </p:grpSpPr>
        <p:sp>
          <p:nvSpPr>
            <p:cNvPr id="802" name="Google Shape;802;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03" name="Google Shape;803;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04" name="Google Shape;804;p14"/>
            <p:cNvGrpSpPr/>
            <p:nvPr/>
          </p:nvGrpSpPr>
          <p:grpSpPr>
            <a:xfrm>
              <a:off x="7713435" y="2848414"/>
              <a:ext cx="1043670" cy="423496"/>
              <a:chOff x="7786941" y="2884917"/>
              <a:chExt cx="899018" cy="352209"/>
            </a:xfrm>
          </p:grpSpPr>
          <p:sp>
            <p:nvSpPr>
              <p:cNvPr id="805" name="Google Shape;805;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6" name="Google Shape;806;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7" name="Google Shape;807;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8" name="Google Shape;808;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09" name="Google Shape;809;p14"/>
          <p:cNvGrpSpPr/>
          <p:nvPr/>
        </p:nvGrpSpPr>
        <p:grpSpPr>
          <a:xfrm>
            <a:off x="10925610" y="4369175"/>
            <a:ext cx="229525" cy="119913"/>
            <a:chOff x="7493876" y="2774731"/>
            <a:chExt cx="1490420" cy="890885"/>
          </a:xfrm>
        </p:grpSpPr>
        <p:sp>
          <p:nvSpPr>
            <p:cNvPr id="810" name="Google Shape;810;p14"/>
            <p:cNvSpPr/>
            <p:nvPr/>
          </p:nvSpPr>
          <p:spPr>
            <a:xfrm>
              <a:off x="7493876" y="3084399"/>
              <a:ext cx="1490420" cy="58121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11" name="Google Shape;811;p14"/>
            <p:cNvSpPr/>
            <p:nvPr/>
          </p:nvSpPr>
          <p:spPr>
            <a:xfrm>
              <a:off x="7494729" y="2774731"/>
              <a:ext cx="1480200" cy="57900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12" name="Google Shape;812;p14"/>
            <p:cNvGrpSpPr/>
            <p:nvPr/>
          </p:nvGrpSpPr>
          <p:grpSpPr>
            <a:xfrm>
              <a:off x="7713435" y="2848414"/>
              <a:ext cx="1043670" cy="423496"/>
              <a:chOff x="7786941" y="2884917"/>
              <a:chExt cx="899018" cy="352209"/>
            </a:xfrm>
          </p:grpSpPr>
          <p:sp>
            <p:nvSpPr>
              <p:cNvPr id="813" name="Google Shape;813;p14"/>
              <p:cNvSpPr/>
              <p:nvPr/>
            </p:nvSpPr>
            <p:spPr>
              <a:xfrm>
                <a:off x="7811770" y="2884917"/>
                <a:ext cx="852825" cy="19685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4" name="Google Shape;814;p14"/>
              <p:cNvSpPr/>
              <p:nvPr/>
            </p:nvSpPr>
            <p:spPr>
              <a:xfrm>
                <a:off x="8367548" y="3054383"/>
                <a:ext cx="318411" cy="16947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5" name="Google Shape;815;p14"/>
              <p:cNvSpPr/>
              <p:nvPr/>
            </p:nvSpPr>
            <p:spPr>
              <a:xfrm>
                <a:off x="7786941" y="3054383"/>
                <a:ext cx="312657" cy="167509"/>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6" name="Google Shape;816;p14"/>
              <p:cNvSpPr/>
              <p:nvPr/>
            </p:nvSpPr>
            <p:spPr>
              <a:xfrm>
                <a:off x="7895013" y="2971083"/>
                <a:ext cx="679816" cy="26604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17" name="Google Shape;817;p14"/>
          <p:cNvGrpSpPr/>
          <p:nvPr/>
        </p:nvGrpSpPr>
        <p:grpSpPr>
          <a:xfrm>
            <a:off x="7439074" y="2356613"/>
            <a:ext cx="534987" cy="414882"/>
            <a:chOff x="7432700" y="2327293"/>
            <a:chExt cx="534987" cy="414882"/>
          </a:xfrm>
        </p:grpSpPr>
        <p:pic>
          <p:nvPicPr>
            <p:cNvPr descr="antenna_stylized" id="818" name="Google Shape;818;p14"/>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819" name="Google Shape;819;p14"/>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820" name="Google Shape;820;p14"/>
            <p:cNvSpPr/>
            <p:nvPr/>
          </p:nvSpPr>
          <p:spPr>
            <a:xfrm>
              <a:off x="7603304" y="2420984"/>
              <a:ext cx="351921" cy="208168"/>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821" name="Google Shape;821;p14"/>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822" name="Google Shape;822;p14"/>
            <p:cNvSpPr/>
            <p:nvPr/>
          </p:nvSpPr>
          <p:spPr>
            <a:xfrm>
              <a:off x="7667378" y="2414843"/>
              <a:ext cx="298165"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3" name="Google Shape;823;p14"/>
            <p:cNvSpPr/>
            <p:nvPr/>
          </p:nvSpPr>
          <p:spPr>
            <a:xfrm>
              <a:off x="7600188" y="2414528"/>
              <a:ext cx="82769" cy="161241"/>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4" name="Google Shape;824;p14"/>
            <p:cNvSpPr/>
            <p:nvPr/>
          </p:nvSpPr>
          <p:spPr>
            <a:xfrm>
              <a:off x="7874205" y="2443344"/>
              <a:ext cx="89197" cy="186120"/>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5" name="Google Shape;825;p14"/>
            <p:cNvSpPr/>
            <p:nvPr/>
          </p:nvSpPr>
          <p:spPr>
            <a:xfrm>
              <a:off x="7599214" y="2567582"/>
              <a:ext cx="327186"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6" name="Google Shape;826;p14"/>
            <p:cNvSpPr/>
            <p:nvPr/>
          </p:nvSpPr>
          <p:spPr>
            <a:xfrm>
              <a:off x="7884138" y="2444918"/>
              <a:ext cx="83549" cy="18690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7" name="Google Shape;827;p14"/>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28" name="Google Shape;828;p14"/>
            <p:cNvGrpSpPr/>
            <p:nvPr/>
          </p:nvGrpSpPr>
          <p:grpSpPr>
            <a:xfrm>
              <a:off x="7594735" y="2642220"/>
              <a:ext cx="98740" cy="36846"/>
              <a:chOff x="1740" y="2642"/>
              <a:chExt cx="752" cy="327"/>
            </a:xfrm>
          </p:grpSpPr>
          <p:sp>
            <p:nvSpPr>
              <p:cNvPr id="829" name="Google Shape;829;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0" name="Google Shape;830;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44"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1" name="Google Shape;831;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2" name="Google Shape;832;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3" name="Google Shape;833;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4" name="Google Shape;834;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835" name="Google Shape;835;p14"/>
            <p:cNvSpPr/>
            <p:nvPr/>
          </p:nvSpPr>
          <p:spPr>
            <a:xfrm>
              <a:off x="7763780" y="2647731"/>
              <a:ext cx="119577"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6" name="Google Shape;836;p14"/>
            <p:cNvSpPr/>
            <p:nvPr/>
          </p:nvSpPr>
          <p:spPr>
            <a:xfrm>
              <a:off x="7458602" y="2654187"/>
              <a:ext cx="305954" cy="738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7" name="Google Shape;837;p14"/>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8" name="Google Shape;838;p14"/>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9" name="Google Shape;839;p14"/>
            <p:cNvSpPr/>
            <p:nvPr/>
          </p:nvSpPr>
          <p:spPr>
            <a:xfrm>
              <a:off x="7468535" y="2643795"/>
              <a:ext cx="290180" cy="7101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0" name="Google Shape;840;p14"/>
            <p:cNvSpPr/>
            <p:nvPr/>
          </p:nvSpPr>
          <p:spPr>
            <a:xfrm flipH="1" rot="10800000">
              <a:off x="7758327" y="2638756"/>
              <a:ext cx="118409"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41" name="Google Shape;841;p14"/>
          <p:cNvGrpSpPr/>
          <p:nvPr/>
        </p:nvGrpSpPr>
        <p:grpSpPr>
          <a:xfrm>
            <a:off x="8637781" y="2319727"/>
            <a:ext cx="530702" cy="478009"/>
            <a:chOff x="8631407" y="2290407"/>
            <a:chExt cx="530702" cy="478009"/>
          </a:xfrm>
        </p:grpSpPr>
        <p:pic>
          <p:nvPicPr>
            <p:cNvPr descr="light2.png" id="842" name="Google Shape;842;p14"/>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843" name="Google Shape;843;p14"/>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844" name="Google Shape;844;p14"/>
          <p:cNvGrpSpPr/>
          <p:nvPr/>
        </p:nvGrpSpPr>
        <p:grpSpPr>
          <a:xfrm>
            <a:off x="8499539" y="2059124"/>
            <a:ext cx="849312" cy="226109"/>
            <a:chOff x="8493165" y="2029804"/>
            <a:chExt cx="849312" cy="226109"/>
          </a:xfrm>
        </p:grpSpPr>
        <p:pic>
          <p:nvPicPr>
            <p:cNvPr descr="car_icon_small" id="845" name="Google Shape;845;p14"/>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846" name="Google Shape;846;p14"/>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847" name="Google Shape;847;p14"/>
          <p:cNvGrpSpPr/>
          <p:nvPr/>
        </p:nvGrpSpPr>
        <p:grpSpPr>
          <a:xfrm>
            <a:off x="7493518" y="3325424"/>
            <a:ext cx="857739" cy="583758"/>
            <a:chOff x="7487144" y="3296104"/>
            <a:chExt cx="857739" cy="583758"/>
          </a:xfrm>
        </p:grpSpPr>
        <p:grpSp>
          <p:nvGrpSpPr>
            <p:cNvPr id="848" name="Google Shape;848;p14"/>
            <p:cNvGrpSpPr/>
            <p:nvPr/>
          </p:nvGrpSpPr>
          <p:grpSpPr>
            <a:xfrm>
              <a:off x="7487144" y="3389820"/>
              <a:ext cx="350808" cy="310034"/>
              <a:chOff x="7487144" y="3389820"/>
              <a:chExt cx="350808" cy="310034"/>
            </a:xfrm>
          </p:grpSpPr>
          <p:pic>
            <p:nvPicPr>
              <p:cNvPr descr="antenna_stylized" id="849" name="Google Shape;849;p14"/>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850" name="Google Shape;850;p14"/>
              <p:cNvPicPr preferRelativeResize="0"/>
              <p:nvPr/>
            </p:nvPicPr>
            <p:blipFill rotWithShape="1">
              <a:blip r:embed="rId13">
                <a:alphaModFix/>
              </a:blip>
              <a:srcRect b="0" l="0" r="0" t="0"/>
              <a:stretch/>
            </p:blipFill>
            <p:spPr>
              <a:xfrm flipH="1" rot="109065">
                <a:off x="7504001" y="3575889"/>
                <a:ext cx="286699" cy="119448"/>
              </a:xfrm>
              <a:prstGeom prst="rect">
                <a:avLst/>
              </a:prstGeom>
              <a:noFill/>
              <a:ln>
                <a:noFill/>
              </a:ln>
            </p:spPr>
          </p:pic>
          <p:sp>
            <p:nvSpPr>
              <p:cNvPr id="851" name="Google Shape;851;p14"/>
              <p:cNvSpPr/>
              <p:nvPr/>
            </p:nvSpPr>
            <p:spPr>
              <a:xfrm>
                <a:off x="7599014" y="3459979"/>
                <a:ext cx="230762" cy="155885"/>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852" name="Google Shape;852;p14"/>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853" name="Google Shape;853;p14"/>
              <p:cNvSpPr/>
              <p:nvPr/>
            </p:nvSpPr>
            <p:spPr>
              <a:xfrm>
                <a:off x="7641029" y="3455381"/>
                <a:ext cx="195516"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4" name="Google Shape;854;p14"/>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5" name="Google Shape;855;p14"/>
              <p:cNvSpPr/>
              <p:nvPr/>
            </p:nvSpPr>
            <p:spPr>
              <a:xfrm>
                <a:off x="7776652" y="3476723"/>
                <a:ext cx="58490" cy="139377"/>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6" name="Google Shape;856;p14"/>
              <p:cNvSpPr/>
              <p:nvPr/>
            </p:nvSpPr>
            <p:spPr>
              <a:xfrm>
                <a:off x="7596332" y="3569758"/>
                <a:ext cx="214547" cy="47047"/>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7" name="Google Shape;857;p14"/>
              <p:cNvSpPr/>
              <p:nvPr/>
            </p:nvSpPr>
            <p:spPr>
              <a:xfrm>
                <a:off x="7783165" y="3477902"/>
                <a:ext cx="54787" cy="139966"/>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8" name="Google Shape;858;p14"/>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59" name="Google Shape;859;p14"/>
              <p:cNvGrpSpPr/>
              <p:nvPr/>
            </p:nvGrpSpPr>
            <p:grpSpPr>
              <a:xfrm>
                <a:off x="7593395" y="3625649"/>
                <a:ext cx="64747" cy="27592"/>
                <a:chOff x="1740" y="2642"/>
                <a:chExt cx="752" cy="327"/>
              </a:xfrm>
            </p:grpSpPr>
            <p:sp>
              <p:nvSpPr>
                <p:cNvPr id="860" name="Google Shape;860;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1" name="Google Shape;861;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44"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2" name="Google Shape;862;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3" name="Google Shape;863;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4" name="Google Shape;864;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5" name="Google Shape;865;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866" name="Google Shape;866;p14"/>
              <p:cNvSpPr/>
              <p:nvPr/>
            </p:nvSpPr>
            <p:spPr>
              <a:xfrm>
                <a:off x="7704243" y="3629776"/>
                <a:ext cx="78410"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7" name="Google Shape;867;p14"/>
              <p:cNvSpPr/>
              <p:nvPr/>
            </p:nvSpPr>
            <p:spPr>
              <a:xfrm>
                <a:off x="7504129" y="3634611"/>
                <a:ext cx="200623"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8" name="Google Shape;868;p14"/>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69" name="Google Shape;869;p14"/>
              <p:cNvSpPr/>
              <p:nvPr/>
            </p:nvSpPr>
            <p:spPr>
              <a:xfrm>
                <a:off x="7504384" y="3578837"/>
                <a:ext cx="93224" cy="46339"/>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70" name="Google Shape;870;p14"/>
              <p:cNvSpPr/>
              <p:nvPr/>
            </p:nvSpPr>
            <p:spPr>
              <a:xfrm>
                <a:off x="7510642" y="3626829"/>
                <a:ext cx="190280"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71" name="Google Shape;871;p14"/>
              <p:cNvSpPr/>
              <p:nvPr/>
            </p:nvSpPr>
            <p:spPr>
              <a:xfrm flipH="1" rot="10800000">
                <a:off x="7700668" y="3623056"/>
                <a:ext cx="77644" cy="5506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72" name="Google Shape;872;p14"/>
            <p:cNvGrpSpPr/>
            <p:nvPr/>
          </p:nvGrpSpPr>
          <p:grpSpPr>
            <a:xfrm flipH="1">
              <a:off x="7985584" y="3537823"/>
              <a:ext cx="359299" cy="342039"/>
              <a:chOff x="2839" y="3501"/>
              <a:chExt cx="755" cy="803"/>
            </a:xfrm>
          </p:grpSpPr>
          <p:pic>
            <p:nvPicPr>
              <p:cNvPr descr="desktop_computer_stylized_medium" id="873" name="Google Shape;873;p14"/>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874" name="Google Shape;874;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6"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75" name="Google Shape;875;p14"/>
            <p:cNvGrpSpPr/>
            <p:nvPr/>
          </p:nvGrpSpPr>
          <p:grpSpPr>
            <a:xfrm>
              <a:off x="7797061" y="3296104"/>
              <a:ext cx="347997" cy="396620"/>
              <a:chOff x="7797061" y="3296104"/>
              <a:chExt cx="347997" cy="396620"/>
            </a:xfrm>
          </p:grpSpPr>
          <p:pic>
            <p:nvPicPr>
              <p:cNvPr descr="fridge2.png" id="876" name="Google Shape;876;p14"/>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877" name="Google Shape;877;p14"/>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878" name="Google Shape;878;p14"/>
          <p:cNvGrpSpPr/>
          <p:nvPr/>
        </p:nvGrpSpPr>
        <p:grpSpPr>
          <a:xfrm>
            <a:off x="11065173" y="3428462"/>
            <a:ext cx="517796" cy="1212495"/>
            <a:chOff x="11058799" y="3399142"/>
            <a:chExt cx="517796" cy="1212495"/>
          </a:xfrm>
        </p:grpSpPr>
        <p:grpSp>
          <p:nvGrpSpPr>
            <p:cNvPr id="879" name="Google Shape;879;p14"/>
            <p:cNvGrpSpPr/>
            <p:nvPr/>
          </p:nvGrpSpPr>
          <p:grpSpPr>
            <a:xfrm>
              <a:off x="11086934" y="4159792"/>
              <a:ext cx="489661" cy="451846"/>
              <a:chOff x="5103720" y="2693474"/>
              <a:chExt cx="611465" cy="414804"/>
            </a:xfrm>
          </p:grpSpPr>
          <p:cxnSp>
            <p:nvCxnSpPr>
              <p:cNvPr id="880" name="Google Shape;880;p14"/>
              <p:cNvCxnSpPr/>
              <p:nvPr/>
            </p:nvCxnSpPr>
            <p:spPr>
              <a:xfrm>
                <a:off x="5103720" y="2914214"/>
                <a:ext cx="232500" cy="0"/>
              </a:xfrm>
              <a:prstGeom prst="straightConnector1">
                <a:avLst/>
              </a:prstGeom>
              <a:noFill/>
              <a:ln cap="flat" cmpd="sng" w="12700">
                <a:solidFill>
                  <a:schemeClr val="dk1"/>
                </a:solidFill>
                <a:prstDash val="solid"/>
                <a:miter lim="800000"/>
                <a:headEnd len="sm" w="sm" type="none"/>
                <a:tailEnd len="sm" w="sm" type="none"/>
              </a:ln>
            </p:spPr>
          </p:cxnSp>
          <p:grpSp>
            <p:nvGrpSpPr>
              <p:cNvPr id="881" name="Google Shape;881;p14"/>
              <p:cNvGrpSpPr/>
              <p:nvPr/>
            </p:nvGrpSpPr>
            <p:grpSpPr>
              <a:xfrm>
                <a:off x="5275236" y="2693474"/>
                <a:ext cx="439949" cy="414804"/>
                <a:chOff x="5275406" y="2711455"/>
                <a:chExt cx="452949" cy="405517"/>
              </a:xfrm>
            </p:grpSpPr>
            <p:pic>
              <p:nvPicPr>
                <p:cNvPr descr="server_rack.png" id="882" name="Google Shape;882;p14"/>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883" name="Google Shape;883;p14"/>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884" name="Google Shape;884;p14"/>
                <p:cNvPicPr preferRelativeResize="0"/>
                <p:nvPr/>
              </p:nvPicPr>
              <p:blipFill rotWithShape="1">
                <a:blip r:embed="rId17">
                  <a:alphaModFix/>
                </a:blip>
                <a:srcRect b="0" l="0" r="0" t="0"/>
                <a:stretch/>
              </p:blipFill>
              <p:spPr>
                <a:xfrm>
                  <a:off x="5385676" y="2711455"/>
                  <a:ext cx="247152" cy="405517"/>
                </a:xfrm>
                <a:prstGeom prst="rect">
                  <a:avLst/>
                </a:prstGeom>
                <a:noFill/>
                <a:ln>
                  <a:noFill/>
                </a:ln>
              </p:spPr>
            </p:pic>
          </p:grpSp>
        </p:grpSp>
        <p:grpSp>
          <p:nvGrpSpPr>
            <p:cNvPr id="885" name="Google Shape;885;p14"/>
            <p:cNvGrpSpPr/>
            <p:nvPr/>
          </p:nvGrpSpPr>
          <p:grpSpPr>
            <a:xfrm>
              <a:off x="11058799" y="3399142"/>
              <a:ext cx="423623" cy="405968"/>
              <a:chOff x="5103720" y="2693474"/>
              <a:chExt cx="611465" cy="414804"/>
            </a:xfrm>
          </p:grpSpPr>
          <p:cxnSp>
            <p:nvCxnSpPr>
              <p:cNvPr id="886" name="Google Shape;886;p14"/>
              <p:cNvCxnSpPr/>
              <p:nvPr/>
            </p:nvCxnSpPr>
            <p:spPr>
              <a:xfrm>
                <a:off x="5103720" y="2914214"/>
                <a:ext cx="232500" cy="0"/>
              </a:xfrm>
              <a:prstGeom prst="straightConnector1">
                <a:avLst/>
              </a:prstGeom>
              <a:noFill/>
              <a:ln cap="flat" cmpd="sng" w="12700">
                <a:solidFill>
                  <a:schemeClr val="dk1"/>
                </a:solidFill>
                <a:prstDash val="solid"/>
                <a:miter lim="800000"/>
                <a:headEnd len="sm" w="sm" type="none"/>
                <a:tailEnd len="sm" w="sm" type="none"/>
              </a:ln>
            </p:spPr>
          </p:cxnSp>
          <p:grpSp>
            <p:nvGrpSpPr>
              <p:cNvPr id="887" name="Google Shape;887;p14"/>
              <p:cNvGrpSpPr/>
              <p:nvPr/>
            </p:nvGrpSpPr>
            <p:grpSpPr>
              <a:xfrm>
                <a:off x="5275236" y="2693474"/>
                <a:ext cx="439949" cy="414804"/>
                <a:chOff x="5275406" y="2711455"/>
                <a:chExt cx="452949" cy="405517"/>
              </a:xfrm>
            </p:grpSpPr>
            <p:pic>
              <p:nvPicPr>
                <p:cNvPr descr="server_rack.png" id="888" name="Google Shape;888;p14"/>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889" name="Google Shape;889;p14"/>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890" name="Google Shape;890;p14"/>
                <p:cNvPicPr preferRelativeResize="0"/>
                <p:nvPr/>
              </p:nvPicPr>
              <p:blipFill rotWithShape="1">
                <a:blip r:embed="rId17">
                  <a:alphaModFix/>
                </a:blip>
                <a:srcRect b="0" l="0" r="0" t="0"/>
                <a:stretch/>
              </p:blipFill>
              <p:spPr>
                <a:xfrm>
                  <a:off x="5385676" y="2711455"/>
                  <a:ext cx="247152" cy="405517"/>
                </a:xfrm>
                <a:prstGeom prst="rect">
                  <a:avLst/>
                </a:prstGeom>
                <a:noFill/>
                <a:ln>
                  <a:noFill/>
                </a:ln>
              </p:spPr>
            </p:pic>
          </p:grpSp>
        </p:grpSp>
      </p:grpSp>
      <p:grpSp>
        <p:nvGrpSpPr>
          <p:cNvPr id="891" name="Google Shape;891;p14"/>
          <p:cNvGrpSpPr/>
          <p:nvPr/>
        </p:nvGrpSpPr>
        <p:grpSpPr>
          <a:xfrm flipH="1">
            <a:off x="7980855" y="4900161"/>
            <a:ext cx="345630" cy="320312"/>
            <a:chOff x="2839" y="3501"/>
            <a:chExt cx="755" cy="803"/>
          </a:xfrm>
        </p:grpSpPr>
        <p:pic>
          <p:nvPicPr>
            <p:cNvPr descr="desktop_computer_stylized_medium" id="892" name="Google Shape;892;p1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893" name="Google Shape;893;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6"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94" name="Google Shape;894;p14"/>
          <p:cNvGrpSpPr/>
          <p:nvPr/>
        </p:nvGrpSpPr>
        <p:grpSpPr>
          <a:xfrm>
            <a:off x="9201681" y="5852809"/>
            <a:ext cx="310116" cy="312010"/>
            <a:chOff x="877" y="1008"/>
            <a:chExt cx="2746" cy="2626"/>
          </a:xfrm>
        </p:grpSpPr>
        <p:pic>
          <p:nvPicPr>
            <p:cNvPr descr="antenna_stylized" id="895" name="Google Shape;895;p14"/>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896" name="Google Shape;896;p14"/>
            <p:cNvPicPr preferRelativeResize="0"/>
            <p:nvPr/>
          </p:nvPicPr>
          <p:blipFill rotWithShape="1">
            <a:blip r:embed="rId20">
              <a:alphaModFix/>
            </a:blip>
            <a:srcRect b="0" l="0" r="0" t="0"/>
            <a:stretch/>
          </p:blipFill>
          <p:spPr>
            <a:xfrm flipH="1" rot="108963">
              <a:off x="1009" y="2586"/>
              <a:ext cx="2245" cy="1013"/>
            </a:xfrm>
            <a:prstGeom prst="rect">
              <a:avLst/>
            </a:prstGeom>
            <a:noFill/>
            <a:ln>
              <a:noFill/>
            </a:ln>
          </p:spPr>
        </p:pic>
        <p:sp>
          <p:nvSpPr>
            <p:cNvPr id="897" name="Google Shape;897;p14"/>
            <p:cNvSpPr/>
            <p:nvPr/>
          </p:nvSpPr>
          <p:spPr>
            <a:xfrm>
              <a:off x="1753" y="1603"/>
              <a:ext cx="1804" cy="1325"/>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898" name="Google Shape;898;p14"/>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899" name="Google Shape;899;p14"/>
            <p:cNvSpPr/>
            <p:nvPr/>
          </p:nvSpPr>
          <p:spPr>
            <a:xfrm>
              <a:off x="2082" y="1564"/>
              <a:ext cx="1529"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0" name="Google Shape;900;p14"/>
            <p:cNvSpPr/>
            <p:nvPr/>
          </p:nvSpPr>
          <p:spPr>
            <a:xfrm>
              <a:off x="1737" y="1562"/>
              <a:ext cx="425" cy="1022"/>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1" name="Google Shape;901;p14"/>
            <p:cNvSpPr/>
            <p:nvPr/>
          </p:nvSpPr>
          <p:spPr>
            <a:xfrm>
              <a:off x="3144" y="1745"/>
              <a:ext cx="457" cy="1179"/>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2" name="Google Shape;902;p14"/>
            <p:cNvSpPr/>
            <p:nvPr/>
          </p:nvSpPr>
          <p:spPr>
            <a:xfrm>
              <a:off x="1732" y="2534"/>
              <a:ext cx="1678"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3" name="Google Shape;903;p14"/>
            <p:cNvSpPr/>
            <p:nvPr/>
          </p:nvSpPr>
          <p:spPr>
            <a:xfrm>
              <a:off x="3195" y="1755"/>
              <a:ext cx="428" cy="1186"/>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4" name="Google Shape;904;p14"/>
            <p:cNvSpPr/>
            <p:nvPr/>
          </p:nvSpPr>
          <p:spPr>
            <a:xfrm>
              <a:off x="1734" y="2587"/>
              <a:ext cx="1496" cy="395"/>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05" name="Google Shape;905;p14"/>
            <p:cNvGrpSpPr/>
            <p:nvPr/>
          </p:nvGrpSpPr>
          <p:grpSpPr>
            <a:xfrm>
              <a:off x="1709" y="3008"/>
              <a:ext cx="507" cy="234"/>
              <a:chOff x="1740" y="2642"/>
              <a:chExt cx="752" cy="327"/>
            </a:xfrm>
          </p:grpSpPr>
          <p:sp>
            <p:nvSpPr>
              <p:cNvPr id="906" name="Google Shape;906;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7" name="Google Shape;907;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44"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8" name="Google Shape;908;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9" name="Google Shape;909;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0" name="Google Shape;910;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1" name="Google Shape;911;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12" name="Google Shape;912;p14"/>
            <p:cNvSpPr/>
            <p:nvPr/>
          </p:nvSpPr>
          <p:spPr>
            <a:xfrm>
              <a:off x="2577" y="3043"/>
              <a:ext cx="614" cy="515"/>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3" name="Google Shape;913;p14"/>
            <p:cNvSpPr/>
            <p:nvPr/>
          </p:nvSpPr>
          <p:spPr>
            <a:xfrm>
              <a:off x="1010" y="3084"/>
              <a:ext cx="1570" cy="468"/>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4" name="Google Shape;914;p1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5" name="Google Shape;915;p14"/>
            <p:cNvSpPr/>
            <p:nvPr/>
          </p:nvSpPr>
          <p:spPr>
            <a:xfrm>
              <a:off x="1012" y="2611"/>
              <a:ext cx="729" cy="392"/>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6" name="Google Shape;916;p14"/>
            <p:cNvSpPr/>
            <p:nvPr/>
          </p:nvSpPr>
          <p:spPr>
            <a:xfrm>
              <a:off x="1061" y="3018"/>
              <a:ext cx="1488" cy="45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7" name="Google Shape;917;p14"/>
            <p:cNvSpPr/>
            <p:nvPr/>
          </p:nvSpPr>
          <p:spPr>
            <a:xfrm flipH="1" rot="10800000">
              <a:off x="2549" y="2987"/>
              <a:ext cx="608" cy="4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918" name="Google Shape;918;p14"/>
          <p:cNvGrpSpPr/>
          <p:nvPr/>
        </p:nvGrpSpPr>
        <p:grpSpPr>
          <a:xfrm flipH="1">
            <a:off x="8153909" y="5504657"/>
            <a:ext cx="345630" cy="320312"/>
            <a:chOff x="2839" y="3501"/>
            <a:chExt cx="755" cy="803"/>
          </a:xfrm>
        </p:grpSpPr>
        <p:pic>
          <p:nvPicPr>
            <p:cNvPr descr="desktop_computer_stylized_medium" id="919" name="Google Shape;919;p1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920" name="Google Shape;920;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6"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921" name="Google Shape;921;p14"/>
          <p:cNvGrpSpPr/>
          <p:nvPr/>
        </p:nvGrpSpPr>
        <p:grpSpPr>
          <a:xfrm flipH="1">
            <a:off x="8552134" y="5526130"/>
            <a:ext cx="345630" cy="320312"/>
            <a:chOff x="2839" y="3501"/>
            <a:chExt cx="755" cy="803"/>
          </a:xfrm>
        </p:grpSpPr>
        <p:pic>
          <p:nvPicPr>
            <p:cNvPr descr="desktop_computer_stylized_medium" id="922" name="Google Shape;922;p1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923" name="Google Shape;923;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6"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924" name="Google Shape;924;p14"/>
          <p:cNvGrpSpPr/>
          <p:nvPr/>
        </p:nvGrpSpPr>
        <p:grpSpPr>
          <a:xfrm>
            <a:off x="9534746" y="5795138"/>
            <a:ext cx="319192" cy="256838"/>
            <a:chOff x="877" y="1008"/>
            <a:chExt cx="2746" cy="2626"/>
          </a:xfrm>
        </p:grpSpPr>
        <p:pic>
          <p:nvPicPr>
            <p:cNvPr descr="antenna_stylized" id="925" name="Google Shape;925;p14"/>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926" name="Google Shape;926;p14"/>
            <p:cNvPicPr preferRelativeResize="0"/>
            <p:nvPr/>
          </p:nvPicPr>
          <p:blipFill rotWithShape="1">
            <a:blip r:embed="rId20">
              <a:alphaModFix/>
            </a:blip>
            <a:srcRect b="0" l="0" r="0" t="0"/>
            <a:stretch/>
          </p:blipFill>
          <p:spPr>
            <a:xfrm flipH="1" rot="108963">
              <a:off x="1009" y="2586"/>
              <a:ext cx="2245" cy="1013"/>
            </a:xfrm>
            <a:prstGeom prst="rect">
              <a:avLst/>
            </a:prstGeom>
            <a:noFill/>
            <a:ln>
              <a:noFill/>
            </a:ln>
          </p:spPr>
        </p:pic>
        <p:sp>
          <p:nvSpPr>
            <p:cNvPr id="927" name="Google Shape;927;p14"/>
            <p:cNvSpPr/>
            <p:nvPr/>
          </p:nvSpPr>
          <p:spPr>
            <a:xfrm>
              <a:off x="1753" y="1603"/>
              <a:ext cx="1804" cy="1325"/>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928" name="Google Shape;928;p14"/>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929" name="Google Shape;929;p14"/>
            <p:cNvSpPr/>
            <p:nvPr/>
          </p:nvSpPr>
          <p:spPr>
            <a:xfrm>
              <a:off x="2082" y="1564"/>
              <a:ext cx="1529"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0" name="Google Shape;930;p14"/>
            <p:cNvSpPr/>
            <p:nvPr/>
          </p:nvSpPr>
          <p:spPr>
            <a:xfrm>
              <a:off x="1737" y="1562"/>
              <a:ext cx="425" cy="1022"/>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1" name="Google Shape;931;p14"/>
            <p:cNvSpPr/>
            <p:nvPr/>
          </p:nvSpPr>
          <p:spPr>
            <a:xfrm>
              <a:off x="3144" y="1745"/>
              <a:ext cx="457" cy="1179"/>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12"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2" name="Google Shape;932;p14"/>
            <p:cNvSpPr/>
            <p:nvPr/>
          </p:nvSpPr>
          <p:spPr>
            <a:xfrm>
              <a:off x="1732" y="2534"/>
              <a:ext cx="1678"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3" name="Google Shape;933;p14"/>
            <p:cNvSpPr/>
            <p:nvPr/>
          </p:nvSpPr>
          <p:spPr>
            <a:xfrm>
              <a:off x="3195" y="1755"/>
              <a:ext cx="428" cy="1186"/>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4" name="Google Shape;934;p14"/>
            <p:cNvSpPr/>
            <p:nvPr/>
          </p:nvSpPr>
          <p:spPr>
            <a:xfrm>
              <a:off x="1734" y="2587"/>
              <a:ext cx="1496" cy="395"/>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35" name="Google Shape;935;p14"/>
            <p:cNvGrpSpPr/>
            <p:nvPr/>
          </p:nvGrpSpPr>
          <p:grpSpPr>
            <a:xfrm>
              <a:off x="1709" y="3008"/>
              <a:ext cx="507" cy="234"/>
              <a:chOff x="1740" y="2642"/>
              <a:chExt cx="752" cy="327"/>
            </a:xfrm>
          </p:grpSpPr>
          <p:sp>
            <p:nvSpPr>
              <p:cNvPr id="936" name="Google Shape;936;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7" name="Google Shape;937;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44"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8" name="Google Shape;938;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9" name="Google Shape;939;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0" name="Google Shape;940;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1" name="Google Shape;941;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42" name="Google Shape;942;p14"/>
            <p:cNvSpPr/>
            <p:nvPr/>
          </p:nvSpPr>
          <p:spPr>
            <a:xfrm>
              <a:off x="2577" y="3043"/>
              <a:ext cx="614" cy="515"/>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3" name="Google Shape;943;p14"/>
            <p:cNvSpPr/>
            <p:nvPr/>
          </p:nvSpPr>
          <p:spPr>
            <a:xfrm>
              <a:off x="1010" y="3084"/>
              <a:ext cx="1570" cy="468"/>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4" name="Google Shape;944;p1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5" name="Google Shape;945;p14"/>
            <p:cNvSpPr/>
            <p:nvPr/>
          </p:nvSpPr>
          <p:spPr>
            <a:xfrm>
              <a:off x="1012" y="2611"/>
              <a:ext cx="729" cy="392"/>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6" name="Google Shape;946;p14"/>
            <p:cNvSpPr/>
            <p:nvPr/>
          </p:nvSpPr>
          <p:spPr>
            <a:xfrm>
              <a:off x="1061" y="3018"/>
              <a:ext cx="1488" cy="45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7" name="Google Shape;947;p14"/>
            <p:cNvSpPr/>
            <p:nvPr/>
          </p:nvSpPr>
          <p:spPr>
            <a:xfrm flipH="1" rot="10800000">
              <a:off x="2549" y="2987"/>
              <a:ext cx="608" cy="4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48" name="Google Shape;948;p14"/>
          <p:cNvSpPr/>
          <p:nvPr/>
        </p:nvSpPr>
        <p:spPr>
          <a:xfrm>
            <a:off x="10153593" y="5636971"/>
            <a:ext cx="34049" cy="332927"/>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9" name="Google Shape;949;p14"/>
          <p:cNvSpPr/>
          <p:nvPr/>
        </p:nvSpPr>
        <p:spPr>
          <a:xfrm>
            <a:off x="10159970" y="5656923"/>
            <a:ext cx="20333" cy="308017"/>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50" name="Google Shape;950;p14"/>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51" name="Google Shape;951;p14"/>
          <p:cNvSpPr/>
          <p:nvPr/>
        </p:nvSpPr>
        <p:spPr>
          <a:xfrm>
            <a:off x="10026299" y="5674399"/>
            <a:ext cx="72000" cy="69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52" name="Google Shape;952;p14"/>
          <p:cNvGrpSpPr/>
          <p:nvPr/>
        </p:nvGrpSpPr>
        <p:grpSpPr>
          <a:xfrm>
            <a:off x="10091053" y="5670891"/>
            <a:ext cx="59008" cy="2279"/>
            <a:chOff x="613" y="2566"/>
            <a:chExt cx="612" cy="15"/>
          </a:xfrm>
        </p:grpSpPr>
        <p:sp>
          <p:nvSpPr>
            <p:cNvPr id="953" name="Google Shape;953;p14"/>
            <p:cNvSpPr/>
            <p:nvPr/>
          </p:nvSpPr>
          <p:spPr>
            <a:xfrm>
              <a:off x="613" y="2566"/>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4" name="Google Shape;954;p14"/>
            <p:cNvSpPr/>
            <p:nvPr/>
          </p:nvSpPr>
          <p:spPr>
            <a:xfrm>
              <a:off x="625" y="2581"/>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55" name="Google Shape;955;p14"/>
          <p:cNvSpPr/>
          <p:nvPr/>
        </p:nvSpPr>
        <p:spPr>
          <a:xfrm>
            <a:off x="10027502" y="5722750"/>
            <a:ext cx="72000" cy="69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56" name="Google Shape;956;p14"/>
          <p:cNvGrpSpPr/>
          <p:nvPr/>
        </p:nvGrpSpPr>
        <p:grpSpPr>
          <a:xfrm>
            <a:off x="10091005" y="5718110"/>
            <a:ext cx="59104" cy="2387"/>
            <a:chOff x="615" y="2564"/>
            <a:chExt cx="613" cy="17"/>
          </a:xfrm>
        </p:grpSpPr>
        <p:sp>
          <p:nvSpPr>
            <p:cNvPr id="957" name="Google Shape;957;p14"/>
            <p:cNvSpPr/>
            <p:nvPr/>
          </p:nvSpPr>
          <p:spPr>
            <a:xfrm>
              <a:off x="615" y="2564"/>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58" name="Google Shape;958;p14"/>
            <p:cNvSpPr/>
            <p:nvPr/>
          </p:nvSpPr>
          <p:spPr>
            <a:xfrm>
              <a:off x="628" y="2581"/>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59" name="Google Shape;959;p14"/>
          <p:cNvSpPr/>
          <p:nvPr/>
        </p:nvSpPr>
        <p:spPr>
          <a:xfrm>
            <a:off x="10027502" y="5771101"/>
            <a:ext cx="72000" cy="69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0" name="Google Shape;960;p14"/>
          <p:cNvSpPr/>
          <p:nvPr/>
        </p:nvSpPr>
        <p:spPr>
          <a:xfrm>
            <a:off x="10028705" y="5814938"/>
            <a:ext cx="72000" cy="69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61" name="Google Shape;961;p14"/>
          <p:cNvGrpSpPr/>
          <p:nvPr/>
        </p:nvGrpSpPr>
        <p:grpSpPr>
          <a:xfrm>
            <a:off x="10089851" y="5813708"/>
            <a:ext cx="59110" cy="0"/>
            <a:chOff x="618" y="2586"/>
            <a:chExt cx="612" cy="0"/>
          </a:xfrm>
        </p:grpSpPr>
        <p:sp>
          <p:nvSpPr>
            <p:cNvPr id="962" name="Google Shape;962;p14"/>
            <p:cNvSpPr/>
            <p:nvPr/>
          </p:nvSpPr>
          <p:spPr>
            <a:xfrm>
              <a:off x="618" y="2586"/>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3" name="Google Shape;963;p14"/>
            <p:cNvSpPr/>
            <p:nvPr/>
          </p:nvSpPr>
          <p:spPr>
            <a:xfrm>
              <a:off x="630" y="2586"/>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64" name="Google Shape;964;p14"/>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65" name="Google Shape;965;p14"/>
          <p:cNvGrpSpPr/>
          <p:nvPr/>
        </p:nvGrpSpPr>
        <p:grpSpPr>
          <a:xfrm>
            <a:off x="10089849" y="5767606"/>
            <a:ext cx="59110" cy="2330"/>
            <a:chOff x="613" y="2571"/>
            <a:chExt cx="612" cy="16"/>
          </a:xfrm>
        </p:grpSpPr>
        <p:sp>
          <p:nvSpPr>
            <p:cNvPr id="966" name="Google Shape;966;p14"/>
            <p:cNvSpPr/>
            <p:nvPr/>
          </p:nvSpPr>
          <p:spPr>
            <a:xfrm>
              <a:off x="613" y="2571"/>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7" name="Google Shape;967;p14"/>
            <p:cNvSpPr/>
            <p:nvPr/>
          </p:nvSpPr>
          <p:spPr>
            <a:xfrm>
              <a:off x="625" y="2587"/>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68" name="Google Shape;968;p14"/>
          <p:cNvSpPr/>
          <p:nvPr/>
        </p:nvSpPr>
        <p:spPr>
          <a:xfrm>
            <a:off x="10150946" y="5636388"/>
            <a:ext cx="8400" cy="33270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69" name="Google Shape;969;p14"/>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70" name="Google Shape;970;p14"/>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71" name="Google Shape;971;p14"/>
          <p:cNvSpPr/>
          <p:nvPr/>
        </p:nvSpPr>
        <p:spPr>
          <a:xfrm>
            <a:off x="10183311" y="5954166"/>
            <a:ext cx="6000" cy="13800"/>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2" name="Google Shape;972;p14"/>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73" name="Google Shape;973;p14"/>
          <p:cNvSpPr/>
          <p:nvPr/>
        </p:nvSpPr>
        <p:spPr>
          <a:xfrm>
            <a:off x="10017877" y="5963487"/>
            <a:ext cx="144000" cy="2190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4" name="Google Shape;974;p14"/>
          <p:cNvSpPr/>
          <p:nvPr/>
        </p:nvSpPr>
        <p:spPr>
          <a:xfrm>
            <a:off x="10026299" y="5969166"/>
            <a:ext cx="128400" cy="1140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5" name="Google Shape;975;p14"/>
          <p:cNvSpPr/>
          <p:nvPr/>
        </p:nvSpPr>
        <p:spPr>
          <a:xfrm>
            <a:off x="10038210" y="5920815"/>
            <a:ext cx="19200" cy="2070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6" name="Google Shape;976;p14"/>
          <p:cNvSpPr/>
          <p:nvPr/>
        </p:nvSpPr>
        <p:spPr>
          <a:xfrm>
            <a:off x="10059867" y="5920815"/>
            <a:ext cx="19200" cy="207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977" name="Google Shape;977;p14"/>
          <p:cNvSpPr/>
          <p:nvPr/>
        </p:nvSpPr>
        <p:spPr>
          <a:xfrm>
            <a:off x="10080201" y="5920815"/>
            <a:ext cx="19200" cy="2070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78" name="Google Shape;978;p14"/>
          <p:cNvSpPr/>
          <p:nvPr/>
        </p:nvSpPr>
        <p:spPr>
          <a:xfrm>
            <a:off x="10129410" y="5841444"/>
            <a:ext cx="9600" cy="11040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79" name="Google Shape;979;p14"/>
          <p:cNvGrpSpPr/>
          <p:nvPr/>
        </p:nvGrpSpPr>
        <p:grpSpPr>
          <a:xfrm flipH="1">
            <a:off x="7773981" y="5281060"/>
            <a:ext cx="345630" cy="320312"/>
            <a:chOff x="2839" y="3501"/>
            <a:chExt cx="755" cy="803"/>
          </a:xfrm>
        </p:grpSpPr>
        <p:pic>
          <p:nvPicPr>
            <p:cNvPr descr="desktop_computer_stylized_medium" id="980" name="Google Shape;980;p1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981" name="Google Shape;981;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6"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82" name="Google Shape;982;p14"/>
          <p:cNvSpPr/>
          <p:nvPr/>
        </p:nvSpPr>
        <p:spPr>
          <a:xfrm>
            <a:off x="6539916" y="1365914"/>
            <a:ext cx="5359500" cy="4954500"/>
          </a:xfrm>
          <a:prstGeom prst="rect">
            <a:avLst/>
          </a:prstGeom>
          <a:solidFill>
            <a:schemeClr val="lt1">
              <a:alpha val="6784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83" name="Google Shape;983;p14"/>
          <p:cNvGrpSpPr/>
          <p:nvPr/>
        </p:nvGrpSpPr>
        <p:grpSpPr>
          <a:xfrm>
            <a:off x="7750224" y="1859725"/>
            <a:ext cx="415925" cy="385801"/>
            <a:chOff x="2751" y="1851"/>
            <a:chExt cx="462" cy="478"/>
          </a:xfrm>
        </p:grpSpPr>
        <p:pic>
          <p:nvPicPr>
            <p:cNvPr descr="iphone_stylized_small" id="984" name="Google Shape;984;p14"/>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985" name="Google Shape;985;p14"/>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sp>
        <p:nvSpPr>
          <p:cNvPr id="986" name="Google Shape;986;p14"/>
          <p:cNvSpPr/>
          <p:nvPr/>
        </p:nvSpPr>
        <p:spPr>
          <a:xfrm>
            <a:off x="7680324" y="1814171"/>
            <a:ext cx="612300" cy="510000"/>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87" name="Google Shape;987;p14"/>
          <p:cNvSpPr/>
          <p:nvPr/>
        </p:nvSpPr>
        <p:spPr>
          <a:xfrm>
            <a:off x="9823450" y="5554772"/>
            <a:ext cx="612300" cy="510000"/>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88" name="Google Shape;988;p14"/>
          <p:cNvSpPr/>
          <p:nvPr/>
        </p:nvSpPr>
        <p:spPr>
          <a:xfrm>
            <a:off x="8005845" y="1190714"/>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89" name="Google Shape;989;p14"/>
          <p:cNvGrpSpPr/>
          <p:nvPr/>
        </p:nvGrpSpPr>
        <p:grpSpPr>
          <a:xfrm>
            <a:off x="10288915" y="4742972"/>
            <a:ext cx="880734" cy="882524"/>
            <a:chOff x="10288915" y="4742972"/>
            <a:chExt cx="880734" cy="882524"/>
          </a:xfrm>
        </p:grpSpPr>
        <p:grpSp>
          <p:nvGrpSpPr>
            <p:cNvPr id="990" name="Google Shape;990;p14"/>
            <p:cNvGrpSpPr/>
            <p:nvPr/>
          </p:nvGrpSpPr>
          <p:grpSpPr>
            <a:xfrm>
              <a:off x="10288915" y="5273951"/>
              <a:ext cx="176441" cy="351545"/>
              <a:chOff x="4140" y="429"/>
              <a:chExt cx="1419" cy="2546"/>
            </a:xfrm>
          </p:grpSpPr>
          <p:sp>
            <p:nvSpPr>
              <p:cNvPr id="991" name="Google Shape;991;p14"/>
              <p:cNvSpPr/>
              <p:nvPr/>
            </p:nvSpPr>
            <p:spPr>
              <a:xfrm>
                <a:off x="5268" y="433"/>
                <a:ext cx="283" cy="2283"/>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92" name="Google Shape;992;p14"/>
              <p:cNvSpPr/>
              <p:nvPr/>
            </p:nvSpPr>
            <p:spPr>
              <a:xfrm>
                <a:off x="4210" y="429"/>
                <a:ext cx="900" cy="2400"/>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93" name="Google Shape;993;p14"/>
              <p:cNvSpPr/>
              <p:nvPr/>
            </p:nvSpPr>
            <p:spPr>
              <a:xfrm>
                <a:off x="5321" y="570"/>
                <a:ext cx="169" cy="2112"/>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94" name="Google Shape;994;p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95" name="Google Shape;995;p14"/>
              <p:cNvSpPr/>
              <p:nvPr/>
            </p:nvSpPr>
            <p:spPr>
              <a:xfrm>
                <a:off x="4210" y="690"/>
                <a:ext cx="600" cy="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96" name="Google Shape;996;p14"/>
              <p:cNvGrpSpPr/>
              <p:nvPr/>
            </p:nvGrpSpPr>
            <p:grpSpPr>
              <a:xfrm>
                <a:off x="4748" y="666"/>
                <a:ext cx="490" cy="16"/>
                <a:chOff x="613" y="2566"/>
                <a:chExt cx="612" cy="15"/>
              </a:xfrm>
            </p:grpSpPr>
            <p:sp>
              <p:nvSpPr>
                <p:cNvPr id="997" name="Google Shape;997;p14"/>
                <p:cNvSpPr/>
                <p:nvPr/>
              </p:nvSpPr>
              <p:spPr>
                <a:xfrm>
                  <a:off x="613" y="2566"/>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98" name="Google Shape;998;p14"/>
                <p:cNvSpPr/>
                <p:nvPr/>
              </p:nvSpPr>
              <p:spPr>
                <a:xfrm>
                  <a:off x="625" y="2581"/>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999" name="Google Shape;999;p14"/>
              <p:cNvSpPr/>
              <p:nvPr/>
            </p:nvSpPr>
            <p:spPr>
              <a:xfrm>
                <a:off x="4220" y="1022"/>
                <a:ext cx="600" cy="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000" name="Google Shape;1000;p14"/>
              <p:cNvGrpSpPr/>
              <p:nvPr/>
            </p:nvGrpSpPr>
            <p:grpSpPr>
              <a:xfrm>
                <a:off x="4748" y="990"/>
                <a:ext cx="491" cy="16"/>
                <a:chOff x="615" y="2564"/>
                <a:chExt cx="613" cy="17"/>
              </a:xfrm>
            </p:grpSpPr>
            <p:sp>
              <p:nvSpPr>
                <p:cNvPr id="1001" name="Google Shape;1001;p14"/>
                <p:cNvSpPr/>
                <p:nvPr/>
              </p:nvSpPr>
              <p:spPr>
                <a:xfrm>
                  <a:off x="615" y="2564"/>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02" name="Google Shape;1002;p14"/>
                <p:cNvSpPr/>
                <p:nvPr/>
              </p:nvSpPr>
              <p:spPr>
                <a:xfrm>
                  <a:off x="628" y="2581"/>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003" name="Google Shape;1003;p14"/>
              <p:cNvSpPr/>
              <p:nvPr/>
            </p:nvSpPr>
            <p:spPr>
              <a:xfrm>
                <a:off x="4220" y="1354"/>
                <a:ext cx="600" cy="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04" name="Google Shape;1004;p14"/>
              <p:cNvSpPr/>
              <p:nvPr/>
            </p:nvSpPr>
            <p:spPr>
              <a:xfrm>
                <a:off x="4230" y="1655"/>
                <a:ext cx="600" cy="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005" name="Google Shape;1005;p14"/>
              <p:cNvGrpSpPr/>
              <p:nvPr/>
            </p:nvGrpSpPr>
            <p:grpSpPr>
              <a:xfrm>
                <a:off x="4738" y="1646"/>
                <a:ext cx="491" cy="0"/>
                <a:chOff x="618" y="2586"/>
                <a:chExt cx="612" cy="0"/>
              </a:xfrm>
            </p:grpSpPr>
            <p:sp>
              <p:nvSpPr>
                <p:cNvPr id="1006" name="Google Shape;1006;p14"/>
                <p:cNvSpPr/>
                <p:nvPr/>
              </p:nvSpPr>
              <p:spPr>
                <a:xfrm>
                  <a:off x="618" y="2586"/>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07" name="Google Shape;1007;p14"/>
                <p:cNvSpPr/>
                <p:nvPr/>
              </p:nvSpPr>
              <p:spPr>
                <a:xfrm>
                  <a:off x="630" y="2586"/>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008" name="Google Shape;1008;p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009" name="Google Shape;1009;p14"/>
              <p:cNvGrpSpPr/>
              <p:nvPr/>
            </p:nvGrpSpPr>
            <p:grpSpPr>
              <a:xfrm>
                <a:off x="4738" y="1330"/>
                <a:ext cx="491" cy="16"/>
                <a:chOff x="613" y="2571"/>
                <a:chExt cx="612" cy="16"/>
              </a:xfrm>
            </p:grpSpPr>
            <p:sp>
              <p:nvSpPr>
                <p:cNvPr id="1010" name="Google Shape;1010;p14"/>
                <p:cNvSpPr/>
                <p:nvPr/>
              </p:nvSpPr>
              <p:spPr>
                <a:xfrm>
                  <a:off x="613" y="2571"/>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11" name="Google Shape;1011;p14"/>
                <p:cNvSpPr/>
                <p:nvPr/>
              </p:nvSpPr>
              <p:spPr>
                <a:xfrm>
                  <a:off x="625" y="2587"/>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012" name="Google Shape;1012;p14"/>
              <p:cNvSpPr/>
              <p:nvPr/>
            </p:nvSpPr>
            <p:spPr>
              <a:xfrm>
                <a:off x="5246" y="429"/>
                <a:ext cx="0" cy="240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13" name="Google Shape;1013;p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14" name="Google Shape;1014;p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15" name="Google Shape;1015;p14"/>
              <p:cNvSpPr/>
              <p:nvPr/>
            </p:nvSpPr>
            <p:spPr>
              <a:xfrm>
                <a:off x="5515" y="2611"/>
                <a:ext cx="0" cy="0"/>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16" name="Google Shape;1016;p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17" name="Google Shape;1017;p14"/>
              <p:cNvSpPr/>
              <p:nvPr/>
            </p:nvSpPr>
            <p:spPr>
              <a:xfrm>
                <a:off x="4140" y="2675"/>
                <a:ext cx="1200" cy="30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18" name="Google Shape;1018;p14"/>
              <p:cNvSpPr/>
              <p:nvPr/>
            </p:nvSpPr>
            <p:spPr>
              <a:xfrm>
                <a:off x="4210" y="2714"/>
                <a:ext cx="1200" cy="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19" name="Google Shape;1019;p14"/>
              <p:cNvSpPr/>
              <p:nvPr/>
            </p:nvSpPr>
            <p:spPr>
              <a:xfrm>
                <a:off x="4309" y="2382"/>
                <a:ext cx="300" cy="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20" name="Google Shape;1020;p14"/>
              <p:cNvSpPr/>
              <p:nvPr/>
            </p:nvSpPr>
            <p:spPr>
              <a:xfrm>
                <a:off x="4489" y="2382"/>
                <a:ext cx="300" cy="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021" name="Google Shape;1021;p14"/>
              <p:cNvSpPr/>
              <p:nvPr/>
            </p:nvSpPr>
            <p:spPr>
              <a:xfrm>
                <a:off x="4658" y="2382"/>
                <a:ext cx="300" cy="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22" name="Google Shape;1022;p14"/>
              <p:cNvSpPr/>
              <p:nvPr/>
            </p:nvSpPr>
            <p:spPr>
              <a:xfrm>
                <a:off x="5067" y="1837"/>
                <a:ext cx="0" cy="90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023" name="Google Shape;1023;p14"/>
            <p:cNvSpPr/>
            <p:nvPr/>
          </p:nvSpPr>
          <p:spPr>
            <a:xfrm>
              <a:off x="10452186" y="4753064"/>
              <a:ext cx="676200" cy="77640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24" name="Google Shape;1024;p14"/>
            <p:cNvSpPr/>
            <p:nvPr/>
          </p:nvSpPr>
          <p:spPr>
            <a:xfrm>
              <a:off x="10418848" y="4776877"/>
              <a:ext cx="690600"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25" name="Google Shape;1025;p14"/>
            <p:cNvSpPr/>
            <p:nvPr/>
          </p:nvSpPr>
          <p:spPr>
            <a:xfrm>
              <a:off x="10425991" y="4930726"/>
              <a:ext cx="676200" cy="18660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26" name="Google Shape;1026;p14"/>
            <p:cNvSpPr txBox="1"/>
            <p:nvPr/>
          </p:nvSpPr>
          <p:spPr>
            <a:xfrm>
              <a:off x="10355149" y="4742972"/>
              <a:ext cx="814500" cy="854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1027" name="Google Shape;1027;p14"/>
            <p:cNvCxnSpPr/>
            <p:nvPr/>
          </p:nvCxnSpPr>
          <p:spPr>
            <a:xfrm>
              <a:off x="10418848" y="5119777"/>
              <a:ext cx="690600" cy="4800"/>
            </a:xfrm>
            <a:prstGeom prst="straightConnector1">
              <a:avLst/>
            </a:prstGeom>
            <a:noFill/>
            <a:ln cap="flat" cmpd="sng" w="12700">
              <a:solidFill>
                <a:schemeClr val="dk1"/>
              </a:solidFill>
              <a:prstDash val="solid"/>
              <a:round/>
              <a:headEnd len="med" w="med" type="none"/>
              <a:tailEnd len="med" w="med" type="none"/>
            </a:ln>
          </p:spPr>
        </p:cxnSp>
        <p:cxnSp>
          <p:nvCxnSpPr>
            <p:cNvPr id="1028" name="Google Shape;1028;p14"/>
            <p:cNvCxnSpPr/>
            <p:nvPr/>
          </p:nvCxnSpPr>
          <p:spPr>
            <a:xfrm>
              <a:off x="10428373" y="5257889"/>
              <a:ext cx="690600" cy="4800"/>
            </a:xfrm>
            <a:prstGeom prst="straightConnector1">
              <a:avLst/>
            </a:prstGeom>
            <a:noFill/>
            <a:ln cap="flat" cmpd="sng" w="12700">
              <a:solidFill>
                <a:schemeClr val="dk1"/>
              </a:solidFill>
              <a:prstDash val="solid"/>
              <a:round/>
              <a:headEnd len="med" w="med" type="none"/>
              <a:tailEnd len="med" w="med" type="none"/>
            </a:ln>
          </p:spPr>
        </p:cxnSp>
        <p:cxnSp>
          <p:nvCxnSpPr>
            <p:cNvPr id="1029" name="Google Shape;1029;p14"/>
            <p:cNvCxnSpPr/>
            <p:nvPr/>
          </p:nvCxnSpPr>
          <p:spPr>
            <a:xfrm>
              <a:off x="10428373" y="5396002"/>
              <a:ext cx="690600" cy="4800"/>
            </a:xfrm>
            <a:prstGeom prst="straightConnector1">
              <a:avLst/>
            </a:prstGeom>
            <a:noFill/>
            <a:ln cap="flat" cmpd="sng" w="12700">
              <a:solidFill>
                <a:schemeClr val="dk1"/>
              </a:solidFill>
              <a:prstDash val="solid"/>
              <a:round/>
              <a:headEnd len="med" w="med" type="none"/>
              <a:tailEnd len="med" w="med" type="none"/>
            </a:ln>
          </p:spPr>
        </p:cxnSp>
      </p:grpSp>
      <p:sp>
        <p:nvSpPr>
          <p:cNvPr id="1030" name="Google Shape;1030;p14"/>
          <p:cNvSpPr/>
          <p:nvPr/>
        </p:nvSpPr>
        <p:spPr>
          <a:xfrm>
            <a:off x="10104523" y="4775289"/>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031" name="Google Shape;1031;p14"/>
          <p:cNvGrpSpPr/>
          <p:nvPr/>
        </p:nvGrpSpPr>
        <p:grpSpPr>
          <a:xfrm>
            <a:off x="10002508" y="5616400"/>
            <a:ext cx="214063" cy="429207"/>
            <a:chOff x="4140" y="429"/>
            <a:chExt cx="1419" cy="2546"/>
          </a:xfrm>
        </p:grpSpPr>
        <p:sp>
          <p:nvSpPr>
            <p:cNvPr id="1032" name="Google Shape;1032;p14"/>
            <p:cNvSpPr/>
            <p:nvPr/>
          </p:nvSpPr>
          <p:spPr>
            <a:xfrm>
              <a:off x="5268" y="433"/>
              <a:ext cx="283" cy="2283"/>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3" name="Google Shape;1033;p14"/>
            <p:cNvSpPr/>
            <p:nvPr/>
          </p:nvSpPr>
          <p:spPr>
            <a:xfrm>
              <a:off x="4210" y="429"/>
              <a:ext cx="900" cy="2400"/>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34" name="Google Shape;1034;p14"/>
            <p:cNvSpPr/>
            <p:nvPr/>
          </p:nvSpPr>
          <p:spPr>
            <a:xfrm>
              <a:off x="5321" y="570"/>
              <a:ext cx="169" cy="2112"/>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5" name="Google Shape;1035;p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6" name="Google Shape;1036;p14"/>
            <p:cNvSpPr/>
            <p:nvPr/>
          </p:nvSpPr>
          <p:spPr>
            <a:xfrm>
              <a:off x="4210" y="690"/>
              <a:ext cx="600" cy="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037" name="Google Shape;1037;p14"/>
            <p:cNvGrpSpPr/>
            <p:nvPr/>
          </p:nvGrpSpPr>
          <p:grpSpPr>
            <a:xfrm>
              <a:off x="4748" y="666"/>
              <a:ext cx="490" cy="16"/>
              <a:chOff x="613" y="2566"/>
              <a:chExt cx="612" cy="15"/>
            </a:xfrm>
          </p:grpSpPr>
          <p:sp>
            <p:nvSpPr>
              <p:cNvPr id="1038" name="Google Shape;1038;p14"/>
              <p:cNvSpPr/>
              <p:nvPr/>
            </p:nvSpPr>
            <p:spPr>
              <a:xfrm>
                <a:off x="613" y="2566"/>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39" name="Google Shape;1039;p14"/>
              <p:cNvSpPr/>
              <p:nvPr/>
            </p:nvSpPr>
            <p:spPr>
              <a:xfrm>
                <a:off x="625" y="2581"/>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040" name="Google Shape;1040;p14"/>
            <p:cNvSpPr/>
            <p:nvPr/>
          </p:nvSpPr>
          <p:spPr>
            <a:xfrm>
              <a:off x="4220" y="1022"/>
              <a:ext cx="600" cy="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041" name="Google Shape;1041;p14"/>
            <p:cNvGrpSpPr/>
            <p:nvPr/>
          </p:nvGrpSpPr>
          <p:grpSpPr>
            <a:xfrm>
              <a:off x="4748" y="990"/>
              <a:ext cx="491" cy="16"/>
              <a:chOff x="615" y="2564"/>
              <a:chExt cx="613" cy="17"/>
            </a:xfrm>
          </p:grpSpPr>
          <p:sp>
            <p:nvSpPr>
              <p:cNvPr id="1042" name="Google Shape;1042;p14"/>
              <p:cNvSpPr/>
              <p:nvPr/>
            </p:nvSpPr>
            <p:spPr>
              <a:xfrm>
                <a:off x="615" y="2564"/>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43" name="Google Shape;1043;p14"/>
              <p:cNvSpPr/>
              <p:nvPr/>
            </p:nvSpPr>
            <p:spPr>
              <a:xfrm>
                <a:off x="628" y="2581"/>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044" name="Google Shape;1044;p14"/>
            <p:cNvSpPr/>
            <p:nvPr/>
          </p:nvSpPr>
          <p:spPr>
            <a:xfrm>
              <a:off x="4220" y="1354"/>
              <a:ext cx="600" cy="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45" name="Google Shape;1045;p14"/>
            <p:cNvSpPr/>
            <p:nvPr/>
          </p:nvSpPr>
          <p:spPr>
            <a:xfrm>
              <a:off x="4230" y="1655"/>
              <a:ext cx="600" cy="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046" name="Google Shape;1046;p14"/>
            <p:cNvGrpSpPr/>
            <p:nvPr/>
          </p:nvGrpSpPr>
          <p:grpSpPr>
            <a:xfrm>
              <a:off x="4738" y="1646"/>
              <a:ext cx="491" cy="0"/>
              <a:chOff x="618" y="2586"/>
              <a:chExt cx="612" cy="0"/>
            </a:xfrm>
          </p:grpSpPr>
          <p:sp>
            <p:nvSpPr>
              <p:cNvPr id="1047" name="Google Shape;1047;p14"/>
              <p:cNvSpPr/>
              <p:nvPr/>
            </p:nvSpPr>
            <p:spPr>
              <a:xfrm>
                <a:off x="618" y="2586"/>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48" name="Google Shape;1048;p14"/>
              <p:cNvSpPr/>
              <p:nvPr/>
            </p:nvSpPr>
            <p:spPr>
              <a:xfrm>
                <a:off x="630" y="2586"/>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049" name="Google Shape;1049;p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050" name="Google Shape;1050;p14"/>
            <p:cNvGrpSpPr/>
            <p:nvPr/>
          </p:nvGrpSpPr>
          <p:grpSpPr>
            <a:xfrm>
              <a:off x="4738" y="1330"/>
              <a:ext cx="491" cy="16"/>
              <a:chOff x="613" y="2571"/>
              <a:chExt cx="612" cy="16"/>
            </a:xfrm>
          </p:grpSpPr>
          <p:sp>
            <p:nvSpPr>
              <p:cNvPr id="1051" name="Google Shape;1051;p14"/>
              <p:cNvSpPr/>
              <p:nvPr/>
            </p:nvSpPr>
            <p:spPr>
              <a:xfrm>
                <a:off x="613" y="2571"/>
                <a:ext cx="600" cy="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52" name="Google Shape;1052;p14"/>
              <p:cNvSpPr/>
              <p:nvPr/>
            </p:nvSpPr>
            <p:spPr>
              <a:xfrm>
                <a:off x="625" y="2587"/>
                <a:ext cx="600" cy="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053" name="Google Shape;1053;p14"/>
            <p:cNvSpPr/>
            <p:nvPr/>
          </p:nvSpPr>
          <p:spPr>
            <a:xfrm>
              <a:off x="5246" y="429"/>
              <a:ext cx="0" cy="240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54" name="Google Shape;1054;p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5" name="Google Shape;1055;p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6" name="Google Shape;1056;p14"/>
            <p:cNvSpPr/>
            <p:nvPr/>
          </p:nvSpPr>
          <p:spPr>
            <a:xfrm>
              <a:off x="5515" y="2611"/>
              <a:ext cx="0" cy="0"/>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57" name="Google Shape;1057;p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8" name="Google Shape;1058;p14"/>
            <p:cNvSpPr/>
            <p:nvPr/>
          </p:nvSpPr>
          <p:spPr>
            <a:xfrm>
              <a:off x="4140" y="2675"/>
              <a:ext cx="1200" cy="30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59" name="Google Shape;1059;p14"/>
            <p:cNvSpPr/>
            <p:nvPr/>
          </p:nvSpPr>
          <p:spPr>
            <a:xfrm>
              <a:off x="4210" y="2714"/>
              <a:ext cx="1200" cy="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60" name="Google Shape;1060;p14"/>
            <p:cNvSpPr/>
            <p:nvPr/>
          </p:nvSpPr>
          <p:spPr>
            <a:xfrm>
              <a:off x="4309" y="2382"/>
              <a:ext cx="300" cy="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61" name="Google Shape;1061;p14"/>
            <p:cNvSpPr/>
            <p:nvPr/>
          </p:nvSpPr>
          <p:spPr>
            <a:xfrm>
              <a:off x="4489" y="2382"/>
              <a:ext cx="300" cy="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062" name="Google Shape;1062;p14"/>
            <p:cNvSpPr/>
            <p:nvPr/>
          </p:nvSpPr>
          <p:spPr>
            <a:xfrm>
              <a:off x="4658" y="2382"/>
              <a:ext cx="300" cy="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63" name="Google Shape;1063;p14"/>
            <p:cNvSpPr/>
            <p:nvPr/>
          </p:nvSpPr>
          <p:spPr>
            <a:xfrm>
              <a:off x="5067" y="1837"/>
              <a:ext cx="0" cy="90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1064" name="Google Shape;1064;p14"/>
          <p:cNvGrpSpPr/>
          <p:nvPr/>
        </p:nvGrpSpPr>
        <p:grpSpPr>
          <a:xfrm>
            <a:off x="8252702" y="1137866"/>
            <a:ext cx="814500" cy="854100"/>
            <a:chOff x="9791027" y="656358"/>
            <a:chExt cx="814500" cy="854100"/>
          </a:xfrm>
        </p:grpSpPr>
        <p:sp>
          <p:nvSpPr>
            <p:cNvPr id="1065" name="Google Shape;1065;p14"/>
            <p:cNvSpPr/>
            <p:nvPr/>
          </p:nvSpPr>
          <p:spPr>
            <a:xfrm>
              <a:off x="9888064" y="666450"/>
              <a:ext cx="676200" cy="77640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66" name="Google Shape;1066;p14"/>
            <p:cNvSpPr/>
            <p:nvPr/>
          </p:nvSpPr>
          <p:spPr>
            <a:xfrm>
              <a:off x="9854726" y="690263"/>
              <a:ext cx="690600"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67" name="Google Shape;1067;p14"/>
            <p:cNvSpPr/>
            <p:nvPr/>
          </p:nvSpPr>
          <p:spPr>
            <a:xfrm>
              <a:off x="9861869" y="844112"/>
              <a:ext cx="676200" cy="18660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68" name="Google Shape;1068;p14"/>
            <p:cNvSpPr txBox="1"/>
            <p:nvPr/>
          </p:nvSpPr>
          <p:spPr>
            <a:xfrm>
              <a:off x="9791027" y="656358"/>
              <a:ext cx="814500" cy="854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1069" name="Google Shape;1069;p14"/>
            <p:cNvCxnSpPr/>
            <p:nvPr/>
          </p:nvCxnSpPr>
          <p:spPr>
            <a:xfrm>
              <a:off x="9854726" y="1033163"/>
              <a:ext cx="690600" cy="4800"/>
            </a:xfrm>
            <a:prstGeom prst="straightConnector1">
              <a:avLst/>
            </a:prstGeom>
            <a:noFill/>
            <a:ln cap="flat" cmpd="sng" w="12700">
              <a:solidFill>
                <a:schemeClr val="dk1"/>
              </a:solidFill>
              <a:prstDash val="solid"/>
              <a:round/>
              <a:headEnd len="med" w="med" type="none"/>
              <a:tailEnd len="med" w="med" type="none"/>
            </a:ln>
          </p:spPr>
        </p:cxnSp>
        <p:cxnSp>
          <p:nvCxnSpPr>
            <p:cNvPr id="1070" name="Google Shape;1070;p14"/>
            <p:cNvCxnSpPr/>
            <p:nvPr/>
          </p:nvCxnSpPr>
          <p:spPr>
            <a:xfrm>
              <a:off x="9864251" y="1171275"/>
              <a:ext cx="690600" cy="4800"/>
            </a:xfrm>
            <a:prstGeom prst="straightConnector1">
              <a:avLst/>
            </a:prstGeom>
            <a:noFill/>
            <a:ln cap="flat" cmpd="sng" w="12700">
              <a:solidFill>
                <a:schemeClr val="dk1"/>
              </a:solidFill>
              <a:prstDash val="solid"/>
              <a:round/>
              <a:headEnd len="med" w="med" type="none"/>
              <a:tailEnd len="med" w="med" type="none"/>
            </a:ln>
          </p:spPr>
        </p:cxnSp>
        <p:cxnSp>
          <p:nvCxnSpPr>
            <p:cNvPr id="1071" name="Google Shape;1071;p14"/>
            <p:cNvCxnSpPr/>
            <p:nvPr/>
          </p:nvCxnSpPr>
          <p:spPr>
            <a:xfrm>
              <a:off x="9864251" y="1309388"/>
              <a:ext cx="690600" cy="4800"/>
            </a:xfrm>
            <a:prstGeom prst="straightConnector1">
              <a:avLst/>
            </a:prstGeom>
            <a:noFill/>
            <a:ln cap="flat" cmpd="sng" w="12700">
              <a:solidFill>
                <a:schemeClr val="dk1"/>
              </a:solidFill>
              <a:prstDash val="solid"/>
              <a:round/>
              <a:headEnd len="med" w="med" type="none"/>
              <a:tailEnd len="med" w="med" type="none"/>
            </a:ln>
          </p:spPr>
        </p:cxnSp>
      </p:grpSp>
      <p:sp>
        <p:nvSpPr>
          <p:cNvPr id="1072" name="Google Shape;1072;p14"/>
          <p:cNvSpPr/>
          <p:nvPr/>
        </p:nvSpPr>
        <p:spPr>
          <a:xfrm rot="-1710978">
            <a:off x="9544148" y="1270006"/>
            <a:ext cx="626507" cy="3838508"/>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73" name="Google Shape;1073;p14"/>
          <p:cNvSpPr txBox="1"/>
          <p:nvPr/>
        </p:nvSpPr>
        <p:spPr>
          <a:xfrm rot="3706802">
            <a:off x="8640679" y="3103223"/>
            <a:ext cx="2550450" cy="3693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logical end-end transport</a:t>
            </a:r>
            <a:endParaRPr/>
          </a:p>
        </p:txBody>
      </p:sp>
      <p:sp>
        <p:nvSpPr>
          <p:cNvPr id="1074" name="Google Shape;1074;p14"/>
          <p:cNvSpPr txBox="1"/>
          <p:nvPr/>
        </p:nvSpPr>
        <p:spPr>
          <a:xfrm>
            <a:off x="736738" y="1365914"/>
            <a:ext cx="6288900" cy="5115000"/>
          </a:xfrm>
          <a:prstGeom prst="rect">
            <a:avLst/>
          </a:prstGeom>
          <a:noFill/>
          <a:ln>
            <a:noFill/>
          </a:ln>
        </p:spPr>
        <p:txBody>
          <a:bodyPr anchorCtr="0" anchor="t" bIns="45700" lIns="91425" spcFirstLastPara="1" rIns="91425" wrap="square" tIns="45700">
            <a:normAutofit fontScale="92500" lnSpcReduction="10000"/>
          </a:bodyPr>
          <a:lstStyle/>
          <a:p>
            <a:pPr indent="-222250" lvl="0" marL="352425" marR="0" rtl="0" algn="l">
              <a:lnSpc>
                <a:spcPct val="100000"/>
              </a:lnSpc>
              <a:spcBef>
                <a:spcPts val="0"/>
              </a:spcBef>
              <a:spcAft>
                <a:spcPts val="0"/>
              </a:spcAft>
              <a:buClr>
                <a:srgbClr val="0000A3"/>
              </a:buClr>
              <a:buSzPct val="100000"/>
              <a:buFont typeface="Noto Sans Symbols"/>
              <a:buChar char="▪"/>
            </a:pPr>
            <a:r>
              <a:rPr b="1" i="0" lang="en-US" sz="3200" u="none" cap="none" strike="noStrike">
                <a:solidFill>
                  <a:srgbClr val="CD0004"/>
                </a:solidFill>
                <a:latin typeface="Calibri"/>
                <a:ea typeface="Calibri"/>
                <a:cs typeface="Calibri"/>
                <a:sym typeface="Calibri"/>
              </a:rPr>
              <a:t>TCP: </a:t>
            </a:r>
            <a:r>
              <a:rPr b="0" i="0" lang="en-US" sz="3200" u="none" cap="none" strike="noStrike">
                <a:solidFill>
                  <a:srgbClr val="000000"/>
                </a:solidFill>
                <a:latin typeface="Calibri"/>
                <a:ea typeface="Calibri"/>
                <a:cs typeface="Calibri"/>
                <a:sym typeface="Calibri"/>
              </a:rPr>
              <a:t>Transmission Control Protocol</a:t>
            </a:r>
            <a:endParaRPr/>
          </a:p>
          <a:p>
            <a:pPr indent="-231775" lvl="1" marL="695325" marR="0" rtl="0" algn="l">
              <a:lnSpc>
                <a:spcPct val="100000"/>
              </a:lnSpc>
              <a:spcBef>
                <a:spcPts val="6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reliable, in-order delivery</a:t>
            </a:r>
            <a:endParaRPr/>
          </a:p>
          <a:p>
            <a:pPr indent="-231775" lvl="1" marL="695325" marR="0" rtl="0" algn="l">
              <a:lnSpc>
                <a:spcPct val="100000"/>
              </a:lnSpc>
              <a:spcBef>
                <a:spcPts val="6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congestion control </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flow control</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connection setup</a:t>
            </a:r>
            <a:endParaRPr b="0" i="0" sz="3200" u="none" cap="none" strike="noStrike">
              <a:solidFill>
                <a:srgbClr val="000000"/>
              </a:solidFill>
              <a:latin typeface="Calibri"/>
              <a:ea typeface="Calibri"/>
              <a:cs typeface="Calibri"/>
              <a:sym typeface="Calibri"/>
            </a:endParaRPr>
          </a:p>
          <a:p>
            <a:pPr indent="-222250" lvl="0" marL="352425" marR="0" rtl="0" algn="l">
              <a:lnSpc>
                <a:spcPct val="100000"/>
              </a:lnSpc>
              <a:spcBef>
                <a:spcPts val="600"/>
              </a:spcBef>
              <a:spcAft>
                <a:spcPts val="0"/>
              </a:spcAft>
              <a:buClr>
                <a:srgbClr val="0000A3"/>
              </a:buClr>
              <a:buSzPct val="100000"/>
              <a:buFont typeface="Noto Sans Symbols"/>
              <a:buChar char="▪"/>
            </a:pPr>
            <a:r>
              <a:rPr b="1" i="0" lang="en-US" sz="3200" u="none" cap="none" strike="noStrike">
                <a:solidFill>
                  <a:srgbClr val="CD0004"/>
                </a:solidFill>
                <a:latin typeface="Calibri"/>
                <a:ea typeface="Calibri"/>
                <a:cs typeface="Calibri"/>
                <a:sym typeface="Calibri"/>
              </a:rPr>
              <a:t>UDP: </a:t>
            </a:r>
            <a:r>
              <a:rPr b="0" i="0" lang="en-US" sz="3200" u="none" cap="none" strike="noStrike">
                <a:solidFill>
                  <a:srgbClr val="000000"/>
                </a:solidFill>
                <a:latin typeface="Calibri"/>
                <a:ea typeface="Calibri"/>
                <a:cs typeface="Calibri"/>
                <a:sym typeface="Calibri"/>
              </a:rPr>
              <a:t>User Datagram Protocol</a:t>
            </a:r>
            <a:endParaRPr/>
          </a:p>
          <a:p>
            <a:pPr indent="-274637" lvl="1" marL="747712" marR="0" rtl="0" algn="l">
              <a:lnSpc>
                <a:spcPct val="100000"/>
              </a:lnSpc>
              <a:spcBef>
                <a:spcPts val="600"/>
              </a:spcBef>
              <a:spcAft>
                <a:spcPts val="0"/>
              </a:spcAft>
              <a:buClr>
                <a:srgbClr val="0000A3"/>
              </a:buClr>
              <a:buSzPct val="100000"/>
              <a:buFont typeface="Arial"/>
              <a:buChar char="•"/>
            </a:pPr>
            <a:r>
              <a:rPr b="0" i="0" lang="en-US" sz="2800" u="none" cap="none" strike="noStrike">
                <a:solidFill>
                  <a:srgbClr val="000000"/>
                </a:solidFill>
                <a:latin typeface="Calibri"/>
                <a:ea typeface="Calibri"/>
                <a:cs typeface="Calibri"/>
                <a:sym typeface="Calibri"/>
              </a:rPr>
              <a:t>unreliable, unordered delivery</a:t>
            </a:r>
            <a:endParaRPr/>
          </a:p>
          <a:p>
            <a:pPr indent="-274637" lvl="1" marL="747712" marR="0" rtl="0" algn="l">
              <a:lnSpc>
                <a:spcPct val="100000"/>
              </a:lnSpc>
              <a:spcBef>
                <a:spcPts val="600"/>
              </a:spcBef>
              <a:spcAft>
                <a:spcPts val="0"/>
              </a:spcAft>
              <a:buClr>
                <a:srgbClr val="0000A3"/>
              </a:buClr>
              <a:buSzPct val="100000"/>
              <a:buFont typeface="Arial"/>
              <a:buChar char="•"/>
            </a:pPr>
            <a:r>
              <a:rPr b="0" i="0" lang="en-US" sz="2800" u="none" cap="none" strike="noStrike">
                <a:solidFill>
                  <a:srgbClr val="000000"/>
                </a:solidFill>
                <a:latin typeface="Calibri"/>
                <a:ea typeface="Calibri"/>
                <a:cs typeface="Calibri"/>
                <a:sym typeface="Calibri"/>
              </a:rPr>
              <a:t>no-frills extension of “best-effort” IP</a:t>
            </a:r>
            <a:endParaRPr/>
          </a:p>
          <a:p>
            <a:pPr indent="-222250" lvl="0" marL="352425" marR="0" rtl="0" algn="l">
              <a:lnSpc>
                <a:spcPct val="100000"/>
              </a:lnSpc>
              <a:spcBef>
                <a:spcPts val="600"/>
              </a:spcBef>
              <a:spcAft>
                <a:spcPts val="0"/>
              </a:spcAft>
              <a:buClr>
                <a:srgbClr val="0000A3"/>
              </a:buClr>
              <a:buSzPct val="100000"/>
              <a:buFont typeface="Noto Sans Symbols"/>
              <a:buChar char="▪"/>
            </a:pPr>
            <a:r>
              <a:rPr b="0" i="0" lang="en-US" sz="3200" u="none" cap="none" strike="noStrike">
                <a:solidFill>
                  <a:srgbClr val="000000"/>
                </a:solidFill>
                <a:latin typeface="Calibri"/>
                <a:ea typeface="Calibri"/>
                <a:cs typeface="Calibri"/>
                <a:sym typeface="Calibri"/>
              </a:rPr>
              <a:t>services </a:t>
            </a:r>
            <a:r>
              <a:rPr b="0" i="1" lang="en-US" sz="3200" u="none" cap="none" strike="noStrike">
                <a:solidFill>
                  <a:srgbClr val="000000"/>
                </a:solidFill>
                <a:latin typeface="Calibri"/>
                <a:ea typeface="Calibri"/>
                <a:cs typeface="Calibri"/>
                <a:sym typeface="Calibri"/>
              </a:rPr>
              <a:t>not</a:t>
            </a:r>
            <a:r>
              <a:rPr b="0" i="0" lang="en-US" sz="3200" u="none" cap="none" strike="noStrike">
                <a:solidFill>
                  <a:srgbClr val="000000"/>
                </a:solidFill>
                <a:latin typeface="Calibri"/>
                <a:ea typeface="Calibri"/>
                <a:cs typeface="Calibri"/>
                <a:sym typeface="Calibri"/>
              </a:rPr>
              <a:t> available: </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delay guarantees</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bandwidth guarantees</a:t>
            </a:r>
            <a:endParaRPr b="0" i="0" sz="2400" u="none" cap="none" strike="noStrike">
              <a:solidFill>
                <a:srgbClr val="000000"/>
              </a:solidFill>
              <a:latin typeface="Calibri"/>
              <a:ea typeface="Calibri"/>
              <a:cs typeface="Calibri"/>
              <a:sym typeface="Calibri"/>
            </a:endParaRPr>
          </a:p>
        </p:txBody>
      </p:sp>
      <p:sp>
        <p:nvSpPr>
          <p:cNvPr id="1075" name="Google Shape;1075;p14"/>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0" st="0"/>
                                            </p:txEl>
                                          </p:spTgt>
                                        </p:tgtEl>
                                        <p:attrNameLst>
                                          <p:attrName>style.visibility</p:attrName>
                                        </p:attrNameLst>
                                      </p:cBhvr>
                                      <p:to>
                                        <p:strVal val="visible"/>
                                      </p:to>
                                    </p:set>
                                    <p:animEffect filter="fade" transition="in">
                                      <p:cBhvr>
                                        <p:cTn dur="500"/>
                                        <p:tgtEl>
                                          <p:spTgt spid="10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1" st="1"/>
                                            </p:txEl>
                                          </p:spTgt>
                                        </p:tgtEl>
                                        <p:attrNameLst>
                                          <p:attrName>style.visibility</p:attrName>
                                        </p:attrNameLst>
                                      </p:cBhvr>
                                      <p:to>
                                        <p:strVal val="visible"/>
                                      </p:to>
                                    </p:set>
                                    <p:animEffect filter="fade" transition="in">
                                      <p:cBhvr>
                                        <p:cTn dur="500"/>
                                        <p:tgtEl>
                                          <p:spTgt spid="10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2" st="2"/>
                                            </p:txEl>
                                          </p:spTgt>
                                        </p:tgtEl>
                                        <p:attrNameLst>
                                          <p:attrName>style.visibility</p:attrName>
                                        </p:attrNameLst>
                                      </p:cBhvr>
                                      <p:to>
                                        <p:strVal val="visible"/>
                                      </p:to>
                                    </p:set>
                                    <p:animEffect filter="fade" transition="in">
                                      <p:cBhvr>
                                        <p:cTn dur="500"/>
                                        <p:tgtEl>
                                          <p:spTgt spid="10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3" st="3"/>
                                            </p:txEl>
                                          </p:spTgt>
                                        </p:tgtEl>
                                        <p:attrNameLst>
                                          <p:attrName>style.visibility</p:attrName>
                                        </p:attrNameLst>
                                      </p:cBhvr>
                                      <p:to>
                                        <p:strVal val="visible"/>
                                      </p:to>
                                    </p:set>
                                    <p:animEffect filter="fade" transition="in">
                                      <p:cBhvr>
                                        <p:cTn dur="500"/>
                                        <p:tgtEl>
                                          <p:spTgt spid="107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4" st="4"/>
                                            </p:txEl>
                                          </p:spTgt>
                                        </p:tgtEl>
                                        <p:attrNameLst>
                                          <p:attrName>style.visibility</p:attrName>
                                        </p:attrNameLst>
                                      </p:cBhvr>
                                      <p:to>
                                        <p:strVal val="visible"/>
                                      </p:to>
                                    </p:set>
                                    <p:animEffect filter="fade" transition="in">
                                      <p:cBhvr>
                                        <p:cTn dur="500"/>
                                        <p:tgtEl>
                                          <p:spTgt spid="107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5" st="5"/>
                                            </p:txEl>
                                          </p:spTgt>
                                        </p:tgtEl>
                                        <p:attrNameLst>
                                          <p:attrName>style.visibility</p:attrName>
                                        </p:attrNameLst>
                                      </p:cBhvr>
                                      <p:to>
                                        <p:strVal val="visible"/>
                                      </p:to>
                                    </p:set>
                                    <p:animEffect filter="fade" transition="in">
                                      <p:cBhvr>
                                        <p:cTn dur="500"/>
                                        <p:tgtEl>
                                          <p:spTgt spid="107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6" st="6"/>
                                            </p:txEl>
                                          </p:spTgt>
                                        </p:tgtEl>
                                        <p:attrNameLst>
                                          <p:attrName>style.visibility</p:attrName>
                                        </p:attrNameLst>
                                      </p:cBhvr>
                                      <p:to>
                                        <p:strVal val="visible"/>
                                      </p:to>
                                    </p:set>
                                    <p:animEffect filter="fade" transition="in">
                                      <p:cBhvr>
                                        <p:cTn dur="500"/>
                                        <p:tgtEl>
                                          <p:spTgt spid="107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7" st="7"/>
                                            </p:txEl>
                                          </p:spTgt>
                                        </p:tgtEl>
                                        <p:attrNameLst>
                                          <p:attrName>style.visibility</p:attrName>
                                        </p:attrNameLst>
                                      </p:cBhvr>
                                      <p:to>
                                        <p:strVal val="visible"/>
                                      </p:to>
                                    </p:set>
                                    <p:animEffect filter="fade" transition="in">
                                      <p:cBhvr>
                                        <p:cTn dur="500"/>
                                        <p:tgtEl>
                                          <p:spTgt spid="107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8" st="8"/>
                                            </p:txEl>
                                          </p:spTgt>
                                        </p:tgtEl>
                                        <p:attrNameLst>
                                          <p:attrName>style.visibility</p:attrName>
                                        </p:attrNameLst>
                                      </p:cBhvr>
                                      <p:to>
                                        <p:strVal val="visible"/>
                                      </p:to>
                                    </p:set>
                                    <p:animEffect filter="fade" transition="in">
                                      <p:cBhvr>
                                        <p:cTn dur="500"/>
                                        <p:tgtEl>
                                          <p:spTgt spid="107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9" st="9"/>
                                            </p:txEl>
                                          </p:spTgt>
                                        </p:tgtEl>
                                        <p:attrNameLst>
                                          <p:attrName>style.visibility</p:attrName>
                                        </p:attrNameLst>
                                      </p:cBhvr>
                                      <p:to>
                                        <p:strVal val="visible"/>
                                      </p:to>
                                    </p:set>
                                    <p:animEffect filter="fade" transition="in">
                                      <p:cBhvr>
                                        <p:cTn dur="500"/>
                                        <p:tgtEl>
                                          <p:spTgt spid="107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xEl>
                                              <p:pRg end="10" st="10"/>
                                            </p:txEl>
                                          </p:spTgt>
                                        </p:tgtEl>
                                        <p:attrNameLst>
                                          <p:attrName>style.visibility</p:attrName>
                                        </p:attrNameLst>
                                      </p:cBhvr>
                                      <p:to>
                                        <p:strVal val="visible"/>
                                      </p:to>
                                    </p:set>
                                    <p:animEffect filter="fade" transition="in">
                                      <p:cBhvr>
                                        <p:cTn dur="500"/>
                                        <p:tgtEl>
                                          <p:spTgt spid="1074">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15"/>
          <p:cNvSpPr txBox="1"/>
          <p:nvPr>
            <p:ph type="title"/>
          </p:nvPr>
        </p:nvSpPr>
        <p:spPr>
          <a:xfrm>
            <a:off x="406400" y="152400"/>
            <a:ext cx="114807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Reliable delivery</a:t>
            </a:r>
            <a:endParaRPr/>
          </a:p>
        </p:txBody>
      </p:sp>
      <p:sp>
        <p:nvSpPr>
          <p:cNvPr id="1082" name="Google Shape;1082;p15"/>
          <p:cNvSpPr txBox="1"/>
          <p:nvPr>
            <p:ph idx="12" type="sldNum"/>
          </p:nvPr>
        </p:nvSpPr>
        <p:spPr>
          <a:xfrm>
            <a:off x="8737600" y="6477000"/>
            <a:ext cx="32511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400"/>
              <a:buNone/>
            </a:pPr>
            <a:fld id="{00000000-1234-1234-1234-123412341234}" type="slidenum">
              <a:rPr lang="en-US" sz="1400">
                <a:solidFill>
                  <a:schemeClr val="dk1"/>
                </a:solidFill>
                <a:latin typeface="Times New Roman"/>
                <a:ea typeface="Times New Roman"/>
                <a:cs typeface="Times New Roman"/>
                <a:sym typeface="Times New Roman"/>
              </a:rPr>
              <a:t>‹#›</a:t>
            </a:fld>
            <a:endParaRPr sz="1400">
              <a:solidFill>
                <a:schemeClr val="dk1"/>
              </a:solidFill>
              <a:latin typeface="Times New Roman"/>
              <a:ea typeface="Times New Roman"/>
              <a:cs typeface="Times New Roman"/>
              <a:sym typeface="Times New Roman"/>
            </a:endParaRPr>
          </a:p>
        </p:txBody>
      </p:sp>
      <p:sp>
        <p:nvSpPr>
          <p:cNvPr id="1083" name="Google Shape;1083;p15"/>
          <p:cNvSpPr txBox="1"/>
          <p:nvPr>
            <p:ph idx="1" type="body"/>
          </p:nvPr>
        </p:nvSpPr>
        <p:spPr>
          <a:xfrm>
            <a:off x="508000" y="1143000"/>
            <a:ext cx="11379300" cy="53340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2240"/>
              <a:buChar char="❑"/>
            </a:pPr>
            <a:r>
              <a:rPr lang="en-US" sz="2800"/>
              <a:t>Reliable services</a:t>
            </a:r>
            <a:endParaRPr/>
          </a:p>
          <a:p>
            <a:pPr indent="-285750" lvl="1" marL="742950" rtl="0" algn="l">
              <a:lnSpc>
                <a:spcPct val="90000"/>
              </a:lnSpc>
              <a:spcBef>
                <a:spcPts val="480"/>
              </a:spcBef>
              <a:spcAft>
                <a:spcPts val="0"/>
              </a:spcAft>
              <a:buSzPts val="2400"/>
              <a:buChar char="▪"/>
            </a:pPr>
            <a:r>
              <a:rPr lang="en-US" sz="2400"/>
              <a:t>error control</a:t>
            </a:r>
            <a:endParaRPr/>
          </a:p>
          <a:p>
            <a:pPr indent="-228600" lvl="2" marL="1143000" rtl="0" algn="l">
              <a:lnSpc>
                <a:spcPct val="90000"/>
              </a:lnSpc>
              <a:spcBef>
                <a:spcPts val="400"/>
              </a:spcBef>
              <a:spcAft>
                <a:spcPts val="0"/>
              </a:spcAft>
              <a:buSzPts val="2000"/>
              <a:buChar char="o"/>
            </a:pPr>
            <a:r>
              <a:rPr lang="en-US"/>
              <a:t>Detect and discard corrupted packets.</a:t>
            </a:r>
            <a:endParaRPr/>
          </a:p>
          <a:p>
            <a:pPr indent="-228600" lvl="2" marL="1143000" rtl="0" algn="l">
              <a:lnSpc>
                <a:spcPct val="90000"/>
              </a:lnSpc>
              <a:spcBef>
                <a:spcPts val="400"/>
              </a:spcBef>
              <a:spcAft>
                <a:spcPts val="0"/>
              </a:spcAft>
              <a:buSzPts val="2000"/>
              <a:buChar char="o"/>
            </a:pPr>
            <a:r>
              <a:rPr lang="en-US"/>
              <a:t>Keep track of lost and discarded packets and resend them.</a:t>
            </a:r>
            <a:endParaRPr/>
          </a:p>
          <a:p>
            <a:pPr indent="-228600" lvl="2" marL="1143000" rtl="0" algn="l">
              <a:lnSpc>
                <a:spcPct val="90000"/>
              </a:lnSpc>
              <a:spcBef>
                <a:spcPts val="400"/>
              </a:spcBef>
              <a:spcAft>
                <a:spcPts val="0"/>
              </a:spcAft>
              <a:buSzPts val="2000"/>
              <a:buChar char="o"/>
            </a:pPr>
            <a:r>
              <a:rPr lang="en-US"/>
              <a:t>Recognize duplicate packets and discard them.</a:t>
            </a:r>
            <a:endParaRPr/>
          </a:p>
          <a:p>
            <a:pPr indent="-285750" lvl="1" marL="742950" rtl="0" algn="l">
              <a:lnSpc>
                <a:spcPct val="90000"/>
              </a:lnSpc>
              <a:spcBef>
                <a:spcPts val="480"/>
              </a:spcBef>
              <a:spcAft>
                <a:spcPts val="0"/>
              </a:spcAft>
              <a:buSzPts val="2400"/>
              <a:buChar char="▪"/>
            </a:pPr>
            <a:r>
              <a:rPr lang="en-US" sz="2400"/>
              <a:t>flow control</a:t>
            </a:r>
            <a:endParaRPr/>
          </a:p>
          <a:p>
            <a:pPr indent="-228600" lvl="2" marL="1143000" rtl="0" algn="l">
              <a:lnSpc>
                <a:spcPct val="90000"/>
              </a:lnSpc>
              <a:spcBef>
                <a:spcPts val="440"/>
              </a:spcBef>
              <a:spcAft>
                <a:spcPts val="0"/>
              </a:spcAft>
              <a:buSzPts val="2200"/>
              <a:buChar char="o"/>
            </a:pPr>
            <a:r>
              <a:rPr lang="en-US" sz="2200"/>
              <a:t>Sender doesn’t overwhelm the receiver</a:t>
            </a:r>
            <a:endParaRPr/>
          </a:p>
          <a:p>
            <a:pPr indent="-285750" lvl="1" marL="742950" rtl="0" algn="l">
              <a:lnSpc>
                <a:spcPct val="90000"/>
              </a:lnSpc>
              <a:spcBef>
                <a:spcPts val="480"/>
              </a:spcBef>
              <a:spcAft>
                <a:spcPts val="0"/>
              </a:spcAft>
              <a:buSzPts val="2400"/>
              <a:buChar char="▪"/>
            </a:pPr>
            <a:r>
              <a:rPr lang="en-US" sz="2400"/>
              <a:t>congestion control</a:t>
            </a:r>
            <a:endParaRPr/>
          </a:p>
          <a:p>
            <a:pPr indent="-228600" lvl="2" marL="1143000" rtl="0" algn="l">
              <a:lnSpc>
                <a:spcPct val="90000"/>
              </a:lnSpc>
              <a:spcBef>
                <a:spcPts val="440"/>
              </a:spcBef>
              <a:spcAft>
                <a:spcPts val="0"/>
              </a:spcAft>
              <a:buSzPts val="2200"/>
              <a:buChar char="o"/>
            </a:pPr>
            <a:r>
              <a:rPr lang="en-US" sz="2200"/>
              <a:t>Manage network load within its capacity</a:t>
            </a:r>
            <a:endParaRPr/>
          </a:p>
          <a:p>
            <a:pPr indent="-285750" lvl="1" marL="742950" rtl="0" algn="l">
              <a:lnSpc>
                <a:spcPct val="90000"/>
              </a:lnSpc>
              <a:spcBef>
                <a:spcPts val="480"/>
              </a:spcBef>
              <a:spcAft>
                <a:spcPts val="0"/>
              </a:spcAft>
              <a:buSzPts val="2400"/>
              <a:buChar char="▪"/>
            </a:pPr>
            <a:r>
              <a:rPr lang="en-US" sz="2400"/>
              <a:t>TCP</a:t>
            </a:r>
            <a:endParaRPr/>
          </a:p>
          <a:p>
            <a:pPr indent="-342900" lvl="0" marL="342900" rtl="0" algn="l">
              <a:lnSpc>
                <a:spcPct val="90000"/>
              </a:lnSpc>
              <a:spcBef>
                <a:spcPts val="560"/>
              </a:spcBef>
              <a:spcAft>
                <a:spcPts val="0"/>
              </a:spcAft>
              <a:buSzPts val="2240"/>
              <a:buChar char="❑"/>
            </a:pPr>
            <a:r>
              <a:rPr lang="en-US" sz="2800"/>
              <a:t>Unreliable service</a:t>
            </a:r>
            <a:endParaRPr/>
          </a:p>
          <a:p>
            <a:pPr indent="-285750" lvl="1" marL="742950" rtl="0" algn="l">
              <a:lnSpc>
                <a:spcPct val="90000"/>
              </a:lnSpc>
              <a:spcBef>
                <a:spcPts val="480"/>
              </a:spcBef>
              <a:spcAft>
                <a:spcPts val="0"/>
              </a:spcAft>
              <a:buSzPts val="2400"/>
              <a:buChar char="▪"/>
            </a:pPr>
            <a:r>
              <a:rPr lang="en-US" sz="2400"/>
              <a:t>UDP</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16"/>
          <p:cNvSpPr txBox="1"/>
          <p:nvPr>
            <p:ph type="title"/>
          </p:nvPr>
        </p:nvSpPr>
        <p:spPr>
          <a:xfrm>
            <a:off x="406400" y="152400"/>
            <a:ext cx="114807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Reliable delivery</a:t>
            </a:r>
            <a:endParaRPr/>
          </a:p>
        </p:txBody>
      </p:sp>
      <p:sp>
        <p:nvSpPr>
          <p:cNvPr id="1090" name="Google Shape;1090;p16"/>
          <p:cNvSpPr txBox="1"/>
          <p:nvPr>
            <p:ph idx="12" type="sldNum"/>
          </p:nvPr>
        </p:nvSpPr>
        <p:spPr>
          <a:xfrm>
            <a:off x="8737600" y="6477000"/>
            <a:ext cx="32511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400"/>
              <a:buNone/>
            </a:pPr>
            <a:fld id="{00000000-1234-1234-1234-123412341234}" type="slidenum">
              <a:rPr lang="en-US" sz="1400">
                <a:solidFill>
                  <a:schemeClr val="dk1"/>
                </a:solidFill>
                <a:latin typeface="Times New Roman"/>
                <a:ea typeface="Times New Roman"/>
                <a:cs typeface="Times New Roman"/>
                <a:sym typeface="Times New Roman"/>
              </a:rPr>
              <a:t>‹#›</a:t>
            </a:fld>
            <a:endParaRPr sz="1400">
              <a:solidFill>
                <a:schemeClr val="dk1"/>
              </a:solidFill>
              <a:latin typeface="Times New Roman"/>
              <a:ea typeface="Times New Roman"/>
              <a:cs typeface="Times New Roman"/>
              <a:sym typeface="Times New Roman"/>
            </a:endParaRPr>
          </a:p>
        </p:txBody>
      </p:sp>
      <p:sp>
        <p:nvSpPr>
          <p:cNvPr id="1091" name="Google Shape;1091;p16"/>
          <p:cNvSpPr txBox="1"/>
          <p:nvPr>
            <p:ph idx="1" type="body"/>
          </p:nvPr>
        </p:nvSpPr>
        <p:spPr>
          <a:xfrm>
            <a:off x="508000" y="1143000"/>
            <a:ext cx="11379300" cy="2971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920"/>
              <a:buChar char="❑"/>
            </a:pPr>
            <a:r>
              <a:rPr lang="en-US" sz="2400"/>
              <a:t>Question: Do we need reliable transport service if the Data link transport is reliable?</a:t>
            </a:r>
            <a:endParaRPr/>
          </a:p>
          <a:p>
            <a:pPr indent="-220980" lvl="0" marL="342900" rtl="0" algn="l">
              <a:lnSpc>
                <a:spcPct val="90000"/>
              </a:lnSpc>
              <a:spcBef>
                <a:spcPts val="480"/>
              </a:spcBef>
              <a:spcAft>
                <a:spcPts val="0"/>
              </a:spcAft>
              <a:buSzPts val="1920"/>
              <a:buNone/>
            </a:pPr>
            <a:r>
              <a:t/>
            </a:r>
            <a:endParaRPr sz="2400"/>
          </a:p>
          <a:p>
            <a:pPr indent="-342900" lvl="0" marL="342900" rtl="0" algn="l">
              <a:lnSpc>
                <a:spcPct val="90000"/>
              </a:lnSpc>
              <a:spcBef>
                <a:spcPts val="480"/>
              </a:spcBef>
              <a:spcAft>
                <a:spcPts val="0"/>
              </a:spcAft>
              <a:buSzPts val="1920"/>
              <a:buChar char="❑"/>
            </a:pPr>
            <a:r>
              <a:rPr lang="en-US" sz="2400"/>
              <a:t>Yes</a:t>
            </a:r>
            <a:endParaRPr/>
          </a:p>
        </p:txBody>
      </p:sp>
      <p:pic>
        <p:nvPicPr>
          <p:cNvPr id="1092" name="Google Shape;1092;p16"/>
          <p:cNvPicPr preferRelativeResize="0"/>
          <p:nvPr>
            <p:ph idx="2" type="body"/>
          </p:nvPr>
        </p:nvPicPr>
        <p:blipFill rotWithShape="1">
          <a:blip r:embed="rId3">
            <a:alphaModFix/>
          </a:blip>
          <a:srcRect b="0" l="0" r="0" t="0"/>
          <a:stretch/>
        </p:blipFill>
        <p:spPr>
          <a:xfrm>
            <a:off x="916569" y="2819400"/>
            <a:ext cx="10256100" cy="2918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17"/>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1099" name="Google Shape;1099;p17"/>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010086"/>
              </a:buClr>
              <a:buSzPts val="3200"/>
              <a:buChar char="▪"/>
            </a:pPr>
            <a:r>
              <a:rPr lang="en-US" sz="3200"/>
              <a:t>Principles of reliable data transfer </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1100" name="Google Shape;1100;p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1101" name="Google Shape;1101;p17"/>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1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1108" name="Google Shape;1108;p18"/>
          <p:cNvGrpSpPr/>
          <p:nvPr/>
        </p:nvGrpSpPr>
        <p:grpSpPr>
          <a:xfrm>
            <a:off x="238850" y="1911780"/>
            <a:ext cx="5147342" cy="2073847"/>
            <a:chOff x="737514" y="2398718"/>
            <a:chExt cx="5595548" cy="2073847"/>
          </a:xfrm>
        </p:grpSpPr>
        <p:sp>
          <p:nvSpPr>
            <p:cNvPr id="1109" name="Google Shape;1109;p18"/>
            <p:cNvSpPr/>
            <p:nvPr/>
          </p:nvSpPr>
          <p:spPr>
            <a:xfrm>
              <a:off x="4575391" y="3206649"/>
              <a:ext cx="929535" cy="419742"/>
            </a:xfrm>
            <a:prstGeom prst="bentUpArrow">
              <a:avLst>
                <a:gd fmla="val 7688" name="adj1"/>
                <a:gd fmla="val 18199" name="adj2"/>
                <a:gd fmla="val 2019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110" name="Google Shape;1110;p18"/>
            <p:cNvGrpSpPr/>
            <p:nvPr/>
          </p:nvGrpSpPr>
          <p:grpSpPr>
            <a:xfrm>
              <a:off x="1442223" y="2551892"/>
              <a:ext cx="1245036" cy="593992"/>
              <a:chOff x="9852456" y="608434"/>
              <a:chExt cx="1245036" cy="593992"/>
            </a:xfrm>
          </p:grpSpPr>
          <p:sp>
            <p:nvSpPr>
              <p:cNvPr id="1111" name="Google Shape;1111;p18"/>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112" name="Google Shape;1112;p18"/>
              <p:cNvSpPr txBox="1"/>
              <p:nvPr/>
            </p:nvSpPr>
            <p:spPr>
              <a:xfrm>
                <a:off x="9935581"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sending process</a:t>
                </a:r>
                <a:endParaRPr/>
              </a:p>
            </p:txBody>
          </p:sp>
        </p:grpSp>
        <p:grpSp>
          <p:nvGrpSpPr>
            <p:cNvPr id="1113" name="Google Shape;1113;p18"/>
            <p:cNvGrpSpPr/>
            <p:nvPr/>
          </p:nvGrpSpPr>
          <p:grpSpPr>
            <a:xfrm>
              <a:off x="2038693" y="3003923"/>
              <a:ext cx="577241" cy="307777"/>
              <a:chOff x="9950444" y="999755"/>
              <a:chExt cx="577241" cy="307777"/>
            </a:xfrm>
          </p:grpSpPr>
          <p:sp>
            <p:nvSpPr>
              <p:cNvPr id="1114" name="Google Shape;1114;p18"/>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15" name="Google Shape;1115;p18"/>
              <p:cNvSpPr txBox="1"/>
              <p:nvPr/>
            </p:nvSpPr>
            <p:spPr>
              <a:xfrm>
                <a:off x="9950444" y="999755"/>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116" name="Google Shape;1116;p18"/>
            <p:cNvGrpSpPr/>
            <p:nvPr/>
          </p:nvGrpSpPr>
          <p:grpSpPr>
            <a:xfrm>
              <a:off x="1175476" y="2432423"/>
              <a:ext cx="545509" cy="512284"/>
              <a:chOff x="-44" y="1473"/>
              <a:chExt cx="981" cy="1105"/>
            </a:xfrm>
          </p:grpSpPr>
          <p:pic>
            <p:nvPicPr>
              <p:cNvPr descr="desktop_computer_stylized_medium" id="1117" name="Google Shape;1117;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118" name="Google Shape;1118;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119" name="Google Shape;1119;p18"/>
            <p:cNvGrpSpPr/>
            <p:nvPr/>
          </p:nvGrpSpPr>
          <p:grpSpPr>
            <a:xfrm>
              <a:off x="4756576" y="2530702"/>
              <a:ext cx="1245036" cy="593992"/>
              <a:chOff x="9852456" y="608434"/>
              <a:chExt cx="1245036" cy="593992"/>
            </a:xfrm>
          </p:grpSpPr>
          <p:sp>
            <p:nvSpPr>
              <p:cNvPr id="1120" name="Google Shape;1120;p18"/>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121" name="Google Shape;1121;p18"/>
              <p:cNvSpPr txBox="1"/>
              <p:nvPr/>
            </p:nvSpPr>
            <p:spPr>
              <a:xfrm>
                <a:off x="9921965"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receiving process</a:t>
                </a:r>
                <a:endParaRPr/>
              </a:p>
            </p:txBody>
          </p:sp>
        </p:grpSp>
        <p:grpSp>
          <p:nvGrpSpPr>
            <p:cNvPr id="1122" name="Google Shape;1122;p18"/>
            <p:cNvGrpSpPr/>
            <p:nvPr/>
          </p:nvGrpSpPr>
          <p:grpSpPr>
            <a:xfrm>
              <a:off x="4815705" y="3003923"/>
              <a:ext cx="577241" cy="307777"/>
              <a:chOff x="9678159" y="981583"/>
              <a:chExt cx="577241" cy="307777"/>
            </a:xfrm>
          </p:grpSpPr>
          <p:sp>
            <p:nvSpPr>
              <p:cNvPr id="1123" name="Google Shape;1123;p18"/>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24" name="Google Shape;1124;p18"/>
              <p:cNvSpPr txBox="1"/>
              <p:nvPr/>
            </p:nvSpPr>
            <p:spPr>
              <a:xfrm>
                <a:off x="9678159" y="981583"/>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125" name="Google Shape;1125;p18"/>
            <p:cNvGrpSpPr/>
            <p:nvPr/>
          </p:nvGrpSpPr>
          <p:grpSpPr>
            <a:xfrm>
              <a:off x="5854223" y="2398718"/>
              <a:ext cx="230514" cy="466725"/>
              <a:chOff x="4140" y="429"/>
              <a:chExt cx="1425" cy="2396"/>
            </a:xfrm>
          </p:grpSpPr>
          <p:sp>
            <p:nvSpPr>
              <p:cNvPr id="1126" name="Google Shape;1126;p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27" name="Google Shape;1127;p18"/>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28" name="Google Shape;1128;p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29" name="Google Shape;1129;p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30" name="Google Shape;1130;p18"/>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131" name="Google Shape;1131;p18"/>
              <p:cNvGrpSpPr/>
              <p:nvPr/>
            </p:nvGrpSpPr>
            <p:grpSpPr>
              <a:xfrm>
                <a:off x="4751" y="667"/>
                <a:ext cx="580" cy="146"/>
                <a:chOff x="617" y="2567"/>
                <a:chExt cx="724" cy="140"/>
              </a:xfrm>
            </p:grpSpPr>
            <p:sp>
              <p:nvSpPr>
                <p:cNvPr id="1132" name="Google Shape;1132;p18"/>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33" name="Google Shape;1133;p18"/>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134" name="Google Shape;1134;p18"/>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135" name="Google Shape;1135;p18"/>
              <p:cNvGrpSpPr/>
              <p:nvPr/>
            </p:nvGrpSpPr>
            <p:grpSpPr>
              <a:xfrm>
                <a:off x="4745" y="996"/>
                <a:ext cx="580" cy="156"/>
                <a:chOff x="612" y="2570"/>
                <a:chExt cx="724" cy="162"/>
              </a:xfrm>
            </p:grpSpPr>
            <p:sp>
              <p:nvSpPr>
                <p:cNvPr id="1136" name="Google Shape;1136;p18"/>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37" name="Google Shape;1137;p18"/>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138" name="Google Shape;1138;p18"/>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39" name="Google Shape;1139;p18"/>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140" name="Google Shape;1140;p18"/>
              <p:cNvGrpSpPr/>
              <p:nvPr/>
            </p:nvGrpSpPr>
            <p:grpSpPr>
              <a:xfrm>
                <a:off x="4733" y="1627"/>
                <a:ext cx="586" cy="151"/>
                <a:chOff x="611" y="2568"/>
                <a:chExt cx="730" cy="139"/>
              </a:xfrm>
            </p:grpSpPr>
            <p:sp>
              <p:nvSpPr>
                <p:cNvPr id="1141" name="Google Shape;1141;p18"/>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42" name="Google Shape;1142;p18"/>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143" name="Google Shape;1143;p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144" name="Google Shape;1144;p18"/>
              <p:cNvGrpSpPr/>
              <p:nvPr/>
            </p:nvGrpSpPr>
            <p:grpSpPr>
              <a:xfrm>
                <a:off x="4739" y="1325"/>
                <a:ext cx="580" cy="140"/>
                <a:chOff x="614" y="2566"/>
                <a:chExt cx="723" cy="140"/>
              </a:xfrm>
            </p:grpSpPr>
            <p:sp>
              <p:nvSpPr>
                <p:cNvPr id="1145" name="Google Shape;1145;p18"/>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46" name="Google Shape;1146;p18"/>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147" name="Google Shape;1147;p18"/>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48" name="Google Shape;1148;p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49" name="Google Shape;1149;p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50" name="Google Shape;1150;p18"/>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51" name="Google Shape;1151;p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52" name="Google Shape;1152;p18"/>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53" name="Google Shape;1153;p18"/>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54" name="Google Shape;1154;p18"/>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55" name="Google Shape;1155;p18"/>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156" name="Google Shape;1156;p18"/>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57" name="Google Shape;1157;p18"/>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158" name="Google Shape;1158;p18"/>
            <p:cNvGrpSpPr/>
            <p:nvPr/>
          </p:nvGrpSpPr>
          <p:grpSpPr>
            <a:xfrm>
              <a:off x="2669417" y="3423937"/>
              <a:ext cx="2003932" cy="369332"/>
              <a:chOff x="7504363" y="3141846"/>
              <a:chExt cx="2003932" cy="369332"/>
            </a:xfrm>
          </p:grpSpPr>
          <p:grpSp>
            <p:nvGrpSpPr>
              <p:cNvPr id="1159" name="Google Shape;1159;p18"/>
              <p:cNvGrpSpPr/>
              <p:nvPr/>
            </p:nvGrpSpPr>
            <p:grpSpPr>
              <a:xfrm>
                <a:off x="7504363" y="3183676"/>
                <a:ext cx="2003932" cy="306163"/>
                <a:chOff x="1616358" y="2551230"/>
                <a:chExt cx="2141698" cy="218510"/>
              </a:xfrm>
            </p:grpSpPr>
            <p:sp>
              <p:nvSpPr>
                <p:cNvPr id="1160" name="Google Shape;1160;p18"/>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61" name="Google Shape;1161;p18"/>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62" name="Google Shape;1162;p18"/>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63" name="Google Shape;1163;p18"/>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164" name="Google Shape;1164;p18"/>
              <p:cNvSpPr txBox="1"/>
              <p:nvPr/>
            </p:nvSpPr>
            <p:spPr>
              <a:xfrm>
                <a:off x="7695752" y="3141846"/>
                <a:ext cx="167885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reliable channel</a:t>
                </a:r>
                <a:endParaRPr/>
              </a:p>
            </p:txBody>
          </p:sp>
        </p:grpSp>
        <p:cxnSp>
          <p:nvCxnSpPr>
            <p:cNvPr id="1165" name="Google Shape;1165;p18"/>
            <p:cNvCxnSpPr/>
            <p:nvPr/>
          </p:nvCxnSpPr>
          <p:spPr>
            <a:xfrm>
              <a:off x="1082232"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1166" name="Google Shape;1166;p18"/>
            <p:cNvSpPr/>
            <p:nvPr/>
          </p:nvSpPr>
          <p:spPr>
            <a:xfrm rot="5400000">
              <a:off x="2152182" y="3067004"/>
              <a:ext cx="462111" cy="773811"/>
            </a:xfrm>
            <a:prstGeom prst="bentUpArrow">
              <a:avLst>
                <a:gd fmla="val 7999" name="adj1"/>
                <a:gd fmla="val 16334" name="adj2"/>
                <a:gd fmla="val 2138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167" name="Google Shape;1167;p18"/>
            <p:cNvCxnSpPr/>
            <p:nvPr/>
          </p:nvCxnSpPr>
          <p:spPr>
            <a:xfrm>
              <a:off x="4645151"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1168" name="Google Shape;1168;p18"/>
            <p:cNvSpPr txBox="1"/>
            <p:nvPr/>
          </p:nvSpPr>
          <p:spPr>
            <a:xfrm>
              <a:off x="737514" y="3044388"/>
              <a:ext cx="1191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1169" name="Google Shape;1169;p18"/>
            <p:cNvSpPr txBox="1"/>
            <p:nvPr/>
          </p:nvSpPr>
          <p:spPr>
            <a:xfrm>
              <a:off x="828122" y="3272138"/>
              <a:ext cx="994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1170" name="Google Shape;1170;p18"/>
            <p:cNvSpPr txBox="1"/>
            <p:nvPr/>
          </p:nvSpPr>
          <p:spPr>
            <a:xfrm flipH="1">
              <a:off x="1817207" y="4010900"/>
              <a:ext cx="40256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abstraction</a:t>
              </a:r>
              <a:endParaRPr/>
            </a:p>
          </p:txBody>
        </p:sp>
      </p:grpSp>
      <p:sp>
        <p:nvSpPr>
          <p:cNvPr id="1171" name="Google Shape;1171;p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1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1178" name="Google Shape;1178;p19"/>
          <p:cNvGrpSpPr/>
          <p:nvPr/>
        </p:nvGrpSpPr>
        <p:grpSpPr>
          <a:xfrm>
            <a:off x="6226081" y="1900904"/>
            <a:ext cx="5598584" cy="4095684"/>
            <a:chOff x="6226081" y="2364366"/>
            <a:chExt cx="5598584" cy="4095684"/>
          </a:xfrm>
        </p:grpSpPr>
        <p:grpSp>
          <p:nvGrpSpPr>
            <p:cNvPr id="1179" name="Google Shape;1179;p19"/>
            <p:cNvGrpSpPr/>
            <p:nvPr/>
          </p:nvGrpSpPr>
          <p:grpSpPr>
            <a:xfrm>
              <a:off x="6944646" y="2545250"/>
              <a:ext cx="1245036" cy="593992"/>
              <a:chOff x="9852456" y="608434"/>
              <a:chExt cx="1245036" cy="593992"/>
            </a:xfrm>
          </p:grpSpPr>
          <p:sp>
            <p:nvSpPr>
              <p:cNvPr id="1180" name="Google Shape;1180;p19"/>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181" name="Google Shape;1181;p19"/>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1182" name="Google Shape;1182;p19"/>
            <p:cNvGrpSpPr/>
            <p:nvPr/>
          </p:nvGrpSpPr>
          <p:grpSpPr>
            <a:xfrm>
              <a:off x="7541116" y="2997281"/>
              <a:ext cx="577241" cy="338554"/>
              <a:chOff x="9950444" y="999755"/>
              <a:chExt cx="577241" cy="338554"/>
            </a:xfrm>
          </p:grpSpPr>
          <p:sp>
            <p:nvSpPr>
              <p:cNvPr id="1183" name="Google Shape;1183;p19"/>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84" name="Google Shape;1184;p19"/>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185" name="Google Shape;1185;p19"/>
            <p:cNvGrpSpPr/>
            <p:nvPr/>
          </p:nvGrpSpPr>
          <p:grpSpPr>
            <a:xfrm>
              <a:off x="6677899" y="2425781"/>
              <a:ext cx="545509" cy="512284"/>
              <a:chOff x="-44" y="1473"/>
              <a:chExt cx="981" cy="1105"/>
            </a:xfrm>
          </p:grpSpPr>
          <p:pic>
            <p:nvPicPr>
              <p:cNvPr descr="desktop_computer_stylized_medium" id="1186" name="Google Shape;1186;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187" name="Google Shape;1187;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188" name="Google Shape;1188;p19"/>
            <p:cNvGrpSpPr/>
            <p:nvPr/>
          </p:nvGrpSpPr>
          <p:grpSpPr>
            <a:xfrm>
              <a:off x="10189724" y="2496350"/>
              <a:ext cx="1245036" cy="593992"/>
              <a:chOff x="9852456" y="608434"/>
              <a:chExt cx="1245036" cy="593992"/>
            </a:xfrm>
          </p:grpSpPr>
          <p:sp>
            <p:nvSpPr>
              <p:cNvPr id="1189" name="Google Shape;1189;p19"/>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190" name="Google Shape;1190;p19"/>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1191" name="Google Shape;1191;p19"/>
            <p:cNvGrpSpPr/>
            <p:nvPr/>
          </p:nvGrpSpPr>
          <p:grpSpPr>
            <a:xfrm>
              <a:off x="10248853" y="2969571"/>
              <a:ext cx="577241" cy="338554"/>
              <a:chOff x="9678159" y="981583"/>
              <a:chExt cx="577241" cy="338554"/>
            </a:xfrm>
          </p:grpSpPr>
          <p:sp>
            <p:nvSpPr>
              <p:cNvPr id="1192" name="Google Shape;1192;p19"/>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93" name="Google Shape;1193;p19"/>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194" name="Google Shape;1194;p19"/>
            <p:cNvGrpSpPr/>
            <p:nvPr/>
          </p:nvGrpSpPr>
          <p:grpSpPr>
            <a:xfrm>
              <a:off x="11287371" y="2364366"/>
              <a:ext cx="230514" cy="466725"/>
              <a:chOff x="4140" y="429"/>
              <a:chExt cx="1425" cy="2396"/>
            </a:xfrm>
          </p:grpSpPr>
          <p:sp>
            <p:nvSpPr>
              <p:cNvPr id="1195" name="Google Shape;1195;p1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96" name="Google Shape;1196;p19"/>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97" name="Google Shape;1197;p1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98" name="Google Shape;1198;p1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99" name="Google Shape;1199;p19"/>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200" name="Google Shape;1200;p19"/>
              <p:cNvGrpSpPr/>
              <p:nvPr/>
            </p:nvGrpSpPr>
            <p:grpSpPr>
              <a:xfrm>
                <a:off x="4751" y="667"/>
                <a:ext cx="580" cy="146"/>
                <a:chOff x="617" y="2567"/>
                <a:chExt cx="724" cy="140"/>
              </a:xfrm>
            </p:grpSpPr>
            <p:sp>
              <p:nvSpPr>
                <p:cNvPr id="1201" name="Google Shape;1201;p19"/>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02" name="Google Shape;1202;p19"/>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03" name="Google Shape;1203;p19"/>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204" name="Google Shape;1204;p19"/>
              <p:cNvGrpSpPr/>
              <p:nvPr/>
            </p:nvGrpSpPr>
            <p:grpSpPr>
              <a:xfrm>
                <a:off x="4745" y="996"/>
                <a:ext cx="580" cy="156"/>
                <a:chOff x="612" y="2570"/>
                <a:chExt cx="724" cy="162"/>
              </a:xfrm>
            </p:grpSpPr>
            <p:sp>
              <p:nvSpPr>
                <p:cNvPr id="1205" name="Google Shape;1205;p19"/>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06" name="Google Shape;1206;p19"/>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07" name="Google Shape;1207;p19"/>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08" name="Google Shape;1208;p19"/>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209" name="Google Shape;1209;p19"/>
              <p:cNvGrpSpPr/>
              <p:nvPr/>
            </p:nvGrpSpPr>
            <p:grpSpPr>
              <a:xfrm>
                <a:off x="4733" y="1627"/>
                <a:ext cx="586" cy="151"/>
                <a:chOff x="611" y="2568"/>
                <a:chExt cx="730" cy="139"/>
              </a:xfrm>
            </p:grpSpPr>
            <p:sp>
              <p:nvSpPr>
                <p:cNvPr id="1210" name="Google Shape;1210;p19"/>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11" name="Google Shape;1211;p19"/>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12" name="Google Shape;1212;p1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213" name="Google Shape;1213;p19"/>
              <p:cNvGrpSpPr/>
              <p:nvPr/>
            </p:nvGrpSpPr>
            <p:grpSpPr>
              <a:xfrm>
                <a:off x="4739" y="1325"/>
                <a:ext cx="580" cy="140"/>
                <a:chOff x="614" y="2566"/>
                <a:chExt cx="723" cy="140"/>
              </a:xfrm>
            </p:grpSpPr>
            <p:sp>
              <p:nvSpPr>
                <p:cNvPr id="1214" name="Google Shape;1214;p19"/>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15" name="Google Shape;1215;p19"/>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16" name="Google Shape;1216;p19"/>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17" name="Google Shape;1217;p1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18" name="Google Shape;1218;p1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19" name="Google Shape;1219;p19"/>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20" name="Google Shape;1220;p1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21" name="Google Shape;1221;p19"/>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22" name="Google Shape;1222;p19"/>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23" name="Google Shape;1223;p19"/>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24" name="Google Shape;1224;p19"/>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225" name="Google Shape;1225;p19"/>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26" name="Google Shape;1226;p19"/>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1227" name="Google Shape;1227;p19"/>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1228" name="Google Shape;1228;p19"/>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1229" name="Google Shape;1229;p19"/>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1230" name="Google Shape;1230;p19"/>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1231" name="Google Shape;1231;p19"/>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1232" name="Google Shape;1232;p19"/>
            <p:cNvGrpSpPr/>
            <p:nvPr/>
          </p:nvGrpSpPr>
          <p:grpSpPr>
            <a:xfrm>
              <a:off x="6573835" y="5301907"/>
              <a:ext cx="5250830" cy="481581"/>
              <a:chOff x="6737055" y="3471301"/>
              <a:chExt cx="5250830" cy="481581"/>
            </a:xfrm>
          </p:grpSpPr>
          <p:grpSp>
            <p:nvGrpSpPr>
              <p:cNvPr id="1233" name="Google Shape;1233;p19"/>
              <p:cNvGrpSpPr/>
              <p:nvPr/>
            </p:nvGrpSpPr>
            <p:grpSpPr>
              <a:xfrm>
                <a:off x="8324240" y="3583550"/>
                <a:ext cx="2044628" cy="369332"/>
                <a:chOff x="7504363" y="3155701"/>
                <a:chExt cx="2044628" cy="369332"/>
              </a:xfrm>
            </p:grpSpPr>
            <p:grpSp>
              <p:nvGrpSpPr>
                <p:cNvPr id="1234" name="Google Shape;1234;p19"/>
                <p:cNvGrpSpPr/>
                <p:nvPr/>
              </p:nvGrpSpPr>
              <p:grpSpPr>
                <a:xfrm>
                  <a:off x="7504363" y="3183676"/>
                  <a:ext cx="2003932" cy="306163"/>
                  <a:chOff x="1616358" y="2551230"/>
                  <a:chExt cx="2141698" cy="218510"/>
                </a:xfrm>
              </p:grpSpPr>
              <p:sp>
                <p:nvSpPr>
                  <p:cNvPr id="1235" name="Google Shape;1235;p19"/>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36" name="Google Shape;1236;p19"/>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37" name="Google Shape;1237;p19"/>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38" name="Google Shape;1238;p19"/>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239" name="Google Shape;1239;p19"/>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1240" name="Google Shape;1240;p19"/>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1241" name="Google Shape;1241;p19"/>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1242" name="Google Shape;1242;p19"/>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1243" name="Google Shape;1243;p19"/>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1244" name="Google Shape;1244;p19"/>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1245" name="Google Shape;1245;p19"/>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1246" name="Google Shape;1246;p19"/>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1247" name="Google Shape;1247;p19"/>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1248" name="Google Shape;1248;p19"/>
            <p:cNvGrpSpPr/>
            <p:nvPr/>
          </p:nvGrpSpPr>
          <p:grpSpPr>
            <a:xfrm>
              <a:off x="7535361" y="5023850"/>
              <a:ext cx="632009" cy="632009"/>
              <a:chOff x="7408199" y="4955748"/>
              <a:chExt cx="632009" cy="632009"/>
            </a:xfrm>
          </p:grpSpPr>
          <p:cxnSp>
            <p:nvCxnSpPr>
              <p:cNvPr id="1249" name="Google Shape;1249;p19"/>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1250" name="Google Shape;1250;p19"/>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1251" name="Google Shape;1251;p19"/>
            <p:cNvGrpSpPr/>
            <p:nvPr/>
          </p:nvGrpSpPr>
          <p:grpSpPr>
            <a:xfrm rot="-5400000">
              <a:off x="10248530" y="5019008"/>
              <a:ext cx="632009" cy="632009"/>
              <a:chOff x="7408199" y="4948974"/>
              <a:chExt cx="632009" cy="632009"/>
            </a:xfrm>
          </p:grpSpPr>
          <p:cxnSp>
            <p:nvCxnSpPr>
              <p:cNvPr id="1252" name="Google Shape;1252;p19"/>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1253" name="Google Shape;1253;p19"/>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1254" name="Google Shape;1254;p19"/>
          <p:cNvGrpSpPr/>
          <p:nvPr/>
        </p:nvGrpSpPr>
        <p:grpSpPr>
          <a:xfrm>
            <a:off x="238849" y="1911780"/>
            <a:ext cx="5147343" cy="2073847"/>
            <a:chOff x="737513" y="2398718"/>
            <a:chExt cx="5595549" cy="2073847"/>
          </a:xfrm>
        </p:grpSpPr>
        <p:sp>
          <p:nvSpPr>
            <p:cNvPr id="1255" name="Google Shape;1255;p19"/>
            <p:cNvSpPr/>
            <p:nvPr/>
          </p:nvSpPr>
          <p:spPr>
            <a:xfrm>
              <a:off x="4575391" y="3206649"/>
              <a:ext cx="929535" cy="419742"/>
            </a:xfrm>
            <a:prstGeom prst="bentUpArrow">
              <a:avLst>
                <a:gd fmla="val 7688" name="adj1"/>
                <a:gd fmla="val 18199" name="adj2"/>
                <a:gd fmla="val 2019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256" name="Google Shape;1256;p19"/>
            <p:cNvGrpSpPr/>
            <p:nvPr/>
          </p:nvGrpSpPr>
          <p:grpSpPr>
            <a:xfrm>
              <a:off x="1442223" y="2551892"/>
              <a:ext cx="1245036" cy="593992"/>
              <a:chOff x="9852456" y="608434"/>
              <a:chExt cx="1245036" cy="593992"/>
            </a:xfrm>
          </p:grpSpPr>
          <p:sp>
            <p:nvSpPr>
              <p:cNvPr id="1257" name="Google Shape;1257;p19"/>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258" name="Google Shape;1258;p19"/>
              <p:cNvSpPr txBox="1"/>
              <p:nvPr/>
            </p:nvSpPr>
            <p:spPr>
              <a:xfrm>
                <a:off x="9935581"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sending process</a:t>
                </a:r>
                <a:endParaRPr/>
              </a:p>
            </p:txBody>
          </p:sp>
        </p:grpSp>
        <p:grpSp>
          <p:nvGrpSpPr>
            <p:cNvPr id="1259" name="Google Shape;1259;p19"/>
            <p:cNvGrpSpPr/>
            <p:nvPr/>
          </p:nvGrpSpPr>
          <p:grpSpPr>
            <a:xfrm>
              <a:off x="2038693" y="3003923"/>
              <a:ext cx="577241" cy="307777"/>
              <a:chOff x="9950444" y="999755"/>
              <a:chExt cx="577241" cy="307777"/>
            </a:xfrm>
          </p:grpSpPr>
          <p:sp>
            <p:nvSpPr>
              <p:cNvPr id="1260" name="Google Shape;1260;p19"/>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61" name="Google Shape;1261;p19"/>
              <p:cNvSpPr txBox="1"/>
              <p:nvPr/>
            </p:nvSpPr>
            <p:spPr>
              <a:xfrm>
                <a:off x="9950444" y="999755"/>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262" name="Google Shape;1262;p19"/>
            <p:cNvGrpSpPr/>
            <p:nvPr/>
          </p:nvGrpSpPr>
          <p:grpSpPr>
            <a:xfrm>
              <a:off x="1175476" y="2432423"/>
              <a:ext cx="545509" cy="512284"/>
              <a:chOff x="-44" y="1473"/>
              <a:chExt cx="981" cy="1105"/>
            </a:xfrm>
          </p:grpSpPr>
          <p:pic>
            <p:nvPicPr>
              <p:cNvPr descr="desktop_computer_stylized_medium" id="1263" name="Google Shape;1263;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264" name="Google Shape;1264;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265" name="Google Shape;1265;p19"/>
            <p:cNvGrpSpPr/>
            <p:nvPr/>
          </p:nvGrpSpPr>
          <p:grpSpPr>
            <a:xfrm>
              <a:off x="4756576" y="2530702"/>
              <a:ext cx="1245036" cy="593992"/>
              <a:chOff x="9852456" y="608434"/>
              <a:chExt cx="1245036" cy="593992"/>
            </a:xfrm>
          </p:grpSpPr>
          <p:sp>
            <p:nvSpPr>
              <p:cNvPr id="1266" name="Google Shape;1266;p19"/>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267" name="Google Shape;1267;p19"/>
              <p:cNvSpPr txBox="1"/>
              <p:nvPr/>
            </p:nvSpPr>
            <p:spPr>
              <a:xfrm>
                <a:off x="9921965"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receiving process</a:t>
                </a:r>
                <a:endParaRPr/>
              </a:p>
            </p:txBody>
          </p:sp>
        </p:grpSp>
        <p:grpSp>
          <p:nvGrpSpPr>
            <p:cNvPr id="1268" name="Google Shape;1268;p19"/>
            <p:cNvGrpSpPr/>
            <p:nvPr/>
          </p:nvGrpSpPr>
          <p:grpSpPr>
            <a:xfrm>
              <a:off x="4815705" y="3003923"/>
              <a:ext cx="577241" cy="307777"/>
              <a:chOff x="9678159" y="981583"/>
              <a:chExt cx="577241" cy="307777"/>
            </a:xfrm>
          </p:grpSpPr>
          <p:sp>
            <p:nvSpPr>
              <p:cNvPr id="1269" name="Google Shape;1269;p19"/>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70" name="Google Shape;1270;p19"/>
              <p:cNvSpPr txBox="1"/>
              <p:nvPr/>
            </p:nvSpPr>
            <p:spPr>
              <a:xfrm>
                <a:off x="9678159" y="981583"/>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271" name="Google Shape;1271;p19"/>
            <p:cNvGrpSpPr/>
            <p:nvPr/>
          </p:nvGrpSpPr>
          <p:grpSpPr>
            <a:xfrm>
              <a:off x="5854223" y="2398718"/>
              <a:ext cx="230514" cy="466725"/>
              <a:chOff x="4140" y="429"/>
              <a:chExt cx="1425" cy="2396"/>
            </a:xfrm>
          </p:grpSpPr>
          <p:sp>
            <p:nvSpPr>
              <p:cNvPr id="1272" name="Google Shape;1272;p1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73" name="Google Shape;1273;p19"/>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74" name="Google Shape;1274;p1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75" name="Google Shape;1275;p1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76" name="Google Shape;1276;p19"/>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277" name="Google Shape;1277;p19"/>
              <p:cNvGrpSpPr/>
              <p:nvPr/>
            </p:nvGrpSpPr>
            <p:grpSpPr>
              <a:xfrm>
                <a:off x="4751" y="667"/>
                <a:ext cx="580" cy="146"/>
                <a:chOff x="617" y="2567"/>
                <a:chExt cx="724" cy="140"/>
              </a:xfrm>
            </p:grpSpPr>
            <p:sp>
              <p:nvSpPr>
                <p:cNvPr id="1278" name="Google Shape;1278;p19"/>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79" name="Google Shape;1279;p19"/>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80" name="Google Shape;1280;p19"/>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281" name="Google Shape;1281;p19"/>
              <p:cNvGrpSpPr/>
              <p:nvPr/>
            </p:nvGrpSpPr>
            <p:grpSpPr>
              <a:xfrm>
                <a:off x="4745" y="996"/>
                <a:ext cx="580" cy="156"/>
                <a:chOff x="612" y="2570"/>
                <a:chExt cx="724" cy="162"/>
              </a:xfrm>
            </p:grpSpPr>
            <p:sp>
              <p:nvSpPr>
                <p:cNvPr id="1282" name="Google Shape;1282;p19"/>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83" name="Google Shape;1283;p19"/>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84" name="Google Shape;1284;p19"/>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85" name="Google Shape;1285;p19"/>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286" name="Google Shape;1286;p19"/>
              <p:cNvGrpSpPr/>
              <p:nvPr/>
            </p:nvGrpSpPr>
            <p:grpSpPr>
              <a:xfrm>
                <a:off x="4733" y="1627"/>
                <a:ext cx="586" cy="151"/>
                <a:chOff x="611" y="2568"/>
                <a:chExt cx="730" cy="139"/>
              </a:xfrm>
            </p:grpSpPr>
            <p:sp>
              <p:nvSpPr>
                <p:cNvPr id="1287" name="Google Shape;1287;p19"/>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88" name="Google Shape;1288;p19"/>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89" name="Google Shape;1289;p1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290" name="Google Shape;1290;p19"/>
              <p:cNvGrpSpPr/>
              <p:nvPr/>
            </p:nvGrpSpPr>
            <p:grpSpPr>
              <a:xfrm>
                <a:off x="4739" y="1325"/>
                <a:ext cx="580" cy="140"/>
                <a:chOff x="614" y="2566"/>
                <a:chExt cx="723" cy="140"/>
              </a:xfrm>
            </p:grpSpPr>
            <p:sp>
              <p:nvSpPr>
                <p:cNvPr id="1291" name="Google Shape;1291;p19"/>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92" name="Google Shape;1292;p19"/>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93" name="Google Shape;1293;p19"/>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94" name="Google Shape;1294;p1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95" name="Google Shape;1295;p1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96" name="Google Shape;1296;p19"/>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97" name="Google Shape;1297;p1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98" name="Google Shape;1298;p19"/>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99" name="Google Shape;1299;p19"/>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00" name="Google Shape;1300;p19"/>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01" name="Google Shape;1301;p19"/>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302" name="Google Shape;1302;p19"/>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03" name="Google Shape;1303;p19"/>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304" name="Google Shape;1304;p19"/>
            <p:cNvGrpSpPr/>
            <p:nvPr/>
          </p:nvGrpSpPr>
          <p:grpSpPr>
            <a:xfrm>
              <a:off x="2669417" y="3423937"/>
              <a:ext cx="2003932" cy="369332"/>
              <a:chOff x="7504363" y="3141846"/>
              <a:chExt cx="2003932" cy="369332"/>
            </a:xfrm>
          </p:grpSpPr>
          <p:grpSp>
            <p:nvGrpSpPr>
              <p:cNvPr id="1305" name="Google Shape;1305;p19"/>
              <p:cNvGrpSpPr/>
              <p:nvPr/>
            </p:nvGrpSpPr>
            <p:grpSpPr>
              <a:xfrm>
                <a:off x="7504363" y="3183676"/>
                <a:ext cx="2003932" cy="306163"/>
                <a:chOff x="1616358" y="2551230"/>
                <a:chExt cx="2141698" cy="218510"/>
              </a:xfrm>
            </p:grpSpPr>
            <p:sp>
              <p:nvSpPr>
                <p:cNvPr id="1306" name="Google Shape;1306;p19"/>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07" name="Google Shape;1307;p19"/>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08" name="Google Shape;1308;p19"/>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09" name="Google Shape;1309;p19"/>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310" name="Google Shape;1310;p19"/>
              <p:cNvSpPr txBox="1"/>
              <p:nvPr/>
            </p:nvSpPr>
            <p:spPr>
              <a:xfrm>
                <a:off x="7695752" y="3141846"/>
                <a:ext cx="167885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reliable channel</a:t>
                </a:r>
                <a:endParaRPr/>
              </a:p>
            </p:txBody>
          </p:sp>
        </p:grpSp>
        <p:cxnSp>
          <p:nvCxnSpPr>
            <p:cNvPr id="1311" name="Google Shape;1311;p19"/>
            <p:cNvCxnSpPr/>
            <p:nvPr/>
          </p:nvCxnSpPr>
          <p:spPr>
            <a:xfrm>
              <a:off x="1082232"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1312" name="Google Shape;1312;p19"/>
            <p:cNvSpPr/>
            <p:nvPr/>
          </p:nvSpPr>
          <p:spPr>
            <a:xfrm rot="5400000">
              <a:off x="2152182" y="3067004"/>
              <a:ext cx="462111" cy="773811"/>
            </a:xfrm>
            <a:prstGeom prst="bentUpArrow">
              <a:avLst>
                <a:gd fmla="val 7999" name="adj1"/>
                <a:gd fmla="val 16334" name="adj2"/>
                <a:gd fmla="val 2138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313" name="Google Shape;1313;p19"/>
            <p:cNvCxnSpPr/>
            <p:nvPr/>
          </p:nvCxnSpPr>
          <p:spPr>
            <a:xfrm>
              <a:off x="4645151"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1314" name="Google Shape;1314;p19"/>
            <p:cNvSpPr txBox="1"/>
            <p:nvPr/>
          </p:nvSpPr>
          <p:spPr>
            <a:xfrm>
              <a:off x="737513" y="3044385"/>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1315" name="Google Shape;1315;p19"/>
            <p:cNvSpPr txBox="1"/>
            <p:nvPr/>
          </p:nvSpPr>
          <p:spPr>
            <a:xfrm>
              <a:off x="828116" y="3272133"/>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1316" name="Google Shape;1316;p19"/>
            <p:cNvSpPr txBox="1"/>
            <p:nvPr/>
          </p:nvSpPr>
          <p:spPr>
            <a:xfrm flipH="1">
              <a:off x="1817207" y="4010900"/>
              <a:ext cx="40256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000000"/>
                  </a:solidFill>
                  <a:latin typeface="Calibri"/>
                  <a:ea typeface="Calibri"/>
                  <a:cs typeface="Calibri"/>
                  <a:sym typeface="Calibri"/>
                </a:rPr>
                <a:t>abstraction</a:t>
              </a:r>
              <a:endParaRPr/>
            </a:p>
          </p:txBody>
        </p:sp>
      </p:grpSp>
      <p:sp>
        <p:nvSpPr>
          <p:cNvPr id="1317" name="Google Shape;1317;p19"/>
          <p:cNvSpPr/>
          <p:nvPr/>
        </p:nvSpPr>
        <p:spPr>
          <a:xfrm>
            <a:off x="295893" y="1816276"/>
            <a:ext cx="5265664" cy="2394608"/>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18" name="Google Shape;1318;p19"/>
          <p:cNvSpPr/>
          <p:nvPr/>
        </p:nvSpPr>
        <p:spPr>
          <a:xfrm>
            <a:off x="5448822" y="3106456"/>
            <a:ext cx="638827" cy="1014608"/>
          </a:xfrm>
          <a:prstGeom prst="rightArrow">
            <a:avLst>
              <a:gd fmla="val 50000" name="adj1"/>
              <a:gd fmla="val 50000" name="adj2"/>
            </a:avLst>
          </a:prstGeom>
          <a:gradFill>
            <a:gsLst>
              <a:gs pos="0">
                <a:srgbClr val="F5F7FC"/>
              </a:gs>
              <a:gs pos="56000">
                <a:srgbClr val="C00000"/>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19" name="Google Shape;1319;p19"/>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20" name="Google Shape;1320;p19"/>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21" name="Google Shape;1321;p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18"/>
                                        </p:tgtEl>
                                        <p:attrNameLst>
                                          <p:attrName>style.visibility</p:attrName>
                                        </p:attrNameLst>
                                      </p:cBhvr>
                                      <p:to>
                                        <p:strVal val="visible"/>
                                      </p:to>
                                    </p:set>
                                    <p:animEffect filter="fade" transition="in">
                                      <p:cBhvr>
                                        <p:cTn dur="500"/>
                                        <p:tgtEl>
                                          <p:spTgt spid="131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78"/>
                                        </p:tgtEl>
                                        <p:attrNameLst>
                                          <p:attrName>style.visibility</p:attrName>
                                        </p:attrNameLst>
                                      </p:cBhvr>
                                      <p:to>
                                        <p:strVal val="visible"/>
                                      </p:to>
                                    </p:set>
                                    <p:animEffect filter="fade" transition="in">
                                      <p:cBhvr>
                                        <p:cTn dur="1000"/>
                                        <p:tgtEl>
                                          <p:spTgt spid="1178"/>
                                        </p:tgtEl>
                                      </p:cBhvr>
                                    </p:animEffec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1318"/>
                                        </p:tgtEl>
                                      </p:cBhvr>
                                    </p:animEffect>
                                    <p:set>
                                      <p:cBhvr>
                                        <p:cTn dur="1" fill="hold">
                                          <p:stCondLst>
                                            <p:cond delay="500"/>
                                          </p:stCondLst>
                                        </p:cTn>
                                        <p:tgtEl>
                                          <p:spTgt spid="131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9"/>
                                        </p:tgtEl>
                                        <p:attrNameLst>
                                          <p:attrName>style.visibility</p:attrName>
                                        </p:attrNameLst>
                                      </p:cBhvr>
                                      <p:to>
                                        <p:strVal val="visible"/>
                                      </p:to>
                                    </p:set>
                                    <p:animEffect filter="fade" transition="in">
                                      <p:cBhvr>
                                        <p:cTn dur="500"/>
                                        <p:tgtEl>
                                          <p:spTgt spid="1319"/>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1320"/>
                                        </p:tgtEl>
                                        <p:attrNameLst>
                                          <p:attrName>style.visibility</p:attrName>
                                        </p:attrNameLst>
                                      </p:cBhvr>
                                      <p:to>
                                        <p:strVal val="visible"/>
                                      </p:to>
                                    </p:set>
                                    <p:animEffect filter="fade" transition="in">
                                      <p:cBhvr>
                                        <p:cTn dur="500"/>
                                        <p:tgtEl>
                                          <p:spTgt spid="13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6" name="Shape 1326"/>
        <p:cNvGrpSpPr/>
        <p:nvPr/>
      </p:nvGrpSpPr>
      <p:grpSpPr>
        <a:xfrm>
          <a:off x="0" y="0"/>
          <a:ext cx="0" cy="0"/>
          <a:chOff x="0" y="0"/>
          <a:chExt cx="0" cy="0"/>
        </a:xfrm>
      </p:grpSpPr>
      <p:sp>
        <p:nvSpPr>
          <p:cNvPr id="1327" name="Google Shape;1327;p2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1328" name="Google Shape;1328;p20"/>
          <p:cNvGrpSpPr/>
          <p:nvPr/>
        </p:nvGrpSpPr>
        <p:grpSpPr>
          <a:xfrm>
            <a:off x="6226081" y="1900904"/>
            <a:ext cx="5598584" cy="4095684"/>
            <a:chOff x="6226081" y="2364366"/>
            <a:chExt cx="5598584" cy="4095684"/>
          </a:xfrm>
        </p:grpSpPr>
        <p:grpSp>
          <p:nvGrpSpPr>
            <p:cNvPr id="1329" name="Google Shape;1329;p20"/>
            <p:cNvGrpSpPr/>
            <p:nvPr/>
          </p:nvGrpSpPr>
          <p:grpSpPr>
            <a:xfrm>
              <a:off x="6944646" y="2545250"/>
              <a:ext cx="1245036" cy="593992"/>
              <a:chOff x="9852456" y="608434"/>
              <a:chExt cx="1245036" cy="593992"/>
            </a:xfrm>
          </p:grpSpPr>
          <p:sp>
            <p:nvSpPr>
              <p:cNvPr id="1330" name="Google Shape;1330;p20"/>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331" name="Google Shape;1331;p20"/>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1332" name="Google Shape;1332;p20"/>
            <p:cNvGrpSpPr/>
            <p:nvPr/>
          </p:nvGrpSpPr>
          <p:grpSpPr>
            <a:xfrm>
              <a:off x="7541116" y="2997281"/>
              <a:ext cx="577241" cy="338554"/>
              <a:chOff x="9950444" y="999755"/>
              <a:chExt cx="577241" cy="338554"/>
            </a:xfrm>
          </p:grpSpPr>
          <p:sp>
            <p:nvSpPr>
              <p:cNvPr id="1333" name="Google Shape;1333;p20"/>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34" name="Google Shape;1334;p20"/>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335" name="Google Shape;1335;p20"/>
            <p:cNvGrpSpPr/>
            <p:nvPr/>
          </p:nvGrpSpPr>
          <p:grpSpPr>
            <a:xfrm>
              <a:off x="6677899" y="2425781"/>
              <a:ext cx="545509" cy="512284"/>
              <a:chOff x="-44" y="1473"/>
              <a:chExt cx="981" cy="1105"/>
            </a:xfrm>
          </p:grpSpPr>
          <p:pic>
            <p:nvPicPr>
              <p:cNvPr descr="desktop_computer_stylized_medium" id="1336" name="Google Shape;1336;p2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337" name="Google Shape;1337;p2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338" name="Google Shape;1338;p20"/>
            <p:cNvGrpSpPr/>
            <p:nvPr/>
          </p:nvGrpSpPr>
          <p:grpSpPr>
            <a:xfrm>
              <a:off x="10189724" y="2496350"/>
              <a:ext cx="1245036" cy="593992"/>
              <a:chOff x="9852456" y="608434"/>
              <a:chExt cx="1245036" cy="593992"/>
            </a:xfrm>
          </p:grpSpPr>
          <p:sp>
            <p:nvSpPr>
              <p:cNvPr id="1339" name="Google Shape;1339;p20"/>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340" name="Google Shape;1340;p20"/>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1341" name="Google Shape;1341;p20"/>
            <p:cNvGrpSpPr/>
            <p:nvPr/>
          </p:nvGrpSpPr>
          <p:grpSpPr>
            <a:xfrm>
              <a:off x="10248853" y="2969571"/>
              <a:ext cx="577241" cy="338554"/>
              <a:chOff x="9678159" y="981583"/>
              <a:chExt cx="577241" cy="338554"/>
            </a:xfrm>
          </p:grpSpPr>
          <p:sp>
            <p:nvSpPr>
              <p:cNvPr id="1342" name="Google Shape;1342;p20"/>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43" name="Google Shape;1343;p20"/>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344" name="Google Shape;1344;p20"/>
            <p:cNvGrpSpPr/>
            <p:nvPr/>
          </p:nvGrpSpPr>
          <p:grpSpPr>
            <a:xfrm>
              <a:off x="11287371" y="2364366"/>
              <a:ext cx="230514" cy="466725"/>
              <a:chOff x="4140" y="429"/>
              <a:chExt cx="1425" cy="2396"/>
            </a:xfrm>
          </p:grpSpPr>
          <p:sp>
            <p:nvSpPr>
              <p:cNvPr id="1345" name="Google Shape;1345;p2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46" name="Google Shape;1346;p20"/>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47" name="Google Shape;1347;p2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48" name="Google Shape;1348;p2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49" name="Google Shape;1349;p20"/>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350" name="Google Shape;1350;p20"/>
              <p:cNvGrpSpPr/>
              <p:nvPr/>
            </p:nvGrpSpPr>
            <p:grpSpPr>
              <a:xfrm>
                <a:off x="4751" y="667"/>
                <a:ext cx="580" cy="146"/>
                <a:chOff x="617" y="2567"/>
                <a:chExt cx="724" cy="140"/>
              </a:xfrm>
            </p:grpSpPr>
            <p:sp>
              <p:nvSpPr>
                <p:cNvPr id="1351" name="Google Shape;1351;p20"/>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52" name="Google Shape;1352;p20"/>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353" name="Google Shape;1353;p20"/>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354" name="Google Shape;1354;p20"/>
              <p:cNvGrpSpPr/>
              <p:nvPr/>
            </p:nvGrpSpPr>
            <p:grpSpPr>
              <a:xfrm>
                <a:off x="4745" y="996"/>
                <a:ext cx="580" cy="156"/>
                <a:chOff x="612" y="2570"/>
                <a:chExt cx="724" cy="162"/>
              </a:xfrm>
            </p:grpSpPr>
            <p:sp>
              <p:nvSpPr>
                <p:cNvPr id="1355" name="Google Shape;1355;p20"/>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56" name="Google Shape;1356;p20"/>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357" name="Google Shape;1357;p20"/>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58" name="Google Shape;1358;p20"/>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359" name="Google Shape;1359;p20"/>
              <p:cNvGrpSpPr/>
              <p:nvPr/>
            </p:nvGrpSpPr>
            <p:grpSpPr>
              <a:xfrm>
                <a:off x="4733" y="1627"/>
                <a:ext cx="586" cy="151"/>
                <a:chOff x="611" y="2568"/>
                <a:chExt cx="730" cy="139"/>
              </a:xfrm>
            </p:grpSpPr>
            <p:sp>
              <p:nvSpPr>
                <p:cNvPr id="1360" name="Google Shape;1360;p20"/>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61" name="Google Shape;1361;p20"/>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362" name="Google Shape;1362;p2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363" name="Google Shape;1363;p20"/>
              <p:cNvGrpSpPr/>
              <p:nvPr/>
            </p:nvGrpSpPr>
            <p:grpSpPr>
              <a:xfrm>
                <a:off x="4739" y="1325"/>
                <a:ext cx="580" cy="140"/>
                <a:chOff x="614" y="2566"/>
                <a:chExt cx="723" cy="140"/>
              </a:xfrm>
            </p:grpSpPr>
            <p:sp>
              <p:nvSpPr>
                <p:cNvPr id="1364" name="Google Shape;1364;p20"/>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65" name="Google Shape;1365;p20"/>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366" name="Google Shape;1366;p20"/>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67" name="Google Shape;1367;p2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68" name="Google Shape;1368;p2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69" name="Google Shape;1369;p20"/>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70" name="Google Shape;1370;p2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71" name="Google Shape;1371;p20"/>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72" name="Google Shape;1372;p20"/>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73" name="Google Shape;1373;p20"/>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74" name="Google Shape;1374;p20"/>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375" name="Google Shape;1375;p20"/>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76" name="Google Shape;1376;p20"/>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1377" name="Google Shape;1377;p20"/>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1378" name="Google Shape;1378;p20"/>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1379" name="Google Shape;1379;p20"/>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1380" name="Google Shape;1380;p20"/>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1381" name="Google Shape;1381;p20"/>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1382" name="Google Shape;1382;p20"/>
            <p:cNvGrpSpPr/>
            <p:nvPr/>
          </p:nvGrpSpPr>
          <p:grpSpPr>
            <a:xfrm>
              <a:off x="6573835" y="5301907"/>
              <a:ext cx="5250830" cy="481581"/>
              <a:chOff x="6737055" y="3471301"/>
              <a:chExt cx="5250830" cy="481581"/>
            </a:xfrm>
          </p:grpSpPr>
          <p:grpSp>
            <p:nvGrpSpPr>
              <p:cNvPr id="1383" name="Google Shape;1383;p20"/>
              <p:cNvGrpSpPr/>
              <p:nvPr/>
            </p:nvGrpSpPr>
            <p:grpSpPr>
              <a:xfrm>
                <a:off x="8324240" y="3583550"/>
                <a:ext cx="2044628" cy="369332"/>
                <a:chOff x="7504363" y="3155701"/>
                <a:chExt cx="2044628" cy="369332"/>
              </a:xfrm>
            </p:grpSpPr>
            <p:grpSp>
              <p:nvGrpSpPr>
                <p:cNvPr id="1384" name="Google Shape;1384;p20"/>
                <p:cNvGrpSpPr/>
                <p:nvPr/>
              </p:nvGrpSpPr>
              <p:grpSpPr>
                <a:xfrm>
                  <a:off x="7504363" y="3183676"/>
                  <a:ext cx="2003932" cy="306163"/>
                  <a:chOff x="1616358" y="2551230"/>
                  <a:chExt cx="2141698" cy="218510"/>
                </a:xfrm>
              </p:grpSpPr>
              <p:sp>
                <p:nvSpPr>
                  <p:cNvPr id="1385" name="Google Shape;1385;p20"/>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86" name="Google Shape;1386;p20"/>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87" name="Google Shape;1387;p20"/>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88" name="Google Shape;1388;p20"/>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389" name="Google Shape;1389;p20"/>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1390" name="Google Shape;1390;p20"/>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1391" name="Google Shape;1391;p20"/>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1392" name="Google Shape;1392;p20"/>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1393" name="Google Shape;1393;p20"/>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1394" name="Google Shape;1394;p20"/>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1395" name="Google Shape;1395;p20"/>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1396" name="Google Shape;1396;p20"/>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1397" name="Google Shape;1397;p20"/>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1398" name="Google Shape;1398;p20"/>
            <p:cNvGrpSpPr/>
            <p:nvPr/>
          </p:nvGrpSpPr>
          <p:grpSpPr>
            <a:xfrm>
              <a:off x="7535361" y="5023850"/>
              <a:ext cx="632009" cy="632009"/>
              <a:chOff x="7408199" y="4955748"/>
              <a:chExt cx="632009" cy="632009"/>
            </a:xfrm>
          </p:grpSpPr>
          <p:cxnSp>
            <p:nvCxnSpPr>
              <p:cNvPr id="1399" name="Google Shape;1399;p20"/>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1400" name="Google Shape;1400;p20"/>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1401" name="Google Shape;1401;p20"/>
            <p:cNvGrpSpPr/>
            <p:nvPr/>
          </p:nvGrpSpPr>
          <p:grpSpPr>
            <a:xfrm rot="-5400000">
              <a:off x="10248530" y="5019008"/>
              <a:ext cx="632009" cy="632009"/>
              <a:chOff x="7408199" y="4948974"/>
              <a:chExt cx="632009" cy="632009"/>
            </a:xfrm>
          </p:grpSpPr>
          <p:cxnSp>
            <p:nvCxnSpPr>
              <p:cNvPr id="1402" name="Google Shape;1402;p20"/>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1403" name="Google Shape;1403;p20"/>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1404" name="Google Shape;1404;p20"/>
          <p:cNvGrpSpPr/>
          <p:nvPr/>
        </p:nvGrpSpPr>
        <p:grpSpPr>
          <a:xfrm>
            <a:off x="995688" y="3550466"/>
            <a:ext cx="9016751" cy="2246769"/>
            <a:chOff x="995688" y="4013928"/>
            <a:chExt cx="9016751" cy="2246769"/>
          </a:xfrm>
        </p:grpSpPr>
        <p:sp>
          <p:nvSpPr>
            <p:cNvPr id="1405" name="Google Shape;1405;p20"/>
            <p:cNvSpPr txBox="1"/>
            <p:nvPr/>
          </p:nvSpPr>
          <p:spPr>
            <a:xfrm>
              <a:off x="995688" y="4013928"/>
              <a:ext cx="4815357" cy="224676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Complexity of reliable data transfer protocol  will depend (strongly) on characteristics of unreliable channel (lose, corrupt, reorder data?)</a:t>
              </a:r>
              <a:endParaRPr/>
            </a:p>
          </p:txBody>
        </p:sp>
        <p:cxnSp>
          <p:nvCxnSpPr>
            <p:cNvPr id="1406" name="Google Shape;1406;p20"/>
            <p:cNvCxnSpPr/>
            <p:nvPr/>
          </p:nvCxnSpPr>
          <p:spPr>
            <a:xfrm flipH="1">
              <a:off x="5799610" y="4167212"/>
              <a:ext cx="1091351" cy="1001120"/>
            </a:xfrm>
            <a:prstGeom prst="straightConnector1">
              <a:avLst/>
            </a:prstGeom>
            <a:noFill/>
            <a:ln cap="flat" cmpd="sng" w="9525">
              <a:solidFill>
                <a:srgbClr val="FF0000"/>
              </a:solidFill>
              <a:prstDash val="solid"/>
              <a:miter lim="800000"/>
              <a:headEnd len="sm" w="sm" type="none"/>
              <a:tailEnd len="sm" w="sm" type="none"/>
            </a:ln>
          </p:spPr>
        </p:cxnSp>
        <p:cxnSp>
          <p:nvCxnSpPr>
            <p:cNvPr id="1407" name="Google Shape;1407;p20"/>
            <p:cNvCxnSpPr/>
            <p:nvPr/>
          </p:nvCxnSpPr>
          <p:spPr>
            <a:xfrm flipH="1">
              <a:off x="5800941" y="4291381"/>
              <a:ext cx="4211498" cy="886357"/>
            </a:xfrm>
            <a:prstGeom prst="straightConnector1">
              <a:avLst/>
            </a:prstGeom>
            <a:noFill/>
            <a:ln cap="flat" cmpd="sng" w="9525">
              <a:solidFill>
                <a:srgbClr val="FF0000"/>
              </a:solidFill>
              <a:prstDash val="solid"/>
              <a:miter lim="800000"/>
              <a:headEnd len="sm" w="sm" type="none"/>
              <a:tailEnd len="sm" w="sm" type="none"/>
            </a:ln>
          </p:spPr>
        </p:cxnSp>
      </p:grpSp>
      <p:sp>
        <p:nvSpPr>
          <p:cNvPr id="1408" name="Google Shape;1408;p20"/>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09" name="Google Shape;1409;p20"/>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10" name="Google Shape;1410;p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4"/>
                                        </p:tgtEl>
                                        <p:attrNameLst>
                                          <p:attrName>style.visibility</p:attrName>
                                        </p:attrNameLst>
                                      </p:cBhvr>
                                      <p:to>
                                        <p:strVal val="visible"/>
                                      </p:to>
                                    </p:set>
                                    <p:animEffect filter="fade" transition="in">
                                      <p:cBhvr>
                                        <p:cTn dur="1000"/>
                                        <p:tgtEl>
                                          <p:spTgt spid="14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5" name="Shape 1415"/>
        <p:cNvGrpSpPr/>
        <p:nvPr/>
      </p:nvGrpSpPr>
      <p:grpSpPr>
        <a:xfrm>
          <a:off x="0" y="0"/>
          <a:ext cx="0" cy="0"/>
          <a:chOff x="0" y="0"/>
          <a:chExt cx="0" cy="0"/>
        </a:xfrm>
      </p:grpSpPr>
      <p:sp>
        <p:nvSpPr>
          <p:cNvPr id="1416" name="Google Shape;1416;p2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1417" name="Google Shape;1417;p21"/>
          <p:cNvGrpSpPr/>
          <p:nvPr/>
        </p:nvGrpSpPr>
        <p:grpSpPr>
          <a:xfrm>
            <a:off x="6226081" y="1900904"/>
            <a:ext cx="5598584" cy="4095684"/>
            <a:chOff x="6226081" y="2364366"/>
            <a:chExt cx="5598584" cy="4095684"/>
          </a:xfrm>
        </p:grpSpPr>
        <p:grpSp>
          <p:nvGrpSpPr>
            <p:cNvPr id="1418" name="Google Shape;1418;p21"/>
            <p:cNvGrpSpPr/>
            <p:nvPr/>
          </p:nvGrpSpPr>
          <p:grpSpPr>
            <a:xfrm>
              <a:off x="6944646" y="2545250"/>
              <a:ext cx="1245036" cy="593992"/>
              <a:chOff x="9852456" y="608434"/>
              <a:chExt cx="1245036" cy="593992"/>
            </a:xfrm>
          </p:grpSpPr>
          <p:sp>
            <p:nvSpPr>
              <p:cNvPr id="1419" name="Google Shape;1419;p21"/>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420" name="Google Shape;1420;p21"/>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1421" name="Google Shape;1421;p21"/>
            <p:cNvGrpSpPr/>
            <p:nvPr/>
          </p:nvGrpSpPr>
          <p:grpSpPr>
            <a:xfrm>
              <a:off x="7541116" y="2997281"/>
              <a:ext cx="577241" cy="338554"/>
              <a:chOff x="9950444" y="999755"/>
              <a:chExt cx="577241" cy="338554"/>
            </a:xfrm>
          </p:grpSpPr>
          <p:sp>
            <p:nvSpPr>
              <p:cNvPr id="1422" name="Google Shape;1422;p21"/>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23" name="Google Shape;1423;p21"/>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424" name="Google Shape;1424;p21"/>
            <p:cNvGrpSpPr/>
            <p:nvPr/>
          </p:nvGrpSpPr>
          <p:grpSpPr>
            <a:xfrm>
              <a:off x="6677899" y="2425781"/>
              <a:ext cx="545509" cy="512284"/>
              <a:chOff x="-44" y="1473"/>
              <a:chExt cx="981" cy="1105"/>
            </a:xfrm>
          </p:grpSpPr>
          <p:pic>
            <p:nvPicPr>
              <p:cNvPr descr="desktop_computer_stylized_medium" id="1425" name="Google Shape;1425;p2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426" name="Google Shape;1426;p2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427" name="Google Shape;1427;p21"/>
            <p:cNvGrpSpPr/>
            <p:nvPr/>
          </p:nvGrpSpPr>
          <p:grpSpPr>
            <a:xfrm>
              <a:off x="10189724" y="2496350"/>
              <a:ext cx="1245036" cy="593992"/>
              <a:chOff x="9852456" y="608434"/>
              <a:chExt cx="1245036" cy="593992"/>
            </a:xfrm>
          </p:grpSpPr>
          <p:sp>
            <p:nvSpPr>
              <p:cNvPr id="1428" name="Google Shape;1428;p21"/>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429" name="Google Shape;1429;p21"/>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1430" name="Google Shape;1430;p21"/>
            <p:cNvGrpSpPr/>
            <p:nvPr/>
          </p:nvGrpSpPr>
          <p:grpSpPr>
            <a:xfrm>
              <a:off x="10248853" y="2969571"/>
              <a:ext cx="577241" cy="338554"/>
              <a:chOff x="9678159" y="981583"/>
              <a:chExt cx="577241" cy="338554"/>
            </a:xfrm>
          </p:grpSpPr>
          <p:sp>
            <p:nvSpPr>
              <p:cNvPr id="1431" name="Google Shape;1431;p21"/>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32" name="Google Shape;1432;p21"/>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433" name="Google Shape;1433;p21"/>
            <p:cNvGrpSpPr/>
            <p:nvPr/>
          </p:nvGrpSpPr>
          <p:grpSpPr>
            <a:xfrm>
              <a:off x="11287371" y="2364366"/>
              <a:ext cx="230514" cy="466725"/>
              <a:chOff x="4140" y="429"/>
              <a:chExt cx="1425" cy="2396"/>
            </a:xfrm>
          </p:grpSpPr>
          <p:sp>
            <p:nvSpPr>
              <p:cNvPr id="1434" name="Google Shape;1434;p2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35" name="Google Shape;1435;p21"/>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36" name="Google Shape;1436;p2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37" name="Google Shape;1437;p2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38" name="Google Shape;1438;p21"/>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439" name="Google Shape;1439;p21"/>
              <p:cNvGrpSpPr/>
              <p:nvPr/>
            </p:nvGrpSpPr>
            <p:grpSpPr>
              <a:xfrm>
                <a:off x="4751" y="667"/>
                <a:ext cx="580" cy="146"/>
                <a:chOff x="617" y="2567"/>
                <a:chExt cx="724" cy="140"/>
              </a:xfrm>
            </p:grpSpPr>
            <p:sp>
              <p:nvSpPr>
                <p:cNvPr id="1440" name="Google Shape;1440;p21"/>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41" name="Google Shape;1441;p21"/>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442" name="Google Shape;1442;p21"/>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443" name="Google Shape;1443;p21"/>
              <p:cNvGrpSpPr/>
              <p:nvPr/>
            </p:nvGrpSpPr>
            <p:grpSpPr>
              <a:xfrm>
                <a:off x="4745" y="996"/>
                <a:ext cx="580" cy="156"/>
                <a:chOff x="612" y="2570"/>
                <a:chExt cx="724" cy="162"/>
              </a:xfrm>
            </p:grpSpPr>
            <p:sp>
              <p:nvSpPr>
                <p:cNvPr id="1444" name="Google Shape;1444;p21"/>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45" name="Google Shape;1445;p21"/>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446" name="Google Shape;1446;p21"/>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47" name="Google Shape;1447;p21"/>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448" name="Google Shape;1448;p21"/>
              <p:cNvGrpSpPr/>
              <p:nvPr/>
            </p:nvGrpSpPr>
            <p:grpSpPr>
              <a:xfrm>
                <a:off x="4733" y="1627"/>
                <a:ext cx="586" cy="151"/>
                <a:chOff x="611" y="2568"/>
                <a:chExt cx="730" cy="139"/>
              </a:xfrm>
            </p:grpSpPr>
            <p:sp>
              <p:nvSpPr>
                <p:cNvPr id="1449" name="Google Shape;1449;p21"/>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50" name="Google Shape;1450;p21"/>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451" name="Google Shape;1451;p2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452" name="Google Shape;1452;p21"/>
              <p:cNvGrpSpPr/>
              <p:nvPr/>
            </p:nvGrpSpPr>
            <p:grpSpPr>
              <a:xfrm>
                <a:off x="4739" y="1325"/>
                <a:ext cx="580" cy="140"/>
                <a:chOff x="614" y="2566"/>
                <a:chExt cx="723" cy="140"/>
              </a:xfrm>
            </p:grpSpPr>
            <p:sp>
              <p:nvSpPr>
                <p:cNvPr id="1453" name="Google Shape;1453;p21"/>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54" name="Google Shape;1454;p21"/>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455" name="Google Shape;1455;p21"/>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56" name="Google Shape;1456;p2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57" name="Google Shape;1457;p2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58" name="Google Shape;1458;p21"/>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59" name="Google Shape;1459;p2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60" name="Google Shape;1460;p21"/>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61" name="Google Shape;1461;p21"/>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62" name="Google Shape;1462;p21"/>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63" name="Google Shape;1463;p21"/>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464" name="Google Shape;1464;p21"/>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65" name="Google Shape;1465;p21"/>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1466" name="Google Shape;1466;p21"/>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1467" name="Google Shape;1467;p21"/>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1468" name="Google Shape;1468;p21"/>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1469" name="Google Shape;1469;p21"/>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1470" name="Google Shape;1470;p21"/>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1471" name="Google Shape;1471;p21"/>
            <p:cNvGrpSpPr/>
            <p:nvPr/>
          </p:nvGrpSpPr>
          <p:grpSpPr>
            <a:xfrm>
              <a:off x="6573835" y="5301907"/>
              <a:ext cx="5250830" cy="481581"/>
              <a:chOff x="6737055" y="3471301"/>
              <a:chExt cx="5250830" cy="481581"/>
            </a:xfrm>
          </p:grpSpPr>
          <p:grpSp>
            <p:nvGrpSpPr>
              <p:cNvPr id="1472" name="Google Shape;1472;p21"/>
              <p:cNvGrpSpPr/>
              <p:nvPr/>
            </p:nvGrpSpPr>
            <p:grpSpPr>
              <a:xfrm>
                <a:off x="8324240" y="3583550"/>
                <a:ext cx="2044628" cy="369332"/>
                <a:chOff x="7504363" y="3155701"/>
                <a:chExt cx="2044628" cy="369332"/>
              </a:xfrm>
            </p:grpSpPr>
            <p:grpSp>
              <p:nvGrpSpPr>
                <p:cNvPr id="1473" name="Google Shape;1473;p21"/>
                <p:cNvGrpSpPr/>
                <p:nvPr/>
              </p:nvGrpSpPr>
              <p:grpSpPr>
                <a:xfrm>
                  <a:off x="7504363" y="3183676"/>
                  <a:ext cx="2003932" cy="306163"/>
                  <a:chOff x="1616358" y="2551230"/>
                  <a:chExt cx="2141698" cy="218510"/>
                </a:xfrm>
              </p:grpSpPr>
              <p:sp>
                <p:nvSpPr>
                  <p:cNvPr id="1474" name="Google Shape;1474;p21"/>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75" name="Google Shape;1475;p21"/>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76" name="Google Shape;1476;p21"/>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77" name="Google Shape;1477;p21"/>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478" name="Google Shape;1478;p21"/>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1479" name="Google Shape;1479;p21"/>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1480" name="Google Shape;1480;p21"/>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1481" name="Google Shape;1481;p21"/>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1482" name="Google Shape;1482;p21"/>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1483" name="Google Shape;1483;p21"/>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1484" name="Google Shape;1484;p21"/>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1485" name="Google Shape;1485;p21"/>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1486" name="Google Shape;1486;p21"/>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1487" name="Google Shape;1487;p21"/>
            <p:cNvGrpSpPr/>
            <p:nvPr/>
          </p:nvGrpSpPr>
          <p:grpSpPr>
            <a:xfrm>
              <a:off x="7535361" y="5023850"/>
              <a:ext cx="632009" cy="632009"/>
              <a:chOff x="7408199" y="4955748"/>
              <a:chExt cx="632009" cy="632009"/>
            </a:xfrm>
          </p:grpSpPr>
          <p:cxnSp>
            <p:nvCxnSpPr>
              <p:cNvPr id="1488" name="Google Shape;1488;p21"/>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1489" name="Google Shape;1489;p21"/>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1490" name="Google Shape;1490;p21"/>
            <p:cNvGrpSpPr/>
            <p:nvPr/>
          </p:nvGrpSpPr>
          <p:grpSpPr>
            <a:xfrm rot="-5400000">
              <a:off x="10248530" y="5019008"/>
              <a:ext cx="632009" cy="632009"/>
              <a:chOff x="7408199" y="4948974"/>
              <a:chExt cx="632009" cy="632009"/>
            </a:xfrm>
          </p:grpSpPr>
          <p:cxnSp>
            <p:nvCxnSpPr>
              <p:cNvPr id="1491" name="Google Shape;1491;p21"/>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1492" name="Google Shape;1492;p21"/>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1493" name="Google Shape;1493;p21"/>
          <p:cNvGrpSpPr/>
          <p:nvPr/>
        </p:nvGrpSpPr>
        <p:grpSpPr>
          <a:xfrm>
            <a:off x="1042183" y="3581463"/>
            <a:ext cx="8970256" cy="2246769"/>
            <a:chOff x="1042183" y="4044925"/>
            <a:chExt cx="8970256" cy="2246769"/>
          </a:xfrm>
        </p:grpSpPr>
        <p:sp>
          <p:nvSpPr>
            <p:cNvPr id="1494" name="Google Shape;1494;p21"/>
            <p:cNvSpPr txBox="1"/>
            <p:nvPr/>
          </p:nvSpPr>
          <p:spPr>
            <a:xfrm>
              <a:off x="1042183" y="4044925"/>
              <a:ext cx="4815357"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Sender, receiver do </a:t>
              </a:r>
              <a:r>
                <a:rPr b="0" i="1" lang="en-US" sz="2800" u="none" cap="none" strike="noStrike">
                  <a:solidFill>
                    <a:srgbClr val="000000"/>
                  </a:solidFill>
                  <a:latin typeface="Calibri"/>
                  <a:ea typeface="Calibri"/>
                  <a:cs typeface="Calibri"/>
                  <a:sym typeface="Calibri"/>
                </a:rPr>
                <a:t>not</a:t>
              </a:r>
              <a:r>
                <a:rPr b="0" i="0" lang="en-US" sz="2800" u="none" cap="none" strike="noStrike">
                  <a:solidFill>
                    <a:srgbClr val="000000"/>
                  </a:solidFill>
                  <a:latin typeface="Calibri"/>
                  <a:ea typeface="Calibri"/>
                  <a:cs typeface="Calibri"/>
                  <a:sym typeface="Calibri"/>
                </a:rPr>
                <a:t> know the “state” of each other, e.g., was a message received?</a:t>
              </a:r>
              <a:endParaRPr/>
            </a:p>
            <a:p>
              <a:pPr indent="-457200" lvl="0" marL="457200"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unless communicated via a message</a:t>
              </a:r>
              <a:endParaRPr/>
            </a:p>
          </p:txBody>
        </p:sp>
        <p:cxnSp>
          <p:nvCxnSpPr>
            <p:cNvPr id="1495" name="Google Shape;1495;p21"/>
            <p:cNvCxnSpPr/>
            <p:nvPr/>
          </p:nvCxnSpPr>
          <p:spPr>
            <a:xfrm flipH="1">
              <a:off x="5799610" y="4167212"/>
              <a:ext cx="1091351" cy="1001120"/>
            </a:xfrm>
            <a:prstGeom prst="straightConnector1">
              <a:avLst/>
            </a:prstGeom>
            <a:noFill/>
            <a:ln cap="flat" cmpd="sng" w="9525">
              <a:solidFill>
                <a:srgbClr val="FF0000"/>
              </a:solidFill>
              <a:prstDash val="solid"/>
              <a:miter lim="800000"/>
              <a:headEnd len="sm" w="sm" type="none"/>
              <a:tailEnd len="sm" w="sm" type="none"/>
            </a:ln>
          </p:spPr>
        </p:cxnSp>
        <p:cxnSp>
          <p:nvCxnSpPr>
            <p:cNvPr id="1496" name="Google Shape;1496;p21"/>
            <p:cNvCxnSpPr/>
            <p:nvPr/>
          </p:nvCxnSpPr>
          <p:spPr>
            <a:xfrm flipH="1">
              <a:off x="5800941" y="4291381"/>
              <a:ext cx="4211498" cy="886357"/>
            </a:xfrm>
            <a:prstGeom prst="straightConnector1">
              <a:avLst/>
            </a:prstGeom>
            <a:noFill/>
            <a:ln cap="flat" cmpd="sng" w="9525">
              <a:solidFill>
                <a:srgbClr val="FF0000"/>
              </a:solidFill>
              <a:prstDash val="solid"/>
              <a:miter lim="800000"/>
              <a:headEnd len="sm" w="sm" type="none"/>
              <a:tailEnd len="sm" w="sm" type="none"/>
            </a:ln>
          </p:spPr>
        </p:cxnSp>
      </p:grpSp>
      <p:sp>
        <p:nvSpPr>
          <p:cNvPr id="1497" name="Google Shape;1497;p21"/>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98" name="Google Shape;1498;p21"/>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A shower curtain&#10;&#10;Description automatically generated" id="1499" name="Google Shape;1499;p21"/>
          <p:cNvPicPr preferRelativeResize="0"/>
          <p:nvPr/>
        </p:nvPicPr>
        <p:blipFill rotWithShape="1">
          <a:blip r:embed="rId4">
            <a:alphaModFix/>
          </a:blip>
          <a:srcRect b="0" l="0" r="0" t="0"/>
          <a:stretch/>
        </p:blipFill>
        <p:spPr>
          <a:xfrm>
            <a:off x="8292476" y="1291955"/>
            <a:ext cx="1976012" cy="4393769"/>
          </a:xfrm>
          <a:prstGeom prst="rect">
            <a:avLst/>
          </a:prstGeom>
          <a:noFill/>
          <a:ln>
            <a:noFill/>
          </a:ln>
        </p:spPr>
      </p:pic>
      <p:pic>
        <p:nvPicPr>
          <p:cNvPr descr="A shower curtain&#10;&#10;Description automatically generated" id="1500" name="Google Shape;1500;p21"/>
          <p:cNvPicPr preferRelativeResize="0"/>
          <p:nvPr/>
        </p:nvPicPr>
        <p:blipFill rotWithShape="1">
          <a:blip r:embed="rId4">
            <a:alphaModFix/>
          </a:blip>
          <a:srcRect b="0" l="0" r="0" t="0"/>
          <a:stretch/>
        </p:blipFill>
        <p:spPr>
          <a:xfrm>
            <a:off x="8219289" y="1165171"/>
            <a:ext cx="3972711" cy="4579749"/>
          </a:xfrm>
          <a:prstGeom prst="rect">
            <a:avLst/>
          </a:prstGeom>
          <a:noFill/>
          <a:ln>
            <a:noFill/>
          </a:ln>
        </p:spPr>
      </p:pic>
      <p:sp>
        <p:nvSpPr>
          <p:cNvPr id="1501" name="Google Shape;1501;p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93"/>
                                        </p:tgtEl>
                                        <p:attrNameLst>
                                          <p:attrName>style.visibility</p:attrName>
                                        </p:attrNameLst>
                                      </p:cBhvr>
                                      <p:to>
                                        <p:strVal val="visible"/>
                                      </p:to>
                                    </p:set>
                                    <p:animEffect filter="fade" transition="in">
                                      <p:cBhvr>
                                        <p:cTn dur="1000"/>
                                        <p:tgtEl>
                                          <p:spTgt spid="14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9"/>
                                        </p:tgtEl>
                                        <p:attrNameLst>
                                          <p:attrName>style.visibility</p:attrName>
                                        </p:attrNameLst>
                                      </p:cBhvr>
                                      <p:to>
                                        <p:strVal val="visible"/>
                                      </p:to>
                                    </p:set>
                                    <p:animEffect filter="fade" transition="in">
                                      <p:cBhvr>
                                        <p:cTn dur="500"/>
                                        <p:tgtEl>
                                          <p:spTgt spid="14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0"/>
                                        </p:tgtEl>
                                        <p:attrNameLst>
                                          <p:attrName>style.visibility</p:attrName>
                                        </p:attrNameLst>
                                      </p:cBhvr>
                                      <p:to>
                                        <p:strVal val="visible"/>
                                      </p:to>
                                    </p:set>
                                    <p:animEffect filter="fade" transition="in">
                                      <p:cBhvr>
                                        <p:cTn dur="1000"/>
                                        <p:tgtEl>
                                          <p:spTgt spid="15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6" name="Shape 1506"/>
        <p:cNvGrpSpPr/>
        <p:nvPr/>
      </p:nvGrpSpPr>
      <p:grpSpPr>
        <a:xfrm>
          <a:off x="0" y="0"/>
          <a:ext cx="0" cy="0"/>
          <a:chOff x="0" y="0"/>
          <a:chExt cx="0" cy="0"/>
        </a:xfrm>
      </p:grpSpPr>
      <p:sp>
        <p:nvSpPr>
          <p:cNvPr id="1507" name="Google Shape;1507;p2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Reliable data transfer protocol (rdt): interfaces</a:t>
            </a:r>
            <a:endParaRPr/>
          </a:p>
        </p:txBody>
      </p:sp>
      <p:grpSp>
        <p:nvGrpSpPr>
          <p:cNvPr id="1508" name="Google Shape;1508;p22"/>
          <p:cNvGrpSpPr/>
          <p:nvPr/>
        </p:nvGrpSpPr>
        <p:grpSpPr>
          <a:xfrm>
            <a:off x="2579501" y="2165159"/>
            <a:ext cx="7088417" cy="3419122"/>
            <a:chOff x="2293693" y="1943479"/>
            <a:chExt cx="7088417" cy="3419122"/>
          </a:xfrm>
        </p:grpSpPr>
        <p:grpSp>
          <p:nvGrpSpPr>
            <p:cNvPr id="1509" name="Google Shape;1509;p22"/>
            <p:cNvGrpSpPr/>
            <p:nvPr/>
          </p:nvGrpSpPr>
          <p:grpSpPr>
            <a:xfrm>
              <a:off x="3481010" y="2124363"/>
              <a:ext cx="1245036" cy="593992"/>
              <a:chOff x="9852456" y="608434"/>
              <a:chExt cx="1245036" cy="593992"/>
            </a:xfrm>
          </p:grpSpPr>
          <p:sp>
            <p:nvSpPr>
              <p:cNvPr id="1510" name="Google Shape;1510;p22"/>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511" name="Google Shape;1511;p22"/>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1512" name="Google Shape;1512;p22"/>
            <p:cNvGrpSpPr/>
            <p:nvPr/>
          </p:nvGrpSpPr>
          <p:grpSpPr>
            <a:xfrm>
              <a:off x="4077480" y="2576394"/>
              <a:ext cx="577241" cy="338554"/>
              <a:chOff x="9950444" y="999755"/>
              <a:chExt cx="577241" cy="338554"/>
            </a:xfrm>
          </p:grpSpPr>
          <p:sp>
            <p:nvSpPr>
              <p:cNvPr id="1513" name="Google Shape;1513;p22"/>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14" name="Google Shape;1514;p22"/>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515" name="Google Shape;1515;p22"/>
            <p:cNvGrpSpPr/>
            <p:nvPr/>
          </p:nvGrpSpPr>
          <p:grpSpPr>
            <a:xfrm>
              <a:off x="3214263" y="2004894"/>
              <a:ext cx="545509" cy="512284"/>
              <a:chOff x="-44" y="1473"/>
              <a:chExt cx="981" cy="1105"/>
            </a:xfrm>
          </p:grpSpPr>
          <p:pic>
            <p:nvPicPr>
              <p:cNvPr descr="desktop_computer_stylized_medium" id="1516" name="Google Shape;1516;p2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517" name="Google Shape;1517;p2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518" name="Google Shape;1518;p22"/>
            <p:cNvGrpSpPr/>
            <p:nvPr/>
          </p:nvGrpSpPr>
          <p:grpSpPr>
            <a:xfrm>
              <a:off x="6726088" y="2075463"/>
              <a:ext cx="1245036" cy="593992"/>
              <a:chOff x="9852456" y="608434"/>
              <a:chExt cx="1245036" cy="593992"/>
            </a:xfrm>
          </p:grpSpPr>
          <p:sp>
            <p:nvSpPr>
              <p:cNvPr id="1519" name="Google Shape;1519;p22"/>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520" name="Google Shape;1520;p22"/>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1521" name="Google Shape;1521;p22"/>
            <p:cNvGrpSpPr/>
            <p:nvPr/>
          </p:nvGrpSpPr>
          <p:grpSpPr>
            <a:xfrm>
              <a:off x="6785217" y="2548684"/>
              <a:ext cx="577241" cy="338554"/>
              <a:chOff x="9678159" y="981583"/>
              <a:chExt cx="577241" cy="338554"/>
            </a:xfrm>
          </p:grpSpPr>
          <p:sp>
            <p:nvSpPr>
              <p:cNvPr id="1522" name="Google Shape;1522;p22"/>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23" name="Google Shape;1523;p22"/>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524" name="Google Shape;1524;p22"/>
            <p:cNvGrpSpPr/>
            <p:nvPr/>
          </p:nvGrpSpPr>
          <p:grpSpPr>
            <a:xfrm>
              <a:off x="7823735" y="1943479"/>
              <a:ext cx="230514" cy="466725"/>
              <a:chOff x="4140" y="429"/>
              <a:chExt cx="1425" cy="2396"/>
            </a:xfrm>
          </p:grpSpPr>
          <p:sp>
            <p:nvSpPr>
              <p:cNvPr id="1525" name="Google Shape;1525;p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26" name="Google Shape;1526;p22"/>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27" name="Google Shape;1527;p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28" name="Google Shape;1528;p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29" name="Google Shape;1529;p22"/>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530" name="Google Shape;1530;p22"/>
              <p:cNvGrpSpPr/>
              <p:nvPr/>
            </p:nvGrpSpPr>
            <p:grpSpPr>
              <a:xfrm>
                <a:off x="4751" y="667"/>
                <a:ext cx="580" cy="146"/>
                <a:chOff x="617" y="2567"/>
                <a:chExt cx="724" cy="140"/>
              </a:xfrm>
            </p:grpSpPr>
            <p:sp>
              <p:nvSpPr>
                <p:cNvPr id="1531" name="Google Shape;1531;p22"/>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32" name="Google Shape;1532;p22"/>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533" name="Google Shape;1533;p22"/>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534" name="Google Shape;1534;p22"/>
              <p:cNvGrpSpPr/>
              <p:nvPr/>
            </p:nvGrpSpPr>
            <p:grpSpPr>
              <a:xfrm>
                <a:off x="4745" y="996"/>
                <a:ext cx="580" cy="156"/>
                <a:chOff x="612" y="2570"/>
                <a:chExt cx="724" cy="162"/>
              </a:xfrm>
            </p:grpSpPr>
            <p:sp>
              <p:nvSpPr>
                <p:cNvPr id="1535" name="Google Shape;1535;p22"/>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36" name="Google Shape;1536;p22"/>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537" name="Google Shape;1537;p22"/>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38" name="Google Shape;1538;p22"/>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539" name="Google Shape;1539;p22"/>
              <p:cNvGrpSpPr/>
              <p:nvPr/>
            </p:nvGrpSpPr>
            <p:grpSpPr>
              <a:xfrm>
                <a:off x="4733" y="1627"/>
                <a:ext cx="586" cy="151"/>
                <a:chOff x="611" y="2568"/>
                <a:chExt cx="730" cy="139"/>
              </a:xfrm>
            </p:grpSpPr>
            <p:sp>
              <p:nvSpPr>
                <p:cNvPr id="1540" name="Google Shape;1540;p22"/>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41" name="Google Shape;1541;p22"/>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542" name="Google Shape;1542;p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543" name="Google Shape;1543;p22"/>
              <p:cNvGrpSpPr/>
              <p:nvPr/>
            </p:nvGrpSpPr>
            <p:grpSpPr>
              <a:xfrm>
                <a:off x="4739" y="1325"/>
                <a:ext cx="580" cy="140"/>
                <a:chOff x="614" y="2566"/>
                <a:chExt cx="723" cy="140"/>
              </a:xfrm>
            </p:grpSpPr>
            <p:sp>
              <p:nvSpPr>
                <p:cNvPr id="1544" name="Google Shape;1544;p22"/>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45" name="Google Shape;1545;p22"/>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546" name="Google Shape;1546;p22"/>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47" name="Google Shape;1547;p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48" name="Google Shape;1548;p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49" name="Google Shape;1549;p22"/>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50" name="Google Shape;1550;p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51" name="Google Shape;1551;p22"/>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52" name="Google Shape;1552;p22"/>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53" name="Google Shape;1553;p22"/>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54" name="Google Shape;1554;p22"/>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555" name="Google Shape;1555;p22"/>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56" name="Google Shape;1556;p22"/>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1557" name="Google Shape;1557;p22"/>
            <p:cNvCxnSpPr/>
            <p:nvPr/>
          </p:nvCxnSpPr>
          <p:spPr>
            <a:xfrm>
              <a:off x="3121019" y="2898014"/>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1558" name="Google Shape;1558;p22"/>
            <p:cNvCxnSpPr/>
            <p:nvPr/>
          </p:nvCxnSpPr>
          <p:spPr>
            <a:xfrm>
              <a:off x="6614663" y="2870304"/>
              <a:ext cx="1687911" cy="0"/>
            </a:xfrm>
            <a:prstGeom prst="straightConnector1">
              <a:avLst/>
            </a:prstGeom>
            <a:noFill/>
            <a:ln cap="flat" cmpd="sng" w="22225">
              <a:solidFill>
                <a:srgbClr val="C00000"/>
              </a:solidFill>
              <a:prstDash val="solid"/>
              <a:miter lim="800000"/>
              <a:headEnd len="sm" w="sm" type="none"/>
              <a:tailEnd len="sm" w="sm" type="none"/>
            </a:ln>
          </p:spPr>
        </p:cxnSp>
        <p:grpSp>
          <p:nvGrpSpPr>
            <p:cNvPr id="1559" name="Google Shape;1559;p22"/>
            <p:cNvGrpSpPr/>
            <p:nvPr/>
          </p:nvGrpSpPr>
          <p:grpSpPr>
            <a:xfrm>
              <a:off x="3110199" y="4881020"/>
              <a:ext cx="5250830" cy="481581"/>
              <a:chOff x="6737055" y="3471301"/>
              <a:chExt cx="5250830" cy="481581"/>
            </a:xfrm>
          </p:grpSpPr>
          <p:grpSp>
            <p:nvGrpSpPr>
              <p:cNvPr id="1560" name="Google Shape;1560;p22"/>
              <p:cNvGrpSpPr/>
              <p:nvPr/>
            </p:nvGrpSpPr>
            <p:grpSpPr>
              <a:xfrm>
                <a:off x="8324240" y="3583550"/>
                <a:ext cx="2044628" cy="369332"/>
                <a:chOff x="7504363" y="3155701"/>
                <a:chExt cx="2044628" cy="369332"/>
              </a:xfrm>
            </p:grpSpPr>
            <p:grpSp>
              <p:nvGrpSpPr>
                <p:cNvPr id="1561" name="Google Shape;1561;p22"/>
                <p:cNvGrpSpPr/>
                <p:nvPr/>
              </p:nvGrpSpPr>
              <p:grpSpPr>
                <a:xfrm>
                  <a:off x="7504363" y="3183676"/>
                  <a:ext cx="2003932" cy="306163"/>
                  <a:chOff x="1616358" y="2551230"/>
                  <a:chExt cx="2141698" cy="218510"/>
                </a:xfrm>
              </p:grpSpPr>
              <p:sp>
                <p:nvSpPr>
                  <p:cNvPr id="1562" name="Google Shape;1562;p22"/>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63" name="Google Shape;1563;p22"/>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64" name="Google Shape;1564;p22"/>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65" name="Google Shape;1565;p22"/>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566" name="Google Shape;1566;p22"/>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1567" name="Google Shape;1567;p22"/>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1568" name="Google Shape;1568;p22"/>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cxnSp>
          <p:nvCxnSpPr>
            <p:cNvPr id="1569" name="Google Shape;1569;p22"/>
            <p:cNvCxnSpPr/>
            <p:nvPr/>
          </p:nvCxnSpPr>
          <p:spPr>
            <a:xfrm>
              <a:off x="4069352" y="2795325"/>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1570" name="Google Shape;1570;p22"/>
            <p:cNvCxnSpPr/>
            <p:nvPr/>
          </p:nvCxnSpPr>
          <p:spPr>
            <a:xfrm rot="10800000">
              <a:off x="7403443" y="2731748"/>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1571" name="Google Shape;1571;p22"/>
            <p:cNvSpPr txBox="1"/>
            <p:nvPr/>
          </p:nvSpPr>
          <p:spPr>
            <a:xfrm>
              <a:off x="3042206" y="3300756"/>
              <a:ext cx="2001038" cy="10895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a:t>
              </a:r>
              <a:endParaRPr/>
            </a:p>
            <a:p>
              <a:pPr indent="0" lvl="0" marL="0" marR="0" rtl="0" algn="ctr">
                <a:lnSpc>
                  <a:spcPct val="9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implementation</a:t>
              </a:r>
              <a:r>
                <a:rPr b="0" i="0" lang="en-US" sz="1800" u="none" cap="none" strike="noStrike">
                  <a:solidFill>
                    <a:srgbClr val="000000"/>
                  </a:solidFill>
                  <a:latin typeface="Calibri"/>
                  <a:ea typeface="Calibri"/>
                  <a:cs typeface="Calibri"/>
                  <a:sym typeface="Calibri"/>
                </a:rPr>
                <a:t> of </a:t>
              </a:r>
              <a:r>
                <a:rPr b="0" i="0" lang="en-US" sz="1800" u="none" cap="none" strike="noStrike">
                  <a:solidFill>
                    <a:srgbClr val="000000"/>
                  </a:solidFill>
                  <a:latin typeface="Courier"/>
                  <a:ea typeface="Courier"/>
                  <a:cs typeface="Courier"/>
                  <a:sym typeface="Courier"/>
                </a:rPr>
                <a:t>rdt</a:t>
              </a:r>
              <a:r>
                <a:rPr b="0" i="0" lang="en-US" sz="1800" u="none" cap="none" strike="noStrike">
                  <a:solidFill>
                    <a:srgbClr val="000000"/>
                  </a:solidFill>
                  <a:latin typeface="Calibri"/>
                  <a:ea typeface="Calibri"/>
                  <a:cs typeface="Calibri"/>
                  <a:sym typeface="Calibri"/>
                </a:rPr>
                <a:t> reliable data transfer protocol</a:t>
              </a:r>
              <a:endParaRPr/>
            </a:p>
          </p:txBody>
        </p:sp>
        <p:sp>
          <p:nvSpPr>
            <p:cNvPr id="1572" name="Google Shape;1572;p22"/>
            <p:cNvSpPr txBox="1"/>
            <p:nvPr/>
          </p:nvSpPr>
          <p:spPr>
            <a:xfrm>
              <a:off x="6413059" y="3328511"/>
              <a:ext cx="2001033" cy="10895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implementation</a:t>
              </a:r>
              <a:r>
                <a:rPr b="0" i="0" lang="en-US" sz="1800" u="none" cap="none" strike="noStrike">
                  <a:solidFill>
                    <a:srgbClr val="000000"/>
                  </a:solidFill>
                  <a:latin typeface="Calibri"/>
                  <a:ea typeface="Calibri"/>
                  <a:cs typeface="Calibri"/>
                  <a:sym typeface="Calibri"/>
                </a:rPr>
                <a:t> of </a:t>
              </a:r>
              <a:r>
                <a:rPr b="0" i="0" lang="en-US" sz="1800" u="none" cap="none" strike="noStrike">
                  <a:solidFill>
                    <a:srgbClr val="000000"/>
                  </a:solidFill>
                  <a:latin typeface="Courier"/>
                  <a:ea typeface="Courier"/>
                  <a:cs typeface="Courier"/>
                  <a:sym typeface="Courier"/>
                </a:rPr>
                <a:t>rdt </a:t>
              </a:r>
              <a:r>
                <a:rPr b="0" i="0" lang="en-US" sz="1800" u="none" cap="none" strike="noStrike">
                  <a:solidFill>
                    <a:srgbClr val="000000"/>
                  </a:solidFill>
                  <a:latin typeface="Calibri"/>
                  <a:ea typeface="Calibri"/>
                  <a:cs typeface="Calibri"/>
                  <a:sym typeface="Calibri"/>
                </a:rPr>
                <a:t>reliable data transfer protocol</a:t>
              </a:r>
              <a:endParaRPr/>
            </a:p>
          </p:txBody>
        </p:sp>
        <p:grpSp>
          <p:nvGrpSpPr>
            <p:cNvPr id="1573" name="Google Shape;1573;p22"/>
            <p:cNvGrpSpPr/>
            <p:nvPr/>
          </p:nvGrpSpPr>
          <p:grpSpPr>
            <a:xfrm>
              <a:off x="4071725" y="4602963"/>
              <a:ext cx="632009" cy="632009"/>
              <a:chOff x="7408199" y="4955748"/>
              <a:chExt cx="632009" cy="632009"/>
            </a:xfrm>
          </p:grpSpPr>
          <p:cxnSp>
            <p:nvCxnSpPr>
              <p:cNvPr id="1574" name="Google Shape;1574;p22"/>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1575" name="Google Shape;1575;p22"/>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1576" name="Google Shape;1576;p22"/>
            <p:cNvGrpSpPr/>
            <p:nvPr/>
          </p:nvGrpSpPr>
          <p:grpSpPr>
            <a:xfrm rot="-5400000">
              <a:off x="6784894" y="4598122"/>
              <a:ext cx="632009" cy="632009"/>
              <a:chOff x="7408199" y="4948974"/>
              <a:chExt cx="632009" cy="632009"/>
            </a:xfrm>
          </p:grpSpPr>
          <p:cxnSp>
            <p:nvCxnSpPr>
              <p:cNvPr id="1577" name="Google Shape;1577;p22"/>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1578" name="Google Shape;1578;p22"/>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sp>
          <p:nvSpPr>
            <p:cNvPr id="1579" name="Google Shape;1579;p22"/>
            <p:cNvSpPr txBox="1"/>
            <p:nvPr/>
          </p:nvSpPr>
          <p:spPr>
            <a:xfrm>
              <a:off x="2293693" y="2546898"/>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rdt_send()</a:t>
              </a:r>
              <a:endParaRPr/>
            </a:p>
          </p:txBody>
        </p:sp>
        <p:sp>
          <p:nvSpPr>
            <p:cNvPr id="1580" name="Google Shape;1580;p22"/>
            <p:cNvSpPr txBox="1"/>
            <p:nvPr/>
          </p:nvSpPr>
          <p:spPr>
            <a:xfrm>
              <a:off x="2637055" y="4529903"/>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udt_send()</a:t>
              </a:r>
              <a:endParaRPr/>
            </a:p>
          </p:txBody>
        </p:sp>
        <p:sp>
          <p:nvSpPr>
            <p:cNvPr id="1581" name="Google Shape;1581;p22"/>
            <p:cNvSpPr txBox="1"/>
            <p:nvPr/>
          </p:nvSpPr>
          <p:spPr>
            <a:xfrm>
              <a:off x="7460091" y="4522693"/>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rdt_rcv()</a:t>
              </a:r>
              <a:endParaRPr/>
            </a:p>
          </p:txBody>
        </p:sp>
        <p:sp>
          <p:nvSpPr>
            <p:cNvPr id="1582" name="Google Shape;1582;p22"/>
            <p:cNvSpPr txBox="1"/>
            <p:nvPr/>
          </p:nvSpPr>
          <p:spPr>
            <a:xfrm>
              <a:off x="7446811" y="2872208"/>
              <a:ext cx="193529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deliver_data()</a:t>
              </a:r>
              <a:endParaRPr/>
            </a:p>
          </p:txBody>
        </p:sp>
        <p:grpSp>
          <p:nvGrpSpPr>
            <p:cNvPr id="1583" name="Google Shape;1583;p22"/>
            <p:cNvGrpSpPr/>
            <p:nvPr/>
          </p:nvGrpSpPr>
          <p:grpSpPr>
            <a:xfrm>
              <a:off x="4198761" y="4538107"/>
              <a:ext cx="1129178" cy="338554"/>
              <a:chOff x="4492148" y="4699180"/>
              <a:chExt cx="1129178" cy="338554"/>
            </a:xfrm>
          </p:grpSpPr>
          <p:grpSp>
            <p:nvGrpSpPr>
              <p:cNvPr id="1584" name="Google Shape;1584;p22"/>
              <p:cNvGrpSpPr/>
              <p:nvPr/>
            </p:nvGrpSpPr>
            <p:grpSpPr>
              <a:xfrm>
                <a:off x="5044085" y="4699180"/>
                <a:ext cx="577241" cy="338554"/>
                <a:chOff x="9950444" y="999755"/>
                <a:chExt cx="577241" cy="338554"/>
              </a:xfrm>
            </p:grpSpPr>
            <p:sp>
              <p:nvSpPr>
                <p:cNvPr id="1585" name="Google Shape;1585;p22"/>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6" name="Google Shape;1586;p22"/>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587" name="Google Shape;1587;p22"/>
              <p:cNvGrpSpPr/>
              <p:nvPr/>
            </p:nvGrpSpPr>
            <p:grpSpPr>
              <a:xfrm>
                <a:off x="4492148" y="4738794"/>
                <a:ext cx="684009" cy="276999"/>
                <a:chOff x="9965227" y="1039458"/>
                <a:chExt cx="684009" cy="276999"/>
              </a:xfrm>
            </p:grpSpPr>
            <p:sp>
              <p:nvSpPr>
                <p:cNvPr id="1588" name="Google Shape;1588;p22"/>
                <p:cNvSpPr/>
                <p:nvPr/>
              </p:nvSpPr>
              <p:spPr>
                <a:xfrm>
                  <a:off x="10010632" y="1066693"/>
                  <a:ext cx="561043"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9" name="Google Shape;1589;p22"/>
                <p:cNvSpPr txBox="1"/>
                <p:nvPr/>
              </p:nvSpPr>
              <p:spPr>
                <a:xfrm>
                  <a:off x="9965227" y="1039458"/>
                  <a:ext cx="68400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Header</a:t>
                  </a:r>
                  <a:endParaRPr b="0" i="0" sz="1800" u="none" cap="none" strike="noStrike">
                    <a:solidFill>
                      <a:srgbClr val="FFFFFF"/>
                    </a:solidFill>
                    <a:latin typeface="Calibri"/>
                    <a:ea typeface="Calibri"/>
                    <a:cs typeface="Calibri"/>
                    <a:sym typeface="Calibri"/>
                  </a:endParaRPr>
                </a:p>
              </p:txBody>
            </p:sp>
          </p:grpSp>
        </p:grpSp>
        <p:grpSp>
          <p:nvGrpSpPr>
            <p:cNvPr id="1590" name="Google Shape;1590;p22"/>
            <p:cNvGrpSpPr/>
            <p:nvPr/>
          </p:nvGrpSpPr>
          <p:grpSpPr>
            <a:xfrm>
              <a:off x="6194588" y="4534824"/>
              <a:ext cx="1129178" cy="338554"/>
              <a:chOff x="4492148" y="4699180"/>
              <a:chExt cx="1129178" cy="338554"/>
            </a:xfrm>
          </p:grpSpPr>
          <p:grpSp>
            <p:nvGrpSpPr>
              <p:cNvPr id="1591" name="Google Shape;1591;p22"/>
              <p:cNvGrpSpPr/>
              <p:nvPr/>
            </p:nvGrpSpPr>
            <p:grpSpPr>
              <a:xfrm>
                <a:off x="5044085" y="4699180"/>
                <a:ext cx="577241" cy="338554"/>
                <a:chOff x="9950444" y="999755"/>
                <a:chExt cx="577241" cy="338554"/>
              </a:xfrm>
            </p:grpSpPr>
            <p:sp>
              <p:nvSpPr>
                <p:cNvPr id="1592" name="Google Shape;1592;p22"/>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93" name="Google Shape;1593;p22"/>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594" name="Google Shape;1594;p22"/>
              <p:cNvGrpSpPr/>
              <p:nvPr/>
            </p:nvGrpSpPr>
            <p:grpSpPr>
              <a:xfrm>
                <a:off x="4492148" y="4738794"/>
                <a:ext cx="684009" cy="276999"/>
                <a:chOff x="9965227" y="1039458"/>
                <a:chExt cx="684009" cy="276999"/>
              </a:xfrm>
            </p:grpSpPr>
            <p:sp>
              <p:nvSpPr>
                <p:cNvPr id="1595" name="Google Shape;1595;p22"/>
                <p:cNvSpPr/>
                <p:nvPr/>
              </p:nvSpPr>
              <p:spPr>
                <a:xfrm>
                  <a:off x="10010632" y="1066693"/>
                  <a:ext cx="561043"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96" name="Google Shape;1596;p22"/>
                <p:cNvSpPr txBox="1"/>
                <p:nvPr/>
              </p:nvSpPr>
              <p:spPr>
                <a:xfrm>
                  <a:off x="9965227" y="1039458"/>
                  <a:ext cx="68400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Header</a:t>
                  </a:r>
                  <a:endParaRPr b="0" i="0" sz="1800" u="none" cap="none" strike="noStrike">
                    <a:solidFill>
                      <a:srgbClr val="FFFFFF"/>
                    </a:solidFill>
                    <a:latin typeface="Calibri"/>
                    <a:ea typeface="Calibri"/>
                    <a:cs typeface="Calibri"/>
                    <a:sym typeface="Calibri"/>
                  </a:endParaRPr>
                </a:p>
              </p:txBody>
            </p:sp>
          </p:grpSp>
        </p:grpSp>
      </p:grpSp>
      <p:grpSp>
        <p:nvGrpSpPr>
          <p:cNvPr id="1597" name="Google Shape;1597;p22"/>
          <p:cNvGrpSpPr/>
          <p:nvPr/>
        </p:nvGrpSpPr>
        <p:grpSpPr>
          <a:xfrm>
            <a:off x="352441" y="1450769"/>
            <a:ext cx="3206750" cy="1430338"/>
            <a:chOff x="240" y="920"/>
            <a:chExt cx="2020" cy="901"/>
          </a:xfrm>
        </p:grpSpPr>
        <p:sp>
          <p:nvSpPr>
            <p:cNvPr id="1598" name="Google Shape;1598;p22"/>
            <p:cNvSpPr txBox="1"/>
            <p:nvPr/>
          </p:nvSpPr>
          <p:spPr>
            <a:xfrm>
              <a:off x="318" y="920"/>
              <a:ext cx="1895" cy="5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rdt_send():</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from above, (e.g., by app.). Passed data to deliver to receiver upper layer</a:t>
              </a:r>
              <a:endParaRPr b="0" i="0" sz="2400" u="none" cap="none" strike="noStrike">
                <a:solidFill>
                  <a:srgbClr val="000000"/>
                </a:solidFill>
                <a:latin typeface="Calibri"/>
                <a:ea typeface="Calibri"/>
                <a:cs typeface="Calibri"/>
                <a:sym typeface="Calibri"/>
              </a:endParaRPr>
            </a:p>
          </p:txBody>
        </p:sp>
        <p:grpSp>
          <p:nvGrpSpPr>
            <p:cNvPr id="1599" name="Google Shape;1599;p22"/>
            <p:cNvGrpSpPr/>
            <p:nvPr/>
          </p:nvGrpSpPr>
          <p:grpSpPr>
            <a:xfrm>
              <a:off x="240" y="921"/>
              <a:ext cx="2020" cy="900"/>
              <a:chOff x="240" y="933"/>
              <a:chExt cx="2020" cy="900"/>
            </a:xfrm>
          </p:grpSpPr>
          <p:cxnSp>
            <p:nvCxnSpPr>
              <p:cNvPr id="1600" name="Google Shape;1600;p22"/>
              <p:cNvCxnSpPr/>
              <p:nvPr/>
            </p:nvCxnSpPr>
            <p:spPr>
              <a:xfrm>
                <a:off x="1787" y="1509"/>
                <a:ext cx="174" cy="324"/>
              </a:xfrm>
              <a:prstGeom prst="straightConnector1">
                <a:avLst/>
              </a:prstGeom>
              <a:noFill/>
              <a:ln cap="flat" cmpd="sng" w="19050">
                <a:solidFill>
                  <a:srgbClr val="C00000"/>
                </a:solidFill>
                <a:prstDash val="solid"/>
                <a:round/>
                <a:headEnd len="med" w="med" type="none"/>
                <a:tailEnd len="med" w="med" type="triangle"/>
              </a:ln>
            </p:spPr>
          </p:cxnSp>
          <p:sp>
            <p:nvSpPr>
              <p:cNvPr id="1601" name="Google Shape;1601;p22"/>
              <p:cNvSpPr/>
              <p:nvPr/>
            </p:nvSpPr>
            <p:spPr>
              <a:xfrm>
                <a:off x="240" y="933"/>
                <a:ext cx="2020" cy="558"/>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1602" name="Google Shape;1602;p22"/>
          <p:cNvGrpSpPr/>
          <p:nvPr/>
        </p:nvGrpSpPr>
        <p:grpSpPr>
          <a:xfrm>
            <a:off x="665618" y="5097921"/>
            <a:ext cx="3074988" cy="1393825"/>
            <a:chOff x="218" y="3055"/>
            <a:chExt cx="1937" cy="878"/>
          </a:xfrm>
        </p:grpSpPr>
        <p:sp>
          <p:nvSpPr>
            <p:cNvPr id="1603" name="Google Shape;1603;p22"/>
            <p:cNvSpPr txBox="1"/>
            <p:nvPr/>
          </p:nvSpPr>
          <p:spPr>
            <a:xfrm>
              <a:off x="233" y="3356"/>
              <a:ext cx="1878" cy="5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udt_send():</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by </a:t>
              </a:r>
              <a:r>
                <a:rPr b="0" i="0" lang="en-US" sz="1800" u="none" cap="none" strike="noStrike">
                  <a:solidFill>
                    <a:srgbClr val="000000"/>
                  </a:solidFill>
                  <a:latin typeface="Courier"/>
                  <a:ea typeface="Courier"/>
                  <a:cs typeface="Courier"/>
                  <a:sym typeface="Courier"/>
                </a:rPr>
                <a:t>rdt</a:t>
              </a: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to transfer packet over </a:t>
              </a: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unreliable channel to receiver</a:t>
              </a:r>
              <a:endParaRPr b="0" i="0" sz="2400" u="none" cap="none" strike="noStrike">
                <a:solidFill>
                  <a:srgbClr val="000000"/>
                </a:solidFill>
                <a:latin typeface="Calibri"/>
                <a:ea typeface="Calibri"/>
                <a:cs typeface="Calibri"/>
                <a:sym typeface="Calibri"/>
              </a:endParaRPr>
            </a:p>
          </p:txBody>
        </p:sp>
        <p:grpSp>
          <p:nvGrpSpPr>
            <p:cNvPr id="1604" name="Google Shape;1604;p22"/>
            <p:cNvGrpSpPr/>
            <p:nvPr/>
          </p:nvGrpSpPr>
          <p:grpSpPr>
            <a:xfrm>
              <a:off x="218" y="3055"/>
              <a:ext cx="1937" cy="867"/>
              <a:chOff x="218" y="3055"/>
              <a:chExt cx="1937" cy="867"/>
            </a:xfrm>
          </p:grpSpPr>
          <p:cxnSp>
            <p:nvCxnSpPr>
              <p:cNvPr id="1605" name="Google Shape;1605;p22"/>
              <p:cNvCxnSpPr/>
              <p:nvPr/>
            </p:nvCxnSpPr>
            <p:spPr>
              <a:xfrm flipH="1" rot="10800000">
                <a:off x="1433" y="3055"/>
                <a:ext cx="359" cy="303"/>
              </a:xfrm>
              <a:prstGeom prst="straightConnector1">
                <a:avLst/>
              </a:prstGeom>
              <a:noFill/>
              <a:ln cap="flat" cmpd="sng" w="19050">
                <a:solidFill>
                  <a:srgbClr val="C00000"/>
                </a:solidFill>
                <a:prstDash val="solid"/>
                <a:round/>
                <a:headEnd len="med" w="med" type="none"/>
                <a:tailEnd len="med" w="med" type="triangle"/>
              </a:ln>
            </p:spPr>
          </p:cxnSp>
          <p:sp>
            <p:nvSpPr>
              <p:cNvPr id="1606" name="Google Shape;1606;p22"/>
              <p:cNvSpPr/>
              <p:nvPr/>
            </p:nvSpPr>
            <p:spPr>
              <a:xfrm>
                <a:off x="218" y="3364"/>
                <a:ext cx="1937" cy="558"/>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1607" name="Google Shape;1607;p22"/>
          <p:cNvGrpSpPr/>
          <p:nvPr/>
        </p:nvGrpSpPr>
        <p:grpSpPr>
          <a:xfrm>
            <a:off x="8446406" y="5042355"/>
            <a:ext cx="3122613" cy="1520825"/>
            <a:chOff x="3071" y="2986"/>
            <a:chExt cx="1967" cy="958"/>
          </a:xfrm>
        </p:grpSpPr>
        <p:sp>
          <p:nvSpPr>
            <p:cNvPr id="1608" name="Google Shape;1608;p22"/>
            <p:cNvSpPr txBox="1"/>
            <p:nvPr/>
          </p:nvSpPr>
          <p:spPr>
            <a:xfrm>
              <a:off x="3101" y="3362"/>
              <a:ext cx="1937" cy="5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rdt_rcv():</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when packet arrives on receiver side of channel</a:t>
              </a:r>
              <a:endParaRPr b="0" i="0" sz="2400" u="none" cap="none" strike="noStrike">
                <a:solidFill>
                  <a:srgbClr val="000000"/>
                </a:solidFill>
                <a:latin typeface="Calibri"/>
                <a:ea typeface="Calibri"/>
                <a:cs typeface="Calibri"/>
                <a:sym typeface="Calibri"/>
              </a:endParaRPr>
            </a:p>
          </p:txBody>
        </p:sp>
        <p:grpSp>
          <p:nvGrpSpPr>
            <p:cNvPr id="1609" name="Google Shape;1609;p22"/>
            <p:cNvGrpSpPr/>
            <p:nvPr/>
          </p:nvGrpSpPr>
          <p:grpSpPr>
            <a:xfrm>
              <a:off x="3071" y="2986"/>
              <a:ext cx="1937" cy="943"/>
              <a:chOff x="3071" y="2986"/>
              <a:chExt cx="1937" cy="943"/>
            </a:xfrm>
          </p:grpSpPr>
          <p:cxnSp>
            <p:nvCxnSpPr>
              <p:cNvPr id="1610" name="Google Shape;1610;p22"/>
              <p:cNvCxnSpPr/>
              <p:nvPr/>
            </p:nvCxnSpPr>
            <p:spPr>
              <a:xfrm rot="10800000">
                <a:off x="3312" y="2986"/>
                <a:ext cx="398" cy="371"/>
              </a:xfrm>
              <a:prstGeom prst="straightConnector1">
                <a:avLst/>
              </a:prstGeom>
              <a:noFill/>
              <a:ln cap="flat" cmpd="sng" w="19050">
                <a:solidFill>
                  <a:srgbClr val="C00000"/>
                </a:solidFill>
                <a:prstDash val="solid"/>
                <a:round/>
                <a:headEnd len="med" w="med" type="none"/>
                <a:tailEnd len="med" w="med" type="triangle"/>
              </a:ln>
            </p:spPr>
          </p:cxnSp>
          <p:sp>
            <p:nvSpPr>
              <p:cNvPr id="1611" name="Google Shape;1611;p22"/>
              <p:cNvSpPr/>
              <p:nvPr/>
            </p:nvSpPr>
            <p:spPr>
              <a:xfrm>
                <a:off x="3071" y="3348"/>
                <a:ext cx="1937" cy="581"/>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1612" name="Google Shape;1612;p22"/>
          <p:cNvGrpSpPr/>
          <p:nvPr/>
        </p:nvGrpSpPr>
        <p:grpSpPr>
          <a:xfrm>
            <a:off x="8824801" y="1555220"/>
            <a:ext cx="3063876" cy="1571625"/>
            <a:chOff x="3138" y="936"/>
            <a:chExt cx="1930" cy="990"/>
          </a:xfrm>
        </p:grpSpPr>
        <p:sp>
          <p:nvSpPr>
            <p:cNvPr id="1613" name="Google Shape;1613;p22"/>
            <p:cNvSpPr txBox="1"/>
            <p:nvPr/>
          </p:nvSpPr>
          <p:spPr>
            <a:xfrm>
              <a:off x="3168" y="936"/>
              <a:ext cx="1900"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deliver_data():</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by </a:t>
              </a:r>
              <a:r>
                <a:rPr b="0" i="0" lang="en-US" sz="1800" u="none" cap="none" strike="noStrike">
                  <a:solidFill>
                    <a:srgbClr val="000000"/>
                  </a:solidFill>
                  <a:latin typeface="Courier"/>
                  <a:ea typeface="Courier"/>
                  <a:cs typeface="Courier"/>
                  <a:sym typeface="Courier"/>
                </a:rPr>
                <a:t>rdt </a:t>
              </a:r>
              <a:r>
                <a:rPr b="0" i="0" lang="en-US" sz="1800" u="none" cap="none" strike="noStrike">
                  <a:solidFill>
                    <a:srgbClr val="000000"/>
                  </a:solidFill>
                  <a:latin typeface="Calibri"/>
                  <a:ea typeface="Calibri"/>
                  <a:cs typeface="Calibri"/>
                  <a:sym typeface="Calibri"/>
                </a:rPr>
                <a:t>to deliver data to upper layer</a:t>
              </a:r>
              <a:endParaRPr/>
            </a:p>
          </p:txBody>
        </p:sp>
        <p:grpSp>
          <p:nvGrpSpPr>
            <p:cNvPr id="1614" name="Google Shape;1614;p22"/>
            <p:cNvGrpSpPr/>
            <p:nvPr/>
          </p:nvGrpSpPr>
          <p:grpSpPr>
            <a:xfrm>
              <a:off x="3138" y="942"/>
              <a:ext cx="1899" cy="984"/>
              <a:chOff x="3138" y="942"/>
              <a:chExt cx="1899" cy="984"/>
            </a:xfrm>
          </p:grpSpPr>
          <p:cxnSp>
            <p:nvCxnSpPr>
              <p:cNvPr id="1615" name="Google Shape;1615;p22"/>
              <p:cNvCxnSpPr/>
              <p:nvPr/>
            </p:nvCxnSpPr>
            <p:spPr>
              <a:xfrm flipH="1">
                <a:off x="3328" y="1334"/>
                <a:ext cx="325" cy="592"/>
              </a:xfrm>
              <a:prstGeom prst="straightConnector1">
                <a:avLst/>
              </a:prstGeom>
              <a:noFill/>
              <a:ln cap="flat" cmpd="sng" w="19050">
                <a:solidFill>
                  <a:srgbClr val="C00000"/>
                </a:solidFill>
                <a:prstDash val="solid"/>
                <a:round/>
                <a:headEnd len="med" w="med" type="none"/>
                <a:tailEnd len="med" w="med" type="triangle"/>
              </a:ln>
            </p:spPr>
          </p:cxnSp>
          <p:sp>
            <p:nvSpPr>
              <p:cNvPr id="1616" name="Google Shape;1616;p22"/>
              <p:cNvSpPr/>
              <p:nvPr/>
            </p:nvSpPr>
            <p:spPr>
              <a:xfrm>
                <a:off x="3138" y="942"/>
                <a:ext cx="1899" cy="396"/>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1617" name="Google Shape;1617;p22"/>
          <p:cNvGrpSpPr/>
          <p:nvPr/>
        </p:nvGrpSpPr>
        <p:grpSpPr>
          <a:xfrm>
            <a:off x="4390890" y="5513755"/>
            <a:ext cx="3819165" cy="1064365"/>
            <a:chOff x="2631911" y="5334147"/>
            <a:chExt cx="3819165" cy="1064365"/>
          </a:xfrm>
        </p:grpSpPr>
        <p:sp>
          <p:nvSpPr>
            <p:cNvPr id="1618" name="Google Shape;1618;p22"/>
            <p:cNvSpPr txBox="1"/>
            <p:nvPr/>
          </p:nvSpPr>
          <p:spPr>
            <a:xfrm>
              <a:off x="2631911" y="5807581"/>
              <a:ext cx="3819165" cy="5909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Bi-directional communication over unreliable channel</a:t>
              </a:r>
              <a:endParaRPr/>
            </a:p>
          </p:txBody>
        </p:sp>
        <p:cxnSp>
          <p:nvCxnSpPr>
            <p:cNvPr id="1619" name="Google Shape;1619;p22"/>
            <p:cNvCxnSpPr/>
            <p:nvPr/>
          </p:nvCxnSpPr>
          <p:spPr>
            <a:xfrm>
              <a:off x="2905750" y="5334147"/>
              <a:ext cx="1431271" cy="473434"/>
            </a:xfrm>
            <a:prstGeom prst="straightConnector1">
              <a:avLst/>
            </a:prstGeom>
            <a:noFill/>
            <a:ln cap="flat" cmpd="sng" w="9525">
              <a:solidFill>
                <a:srgbClr val="FF0000"/>
              </a:solidFill>
              <a:prstDash val="solid"/>
              <a:miter lim="800000"/>
              <a:headEnd len="sm" w="sm" type="none"/>
              <a:tailEnd len="sm" w="sm" type="none"/>
            </a:ln>
          </p:spPr>
        </p:cxnSp>
        <p:cxnSp>
          <p:nvCxnSpPr>
            <p:cNvPr id="1620" name="Google Shape;1620;p22"/>
            <p:cNvCxnSpPr/>
            <p:nvPr/>
          </p:nvCxnSpPr>
          <p:spPr>
            <a:xfrm flipH="1">
              <a:off x="4339308" y="5338301"/>
              <a:ext cx="1358761" cy="469280"/>
            </a:xfrm>
            <a:prstGeom prst="straightConnector1">
              <a:avLst/>
            </a:prstGeom>
            <a:noFill/>
            <a:ln cap="flat" cmpd="sng" w="9525">
              <a:solidFill>
                <a:srgbClr val="FF0000"/>
              </a:solidFill>
              <a:prstDash val="solid"/>
              <a:miter lim="800000"/>
              <a:headEnd len="sm" w="sm" type="none"/>
              <a:tailEnd len="sm" w="sm" type="none"/>
            </a:ln>
          </p:spPr>
        </p:cxnSp>
      </p:grpSp>
      <p:grpSp>
        <p:nvGrpSpPr>
          <p:cNvPr id="1621" name="Google Shape;1621;p22"/>
          <p:cNvGrpSpPr/>
          <p:nvPr/>
        </p:nvGrpSpPr>
        <p:grpSpPr>
          <a:xfrm>
            <a:off x="4175224" y="3108918"/>
            <a:ext cx="3819165" cy="674861"/>
            <a:chOff x="2418275" y="5437546"/>
            <a:chExt cx="3819165" cy="674861"/>
          </a:xfrm>
        </p:grpSpPr>
        <p:sp>
          <p:nvSpPr>
            <p:cNvPr id="1622" name="Google Shape;1622;p22"/>
            <p:cNvSpPr txBox="1"/>
            <p:nvPr/>
          </p:nvSpPr>
          <p:spPr>
            <a:xfrm>
              <a:off x="2418275" y="5770775"/>
              <a:ext cx="3819165" cy="34163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data</a:t>
              </a:r>
              <a:endParaRPr/>
            </a:p>
          </p:txBody>
        </p:sp>
        <p:cxnSp>
          <p:nvCxnSpPr>
            <p:cNvPr id="1623" name="Google Shape;1623;p22"/>
            <p:cNvCxnSpPr>
              <a:stCxn id="1514" idx="2"/>
            </p:cNvCxnSpPr>
            <p:nvPr/>
          </p:nvCxnSpPr>
          <p:spPr>
            <a:xfrm>
              <a:off x="2894960" y="5465256"/>
              <a:ext cx="1454700" cy="401700"/>
            </a:xfrm>
            <a:prstGeom prst="straightConnector1">
              <a:avLst/>
            </a:prstGeom>
            <a:noFill/>
            <a:ln cap="flat" cmpd="sng" w="9525">
              <a:solidFill>
                <a:srgbClr val="FF0000"/>
              </a:solidFill>
              <a:prstDash val="solid"/>
              <a:miter lim="800000"/>
              <a:headEnd len="sm" w="sm" type="none"/>
              <a:tailEnd len="sm" w="sm" type="none"/>
            </a:ln>
          </p:spPr>
        </p:cxnSp>
        <p:cxnSp>
          <p:nvCxnSpPr>
            <p:cNvPr id="1624" name="Google Shape;1624;p22"/>
            <p:cNvCxnSpPr>
              <a:stCxn id="1523" idx="2"/>
            </p:cNvCxnSpPr>
            <p:nvPr/>
          </p:nvCxnSpPr>
          <p:spPr>
            <a:xfrm flipH="1">
              <a:off x="4351997" y="5437546"/>
              <a:ext cx="1250700" cy="429600"/>
            </a:xfrm>
            <a:prstGeom prst="straightConnector1">
              <a:avLst/>
            </a:prstGeom>
            <a:noFill/>
            <a:ln cap="flat" cmpd="sng" w="9525">
              <a:solidFill>
                <a:srgbClr val="FF0000"/>
              </a:solidFill>
              <a:prstDash val="solid"/>
              <a:miter lim="800000"/>
              <a:headEnd len="sm" w="sm" type="none"/>
              <a:tailEnd len="sm" w="sm" type="none"/>
            </a:ln>
          </p:spPr>
        </p:cxnSp>
      </p:grpSp>
      <p:grpSp>
        <p:nvGrpSpPr>
          <p:cNvPr id="1625" name="Google Shape;1625;p22"/>
          <p:cNvGrpSpPr/>
          <p:nvPr/>
        </p:nvGrpSpPr>
        <p:grpSpPr>
          <a:xfrm>
            <a:off x="5125651" y="4114827"/>
            <a:ext cx="1774588" cy="687847"/>
            <a:chOff x="5125651" y="4114827"/>
            <a:chExt cx="1774588" cy="687847"/>
          </a:xfrm>
        </p:grpSpPr>
        <p:sp>
          <p:nvSpPr>
            <p:cNvPr id="1626" name="Google Shape;1626;p22"/>
            <p:cNvSpPr txBox="1"/>
            <p:nvPr/>
          </p:nvSpPr>
          <p:spPr>
            <a:xfrm>
              <a:off x="5532497" y="4114827"/>
              <a:ext cx="1135642" cy="34163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packet</a:t>
              </a:r>
              <a:endParaRPr/>
            </a:p>
          </p:txBody>
        </p:sp>
        <p:grpSp>
          <p:nvGrpSpPr>
            <p:cNvPr id="1627" name="Google Shape;1627;p22"/>
            <p:cNvGrpSpPr/>
            <p:nvPr/>
          </p:nvGrpSpPr>
          <p:grpSpPr>
            <a:xfrm flipH="1" rot="10800000">
              <a:off x="5125651" y="4373167"/>
              <a:ext cx="1774588" cy="429507"/>
              <a:chOff x="8970705" y="3780959"/>
              <a:chExt cx="2707737" cy="429507"/>
            </a:xfrm>
          </p:grpSpPr>
          <p:cxnSp>
            <p:nvCxnSpPr>
              <p:cNvPr id="1628" name="Google Shape;1628;p22"/>
              <p:cNvCxnSpPr/>
              <p:nvPr/>
            </p:nvCxnSpPr>
            <p:spPr>
              <a:xfrm>
                <a:off x="8970705" y="3808669"/>
                <a:ext cx="1454761" cy="401797"/>
              </a:xfrm>
              <a:prstGeom prst="straightConnector1">
                <a:avLst/>
              </a:prstGeom>
              <a:noFill/>
              <a:ln cap="flat" cmpd="sng" w="9525">
                <a:solidFill>
                  <a:srgbClr val="FF0000"/>
                </a:solidFill>
                <a:prstDash val="solid"/>
                <a:miter lim="800000"/>
                <a:headEnd len="sm" w="sm" type="none"/>
                <a:tailEnd len="sm" w="sm" type="none"/>
              </a:ln>
            </p:spPr>
          </p:cxnSp>
          <p:cxnSp>
            <p:nvCxnSpPr>
              <p:cNvPr id="1629" name="Google Shape;1629;p22"/>
              <p:cNvCxnSpPr/>
              <p:nvPr/>
            </p:nvCxnSpPr>
            <p:spPr>
              <a:xfrm flipH="1">
                <a:off x="10427754" y="3780959"/>
                <a:ext cx="1250688" cy="429507"/>
              </a:xfrm>
              <a:prstGeom prst="straightConnector1">
                <a:avLst/>
              </a:prstGeom>
              <a:noFill/>
              <a:ln cap="flat" cmpd="sng" w="9525">
                <a:solidFill>
                  <a:srgbClr val="FF0000"/>
                </a:solidFill>
                <a:prstDash val="solid"/>
                <a:miter lim="800000"/>
                <a:headEnd len="sm" w="sm" type="none"/>
                <a:tailEnd len="sm" w="sm" type="none"/>
              </a:ln>
            </p:spPr>
          </p:cxnSp>
        </p:grpSp>
      </p:grpSp>
      <p:sp>
        <p:nvSpPr>
          <p:cNvPr id="1630" name="Google Shape;1630;p22"/>
          <p:cNvSpPr/>
          <p:nvPr/>
        </p:nvSpPr>
        <p:spPr>
          <a:xfrm>
            <a:off x="3233978" y="3481952"/>
            <a:ext cx="2201622"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31" name="Google Shape;1631;p22"/>
          <p:cNvSpPr/>
          <p:nvPr/>
        </p:nvSpPr>
        <p:spPr>
          <a:xfrm>
            <a:off x="6574078" y="3494652"/>
            <a:ext cx="2201622"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32" name="Google Shape;1632;p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97"/>
                                        </p:tgtEl>
                                        <p:attrNameLst>
                                          <p:attrName>style.visibility</p:attrName>
                                        </p:attrNameLst>
                                      </p:cBhvr>
                                      <p:to>
                                        <p:strVal val="visible"/>
                                      </p:to>
                                    </p:set>
                                    <p:anim calcmode="lin" valueType="num">
                                      <p:cBhvr additive="base">
                                        <p:cTn dur="500"/>
                                        <p:tgtEl>
                                          <p:spTgt spid="159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02"/>
                                        </p:tgtEl>
                                        <p:attrNameLst>
                                          <p:attrName>style.visibility</p:attrName>
                                        </p:attrNameLst>
                                      </p:cBhvr>
                                      <p:to>
                                        <p:strVal val="visible"/>
                                      </p:to>
                                    </p:set>
                                    <p:anim calcmode="lin" valueType="num">
                                      <p:cBhvr additive="base">
                                        <p:cTn dur="500"/>
                                        <p:tgtEl>
                                          <p:spTgt spid="160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607"/>
                                        </p:tgtEl>
                                        <p:attrNameLst>
                                          <p:attrName>style.visibility</p:attrName>
                                        </p:attrNameLst>
                                      </p:cBhvr>
                                      <p:to>
                                        <p:strVal val="visible"/>
                                      </p:to>
                                    </p:set>
                                    <p:anim calcmode="lin" valueType="num">
                                      <p:cBhvr additive="base">
                                        <p:cTn dur="500"/>
                                        <p:tgtEl>
                                          <p:spTgt spid="160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612"/>
                                        </p:tgtEl>
                                        <p:attrNameLst>
                                          <p:attrName>style.visibility</p:attrName>
                                        </p:attrNameLst>
                                      </p:cBhvr>
                                      <p:to>
                                        <p:strVal val="visible"/>
                                      </p:to>
                                    </p:set>
                                    <p:anim calcmode="lin" valueType="num">
                                      <p:cBhvr additive="base">
                                        <p:cTn dur="500"/>
                                        <p:tgtEl>
                                          <p:spTgt spid="161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7"/>
                                        </p:tgtEl>
                                        <p:attrNameLst>
                                          <p:attrName>style.visibility</p:attrName>
                                        </p:attrNameLst>
                                      </p:cBhvr>
                                      <p:to>
                                        <p:strVal val="visible"/>
                                      </p:to>
                                    </p:set>
                                    <p:animEffect filter="fade" transition="in">
                                      <p:cBhvr>
                                        <p:cTn dur="500"/>
                                        <p:tgtEl>
                                          <p:spTgt spid="16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1"/>
                                        </p:tgtEl>
                                        <p:attrNameLst>
                                          <p:attrName>style.visibility</p:attrName>
                                        </p:attrNameLst>
                                      </p:cBhvr>
                                      <p:to>
                                        <p:strVal val="visible"/>
                                      </p:to>
                                    </p:set>
                                    <p:animEffect filter="fade" transition="in">
                                      <p:cBhvr>
                                        <p:cTn dur="500"/>
                                        <p:tgtEl>
                                          <p:spTgt spid="16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5"/>
                                        </p:tgtEl>
                                        <p:attrNameLst>
                                          <p:attrName>style.visibility</p:attrName>
                                        </p:attrNameLst>
                                      </p:cBhvr>
                                      <p:to>
                                        <p:strVal val="visible"/>
                                      </p:to>
                                    </p:set>
                                    <p:animEffect filter="fade" transition="in">
                                      <p:cBhvr>
                                        <p:cTn dur="500"/>
                                        <p:tgtEl>
                                          <p:spTgt spid="16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7" name="Shape 1637"/>
        <p:cNvGrpSpPr/>
        <p:nvPr/>
      </p:nvGrpSpPr>
      <p:grpSpPr>
        <a:xfrm>
          <a:off x="0" y="0"/>
          <a:ext cx="0" cy="0"/>
          <a:chOff x="0" y="0"/>
          <a:chExt cx="0" cy="0"/>
        </a:xfrm>
      </p:grpSpPr>
      <p:sp>
        <p:nvSpPr>
          <p:cNvPr id="1638" name="Google Shape;1638;p2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Reliable data transfer: getting started</a:t>
            </a:r>
            <a:endParaRPr/>
          </a:p>
        </p:txBody>
      </p:sp>
      <p:sp>
        <p:nvSpPr>
          <p:cNvPr id="1639" name="Google Shape;1639;p23"/>
          <p:cNvSpPr txBox="1"/>
          <p:nvPr/>
        </p:nvSpPr>
        <p:spPr>
          <a:xfrm>
            <a:off x="906239" y="1209675"/>
            <a:ext cx="11056577" cy="3352800"/>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None/>
            </a:pPr>
            <a:r>
              <a:rPr b="0" i="0" lang="en-US" sz="3200" u="none" cap="none" strike="noStrike">
                <a:solidFill>
                  <a:srgbClr val="C00000"/>
                </a:solidFill>
                <a:latin typeface="Calibri"/>
                <a:ea typeface="Calibri"/>
                <a:cs typeface="Calibri"/>
                <a:sym typeface="Calibri"/>
              </a:rPr>
              <a:t>We will:</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incrementally develop sender, receiver sides of </a:t>
            </a:r>
            <a:r>
              <a:rPr b="0" i="0" lang="en-US" sz="2800" u="sng" cap="none" strike="noStrike">
                <a:solidFill>
                  <a:srgbClr val="CC0000"/>
                </a:solidFill>
                <a:latin typeface="Calibri"/>
                <a:ea typeface="Calibri"/>
                <a:cs typeface="Calibri"/>
                <a:sym typeface="Calibri"/>
              </a:rPr>
              <a:t>r</a:t>
            </a:r>
            <a:r>
              <a:rPr b="0" i="0" lang="en-US" sz="2800" u="none" cap="none" strike="noStrike">
                <a:solidFill>
                  <a:srgbClr val="000000"/>
                </a:solidFill>
                <a:latin typeface="Calibri"/>
                <a:ea typeface="Calibri"/>
                <a:cs typeface="Calibri"/>
                <a:sym typeface="Calibri"/>
              </a:rPr>
              <a:t>eliable </a:t>
            </a:r>
            <a:r>
              <a:rPr b="0" i="0" lang="en-US" sz="2800" u="sng" cap="none" strike="noStrike">
                <a:solidFill>
                  <a:srgbClr val="CC0000"/>
                </a:solidFill>
                <a:latin typeface="Calibri"/>
                <a:ea typeface="Calibri"/>
                <a:cs typeface="Calibri"/>
                <a:sym typeface="Calibri"/>
              </a:rPr>
              <a:t>d</a:t>
            </a:r>
            <a:r>
              <a:rPr b="0" i="0" lang="en-US" sz="2800" u="none" cap="none" strike="noStrike">
                <a:solidFill>
                  <a:srgbClr val="000000"/>
                </a:solidFill>
                <a:latin typeface="Calibri"/>
                <a:ea typeface="Calibri"/>
                <a:cs typeface="Calibri"/>
                <a:sym typeface="Calibri"/>
              </a:rPr>
              <a:t>ata </a:t>
            </a:r>
            <a:r>
              <a:rPr b="0" i="0" lang="en-US" sz="2800" u="sng" cap="none" strike="noStrike">
                <a:solidFill>
                  <a:srgbClr val="CC0000"/>
                </a:solidFill>
                <a:latin typeface="Calibri"/>
                <a:ea typeface="Calibri"/>
                <a:cs typeface="Calibri"/>
                <a:sym typeface="Calibri"/>
              </a:rPr>
              <a:t>t</a:t>
            </a:r>
            <a:r>
              <a:rPr b="0" i="0" lang="en-US" sz="2800" u="none" cap="none" strike="noStrike">
                <a:solidFill>
                  <a:srgbClr val="000000"/>
                </a:solidFill>
                <a:latin typeface="Calibri"/>
                <a:ea typeface="Calibri"/>
                <a:cs typeface="Calibri"/>
                <a:sym typeface="Calibri"/>
              </a:rPr>
              <a:t>ransfer protocol (</a:t>
            </a:r>
            <a:r>
              <a:rPr b="0" i="0" lang="en-US" sz="2800" u="none" cap="none" strike="noStrike">
                <a:solidFill>
                  <a:srgbClr val="000000"/>
                </a:solidFill>
                <a:latin typeface="Courier"/>
                <a:ea typeface="Courier"/>
                <a:cs typeface="Courier"/>
                <a:sym typeface="Courier"/>
              </a:rPr>
              <a:t>rdt</a:t>
            </a:r>
            <a:r>
              <a:rPr b="0" i="0" lang="en-US" sz="2800" u="none" cap="none" strike="noStrike">
                <a:solidFill>
                  <a:srgbClr val="000000"/>
                </a:solidFill>
                <a:latin typeface="Calibri"/>
                <a:ea typeface="Calibri"/>
                <a:cs typeface="Calibri"/>
                <a:sym typeface="Calibri"/>
              </a:rPr>
              <a:t>)</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consider only unidirectional data transfer</a:t>
            </a:r>
            <a:endParaRPr/>
          </a:p>
          <a:p>
            <a:pPr indent="-230187" lvl="1" marL="687388" marR="0" rtl="0" algn="l">
              <a:lnSpc>
                <a:spcPct val="85000"/>
              </a:lnSpc>
              <a:spcBef>
                <a:spcPts val="48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but control info will flow in both directions!</a:t>
            </a:r>
            <a:endParaRPr/>
          </a:p>
        </p:txBody>
      </p:sp>
      <p:sp>
        <p:nvSpPr>
          <p:cNvPr id="1640" name="Google Shape;1640;p23"/>
          <p:cNvSpPr/>
          <p:nvPr/>
        </p:nvSpPr>
        <p:spPr>
          <a:xfrm>
            <a:off x="4017605" y="4873894"/>
            <a:ext cx="885825" cy="876300"/>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41" name="Google Shape;1641;p23"/>
          <p:cNvSpPr/>
          <p:nvPr/>
        </p:nvSpPr>
        <p:spPr>
          <a:xfrm>
            <a:off x="3927117" y="4899294"/>
            <a:ext cx="942975" cy="8763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42" name="Google Shape;1642;p23"/>
          <p:cNvSpPr txBox="1"/>
          <p:nvPr/>
        </p:nvSpPr>
        <p:spPr>
          <a:xfrm>
            <a:off x="4038243" y="5013594"/>
            <a:ext cx="73501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state</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1</a:t>
            </a:r>
            <a:endParaRPr/>
          </a:p>
        </p:txBody>
      </p:sp>
      <p:sp>
        <p:nvSpPr>
          <p:cNvPr id="1643" name="Google Shape;1643;p23"/>
          <p:cNvSpPr/>
          <p:nvPr/>
        </p:nvSpPr>
        <p:spPr>
          <a:xfrm>
            <a:off x="4870092" y="4851669"/>
            <a:ext cx="3952875" cy="285750"/>
          </a:xfrm>
          <a:custGeom>
            <a:rect b="b" l="l" r="r" t="t"/>
            <a:pathLst>
              <a:path extrusionOk="0" h="180" w="1446">
                <a:moveTo>
                  <a:pt x="0" y="180"/>
                </a:moveTo>
                <a:cubicBezTo>
                  <a:pt x="540" y="30"/>
                  <a:pt x="972" y="0"/>
                  <a:pt x="1446" y="168"/>
                </a:cubicBezTo>
              </a:path>
            </a:pathLst>
          </a:cu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44" name="Google Shape;1644;p23"/>
          <p:cNvSpPr/>
          <p:nvPr/>
        </p:nvSpPr>
        <p:spPr>
          <a:xfrm>
            <a:off x="8802330" y="4977635"/>
            <a:ext cx="873124" cy="876300"/>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45" name="Google Shape;1645;p23"/>
          <p:cNvSpPr/>
          <p:nvPr/>
        </p:nvSpPr>
        <p:spPr>
          <a:xfrm>
            <a:off x="8737242" y="5004069"/>
            <a:ext cx="885825" cy="8763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46" name="Google Shape;1646;p23"/>
          <p:cNvSpPr txBox="1"/>
          <p:nvPr/>
        </p:nvSpPr>
        <p:spPr>
          <a:xfrm>
            <a:off x="8802017" y="5112019"/>
            <a:ext cx="73501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state</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2</a:t>
            </a:r>
            <a:endParaRPr/>
          </a:p>
        </p:txBody>
      </p:sp>
      <p:sp>
        <p:nvSpPr>
          <p:cNvPr id="1647" name="Google Shape;1647;p23"/>
          <p:cNvSpPr txBox="1"/>
          <p:nvPr/>
        </p:nvSpPr>
        <p:spPr>
          <a:xfrm>
            <a:off x="4895703" y="4197192"/>
            <a:ext cx="37020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event causing state transition</a:t>
            </a:r>
            <a:endParaRPr b="0" i="0" sz="2400" u="none" cap="none" strike="noStrike">
              <a:solidFill>
                <a:srgbClr val="CC0000"/>
              </a:solidFill>
              <a:latin typeface="Tahoma"/>
              <a:ea typeface="Tahoma"/>
              <a:cs typeface="Tahoma"/>
              <a:sym typeface="Tahoma"/>
            </a:endParaRPr>
          </a:p>
        </p:txBody>
      </p:sp>
      <p:sp>
        <p:nvSpPr>
          <p:cNvPr id="1648" name="Google Shape;1648;p23"/>
          <p:cNvSpPr txBox="1"/>
          <p:nvPr/>
        </p:nvSpPr>
        <p:spPr>
          <a:xfrm>
            <a:off x="4822026" y="4566375"/>
            <a:ext cx="3907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actions taken on state transition</a:t>
            </a:r>
            <a:endParaRPr b="0" i="0" sz="2400" u="none" cap="none" strike="noStrike">
              <a:solidFill>
                <a:srgbClr val="CC0000"/>
              </a:solidFill>
              <a:latin typeface="Tahoma"/>
              <a:ea typeface="Tahoma"/>
              <a:cs typeface="Tahoma"/>
              <a:sym typeface="Tahoma"/>
            </a:endParaRPr>
          </a:p>
        </p:txBody>
      </p:sp>
      <p:cxnSp>
        <p:nvCxnSpPr>
          <p:cNvPr id="1649" name="Google Shape;1649;p23"/>
          <p:cNvCxnSpPr/>
          <p:nvPr/>
        </p:nvCxnSpPr>
        <p:spPr>
          <a:xfrm>
            <a:off x="4993917" y="4565919"/>
            <a:ext cx="3381375" cy="0"/>
          </a:xfrm>
          <a:prstGeom prst="straightConnector1">
            <a:avLst/>
          </a:prstGeom>
          <a:noFill/>
          <a:ln cap="flat" cmpd="sng" w="28575">
            <a:solidFill>
              <a:srgbClr val="CC0000"/>
            </a:solidFill>
            <a:prstDash val="solid"/>
            <a:round/>
            <a:headEnd len="med" w="med" type="none"/>
            <a:tailEnd len="med" w="med" type="none"/>
          </a:ln>
        </p:spPr>
      </p:cxnSp>
      <p:sp>
        <p:nvSpPr>
          <p:cNvPr id="1650" name="Google Shape;1650;p23"/>
          <p:cNvSpPr/>
          <p:nvPr/>
        </p:nvSpPr>
        <p:spPr>
          <a:xfrm>
            <a:off x="1012467" y="4899294"/>
            <a:ext cx="2771775" cy="1238250"/>
          </a:xfrm>
          <a:prstGeom prst="rect">
            <a:avLst/>
          </a:prstGeom>
          <a:noFill/>
          <a:ln>
            <a:noFill/>
          </a:ln>
        </p:spPr>
        <p:txBody>
          <a:bodyPr anchorCtr="0" anchor="t" bIns="45700" lIns="91425" spcFirstLastPara="1" rIns="91425" wrap="square" tIns="45700">
            <a:noAutofit/>
          </a:bodyPr>
          <a:lstStyle/>
          <a:p>
            <a:pPr indent="-342900" lvl="0" marL="342900" marR="0" rtl="0" algn="r">
              <a:lnSpc>
                <a:spcPct val="85000"/>
              </a:lnSpc>
              <a:spcBef>
                <a:spcPts val="0"/>
              </a:spcBef>
              <a:spcAft>
                <a:spcPts val="0"/>
              </a:spcAft>
              <a:buClr>
                <a:srgbClr val="000099"/>
              </a:buClr>
              <a:buSzPts val="1170"/>
              <a:buFont typeface="Noto Sans Symbols"/>
              <a:buNone/>
            </a:pPr>
            <a:r>
              <a:rPr b="0" i="0" lang="en-US" sz="1800" u="none" cap="none" strike="noStrike">
                <a:solidFill>
                  <a:srgbClr val="CC0000"/>
                </a:solidFill>
                <a:latin typeface="Calibri"/>
                <a:ea typeface="Calibri"/>
                <a:cs typeface="Calibri"/>
                <a:sym typeface="Calibri"/>
              </a:rPr>
              <a:t>state:</a:t>
            </a:r>
            <a:r>
              <a:rPr b="0" i="0" lang="en-US" sz="1800" u="none" cap="none" strike="noStrike">
                <a:solidFill>
                  <a:srgbClr val="000000"/>
                </a:solidFill>
                <a:latin typeface="Calibri"/>
                <a:ea typeface="Calibri"/>
                <a:cs typeface="Calibri"/>
                <a:sym typeface="Calibri"/>
              </a:rPr>
              <a:t> when in this “state” next state uniquely determined by next event</a:t>
            </a:r>
            <a:endParaRPr b="0" i="0" sz="1800" u="none" cap="none" strike="noStrike">
              <a:solidFill>
                <a:srgbClr val="000000"/>
              </a:solidFill>
              <a:latin typeface="Calibri"/>
              <a:ea typeface="Calibri"/>
              <a:cs typeface="Calibri"/>
              <a:sym typeface="Calibri"/>
            </a:endParaRPr>
          </a:p>
        </p:txBody>
      </p:sp>
      <p:sp>
        <p:nvSpPr>
          <p:cNvPr id="1651" name="Google Shape;1651;p23"/>
          <p:cNvSpPr/>
          <p:nvPr/>
        </p:nvSpPr>
        <p:spPr>
          <a:xfrm>
            <a:off x="4270017" y="5775594"/>
            <a:ext cx="95250" cy="581025"/>
          </a:xfrm>
          <a:custGeom>
            <a:rect b="b" l="l" r="r" t="t"/>
            <a:pathLst>
              <a:path extrusionOk="0" h="366" w="60">
                <a:moveTo>
                  <a:pt x="48" y="366"/>
                </a:moveTo>
                <a:cubicBezTo>
                  <a:pt x="0" y="204"/>
                  <a:pt x="60" y="55"/>
                  <a:pt x="60" y="0"/>
                </a:cubicBezTo>
              </a:path>
            </a:pathLst>
          </a:cu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52" name="Google Shape;1652;p23"/>
          <p:cNvSpPr/>
          <p:nvPr/>
        </p:nvSpPr>
        <p:spPr>
          <a:xfrm rot="10800000">
            <a:off x="9413517" y="5813694"/>
            <a:ext cx="95250" cy="581025"/>
          </a:xfrm>
          <a:custGeom>
            <a:rect b="b" l="l" r="r" t="t"/>
            <a:pathLst>
              <a:path extrusionOk="0" h="366" w="60">
                <a:moveTo>
                  <a:pt x="48" y="366"/>
                </a:moveTo>
                <a:cubicBezTo>
                  <a:pt x="0" y="204"/>
                  <a:pt x="60" y="55"/>
                  <a:pt x="60" y="0"/>
                </a:cubicBezTo>
              </a:path>
            </a:pathLst>
          </a:cu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1653" name="Google Shape;1653;p23"/>
          <p:cNvCxnSpPr/>
          <p:nvPr/>
        </p:nvCxnSpPr>
        <p:spPr>
          <a:xfrm>
            <a:off x="4824055" y="5532730"/>
            <a:ext cx="1541462" cy="738164"/>
          </a:xfrm>
          <a:prstGeom prst="straightConnector1">
            <a:avLst/>
          </a:prstGeom>
          <a:noFill/>
          <a:ln cap="flat" cmpd="sng" w="28575">
            <a:solidFill>
              <a:srgbClr val="CC0000"/>
            </a:solidFill>
            <a:prstDash val="solid"/>
            <a:round/>
            <a:headEnd len="med" w="med" type="none"/>
            <a:tailEnd len="med" w="med" type="triangle"/>
          </a:ln>
        </p:spPr>
      </p:cxnSp>
      <p:sp>
        <p:nvSpPr>
          <p:cNvPr id="1654" name="Google Shape;1654;p23"/>
          <p:cNvSpPr txBox="1"/>
          <p:nvPr/>
        </p:nvSpPr>
        <p:spPr>
          <a:xfrm>
            <a:off x="5560649" y="5312050"/>
            <a:ext cx="8730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event</a:t>
            </a:r>
            <a:endParaRPr b="0" i="0" sz="2400" u="none" cap="none" strike="noStrike">
              <a:solidFill>
                <a:srgbClr val="CC0000"/>
              </a:solidFill>
              <a:latin typeface="Tahoma"/>
              <a:ea typeface="Tahoma"/>
              <a:cs typeface="Tahoma"/>
              <a:sym typeface="Tahoma"/>
            </a:endParaRPr>
          </a:p>
        </p:txBody>
      </p:sp>
      <p:sp>
        <p:nvSpPr>
          <p:cNvPr id="1655" name="Google Shape;1655;p23"/>
          <p:cNvSpPr txBox="1"/>
          <p:nvPr/>
        </p:nvSpPr>
        <p:spPr>
          <a:xfrm>
            <a:off x="5444778" y="5616850"/>
            <a:ext cx="1210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actions</a:t>
            </a:r>
            <a:endParaRPr b="0" i="0" sz="2400" u="none" cap="none" strike="noStrike">
              <a:solidFill>
                <a:srgbClr val="CC0000"/>
              </a:solidFill>
              <a:latin typeface="Tahoma"/>
              <a:ea typeface="Tahoma"/>
              <a:cs typeface="Tahoma"/>
              <a:sym typeface="Tahoma"/>
            </a:endParaRPr>
          </a:p>
        </p:txBody>
      </p:sp>
      <p:cxnSp>
        <p:nvCxnSpPr>
          <p:cNvPr id="1656" name="Google Shape;1656;p23"/>
          <p:cNvCxnSpPr/>
          <p:nvPr/>
        </p:nvCxnSpPr>
        <p:spPr>
          <a:xfrm>
            <a:off x="5470167" y="5670819"/>
            <a:ext cx="942975" cy="0"/>
          </a:xfrm>
          <a:prstGeom prst="straightConnector1">
            <a:avLst/>
          </a:prstGeom>
          <a:noFill/>
          <a:ln cap="flat" cmpd="sng" w="28575">
            <a:solidFill>
              <a:srgbClr val="CC0000"/>
            </a:solidFill>
            <a:prstDash val="solid"/>
            <a:round/>
            <a:headEnd len="med" w="med" type="none"/>
            <a:tailEnd len="med" w="med" type="none"/>
          </a:ln>
        </p:spPr>
      </p:cxnSp>
      <p:sp>
        <p:nvSpPr>
          <p:cNvPr id="1657" name="Google Shape;1657;p23"/>
          <p:cNvSpPr txBox="1"/>
          <p:nvPr/>
        </p:nvSpPr>
        <p:spPr>
          <a:xfrm>
            <a:off x="918939" y="3470275"/>
            <a:ext cx="11056577" cy="5429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use finite state machines (FSM)  to specify sender, receiver</a:t>
            </a:r>
            <a:endParaRPr/>
          </a:p>
        </p:txBody>
      </p:sp>
      <p:sp>
        <p:nvSpPr>
          <p:cNvPr id="1658" name="Google Shape;1658;p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0"/>
                                        </p:tgtEl>
                                        <p:attrNameLst>
                                          <p:attrName>style.visibility</p:attrName>
                                        </p:attrNameLst>
                                      </p:cBhvr>
                                      <p:to>
                                        <p:strVal val="visible"/>
                                      </p:to>
                                    </p:set>
                                    <p:animEffect filter="fade" transition="in">
                                      <p:cBhvr>
                                        <p:cTn dur="500"/>
                                        <p:tgtEl>
                                          <p:spTgt spid="1640"/>
                                        </p:tgtEl>
                                      </p:cBhvr>
                                    </p:animEffect>
                                  </p:childTnLst>
                                </p:cTn>
                              </p:par>
                              <p:par>
                                <p:cTn fill="hold" nodeType="withEffect" presetClass="entr" presetID="10" presetSubtype="0">
                                  <p:stCondLst>
                                    <p:cond delay="0"/>
                                  </p:stCondLst>
                                  <p:childTnLst>
                                    <p:set>
                                      <p:cBhvr>
                                        <p:cTn dur="1" fill="hold">
                                          <p:stCondLst>
                                            <p:cond delay="0"/>
                                          </p:stCondLst>
                                        </p:cTn>
                                        <p:tgtEl>
                                          <p:spTgt spid="1641"/>
                                        </p:tgtEl>
                                        <p:attrNameLst>
                                          <p:attrName>style.visibility</p:attrName>
                                        </p:attrNameLst>
                                      </p:cBhvr>
                                      <p:to>
                                        <p:strVal val="visible"/>
                                      </p:to>
                                    </p:set>
                                    <p:animEffect filter="fade" transition="in">
                                      <p:cBhvr>
                                        <p:cTn dur="500"/>
                                        <p:tgtEl>
                                          <p:spTgt spid="1641"/>
                                        </p:tgtEl>
                                      </p:cBhvr>
                                    </p:animEffect>
                                  </p:childTnLst>
                                </p:cTn>
                              </p:par>
                              <p:par>
                                <p:cTn fill="hold" nodeType="withEffect" presetClass="entr" presetID="10" presetSubtype="0">
                                  <p:stCondLst>
                                    <p:cond delay="0"/>
                                  </p:stCondLst>
                                  <p:childTnLst>
                                    <p:set>
                                      <p:cBhvr>
                                        <p:cTn dur="1" fill="hold">
                                          <p:stCondLst>
                                            <p:cond delay="0"/>
                                          </p:stCondLst>
                                        </p:cTn>
                                        <p:tgtEl>
                                          <p:spTgt spid="1642"/>
                                        </p:tgtEl>
                                        <p:attrNameLst>
                                          <p:attrName>style.visibility</p:attrName>
                                        </p:attrNameLst>
                                      </p:cBhvr>
                                      <p:to>
                                        <p:strVal val="visible"/>
                                      </p:to>
                                    </p:set>
                                    <p:animEffect filter="fade" transition="in">
                                      <p:cBhvr>
                                        <p:cTn dur="500"/>
                                        <p:tgtEl>
                                          <p:spTgt spid="1642"/>
                                        </p:tgtEl>
                                      </p:cBhvr>
                                    </p:animEffect>
                                  </p:childTnLst>
                                </p:cTn>
                              </p:par>
                              <p:par>
                                <p:cTn fill="hold" nodeType="withEffect" presetClass="entr" presetID="10" presetSubtype="0">
                                  <p:stCondLst>
                                    <p:cond delay="0"/>
                                  </p:stCondLst>
                                  <p:childTnLst>
                                    <p:set>
                                      <p:cBhvr>
                                        <p:cTn dur="1" fill="hold">
                                          <p:stCondLst>
                                            <p:cond delay="0"/>
                                          </p:stCondLst>
                                        </p:cTn>
                                        <p:tgtEl>
                                          <p:spTgt spid="1643"/>
                                        </p:tgtEl>
                                        <p:attrNameLst>
                                          <p:attrName>style.visibility</p:attrName>
                                        </p:attrNameLst>
                                      </p:cBhvr>
                                      <p:to>
                                        <p:strVal val="visible"/>
                                      </p:to>
                                    </p:set>
                                    <p:animEffect filter="fade" transition="in">
                                      <p:cBhvr>
                                        <p:cTn dur="500"/>
                                        <p:tgtEl>
                                          <p:spTgt spid="1643"/>
                                        </p:tgtEl>
                                      </p:cBhvr>
                                    </p:animEffect>
                                  </p:childTnLst>
                                </p:cTn>
                              </p:par>
                              <p:par>
                                <p:cTn fill="hold" nodeType="withEffect" presetClass="entr" presetID="10" presetSubtype="0">
                                  <p:stCondLst>
                                    <p:cond delay="0"/>
                                  </p:stCondLst>
                                  <p:childTnLst>
                                    <p:set>
                                      <p:cBhvr>
                                        <p:cTn dur="1" fill="hold">
                                          <p:stCondLst>
                                            <p:cond delay="0"/>
                                          </p:stCondLst>
                                        </p:cTn>
                                        <p:tgtEl>
                                          <p:spTgt spid="1644"/>
                                        </p:tgtEl>
                                        <p:attrNameLst>
                                          <p:attrName>style.visibility</p:attrName>
                                        </p:attrNameLst>
                                      </p:cBhvr>
                                      <p:to>
                                        <p:strVal val="visible"/>
                                      </p:to>
                                    </p:set>
                                    <p:animEffect filter="fade" transition="in">
                                      <p:cBhvr>
                                        <p:cTn dur="500"/>
                                        <p:tgtEl>
                                          <p:spTgt spid="1644"/>
                                        </p:tgtEl>
                                      </p:cBhvr>
                                    </p:animEffect>
                                  </p:childTnLst>
                                </p:cTn>
                              </p:par>
                              <p:par>
                                <p:cTn fill="hold" nodeType="withEffect" presetClass="entr" presetID="10" presetSubtype="0">
                                  <p:stCondLst>
                                    <p:cond delay="0"/>
                                  </p:stCondLst>
                                  <p:childTnLst>
                                    <p:set>
                                      <p:cBhvr>
                                        <p:cTn dur="1" fill="hold">
                                          <p:stCondLst>
                                            <p:cond delay="0"/>
                                          </p:stCondLst>
                                        </p:cTn>
                                        <p:tgtEl>
                                          <p:spTgt spid="1645"/>
                                        </p:tgtEl>
                                        <p:attrNameLst>
                                          <p:attrName>style.visibility</p:attrName>
                                        </p:attrNameLst>
                                      </p:cBhvr>
                                      <p:to>
                                        <p:strVal val="visible"/>
                                      </p:to>
                                    </p:set>
                                    <p:animEffect filter="fade" transition="in">
                                      <p:cBhvr>
                                        <p:cTn dur="500"/>
                                        <p:tgtEl>
                                          <p:spTgt spid="1645"/>
                                        </p:tgtEl>
                                      </p:cBhvr>
                                    </p:animEffect>
                                  </p:childTnLst>
                                </p:cTn>
                              </p:par>
                              <p:par>
                                <p:cTn fill="hold" nodeType="withEffect" presetClass="entr" presetID="10" presetSubtype="0">
                                  <p:stCondLst>
                                    <p:cond delay="0"/>
                                  </p:stCondLst>
                                  <p:childTnLst>
                                    <p:set>
                                      <p:cBhvr>
                                        <p:cTn dur="1" fill="hold">
                                          <p:stCondLst>
                                            <p:cond delay="0"/>
                                          </p:stCondLst>
                                        </p:cTn>
                                        <p:tgtEl>
                                          <p:spTgt spid="1646"/>
                                        </p:tgtEl>
                                        <p:attrNameLst>
                                          <p:attrName>style.visibility</p:attrName>
                                        </p:attrNameLst>
                                      </p:cBhvr>
                                      <p:to>
                                        <p:strVal val="visible"/>
                                      </p:to>
                                    </p:set>
                                    <p:animEffect filter="fade" transition="in">
                                      <p:cBhvr>
                                        <p:cTn dur="500"/>
                                        <p:tgtEl>
                                          <p:spTgt spid="1646"/>
                                        </p:tgtEl>
                                      </p:cBhvr>
                                    </p:animEffect>
                                  </p:childTnLst>
                                </p:cTn>
                              </p:par>
                              <p:par>
                                <p:cTn fill="hold" nodeType="withEffect" presetClass="entr" presetID="10" presetSubtype="0">
                                  <p:stCondLst>
                                    <p:cond delay="0"/>
                                  </p:stCondLst>
                                  <p:childTnLst>
                                    <p:set>
                                      <p:cBhvr>
                                        <p:cTn dur="1" fill="hold">
                                          <p:stCondLst>
                                            <p:cond delay="0"/>
                                          </p:stCondLst>
                                        </p:cTn>
                                        <p:tgtEl>
                                          <p:spTgt spid="1647"/>
                                        </p:tgtEl>
                                        <p:attrNameLst>
                                          <p:attrName>style.visibility</p:attrName>
                                        </p:attrNameLst>
                                      </p:cBhvr>
                                      <p:to>
                                        <p:strVal val="visible"/>
                                      </p:to>
                                    </p:set>
                                    <p:animEffect filter="fade" transition="in">
                                      <p:cBhvr>
                                        <p:cTn dur="500"/>
                                        <p:tgtEl>
                                          <p:spTgt spid="1647"/>
                                        </p:tgtEl>
                                      </p:cBhvr>
                                    </p:animEffect>
                                  </p:childTnLst>
                                </p:cTn>
                              </p:par>
                              <p:par>
                                <p:cTn fill="hold" nodeType="withEffect" presetClass="entr" presetID="10" presetSubtype="0">
                                  <p:stCondLst>
                                    <p:cond delay="0"/>
                                  </p:stCondLst>
                                  <p:childTnLst>
                                    <p:set>
                                      <p:cBhvr>
                                        <p:cTn dur="1" fill="hold">
                                          <p:stCondLst>
                                            <p:cond delay="0"/>
                                          </p:stCondLst>
                                        </p:cTn>
                                        <p:tgtEl>
                                          <p:spTgt spid="1648"/>
                                        </p:tgtEl>
                                        <p:attrNameLst>
                                          <p:attrName>style.visibility</p:attrName>
                                        </p:attrNameLst>
                                      </p:cBhvr>
                                      <p:to>
                                        <p:strVal val="visible"/>
                                      </p:to>
                                    </p:set>
                                    <p:animEffect filter="fade" transition="in">
                                      <p:cBhvr>
                                        <p:cTn dur="500"/>
                                        <p:tgtEl>
                                          <p:spTgt spid="1648"/>
                                        </p:tgtEl>
                                      </p:cBhvr>
                                    </p:animEffect>
                                  </p:childTnLst>
                                </p:cTn>
                              </p:par>
                              <p:par>
                                <p:cTn fill="hold" nodeType="withEffect" presetClass="entr" presetID="10" presetSubtype="0">
                                  <p:stCondLst>
                                    <p:cond delay="0"/>
                                  </p:stCondLst>
                                  <p:childTnLst>
                                    <p:set>
                                      <p:cBhvr>
                                        <p:cTn dur="1" fill="hold">
                                          <p:stCondLst>
                                            <p:cond delay="0"/>
                                          </p:stCondLst>
                                        </p:cTn>
                                        <p:tgtEl>
                                          <p:spTgt spid="1649"/>
                                        </p:tgtEl>
                                        <p:attrNameLst>
                                          <p:attrName>style.visibility</p:attrName>
                                        </p:attrNameLst>
                                      </p:cBhvr>
                                      <p:to>
                                        <p:strVal val="visible"/>
                                      </p:to>
                                    </p:set>
                                    <p:animEffect filter="fade" transition="in">
                                      <p:cBhvr>
                                        <p:cTn dur="500"/>
                                        <p:tgtEl>
                                          <p:spTgt spid="1649"/>
                                        </p:tgtEl>
                                      </p:cBhvr>
                                    </p:animEffect>
                                  </p:childTnLst>
                                </p:cTn>
                              </p:par>
                              <p:par>
                                <p:cTn fill="hold" nodeType="withEffect" presetClass="entr" presetID="10" presetSubtype="0">
                                  <p:stCondLst>
                                    <p:cond delay="0"/>
                                  </p:stCondLst>
                                  <p:childTnLst>
                                    <p:set>
                                      <p:cBhvr>
                                        <p:cTn dur="1" fill="hold">
                                          <p:stCondLst>
                                            <p:cond delay="0"/>
                                          </p:stCondLst>
                                        </p:cTn>
                                        <p:tgtEl>
                                          <p:spTgt spid="1650"/>
                                        </p:tgtEl>
                                        <p:attrNameLst>
                                          <p:attrName>style.visibility</p:attrName>
                                        </p:attrNameLst>
                                      </p:cBhvr>
                                      <p:to>
                                        <p:strVal val="visible"/>
                                      </p:to>
                                    </p:set>
                                    <p:animEffect filter="fade" transition="in">
                                      <p:cBhvr>
                                        <p:cTn dur="500"/>
                                        <p:tgtEl>
                                          <p:spTgt spid="1650"/>
                                        </p:tgtEl>
                                      </p:cBhvr>
                                    </p:animEffect>
                                  </p:childTnLst>
                                </p:cTn>
                              </p:par>
                              <p:par>
                                <p:cTn fill="hold" nodeType="withEffect" presetClass="entr" presetID="10" presetSubtype="0">
                                  <p:stCondLst>
                                    <p:cond delay="0"/>
                                  </p:stCondLst>
                                  <p:childTnLst>
                                    <p:set>
                                      <p:cBhvr>
                                        <p:cTn dur="1" fill="hold">
                                          <p:stCondLst>
                                            <p:cond delay="0"/>
                                          </p:stCondLst>
                                        </p:cTn>
                                        <p:tgtEl>
                                          <p:spTgt spid="1651"/>
                                        </p:tgtEl>
                                        <p:attrNameLst>
                                          <p:attrName>style.visibility</p:attrName>
                                        </p:attrNameLst>
                                      </p:cBhvr>
                                      <p:to>
                                        <p:strVal val="visible"/>
                                      </p:to>
                                    </p:set>
                                    <p:animEffect filter="fade" transition="in">
                                      <p:cBhvr>
                                        <p:cTn dur="500"/>
                                        <p:tgtEl>
                                          <p:spTgt spid="1651"/>
                                        </p:tgtEl>
                                      </p:cBhvr>
                                    </p:animEffect>
                                  </p:childTnLst>
                                </p:cTn>
                              </p:par>
                              <p:par>
                                <p:cTn fill="hold" nodeType="withEffect" presetClass="entr" presetID="10" presetSubtype="0">
                                  <p:stCondLst>
                                    <p:cond delay="0"/>
                                  </p:stCondLst>
                                  <p:childTnLst>
                                    <p:set>
                                      <p:cBhvr>
                                        <p:cTn dur="1" fill="hold">
                                          <p:stCondLst>
                                            <p:cond delay="0"/>
                                          </p:stCondLst>
                                        </p:cTn>
                                        <p:tgtEl>
                                          <p:spTgt spid="1652"/>
                                        </p:tgtEl>
                                        <p:attrNameLst>
                                          <p:attrName>style.visibility</p:attrName>
                                        </p:attrNameLst>
                                      </p:cBhvr>
                                      <p:to>
                                        <p:strVal val="visible"/>
                                      </p:to>
                                    </p:set>
                                    <p:animEffect filter="fade" transition="in">
                                      <p:cBhvr>
                                        <p:cTn dur="500"/>
                                        <p:tgtEl>
                                          <p:spTgt spid="1652"/>
                                        </p:tgtEl>
                                      </p:cBhvr>
                                    </p:animEffect>
                                  </p:childTnLst>
                                </p:cTn>
                              </p:par>
                              <p:par>
                                <p:cTn fill="hold" nodeType="withEffect" presetClass="entr" presetID="10" presetSubtype="0">
                                  <p:stCondLst>
                                    <p:cond delay="0"/>
                                  </p:stCondLst>
                                  <p:childTnLst>
                                    <p:set>
                                      <p:cBhvr>
                                        <p:cTn dur="1" fill="hold">
                                          <p:stCondLst>
                                            <p:cond delay="0"/>
                                          </p:stCondLst>
                                        </p:cTn>
                                        <p:tgtEl>
                                          <p:spTgt spid="1653"/>
                                        </p:tgtEl>
                                        <p:attrNameLst>
                                          <p:attrName>style.visibility</p:attrName>
                                        </p:attrNameLst>
                                      </p:cBhvr>
                                      <p:to>
                                        <p:strVal val="visible"/>
                                      </p:to>
                                    </p:set>
                                    <p:animEffect filter="fade" transition="in">
                                      <p:cBhvr>
                                        <p:cTn dur="500"/>
                                        <p:tgtEl>
                                          <p:spTgt spid="1653"/>
                                        </p:tgtEl>
                                      </p:cBhvr>
                                    </p:animEffect>
                                  </p:childTnLst>
                                </p:cTn>
                              </p:par>
                              <p:par>
                                <p:cTn fill="hold" nodeType="withEffect" presetClass="entr" presetID="10" presetSubtype="0">
                                  <p:stCondLst>
                                    <p:cond delay="0"/>
                                  </p:stCondLst>
                                  <p:childTnLst>
                                    <p:set>
                                      <p:cBhvr>
                                        <p:cTn dur="1" fill="hold">
                                          <p:stCondLst>
                                            <p:cond delay="0"/>
                                          </p:stCondLst>
                                        </p:cTn>
                                        <p:tgtEl>
                                          <p:spTgt spid="1654"/>
                                        </p:tgtEl>
                                        <p:attrNameLst>
                                          <p:attrName>style.visibility</p:attrName>
                                        </p:attrNameLst>
                                      </p:cBhvr>
                                      <p:to>
                                        <p:strVal val="visible"/>
                                      </p:to>
                                    </p:set>
                                    <p:animEffect filter="fade" transition="in">
                                      <p:cBhvr>
                                        <p:cTn dur="500"/>
                                        <p:tgtEl>
                                          <p:spTgt spid="1654"/>
                                        </p:tgtEl>
                                      </p:cBhvr>
                                    </p:animEffect>
                                  </p:childTnLst>
                                </p:cTn>
                              </p:par>
                              <p:par>
                                <p:cTn fill="hold" nodeType="withEffect" presetClass="entr" presetID="10" presetSubtype="0">
                                  <p:stCondLst>
                                    <p:cond delay="0"/>
                                  </p:stCondLst>
                                  <p:childTnLst>
                                    <p:set>
                                      <p:cBhvr>
                                        <p:cTn dur="1" fill="hold">
                                          <p:stCondLst>
                                            <p:cond delay="0"/>
                                          </p:stCondLst>
                                        </p:cTn>
                                        <p:tgtEl>
                                          <p:spTgt spid="1655"/>
                                        </p:tgtEl>
                                        <p:attrNameLst>
                                          <p:attrName>style.visibility</p:attrName>
                                        </p:attrNameLst>
                                      </p:cBhvr>
                                      <p:to>
                                        <p:strVal val="visible"/>
                                      </p:to>
                                    </p:set>
                                    <p:animEffect filter="fade" transition="in">
                                      <p:cBhvr>
                                        <p:cTn dur="500"/>
                                        <p:tgtEl>
                                          <p:spTgt spid="1655"/>
                                        </p:tgtEl>
                                      </p:cBhvr>
                                    </p:animEffect>
                                  </p:childTnLst>
                                </p:cTn>
                              </p:par>
                              <p:par>
                                <p:cTn fill="hold" nodeType="withEffect" presetClass="entr" presetID="10" presetSubtype="0">
                                  <p:stCondLst>
                                    <p:cond delay="0"/>
                                  </p:stCondLst>
                                  <p:childTnLst>
                                    <p:set>
                                      <p:cBhvr>
                                        <p:cTn dur="1" fill="hold">
                                          <p:stCondLst>
                                            <p:cond delay="0"/>
                                          </p:stCondLst>
                                        </p:cTn>
                                        <p:tgtEl>
                                          <p:spTgt spid="1656"/>
                                        </p:tgtEl>
                                        <p:attrNameLst>
                                          <p:attrName>style.visibility</p:attrName>
                                        </p:attrNameLst>
                                      </p:cBhvr>
                                      <p:to>
                                        <p:strVal val="visible"/>
                                      </p:to>
                                    </p:set>
                                    <p:animEffect filter="fade" transition="in">
                                      <p:cBhvr>
                                        <p:cTn dur="500"/>
                                        <p:tgtEl>
                                          <p:spTgt spid="1656"/>
                                        </p:tgtEl>
                                      </p:cBhvr>
                                    </p:animEffect>
                                  </p:childTnLst>
                                </p:cTn>
                              </p:par>
                              <p:par>
                                <p:cTn fill="hold" nodeType="withEffect" presetClass="entr" presetID="10" presetSubtype="0">
                                  <p:stCondLst>
                                    <p:cond delay="0"/>
                                  </p:stCondLst>
                                  <p:childTnLst>
                                    <p:set>
                                      <p:cBhvr>
                                        <p:cTn dur="1" fill="hold">
                                          <p:stCondLst>
                                            <p:cond delay="0"/>
                                          </p:stCondLst>
                                        </p:cTn>
                                        <p:tgtEl>
                                          <p:spTgt spid="1657"/>
                                        </p:tgtEl>
                                        <p:attrNameLst>
                                          <p:attrName>style.visibility</p:attrName>
                                        </p:attrNameLst>
                                      </p:cBhvr>
                                      <p:to>
                                        <p:strVal val="visible"/>
                                      </p:to>
                                    </p:set>
                                    <p:animEffect filter="fade" transition="in">
                                      <p:cBhvr>
                                        <p:cTn dur="500"/>
                                        <p:tgtEl>
                                          <p:spTgt spid="16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3" name="Shape 1663"/>
        <p:cNvGrpSpPr/>
        <p:nvPr/>
      </p:nvGrpSpPr>
      <p:grpSpPr>
        <a:xfrm>
          <a:off x="0" y="0"/>
          <a:ext cx="0" cy="0"/>
          <a:chOff x="0" y="0"/>
          <a:chExt cx="0" cy="0"/>
        </a:xfrm>
      </p:grpSpPr>
      <p:sp>
        <p:nvSpPr>
          <p:cNvPr id="1664" name="Google Shape;1664;p2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rdt1.0: </a:t>
            </a:r>
            <a:r>
              <a:rPr lang="en-US" sz="4400"/>
              <a:t>reliable transfer over a reliable channel</a:t>
            </a:r>
            <a:endParaRPr/>
          </a:p>
        </p:txBody>
      </p:sp>
      <p:sp>
        <p:nvSpPr>
          <p:cNvPr id="1665" name="Google Shape;1665;p24"/>
          <p:cNvSpPr txBox="1"/>
          <p:nvPr/>
        </p:nvSpPr>
        <p:spPr>
          <a:xfrm>
            <a:off x="798690" y="1370551"/>
            <a:ext cx="7896225" cy="301942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underlying channel perfectly reliable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 bit errors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 loss of packets</a:t>
            </a:r>
            <a:endParaRPr/>
          </a:p>
        </p:txBody>
      </p:sp>
      <p:sp>
        <p:nvSpPr>
          <p:cNvPr id="1666" name="Google Shape;1666;p24"/>
          <p:cNvSpPr/>
          <p:nvPr/>
        </p:nvSpPr>
        <p:spPr>
          <a:xfrm>
            <a:off x="2850759" y="4627024"/>
            <a:ext cx="611187" cy="1027112"/>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67" name="Google Shape;1667;p24"/>
          <p:cNvSpPr txBox="1"/>
          <p:nvPr/>
        </p:nvSpPr>
        <p:spPr>
          <a:xfrm>
            <a:off x="3251680" y="5048046"/>
            <a:ext cx="2682875" cy="5984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packet = make_pkt(data)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udt_send(packet)</a:t>
            </a:r>
            <a:endParaRPr b="0" i="0" sz="1600" u="none" cap="none" strike="noStrike">
              <a:solidFill>
                <a:srgbClr val="000000"/>
              </a:solidFill>
              <a:latin typeface="Times New Roman"/>
              <a:ea typeface="Times New Roman"/>
              <a:cs typeface="Times New Roman"/>
              <a:sym typeface="Times New Roman"/>
            </a:endParaRPr>
          </a:p>
        </p:txBody>
      </p:sp>
      <p:grpSp>
        <p:nvGrpSpPr>
          <p:cNvPr id="1668" name="Google Shape;1668;p24"/>
          <p:cNvGrpSpPr/>
          <p:nvPr/>
        </p:nvGrpSpPr>
        <p:grpSpPr>
          <a:xfrm>
            <a:off x="3261921" y="4671474"/>
            <a:ext cx="2255838" cy="428625"/>
            <a:chOff x="3084121" y="4379374"/>
            <a:chExt cx="2255838" cy="428625"/>
          </a:xfrm>
        </p:grpSpPr>
        <p:sp>
          <p:nvSpPr>
            <p:cNvPr id="1669" name="Google Shape;1669;p24"/>
            <p:cNvSpPr txBox="1"/>
            <p:nvPr/>
          </p:nvSpPr>
          <p:spPr>
            <a:xfrm>
              <a:off x="3084121" y="4379374"/>
              <a:ext cx="2255838"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1670" name="Google Shape;1670;p24"/>
            <p:cNvCxnSpPr/>
            <p:nvPr/>
          </p:nvCxnSpPr>
          <p:spPr>
            <a:xfrm>
              <a:off x="3184134" y="4722274"/>
              <a:ext cx="1296987" cy="0"/>
            </a:xfrm>
            <a:prstGeom prst="straightConnector1">
              <a:avLst/>
            </a:prstGeom>
            <a:noFill/>
            <a:ln cap="flat" cmpd="sng" w="19050">
              <a:solidFill>
                <a:srgbClr val="000000"/>
              </a:solidFill>
              <a:prstDash val="solid"/>
              <a:round/>
              <a:headEnd len="med" w="med" type="none"/>
              <a:tailEnd len="med" w="med" type="none"/>
            </a:ln>
          </p:spPr>
        </p:cxnSp>
      </p:grpSp>
      <p:sp>
        <p:nvSpPr>
          <p:cNvPr id="1671" name="Google Shape;1671;p24"/>
          <p:cNvSpPr txBox="1"/>
          <p:nvPr/>
        </p:nvSpPr>
        <p:spPr>
          <a:xfrm>
            <a:off x="9581566" y="5063272"/>
            <a:ext cx="2487612"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 (packet,data)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b="0" i="0" sz="1600" u="none" cap="none" strike="noStrike">
              <a:solidFill>
                <a:srgbClr val="000000"/>
              </a:solidFill>
              <a:latin typeface="Times New Roman"/>
              <a:ea typeface="Times New Roman"/>
              <a:cs typeface="Times New Roman"/>
              <a:sym typeface="Times New Roman"/>
            </a:endParaRPr>
          </a:p>
        </p:txBody>
      </p:sp>
      <p:sp>
        <p:nvSpPr>
          <p:cNvPr id="1672" name="Google Shape;1672;p24"/>
          <p:cNvSpPr/>
          <p:nvPr/>
        </p:nvSpPr>
        <p:spPr>
          <a:xfrm>
            <a:off x="9171991" y="4666397"/>
            <a:ext cx="611187" cy="102711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673" name="Google Shape;1673;p24"/>
          <p:cNvGrpSpPr/>
          <p:nvPr/>
        </p:nvGrpSpPr>
        <p:grpSpPr>
          <a:xfrm>
            <a:off x="9597441" y="4742597"/>
            <a:ext cx="1541462" cy="336550"/>
            <a:chOff x="9419641" y="4450497"/>
            <a:chExt cx="1541462" cy="336550"/>
          </a:xfrm>
        </p:grpSpPr>
        <p:cxnSp>
          <p:nvCxnSpPr>
            <p:cNvPr id="1674" name="Google Shape;1674;p24"/>
            <p:cNvCxnSpPr/>
            <p:nvPr/>
          </p:nvCxnSpPr>
          <p:spPr>
            <a:xfrm>
              <a:off x="9505366" y="4774347"/>
              <a:ext cx="1296987" cy="0"/>
            </a:xfrm>
            <a:prstGeom prst="straightConnector1">
              <a:avLst/>
            </a:prstGeom>
            <a:noFill/>
            <a:ln cap="flat" cmpd="sng" w="19050">
              <a:solidFill>
                <a:srgbClr val="000000"/>
              </a:solidFill>
              <a:prstDash val="solid"/>
              <a:round/>
              <a:headEnd len="med" w="med" type="none"/>
              <a:tailEnd len="med" w="med" type="none"/>
            </a:ln>
          </p:spPr>
        </p:cxnSp>
        <p:sp>
          <p:nvSpPr>
            <p:cNvPr id="1675" name="Google Shape;1675;p24"/>
            <p:cNvSpPr/>
            <p:nvPr/>
          </p:nvSpPr>
          <p:spPr>
            <a:xfrm>
              <a:off x="9419641" y="4450497"/>
              <a:ext cx="1541462" cy="3365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rdt_rcv(packet)</a:t>
              </a:r>
              <a:endParaRPr/>
            </a:p>
          </p:txBody>
        </p:sp>
      </p:grpSp>
      <p:grpSp>
        <p:nvGrpSpPr>
          <p:cNvPr id="1676" name="Google Shape;1676;p24"/>
          <p:cNvGrpSpPr/>
          <p:nvPr/>
        </p:nvGrpSpPr>
        <p:grpSpPr>
          <a:xfrm>
            <a:off x="6812375" y="4666397"/>
            <a:ext cx="2496141" cy="1027113"/>
            <a:chOff x="6075775" y="5479197"/>
            <a:chExt cx="2496141" cy="1027113"/>
          </a:xfrm>
        </p:grpSpPr>
        <p:sp>
          <p:nvSpPr>
            <p:cNvPr id="1677" name="Google Shape;1677;p24"/>
            <p:cNvSpPr/>
            <p:nvPr/>
          </p:nvSpPr>
          <p:spPr>
            <a:xfrm>
              <a:off x="7536866" y="5495072"/>
              <a:ext cx="955675" cy="1011238"/>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678" name="Google Shape;1678;p24"/>
            <p:cNvSpPr txBox="1"/>
            <p:nvPr/>
          </p:nvSpPr>
          <p:spPr>
            <a:xfrm>
              <a:off x="7473366" y="5580797"/>
              <a:ext cx="1098550" cy="91281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cxnSp>
          <p:nvCxnSpPr>
            <p:cNvPr id="1679" name="Google Shape;1679;p24"/>
            <p:cNvCxnSpPr/>
            <p:nvPr/>
          </p:nvCxnSpPr>
          <p:spPr>
            <a:xfrm>
              <a:off x="7213016" y="5479197"/>
              <a:ext cx="385762" cy="242888"/>
            </a:xfrm>
            <a:prstGeom prst="straightConnector1">
              <a:avLst/>
            </a:prstGeom>
            <a:noFill/>
            <a:ln cap="flat" cmpd="sng" w="9525">
              <a:solidFill>
                <a:srgbClr val="000000"/>
              </a:solidFill>
              <a:prstDash val="dash"/>
              <a:round/>
              <a:headEnd len="med" w="med" type="none"/>
              <a:tailEnd len="med" w="med" type="triangle"/>
            </a:ln>
          </p:spPr>
        </p:cxnSp>
        <p:sp>
          <p:nvSpPr>
            <p:cNvPr id="1680" name="Google Shape;1680;p24"/>
            <p:cNvSpPr txBox="1"/>
            <p:nvPr/>
          </p:nvSpPr>
          <p:spPr>
            <a:xfrm>
              <a:off x="6075775" y="5745404"/>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grpSp>
      <p:pic>
        <p:nvPicPr>
          <p:cNvPr descr="Image result for easy button&quot;" id="1681" name="Google Shape;1681;p24"/>
          <p:cNvPicPr preferRelativeResize="0"/>
          <p:nvPr/>
        </p:nvPicPr>
        <p:blipFill rotWithShape="1">
          <a:blip r:embed="rId3">
            <a:alphaModFix/>
          </a:blip>
          <a:srcRect b="0" l="0" r="0" t="0"/>
          <a:stretch/>
        </p:blipFill>
        <p:spPr>
          <a:xfrm>
            <a:off x="8237940" y="1871323"/>
            <a:ext cx="2139751" cy="2139751"/>
          </a:xfrm>
          <a:prstGeom prst="rect">
            <a:avLst/>
          </a:prstGeom>
          <a:noFill/>
          <a:ln>
            <a:noFill/>
          </a:ln>
        </p:spPr>
      </p:pic>
      <p:sp>
        <p:nvSpPr>
          <p:cNvPr id="1682" name="Google Shape;1682;p24"/>
          <p:cNvSpPr txBox="1"/>
          <p:nvPr/>
        </p:nvSpPr>
        <p:spPr>
          <a:xfrm>
            <a:off x="798690" y="2794001"/>
            <a:ext cx="7896225" cy="15113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separate</a:t>
            </a:r>
            <a:r>
              <a:rPr b="0" i="0" lang="en-US" sz="2800" u="none" cap="none" strike="noStrike">
                <a:solidFill>
                  <a:srgbClr val="000000"/>
                </a:solidFill>
                <a:latin typeface="Calibri"/>
                <a:ea typeface="Calibri"/>
                <a:cs typeface="Calibri"/>
                <a:sym typeface="Calibri"/>
              </a:rPr>
              <a:t> FSMs for sender, receiver:</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sender sends data into underlying channel</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receiver reads data from underlying channel</a:t>
            </a:r>
            <a:endParaRPr/>
          </a:p>
        </p:txBody>
      </p:sp>
      <p:grpSp>
        <p:nvGrpSpPr>
          <p:cNvPr id="1683" name="Google Shape;1683;p24"/>
          <p:cNvGrpSpPr/>
          <p:nvPr/>
        </p:nvGrpSpPr>
        <p:grpSpPr>
          <a:xfrm>
            <a:off x="706840" y="4601624"/>
            <a:ext cx="2271310" cy="1027112"/>
            <a:chOff x="262340" y="5579524"/>
            <a:chExt cx="2271310" cy="1027112"/>
          </a:xfrm>
        </p:grpSpPr>
        <p:grpSp>
          <p:nvGrpSpPr>
            <p:cNvPr id="1684" name="Google Shape;1684;p24"/>
            <p:cNvGrpSpPr/>
            <p:nvPr/>
          </p:nvGrpSpPr>
          <p:grpSpPr>
            <a:xfrm>
              <a:off x="262340" y="5579524"/>
              <a:ext cx="2201069" cy="1027112"/>
              <a:chOff x="795740" y="4614324"/>
              <a:chExt cx="2201069" cy="1027112"/>
            </a:xfrm>
          </p:grpSpPr>
          <p:cxnSp>
            <p:nvCxnSpPr>
              <p:cNvPr id="1685" name="Google Shape;1685;p24"/>
              <p:cNvCxnSpPr/>
              <p:nvPr/>
            </p:nvCxnSpPr>
            <p:spPr>
              <a:xfrm>
                <a:off x="1717284" y="4614324"/>
                <a:ext cx="385762" cy="242887"/>
              </a:xfrm>
              <a:prstGeom prst="straightConnector1">
                <a:avLst/>
              </a:prstGeom>
              <a:noFill/>
              <a:ln cap="flat" cmpd="sng" w="9525">
                <a:solidFill>
                  <a:srgbClr val="000000"/>
                </a:solidFill>
                <a:prstDash val="dash"/>
                <a:round/>
                <a:headEnd len="med" w="med" type="none"/>
                <a:tailEnd len="med" w="med" type="triangle"/>
              </a:ln>
            </p:spPr>
          </p:cxnSp>
          <p:sp>
            <p:nvSpPr>
              <p:cNvPr id="1686" name="Google Shape;1686;p24"/>
              <p:cNvSpPr txBox="1"/>
              <p:nvPr/>
            </p:nvSpPr>
            <p:spPr>
              <a:xfrm>
                <a:off x="795740" y="4985781"/>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1687" name="Google Shape;1687;p24"/>
              <p:cNvSpPr/>
              <p:nvPr/>
            </p:nvSpPr>
            <p:spPr>
              <a:xfrm>
                <a:off x="2041134" y="4630199"/>
                <a:ext cx="955675" cy="1011237"/>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1688" name="Google Shape;1688;p24"/>
            <p:cNvSpPr txBox="1"/>
            <p:nvPr/>
          </p:nvSpPr>
          <p:spPr>
            <a:xfrm>
              <a:off x="1435100" y="5693824"/>
              <a:ext cx="1098550" cy="91281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grpSp>
      <p:sp>
        <p:nvSpPr>
          <p:cNvPr id="1689" name="Google Shape;1689;p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2"/>
                                        </p:tgtEl>
                                        <p:attrNameLst>
                                          <p:attrName>style.visibility</p:attrName>
                                        </p:attrNameLst>
                                      </p:cBhvr>
                                      <p:to>
                                        <p:strVal val="visible"/>
                                      </p:to>
                                    </p:set>
                                    <p:animEffect filter="fade" transition="in">
                                      <p:cBhvr>
                                        <p:cTn dur="500"/>
                                        <p:tgtEl>
                                          <p:spTgt spid="16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3"/>
                                        </p:tgtEl>
                                        <p:attrNameLst>
                                          <p:attrName>style.visibility</p:attrName>
                                        </p:attrNameLst>
                                      </p:cBhvr>
                                      <p:to>
                                        <p:strVal val="visible"/>
                                      </p:to>
                                    </p:set>
                                    <p:animEffect filter="fade" transition="in">
                                      <p:cBhvr>
                                        <p:cTn dur="500"/>
                                        <p:tgtEl>
                                          <p:spTgt spid="16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6"/>
                                        </p:tgtEl>
                                        <p:attrNameLst>
                                          <p:attrName>style.visibility</p:attrName>
                                        </p:attrNameLst>
                                      </p:cBhvr>
                                      <p:to>
                                        <p:strVal val="visible"/>
                                      </p:to>
                                    </p:set>
                                    <p:animEffect filter="fade" transition="in">
                                      <p:cBhvr>
                                        <p:cTn dur="500"/>
                                        <p:tgtEl>
                                          <p:spTgt spid="166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68"/>
                                        </p:tgtEl>
                                        <p:attrNameLst>
                                          <p:attrName>style.visibility</p:attrName>
                                        </p:attrNameLst>
                                      </p:cBhvr>
                                      <p:to>
                                        <p:strVal val="visible"/>
                                      </p:to>
                                    </p:set>
                                    <p:animEffect filter="fade" transition="in">
                                      <p:cBhvr>
                                        <p:cTn dur="500"/>
                                        <p:tgtEl>
                                          <p:spTgt spid="166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67"/>
                                        </p:tgtEl>
                                        <p:attrNameLst>
                                          <p:attrName>style.visibility</p:attrName>
                                        </p:attrNameLst>
                                      </p:cBhvr>
                                      <p:to>
                                        <p:strVal val="visible"/>
                                      </p:to>
                                    </p:set>
                                    <p:animEffect filter="fade" transition="in">
                                      <p:cBhvr>
                                        <p:cTn dur="500"/>
                                        <p:tgtEl>
                                          <p:spTgt spid="16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6"/>
                                        </p:tgtEl>
                                        <p:attrNameLst>
                                          <p:attrName>style.visibility</p:attrName>
                                        </p:attrNameLst>
                                      </p:cBhvr>
                                      <p:to>
                                        <p:strVal val="visible"/>
                                      </p:to>
                                    </p:set>
                                    <p:animEffect filter="fade" transition="in">
                                      <p:cBhvr>
                                        <p:cTn dur="500"/>
                                        <p:tgtEl>
                                          <p:spTgt spid="16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2"/>
                                        </p:tgtEl>
                                        <p:attrNameLst>
                                          <p:attrName>style.visibility</p:attrName>
                                        </p:attrNameLst>
                                      </p:cBhvr>
                                      <p:to>
                                        <p:strVal val="visible"/>
                                      </p:to>
                                    </p:set>
                                    <p:animEffect filter="fade" transition="in">
                                      <p:cBhvr>
                                        <p:cTn dur="500"/>
                                        <p:tgtEl>
                                          <p:spTgt spid="167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73"/>
                                        </p:tgtEl>
                                        <p:attrNameLst>
                                          <p:attrName>style.visibility</p:attrName>
                                        </p:attrNameLst>
                                      </p:cBhvr>
                                      <p:to>
                                        <p:strVal val="visible"/>
                                      </p:to>
                                    </p:set>
                                    <p:animEffect filter="fade" transition="in">
                                      <p:cBhvr>
                                        <p:cTn dur="500"/>
                                        <p:tgtEl>
                                          <p:spTgt spid="167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71"/>
                                        </p:tgtEl>
                                        <p:attrNameLst>
                                          <p:attrName>style.visibility</p:attrName>
                                        </p:attrNameLst>
                                      </p:cBhvr>
                                      <p:to>
                                        <p:strVal val="visible"/>
                                      </p:to>
                                    </p:set>
                                    <p:animEffect filter="fade" transition="in">
                                      <p:cBhvr>
                                        <p:cTn dur="500"/>
                                        <p:tgtEl>
                                          <p:spTgt spid="16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1"/>
                                        </p:tgtEl>
                                        <p:attrNameLst>
                                          <p:attrName>style.visibility</p:attrName>
                                        </p:attrNameLst>
                                      </p:cBhvr>
                                      <p:to>
                                        <p:strVal val="visible"/>
                                      </p:to>
                                    </p:set>
                                    <p:animEffect filter="fade" transition="in">
                                      <p:cBhvr>
                                        <p:cTn dur="500"/>
                                        <p:tgtEl>
                                          <p:spTgt spid="16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4" name="Shape 1694"/>
        <p:cNvGrpSpPr/>
        <p:nvPr/>
      </p:nvGrpSpPr>
      <p:grpSpPr>
        <a:xfrm>
          <a:off x="0" y="0"/>
          <a:ext cx="0" cy="0"/>
          <a:chOff x="0" y="0"/>
          <a:chExt cx="0" cy="0"/>
        </a:xfrm>
      </p:grpSpPr>
      <p:sp>
        <p:nvSpPr>
          <p:cNvPr id="1695" name="Google Shape;1695;p2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channel with bit errors</a:t>
            </a:r>
            <a:endParaRPr sz="4400"/>
          </a:p>
        </p:txBody>
      </p:sp>
      <p:sp>
        <p:nvSpPr>
          <p:cNvPr id="1696" name="Google Shape;1696;p25"/>
          <p:cNvSpPr txBox="1"/>
          <p:nvPr/>
        </p:nvSpPr>
        <p:spPr>
          <a:xfrm>
            <a:off x="673994" y="1482748"/>
            <a:ext cx="11100625" cy="4448175"/>
          </a:xfrm>
          <a:prstGeom prst="rect">
            <a:avLst/>
          </a:prstGeom>
          <a:noFill/>
          <a:ln>
            <a:noFill/>
          </a:ln>
        </p:spPr>
        <p:txBody>
          <a:bodyPr anchorCtr="0" anchor="t" bIns="45700" lIns="91425" spcFirstLastPara="1" rIns="91425" wrap="square" tIns="45700">
            <a:normAutofit/>
          </a:bodyPr>
          <a:lstStyle/>
          <a:p>
            <a:pPr indent="-292100" lvl="0" marL="457200" marR="0" rtl="0" algn="l">
              <a:lnSpc>
                <a:spcPct val="75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underlying channel may flip bits in packet</a:t>
            </a:r>
            <a:endParaRPr/>
          </a:p>
          <a:p>
            <a:pPr indent="-228600" lvl="1" marL="800100" marR="0" rtl="0" algn="l">
              <a:lnSpc>
                <a:spcPct val="75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(e.g., Internet checksum) to detect bit errors</a:t>
            </a:r>
            <a:endParaRPr/>
          </a:p>
          <a:p>
            <a:pPr indent="-292100" lvl="0" marL="457200" marR="0" rtl="0" algn="l">
              <a:lnSpc>
                <a:spcPct val="75000"/>
              </a:lnSpc>
              <a:spcBef>
                <a:spcPts val="1000"/>
              </a:spcBef>
              <a:spcAft>
                <a:spcPts val="0"/>
              </a:spcAft>
              <a:buClr>
                <a:srgbClr val="0000A3"/>
              </a:buClr>
              <a:buSzPts val="3200"/>
              <a:buFont typeface="Noto Sans Symbols"/>
              <a:buChar char="▪"/>
            </a:pPr>
            <a:r>
              <a:rPr b="0" i="1" lang="en-US" sz="3200" u="none" cap="none" strike="noStrike">
                <a:solidFill>
                  <a:srgbClr val="000000"/>
                </a:solidFill>
                <a:latin typeface="Calibri"/>
                <a:ea typeface="Calibri"/>
                <a:cs typeface="Calibri"/>
                <a:sym typeface="Calibri"/>
              </a:rPr>
              <a:t>the</a:t>
            </a:r>
            <a:r>
              <a:rPr b="0" i="0" lang="en-US" sz="3200" u="none" cap="none" strike="noStrike">
                <a:solidFill>
                  <a:srgbClr val="000000"/>
                </a:solidFill>
                <a:latin typeface="Calibri"/>
                <a:ea typeface="Calibri"/>
                <a:cs typeface="Calibri"/>
                <a:sym typeface="Calibri"/>
              </a:rPr>
              <a:t> question: how to recover from errors?</a:t>
            </a:r>
            <a:endParaRPr b="0" i="0" sz="2800" u="none" cap="none" strike="noStrike">
              <a:solidFill>
                <a:srgbClr val="000000"/>
              </a:solidFill>
              <a:latin typeface="Calibri"/>
              <a:ea typeface="Calibri"/>
              <a:cs typeface="Calibri"/>
              <a:sym typeface="Calibri"/>
            </a:endParaRPr>
          </a:p>
        </p:txBody>
      </p:sp>
      <p:sp>
        <p:nvSpPr>
          <p:cNvPr id="1697" name="Google Shape;1697;p25"/>
          <p:cNvSpPr txBox="1"/>
          <p:nvPr/>
        </p:nvSpPr>
        <p:spPr>
          <a:xfrm>
            <a:off x="1328236" y="3911182"/>
            <a:ext cx="10041531"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3200"/>
              <a:buFont typeface="Calibri"/>
              <a:buNone/>
            </a:pPr>
            <a:r>
              <a:rPr b="0" i="1" lang="en-US" sz="3200" u="none" cap="none" strike="noStrike">
                <a:solidFill>
                  <a:srgbClr val="CC0000"/>
                </a:solidFill>
                <a:latin typeface="Calibri"/>
                <a:ea typeface="Calibri"/>
                <a:cs typeface="Calibri"/>
                <a:sym typeface="Calibri"/>
              </a:rPr>
              <a:t>How do humans recover from “errors” during conversation?</a:t>
            </a:r>
            <a:endParaRPr/>
          </a:p>
        </p:txBody>
      </p:sp>
      <p:sp>
        <p:nvSpPr>
          <p:cNvPr id="1698" name="Google Shape;1698;p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3" name="Shape 1703"/>
        <p:cNvGrpSpPr/>
        <p:nvPr/>
      </p:nvGrpSpPr>
      <p:grpSpPr>
        <a:xfrm>
          <a:off x="0" y="0"/>
          <a:ext cx="0" cy="0"/>
          <a:chOff x="0" y="0"/>
          <a:chExt cx="0" cy="0"/>
        </a:xfrm>
      </p:grpSpPr>
      <p:sp>
        <p:nvSpPr>
          <p:cNvPr id="1704" name="Google Shape;1704;p2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channel with bit errors</a:t>
            </a:r>
            <a:endParaRPr sz="4400"/>
          </a:p>
        </p:txBody>
      </p:sp>
      <p:sp>
        <p:nvSpPr>
          <p:cNvPr id="1705" name="Google Shape;1705;p26"/>
          <p:cNvSpPr txBox="1"/>
          <p:nvPr/>
        </p:nvSpPr>
        <p:spPr>
          <a:xfrm>
            <a:off x="673994" y="1274398"/>
            <a:ext cx="11100625" cy="4448175"/>
          </a:xfrm>
          <a:prstGeom prst="rect">
            <a:avLst/>
          </a:prstGeom>
          <a:noFill/>
          <a:ln>
            <a:noFill/>
          </a:ln>
        </p:spPr>
        <p:txBody>
          <a:bodyPr anchorCtr="0" anchor="t" bIns="45700" lIns="91425" spcFirstLastPara="1" rIns="91425" wrap="square" tIns="45700">
            <a:normAutofit/>
          </a:bodyPr>
          <a:lstStyle/>
          <a:p>
            <a:pPr indent="-295275" lvl="0" marL="409575" marR="0" rtl="0" algn="l">
              <a:lnSpc>
                <a:spcPct val="75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underlying channel may flip bits in packet</a:t>
            </a:r>
            <a:endParaRPr/>
          </a:p>
          <a:p>
            <a:pPr indent="-231775" lvl="1" marL="695325" marR="0" rtl="0" algn="l">
              <a:lnSpc>
                <a:spcPct val="80000"/>
              </a:lnSpc>
              <a:spcBef>
                <a:spcPts val="8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to detect bit errors</a:t>
            </a:r>
            <a:endParaRPr/>
          </a:p>
          <a:p>
            <a:pPr indent="-279400" lvl="0" marL="409575" marR="0" rtl="0" algn="l">
              <a:lnSpc>
                <a:spcPct val="75000"/>
              </a:lnSpc>
              <a:spcBef>
                <a:spcPts val="1000"/>
              </a:spcBef>
              <a:spcAft>
                <a:spcPts val="0"/>
              </a:spcAft>
              <a:buClr>
                <a:srgbClr val="0000A3"/>
              </a:buClr>
              <a:buSzPts val="3200"/>
              <a:buFont typeface="Noto Sans Symbols"/>
              <a:buChar char="▪"/>
            </a:pPr>
            <a:r>
              <a:rPr b="0" i="1" lang="en-US" sz="3200" u="none" cap="none" strike="noStrike">
                <a:solidFill>
                  <a:srgbClr val="000000"/>
                </a:solidFill>
                <a:latin typeface="Calibri"/>
                <a:ea typeface="Calibri"/>
                <a:cs typeface="Calibri"/>
                <a:sym typeface="Calibri"/>
              </a:rPr>
              <a:t>the</a:t>
            </a:r>
            <a:r>
              <a:rPr b="0" i="0" lang="en-US" sz="3200" u="none" cap="none" strike="noStrike">
                <a:solidFill>
                  <a:srgbClr val="000000"/>
                </a:solidFill>
                <a:latin typeface="Calibri"/>
                <a:ea typeface="Calibri"/>
                <a:cs typeface="Calibri"/>
                <a:sym typeface="Calibri"/>
              </a:rPr>
              <a:t> question: how to recover from errors?</a:t>
            </a:r>
            <a:endParaRPr b="0" i="0" sz="2800" u="none" cap="none" strike="noStrike">
              <a:solidFill>
                <a:srgbClr val="000000"/>
              </a:solidFill>
              <a:latin typeface="Calibri"/>
              <a:ea typeface="Calibri"/>
              <a:cs typeface="Calibri"/>
              <a:sym typeface="Calibri"/>
            </a:endParaRPr>
          </a:p>
        </p:txBody>
      </p:sp>
      <p:sp>
        <p:nvSpPr>
          <p:cNvPr id="1706" name="Google Shape;1706;p26"/>
          <p:cNvSpPr txBox="1"/>
          <p:nvPr/>
        </p:nvSpPr>
        <p:spPr>
          <a:xfrm>
            <a:off x="662419" y="2680738"/>
            <a:ext cx="11004862" cy="2157003"/>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800"/>
              <a:buFont typeface="Arial"/>
              <a:buChar char="•"/>
            </a:pPr>
            <a:r>
              <a:rPr b="0" i="1" lang="en-US" sz="2800" u="none" cap="none" strike="noStrike">
                <a:solidFill>
                  <a:srgbClr val="CC0000"/>
                </a:solidFill>
                <a:latin typeface="Calibri"/>
                <a:ea typeface="Calibri"/>
                <a:cs typeface="Calibri"/>
                <a:sym typeface="Calibri"/>
              </a:rPr>
              <a:t>acknowledgements (ACKs):</a:t>
            </a:r>
            <a:r>
              <a:rPr b="0" i="0" lang="en-US" sz="2800" u="none" cap="none" strike="noStrike">
                <a:solidFill>
                  <a:srgbClr val="000000"/>
                </a:solidFill>
                <a:latin typeface="Calibri"/>
                <a:ea typeface="Calibri"/>
                <a:cs typeface="Calibri"/>
                <a:sym typeface="Calibri"/>
              </a:rPr>
              <a:t> receiver explicitly tells sender that pkt received OK</a:t>
            </a:r>
            <a:endParaRPr/>
          </a:p>
          <a:p>
            <a:pPr indent="-231775" lvl="1" marL="6953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CC0000"/>
                </a:solidFill>
                <a:latin typeface="Calibri"/>
                <a:ea typeface="Calibri"/>
                <a:cs typeface="Calibri"/>
                <a:sym typeface="Calibri"/>
              </a:rPr>
              <a:t>negative acknowledgements (NAKs):</a:t>
            </a:r>
            <a:r>
              <a:rPr b="0" i="0" lang="en-US" sz="2800" u="none" cap="none" strike="noStrike">
                <a:solidFill>
                  <a:srgbClr val="000000"/>
                </a:solidFill>
                <a:latin typeface="Calibri"/>
                <a:ea typeface="Calibri"/>
                <a:cs typeface="Calibri"/>
                <a:sym typeface="Calibri"/>
              </a:rPr>
              <a:t> receiver explicitly tells sender that pkt had errors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sender </a:t>
            </a:r>
            <a:r>
              <a:rPr b="0" i="1" lang="en-US" sz="2800" u="none" cap="none" strike="noStrike">
                <a:solidFill>
                  <a:srgbClr val="C00000"/>
                </a:solidFill>
                <a:latin typeface="Calibri"/>
                <a:ea typeface="Calibri"/>
                <a:cs typeface="Calibri"/>
                <a:sym typeface="Calibri"/>
              </a:rPr>
              <a:t>retransmits</a:t>
            </a:r>
            <a:r>
              <a:rPr b="0" i="0" lang="en-US" sz="2800" u="none" cap="none" strike="noStrike">
                <a:solidFill>
                  <a:srgbClr val="000000"/>
                </a:solidFill>
                <a:latin typeface="Calibri"/>
                <a:ea typeface="Calibri"/>
                <a:cs typeface="Calibri"/>
                <a:sym typeface="Calibri"/>
              </a:rPr>
              <a:t> pkt on receipt of NAK</a:t>
            </a:r>
            <a:endParaRPr/>
          </a:p>
        </p:txBody>
      </p:sp>
      <p:grpSp>
        <p:nvGrpSpPr>
          <p:cNvPr id="1707" name="Google Shape;1707;p26"/>
          <p:cNvGrpSpPr/>
          <p:nvPr/>
        </p:nvGrpSpPr>
        <p:grpSpPr>
          <a:xfrm>
            <a:off x="937549" y="5087784"/>
            <a:ext cx="10729731" cy="1466850"/>
            <a:chOff x="1552" y="2800"/>
            <a:chExt cx="2578" cy="924"/>
          </a:xfrm>
        </p:grpSpPr>
        <p:sp>
          <p:nvSpPr>
            <p:cNvPr id="1708" name="Google Shape;1708;p26"/>
            <p:cNvSpPr/>
            <p:nvPr/>
          </p:nvSpPr>
          <p:spPr>
            <a:xfrm>
              <a:off x="1552" y="2974"/>
              <a:ext cx="2578" cy="59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709" name="Google Shape;1709;p26"/>
            <p:cNvSpPr/>
            <p:nvPr/>
          </p:nvSpPr>
          <p:spPr>
            <a:xfrm>
              <a:off x="2226" y="2864"/>
              <a:ext cx="88" cy="2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710" name="Google Shape;1710;p26"/>
            <p:cNvSpPr txBox="1"/>
            <p:nvPr/>
          </p:nvSpPr>
          <p:spPr>
            <a:xfrm>
              <a:off x="1724" y="2800"/>
              <a:ext cx="687"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3200"/>
                <a:buFont typeface="Calibri"/>
                <a:buNone/>
              </a:pPr>
              <a:r>
                <a:rPr b="0" i="0" lang="en-US" sz="3200" u="none" cap="none" strike="noStrike">
                  <a:solidFill>
                    <a:srgbClr val="CC0000"/>
                  </a:solidFill>
                  <a:latin typeface="Calibri"/>
                  <a:ea typeface="Calibri"/>
                  <a:cs typeface="Calibri"/>
                  <a:sym typeface="Calibri"/>
                </a:rPr>
                <a:t>stop and wait</a:t>
              </a:r>
              <a:endParaRPr/>
            </a:p>
          </p:txBody>
        </p:sp>
        <p:sp>
          <p:nvSpPr>
            <p:cNvPr id="1711" name="Google Shape;1711;p26"/>
            <p:cNvSpPr txBox="1"/>
            <p:nvPr/>
          </p:nvSpPr>
          <p:spPr>
            <a:xfrm>
              <a:off x="1678" y="3136"/>
              <a:ext cx="2452" cy="588"/>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sender sends one packet,  then waits for receiver  response</a:t>
              </a:r>
              <a:endParaRPr/>
            </a:p>
          </p:txBody>
        </p:sp>
      </p:grpSp>
      <p:sp>
        <p:nvSpPr>
          <p:cNvPr id="1712" name="Google Shape;1712;p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5"/>
                                        </p:tgtEl>
                                        <p:attrNameLst>
                                          <p:attrName>style.visibility</p:attrName>
                                        </p:attrNameLst>
                                      </p:cBhvr>
                                      <p:to>
                                        <p:strVal val="visible"/>
                                      </p:to>
                                    </p:set>
                                    <p:animEffect filter="fade" transition="in">
                                      <p:cBhvr>
                                        <p:cTn dur="500"/>
                                        <p:tgtEl>
                                          <p:spTgt spid="17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6">
                                            <p:txEl>
                                              <p:pRg end="0" st="0"/>
                                            </p:txEl>
                                          </p:spTgt>
                                        </p:tgtEl>
                                        <p:attrNameLst>
                                          <p:attrName>style.visibility</p:attrName>
                                        </p:attrNameLst>
                                      </p:cBhvr>
                                      <p:to>
                                        <p:strVal val="visible"/>
                                      </p:to>
                                    </p:set>
                                    <p:animEffect filter="fade" transition="in">
                                      <p:cBhvr>
                                        <p:cTn dur="500"/>
                                        <p:tgtEl>
                                          <p:spTgt spid="17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6">
                                            <p:txEl>
                                              <p:pRg end="1" st="1"/>
                                            </p:txEl>
                                          </p:spTgt>
                                        </p:tgtEl>
                                        <p:attrNameLst>
                                          <p:attrName>style.visibility</p:attrName>
                                        </p:attrNameLst>
                                      </p:cBhvr>
                                      <p:to>
                                        <p:strVal val="visible"/>
                                      </p:to>
                                    </p:set>
                                    <p:animEffect filter="fade" transition="in">
                                      <p:cBhvr>
                                        <p:cTn dur="500"/>
                                        <p:tgtEl>
                                          <p:spTgt spid="17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6">
                                            <p:txEl>
                                              <p:pRg end="2" st="2"/>
                                            </p:txEl>
                                          </p:spTgt>
                                        </p:tgtEl>
                                        <p:attrNameLst>
                                          <p:attrName>style.visibility</p:attrName>
                                        </p:attrNameLst>
                                      </p:cBhvr>
                                      <p:to>
                                        <p:strVal val="visible"/>
                                      </p:to>
                                    </p:set>
                                    <p:animEffect filter="fade" transition="in">
                                      <p:cBhvr>
                                        <p:cTn dur="500"/>
                                        <p:tgtEl>
                                          <p:spTgt spid="17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7"/>
                                        </p:tgtEl>
                                        <p:attrNameLst>
                                          <p:attrName>style.visibility</p:attrName>
                                        </p:attrNameLst>
                                      </p:cBhvr>
                                      <p:to>
                                        <p:strVal val="visible"/>
                                      </p:to>
                                    </p:set>
                                    <p:animEffect filter="fade" transition="in">
                                      <p:cBhvr>
                                        <p:cTn dur="500"/>
                                        <p:tgtEl>
                                          <p:spTgt spid="17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7" name="Shape 1717"/>
        <p:cNvGrpSpPr/>
        <p:nvPr/>
      </p:nvGrpSpPr>
      <p:grpSpPr>
        <a:xfrm>
          <a:off x="0" y="0"/>
          <a:ext cx="0" cy="0"/>
          <a:chOff x="0" y="0"/>
          <a:chExt cx="0" cy="0"/>
        </a:xfrm>
      </p:grpSpPr>
      <p:sp>
        <p:nvSpPr>
          <p:cNvPr id="1718" name="Google Shape;1718;p27"/>
          <p:cNvSpPr/>
          <p:nvPr/>
        </p:nvSpPr>
        <p:spPr>
          <a:xfrm>
            <a:off x="9870220" y="5077299"/>
            <a:ext cx="1669250" cy="311042"/>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19" name="Google Shape;1719;p27"/>
          <p:cNvSpPr/>
          <p:nvPr/>
        </p:nvSpPr>
        <p:spPr>
          <a:xfrm>
            <a:off x="10103160" y="2734197"/>
            <a:ext cx="1333279" cy="311042"/>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20" name="Google Shape;1720;p2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FSM specifications</a:t>
            </a:r>
            <a:endParaRPr sz="4400"/>
          </a:p>
        </p:txBody>
      </p:sp>
      <p:sp>
        <p:nvSpPr>
          <p:cNvPr id="1721" name="Google Shape;1721;p27"/>
          <p:cNvSpPr/>
          <p:nvPr/>
        </p:nvSpPr>
        <p:spPr>
          <a:xfrm>
            <a:off x="2448951"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722" name="Google Shape;1722;p27"/>
          <p:cNvSpPr txBox="1"/>
          <p:nvPr/>
        </p:nvSpPr>
        <p:spPr>
          <a:xfrm>
            <a:off x="2347351"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grpSp>
        <p:nvGrpSpPr>
          <p:cNvPr id="1723" name="Google Shape;1723;p27"/>
          <p:cNvGrpSpPr/>
          <p:nvPr/>
        </p:nvGrpSpPr>
        <p:grpSpPr>
          <a:xfrm>
            <a:off x="5004826" y="2400535"/>
            <a:ext cx="3673475" cy="919271"/>
            <a:chOff x="5004826" y="2400535"/>
            <a:chExt cx="3673475" cy="919271"/>
          </a:xfrm>
        </p:grpSpPr>
        <p:sp>
          <p:nvSpPr>
            <p:cNvPr id="1724" name="Google Shape;1724;p27"/>
            <p:cNvSpPr/>
            <p:nvPr/>
          </p:nvSpPr>
          <p:spPr>
            <a:xfrm>
              <a:off x="5004826"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25" name="Google Shape;1725;p27"/>
            <p:cNvSpPr txBox="1"/>
            <p:nvPr/>
          </p:nvSpPr>
          <p:spPr>
            <a:xfrm>
              <a:off x="5314388"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1726" name="Google Shape;1726;p27"/>
            <p:cNvSpPr txBox="1"/>
            <p:nvPr/>
          </p:nvSpPr>
          <p:spPr>
            <a:xfrm>
              <a:off x="5288988" y="2400535"/>
              <a:ext cx="3389313"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1727" name="Google Shape;1727;p27"/>
            <p:cNvCxnSpPr/>
            <p:nvPr/>
          </p:nvCxnSpPr>
          <p:spPr>
            <a:xfrm>
              <a:off x="5408051" y="2740368"/>
              <a:ext cx="990600" cy="0"/>
            </a:xfrm>
            <a:prstGeom prst="straightConnector1">
              <a:avLst/>
            </a:prstGeom>
            <a:noFill/>
            <a:ln cap="flat" cmpd="sng" w="28575">
              <a:solidFill>
                <a:srgbClr val="000000"/>
              </a:solidFill>
              <a:prstDash val="solid"/>
              <a:round/>
              <a:headEnd len="med" w="med" type="none"/>
              <a:tailEnd len="med" w="med" type="none"/>
            </a:ln>
          </p:spPr>
        </p:cxnSp>
      </p:grpSp>
      <p:grpSp>
        <p:nvGrpSpPr>
          <p:cNvPr id="1728" name="Google Shape;1728;p27"/>
          <p:cNvGrpSpPr/>
          <p:nvPr/>
        </p:nvGrpSpPr>
        <p:grpSpPr>
          <a:xfrm>
            <a:off x="4044388" y="2362543"/>
            <a:ext cx="1074738" cy="962025"/>
            <a:chOff x="1540" y="2116"/>
            <a:chExt cx="677" cy="606"/>
          </a:xfrm>
        </p:grpSpPr>
        <p:sp>
          <p:nvSpPr>
            <p:cNvPr id="1729" name="Google Shape;1729;p27"/>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730" name="Google Shape;1730;p27"/>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grpSp>
        <p:nvGrpSpPr>
          <p:cNvPr id="1731" name="Google Shape;1731;p27"/>
          <p:cNvGrpSpPr/>
          <p:nvPr/>
        </p:nvGrpSpPr>
        <p:grpSpPr>
          <a:xfrm>
            <a:off x="8325876" y="2721318"/>
            <a:ext cx="3394075" cy="1036638"/>
            <a:chOff x="8325876" y="2721318"/>
            <a:chExt cx="3394075" cy="1036638"/>
          </a:xfrm>
        </p:grpSpPr>
        <p:grpSp>
          <p:nvGrpSpPr>
            <p:cNvPr id="1732" name="Google Shape;1732;p27"/>
            <p:cNvGrpSpPr/>
            <p:nvPr/>
          </p:nvGrpSpPr>
          <p:grpSpPr>
            <a:xfrm>
              <a:off x="8325876" y="2721318"/>
              <a:ext cx="3394075" cy="630238"/>
              <a:chOff x="2222" y="2804"/>
              <a:chExt cx="2138" cy="397"/>
            </a:xfrm>
          </p:grpSpPr>
          <p:sp>
            <p:nvSpPr>
              <p:cNvPr id="1733" name="Google Shape;1733;p27"/>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sp>
            <p:nvSpPr>
              <p:cNvPr id="1734" name="Google Shape;1734;p27"/>
              <p:cNvSpPr txBox="1"/>
              <p:nvPr/>
            </p:nvSpPr>
            <p:spPr>
              <a:xfrm>
                <a:off x="2225" y="2804"/>
                <a:ext cx="2135" cy="1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1735" name="Google Shape;1735;p27"/>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sp>
          <p:nvSpPr>
            <p:cNvPr id="1736" name="Google Shape;1736;p27"/>
            <p:cNvSpPr/>
            <p:nvPr/>
          </p:nvSpPr>
          <p:spPr>
            <a:xfrm>
              <a:off x="8424301"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737" name="Google Shape;1737;p27"/>
          <p:cNvSpPr/>
          <p:nvPr/>
        </p:nvSpPr>
        <p:spPr>
          <a:xfrm>
            <a:off x="8516376"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738" name="Google Shape;1738;p27"/>
          <p:cNvSpPr txBox="1"/>
          <p:nvPr/>
        </p:nvSpPr>
        <p:spPr>
          <a:xfrm>
            <a:off x="8429063"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grpSp>
        <p:nvGrpSpPr>
          <p:cNvPr id="1739" name="Google Shape;1739;p27"/>
          <p:cNvGrpSpPr/>
          <p:nvPr/>
        </p:nvGrpSpPr>
        <p:grpSpPr>
          <a:xfrm>
            <a:off x="8049650" y="4591214"/>
            <a:ext cx="4142349" cy="1379872"/>
            <a:chOff x="8049650" y="4591214"/>
            <a:chExt cx="4142349" cy="1379872"/>
          </a:xfrm>
        </p:grpSpPr>
        <p:grpSp>
          <p:nvGrpSpPr>
            <p:cNvPr id="1740" name="Google Shape;1740;p27"/>
            <p:cNvGrpSpPr/>
            <p:nvPr/>
          </p:nvGrpSpPr>
          <p:grpSpPr>
            <a:xfrm>
              <a:off x="8049650" y="5037504"/>
              <a:ext cx="4142349" cy="933582"/>
              <a:chOff x="8049650" y="5037504"/>
              <a:chExt cx="4142349" cy="933582"/>
            </a:xfrm>
          </p:grpSpPr>
          <p:sp>
            <p:nvSpPr>
              <p:cNvPr id="1741" name="Google Shape;1741;p27"/>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1742" name="Google Shape;1742;p27"/>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1743" name="Google Shape;1743;p27"/>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sp>
          <p:nvSpPr>
            <p:cNvPr id="1744" name="Google Shape;1744;p27"/>
            <p:cNvSpPr/>
            <p:nvPr/>
          </p:nvSpPr>
          <p:spPr>
            <a:xfrm flipH="1" rot="10800000">
              <a:off x="8437001"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745" name="Google Shape;1745;p27"/>
          <p:cNvGrpSpPr/>
          <p:nvPr/>
        </p:nvGrpSpPr>
        <p:grpSpPr>
          <a:xfrm>
            <a:off x="2756926" y="1340193"/>
            <a:ext cx="3643312" cy="1027113"/>
            <a:chOff x="2756926" y="1340193"/>
            <a:chExt cx="3643312" cy="1027113"/>
          </a:xfrm>
        </p:grpSpPr>
        <p:sp>
          <p:nvSpPr>
            <p:cNvPr id="1746" name="Google Shape;1746;p27"/>
            <p:cNvSpPr txBox="1"/>
            <p:nvPr/>
          </p:nvSpPr>
          <p:spPr>
            <a:xfrm>
              <a:off x="2756926"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1747" name="Google Shape;1747;p27"/>
            <p:cNvCxnSpPr/>
            <p:nvPr/>
          </p:nvCxnSpPr>
          <p:spPr>
            <a:xfrm>
              <a:off x="2861701"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1748" name="Google Shape;1748;p27"/>
            <p:cNvSpPr/>
            <p:nvPr/>
          </p:nvSpPr>
          <p:spPr>
            <a:xfrm flipH="1" rot="10800000">
              <a:off x="2809313"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49" name="Google Shape;1749;p27"/>
            <p:cNvSpPr txBox="1"/>
            <p:nvPr/>
          </p:nvSpPr>
          <p:spPr>
            <a:xfrm>
              <a:off x="2782326"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grpSp>
      <p:grpSp>
        <p:nvGrpSpPr>
          <p:cNvPr id="1750" name="Google Shape;1750;p27"/>
          <p:cNvGrpSpPr/>
          <p:nvPr/>
        </p:nvGrpSpPr>
        <p:grpSpPr>
          <a:xfrm>
            <a:off x="2270357" y="3283338"/>
            <a:ext cx="3548062" cy="989290"/>
            <a:chOff x="2270357" y="3283338"/>
            <a:chExt cx="3548062" cy="989290"/>
          </a:xfrm>
        </p:grpSpPr>
        <p:sp>
          <p:nvSpPr>
            <p:cNvPr id="1751" name="Google Shape;1751;p27"/>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1752" name="Google Shape;1752;p27"/>
            <p:cNvGrpSpPr/>
            <p:nvPr/>
          </p:nvGrpSpPr>
          <p:grpSpPr>
            <a:xfrm>
              <a:off x="2270357" y="3545923"/>
              <a:ext cx="3548062" cy="726705"/>
              <a:chOff x="2270357" y="3545923"/>
              <a:chExt cx="3548062" cy="726705"/>
            </a:xfrm>
          </p:grpSpPr>
          <p:sp>
            <p:nvSpPr>
              <p:cNvPr id="1753" name="Google Shape;1753;p27"/>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1754" name="Google Shape;1754;p27"/>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1755" name="Google Shape;1755;p27"/>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sp>
        <p:nvSpPr>
          <p:cNvPr id="1756" name="Google Shape;1756;p27"/>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1757" name="Google Shape;1757;p27"/>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1758" name="Google Shape;1758;p27"/>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sp>
        <p:nvSpPr>
          <p:cNvPr id="1759" name="Google Shape;1759;p27"/>
          <p:cNvSpPr/>
          <p:nvPr/>
        </p:nvSpPr>
        <p:spPr>
          <a:xfrm>
            <a:off x="7841292" y="2480153"/>
            <a:ext cx="4246323" cy="400832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60" name="Google Shape;1760;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5"/>
                                        </p:tgtEl>
                                        <p:attrNameLst>
                                          <p:attrName>style.visibility</p:attrName>
                                        </p:attrNameLst>
                                      </p:cBhvr>
                                      <p:to>
                                        <p:strVal val="visible"/>
                                      </p:to>
                                    </p:set>
                                    <p:animEffect filter="fade" transition="in">
                                      <p:cBhvr>
                                        <p:cTn dur="500"/>
                                        <p:tgtEl>
                                          <p:spTgt spid="17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0"/>
                                        </p:tgtEl>
                                        <p:attrNameLst>
                                          <p:attrName>style.visibility</p:attrName>
                                        </p:attrNameLst>
                                      </p:cBhvr>
                                      <p:to>
                                        <p:strVal val="visible"/>
                                      </p:to>
                                    </p:set>
                                    <p:animEffect filter="fade" transition="in">
                                      <p:cBhvr>
                                        <p:cTn dur="500"/>
                                        <p:tgtEl>
                                          <p:spTgt spid="17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3"/>
                                        </p:tgtEl>
                                        <p:attrNameLst>
                                          <p:attrName>style.visibility</p:attrName>
                                        </p:attrNameLst>
                                      </p:cBhvr>
                                      <p:to>
                                        <p:strVal val="visible"/>
                                      </p:to>
                                    </p:set>
                                    <p:animEffect filter="fade" transition="in">
                                      <p:cBhvr>
                                        <p:cTn dur="500"/>
                                        <p:tgtEl>
                                          <p:spTgt spid="1723"/>
                                        </p:tgtEl>
                                      </p:cBhvr>
                                    </p:animEffect>
                                  </p:childTnLst>
                                </p:cTn>
                              </p:par>
                              <p:par>
                                <p:cTn fill="hold" nodeType="withEffect" presetClass="entr" presetID="10" presetSubtype="0">
                                  <p:stCondLst>
                                    <p:cond delay="0"/>
                                  </p:stCondLst>
                                  <p:childTnLst>
                                    <p:set>
                                      <p:cBhvr>
                                        <p:cTn dur="1" fill="hold">
                                          <p:stCondLst>
                                            <p:cond delay="0"/>
                                          </p:stCondLst>
                                        </p:cTn>
                                        <p:tgtEl>
                                          <p:spTgt spid="1758"/>
                                        </p:tgtEl>
                                        <p:attrNameLst>
                                          <p:attrName>style.visibility</p:attrName>
                                        </p:attrNameLst>
                                      </p:cBhvr>
                                      <p:to>
                                        <p:strVal val="visible"/>
                                      </p:to>
                                    </p:set>
                                    <p:animEffect filter="fade" transition="in">
                                      <p:cBhvr>
                                        <p:cTn dur="500"/>
                                        <p:tgtEl>
                                          <p:spTgt spid="17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759"/>
                                        </p:tgtEl>
                                      </p:cBhvr>
                                    </p:animEffect>
                                    <p:set>
                                      <p:cBhvr>
                                        <p:cTn dur="1" fill="hold">
                                          <p:stCondLst>
                                            <p:cond delay="500"/>
                                          </p:stCondLst>
                                        </p:cTn>
                                        <p:tgtEl>
                                          <p:spTgt spid="175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1"/>
                                        </p:tgtEl>
                                        <p:attrNameLst>
                                          <p:attrName>style.visibility</p:attrName>
                                        </p:attrNameLst>
                                      </p:cBhvr>
                                      <p:to>
                                        <p:strVal val="visible"/>
                                      </p:to>
                                    </p:set>
                                    <p:animEffect filter="fade" transition="in">
                                      <p:cBhvr>
                                        <p:cTn dur="500"/>
                                        <p:tgtEl>
                                          <p:spTgt spid="1731"/>
                                        </p:tgtEl>
                                      </p:cBhvr>
                                    </p:animEffect>
                                  </p:childTnLst>
                                </p:cTn>
                              </p:par>
                              <p:par>
                                <p:cTn fill="hold" nodeType="withEffect" presetClass="entr" presetID="10" presetSubtype="0">
                                  <p:stCondLst>
                                    <p:cond delay="0"/>
                                  </p:stCondLst>
                                  <p:childTnLst>
                                    <p:set>
                                      <p:cBhvr>
                                        <p:cTn dur="1" fill="hold">
                                          <p:stCondLst>
                                            <p:cond delay="0"/>
                                          </p:stCondLst>
                                        </p:cTn>
                                        <p:tgtEl>
                                          <p:spTgt spid="1719"/>
                                        </p:tgtEl>
                                        <p:attrNameLst>
                                          <p:attrName>style.visibility</p:attrName>
                                        </p:attrNameLst>
                                      </p:cBhvr>
                                      <p:to>
                                        <p:strVal val="visible"/>
                                      </p:to>
                                    </p:set>
                                    <p:animEffect filter="fade" transition="in">
                                      <p:cBhvr>
                                        <p:cTn dur="500"/>
                                        <p:tgtEl>
                                          <p:spTgt spid="17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9"/>
                                        </p:tgtEl>
                                        <p:attrNameLst>
                                          <p:attrName>style.visibility</p:attrName>
                                        </p:attrNameLst>
                                      </p:cBhvr>
                                      <p:to>
                                        <p:strVal val="visible"/>
                                      </p:to>
                                    </p:set>
                                    <p:animEffect filter="fade" transition="in">
                                      <p:cBhvr>
                                        <p:cTn dur="500"/>
                                        <p:tgtEl>
                                          <p:spTgt spid="1739"/>
                                        </p:tgtEl>
                                      </p:cBhvr>
                                    </p:animEffect>
                                  </p:childTnLst>
                                </p:cTn>
                              </p:par>
                              <p:par>
                                <p:cTn fill="hold" nodeType="withEffect" presetClass="entr" presetID="10" presetSubtype="0">
                                  <p:stCondLst>
                                    <p:cond delay="0"/>
                                  </p:stCondLst>
                                  <p:childTnLst>
                                    <p:set>
                                      <p:cBhvr>
                                        <p:cTn dur="1" fill="hold">
                                          <p:stCondLst>
                                            <p:cond delay="0"/>
                                          </p:stCondLst>
                                        </p:cTn>
                                        <p:tgtEl>
                                          <p:spTgt spid="1718"/>
                                        </p:tgtEl>
                                        <p:attrNameLst>
                                          <p:attrName>style.visibility</p:attrName>
                                        </p:attrNameLst>
                                      </p:cBhvr>
                                      <p:to>
                                        <p:strVal val="visible"/>
                                      </p:to>
                                    </p:set>
                                    <p:animEffect filter="fade" transition="in">
                                      <p:cBhvr>
                                        <p:cTn dur="500"/>
                                        <p:tgtEl>
                                          <p:spTgt spid="17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5" name="Shape 1765"/>
        <p:cNvGrpSpPr/>
        <p:nvPr/>
      </p:nvGrpSpPr>
      <p:grpSpPr>
        <a:xfrm>
          <a:off x="0" y="0"/>
          <a:ext cx="0" cy="0"/>
          <a:chOff x="0" y="0"/>
          <a:chExt cx="0" cy="0"/>
        </a:xfrm>
      </p:grpSpPr>
      <p:sp>
        <p:nvSpPr>
          <p:cNvPr id="1766" name="Google Shape;1766;p2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FSM specification</a:t>
            </a:r>
            <a:endParaRPr sz="4400"/>
          </a:p>
        </p:txBody>
      </p:sp>
      <p:sp>
        <p:nvSpPr>
          <p:cNvPr id="1767" name="Google Shape;1767;p28"/>
          <p:cNvSpPr/>
          <p:nvPr/>
        </p:nvSpPr>
        <p:spPr>
          <a:xfrm>
            <a:off x="2448951"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768" name="Google Shape;1768;p28"/>
          <p:cNvSpPr txBox="1"/>
          <p:nvPr/>
        </p:nvSpPr>
        <p:spPr>
          <a:xfrm>
            <a:off x="2347351"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grpSp>
        <p:nvGrpSpPr>
          <p:cNvPr id="1769" name="Google Shape;1769;p28"/>
          <p:cNvGrpSpPr/>
          <p:nvPr/>
        </p:nvGrpSpPr>
        <p:grpSpPr>
          <a:xfrm>
            <a:off x="5004826" y="2400535"/>
            <a:ext cx="3673475" cy="919271"/>
            <a:chOff x="5004826" y="2400535"/>
            <a:chExt cx="3673475" cy="919271"/>
          </a:xfrm>
        </p:grpSpPr>
        <p:sp>
          <p:nvSpPr>
            <p:cNvPr id="1770" name="Google Shape;1770;p28"/>
            <p:cNvSpPr/>
            <p:nvPr/>
          </p:nvSpPr>
          <p:spPr>
            <a:xfrm>
              <a:off x="5004826"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71" name="Google Shape;1771;p28"/>
            <p:cNvSpPr txBox="1"/>
            <p:nvPr/>
          </p:nvSpPr>
          <p:spPr>
            <a:xfrm>
              <a:off x="5314388"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1772" name="Google Shape;1772;p28"/>
            <p:cNvSpPr txBox="1"/>
            <p:nvPr/>
          </p:nvSpPr>
          <p:spPr>
            <a:xfrm>
              <a:off x="5288988" y="2400535"/>
              <a:ext cx="3389313"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1773" name="Google Shape;1773;p28"/>
            <p:cNvCxnSpPr/>
            <p:nvPr/>
          </p:nvCxnSpPr>
          <p:spPr>
            <a:xfrm>
              <a:off x="5408051" y="2740368"/>
              <a:ext cx="990600" cy="0"/>
            </a:xfrm>
            <a:prstGeom prst="straightConnector1">
              <a:avLst/>
            </a:prstGeom>
            <a:noFill/>
            <a:ln cap="flat" cmpd="sng" w="28575">
              <a:solidFill>
                <a:srgbClr val="000000"/>
              </a:solidFill>
              <a:prstDash val="solid"/>
              <a:round/>
              <a:headEnd len="med" w="med" type="none"/>
              <a:tailEnd len="med" w="med" type="none"/>
            </a:ln>
          </p:spPr>
        </p:cxnSp>
      </p:grpSp>
      <p:grpSp>
        <p:nvGrpSpPr>
          <p:cNvPr id="1774" name="Google Shape;1774;p28"/>
          <p:cNvGrpSpPr/>
          <p:nvPr/>
        </p:nvGrpSpPr>
        <p:grpSpPr>
          <a:xfrm>
            <a:off x="4044388" y="2362543"/>
            <a:ext cx="1074738" cy="962025"/>
            <a:chOff x="1540" y="2116"/>
            <a:chExt cx="677" cy="606"/>
          </a:xfrm>
        </p:grpSpPr>
        <p:sp>
          <p:nvSpPr>
            <p:cNvPr id="1775" name="Google Shape;1775;p28"/>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776" name="Google Shape;1776;p28"/>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grpSp>
        <p:nvGrpSpPr>
          <p:cNvPr id="1777" name="Google Shape;1777;p28"/>
          <p:cNvGrpSpPr/>
          <p:nvPr/>
        </p:nvGrpSpPr>
        <p:grpSpPr>
          <a:xfrm>
            <a:off x="8325876" y="2721318"/>
            <a:ext cx="3394075" cy="1036638"/>
            <a:chOff x="8325876" y="2721318"/>
            <a:chExt cx="3394075" cy="1036638"/>
          </a:xfrm>
        </p:grpSpPr>
        <p:grpSp>
          <p:nvGrpSpPr>
            <p:cNvPr id="1778" name="Google Shape;1778;p28"/>
            <p:cNvGrpSpPr/>
            <p:nvPr/>
          </p:nvGrpSpPr>
          <p:grpSpPr>
            <a:xfrm>
              <a:off x="8325876" y="2721318"/>
              <a:ext cx="3394075" cy="630238"/>
              <a:chOff x="2222" y="2804"/>
              <a:chExt cx="2138" cy="397"/>
            </a:xfrm>
          </p:grpSpPr>
          <p:sp>
            <p:nvSpPr>
              <p:cNvPr id="1779" name="Google Shape;1779;p28"/>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sp>
            <p:nvSpPr>
              <p:cNvPr id="1780" name="Google Shape;1780;p28"/>
              <p:cNvSpPr txBox="1"/>
              <p:nvPr/>
            </p:nvSpPr>
            <p:spPr>
              <a:xfrm>
                <a:off x="2225" y="2804"/>
                <a:ext cx="2135" cy="1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1781" name="Google Shape;1781;p28"/>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sp>
          <p:nvSpPr>
            <p:cNvPr id="1782" name="Google Shape;1782;p28"/>
            <p:cNvSpPr/>
            <p:nvPr/>
          </p:nvSpPr>
          <p:spPr>
            <a:xfrm>
              <a:off x="8424301"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783" name="Google Shape;1783;p28"/>
          <p:cNvSpPr/>
          <p:nvPr/>
        </p:nvSpPr>
        <p:spPr>
          <a:xfrm>
            <a:off x="8516376"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784" name="Google Shape;1784;p28"/>
          <p:cNvSpPr txBox="1"/>
          <p:nvPr/>
        </p:nvSpPr>
        <p:spPr>
          <a:xfrm>
            <a:off x="8429063"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grpSp>
        <p:nvGrpSpPr>
          <p:cNvPr id="1785" name="Google Shape;1785;p28"/>
          <p:cNvGrpSpPr/>
          <p:nvPr/>
        </p:nvGrpSpPr>
        <p:grpSpPr>
          <a:xfrm>
            <a:off x="8049650" y="4591214"/>
            <a:ext cx="4142349" cy="1379872"/>
            <a:chOff x="8049650" y="4591214"/>
            <a:chExt cx="4142349" cy="1379872"/>
          </a:xfrm>
        </p:grpSpPr>
        <p:grpSp>
          <p:nvGrpSpPr>
            <p:cNvPr id="1786" name="Google Shape;1786;p28"/>
            <p:cNvGrpSpPr/>
            <p:nvPr/>
          </p:nvGrpSpPr>
          <p:grpSpPr>
            <a:xfrm>
              <a:off x="8049650" y="5037504"/>
              <a:ext cx="4142349" cy="933582"/>
              <a:chOff x="8049650" y="5037504"/>
              <a:chExt cx="4142349" cy="933582"/>
            </a:xfrm>
          </p:grpSpPr>
          <p:sp>
            <p:nvSpPr>
              <p:cNvPr id="1787" name="Google Shape;1787;p28"/>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1788" name="Google Shape;1788;p28"/>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1789" name="Google Shape;1789;p28"/>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sp>
          <p:nvSpPr>
            <p:cNvPr id="1790" name="Google Shape;1790;p28"/>
            <p:cNvSpPr/>
            <p:nvPr/>
          </p:nvSpPr>
          <p:spPr>
            <a:xfrm flipH="1" rot="10800000">
              <a:off x="8437001"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791" name="Google Shape;1791;p28"/>
          <p:cNvGrpSpPr/>
          <p:nvPr/>
        </p:nvGrpSpPr>
        <p:grpSpPr>
          <a:xfrm>
            <a:off x="2756926" y="1340193"/>
            <a:ext cx="3643312" cy="1027113"/>
            <a:chOff x="2756926" y="1340193"/>
            <a:chExt cx="3643312" cy="1027113"/>
          </a:xfrm>
        </p:grpSpPr>
        <p:sp>
          <p:nvSpPr>
            <p:cNvPr id="1792" name="Google Shape;1792;p28"/>
            <p:cNvSpPr txBox="1"/>
            <p:nvPr/>
          </p:nvSpPr>
          <p:spPr>
            <a:xfrm>
              <a:off x="2756926"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1793" name="Google Shape;1793;p28"/>
            <p:cNvCxnSpPr/>
            <p:nvPr/>
          </p:nvCxnSpPr>
          <p:spPr>
            <a:xfrm>
              <a:off x="2861701"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1794" name="Google Shape;1794;p28"/>
            <p:cNvSpPr/>
            <p:nvPr/>
          </p:nvSpPr>
          <p:spPr>
            <a:xfrm flipH="1" rot="10800000">
              <a:off x="2809313"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95" name="Google Shape;1795;p28"/>
            <p:cNvSpPr txBox="1"/>
            <p:nvPr/>
          </p:nvSpPr>
          <p:spPr>
            <a:xfrm>
              <a:off x="2782326"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grpSp>
      <p:grpSp>
        <p:nvGrpSpPr>
          <p:cNvPr id="1796" name="Google Shape;1796;p28"/>
          <p:cNvGrpSpPr/>
          <p:nvPr/>
        </p:nvGrpSpPr>
        <p:grpSpPr>
          <a:xfrm>
            <a:off x="2270357" y="3283338"/>
            <a:ext cx="3548062" cy="989290"/>
            <a:chOff x="2270357" y="3283338"/>
            <a:chExt cx="3548062" cy="989290"/>
          </a:xfrm>
        </p:grpSpPr>
        <p:sp>
          <p:nvSpPr>
            <p:cNvPr id="1797" name="Google Shape;1797;p28"/>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1798" name="Google Shape;1798;p28"/>
            <p:cNvGrpSpPr/>
            <p:nvPr/>
          </p:nvGrpSpPr>
          <p:grpSpPr>
            <a:xfrm>
              <a:off x="2270357" y="3545923"/>
              <a:ext cx="3548062" cy="726705"/>
              <a:chOff x="2270357" y="3545923"/>
              <a:chExt cx="3548062" cy="726705"/>
            </a:xfrm>
          </p:grpSpPr>
          <p:sp>
            <p:nvSpPr>
              <p:cNvPr id="1799" name="Google Shape;1799;p28"/>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1800" name="Google Shape;1800;p28"/>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1801" name="Google Shape;1801;p28"/>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sp>
        <p:nvSpPr>
          <p:cNvPr id="1802" name="Google Shape;1802;p28"/>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1803" name="Google Shape;1803;p28"/>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1804" name="Google Shape;1804;p28"/>
          <p:cNvSpPr txBox="1"/>
          <p:nvPr/>
        </p:nvSpPr>
        <p:spPr>
          <a:xfrm>
            <a:off x="965915" y="4680633"/>
            <a:ext cx="6532819"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Note: </a:t>
            </a:r>
            <a:r>
              <a:rPr b="0" i="0" lang="en-US" sz="2400" u="none" cap="none" strike="noStrike">
                <a:solidFill>
                  <a:srgbClr val="000000"/>
                </a:solidFill>
                <a:latin typeface="Calibri"/>
                <a:ea typeface="Calibri"/>
                <a:cs typeface="Calibri"/>
                <a:sym typeface="Calibri"/>
              </a:rPr>
              <a:t>“state” of receiver (did the receiver get my message correctly?) isn’t known to sender unless somehow communicated from receiver to sender</a:t>
            </a:r>
            <a:endParaRPr/>
          </a:p>
          <a:p>
            <a:pPr indent="-228600" lvl="0" marL="342900" marR="0" rtl="0" algn="l">
              <a:lnSpc>
                <a:spcPct val="10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that’s why we need a protocol!</a:t>
            </a:r>
            <a:endParaRPr/>
          </a:p>
        </p:txBody>
      </p:sp>
      <p:sp>
        <p:nvSpPr>
          <p:cNvPr id="1805" name="Google Shape;1805;p28"/>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pic>
        <p:nvPicPr>
          <p:cNvPr descr="A shower curtain&#10;&#10;Description automatically generated" id="1806" name="Google Shape;1806;p28"/>
          <p:cNvPicPr preferRelativeResize="0"/>
          <p:nvPr/>
        </p:nvPicPr>
        <p:blipFill rotWithShape="1">
          <a:blip r:embed="rId3">
            <a:alphaModFix/>
          </a:blip>
          <a:srcRect b="0" l="0" r="0" t="0"/>
          <a:stretch/>
        </p:blipFill>
        <p:spPr>
          <a:xfrm>
            <a:off x="7333303" y="2155771"/>
            <a:ext cx="4642797" cy="4579749"/>
          </a:xfrm>
          <a:prstGeom prst="rect">
            <a:avLst/>
          </a:prstGeom>
          <a:noFill/>
          <a:ln>
            <a:noFill/>
          </a:ln>
        </p:spPr>
      </p:pic>
      <p:sp>
        <p:nvSpPr>
          <p:cNvPr id="1807" name="Google Shape;1807;p28"/>
          <p:cNvSpPr txBox="1"/>
          <p:nvPr/>
        </p:nvSpPr>
        <p:spPr>
          <a:xfrm>
            <a:off x="5459797" y="2400795"/>
            <a:ext cx="2085975" cy="3986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00"/>
                </a:highlight>
                <a:latin typeface="Arial"/>
                <a:ea typeface="Arial"/>
                <a:cs typeface="Arial"/>
                <a:sym typeface="Arial"/>
              </a:rPr>
              <a:t>isNAK(rcvpkt)</a:t>
            </a:r>
            <a:endParaRPr b="0" i="0" sz="1600" u="none" cap="none" strike="noStrike">
              <a:solidFill>
                <a:srgbClr val="000000"/>
              </a:solidFill>
              <a:highlight>
                <a:srgbClr val="FFFF00"/>
              </a:highlight>
              <a:latin typeface="Times New Roman"/>
              <a:ea typeface="Times New Roman"/>
              <a:cs typeface="Times New Roman"/>
              <a:sym typeface="Times New Roman"/>
            </a:endParaRPr>
          </a:p>
        </p:txBody>
      </p:sp>
      <p:sp>
        <p:nvSpPr>
          <p:cNvPr id="1808" name="Google Shape;1808;p28"/>
          <p:cNvSpPr txBox="1"/>
          <p:nvPr/>
        </p:nvSpPr>
        <p:spPr>
          <a:xfrm>
            <a:off x="3949171" y="3557373"/>
            <a:ext cx="2085975" cy="3986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00"/>
                </a:highlight>
                <a:latin typeface="Arial"/>
                <a:ea typeface="Arial"/>
                <a:cs typeface="Arial"/>
                <a:sym typeface="Arial"/>
              </a:rPr>
              <a:t>isACK(rcvpkt)</a:t>
            </a:r>
            <a:endParaRPr b="0" i="0" sz="1600" u="none" cap="none" strike="noStrike">
              <a:solidFill>
                <a:srgbClr val="000000"/>
              </a:solidFill>
              <a:highlight>
                <a:srgbClr val="FFFF00"/>
              </a:highlight>
              <a:latin typeface="Times New Roman"/>
              <a:ea typeface="Times New Roman"/>
              <a:cs typeface="Times New Roman"/>
              <a:sym typeface="Times New Roman"/>
            </a:endParaRPr>
          </a:p>
        </p:txBody>
      </p:sp>
      <p:sp>
        <p:nvSpPr>
          <p:cNvPr id="1809" name="Google Shape;1809;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6"/>
                                        </p:tgtEl>
                                        <p:attrNameLst>
                                          <p:attrName>style.visibility</p:attrName>
                                        </p:attrNameLst>
                                      </p:cBhvr>
                                      <p:to>
                                        <p:strVal val="visible"/>
                                      </p:to>
                                    </p:set>
                                    <p:animEffect filter="fade" transition="in">
                                      <p:cBhvr>
                                        <p:cTn dur="1000"/>
                                        <p:tgtEl>
                                          <p:spTgt spid="18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7"/>
                                        </p:tgtEl>
                                        <p:attrNameLst>
                                          <p:attrName>style.visibility</p:attrName>
                                        </p:attrNameLst>
                                      </p:cBhvr>
                                      <p:to>
                                        <p:strVal val="visible"/>
                                      </p:to>
                                    </p:set>
                                    <p:animEffect filter="fade" transition="in">
                                      <p:cBhvr>
                                        <p:cTn dur="500"/>
                                        <p:tgtEl>
                                          <p:spTgt spid="1807"/>
                                        </p:tgtEl>
                                      </p:cBhvr>
                                    </p:animEffect>
                                  </p:childTnLst>
                                </p:cTn>
                              </p:par>
                              <p:par>
                                <p:cTn fill="hold" nodeType="withEffect" presetClass="entr" presetID="10" presetSubtype="0">
                                  <p:stCondLst>
                                    <p:cond delay="0"/>
                                  </p:stCondLst>
                                  <p:childTnLst>
                                    <p:set>
                                      <p:cBhvr>
                                        <p:cTn dur="1" fill="hold">
                                          <p:stCondLst>
                                            <p:cond delay="0"/>
                                          </p:stCondLst>
                                        </p:cTn>
                                        <p:tgtEl>
                                          <p:spTgt spid="1808"/>
                                        </p:tgtEl>
                                        <p:attrNameLst>
                                          <p:attrName>style.visibility</p:attrName>
                                        </p:attrNameLst>
                                      </p:cBhvr>
                                      <p:to>
                                        <p:strVal val="visible"/>
                                      </p:to>
                                    </p:set>
                                    <p:animEffect filter="fade" transition="in">
                                      <p:cBhvr>
                                        <p:cTn dur="500"/>
                                        <p:tgtEl>
                                          <p:spTgt spid="18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4" name="Shape 1814"/>
        <p:cNvGrpSpPr/>
        <p:nvPr/>
      </p:nvGrpSpPr>
      <p:grpSpPr>
        <a:xfrm>
          <a:off x="0" y="0"/>
          <a:ext cx="0" cy="0"/>
          <a:chOff x="0" y="0"/>
          <a:chExt cx="0" cy="0"/>
        </a:xfrm>
      </p:grpSpPr>
      <p:sp>
        <p:nvSpPr>
          <p:cNvPr id="1815" name="Google Shape;1815;p2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operation with no errors</a:t>
            </a:r>
            <a:endParaRPr sz="4400"/>
          </a:p>
        </p:txBody>
      </p:sp>
      <p:sp>
        <p:nvSpPr>
          <p:cNvPr id="1816" name="Google Shape;1816;p29"/>
          <p:cNvSpPr/>
          <p:nvPr/>
        </p:nvSpPr>
        <p:spPr>
          <a:xfrm>
            <a:off x="2448951"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817" name="Google Shape;1817;p29"/>
          <p:cNvSpPr txBox="1"/>
          <p:nvPr/>
        </p:nvSpPr>
        <p:spPr>
          <a:xfrm>
            <a:off x="2347351"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sp>
        <p:nvSpPr>
          <p:cNvPr id="1818" name="Google Shape;1818;p29"/>
          <p:cNvSpPr txBox="1"/>
          <p:nvPr/>
        </p:nvSpPr>
        <p:spPr>
          <a:xfrm>
            <a:off x="2756926"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1819" name="Google Shape;1819;p29"/>
          <p:cNvCxnSpPr/>
          <p:nvPr/>
        </p:nvCxnSpPr>
        <p:spPr>
          <a:xfrm>
            <a:off x="2861701"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1820" name="Google Shape;1820;p29"/>
          <p:cNvSpPr/>
          <p:nvPr/>
        </p:nvSpPr>
        <p:spPr>
          <a:xfrm flipH="1" rot="10800000">
            <a:off x="2809313"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21" name="Google Shape;1821;p29"/>
          <p:cNvSpPr/>
          <p:nvPr/>
        </p:nvSpPr>
        <p:spPr>
          <a:xfrm>
            <a:off x="2856938" y="328011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22" name="Google Shape;1822;p29"/>
          <p:cNvSpPr/>
          <p:nvPr/>
        </p:nvSpPr>
        <p:spPr>
          <a:xfrm>
            <a:off x="5004826"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23" name="Google Shape;1823;p29"/>
          <p:cNvSpPr txBox="1"/>
          <p:nvPr/>
        </p:nvSpPr>
        <p:spPr>
          <a:xfrm>
            <a:off x="5314388"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1824" name="Google Shape;1824;p29"/>
          <p:cNvCxnSpPr/>
          <p:nvPr/>
        </p:nvCxnSpPr>
        <p:spPr>
          <a:xfrm>
            <a:off x="5408051" y="2740368"/>
            <a:ext cx="990600" cy="0"/>
          </a:xfrm>
          <a:prstGeom prst="straightConnector1">
            <a:avLst/>
          </a:prstGeom>
          <a:noFill/>
          <a:ln cap="flat" cmpd="sng" w="28575">
            <a:solidFill>
              <a:srgbClr val="000000"/>
            </a:solidFill>
            <a:prstDash val="solid"/>
            <a:round/>
            <a:headEnd len="med" w="med" type="none"/>
            <a:tailEnd len="med" w="med" type="none"/>
          </a:ln>
        </p:spPr>
      </p:cxnSp>
      <p:grpSp>
        <p:nvGrpSpPr>
          <p:cNvPr id="1825" name="Google Shape;1825;p29"/>
          <p:cNvGrpSpPr/>
          <p:nvPr/>
        </p:nvGrpSpPr>
        <p:grpSpPr>
          <a:xfrm>
            <a:off x="8325876" y="3094378"/>
            <a:ext cx="1828800" cy="257175"/>
            <a:chOff x="2222" y="3039"/>
            <a:chExt cx="1152" cy="162"/>
          </a:xfrm>
        </p:grpSpPr>
        <p:sp>
          <p:nvSpPr>
            <p:cNvPr id="1826" name="Google Shape;1826;p29"/>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cxnSp>
          <p:nvCxnSpPr>
            <p:cNvPr id="1827" name="Google Shape;1827;p29"/>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grpSp>
        <p:nvGrpSpPr>
          <p:cNvPr id="1828" name="Google Shape;1828;p29"/>
          <p:cNvGrpSpPr/>
          <p:nvPr/>
        </p:nvGrpSpPr>
        <p:grpSpPr>
          <a:xfrm>
            <a:off x="4044388" y="2362543"/>
            <a:ext cx="1074738" cy="962025"/>
            <a:chOff x="1540" y="2116"/>
            <a:chExt cx="677" cy="606"/>
          </a:xfrm>
        </p:grpSpPr>
        <p:sp>
          <p:nvSpPr>
            <p:cNvPr id="1829" name="Google Shape;1829;p29"/>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830" name="Google Shape;1830;p29"/>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sp>
        <p:nvSpPr>
          <p:cNvPr id="1831" name="Google Shape;1831;p29"/>
          <p:cNvSpPr/>
          <p:nvPr/>
        </p:nvSpPr>
        <p:spPr>
          <a:xfrm>
            <a:off x="8424301"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32" name="Google Shape;1832;p29"/>
          <p:cNvSpPr/>
          <p:nvPr/>
        </p:nvSpPr>
        <p:spPr>
          <a:xfrm>
            <a:off x="8516376"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833" name="Google Shape;1833;p29"/>
          <p:cNvSpPr txBox="1"/>
          <p:nvPr/>
        </p:nvSpPr>
        <p:spPr>
          <a:xfrm>
            <a:off x="8429063"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sp>
        <p:nvSpPr>
          <p:cNvPr id="1834" name="Google Shape;1834;p29"/>
          <p:cNvSpPr/>
          <p:nvPr/>
        </p:nvSpPr>
        <p:spPr>
          <a:xfrm flipH="1" rot="10800000">
            <a:off x="8437001"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835" name="Google Shape;1835;p29"/>
          <p:cNvGrpSpPr/>
          <p:nvPr/>
        </p:nvGrpSpPr>
        <p:grpSpPr>
          <a:xfrm>
            <a:off x="2101288" y="2306981"/>
            <a:ext cx="1333500" cy="1004887"/>
            <a:chOff x="220" y="1365"/>
            <a:chExt cx="840" cy="633"/>
          </a:xfrm>
        </p:grpSpPr>
        <p:cxnSp>
          <p:nvCxnSpPr>
            <p:cNvPr id="1836" name="Google Shape;1836;p29"/>
            <p:cNvCxnSpPr/>
            <p:nvPr/>
          </p:nvCxnSpPr>
          <p:spPr>
            <a:xfrm>
              <a:off x="220" y="1365"/>
              <a:ext cx="273" cy="154"/>
            </a:xfrm>
            <a:prstGeom prst="straightConnector1">
              <a:avLst/>
            </a:prstGeom>
            <a:noFill/>
            <a:ln cap="flat" cmpd="sng" w="28575">
              <a:solidFill>
                <a:srgbClr val="FF0000"/>
              </a:solidFill>
              <a:prstDash val="dash"/>
              <a:round/>
              <a:headEnd len="med" w="med" type="none"/>
              <a:tailEnd len="med" w="med" type="triangle"/>
            </a:ln>
          </p:spPr>
        </p:cxnSp>
        <p:sp>
          <p:nvSpPr>
            <p:cNvPr id="1837" name="Google Shape;1837;p29"/>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1838" name="Google Shape;1838;p29"/>
          <p:cNvGrpSpPr/>
          <p:nvPr/>
        </p:nvGrpSpPr>
        <p:grpSpPr>
          <a:xfrm>
            <a:off x="8086163" y="3637306"/>
            <a:ext cx="1414463" cy="1033462"/>
            <a:chOff x="3990" y="2203"/>
            <a:chExt cx="891" cy="651"/>
          </a:xfrm>
        </p:grpSpPr>
        <p:cxnSp>
          <p:nvCxnSpPr>
            <p:cNvPr id="1839" name="Google Shape;1839;p29"/>
            <p:cNvCxnSpPr/>
            <p:nvPr/>
          </p:nvCxnSpPr>
          <p:spPr>
            <a:xfrm>
              <a:off x="3990" y="2203"/>
              <a:ext cx="273" cy="154"/>
            </a:xfrm>
            <a:prstGeom prst="straightConnector1">
              <a:avLst/>
            </a:prstGeom>
            <a:noFill/>
            <a:ln cap="flat" cmpd="sng" w="28575">
              <a:solidFill>
                <a:srgbClr val="FF0000"/>
              </a:solidFill>
              <a:prstDash val="dash"/>
              <a:round/>
              <a:headEnd len="med" w="med" type="none"/>
              <a:tailEnd len="med" w="med" type="triangle"/>
            </a:ln>
          </p:spPr>
        </p:cxnSp>
        <p:sp>
          <p:nvSpPr>
            <p:cNvPr id="1840" name="Google Shape;1840;p29"/>
            <p:cNvSpPr/>
            <p:nvPr/>
          </p:nvSpPr>
          <p:spPr>
            <a:xfrm>
              <a:off x="4260" y="2248"/>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1841" name="Google Shape;1841;p29"/>
          <p:cNvSpPr txBox="1"/>
          <p:nvPr/>
        </p:nvSpPr>
        <p:spPr>
          <a:xfrm>
            <a:off x="2782326"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1842" name="Google Shape;1842;p29"/>
          <p:cNvCxnSpPr/>
          <p:nvPr/>
        </p:nvCxnSpPr>
        <p:spPr>
          <a:xfrm>
            <a:off x="2763276" y="1429093"/>
            <a:ext cx="12700" cy="747713"/>
          </a:xfrm>
          <a:prstGeom prst="straightConnector1">
            <a:avLst/>
          </a:prstGeom>
          <a:noFill/>
          <a:ln cap="flat" cmpd="sng" w="76200">
            <a:solidFill>
              <a:srgbClr val="FF0000"/>
            </a:solidFill>
            <a:prstDash val="solid"/>
            <a:round/>
            <a:headEnd len="med" w="med" type="none"/>
            <a:tailEnd len="med" w="med" type="none"/>
          </a:ln>
        </p:spPr>
      </p:cxnSp>
      <p:sp>
        <p:nvSpPr>
          <p:cNvPr id="1843" name="Google Shape;1843;p29"/>
          <p:cNvSpPr/>
          <p:nvPr/>
        </p:nvSpPr>
        <p:spPr>
          <a:xfrm>
            <a:off x="2763276" y="2146642"/>
            <a:ext cx="7148415" cy="2944699"/>
          </a:xfrm>
          <a:custGeom>
            <a:rect b="b" l="l" r="r" t="t"/>
            <a:pathLst>
              <a:path extrusionOk="0" h="9621" w="10673">
                <a:moveTo>
                  <a:pt x="0" y="52"/>
                </a:moveTo>
                <a:lnTo>
                  <a:pt x="2377" y="0"/>
                </a:lnTo>
                <a:lnTo>
                  <a:pt x="8009" y="9621"/>
                </a:lnTo>
                <a:lnTo>
                  <a:pt x="10673" y="9621"/>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844" name="Google Shape;1844;p29"/>
          <p:cNvGrpSpPr/>
          <p:nvPr/>
        </p:nvGrpSpPr>
        <p:grpSpPr>
          <a:xfrm>
            <a:off x="2099701" y="2306981"/>
            <a:ext cx="1333500" cy="1004887"/>
            <a:chOff x="220" y="1365"/>
            <a:chExt cx="840" cy="633"/>
          </a:xfrm>
        </p:grpSpPr>
        <p:cxnSp>
          <p:nvCxnSpPr>
            <p:cNvPr id="1845" name="Google Shape;1845;p29"/>
            <p:cNvCxnSpPr/>
            <p:nvPr/>
          </p:nvCxnSpPr>
          <p:spPr>
            <a:xfrm>
              <a:off x="220" y="1365"/>
              <a:ext cx="273" cy="154"/>
            </a:xfrm>
            <a:prstGeom prst="straightConnector1">
              <a:avLst/>
            </a:prstGeom>
            <a:noFill/>
            <a:ln cap="flat" cmpd="sng" w="28575">
              <a:solidFill>
                <a:schemeClr val="dk2"/>
              </a:solidFill>
              <a:prstDash val="dash"/>
              <a:round/>
              <a:headEnd len="med" w="med" type="none"/>
              <a:tailEnd len="med" w="med" type="triangle"/>
            </a:ln>
          </p:spPr>
        </p:cxnSp>
        <p:sp>
          <p:nvSpPr>
            <p:cNvPr id="1846" name="Google Shape;1846;p29"/>
            <p:cNvSpPr/>
            <p:nvPr/>
          </p:nvSpPr>
          <p:spPr>
            <a:xfrm>
              <a:off x="439" y="1392"/>
              <a:ext cx="621" cy="606"/>
            </a:xfrm>
            <a:prstGeom prst="ellipse">
              <a:avLst/>
            </a:prstGeom>
            <a:noFill/>
            <a:ln cap="flat" cmpd="sng" w="381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1847" name="Google Shape;1847;p29"/>
          <p:cNvSpPr/>
          <p:nvPr/>
        </p:nvSpPr>
        <p:spPr>
          <a:xfrm>
            <a:off x="4084076" y="2362543"/>
            <a:ext cx="985837" cy="962025"/>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1848" name="Google Shape;1848;p29"/>
          <p:cNvCxnSpPr/>
          <p:nvPr/>
        </p:nvCxnSpPr>
        <p:spPr>
          <a:xfrm flipH="1">
            <a:off x="8013138" y="5042243"/>
            <a:ext cx="12700" cy="1193800"/>
          </a:xfrm>
          <a:prstGeom prst="straightConnector1">
            <a:avLst/>
          </a:prstGeom>
          <a:noFill/>
          <a:ln cap="flat" cmpd="sng" w="76200">
            <a:solidFill>
              <a:srgbClr val="FF0000"/>
            </a:solidFill>
            <a:prstDash val="solid"/>
            <a:round/>
            <a:headEnd len="med" w="med" type="none"/>
            <a:tailEnd len="med" w="med" type="none"/>
          </a:ln>
        </p:spPr>
      </p:cxnSp>
      <p:sp>
        <p:nvSpPr>
          <p:cNvPr id="1849" name="Google Shape;1849;p29"/>
          <p:cNvSpPr/>
          <p:nvPr/>
        </p:nvSpPr>
        <p:spPr>
          <a:xfrm>
            <a:off x="2122306" y="3871617"/>
            <a:ext cx="7452932" cy="2415225"/>
          </a:xfrm>
          <a:custGeom>
            <a:rect b="b" l="l" r="r" t="t"/>
            <a:pathLst>
              <a:path extrusionOk="0" h="10684" w="11178">
                <a:moveTo>
                  <a:pt x="11178" y="10684"/>
                </a:moveTo>
                <a:lnTo>
                  <a:pt x="8854" y="10684"/>
                </a:lnTo>
                <a:lnTo>
                  <a:pt x="5345" y="0"/>
                </a:lnTo>
                <a:lnTo>
                  <a:pt x="0" y="0"/>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850" name="Google Shape;1850;p29"/>
          <p:cNvGrpSpPr/>
          <p:nvPr/>
        </p:nvGrpSpPr>
        <p:grpSpPr>
          <a:xfrm>
            <a:off x="2099701" y="2306981"/>
            <a:ext cx="1333500" cy="1004887"/>
            <a:chOff x="220" y="1365"/>
            <a:chExt cx="840" cy="633"/>
          </a:xfrm>
        </p:grpSpPr>
        <p:cxnSp>
          <p:nvCxnSpPr>
            <p:cNvPr id="1851" name="Google Shape;1851;p29"/>
            <p:cNvCxnSpPr/>
            <p:nvPr/>
          </p:nvCxnSpPr>
          <p:spPr>
            <a:xfrm>
              <a:off x="220" y="1365"/>
              <a:ext cx="273" cy="154"/>
            </a:xfrm>
            <a:prstGeom prst="straightConnector1">
              <a:avLst/>
            </a:prstGeom>
            <a:noFill/>
            <a:ln cap="flat" cmpd="sng" w="28575">
              <a:solidFill>
                <a:schemeClr val="dk2"/>
              </a:solidFill>
              <a:prstDash val="dash"/>
              <a:round/>
              <a:headEnd len="med" w="med" type="none"/>
              <a:tailEnd len="med" w="med" type="triangle"/>
            </a:ln>
          </p:spPr>
        </p:cxnSp>
        <p:sp>
          <p:nvSpPr>
            <p:cNvPr id="1852" name="Google Shape;1852;p29"/>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1853" name="Google Shape;1853;p29"/>
          <p:cNvSpPr/>
          <p:nvPr/>
        </p:nvSpPr>
        <p:spPr>
          <a:xfrm>
            <a:off x="4080901" y="2367306"/>
            <a:ext cx="985837" cy="962025"/>
          </a:xfrm>
          <a:prstGeom prst="ellipse">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854" name="Google Shape;1854;p29"/>
          <p:cNvSpPr txBox="1"/>
          <p:nvPr/>
        </p:nvSpPr>
        <p:spPr>
          <a:xfrm>
            <a:off x="5288988" y="2400535"/>
            <a:ext cx="3389313"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855" name="Google Shape;1855;p29"/>
          <p:cNvSpPr txBox="1"/>
          <p:nvPr/>
        </p:nvSpPr>
        <p:spPr>
          <a:xfrm>
            <a:off x="8327563" y="2720534"/>
            <a:ext cx="3389313" cy="3127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grpSp>
        <p:nvGrpSpPr>
          <p:cNvPr id="1856" name="Google Shape;1856;p29"/>
          <p:cNvGrpSpPr/>
          <p:nvPr/>
        </p:nvGrpSpPr>
        <p:grpSpPr>
          <a:xfrm>
            <a:off x="2271408" y="3285357"/>
            <a:ext cx="3548062" cy="989290"/>
            <a:chOff x="2270357" y="3283338"/>
            <a:chExt cx="3548062" cy="989290"/>
          </a:xfrm>
        </p:grpSpPr>
        <p:sp>
          <p:nvSpPr>
            <p:cNvPr id="1857" name="Google Shape;1857;p29"/>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1858" name="Google Shape;1858;p29"/>
            <p:cNvGrpSpPr/>
            <p:nvPr/>
          </p:nvGrpSpPr>
          <p:grpSpPr>
            <a:xfrm>
              <a:off x="2270357" y="3545923"/>
              <a:ext cx="3548062" cy="726705"/>
              <a:chOff x="2270357" y="3545923"/>
              <a:chExt cx="3548062" cy="726705"/>
            </a:xfrm>
          </p:grpSpPr>
          <p:sp>
            <p:nvSpPr>
              <p:cNvPr id="1859" name="Google Shape;1859;p29"/>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1860" name="Google Shape;1860;p29"/>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1861" name="Google Shape;1861;p29"/>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grpSp>
        <p:nvGrpSpPr>
          <p:cNvPr id="1862" name="Google Shape;1862;p29"/>
          <p:cNvGrpSpPr/>
          <p:nvPr/>
        </p:nvGrpSpPr>
        <p:grpSpPr>
          <a:xfrm>
            <a:off x="8049650" y="5037504"/>
            <a:ext cx="4142349" cy="933582"/>
            <a:chOff x="8049650" y="5037504"/>
            <a:chExt cx="4142349" cy="933582"/>
          </a:xfrm>
        </p:grpSpPr>
        <p:sp>
          <p:nvSpPr>
            <p:cNvPr id="1863" name="Google Shape;1863;p29"/>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1864" name="Google Shape;1864;p29"/>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1865" name="Google Shape;1865;p29"/>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sp>
        <p:nvSpPr>
          <p:cNvPr id="1866" name="Google Shape;1866;p29"/>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1867" name="Google Shape;1867;p29"/>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1868" name="Google Shape;1868;p29"/>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sp>
        <p:nvSpPr>
          <p:cNvPr id="1869" name="Google Shape;1869;p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5"/>
                                        </p:tgtEl>
                                        <p:attrNameLst>
                                          <p:attrName>style.visibility</p:attrName>
                                        </p:attrNameLst>
                                      </p:cBhvr>
                                      <p:to>
                                        <p:strVal val="visible"/>
                                      </p:to>
                                    </p:set>
                                    <p:animEffect filter="fade" transition="in">
                                      <p:cBhvr>
                                        <p:cTn dur="500"/>
                                        <p:tgtEl>
                                          <p:spTgt spid="18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8"/>
                                        </p:tgtEl>
                                        <p:attrNameLst>
                                          <p:attrName>style.visibility</p:attrName>
                                        </p:attrNameLst>
                                      </p:cBhvr>
                                      <p:to>
                                        <p:strVal val="visible"/>
                                      </p:to>
                                    </p:set>
                                    <p:animEffect filter="fade" transition="in">
                                      <p:cBhvr>
                                        <p:cTn dur="500"/>
                                        <p:tgtEl>
                                          <p:spTgt spid="18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2"/>
                                        </p:tgtEl>
                                        <p:attrNameLst>
                                          <p:attrName>style.visibility</p:attrName>
                                        </p:attrNameLst>
                                      </p:cBhvr>
                                      <p:to>
                                        <p:strVal val="visible"/>
                                      </p:to>
                                    </p:set>
                                    <p:animEffect filter="fade" transition="in">
                                      <p:cBhvr>
                                        <p:cTn dur="1000"/>
                                        <p:tgtEl>
                                          <p:spTgt spid="18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3"/>
                                        </p:tgtEl>
                                        <p:attrNameLst>
                                          <p:attrName>style.visibility</p:attrName>
                                        </p:attrNameLst>
                                      </p:cBhvr>
                                      <p:to>
                                        <p:strVal val="visible"/>
                                      </p:to>
                                    </p:set>
                                    <p:animEffect filter="fade" transition="in">
                                      <p:cBhvr>
                                        <p:cTn dur="1000"/>
                                        <p:tgtEl>
                                          <p:spTgt spid="1843"/>
                                        </p:tgtEl>
                                      </p:cBhvr>
                                    </p:animEffect>
                                  </p:childTnLst>
                                </p:cTn>
                              </p:par>
                              <p:par>
                                <p:cTn fill="hold" nodeType="withEffect" presetClass="entr" presetID="1" presetSubtype="0">
                                  <p:stCondLst>
                                    <p:cond delay="0"/>
                                  </p:stCondLst>
                                  <p:childTnLst>
                                    <p:set>
                                      <p:cBhvr>
                                        <p:cTn dur="1" fill="hold">
                                          <p:stCondLst>
                                            <p:cond delay="0"/>
                                          </p:stCondLst>
                                        </p:cTn>
                                        <p:tgtEl>
                                          <p:spTgt spid="18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8"/>
                                        </p:tgtEl>
                                        <p:attrNameLst>
                                          <p:attrName>style.visibility</p:attrName>
                                        </p:attrNameLst>
                                      </p:cBhvr>
                                      <p:to>
                                        <p:strVal val="visible"/>
                                      </p:to>
                                    </p:set>
                                    <p:animEffect filter="fade" transition="in">
                                      <p:cBhvr>
                                        <p:cTn dur="1000"/>
                                        <p:tgtEl>
                                          <p:spTgt spid="18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9"/>
                                        </p:tgtEl>
                                        <p:attrNameLst>
                                          <p:attrName>style.visibility</p:attrName>
                                        </p:attrNameLst>
                                      </p:cBhvr>
                                      <p:to>
                                        <p:strVal val="visible"/>
                                      </p:to>
                                    </p:set>
                                    <p:animEffect filter="fade" transition="in">
                                      <p:cBhvr>
                                        <p:cTn dur="1000"/>
                                        <p:tgtEl>
                                          <p:spTgt spid="1849"/>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18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4" name="Shape 1874"/>
        <p:cNvGrpSpPr/>
        <p:nvPr/>
      </p:nvGrpSpPr>
      <p:grpSpPr>
        <a:xfrm>
          <a:off x="0" y="0"/>
          <a:ext cx="0" cy="0"/>
          <a:chOff x="0" y="0"/>
          <a:chExt cx="0" cy="0"/>
        </a:xfrm>
      </p:grpSpPr>
      <p:sp>
        <p:nvSpPr>
          <p:cNvPr id="1875" name="Google Shape;1875;p3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corrupted packet scenario</a:t>
            </a:r>
            <a:endParaRPr sz="4400"/>
          </a:p>
        </p:txBody>
      </p:sp>
      <p:sp>
        <p:nvSpPr>
          <p:cNvPr id="1876" name="Google Shape;1876;p30"/>
          <p:cNvSpPr/>
          <p:nvPr/>
        </p:nvSpPr>
        <p:spPr>
          <a:xfrm>
            <a:off x="2448440"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877" name="Google Shape;1877;p30"/>
          <p:cNvSpPr txBox="1"/>
          <p:nvPr/>
        </p:nvSpPr>
        <p:spPr>
          <a:xfrm>
            <a:off x="2346840"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sp>
        <p:nvSpPr>
          <p:cNvPr id="1878" name="Google Shape;1878;p30"/>
          <p:cNvSpPr txBox="1"/>
          <p:nvPr/>
        </p:nvSpPr>
        <p:spPr>
          <a:xfrm>
            <a:off x="2756415"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1879" name="Google Shape;1879;p30"/>
          <p:cNvCxnSpPr/>
          <p:nvPr/>
        </p:nvCxnSpPr>
        <p:spPr>
          <a:xfrm>
            <a:off x="2861190"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1880" name="Google Shape;1880;p30"/>
          <p:cNvSpPr/>
          <p:nvPr/>
        </p:nvSpPr>
        <p:spPr>
          <a:xfrm flipH="1" rot="10800000">
            <a:off x="2808802"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81" name="Google Shape;1881;p30"/>
          <p:cNvSpPr/>
          <p:nvPr/>
        </p:nvSpPr>
        <p:spPr>
          <a:xfrm>
            <a:off x="2856427" y="328011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82" name="Google Shape;1882;p30"/>
          <p:cNvSpPr/>
          <p:nvPr/>
        </p:nvSpPr>
        <p:spPr>
          <a:xfrm>
            <a:off x="5004315"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83" name="Google Shape;1883;p30"/>
          <p:cNvSpPr txBox="1"/>
          <p:nvPr/>
        </p:nvSpPr>
        <p:spPr>
          <a:xfrm>
            <a:off x="5313877"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1884" name="Google Shape;1884;p30"/>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cxnSp>
        <p:nvCxnSpPr>
          <p:cNvPr id="1885" name="Google Shape;1885;p30"/>
          <p:cNvCxnSpPr/>
          <p:nvPr/>
        </p:nvCxnSpPr>
        <p:spPr>
          <a:xfrm>
            <a:off x="5407540" y="2740368"/>
            <a:ext cx="990600" cy="0"/>
          </a:xfrm>
          <a:prstGeom prst="straightConnector1">
            <a:avLst/>
          </a:prstGeom>
          <a:noFill/>
          <a:ln cap="flat" cmpd="sng" w="28575">
            <a:solidFill>
              <a:srgbClr val="000000"/>
            </a:solidFill>
            <a:prstDash val="solid"/>
            <a:round/>
            <a:headEnd len="med" w="med" type="none"/>
            <a:tailEnd len="med" w="med" type="none"/>
          </a:ln>
        </p:spPr>
      </p:cxnSp>
      <p:grpSp>
        <p:nvGrpSpPr>
          <p:cNvPr id="1886" name="Google Shape;1886;p30"/>
          <p:cNvGrpSpPr/>
          <p:nvPr/>
        </p:nvGrpSpPr>
        <p:grpSpPr>
          <a:xfrm>
            <a:off x="4043877" y="2362543"/>
            <a:ext cx="1074738" cy="962025"/>
            <a:chOff x="1540" y="2116"/>
            <a:chExt cx="677" cy="606"/>
          </a:xfrm>
        </p:grpSpPr>
        <p:sp>
          <p:nvSpPr>
            <p:cNvPr id="1887" name="Google Shape;1887;p30"/>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888" name="Google Shape;1888;p30"/>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sp>
        <p:nvSpPr>
          <p:cNvPr id="1889" name="Google Shape;1889;p30"/>
          <p:cNvSpPr/>
          <p:nvPr/>
        </p:nvSpPr>
        <p:spPr>
          <a:xfrm>
            <a:off x="8423790"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90" name="Google Shape;1890;p30"/>
          <p:cNvSpPr/>
          <p:nvPr/>
        </p:nvSpPr>
        <p:spPr>
          <a:xfrm>
            <a:off x="8515865"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891" name="Google Shape;1891;p30"/>
          <p:cNvSpPr txBox="1"/>
          <p:nvPr/>
        </p:nvSpPr>
        <p:spPr>
          <a:xfrm>
            <a:off x="8428552"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sp>
        <p:nvSpPr>
          <p:cNvPr id="1892" name="Google Shape;1892;p30"/>
          <p:cNvSpPr/>
          <p:nvPr/>
        </p:nvSpPr>
        <p:spPr>
          <a:xfrm flipH="1" rot="10800000">
            <a:off x="8436490"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893" name="Google Shape;1893;p30"/>
          <p:cNvGrpSpPr/>
          <p:nvPr/>
        </p:nvGrpSpPr>
        <p:grpSpPr>
          <a:xfrm>
            <a:off x="2100777" y="2306981"/>
            <a:ext cx="1333500" cy="1004887"/>
            <a:chOff x="220" y="1365"/>
            <a:chExt cx="840" cy="633"/>
          </a:xfrm>
        </p:grpSpPr>
        <p:cxnSp>
          <p:nvCxnSpPr>
            <p:cNvPr id="1894" name="Google Shape;1894;p30"/>
            <p:cNvCxnSpPr/>
            <p:nvPr/>
          </p:nvCxnSpPr>
          <p:spPr>
            <a:xfrm>
              <a:off x="220" y="1365"/>
              <a:ext cx="273" cy="154"/>
            </a:xfrm>
            <a:prstGeom prst="straightConnector1">
              <a:avLst/>
            </a:prstGeom>
            <a:noFill/>
            <a:ln cap="flat" cmpd="sng" w="28575">
              <a:solidFill>
                <a:srgbClr val="FF0000"/>
              </a:solidFill>
              <a:prstDash val="dash"/>
              <a:round/>
              <a:headEnd len="med" w="med" type="none"/>
              <a:tailEnd len="med" w="med" type="triangle"/>
            </a:ln>
          </p:spPr>
        </p:cxnSp>
        <p:sp>
          <p:nvSpPr>
            <p:cNvPr id="1895" name="Google Shape;1895;p30"/>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1896" name="Google Shape;1896;p30"/>
          <p:cNvGrpSpPr/>
          <p:nvPr/>
        </p:nvGrpSpPr>
        <p:grpSpPr>
          <a:xfrm>
            <a:off x="8085652" y="3637306"/>
            <a:ext cx="1414463" cy="1033462"/>
            <a:chOff x="3990" y="2203"/>
            <a:chExt cx="891" cy="651"/>
          </a:xfrm>
        </p:grpSpPr>
        <p:cxnSp>
          <p:nvCxnSpPr>
            <p:cNvPr id="1897" name="Google Shape;1897;p30"/>
            <p:cNvCxnSpPr/>
            <p:nvPr/>
          </p:nvCxnSpPr>
          <p:spPr>
            <a:xfrm>
              <a:off x="3990" y="2203"/>
              <a:ext cx="273" cy="154"/>
            </a:xfrm>
            <a:prstGeom prst="straightConnector1">
              <a:avLst/>
            </a:prstGeom>
            <a:noFill/>
            <a:ln cap="flat" cmpd="sng" w="28575">
              <a:solidFill>
                <a:srgbClr val="FF0000"/>
              </a:solidFill>
              <a:prstDash val="dash"/>
              <a:round/>
              <a:headEnd len="med" w="med" type="none"/>
              <a:tailEnd len="med" w="med" type="triangle"/>
            </a:ln>
          </p:spPr>
        </p:cxnSp>
        <p:sp>
          <p:nvSpPr>
            <p:cNvPr id="1898" name="Google Shape;1898;p30"/>
            <p:cNvSpPr/>
            <p:nvPr/>
          </p:nvSpPr>
          <p:spPr>
            <a:xfrm>
              <a:off x="4260" y="2248"/>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1899" name="Google Shape;1899;p30"/>
          <p:cNvSpPr txBox="1"/>
          <p:nvPr/>
        </p:nvSpPr>
        <p:spPr>
          <a:xfrm>
            <a:off x="2781815"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1900" name="Google Shape;1900;p30"/>
          <p:cNvCxnSpPr/>
          <p:nvPr/>
        </p:nvCxnSpPr>
        <p:spPr>
          <a:xfrm>
            <a:off x="2762765" y="1429093"/>
            <a:ext cx="12700" cy="747713"/>
          </a:xfrm>
          <a:prstGeom prst="straightConnector1">
            <a:avLst/>
          </a:prstGeom>
          <a:noFill/>
          <a:ln cap="flat" cmpd="sng" w="76200">
            <a:solidFill>
              <a:srgbClr val="FF0000"/>
            </a:solidFill>
            <a:prstDash val="solid"/>
            <a:round/>
            <a:headEnd len="med" w="med" type="none"/>
            <a:tailEnd len="med" w="med" type="none"/>
          </a:ln>
        </p:spPr>
      </p:cxnSp>
      <p:sp>
        <p:nvSpPr>
          <p:cNvPr id="1901" name="Google Shape;1901;p30"/>
          <p:cNvSpPr/>
          <p:nvPr/>
        </p:nvSpPr>
        <p:spPr>
          <a:xfrm>
            <a:off x="2762765" y="2146643"/>
            <a:ext cx="6940550" cy="654050"/>
          </a:xfrm>
          <a:custGeom>
            <a:rect b="b" l="l" r="r" t="t"/>
            <a:pathLst>
              <a:path extrusionOk="0" h="412" w="4372">
                <a:moveTo>
                  <a:pt x="0" y="10"/>
                </a:moveTo>
                <a:lnTo>
                  <a:pt x="1003" y="0"/>
                </a:lnTo>
                <a:lnTo>
                  <a:pt x="3508" y="412"/>
                </a:lnTo>
                <a:lnTo>
                  <a:pt x="4372" y="412"/>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02" name="Google Shape;1902;p30"/>
          <p:cNvGrpSpPr/>
          <p:nvPr/>
        </p:nvGrpSpPr>
        <p:grpSpPr>
          <a:xfrm>
            <a:off x="2099190" y="2306981"/>
            <a:ext cx="1333500" cy="1004887"/>
            <a:chOff x="220" y="1365"/>
            <a:chExt cx="840" cy="633"/>
          </a:xfrm>
        </p:grpSpPr>
        <p:cxnSp>
          <p:nvCxnSpPr>
            <p:cNvPr id="1903" name="Google Shape;1903;p30"/>
            <p:cNvCxnSpPr/>
            <p:nvPr/>
          </p:nvCxnSpPr>
          <p:spPr>
            <a:xfrm>
              <a:off x="220" y="1365"/>
              <a:ext cx="273" cy="154"/>
            </a:xfrm>
            <a:prstGeom prst="straightConnector1">
              <a:avLst/>
            </a:prstGeom>
            <a:noFill/>
            <a:ln cap="flat" cmpd="sng" w="28575">
              <a:solidFill>
                <a:srgbClr val="000000"/>
              </a:solidFill>
              <a:prstDash val="dash"/>
              <a:round/>
              <a:headEnd len="med" w="med" type="none"/>
              <a:tailEnd len="med" w="med" type="triangle"/>
            </a:ln>
          </p:spPr>
        </p:cxnSp>
        <p:sp>
          <p:nvSpPr>
            <p:cNvPr id="1904" name="Google Shape;1904;p30"/>
            <p:cNvSpPr/>
            <p:nvPr/>
          </p:nvSpPr>
          <p:spPr>
            <a:xfrm>
              <a:off x="439" y="1392"/>
              <a:ext cx="621" cy="606"/>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1905" name="Google Shape;1905;p30"/>
          <p:cNvSpPr/>
          <p:nvPr/>
        </p:nvSpPr>
        <p:spPr>
          <a:xfrm>
            <a:off x="4083565" y="2362543"/>
            <a:ext cx="985837" cy="962025"/>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1906" name="Google Shape;1906;p30"/>
          <p:cNvCxnSpPr/>
          <p:nvPr/>
        </p:nvCxnSpPr>
        <p:spPr>
          <a:xfrm flipH="1">
            <a:off x="8012627" y="5042243"/>
            <a:ext cx="12700" cy="1193800"/>
          </a:xfrm>
          <a:prstGeom prst="straightConnector1">
            <a:avLst/>
          </a:prstGeom>
          <a:noFill/>
          <a:ln cap="flat" cmpd="sng" w="76200">
            <a:solidFill>
              <a:srgbClr val="FF0000"/>
            </a:solidFill>
            <a:prstDash val="solid"/>
            <a:round/>
            <a:headEnd len="med" w="med" type="none"/>
            <a:tailEnd len="med" w="med" type="none"/>
          </a:ln>
        </p:spPr>
      </p:cxnSp>
      <p:sp>
        <p:nvSpPr>
          <p:cNvPr id="1907" name="Google Shape;1907;p30"/>
          <p:cNvSpPr/>
          <p:nvPr/>
        </p:nvSpPr>
        <p:spPr>
          <a:xfrm>
            <a:off x="2353297" y="3858893"/>
            <a:ext cx="7272844" cy="2363522"/>
          </a:xfrm>
          <a:custGeom>
            <a:rect b="b" l="l" r="r" t="t"/>
            <a:pathLst>
              <a:path extrusionOk="0" h="10762" w="10845">
                <a:moveTo>
                  <a:pt x="10845" y="10762"/>
                </a:moveTo>
                <a:lnTo>
                  <a:pt x="8419" y="10762"/>
                </a:lnTo>
                <a:lnTo>
                  <a:pt x="4911" y="0"/>
                </a:lnTo>
                <a:lnTo>
                  <a:pt x="0" y="0"/>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08" name="Google Shape;1908;p30"/>
          <p:cNvGrpSpPr/>
          <p:nvPr/>
        </p:nvGrpSpPr>
        <p:grpSpPr>
          <a:xfrm>
            <a:off x="2099190" y="2306981"/>
            <a:ext cx="1333500" cy="1004887"/>
            <a:chOff x="220" y="1365"/>
            <a:chExt cx="840" cy="633"/>
          </a:xfrm>
        </p:grpSpPr>
        <p:cxnSp>
          <p:nvCxnSpPr>
            <p:cNvPr id="1909" name="Google Shape;1909;p30"/>
            <p:cNvCxnSpPr/>
            <p:nvPr/>
          </p:nvCxnSpPr>
          <p:spPr>
            <a:xfrm>
              <a:off x="220" y="1365"/>
              <a:ext cx="273" cy="154"/>
            </a:xfrm>
            <a:prstGeom prst="straightConnector1">
              <a:avLst/>
            </a:prstGeom>
            <a:noFill/>
            <a:ln cap="flat" cmpd="sng" w="28575">
              <a:solidFill>
                <a:srgbClr val="000000"/>
              </a:solidFill>
              <a:prstDash val="dash"/>
              <a:round/>
              <a:headEnd len="med" w="med" type="none"/>
              <a:tailEnd len="med" w="med" type="triangle"/>
            </a:ln>
          </p:spPr>
        </p:cxnSp>
        <p:sp>
          <p:nvSpPr>
            <p:cNvPr id="1910" name="Google Shape;1910;p30"/>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1911" name="Google Shape;1911;p30"/>
          <p:cNvSpPr/>
          <p:nvPr/>
        </p:nvSpPr>
        <p:spPr>
          <a:xfrm>
            <a:off x="4080390" y="2367306"/>
            <a:ext cx="985837" cy="962025"/>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1912" name="Google Shape;1912;p30"/>
          <p:cNvCxnSpPr/>
          <p:nvPr/>
        </p:nvCxnSpPr>
        <p:spPr>
          <a:xfrm>
            <a:off x="8304727" y="2634006"/>
            <a:ext cx="0" cy="817562"/>
          </a:xfrm>
          <a:prstGeom prst="straightConnector1">
            <a:avLst/>
          </a:prstGeom>
          <a:noFill/>
          <a:ln cap="flat" cmpd="sng" w="76200">
            <a:solidFill>
              <a:srgbClr val="FF0000"/>
            </a:solidFill>
            <a:prstDash val="solid"/>
            <a:round/>
            <a:headEnd len="med" w="med" type="none"/>
            <a:tailEnd len="med" w="med" type="none"/>
          </a:ln>
        </p:spPr>
      </p:cxnSp>
      <p:sp>
        <p:nvSpPr>
          <p:cNvPr id="1913" name="Google Shape;1913;p30"/>
          <p:cNvSpPr/>
          <p:nvPr/>
        </p:nvSpPr>
        <p:spPr>
          <a:xfrm>
            <a:off x="5409127" y="2356193"/>
            <a:ext cx="4378325" cy="1025525"/>
          </a:xfrm>
          <a:custGeom>
            <a:rect b="b" l="l" r="r" t="t"/>
            <a:pathLst>
              <a:path extrusionOk="0" h="646" w="2758">
                <a:moveTo>
                  <a:pt x="2758" y="646"/>
                </a:moveTo>
                <a:lnTo>
                  <a:pt x="1763" y="629"/>
                </a:lnTo>
                <a:lnTo>
                  <a:pt x="1039" y="0"/>
                </a:lnTo>
                <a:lnTo>
                  <a:pt x="0" y="0"/>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1914" name="Google Shape;1914;p30"/>
          <p:cNvCxnSpPr/>
          <p:nvPr/>
        </p:nvCxnSpPr>
        <p:spPr>
          <a:xfrm>
            <a:off x="5299590" y="2230781"/>
            <a:ext cx="0" cy="846137"/>
          </a:xfrm>
          <a:prstGeom prst="straightConnector1">
            <a:avLst/>
          </a:prstGeom>
          <a:noFill/>
          <a:ln cap="flat" cmpd="sng" w="76200">
            <a:solidFill>
              <a:srgbClr val="FF0000"/>
            </a:solidFill>
            <a:prstDash val="solid"/>
            <a:round/>
            <a:headEnd len="med" w="med" type="none"/>
            <a:tailEnd len="med" w="med" type="none"/>
          </a:ln>
        </p:spPr>
      </p:cxnSp>
      <p:sp>
        <p:nvSpPr>
          <p:cNvPr id="1915" name="Google Shape;1915;p30"/>
          <p:cNvSpPr/>
          <p:nvPr/>
        </p:nvSpPr>
        <p:spPr>
          <a:xfrm>
            <a:off x="5394840" y="3091206"/>
            <a:ext cx="5464750" cy="1966367"/>
          </a:xfrm>
          <a:custGeom>
            <a:rect b="b" l="l" r="r" t="t"/>
            <a:pathLst>
              <a:path extrusionOk="0" h="9871" w="9930">
                <a:moveTo>
                  <a:pt x="0" y="0"/>
                </a:moveTo>
                <a:lnTo>
                  <a:pt x="2923" y="0"/>
                </a:lnTo>
                <a:lnTo>
                  <a:pt x="4713" y="9870"/>
                </a:lnTo>
                <a:lnTo>
                  <a:pt x="9930" y="9871"/>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16" name="Google Shape;1916;p30"/>
          <p:cNvGrpSpPr/>
          <p:nvPr/>
        </p:nvGrpSpPr>
        <p:grpSpPr>
          <a:xfrm>
            <a:off x="8325876" y="3094378"/>
            <a:ext cx="1828800" cy="257175"/>
            <a:chOff x="2222" y="3039"/>
            <a:chExt cx="1152" cy="162"/>
          </a:xfrm>
        </p:grpSpPr>
        <p:sp>
          <p:nvSpPr>
            <p:cNvPr id="1917" name="Google Shape;1917;p30"/>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cxnSp>
          <p:nvCxnSpPr>
            <p:cNvPr id="1918" name="Google Shape;1918;p30"/>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sp>
        <p:nvSpPr>
          <p:cNvPr id="1919" name="Google Shape;1919;p30"/>
          <p:cNvSpPr txBox="1"/>
          <p:nvPr/>
        </p:nvSpPr>
        <p:spPr>
          <a:xfrm>
            <a:off x="8327563" y="2720534"/>
            <a:ext cx="3389313" cy="3127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grpSp>
        <p:nvGrpSpPr>
          <p:cNvPr id="1920" name="Google Shape;1920;p30"/>
          <p:cNvGrpSpPr/>
          <p:nvPr/>
        </p:nvGrpSpPr>
        <p:grpSpPr>
          <a:xfrm>
            <a:off x="8049650" y="5037504"/>
            <a:ext cx="4142349" cy="933582"/>
            <a:chOff x="8049650" y="5037504"/>
            <a:chExt cx="4142349" cy="933582"/>
          </a:xfrm>
        </p:grpSpPr>
        <p:sp>
          <p:nvSpPr>
            <p:cNvPr id="1921" name="Google Shape;1921;p30"/>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1922" name="Google Shape;1922;p30"/>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1923" name="Google Shape;1923;p30"/>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grpSp>
        <p:nvGrpSpPr>
          <p:cNvPr id="1924" name="Google Shape;1924;p30"/>
          <p:cNvGrpSpPr/>
          <p:nvPr/>
        </p:nvGrpSpPr>
        <p:grpSpPr>
          <a:xfrm>
            <a:off x="2271408" y="3285357"/>
            <a:ext cx="3548062" cy="989290"/>
            <a:chOff x="2270357" y="3283338"/>
            <a:chExt cx="3548062" cy="989290"/>
          </a:xfrm>
        </p:grpSpPr>
        <p:sp>
          <p:nvSpPr>
            <p:cNvPr id="1925" name="Google Shape;1925;p30"/>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1926" name="Google Shape;1926;p30"/>
            <p:cNvGrpSpPr/>
            <p:nvPr/>
          </p:nvGrpSpPr>
          <p:grpSpPr>
            <a:xfrm>
              <a:off x="2270357" y="3545923"/>
              <a:ext cx="3548062" cy="726705"/>
              <a:chOff x="2270357" y="3545923"/>
              <a:chExt cx="3548062" cy="726705"/>
            </a:xfrm>
          </p:grpSpPr>
          <p:sp>
            <p:nvSpPr>
              <p:cNvPr id="1927" name="Google Shape;1927;p30"/>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1928" name="Google Shape;1928;p30"/>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1929" name="Google Shape;1929;p30"/>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sp>
        <p:nvSpPr>
          <p:cNvPr id="1930" name="Google Shape;1930;p30"/>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1931" name="Google Shape;1931;p30"/>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1932" name="Google Shape;1932;p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3"/>
                                        </p:tgtEl>
                                        <p:attrNameLst>
                                          <p:attrName>style.visibility</p:attrName>
                                        </p:attrNameLst>
                                      </p:cBhvr>
                                      <p:to>
                                        <p:strVal val="visible"/>
                                      </p:to>
                                    </p:set>
                                    <p:animEffect filter="fade" transition="in">
                                      <p:cBhvr>
                                        <p:cTn dur="500"/>
                                        <p:tgtEl>
                                          <p:spTgt spid="18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6"/>
                                        </p:tgtEl>
                                        <p:attrNameLst>
                                          <p:attrName>style.visibility</p:attrName>
                                        </p:attrNameLst>
                                      </p:cBhvr>
                                      <p:to>
                                        <p:strVal val="visible"/>
                                      </p:to>
                                    </p:set>
                                    <p:animEffect filter="fade" transition="in">
                                      <p:cBhvr>
                                        <p:cTn dur="500"/>
                                        <p:tgtEl>
                                          <p:spTgt spid="18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0"/>
                                        </p:tgtEl>
                                        <p:attrNameLst>
                                          <p:attrName>style.visibility</p:attrName>
                                        </p:attrNameLst>
                                      </p:cBhvr>
                                      <p:to>
                                        <p:strVal val="visible"/>
                                      </p:to>
                                    </p:set>
                                    <p:animEffect filter="fade" transition="in">
                                      <p:cBhvr>
                                        <p:cTn dur="1000"/>
                                        <p:tgtEl>
                                          <p:spTgt spid="19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1"/>
                                        </p:tgtEl>
                                        <p:attrNameLst>
                                          <p:attrName>style.visibility</p:attrName>
                                        </p:attrNameLst>
                                      </p:cBhvr>
                                      <p:to>
                                        <p:strVal val="visible"/>
                                      </p:to>
                                    </p:set>
                                    <p:animEffect filter="fade" transition="in">
                                      <p:cBhvr>
                                        <p:cTn dur="1000"/>
                                        <p:tgtEl>
                                          <p:spTgt spid="1901"/>
                                        </p:tgtEl>
                                      </p:cBhvr>
                                    </p:animEffect>
                                  </p:childTnLst>
                                </p:cTn>
                              </p:par>
                              <p:par>
                                <p:cTn fill="hold" nodeType="withEffect" presetClass="entr" presetID="1" presetSubtype="0">
                                  <p:stCondLst>
                                    <p:cond delay="0"/>
                                  </p:stCondLst>
                                  <p:childTnLst>
                                    <p:set>
                                      <p:cBhvr>
                                        <p:cTn dur="1" fill="hold">
                                          <p:stCondLst>
                                            <p:cond delay="0"/>
                                          </p:stCondLst>
                                        </p:cTn>
                                        <p:tgtEl>
                                          <p:spTgt spid="19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2"/>
                                        </p:tgtEl>
                                        <p:attrNameLst>
                                          <p:attrName>style.visibility</p:attrName>
                                        </p:attrNameLst>
                                      </p:cBhvr>
                                      <p:to>
                                        <p:strVal val="visible"/>
                                      </p:to>
                                    </p:set>
                                    <p:animEffect filter="fade" transition="in">
                                      <p:cBhvr>
                                        <p:cTn dur="1000"/>
                                        <p:tgtEl>
                                          <p:spTgt spid="19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3"/>
                                        </p:tgtEl>
                                        <p:attrNameLst>
                                          <p:attrName>style.visibility</p:attrName>
                                        </p:attrNameLst>
                                      </p:cBhvr>
                                      <p:to>
                                        <p:strVal val="visible"/>
                                      </p:to>
                                    </p:set>
                                    <p:animEffect filter="fade" transition="in">
                                      <p:cBhvr>
                                        <p:cTn dur="1000"/>
                                        <p:tgtEl>
                                          <p:spTgt spid="19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4"/>
                                        </p:tgtEl>
                                        <p:attrNameLst>
                                          <p:attrName>style.visibility</p:attrName>
                                        </p:attrNameLst>
                                      </p:cBhvr>
                                      <p:to>
                                        <p:strVal val="visible"/>
                                      </p:to>
                                    </p:set>
                                    <p:animEffect filter="fade" transition="in">
                                      <p:cBhvr>
                                        <p:cTn dur="1000"/>
                                        <p:tgtEl>
                                          <p:spTgt spid="19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5"/>
                                        </p:tgtEl>
                                        <p:attrNameLst>
                                          <p:attrName>style.visibility</p:attrName>
                                        </p:attrNameLst>
                                      </p:cBhvr>
                                      <p:to>
                                        <p:strVal val="visible"/>
                                      </p:to>
                                    </p:set>
                                    <p:animEffect filter="fade" transition="in">
                                      <p:cBhvr>
                                        <p:cTn dur="2000"/>
                                        <p:tgtEl>
                                          <p:spTgt spid="19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6"/>
                                        </p:tgtEl>
                                        <p:attrNameLst>
                                          <p:attrName>style.visibility</p:attrName>
                                        </p:attrNameLst>
                                      </p:cBhvr>
                                      <p:to>
                                        <p:strVal val="visible"/>
                                      </p:to>
                                    </p:set>
                                    <p:animEffect filter="fade" transition="in">
                                      <p:cBhvr>
                                        <p:cTn dur="1000"/>
                                        <p:tgtEl>
                                          <p:spTgt spid="19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7"/>
                                        </p:tgtEl>
                                        <p:attrNameLst>
                                          <p:attrName>style.visibility</p:attrName>
                                        </p:attrNameLst>
                                      </p:cBhvr>
                                      <p:to>
                                        <p:strVal val="visible"/>
                                      </p:to>
                                    </p:set>
                                    <p:animEffect filter="fade" transition="in">
                                      <p:cBhvr>
                                        <p:cTn dur="1000"/>
                                        <p:tgtEl>
                                          <p:spTgt spid="1907"/>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19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7" name="Shape 1937"/>
        <p:cNvGrpSpPr/>
        <p:nvPr/>
      </p:nvGrpSpPr>
      <p:grpSpPr>
        <a:xfrm>
          <a:off x="0" y="0"/>
          <a:ext cx="0" cy="0"/>
          <a:chOff x="0" y="0"/>
          <a:chExt cx="0" cy="0"/>
        </a:xfrm>
      </p:grpSpPr>
      <p:sp>
        <p:nvSpPr>
          <p:cNvPr id="1938" name="Google Shape;1938;p3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has a fatal flaw!</a:t>
            </a:r>
            <a:endParaRPr sz="4400"/>
          </a:p>
        </p:txBody>
      </p:sp>
      <p:sp>
        <p:nvSpPr>
          <p:cNvPr id="1939" name="Google Shape;1939;p31"/>
          <p:cNvSpPr txBox="1"/>
          <p:nvPr/>
        </p:nvSpPr>
        <p:spPr>
          <a:xfrm>
            <a:off x="691480" y="1384568"/>
            <a:ext cx="5825230"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8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what happens if ACK/NAK corrupted</a:t>
            </a:r>
            <a:r>
              <a:rPr b="0" i="0" lang="en-US" sz="2800" u="none" cap="none" strike="noStrike">
                <a:solidFill>
                  <a:srgbClr val="CC0000"/>
                </a:solidFill>
                <a:latin typeface="Calibri"/>
                <a:ea typeface="Calibri"/>
                <a:cs typeface="Calibri"/>
                <a:sym typeface="Calibri"/>
              </a:rPr>
              <a:t>?</a:t>
            </a:r>
            <a:endParaRPr/>
          </a:p>
          <a:p>
            <a:pPr indent="-217487" lvl="0" marL="46037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doesn’t know what happened at receiver!</a:t>
            </a:r>
            <a:endParaRPr/>
          </a:p>
          <a:p>
            <a:pPr indent="-217487" lvl="0" marL="46037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can’t just retransmit: possible duplicate</a:t>
            </a:r>
            <a:endParaRPr b="0" i="0" sz="3200" u="none" cap="none" strike="noStrike">
              <a:solidFill>
                <a:srgbClr val="000000"/>
              </a:solidFill>
              <a:latin typeface="Calibri"/>
              <a:ea typeface="Calibri"/>
              <a:cs typeface="Calibri"/>
              <a:sym typeface="Calibri"/>
            </a:endParaRPr>
          </a:p>
          <a:p>
            <a:pPr indent="-222250" lvl="0" marL="352425" marR="0" rtl="0" algn="l">
              <a:lnSpc>
                <a:spcPct val="80000"/>
              </a:lnSpc>
              <a:spcBef>
                <a:spcPts val="144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222250" lvl="0" marL="352425" marR="0" rtl="0" algn="l">
              <a:lnSpc>
                <a:spcPct val="7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222250" lvl="0" marL="352425" marR="0" rtl="0" algn="l">
              <a:lnSpc>
                <a:spcPct val="7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1940" name="Google Shape;1940;p31"/>
          <p:cNvSpPr txBox="1"/>
          <p:nvPr/>
        </p:nvSpPr>
        <p:spPr>
          <a:xfrm>
            <a:off x="6207334" y="1371689"/>
            <a:ext cx="5293186" cy="3063891"/>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3500"/>
              <a:buFont typeface="Noto Sans Symbols"/>
              <a:buNone/>
            </a:pPr>
            <a:r>
              <a:rPr b="0" i="0" lang="en-US" sz="3500" u="none" cap="none" strike="noStrike">
                <a:solidFill>
                  <a:srgbClr val="CC0000"/>
                </a:solidFill>
                <a:latin typeface="Calibri"/>
                <a:ea typeface="Calibri"/>
                <a:cs typeface="Calibri"/>
                <a:sym typeface="Calibri"/>
              </a:rPr>
              <a:t>handling duplicates</a:t>
            </a:r>
            <a:r>
              <a:rPr b="0" i="0" lang="en-US" sz="3500" u="none" cap="none" strike="noStrike">
                <a:solidFill>
                  <a:srgbClr val="FF0000"/>
                </a:solidFill>
                <a:latin typeface="Calibri"/>
                <a:ea typeface="Calibri"/>
                <a:cs typeface="Calibri"/>
                <a:sym typeface="Calibri"/>
              </a:rPr>
              <a:t>: </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retransmits current pkt if ACK/NAK corrupted</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adds </a:t>
            </a:r>
            <a:r>
              <a:rPr b="0" i="1" lang="en-US" sz="2800" u="none" cap="none" strike="noStrike">
                <a:solidFill>
                  <a:srgbClr val="000099"/>
                </a:solidFill>
                <a:latin typeface="Calibri"/>
                <a:ea typeface="Calibri"/>
                <a:cs typeface="Calibri"/>
                <a:sym typeface="Calibri"/>
              </a:rPr>
              <a:t>sequence number</a:t>
            </a:r>
            <a:r>
              <a:rPr b="0" i="0" lang="en-US" sz="2800" u="none" cap="none" strike="noStrike">
                <a:solidFill>
                  <a:srgbClr val="000000"/>
                </a:solidFill>
                <a:latin typeface="Calibri"/>
                <a:ea typeface="Calibri"/>
                <a:cs typeface="Calibri"/>
                <a:sym typeface="Calibri"/>
              </a:rPr>
              <a:t> to each pkt</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receiver discards (doesn’t deliver up) duplicate pkt</a:t>
            </a:r>
            <a:endParaRPr b="0" i="0" sz="2800" u="none" cap="none" strike="noStrike">
              <a:solidFill>
                <a:srgbClr val="000000"/>
              </a:solidFill>
              <a:latin typeface="Calibri"/>
              <a:ea typeface="Calibri"/>
              <a:cs typeface="Calibri"/>
              <a:sym typeface="Calibri"/>
            </a:endParaRPr>
          </a:p>
        </p:txBody>
      </p:sp>
      <p:grpSp>
        <p:nvGrpSpPr>
          <p:cNvPr id="1941" name="Google Shape;1941;p31"/>
          <p:cNvGrpSpPr/>
          <p:nvPr/>
        </p:nvGrpSpPr>
        <p:grpSpPr>
          <a:xfrm>
            <a:off x="3103667" y="4578498"/>
            <a:ext cx="5984666" cy="1603375"/>
            <a:chOff x="1552" y="2800"/>
            <a:chExt cx="2578" cy="1010"/>
          </a:xfrm>
        </p:grpSpPr>
        <p:sp>
          <p:nvSpPr>
            <p:cNvPr id="1942" name="Google Shape;1942;p31"/>
            <p:cNvSpPr/>
            <p:nvPr/>
          </p:nvSpPr>
          <p:spPr>
            <a:xfrm>
              <a:off x="1552" y="2974"/>
              <a:ext cx="2578" cy="836"/>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943" name="Google Shape;1943;p31"/>
            <p:cNvSpPr/>
            <p:nvPr/>
          </p:nvSpPr>
          <p:spPr>
            <a:xfrm>
              <a:off x="2226" y="2864"/>
              <a:ext cx="596" cy="2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944" name="Google Shape;1944;p31"/>
            <p:cNvSpPr txBox="1"/>
            <p:nvPr/>
          </p:nvSpPr>
          <p:spPr>
            <a:xfrm>
              <a:off x="1724" y="2800"/>
              <a:ext cx="1052"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3200"/>
                <a:buFont typeface="Calibri"/>
                <a:buNone/>
              </a:pPr>
              <a:r>
                <a:rPr b="0" i="0" lang="en-US" sz="3200" u="none" cap="none" strike="noStrike">
                  <a:solidFill>
                    <a:srgbClr val="CC0000"/>
                  </a:solidFill>
                  <a:latin typeface="Calibri"/>
                  <a:ea typeface="Calibri"/>
                  <a:cs typeface="Calibri"/>
                  <a:sym typeface="Calibri"/>
                </a:rPr>
                <a:t>stop and wait</a:t>
              </a:r>
              <a:endParaRPr/>
            </a:p>
          </p:txBody>
        </p:sp>
        <p:sp>
          <p:nvSpPr>
            <p:cNvPr id="1945" name="Google Shape;1945;p31"/>
            <p:cNvSpPr txBox="1"/>
            <p:nvPr/>
          </p:nvSpPr>
          <p:spPr>
            <a:xfrm>
              <a:off x="1678" y="3136"/>
              <a:ext cx="2452" cy="588"/>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sender sends one packet,  then waits for receiver  response</a:t>
              </a:r>
              <a:endParaRPr/>
            </a:p>
          </p:txBody>
        </p:sp>
      </p:grpSp>
      <p:sp>
        <p:nvSpPr>
          <p:cNvPr id="1946" name="Google Shape;1946;p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9"/>
                                        </p:tgtEl>
                                        <p:attrNameLst>
                                          <p:attrName>style.visibility</p:attrName>
                                        </p:attrNameLst>
                                      </p:cBhvr>
                                      <p:to>
                                        <p:strVal val="visible"/>
                                      </p:to>
                                    </p:set>
                                    <p:animEffect filter="fade" transition="in">
                                      <p:cBhvr>
                                        <p:cTn dur="500"/>
                                        <p:tgtEl>
                                          <p:spTgt spid="19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0"/>
                                        </p:tgtEl>
                                        <p:attrNameLst>
                                          <p:attrName>style.visibility</p:attrName>
                                        </p:attrNameLst>
                                      </p:cBhvr>
                                      <p:to>
                                        <p:strVal val="visible"/>
                                      </p:to>
                                    </p:set>
                                    <p:animEffect filter="fade" transition="in">
                                      <p:cBhvr>
                                        <p:cTn dur="500"/>
                                        <p:tgtEl>
                                          <p:spTgt spid="19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1"/>
                                        </p:tgtEl>
                                        <p:attrNameLst>
                                          <p:attrName>style.visibility</p:attrName>
                                        </p:attrNameLst>
                                      </p:cBhvr>
                                      <p:to>
                                        <p:strVal val="visible"/>
                                      </p:to>
                                    </p:set>
                                    <p:animEffect filter="fade" transition="in">
                                      <p:cBhvr>
                                        <p:cTn dur="500"/>
                                        <p:tgtEl>
                                          <p:spTgt spid="19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1" name="Shape 1951"/>
        <p:cNvGrpSpPr/>
        <p:nvPr/>
      </p:nvGrpSpPr>
      <p:grpSpPr>
        <a:xfrm>
          <a:off x="0" y="0"/>
          <a:ext cx="0" cy="0"/>
          <a:chOff x="0" y="0"/>
          <a:chExt cx="0" cy="0"/>
        </a:xfrm>
      </p:grpSpPr>
      <p:sp>
        <p:nvSpPr>
          <p:cNvPr id="1952" name="Google Shape;1952;p3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sender, handling garbled ACK/NAKs</a:t>
            </a:r>
            <a:endParaRPr sz="4400"/>
          </a:p>
        </p:txBody>
      </p:sp>
      <p:sp>
        <p:nvSpPr>
          <p:cNvPr id="1953" name="Google Shape;1953;p32"/>
          <p:cNvSpPr/>
          <p:nvPr/>
        </p:nvSpPr>
        <p:spPr>
          <a:xfrm>
            <a:off x="4658777" y="2435427"/>
            <a:ext cx="901700" cy="836612"/>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954" name="Google Shape;1954;p32"/>
          <p:cNvSpPr txBox="1"/>
          <p:nvPr/>
        </p:nvSpPr>
        <p:spPr>
          <a:xfrm>
            <a:off x="4567752" y="2511448"/>
            <a:ext cx="1090613"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call 0 from above</a:t>
            </a:r>
            <a:endParaRPr b="0" i="0" sz="1400" u="none" cap="none" strike="noStrike">
              <a:solidFill>
                <a:srgbClr val="000000"/>
              </a:solidFill>
              <a:latin typeface="Times New Roman"/>
              <a:ea typeface="Times New Roman"/>
              <a:cs typeface="Times New Roman"/>
              <a:sym typeface="Times New Roman"/>
            </a:endParaRPr>
          </a:p>
        </p:txBody>
      </p:sp>
      <p:cxnSp>
        <p:nvCxnSpPr>
          <p:cNvPr id="1955" name="Google Shape;1955;p32"/>
          <p:cNvCxnSpPr/>
          <p:nvPr/>
        </p:nvCxnSpPr>
        <p:spPr>
          <a:xfrm>
            <a:off x="4384139" y="2390977"/>
            <a:ext cx="377825" cy="190500"/>
          </a:xfrm>
          <a:prstGeom prst="straightConnector1">
            <a:avLst/>
          </a:prstGeom>
          <a:noFill/>
          <a:ln cap="flat" cmpd="sng" w="28575">
            <a:solidFill>
              <a:srgbClr val="000000"/>
            </a:solidFill>
            <a:prstDash val="dash"/>
            <a:round/>
            <a:headEnd len="med" w="med" type="none"/>
            <a:tailEnd len="med" w="med" type="triangle"/>
          </a:ln>
        </p:spPr>
      </p:cxnSp>
      <p:grpSp>
        <p:nvGrpSpPr>
          <p:cNvPr id="1956" name="Google Shape;1956;p32"/>
          <p:cNvGrpSpPr/>
          <p:nvPr/>
        </p:nvGrpSpPr>
        <p:grpSpPr>
          <a:xfrm>
            <a:off x="6492339" y="2383039"/>
            <a:ext cx="1089025" cy="865188"/>
            <a:chOff x="2848" y="1499"/>
            <a:chExt cx="660" cy="510"/>
          </a:xfrm>
        </p:grpSpPr>
        <p:sp>
          <p:nvSpPr>
            <p:cNvPr id="1957" name="Google Shape;1957;p32"/>
            <p:cNvSpPr/>
            <p:nvPr/>
          </p:nvSpPr>
          <p:spPr>
            <a:xfrm>
              <a:off x="2893" y="1499"/>
              <a:ext cx="568" cy="51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958" name="Google Shape;1958;p32"/>
            <p:cNvSpPr txBox="1"/>
            <p:nvPr/>
          </p:nvSpPr>
          <p:spPr>
            <a:xfrm>
              <a:off x="2848" y="1551"/>
              <a:ext cx="660"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 or NAK 0</a:t>
              </a:r>
              <a:endParaRPr b="0" i="0" sz="1400" u="none" cap="none" strike="noStrike">
                <a:solidFill>
                  <a:srgbClr val="000000"/>
                </a:solidFill>
                <a:latin typeface="Times New Roman"/>
                <a:ea typeface="Times New Roman"/>
                <a:cs typeface="Times New Roman"/>
                <a:sym typeface="Times New Roman"/>
              </a:endParaRPr>
            </a:p>
          </p:txBody>
        </p:sp>
      </p:grpSp>
      <p:grpSp>
        <p:nvGrpSpPr>
          <p:cNvPr id="1959" name="Google Shape;1959;p32"/>
          <p:cNvGrpSpPr/>
          <p:nvPr/>
        </p:nvGrpSpPr>
        <p:grpSpPr>
          <a:xfrm>
            <a:off x="4914364" y="1394027"/>
            <a:ext cx="3694113" cy="1087437"/>
            <a:chOff x="4914364" y="1394027"/>
            <a:chExt cx="3694113" cy="1087437"/>
          </a:xfrm>
        </p:grpSpPr>
        <p:sp>
          <p:nvSpPr>
            <p:cNvPr id="1960" name="Google Shape;1960;p32"/>
            <p:cNvSpPr txBox="1"/>
            <p:nvPr/>
          </p:nvSpPr>
          <p:spPr>
            <a:xfrm>
              <a:off x="4914364" y="1706764"/>
              <a:ext cx="36941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grpSp>
          <p:nvGrpSpPr>
            <p:cNvPr id="1961" name="Google Shape;1961;p32"/>
            <p:cNvGrpSpPr/>
            <p:nvPr/>
          </p:nvGrpSpPr>
          <p:grpSpPr>
            <a:xfrm>
              <a:off x="4928652" y="1394027"/>
              <a:ext cx="2852737" cy="1087437"/>
              <a:chOff x="4928652" y="1394027"/>
              <a:chExt cx="2852737" cy="1087437"/>
            </a:xfrm>
          </p:grpSpPr>
          <p:sp>
            <p:nvSpPr>
              <p:cNvPr id="1962" name="Google Shape;1962;p32"/>
              <p:cNvSpPr txBox="1"/>
              <p:nvPr/>
            </p:nvSpPr>
            <p:spPr>
              <a:xfrm>
                <a:off x="4928652" y="1394027"/>
                <a:ext cx="2111375" cy="3000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1963" name="Google Shape;1963;p32"/>
              <p:cNvCxnSpPr/>
              <p:nvPr/>
            </p:nvCxnSpPr>
            <p:spPr>
              <a:xfrm>
                <a:off x="5046127" y="1759152"/>
                <a:ext cx="2735262" cy="0"/>
              </a:xfrm>
              <a:prstGeom prst="straightConnector1">
                <a:avLst/>
              </a:prstGeom>
              <a:noFill/>
              <a:ln cap="flat" cmpd="sng" w="28575">
                <a:solidFill>
                  <a:srgbClr val="000000"/>
                </a:solidFill>
                <a:prstDash val="solid"/>
                <a:round/>
                <a:headEnd len="med" w="med" type="none"/>
                <a:tailEnd len="med" w="med" type="none"/>
              </a:ln>
            </p:spPr>
          </p:cxnSp>
          <p:sp>
            <p:nvSpPr>
              <p:cNvPr id="1964" name="Google Shape;1964;p32"/>
              <p:cNvSpPr/>
              <p:nvPr/>
            </p:nvSpPr>
            <p:spPr>
              <a:xfrm flipH="1" rot="10800000">
                <a:off x="5215989" y="2260802"/>
                <a:ext cx="1482725" cy="22066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grpSp>
        <p:nvGrpSpPr>
          <p:cNvPr id="1965" name="Google Shape;1965;p32"/>
          <p:cNvGrpSpPr/>
          <p:nvPr/>
        </p:nvGrpSpPr>
        <p:grpSpPr>
          <a:xfrm>
            <a:off x="7265819" y="1999849"/>
            <a:ext cx="3627361" cy="1207103"/>
            <a:chOff x="7265819" y="1999849"/>
            <a:chExt cx="3627361" cy="1207103"/>
          </a:xfrm>
        </p:grpSpPr>
        <p:sp>
          <p:nvSpPr>
            <p:cNvPr id="1966" name="Google Shape;1966;p32"/>
            <p:cNvSpPr/>
            <p:nvPr/>
          </p:nvSpPr>
          <p:spPr>
            <a:xfrm rot="-1357180">
              <a:off x="7379752" y="2244927"/>
              <a:ext cx="466725" cy="685800"/>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67" name="Google Shape;1967;p32"/>
            <p:cNvSpPr txBox="1"/>
            <p:nvPr/>
          </p:nvSpPr>
          <p:spPr>
            <a:xfrm>
              <a:off x="7742239" y="2806902"/>
              <a:ext cx="2262187"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1968" name="Google Shape;1968;p32"/>
            <p:cNvSpPr txBox="1"/>
            <p:nvPr/>
          </p:nvSpPr>
          <p:spPr>
            <a:xfrm>
              <a:off x="7714671" y="1999849"/>
              <a:ext cx="3178509"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 ||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isNAK(rcvpkt) )</a:t>
              </a:r>
              <a:endParaRPr b="0" i="0" sz="1600" u="none" cap="none" strike="noStrike">
                <a:solidFill>
                  <a:srgbClr val="000000"/>
                </a:solidFill>
                <a:latin typeface="Times New Roman"/>
                <a:ea typeface="Times New Roman"/>
                <a:cs typeface="Times New Roman"/>
                <a:sym typeface="Times New Roman"/>
              </a:endParaRPr>
            </a:p>
          </p:txBody>
        </p:sp>
        <p:cxnSp>
          <p:nvCxnSpPr>
            <p:cNvPr id="1969" name="Google Shape;1969;p32"/>
            <p:cNvCxnSpPr/>
            <p:nvPr/>
          </p:nvCxnSpPr>
          <p:spPr>
            <a:xfrm>
              <a:off x="7835364" y="2846589"/>
              <a:ext cx="1433513" cy="0"/>
            </a:xfrm>
            <a:prstGeom prst="straightConnector1">
              <a:avLst/>
            </a:prstGeom>
            <a:noFill/>
            <a:ln cap="flat" cmpd="sng" w="28575">
              <a:solidFill>
                <a:srgbClr val="000000"/>
              </a:solidFill>
              <a:prstDash val="solid"/>
              <a:round/>
              <a:headEnd len="med" w="med" type="none"/>
              <a:tailEnd len="med" w="med" type="none"/>
            </a:ln>
          </p:spPr>
        </p:cxnSp>
      </p:grpSp>
      <p:grpSp>
        <p:nvGrpSpPr>
          <p:cNvPr id="1970" name="Google Shape;1970;p32"/>
          <p:cNvGrpSpPr/>
          <p:nvPr/>
        </p:nvGrpSpPr>
        <p:grpSpPr>
          <a:xfrm>
            <a:off x="5155664" y="4908752"/>
            <a:ext cx="3763963" cy="984250"/>
            <a:chOff x="5155664" y="4908752"/>
            <a:chExt cx="3763963" cy="984250"/>
          </a:xfrm>
        </p:grpSpPr>
        <p:sp>
          <p:nvSpPr>
            <p:cNvPr id="1971" name="Google Shape;1971;p32"/>
            <p:cNvSpPr/>
            <p:nvPr/>
          </p:nvSpPr>
          <p:spPr>
            <a:xfrm>
              <a:off x="5390614" y="4908752"/>
              <a:ext cx="1606550" cy="247650"/>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2" name="Google Shape;1972;p32"/>
            <p:cNvSpPr txBox="1"/>
            <p:nvPr/>
          </p:nvSpPr>
          <p:spPr>
            <a:xfrm>
              <a:off x="5155664" y="5492952"/>
              <a:ext cx="376396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1973" name="Google Shape;1973;p32"/>
            <p:cNvSpPr txBox="1"/>
            <p:nvPr/>
          </p:nvSpPr>
          <p:spPr>
            <a:xfrm>
              <a:off x="5225514" y="5154814"/>
              <a:ext cx="2389188"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1974" name="Google Shape;1974;p32"/>
            <p:cNvCxnSpPr/>
            <p:nvPr/>
          </p:nvCxnSpPr>
          <p:spPr>
            <a:xfrm>
              <a:off x="5273139" y="5507239"/>
              <a:ext cx="2903538" cy="0"/>
            </a:xfrm>
            <a:prstGeom prst="straightConnector1">
              <a:avLst/>
            </a:prstGeom>
            <a:noFill/>
            <a:ln cap="flat" cmpd="sng" w="28575">
              <a:solidFill>
                <a:srgbClr val="000000"/>
              </a:solidFill>
              <a:prstDash val="solid"/>
              <a:round/>
              <a:headEnd len="med" w="med" type="none"/>
              <a:tailEnd len="med" w="med" type="none"/>
            </a:ln>
          </p:spPr>
        </p:cxnSp>
      </p:grpSp>
      <p:grpSp>
        <p:nvGrpSpPr>
          <p:cNvPr id="1975" name="Google Shape;1975;p32"/>
          <p:cNvGrpSpPr/>
          <p:nvPr/>
        </p:nvGrpSpPr>
        <p:grpSpPr>
          <a:xfrm>
            <a:off x="1859796" y="4436442"/>
            <a:ext cx="3008971" cy="1404172"/>
            <a:chOff x="1859796" y="4436442"/>
            <a:chExt cx="3008971" cy="1404172"/>
          </a:xfrm>
        </p:grpSpPr>
        <p:sp>
          <p:nvSpPr>
            <p:cNvPr id="1976" name="Google Shape;1976;p32"/>
            <p:cNvSpPr/>
            <p:nvPr/>
          </p:nvSpPr>
          <p:spPr>
            <a:xfrm rot="-6989453">
              <a:off x="3969802" y="4732539"/>
              <a:ext cx="952500" cy="469900"/>
            </a:xfrm>
            <a:custGeom>
              <a:rect b="b" l="l" r="r" t="t"/>
              <a:pathLst>
                <a:path extrusionOk="0" h="740" w="1500">
                  <a:moveTo>
                    <a:pt x="361" y="671"/>
                  </a:moveTo>
                  <a:cubicBezTo>
                    <a:pt x="0" y="0"/>
                    <a:pt x="1500" y="90"/>
                    <a:pt x="1017" y="74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7" name="Google Shape;1977;p32"/>
            <p:cNvSpPr txBox="1"/>
            <p:nvPr/>
          </p:nvSpPr>
          <p:spPr>
            <a:xfrm>
              <a:off x="2510889" y="5564389"/>
              <a:ext cx="1819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1978" name="Google Shape;1978;p32"/>
            <p:cNvSpPr txBox="1"/>
            <p:nvPr/>
          </p:nvSpPr>
          <p:spPr>
            <a:xfrm>
              <a:off x="1859796" y="4726939"/>
              <a:ext cx="2391034" cy="5715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(corrupt(rcvpkt)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isNAK(rcvpkt) )</a:t>
              </a:r>
              <a:endParaRPr b="0" i="0" sz="1600" u="none" cap="none" strike="noStrike">
                <a:solidFill>
                  <a:srgbClr val="000000"/>
                </a:solidFill>
                <a:latin typeface="Times New Roman"/>
                <a:ea typeface="Times New Roman"/>
                <a:cs typeface="Times New Roman"/>
                <a:sym typeface="Times New Roman"/>
              </a:endParaRPr>
            </a:p>
          </p:txBody>
        </p:sp>
        <p:cxnSp>
          <p:nvCxnSpPr>
            <p:cNvPr id="1979" name="Google Shape;1979;p32"/>
            <p:cNvCxnSpPr/>
            <p:nvPr/>
          </p:nvCxnSpPr>
          <p:spPr>
            <a:xfrm>
              <a:off x="2601377" y="5572327"/>
              <a:ext cx="1557337" cy="0"/>
            </a:xfrm>
            <a:prstGeom prst="straightConnector1">
              <a:avLst/>
            </a:prstGeom>
            <a:noFill/>
            <a:ln cap="flat" cmpd="sng" w="28575">
              <a:solidFill>
                <a:srgbClr val="000000"/>
              </a:solidFill>
              <a:prstDash val="solid"/>
              <a:round/>
              <a:headEnd len="med" w="med" type="none"/>
              <a:tailEnd len="med" w="med" type="none"/>
            </a:ln>
          </p:spPr>
        </p:cxnSp>
      </p:grpSp>
      <p:grpSp>
        <p:nvGrpSpPr>
          <p:cNvPr id="1980" name="Google Shape;1980;p32"/>
          <p:cNvGrpSpPr/>
          <p:nvPr/>
        </p:nvGrpSpPr>
        <p:grpSpPr>
          <a:xfrm>
            <a:off x="6643152" y="4329314"/>
            <a:ext cx="1117600" cy="823913"/>
            <a:chOff x="4156" y="2812"/>
            <a:chExt cx="704" cy="519"/>
          </a:xfrm>
        </p:grpSpPr>
        <p:sp>
          <p:nvSpPr>
            <p:cNvPr id="1981" name="Google Shape;1981;p32"/>
            <p:cNvSpPr/>
            <p:nvPr/>
          </p:nvSpPr>
          <p:spPr>
            <a:xfrm>
              <a:off x="4242" y="2812"/>
              <a:ext cx="567" cy="519"/>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982" name="Google Shape;1982;p32"/>
            <p:cNvSpPr txBox="1"/>
            <p:nvPr/>
          </p:nvSpPr>
          <p:spPr>
            <a:xfrm>
              <a:off x="4156" y="2870"/>
              <a:ext cx="7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1983" name="Google Shape;1983;p32"/>
          <p:cNvGrpSpPr/>
          <p:nvPr/>
        </p:nvGrpSpPr>
        <p:grpSpPr>
          <a:xfrm>
            <a:off x="4453989" y="4275339"/>
            <a:ext cx="1046163" cy="823913"/>
            <a:chOff x="4916" y="3266"/>
            <a:chExt cx="659" cy="519"/>
          </a:xfrm>
        </p:grpSpPr>
        <p:sp>
          <p:nvSpPr>
            <p:cNvPr id="1984" name="Google Shape;1984;p32"/>
            <p:cNvSpPr/>
            <p:nvPr/>
          </p:nvSpPr>
          <p:spPr>
            <a:xfrm>
              <a:off x="4957" y="3266"/>
              <a:ext cx="567" cy="519"/>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985" name="Google Shape;1985;p32"/>
            <p:cNvSpPr txBox="1"/>
            <p:nvPr/>
          </p:nvSpPr>
          <p:spPr>
            <a:xfrm>
              <a:off x="4916" y="3319"/>
              <a:ext cx="65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 or NAK 1</a:t>
              </a:r>
              <a:endParaRPr b="0" i="0" sz="1400" u="none" cap="none" strike="noStrike">
                <a:solidFill>
                  <a:srgbClr val="000000"/>
                </a:solidFill>
                <a:latin typeface="Times New Roman"/>
                <a:ea typeface="Times New Roman"/>
                <a:cs typeface="Times New Roman"/>
                <a:sym typeface="Times New Roman"/>
              </a:endParaRPr>
            </a:p>
          </p:txBody>
        </p:sp>
      </p:grpSp>
      <p:grpSp>
        <p:nvGrpSpPr>
          <p:cNvPr id="1986" name="Google Shape;1986;p32"/>
          <p:cNvGrpSpPr/>
          <p:nvPr/>
        </p:nvGrpSpPr>
        <p:grpSpPr>
          <a:xfrm>
            <a:off x="7340063" y="2989465"/>
            <a:ext cx="3184985" cy="1470025"/>
            <a:chOff x="7340063" y="2989464"/>
            <a:chExt cx="3184985" cy="1470025"/>
          </a:xfrm>
        </p:grpSpPr>
        <p:sp>
          <p:nvSpPr>
            <p:cNvPr id="1987" name="Google Shape;1987;p32"/>
            <p:cNvSpPr/>
            <p:nvPr/>
          </p:nvSpPr>
          <p:spPr>
            <a:xfrm rot="-5400000">
              <a:off x="6760626" y="3568902"/>
              <a:ext cx="1363663" cy="204788"/>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88" name="Google Shape;1988;p32"/>
            <p:cNvSpPr txBox="1"/>
            <p:nvPr/>
          </p:nvSpPr>
          <p:spPr>
            <a:xfrm>
              <a:off x="7529435" y="3255707"/>
              <a:ext cx="2995613"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isACK(rcvpkt) </a:t>
              </a:r>
              <a:endParaRPr/>
            </a:p>
          </p:txBody>
        </p:sp>
        <p:cxnSp>
          <p:nvCxnSpPr>
            <p:cNvPr id="1989" name="Google Shape;1989;p32"/>
            <p:cNvCxnSpPr/>
            <p:nvPr/>
          </p:nvCxnSpPr>
          <p:spPr>
            <a:xfrm>
              <a:off x="7611527" y="4113414"/>
              <a:ext cx="990600" cy="0"/>
            </a:xfrm>
            <a:prstGeom prst="straightConnector1">
              <a:avLst/>
            </a:prstGeom>
            <a:noFill/>
            <a:ln cap="flat" cmpd="sng" w="28575">
              <a:solidFill>
                <a:srgbClr val="000000"/>
              </a:solidFill>
              <a:prstDash val="solid"/>
              <a:round/>
              <a:headEnd len="med" w="med" type="none"/>
              <a:tailEnd len="med" w="med" type="none"/>
            </a:ln>
          </p:spPr>
        </p:cxnSp>
        <p:sp>
          <p:nvSpPr>
            <p:cNvPr id="1990" name="Google Shape;1990;p32"/>
            <p:cNvSpPr txBox="1"/>
            <p:nvPr/>
          </p:nvSpPr>
          <p:spPr>
            <a:xfrm>
              <a:off x="7994114" y="412293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1991" name="Google Shape;1991;p32"/>
          <p:cNvGrpSpPr/>
          <p:nvPr/>
        </p:nvGrpSpPr>
        <p:grpSpPr>
          <a:xfrm>
            <a:off x="768495" y="3049789"/>
            <a:ext cx="3918857" cy="1284288"/>
            <a:chOff x="768495" y="3049789"/>
            <a:chExt cx="3918857" cy="1284288"/>
          </a:xfrm>
        </p:grpSpPr>
        <p:sp>
          <p:nvSpPr>
            <p:cNvPr id="1992" name="Google Shape;1992;p32"/>
            <p:cNvSpPr/>
            <p:nvPr/>
          </p:nvSpPr>
          <p:spPr>
            <a:xfrm flipH="1" rot="5400000">
              <a:off x="3992027" y="3621289"/>
              <a:ext cx="1266825" cy="123825"/>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93" name="Google Shape;1993;p32"/>
            <p:cNvSpPr txBox="1"/>
            <p:nvPr/>
          </p:nvSpPr>
          <p:spPr>
            <a:xfrm>
              <a:off x="768495" y="3141125"/>
              <a:ext cx="3623727" cy="5715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&amp;&amp; isACK(rcvpkt)</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1994" name="Google Shape;1994;p32"/>
            <p:cNvCxnSpPr/>
            <p:nvPr/>
          </p:nvCxnSpPr>
          <p:spPr>
            <a:xfrm>
              <a:off x="2572802" y="3983239"/>
              <a:ext cx="1738312" cy="0"/>
            </a:xfrm>
            <a:prstGeom prst="straightConnector1">
              <a:avLst/>
            </a:prstGeom>
            <a:noFill/>
            <a:ln cap="flat" cmpd="sng" w="28575">
              <a:solidFill>
                <a:srgbClr val="000000"/>
              </a:solidFill>
              <a:prstDash val="solid"/>
              <a:round/>
              <a:headEnd len="med" w="med" type="none"/>
              <a:tailEnd len="med" w="med" type="none"/>
            </a:ln>
          </p:spPr>
        </p:cxnSp>
        <p:sp>
          <p:nvSpPr>
            <p:cNvPr id="1995" name="Google Shape;1995;p32"/>
            <p:cNvSpPr txBox="1"/>
            <p:nvPr/>
          </p:nvSpPr>
          <p:spPr>
            <a:xfrm>
              <a:off x="3144302" y="3997527"/>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sp>
        <p:nvSpPr>
          <p:cNvPr id="1996" name="Google Shape;1996;p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9"/>
                                        </p:tgtEl>
                                        <p:attrNameLst>
                                          <p:attrName>style.visibility</p:attrName>
                                        </p:attrNameLst>
                                      </p:cBhvr>
                                      <p:to>
                                        <p:strVal val="visible"/>
                                      </p:to>
                                    </p:set>
                                    <p:animEffect filter="fade" transition="in">
                                      <p:cBhvr>
                                        <p:cTn dur="500"/>
                                        <p:tgtEl>
                                          <p:spTgt spid="19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6"/>
                                        </p:tgtEl>
                                        <p:attrNameLst>
                                          <p:attrName>style.visibility</p:attrName>
                                        </p:attrNameLst>
                                      </p:cBhvr>
                                      <p:to>
                                        <p:strVal val="visible"/>
                                      </p:to>
                                    </p:set>
                                    <p:animEffect filter="fade" transition="in">
                                      <p:cBhvr>
                                        <p:cTn dur="500"/>
                                        <p:tgtEl>
                                          <p:spTgt spid="19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0"/>
                                        </p:tgtEl>
                                        <p:attrNameLst>
                                          <p:attrName>style.visibility</p:attrName>
                                        </p:attrNameLst>
                                      </p:cBhvr>
                                      <p:to>
                                        <p:strVal val="visible"/>
                                      </p:to>
                                    </p:set>
                                    <p:animEffect filter="fade" transition="in">
                                      <p:cBhvr>
                                        <p:cTn dur="500"/>
                                        <p:tgtEl>
                                          <p:spTgt spid="19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1"/>
                                        </p:tgtEl>
                                        <p:attrNameLst>
                                          <p:attrName>style.visibility</p:attrName>
                                        </p:attrNameLst>
                                      </p:cBhvr>
                                      <p:to>
                                        <p:strVal val="visible"/>
                                      </p:to>
                                    </p:set>
                                    <p:animEffect filter="fade" transition="in">
                                      <p:cBhvr>
                                        <p:cTn dur="500"/>
                                        <p:tgtEl>
                                          <p:spTgt spid="19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5"/>
                                        </p:tgtEl>
                                        <p:attrNameLst>
                                          <p:attrName>style.visibility</p:attrName>
                                        </p:attrNameLst>
                                      </p:cBhvr>
                                      <p:to>
                                        <p:strVal val="visible"/>
                                      </p:to>
                                    </p:set>
                                    <p:animEffect filter="fade" transition="in">
                                      <p:cBhvr>
                                        <p:cTn dur="500"/>
                                        <p:tgtEl>
                                          <p:spTgt spid="19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5"/>
                                        </p:tgtEl>
                                        <p:attrNameLst>
                                          <p:attrName>style.visibility</p:attrName>
                                        </p:attrNameLst>
                                      </p:cBhvr>
                                      <p:to>
                                        <p:strVal val="visible"/>
                                      </p:to>
                                    </p:set>
                                    <p:animEffect filter="fade" transition="in">
                                      <p:cBhvr>
                                        <p:cTn dur="500"/>
                                        <p:tgtEl>
                                          <p:spTgt spid="19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1" name="Shape 2001"/>
        <p:cNvGrpSpPr/>
        <p:nvPr/>
      </p:nvGrpSpPr>
      <p:grpSpPr>
        <a:xfrm>
          <a:off x="0" y="0"/>
          <a:ext cx="0" cy="0"/>
          <a:chOff x="0" y="0"/>
          <a:chExt cx="0" cy="0"/>
        </a:xfrm>
      </p:grpSpPr>
      <p:sp>
        <p:nvSpPr>
          <p:cNvPr id="2002" name="Google Shape;2002;p3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receiver, handling garbled ACK/NAKs</a:t>
            </a:r>
            <a:endParaRPr sz="4400"/>
          </a:p>
        </p:txBody>
      </p:sp>
      <p:grpSp>
        <p:nvGrpSpPr>
          <p:cNvPr id="2003" name="Google Shape;2003;p33"/>
          <p:cNvGrpSpPr/>
          <p:nvPr/>
        </p:nvGrpSpPr>
        <p:grpSpPr>
          <a:xfrm>
            <a:off x="4764244" y="3345999"/>
            <a:ext cx="817563" cy="795338"/>
            <a:chOff x="963" y="1131"/>
            <a:chExt cx="515" cy="501"/>
          </a:xfrm>
        </p:grpSpPr>
        <p:sp>
          <p:nvSpPr>
            <p:cNvPr id="2004" name="Google Shape;2004;p33"/>
            <p:cNvSpPr/>
            <p:nvPr/>
          </p:nvSpPr>
          <p:spPr>
            <a:xfrm>
              <a:off x="963" y="1131"/>
              <a:ext cx="490" cy="501"/>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005" name="Google Shape;2005;p33"/>
            <p:cNvSpPr txBox="1"/>
            <p:nvPr/>
          </p:nvSpPr>
          <p:spPr>
            <a:xfrm>
              <a:off x="974" y="1153"/>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from below</a:t>
              </a:r>
              <a:endParaRPr b="0" i="0" sz="1400" u="none" cap="none" strike="noStrike">
                <a:solidFill>
                  <a:srgbClr val="000000"/>
                </a:solidFill>
                <a:latin typeface="Times New Roman"/>
                <a:ea typeface="Times New Roman"/>
                <a:cs typeface="Times New Roman"/>
                <a:sym typeface="Times New Roman"/>
              </a:endParaRPr>
            </a:p>
          </p:txBody>
        </p:sp>
      </p:grpSp>
      <p:cxnSp>
        <p:nvCxnSpPr>
          <p:cNvPr id="2006" name="Google Shape;2006;p33"/>
          <p:cNvCxnSpPr/>
          <p:nvPr/>
        </p:nvCxnSpPr>
        <p:spPr>
          <a:xfrm>
            <a:off x="4600732" y="2276024"/>
            <a:ext cx="419100" cy="1079500"/>
          </a:xfrm>
          <a:prstGeom prst="straightConnector1">
            <a:avLst/>
          </a:prstGeom>
          <a:noFill/>
          <a:ln cap="flat" cmpd="sng" w="28575">
            <a:solidFill>
              <a:srgbClr val="000000"/>
            </a:solidFill>
            <a:prstDash val="dash"/>
            <a:round/>
            <a:headEnd len="med" w="med" type="none"/>
            <a:tailEnd len="med" w="med" type="triangle"/>
          </a:ln>
        </p:spPr>
      </p:cxnSp>
      <p:grpSp>
        <p:nvGrpSpPr>
          <p:cNvPr id="2007" name="Google Shape;2007;p33"/>
          <p:cNvGrpSpPr/>
          <p:nvPr/>
        </p:nvGrpSpPr>
        <p:grpSpPr>
          <a:xfrm>
            <a:off x="4688044" y="4161974"/>
            <a:ext cx="3862388" cy="2187575"/>
            <a:chOff x="4688044" y="4161974"/>
            <a:chExt cx="3862388" cy="2187575"/>
          </a:xfrm>
        </p:grpSpPr>
        <p:sp>
          <p:nvSpPr>
            <p:cNvPr id="2008" name="Google Shape;2008;p33"/>
            <p:cNvSpPr/>
            <p:nvPr/>
          </p:nvSpPr>
          <p:spPr>
            <a:xfrm>
              <a:off x="5299232" y="4161974"/>
              <a:ext cx="1590675" cy="688975"/>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09" name="Google Shape;2009;p33"/>
            <p:cNvSpPr txBox="1"/>
            <p:nvPr/>
          </p:nvSpPr>
          <p:spPr>
            <a:xfrm>
              <a:off x="4688044" y="4742999"/>
              <a:ext cx="358140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has_seq1(rcvpkt)</a:t>
              </a:r>
              <a:r>
                <a:rPr b="0" i="0" lang="en-US" sz="1600" u="none" cap="none" strike="noStrike">
                  <a:solidFill>
                    <a:srgbClr val="000000"/>
                  </a:solidFill>
                  <a:latin typeface="Arial"/>
                  <a:ea typeface="Arial"/>
                  <a:cs typeface="Arial"/>
                  <a:sym typeface="Arial"/>
                </a:rPr>
                <a:t> </a:t>
              </a:r>
              <a:endParaRPr b="0" i="0" sz="1600" u="none" cap="none" strike="noStrike">
                <a:solidFill>
                  <a:srgbClr val="000000"/>
                </a:solidFill>
                <a:latin typeface="Times New Roman"/>
                <a:ea typeface="Times New Roman"/>
                <a:cs typeface="Times New Roman"/>
                <a:sym typeface="Times New Roman"/>
              </a:endParaRPr>
            </a:p>
          </p:txBody>
        </p:sp>
        <p:cxnSp>
          <p:nvCxnSpPr>
            <p:cNvPr id="2010" name="Google Shape;2010;p33"/>
            <p:cNvCxnSpPr/>
            <p:nvPr/>
          </p:nvCxnSpPr>
          <p:spPr>
            <a:xfrm>
              <a:off x="4754719" y="5300212"/>
              <a:ext cx="2898775" cy="0"/>
            </a:xfrm>
            <a:prstGeom prst="straightConnector1">
              <a:avLst/>
            </a:prstGeom>
            <a:noFill/>
            <a:ln cap="flat" cmpd="sng" w="28575">
              <a:solidFill>
                <a:srgbClr val="000000"/>
              </a:solidFill>
              <a:prstDash val="solid"/>
              <a:round/>
              <a:headEnd len="med" w="med" type="none"/>
              <a:tailEnd len="med" w="med" type="none"/>
            </a:ln>
          </p:spPr>
        </p:cxnSp>
        <p:sp>
          <p:nvSpPr>
            <p:cNvPr id="2011" name="Google Shape;2011;p33"/>
            <p:cNvSpPr txBox="1"/>
            <p:nvPr/>
          </p:nvSpPr>
          <p:spPr>
            <a:xfrm>
              <a:off x="4697569" y="5355774"/>
              <a:ext cx="3852863" cy="993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nvGrpSpPr>
          <p:cNvPr id="2012" name="Google Shape;2012;p33"/>
          <p:cNvGrpSpPr/>
          <p:nvPr/>
        </p:nvGrpSpPr>
        <p:grpSpPr>
          <a:xfrm>
            <a:off x="6462869" y="3380924"/>
            <a:ext cx="825500" cy="796925"/>
            <a:chOff x="4398" y="3133"/>
            <a:chExt cx="520" cy="502"/>
          </a:xfrm>
        </p:grpSpPr>
        <p:sp>
          <p:nvSpPr>
            <p:cNvPr id="2013" name="Google Shape;2013;p33"/>
            <p:cNvSpPr/>
            <p:nvPr/>
          </p:nvSpPr>
          <p:spPr>
            <a:xfrm>
              <a:off x="4398" y="3133"/>
              <a:ext cx="507" cy="502"/>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014" name="Google Shape;2014;p33"/>
            <p:cNvSpPr txBox="1"/>
            <p:nvPr/>
          </p:nvSpPr>
          <p:spPr>
            <a:xfrm>
              <a:off x="4414" y="3163"/>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 from below</a:t>
              </a:r>
              <a:endParaRPr b="0" i="0" sz="1400" u="none" cap="none" strike="noStrike">
                <a:solidFill>
                  <a:srgbClr val="000000"/>
                </a:solidFill>
                <a:latin typeface="Times New Roman"/>
                <a:ea typeface="Times New Roman"/>
                <a:cs typeface="Times New Roman"/>
                <a:sym typeface="Times New Roman"/>
              </a:endParaRPr>
            </a:p>
          </p:txBody>
        </p:sp>
      </p:grpSp>
      <p:grpSp>
        <p:nvGrpSpPr>
          <p:cNvPr id="2015" name="Google Shape;2015;p33"/>
          <p:cNvGrpSpPr/>
          <p:nvPr/>
        </p:nvGrpSpPr>
        <p:grpSpPr>
          <a:xfrm>
            <a:off x="4849969" y="1277487"/>
            <a:ext cx="3981450" cy="2101850"/>
            <a:chOff x="4849969" y="1277487"/>
            <a:chExt cx="3981450" cy="2101850"/>
          </a:xfrm>
        </p:grpSpPr>
        <p:sp>
          <p:nvSpPr>
            <p:cNvPr id="2016" name="Google Shape;2016;p33"/>
            <p:cNvSpPr/>
            <p:nvPr/>
          </p:nvSpPr>
          <p:spPr>
            <a:xfrm flipH="1" rot="10800000">
              <a:off x="5281769" y="2593524"/>
              <a:ext cx="1590675" cy="785813"/>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017" name="Google Shape;2017;p33"/>
            <p:cNvGrpSpPr/>
            <p:nvPr/>
          </p:nvGrpSpPr>
          <p:grpSpPr>
            <a:xfrm>
              <a:off x="4849969" y="1277487"/>
              <a:ext cx="3981450" cy="1231900"/>
              <a:chOff x="4849969" y="1277487"/>
              <a:chExt cx="3981450" cy="1231900"/>
            </a:xfrm>
          </p:grpSpPr>
          <p:sp>
            <p:nvSpPr>
              <p:cNvPr id="2018" name="Google Shape;2018;p33"/>
              <p:cNvSpPr txBox="1"/>
              <p:nvPr/>
            </p:nvSpPr>
            <p:spPr>
              <a:xfrm>
                <a:off x="4849969" y="1277487"/>
                <a:ext cx="39814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has_seq0(rcvpkt) </a:t>
                </a:r>
                <a:endParaRPr b="0" i="0" sz="1400" u="none" cap="none" strike="noStrike">
                  <a:solidFill>
                    <a:srgbClr val="000000"/>
                  </a:solidFill>
                  <a:latin typeface="Times New Roman"/>
                  <a:ea typeface="Times New Roman"/>
                  <a:cs typeface="Times New Roman"/>
                  <a:sym typeface="Times New Roman"/>
                </a:endParaRPr>
              </a:p>
            </p:txBody>
          </p:sp>
          <p:cxnSp>
            <p:nvCxnSpPr>
              <p:cNvPr id="2019" name="Google Shape;2019;p33"/>
              <p:cNvCxnSpPr/>
              <p:nvPr/>
            </p:nvCxnSpPr>
            <p:spPr>
              <a:xfrm>
                <a:off x="4959507" y="1847399"/>
                <a:ext cx="1914525" cy="0"/>
              </a:xfrm>
              <a:prstGeom prst="straightConnector1">
                <a:avLst/>
              </a:prstGeom>
              <a:noFill/>
              <a:ln cap="flat" cmpd="sng" w="28575">
                <a:solidFill>
                  <a:srgbClr val="000000"/>
                </a:solidFill>
                <a:prstDash val="solid"/>
                <a:round/>
                <a:headEnd len="med" w="med" type="none"/>
                <a:tailEnd len="med" w="med" type="none"/>
              </a:ln>
            </p:spPr>
          </p:cxnSp>
          <p:sp>
            <p:nvSpPr>
              <p:cNvPr id="2020" name="Google Shape;2020;p33"/>
              <p:cNvSpPr txBox="1"/>
              <p:nvPr/>
            </p:nvSpPr>
            <p:spPr>
              <a:xfrm>
                <a:off x="4862669" y="1804537"/>
                <a:ext cx="3475038" cy="7048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grpSp>
        <p:nvGrpSpPr>
          <p:cNvPr id="2021" name="Google Shape;2021;p33"/>
          <p:cNvGrpSpPr/>
          <p:nvPr/>
        </p:nvGrpSpPr>
        <p:grpSpPr>
          <a:xfrm>
            <a:off x="7028916" y="2655437"/>
            <a:ext cx="3840853" cy="1309628"/>
            <a:chOff x="7028916" y="2655437"/>
            <a:chExt cx="3840853" cy="1309628"/>
          </a:xfrm>
        </p:grpSpPr>
        <p:sp>
          <p:nvSpPr>
            <p:cNvPr id="2022" name="Google Shape;2022;p33"/>
            <p:cNvSpPr txBox="1"/>
            <p:nvPr/>
          </p:nvSpPr>
          <p:spPr>
            <a:xfrm>
              <a:off x="7842407" y="2952299"/>
              <a:ext cx="3027362"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make_pkt(NAK,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2023" name="Google Shape;2023;p33"/>
            <p:cNvSpPr/>
            <p:nvPr/>
          </p:nvSpPr>
          <p:spPr>
            <a:xfrm rot="-1361013">
              <a:off x="7162957" y="2972937"/>
              <a:ext cx="839787"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4" name="Google Shape;2024;p33"/>
            <p:cNvSpPr txBox="1"/>
            <p:nvPr/>
          </p:nvSpPr>
          <p:spPr>
            <a:xfrm>
              <a:off x="7793194" y="2655437"/>
              <a:ext cx="2871788"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(corrupt(rcvpkt)</a:t>
              </a:r>
              <a:endParaRPr b="0" i="0" sz="1400" u="none" cap="none" strike="noStrike">
                <a:solidFill>
                  <a:srgbClr val="000000"/>
                </a:solidFill>
                <a:latin typeface="Times New Roman"/>
                <a:ea typeface="Times New Roman"/>
                <a:cs typeface="Times New Roman"/>
                <a:sym typeface="Times New Roman"/>
              </a:endParaRPr>
            </a:p>
          </p:txBody>
        </p:sp>
        <p:cxnSp>
          <p:nvCxnSpPr>
            <p:cNvPr id="2025" name="Google Shape;2025;p33"/>
            <p:cNvCxnSpPr/>
            <p:nvPr/>
          </p:nvCxnSpPr>
          <p:spPr>
            <a:xfrm>
              <a:off x="7931307" y="2966587"/>
              <a:ext cx="1938337" cy="0"/>
            </a:xfrm>
            <a:prstGeom prst="straightConnector1">
              <a:avLst/>
            </a:prstGeom>
            <a:noFill/>
            <a:ln cap="flat" cmpd="sng" w="28575">
              <a:solidFill>
                <a:srgbClr val="000000"/>
              </a:solidFill>
              <a:prstDash val="solid"/>
              <a:round/>
              <a:headEnd len="med" w="med" type="none"/>
              <a:tailEnd len="med" w="med" type="none"/>
            </a:ln>
          </p:spPr>
        </p:cxnSp>
      </p:grpSp>
      <p:grpSp>
        <p:nvGrpSpPr>
          <p:cNvPr id="2026" name="Google Shape;2026;p33"/>
          <p:cNvGrpSpPr/>
          <p:nvPr/>
        </p:nvGrpSpPr>
        <p:grpSpPr>
          <a:xfrm>
            <a:off x="7078824" y="3592896"/>
            <a:ext cx="3662358" cy="1234241"/>
            <a:chOff x="7078824" y="3592896"/>
            <a:chExt cx="3662358" cy="1234241"/>
          </a:xfrm>
        </p:grpSpPr>
        <p:sp>
          <p:nvSpPr>
            <p:cNvPr id="2027" name="Google Shape;2027;p33"/>
            <p:cNvSpPr txBox="1"/>
            <p:nvPr/>
          </p:nvSpPr>
          <p:spPr>
            <a:xfrm>
              <a:off x="7845582" y="3665087"/>
              <a:ext cx="2624137"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 corrupt(rcvpkt) &amp;&amp;</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has_seq0(rcvpkt)</a:t>
              </a:r>
              <a:endParaRPr/>
            </a:p>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2028" name="Google Shape;2028;p33"/>
            <p:cNvCxnSpPr/>
            <p:nvPr/>
          </p:nvCxnSpPr>
          <p:spPr>
            <a:xfrm>
              <a:off x="7929719" y="4363587"/>
              <a:ext cx="1938338" cy="0"/>
            </a:xfrm>
            <a:prstGeom prst="straightConnector1">
              <a:avLst/>
            </a:prstGeom>
            <a:noFill/>
            <a:ln cap="flat" cmpd="sng" w="28575">
              <a:solidFill>
                <a:srgbClr val="000000"/>
              </a:solidFill>
              <a:prstDash val="solid"/>
              <a:round/>
              <a:headEnd len="med" w="med" type="none"/>
              <a:tailEnd len="med" w="med" type="none"/>
            </a:ln>
          </p:spPr>
        </p:cxnSp>
        <p:sp>
          <p:nvSpPr>
            <p:cNvPr id="2029" name="Google Shape;2029;p33"/>
            <p:cNvSpPr/>
            <p:nvPr/>
          </p:nvSpPr>
          <p:spPr>
            <a:xfrm rot="1020547">
              <a:off x="7186769" y="36968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30" name="Google Shape;2030;p33"/>
            <p:cNvSpPr txBox="1"/>
            <p:nvPr/>
          </p:nvSpPr>
          <p:spPr>
            <a:xfrm>
              <a:off x="7801132" y="4417562"/>
              <a:ext cx="294005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nvGrpSpPr>
          <p:cNvPr id="2031" name="Google Shape;2031;p33"/>
          <p:cNvGrpSpPr/>
          <p:nvPr/>
        </p:nvGrpSpPr>
        <p:grpSpPr>
          <a:xfrm>
            <a:off x="1919444" y="3529396"/>
            <a:ext cx="2989258" cy="1254878"/>
            <a:chOff x="1919444" y="3529396"/>
            <a:chExt cx="2989258" cy="1254878"/>
          </a:xfrm>
        </p:grpSpPr>
        <p:sp>
          <p:nvSpPr>
            <p:cNvPr id="2032" name="Google Shape;2032;p33"/>
            <p:cNvSpPr txBox="1"/>
            <p:nvPr/>
          </p:nvSpPr>
          <p:spPr>
            <a:xfrm>
              <a:off x="1919444" y="3644449"/>
              <a:ext cx="2624138"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 corrupt(rcvpkt) &amp;&amp;</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has_seq1(rcvpkt)</a:t>
              </a:r>
              <a:endParaRPr/>
            </a:p>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2033" name="Google Shape;2033;p33"/>
            <p:cNvCxnSpPr/>
            <p:nvPr/>
          </p:nvCxnSpPr>
          <p:spPr>
            <a:xfrm>
              <a:off x="2003582" y="4352474"/>
              <a:ext cx="1938337" cy="0"/>
            </a:xfrm>
            <a:prstGeom prst="straightConnector1">
              <a:avLst/>
            </a:prstGeom>
            <a:noFill/>
            <a:ln cap="flat" cmpd="sng" w="28575">
              <a:solidFill>
                <a:srgbClr val="000000"/>
              </a:solidFill>
              <a:prstDash val="solid"/>
              <a:round/>
              <a:headEnd len="med" w="med" type="none"/>
              <a:tailEnd len="med" w="med" type="none"/>
            </a:ln>
          </p:spPr>
        </p:cxnSp>
        <p:sp>
          <p:nvSpPr>
            <p:cNvPr id="2034" name="Google Shape;2034;p33"/>
            <p:cNvSpPr txBox="1"/>
            <p:nvPr/>
          </p:nvSpPr>
          <p:spPr>
            <a:xfrm>
              <a:off x="1951194" y="4374699"/>
              <a:ext cx="294005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2035" name="Google Shape;2035;p33"/>
            <p:cNvSpPr/>
            <p:nvPr/>
          </p:nvSpPr>
          <p:spPr>
            <a:xfrm flipH="1" rot="-1020547">
              <a:off x="3960969" y="36333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036" name="Google Shape;2036;p33"/>
          <p:cNvGrpSpPr/>
          <p:nvPr/>
        </p:nvGrpSpPr>
        <p:grpSpPr>
          <a:xfrm>
            <a:off x="1867057" y="2591937"/>
            <a:ext cx="3087687" cy="1385828"/>
            <a:chOff x="1867057" y="2591937"/>
            <a:chExt cx="3087687" cy="1385828"/>
          </a:xfrm>
        </p:grpSpPr>
        <p:sp>
          <p:nvSpPr>
            <p:cNvPr id="2037" name="Google Shape;2037;p33"/>
            <p:cNvSpPr txBox="1"/>
            <p:nvPr/>
          </p:nvSpPr>
          <p:spPr>
            <a:xfrm>
              <a:off x="1867057" y="2591937"/>
              <a:ext cx="2871787"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(corrupt(rcvpkt)</a:t>
              </a:r>
              <a:endParaRPr b="0" i="0" sz="1400" u="none" cap="none" strike="noStrike">
                <a:solidFill>
                  <a:srgbClr val="000000"/>
                </a:solidFill>
                <a:latin typeface="Times New Roman"/>
                <a:ea typeface="Times New Roman"/>
                <a:cs typeface="Times New Roman"/>
                <a:sym typeface="Times New Roman"/>
              </a:endParaRPr>
            </a:p>
          </p:txBody>
        </p:sp>
        <p:cxnSp>
          <p:nvCxnSpPr>
            <p:cNvPr id="2038" name="Google Shape;2038;p33"/>
            <p:cNvCxnSpPr/>
            <p:nvPr/>
          </p:nvCxnSpPr>
          <p:spPr>
            <a:xfrm>
              <a:off x="2005169" y="2966587"/>
              <a:ext cx="1938338" cy="0"/>
            </a:xfrm>
            <a:prstGeom prst="straightConnector1">
              <a:avLst/>
            </a:prstGeom>
            <a:noFill/>
            <a:ln cap="flat" cmpd="sng" w="28575">
              <a:solidFill>
                <a:srgbClr val="000000"/>
              </a:solidFill>
              <a:prstDash val="solid"/>
              <a:round/>
              <a:headEnd len="med" w="med" type="none"/>
              <a:tailEnd len="med" w="med" type="none"/>
            </a:ln>
          </p:spPr>
        </p:cxnSp>
        <p:sp>
          <p:nvSpPr>
            <p:cNvPr id="2039" name="Google Shape;2039;p33"/>
            <p:cNvSpPr txBox="1"/>
            <p:nvPr/>
          </p:nvSpPr>
          <p:spPr>
            <a:xfrm>
              <a:off x="1927382" y="2933249"/>
              <a:ext cx="3027362"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make_pkt(NAK,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2040" name="Google Shape;2040;p33"/>
            <p:cNvSpPr/>
            <p:nvPr/>
          </p:nvSpPr>
          <p:spPr>
            <a:xfrm flipH="1" rot="1361013">
              <a:off x="3948269" y="29856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041" name="Google Shape;2041;p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5"/>
                                        </p:tgtEl>
                                        <p:attrNameLst>
                                          <p:attrName>style.visibility</p:attrName>
                                        </p:attrNameLst>
                                      </p:cBhvr>
                                      <p:to>
                                        <p:strVal val="visible"/>
                                      </p:to>
                                    </p:set>
                                    <p:animEffect filter="fade" transition="in">
                                      <p:cBhvr>
                                        <p:cTn dur="500"/>
                                        <p:tgtEl>
                                          <p:spTgt spid="20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7"/>
                                        </p:tgtEl>
                                        <p:attrNameLst>
                                          <p:attrName>style.visibility</p:attrName>
                                        </p:attrNameLst>
                                      </p:cBhvr>
                                      <p:to>
                                        <p:strVal val="visible"/>
                                      </p:to>
                                    </p:set>
                                    <p:animEffect filter="fade" transition="in">
                                      <p:cBhvr>
                                        <p:cTn dur="500"/>
                                        <p:tgtEl>
                                          <p:spTgt spid="20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1"/>
                                        </p:tgtEl>
                                        <p:attrNameLst>
                                          <p:attrName>style.visibility</p:attrName>
                                        </p:attrNameLst>
                                      </p:cBhvr>
                                      <p:to>
                                        <p:strVal val="visible"/>
                                      </p:to>
                                    </p:set>
                                    <p:animEffect filter="fade" transition="in">
                                      <p:cBhvr>
                                        <p:cTn dur="500"/>
                                        <p:tgtEl>
                                          <p:spTgt spid="20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6"/>
                                        </p:tgtEl>
                                        <p:attrNameLst>
                                          <p:attrName>style.visibility</p:attrName>
                                        </p:attrNameLst>
                                      </p:cBhvr>
                                      <p:to>
                                        <p:strVal val="visible"/>
                                      </p:to>
                                    </p:set>
                                    <p:animEffect filter="fade" transition="in">
                                      <p:cBhvr>
                                        <p:cTn dur="500"/>
                                        <p:tgtEl>
                                          <p:spTgt spid="20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1"/>
                                        </p:tgtEl>
                                        <p:attrNameLst>
                                          <p:attrName>style.visibility</p:attrName>
                                        </p:attrNameLst>
                                      </p:cBhvr>
                                      <p:to>
                                        <p:strVal val="visible"/>
                                      </p:to>
                                    </p:set>
                                    <p:animEffect filter="fade" transition="in">
                                      <p:cBhvr>
                                        <p:cTn dur="500"/>
                                        <p:tgtEl>
                                          <p:spTgt spid="20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6"/>
                                        </p:tgtEl>
                                        <p:attrNameLst>
                                          <p:attrName>style.visibility</p:attrName>
                                        </p:attrNameLst>
                                      </p:cBhvr>
                                      <p:to>
                                        <p:strVal val="visible"/>
                                      </p:to>
                                    </p:set>
                                    <p:animEffect filter="fade" transition="in">
                                      <p:cBhvr>
                                        <p:cTn dur="500"/>
                                        <p:tgtEl>
                                          <p:spTgt spid="20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6" name="Shape 2046"/>
        <p:cNvGrpSpPr/>
        <p:nvPr/>
      </p:nvGrpSpPr>
      <p:grpSpPr>
        <a:xfrm>
          <a:off x="0" y="0"/>
          <a:ext cx="0" cy="0"/>
          <a:chOff x="0" y="0"/>
          <a:chExt cx="0" cy="0"/>
        </a:xfrm>
      </p:grpSpPr>
      <p:sp>
        <p:nvSpPr>
          <p:cNvPr id="2047" name="Google Shape;2047;p3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discussion</a:t>
            </a:r>
            <a:endParaRPr sz="4400"/>
          </a:p>
        </p:txBody>
      </p:sp>
      <p:sp>
        <p:nvSpPr>
          <p:cNvPr id="2048" name="Google Shape;2048;p34"/>
          <p:cNvSpPr txBox="1"/>
          <p:nvPr/>
        </p:nvSpPr>
        <p:spPr>
          <a:xfrm>
            <a:off x="798690" y="1355502"/>
            <a:ext cx="5297310"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sng" cap="none" strike="noStrike">
                <a:solidFill>
                  <a:srgbClr val="CC0000"/>
                </a:solidFill>
                <a:latin typeface="Calibri"/>
                <a:ea typeface="Calibri"/>
                <a:cs typeface="Calibri"/>
                <a:sym typeface="Calibri"/>
              </a:rPr>
              <a:t>sender:</a:t>
            </a:r>
            <a:endParaRPr b="0" i="0" sz="3200" u="none" cap="none" strike="noStrike">
              <a:solidFill>
                <a:srgbClr val="CC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seq # added to pkt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two seq. #s (0,1) will suffice.  Why?</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must check if received ACK/NAK corrupted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twice as many states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state must “remember” whether “expected” pkt should have seq # of 0 or 1 </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2049" name="Google Shape;2049;p34"/>
          <p:cNvSpPr txBox="1"/>
          <p:nvPr/>
        </p:nvSpPr>
        <p:spPr>
          <a:xfrm>
            <a:off x="6543540" y="1355502"/>
            <a:ext cx="4849769"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sng" cap="none" strike="noStrike">
                <a:solidFill>
                  <a:srgbClr val="CC0000"/>
                </a:solidFill>
                <a:latin typeface="Calibri"/>
                <a:ea typeface="Calibri"/>
                <a:cs typeface="Calibri"/>
                <a:sym typeface="Calibri"/>
              </a:rPr>
              <a:t>receiver:</a:t>
            </a:r>
            <a:endParaRPr b="0" i="0" sz="3200" u="none" cap="none" strike="noStrike">
              <a:solidFill>
                <a:srgbClr val="CC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must check if received packet is duplicate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state indicates whether 0 or 1 is expected pkt seq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note: receiver can </a:t>
            </a:r>
            <a:r>
              <a:rPr b="0" i="1" lang="en-US" sz="2800" u="none" cap="none" strike="noStrike">
                <a:solidFill>
                  <a:srgbClr val="000000"/>
                </a:solidFill>
                <a:latin typeface="Calibri"/>
                <a:ea typeface="Calibri"/>
                <a:cs typeface="Calibri"/>
                <a:sym typeface="Calibri"/>
              </a:rPr>
              <a:t>not</a:t>
            </a:r>
            <a:r>
              <a:rPr b="0" i="0" lang="en-US" sz="2800" u="none" cap="none" strike="noStrike">
                <a:solidFill>
                  <a:srgbClr val="000000"/>
                </a:solidFill>
                <a:latin typeface="Calibri"/>
                <a:ea typeface="Calibri"/>
                <a:cs typeface="Calibri"/>
                <a:sym typeface="Calibri"/>
              </a:rPr>
              <a:t> know if its last ACK/NAK received OK at sender</a:t>
            </a:r>
            <a:endParaRPr/>
          </a:p>
        </p:txBody>
      </p:sp>
      <p:sp>
        <p:nvSpPr>
          <p:cNvPr id="2050" name="Google Shape;2050;p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9"/>
                                        </p:tgtEl>
                                        <p:attrNameLst>
                                          <p:attrName>style.visibility</p:attrName>
                                        </p:attrNameLst>
                                      </p:cBhvr>
                                      <p:to>
                                        <p:strVal val="visible"/>
                                      </p:to>
                                    </p:set>
                                    <p:animEffect filter="fade" transition="in">
                                      <p:cBhvr>
                                        <p:cTn dur="500"/>
                                        <p:tgtEl>
                                          <p:spTgt spid="20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5" name="Shape 2055"/>
        <p:cNvGrpSpPr/>
        <p:nvPr/>
      </p:nvGrpSpPr>
      <p:grpSpPr>
        <a:xfrm>
          <a:off x="0" y="0"/>
          <a:ext cx="0" cy="0"/>
          <a:chOff x="0" y="0"/>
          <a:chExt cx="0" cy="0"/>
        </a:xfrm>
      </p:grpSpPr>
      <p:sp>
        <p:nvSpPr>
          <p:cNvPr id="2056" name="Google Shape;2056;p3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rdt2.2: a NAK-free protocol</a:t>
            </a:r>
            <a:endParaRPr sz="4400"/>
          </a:p>
        </p:txBody>
      </p:sp>
      <p:sp>
        <p:nvSpPr>
          <p:cNvPr id="2057" name="Google Shape;2057;p35"/>
          <p:cNvSpPr txBox="1"/>
          <p:nvPr/>
        </p:nvSpPr>
        <p:spPr>
          <a:xfrm>
            <a:off x="606648" y="1714500"/>
            <a:ext cx="10978703" cy="3385534"/>
          </a:xfrm>
          <a:prstGeom prst="rect">
            <a:avLst/>
          </a:prstGeom>
          <a:noFill/>
          <a:ln>
            <a:noFill/>
          </a:ln>
        </p:spPr>
        <p:txBody>
          <a:bodyPr anchorCtr="0" anchor="t" bIns="45700" lIns="91425" spcFirstLastPara="1" rIns="91425" wrap="square" tIns="45700">
            <a:normAutofit/>
          </a:bodyPr>
          <a:lstStyle/>
          <a:p>
            <a:pPr indent="-280988" lvl="0" marL="46037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same functionality as rdt2.1, using ACKs only</a:t>
            </a:r>
            <a:endParaRPr/>
          </a:p>
          <a:p>
            <a:pPr indent="-280988" lvl="0" marL="4603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instead of NAK, receiver sends ACK for last pkt received OK</a:t>
            </a:r>
            <a:endParaRPr/>
          </a:p>
          <a:p>
            <a:pPr indent="-219075" lvl="1" marL="808038"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receiver must </a:t>
            </a:r>
            <a:r>
              <a:rPr b="0" i="1" lang="en-US" sz="2800" u="none" cap="none" strike="noStrike">
                <a:solidFill>
                  <a:srgbClr val="000000"/>
                </a:solidFill>
                <a:latin typeface="Calibri"/>
                <a:ea typeface="Calibri"/>
                <a:cs typeface="Calibri"/>
                <a:sym typeface="Calibri"/>
              </a:rPr>
              <a:t>explicitly</a:t>
            </a:r>
            <a:r>
              <a:rPr b="0" i="0" lang="en-US" sz="2800" u="none" cap="none" strike="noStrike">
                <a:solidFill>
                  <a:srgbClr val="000000"/>
                </a:solidFill>
                <a:latin typeface="Calibri"/>
                <a:ea typeface="Calibri"/>
                <a:cs typeface="Calibri"/>
                <a:sym typeface="Calibri"/>
              </a:rPr>
              <a:t> include seq # of pkt being ACKed </a:t>
            </a:r>
            <a:endParaRPr/>
          </a:p>
          <a:p>
            <a:pPr indent="-280988" lvl="0" marL="4603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duplicate ACK at sender results in same action as NAK: </a:t>
            </a:r>
            <a:r>
              <a:rPr b="0" i="1" lang="en-US" sz="3200" u="none" cap="none" strike="noStrike">
                <a:solidFill>
                  <a:srgbClr val="000000"/>
                </a:solidFill>
                <a:latin typeface="Calibri"/>
                <a:ea typeface="Calibri"/>
                <a:cs typeface="Calibri"/>
                <a:sym typeface="Calibri"/>
              </a:rPr>
              <a:t>retransmit current pkt</a:t>
            </a:r>
            <a:endParaRPr b="0" i="0" sz="3200" u="none" cap="none" strike="noStrike">
              <a:solidFill>
                <a:srgbClr val="000000"/>
              </a:solidFill>
              <a:latin typeface="Calibri"/>
              <a:ea typeface="Calibri"/>
              <a:cs typeface="Calibri"/>
              <a:sym typeface="Calibri"/>
            </a:endParaRPr>
          </a:p>
        </p:txBody>
      </p:sp>
      <p:sp>
        <p:nvSpPr>
          <p:cNvPr id="2058" name="Google Shape;2058;p35"/>
          <p:cNvSpPr txBox="1"/>
          <p:nvPr/>
        </p:nvSpPr>
        <p:spPr>
          <a:xfrm>
            <a:off x="798690" y="4623515"/>
            <a:ext cx="906376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As we will see, TCP uses this approach to be NAK-free</a:t>
            </a:r>
            <a:endParaRPr/>
          </a:p>
        </p:txBody>
      </p:sp>
      <p:sp>
        <p:nvSpPr>
          <p:cNvPr id="2059" name="Google Shape;2059;p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4" name="Shape 2064"/>
        <p:cNvGrpSpPr/>
        <p:nvPr/>
      </p:nvGrpSpPr>
      <p:grpSpPr>
        <a:xfrm>
          <a:off x="0" y="0"/>
          <a:ext cx="0" cy="0"/>
          <a:chOff x="0" y="0"/>
          <a:chExt cx="0" cy="0"/>
        </a:xfrm>
      </p:grpSpPr>
      <p:sp>
        <p:nvSpPr>
          <p:cNvPr id="2065" name="Google Shape;2065;p3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rdt2.2: sender, receiver fragments</a:t>
            </a:r>
            <a:endParaRPr sz="4400"/>
          </a:p>
        </p:txBody>
      </p:sp>
      <p:grpSp>
        <p:nvGrpSpPr>
          <p:cNvPr id="2066" name="Google Shape;2066;p36"/>
          <p:cNvGrpSpPr/>
          <p:nvPr/>
        </p:nvGrpSpPr>
        <p:grpSpPr>
          <a:xfrm>
            <a:off x="3740933" y="1183947"/>
            <a:ext cx="6508750" cy="2841625"/>
            <a:chOff x="1529" y="780"/>
            <a:chExt cx="4100" cy="1790"/>
          </a:xfrm>
        </p:grpSpPr>
        <p:grpSp>
          <p:nvGrpSpPr>
            <p:cNvPr id="2067" name="Google Shape;2067;p36"/>
            <p:cNvGrpSpPr/>
            <p:nvPr/>
          </p:nvGrpSpPr>
          <p:grpSpPr>
            <a:xfrm>
              <a:off x="1651" y="1399"/>
              <a:ext cx="669" cy="528"/>
              <a:chOff x="1441" y="2062"/>
              <a:chExt cx="669" cy="528"/>
            </a:xfrm>
          </p:grpSpPr>
          <p:sp>
            <p:nvSpPr>
              <p:cNvPr id="2068" name="Google Shape;2068;p36"/>
              <p:cNvSpPr/>
              <p:nvPr/>
            </p:nvSpPr>
            <p:spPr>
              <a:xfrm>
                <a:off x="1483" y="2062"/>
                <a:ext cx="578" cy="528"/>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069" name="Google Shape;2069;p36"/>
              <p:cNvSpPr txBox="1"/>
              <p:nvPr/>
            </p:nvSpPr>
            <p:spPr>
              <a:xfrm>
                <a:off x="1441" y="2110"/>
                <a:ext cx="66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call 0 from above</a:t>
                </a:r>
                <a:endParaRPr b="0" i="0" sz="1400" u="none" cap="none" strike="noStrike">
                  <a:solidFill>
                    <a:srgbClr val="000000"/>
                  </a:solidFill>
                  <a:latin typeface="Times New Roman"/>
                  <a:ea typeface="Times New Roman"/>
                  <a:cs typeface="Times New Roman"/>
                  <a:sym typeface="Times New Roman"/>
                </a:endParaRPr>
              </a:p>
            </p:txBody>
          </p:sp>
        </p:grpSp>
        <p:sp>
          <p:nvSpPr>
            <p:cNvPr id="2070" name="Google Shape;2070;p36"/>
            <p:cNvSpPr txBox="1"/>
            <p:nvPr/>
          </p:nvSpPr>
          <p:spPr>
            <a:xfrm>
              <a:off x="1863" y="957"/>
              <a:ext cx="2345" cy="2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2071" name="Google Shape;2071;p36"/>
            <p:cNvSpPr txBox="1"/>
            <p:nvPr/>
          </p:nvSpPr>
          <p:spPr>
            <a:xfrm>
              <a:off x="1871" y="780"/>
              <a:ext cx="1086" cy="1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2072" name="Google Shape;2072;p36"/>
            <p:cNvCxnSpPr/>
            <p:nvPr/>
          </p:nvCxnSpPr>
          <p:spPr>
            <a:xfrm>
              <a:off x="1910" y="992"/>
              <a:ext cx="2238" cy="0"/>
            </a:xfrm>
            <a:prstGeom prst="straightConnector1">
              <a:avLst/>
            </a:prstGeom>
            <a:noFill/>
            <a:ln cap="flat" cmpd="sng" w="28575">
              <a:solidFill>
                <a:srgbClr val="000000"/>
              </a:solidFill>
              <a:prstDash val="solid"/>
              <a:round/>
              <a:headEnd len="med" w="med" type="none"/>
              <a:tailEnd len="med" w="med" type="none"/>
            </a:ln>
          </p:spPr>
        </p:cxnSp>
        <p:cxnSp>
          <p:nvCxnSpPr>
            <p:cNvPr id="2073" name="Google Shape;2073;p36"/>
            <p:cNvCxnSpPr/>
            <p:nvPr/>
          </p:nvCxnSpPr>
          <p:spPr>
            <a:xfrm>
              <a:off x="1529" y="1313"/>
              <a:ext cx="264" cy="145"/>
            </a:xfrm>
            <a:prstGeom prst="straightConnector1">
              <a:avLst/>
            </a:prstGeom>
            <a:noFill/>
            <a:ln cap="flat" cmpd="sng" w="19050">
              <a:solidFill>
                <a:srgbClr val="000000"/>
              </a:solidFill>
              <a:prstDash val="dash"/>
              <a:round/>
              <a:headEnd len="med" w="med" type="none"/>
              <a:tailEnd len="med" w="med" type="triangle"/>
            </a:ln>
          </p:spPr>
        </p:cxnSp>
        <p:sp>
          <p:nvSpPr>
            <p:cNvPr id="2074" name="Google Shape;2074;p36"/>
            <p:cNvSpPr/>
            <p:nvPr/>
          </p:nvSpPr>
          <p:spPr>
            <a:xfrm flipH="1" rot="10800000">
              <a:off x="2096" y="1272"/>
              <a:ext cx="1195" cy="130"/>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75" name="Google Shape;2075;p36"/>
            <p:cNvSpPr/>
            <p:nvPr/>
          </p:nvSpPr>
          <p:spPr>
            <a:xfrm rot="-1357180">
              <a:off x="3655" y="1225"/>
              <a:ext cx="285" cy="542"/>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76" name="Google Shape;2076;p36"/>
            <p:cNvSpPr txBox="1"/>
            <p:nvPr/>
          </p:nvSpPr>
          <p:spPr>
            <a:xfrm>
              <a:off x="3978" y="1670"/>
              <a:ext cx="1338" cy="2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0000"/>
                </a:buClr>
                <a:buSzPts val="1600"/>
                <a:buFont typeface="Arial"/>
                <a:buNone/>
              </a:pPr>
              <a:r>
                <a:rPr b="1" i="0" lang="en-US" sz="1600" u="none" cap="none" strike="noStrike">
                  <a:solidFill>
                    <a:srgbClr val="FF0000"/>
                  </a:solidFill>
                  <a:latin typeface="Arial"/>
                  <a:ea typeface="Arial"/>
                  <a:cs typeface="Arial"/>
                  <a:sym typeface="Arial"/>
                </a:rPr>
                <a:t>udt_send(sndpkt)</a:t>
              </a:r>
              <a:endParaRPr b="1" i="0" sz="1600" u="none" cap="none" strike="noStrike">
                <a:solidFill>
                  <a:srgbClr val="FF0000"/>
                </a:solidFill>
                <a:latin typeface="Times New Roman"/>
                <a:ea typeface="Times New Roman"/>
                <a:cs typeface="Times New Roman"/>
                <a:sym typeface="Times New Roman"/>
              </a:endParaRPr>
            </a:p>
          </p:txBody>
        </p:sp>
        <p:sp>
          <p:nvSpPr>
            <p:cNvPr id="2077" name="Google Shape;2077;p36"/>
            <p:cNvSpPr txBox="1"/>
            <p:nvPr/>
          </p:nvSpPr>
          <p:spPr>
            <a:xfrm>
              <a:off x="3917" y="1174"/>
              <a:ext cx="1712" cy="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1" i="0" lang="en-US" sz="1600" u="none" cap="none" strike="noStrike">
                  <a:solidFill>
                    <a:srgbClr val="FF0000"/>
                  </a:solidFill>
                  <a:latin typeface="Arial"/>
                  <a:ea typeface="Arial"/>
                  <a:cs typeface="Arial"/>
                  <a:sym typeface="Arial"/>
                </a:rPr>
                <a:t>isACK(rcvpkt,1)</a:t>
              </a:r>
              <a:r>
                <a:rPr b="0" i="0" lang="en-US" sz="1600" u="none" cap="none" strike="noStrike">
                  <a:solidFill>
                    <a:srgbClr val="000000"/>
                  </a:solidFill>
                  <a:latin typeface="Arial"/>
                  <a:ea typeface="Arial"/>
                  <a:cs typeface="Arial"/>
                  <a:sym typeface="Arial"/>
                </a:rPr>
                <a:t> )</a:t>
              </a:r>
              <a:endParaRPr b="0" i="0" sz="1600" u="none" cap="none" strike="noStrike">
                <a:solidFill>
                  <a:srgbClr val="000000"/>
                </a:solidFill>
                <a:latin typeface="Times New Roman"/>
                <a:ea typeface="Times New Roman"/>
                <a:cs typeface="Times New Roman"/>
                <a:sym typeface="Times New Roman"/>
              </a:endParaRPr>
            </a:p>
          </p:txBody>
        </p:sp>
        <p:cxnSp>
          <p:nvCxnSpPr>
            <p:cNvPr id="2078" name="Google Shape;2078;p36"/>
            <p:cNvCxnSpPr/>
            <p:nvPr/>
          </p:nvCxnSpPr>
          <p:spPr>
            <a:xfrm flipH="1" rot="10800000">
              <a:off x="4043" y="1666"/>
              <a:ext cx="895" cy="1"/>
            </a:xfrm>
            <a:prstGeom prst="straightConnector1">
              <a:avLst/>
            </a:prstGeom>
            <a:noFill/>
            <a:ln cap="flat" cmpd="sng" w="28575">
              <a:solidFill>
                <a:srgbClr val="000000"/>
              </a:solidFill>
              <a:prstDash val="solid"/>
              <a:round/>
              <a:headEnd len="med" w="med" type="none"/>
              <a:tailEnd len="med" w="med" type="none"/>
            </a:ln>
          </p:spPr>
        </p:cxnSp>
        <p:sp>
          <p:nvSpPr>
            <p:cNvPr id="2079" name="Google Shape;2079;p36"/>
            <p:cNvSpPr/>
            <p:nvPr/>
          </p:nvSpPr>
          <p:spPr>
            <a:xfrm>
              <a:off x="3747" y="1792"/>
              <a:ext cx="128" cy="774"/>
            </a:xfrm>
            <a:custGeom>
              <a:rect b="b" l="l" r="r" t="t"/>
              <a:pathLst>
                <a:path extrusionOk="0" h="774" w="128">
                  <a:moveTo>
                    <a:pt x="67" y="774"/>
                  </a:moveTo>
                  <a:cubicBezTo>
                    <a:pt x="128" y="425"/>
                    <a:pt x="81" y="0"/>
                    <a:pt x="0"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80" name="Google Shape;2080;p36"/>
            <p:cNvSpPr txBox="1"/>
            <p:nvPr/>
          </p:nvSpPr>
          <p:spPr>
            <a:xfrm>
              <a:off x="3838" y="2051"/>
              <a:ext cx="1520" cy="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a:t>
              </a:r>
              <a:r>
                <a:rPr b="1" i="0" lang="en-US" sz="1600" u="none" cap="none" strike="noStrike">
                  <a:solidFill>
                    <a:srgbClr val="FF0000"/>
                  </a:solidFill>
                  <a:latin typeface="Arial"/>
                  <a:ea typeface="Arial"/>
                  <a:cs typeface="Arial"/>
                  <a:sym typeface="Arial"/>
                </a:rPr>
                <a:t>isACK(rcvpkt,0)</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2081" name="Google Shape;2081;p36"/>
            <p:cNvCxnSpPr/>
            <p:nvPr/>
          </p:nvCxnSpPr>
          <p:spPr>
            <a:xfrm>
              <a:off x="3894" y="2570"/>
              <a:ext cx="1174" cy="0"/>
            </a:xfrm>
            <a:prstGeom prst="straightConnector1">
              <a:avLst/>
            </a:prstGeom>
            <a:noFill/>
            <a:ln cap="flat" cmpd="sng" w="28575">
              <a:solidFill>
                <a:srgbClr val="000000"/>
              </a:solidFill>
              <a:prstDash val="solid"/>
              <a:round/>
              <a:headEnd len="med" w="med" type="none"/>
              <a:tailEnd len="med" w="med" type="none"/>
            </a:ln>
          </p:spPr>
        </p:cxnSp>
        <p:grpSp>
          <p:nvGrpSpPr>
            <p:cNvPr id="2082" name="Google Shape;2082;p36"/>
            <p:cNvGrpSpPr/>
            <p:nvPr/>
          </p:nvGrpSpPr>
          <p:grpSpPr>
            <a:xfrm>
              <a:off x="3135" y="1365"/>
              <a:ext cx="669" cy="528"/>
              <a:chOff x="1441" y="2062"/>
              <a:chExt cx="669" cy="528"/>
            </a:xfrm>
          </p:grpSpPr>
          <p:sp>
            <p:nvSpPr>
              <p:cNvPr id="2083" name="Google Shape;2083;p36"/>
              <p:cNvSpPr/>
              <p:nvPr/>
            </p:nvSpPr>
            <p:spPr>
              <a:xfrm>
                <a:off x="1483" y="2062"/>
                <a:ext cx="578" cy="528"/>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084" name="Google Shape;2084;p36"/>
              <p:cNvSpPr txBox="1"/>
              <p:nvPr/>
            </p:nvSpPr>
            <p:spPr>
              <a:xfrm>
                <a:off x="1441" y="2110"/>
                <a:ext cx="66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a:t>
                </a:r>
                <a:endParaRPr b="0" i="0" sz="1400" u="none" cap="none" strike="noStrike">
                  <a:solidFill>
                    <a:srgbClr val="000000"/>
                  </a:solidFill>
                  <a:latin typeface="Times New Roman"/>
                  <a:ea typeface="Times New Roman"/>
                  <a:cs typeface="Times New Roman"/>
                  <a:sym typeface="Times New Roman"/>
                </a:endParaRPr>
              </a:p>
            </p:txBody>
          </p:sp>
        </p:grpSp>
        <p:sp>
          <p:nvSpPr>
            <p:cNvPr id="2085" name="Google Shape;2085;p36"/>
            <p:cNvSpPr txBox="1"/>
            <p:nvPr/>
          </p:nvSpPr>
          <p:spPr>
            <a:xfrm>
              <a:off x="2363" y="1810"/>
              <a:ext cx="935"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sender FSM</a:t>
              </a:r>
              <a:endParaRPr/>
            </a:p>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fragment</a:t>
              </a:r>
              <a:endParaRPr/>
            </a:p>
          </p:txBody>
        </p:sp>
      </p:grpSp>
      <p:cxnSp>
        <p:nvCxnSpPr>
          <p:cNvPr id="2086" name="Google Shape;2086;p36"/>
          <p:cNvCxnSpPr/>
          <p:nvPr/>
        </p:nvCxnSpPr>
        <p:spPr>
          <a:xfrm>
            <a:off x="1978808" y="2549197"/>
            <a:ext cx="7883525" cy="2757488"/>
          </a:xfrm>
          <a:prstGeom prst="straightConnector1">
            <a:avLst/>
          </a:prstGeom>
          <a:noFill/>
          <a:ln cap="flat" cmpd="sng" w="9525">
            <a:solidFill>
              <a:srgbClr val="000000"/>
            </a:solidFill>
            <a:prstDash val="dot"/>
            <a:round/>
            <a:headEnd len="med" w="med" type="none"/>
            <a:tailEnd len="med" w="med" type="none"/>
          </a:ln>
        </p:spPr>
      </p:cxnSp>
      <p:grpSp>
        <p:nvGrpSpPr>
          <p:cNvPr id="2087" name="Google Shape;2087;p36"/>
          <p:cNvGrpSpPr/>
          <p:nvPr/>
        </p:nvGrpSpPr>
        <p:grpSpPr>
          <a:xfrm>
            <a:off x="1313645" y="3769985"/>
            <a:ext cx="7234238" cy="2535237"/>
            <a:chOff x="0" y="2409"/>
            <a:chExt cx="4557" cy="1597"/>
          </a:xfrm>
        </p:grpSpPr>
        <p:sp>
          <p:nvSpPr>
            <p:cNvPr id="2088" name="Google Shape;2088;p36"/>
            <p:cNvSpPr txBox="1"/>
            <p:nvPr/>
          </p:nvSpPr>
          <p:spPr>
            <a:xfrm>
              <a:off x="1849" y="3217"/>
              <a:ext cx="2482" cy="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&amp;&amp; has_seq1(rcvpkt) </a:t>
              </a:r>
              <a:endParaRPr b="0" i="0" sz="1600" u="none" cap="none" strike="noStrike">
                <a:solidFill>
                  <a:srgbClr val="000000"/>
                </a:solidFill>
                <a:latin typeface="Times New Roman"/>
                <a:ea typeface="Times New Roman"/>
                <a:cs typeface="Times New Roman"/>
                <a:sym typeface="Times New Roman"/>
              </a:endParaRPr>
            </a:p>
          </p:txBody>
        </p:sp>
        <p:sp>
          <p:nvSpPr>
            <p:cNvPr id="2089" name="Google Shape;2089;p36"/>
            <p:cNvSpPr txBox="1"/>
            <p:nvPr/>
          </p:nvSpPr>
          <p:spPr>
            <a:xfrm>
              <a:off x="1829" y="3568"/>
              <a:ext cx="2630" cy="4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FF0000"/>
                </a:buClr>
                <a:buSzPts val="1600"/>
                <a:buFont typeface="Arial"/>
                <a:buNone/>
              </a:pPr>
              <a:r>
                <a:rPr b="1" i="0" lang="en-US" sz="1600" u="none" cap="none" strike="noStrike">
                  <a:solidFill>
                    <a:srgbClr val="FF0000"/>
                  </a:solidFill>
                  <a:latin typeface="Arial"/>
                  <a:ea typeface="Arial"/>
                  <a:cs typeface="Arial"/>
                  <a:sym typeface="Arial"/>
                </a:rPr>
                <a:t>sndpkt = make_pkt(ACK1, chksum)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grpSp>
          <p:nvGrpSpPr>
            <p:cNvPr id="2090" name="Google Shape;2090;p36"/>
            <p:cNvGrpSpPr/>
            <p:nvPr/>
          </p:nvGrpSpPr>
          <p:grpSpPr>
            <a:xfrm>
              <a:off x="0" y="2409"/>
              <a:ext cx="3510" cy="1168"/>
              <a:chOff x="0" y="2409"/>
              <a:chExt cx="3510" cy="1168"/>
            </a:xfrm>
          </p:grpSpPr>
          <p:grpSp>
            <p:nvGrpSpPr>
              <p:cNvPr id="2091" name="Google Shape;2091;p36"/>
              <p:cNvGrpSpPr/>
              <p:nvPr/>
            </p:nvGrpSpPr>
            <p:grpSpPr>
              <a:xfrm>
                <a:off x="1529" y="2687"/>
                <a:ext cx="534" cy="501"/>
                <a:chOff x="3570" y="3063"/>
                <a:chExt cx="534" cy="501"/>
              </a:xfrm>
            </p:grpSpPr>
            <p:sp>
              <p:nvSpPr>
                <p:cNvPr id="2092" name="Google Shape;2092;p36"/>
                <p:cNvSpPr/>
                <p:nvPr/>
              </p:nvSpPr>
              <p:spPr>
                <a:xfrm>
                  <a:off x="3570" y="3063"/>
                  <a:ext cx="534" cy="501"/>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093" name="Google Shape;2093;p36"/>
                <p:cNvSpPr txBox="1"/>
                <p:nvPr/>
              </p:nvSpPr>
              <p:spPr>
                <a:xfrm>
                  <a:off x="3597" y="3085"/>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from below</a:t>
                  </a:r>
                  <a:endParaRPr b="0" i="0" sz="1400" u="none" cap="none" strike="noStrike">
                    <a:solidFill>
                      <a:srgbClr val="000000"/>
                    </a:solidFill>
                    <a:latin typeface="Times New Roman"/>
                    <a:ea typeface="Times New Roman"/>
                    <a:cs typeface="Times New Roman"/>
                    <a:sym typeface="Times New Roman"/>
                  </a:endParaRPr>
                </a:p>
              </p:txBody>
            </p:sp>
          </p:grpSp>
          <p:sp>
            <p:nvSpPr>
              <p:cNvPr id="2094" name="Google Shape;2094;p36"/>
              <p:cNvSpPr/>
              <p:nvPr/>
            </p:nvSpPr>
            <p:spPr>
              <a:xfrm>
                <a:off x="1925" y="2618"/>
                <a:ext cx="520" cy="117"/>
              </a:xfrm>
              <a:custGeom>
                <a:rect b="b" l="l" r="r" t="t"/>
                <a:pathLst>
                  <a:path extrusionOk="0" h="117" w="520">
                    <a:moveTo>
                      <a:pt x="0" y="117"/>
                    </a:moveTo>
                    <a:cubicBezTo>
                      <a:pt x="136" y="17"/>
                      <a:pt x="276" y="0"/>
                      <a:pt x="520" y="17"/>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95" name="Google Shape;2095;p36"/>
              <p:cNvSpPr/>
              <p:nvPr/>
            </p:nvSpPr>
            <p:spPr>
              <a:xfrm>
                <a:off x="1996" y="3125"/>
                <a:ext cx="1514" cy="130"/>
              </a:xfrm>
              <a:custGeom>
                <a:rect b="b" l="l" r="r" t="t"/>
                <a:pathLst>
                  <a:path extrusionOk="0" h="130" w="1514">
                    <a:moveTo>
                      <a:pt x="0" y="0"/>
                    </a:moveTo>
                    <a:cubicBezTo>
                      <a:pt x="266" y="130"/>
                      <a:pt x="1322" y="113"/>
                      <a:pt x="1514" y="17"/>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096" name="Google Shape;2096;p36"/>
              <p:cNvCxnSpPr/>
              <p:nvPr/>
            </p:nvCxnSpPr>
            <p:spPr>
              <a:xfrm>
                <a:off x="1919" y="3577"/>
                <a:ext cx="1206" cy="0"/>
              </a:xfrm>
              <a:prstGeom prst="straightConnector1">
                <a:avLst/>
              </a:prstGeom>
              <a:noFill/>
              <a:ln cap="flat" cmpd="sng" w="28575">
                <a:solidFill>
                  <a:srgbClr val="000000"/>
                </a:solidFill>
                <a:prstDash val="solid"/>
                <a:round/>
                <a:headEnd len="med" w="med" type="none"/>
                <a:tailEnd len="med" w="med" type="none"/>
              </a:ln>
            </p:spPr>
          </p:cxnSp>
          <p:sp>
            <p:nvSpPr>
              <p:cNvPr id="2097" name="Google Shape;2097;p36"/>
              <p:cNvSpPr/>
              <p:nvPr/>
            </p:nvSpPr>
            <p:spPr>
              <a:xfrm flipH="1">
                <a:off x="1237" y="2468"/>
                <a:ext cx="309" cy="856"/>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098" name="Google Shape;2098;p36"/>
              <p:cNvCxnSpPr/>
              <p:nvPr/>
            </p:nvCxnSpPr>
            <p:spPr>
              <a:xfrm>
                <a:off x="57" y="2936"/>
                <a:ext cx="1212" cy="0"/>
              </a:xfrm>
              <a:prstGeom prst="straightConnector1">
                <a:avLst/>
              </a:prstGeom>
              <a:noFill/>
              <a:ln cap="flat" cmpd="sng" w="28575">
                <a:solidFill>
                  <a:srgbClr val="000000"/>
                </a:solidFill>
                <a:prstDash val="solid"/>
                <a:round/>
                <a:headEnd len="med" w="med" type="none"/>
                <a:tailEnd len="med" w="med" type="none"/>
              </a:ln>
            </p:spPr>
          </p:cxnSp>
          <p:sp>
            <p:nvSpPr>
              <p:cNvPr id="2099" name="Google Shape;2099;p36"/>
              <p:cNvSpPr txBox="1"/>
              <p:nvPr/>
            </p:nvSpPr>
            <p:spPr>
              <a:xfrm>
                <a:off x="6" y="2409"/>
                <a:ext cx="1487" cy="40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1" i="0" lang="en-US" sz="1600" u="none" cap="none" strike="noStrike">
                    <a:solidFill>
                      <a:srgbClr val="FF0000"/>
                    </a:solidFill>
                    <a:latin typeface="Arial"/>
                    <a:ea typeface="Arial"/>
                    <a:cs typeface="Arial"/>
                    <a:sym typeface="Arial"/>
                  </a:rPr>
                  <a:t>has_seq1(rcvpkt))</a:t>
                </a:r>
                <a:endParaRPr b="1" i="0" sz="1600" u="none" cap="none" strike="noStrike">
                  <a:solidFill>
                    <a:srgbClr val="FF0000"/>
                  </a:solidFill>
                  <a:latin typeface="Times New Roman"/>
                  <a:ea typeface="Times New Roman"/>
                  <a:cs typeface="Times New Roman"/>
                  <a:sym typeface="Times New Roman"/>
                </a:endParaRPr>
              </a:p>
            </p:txBody>
          </p:sp>
          <p:sp>
            <p:nvSpPr>
              <p:cNvPr id="2100" name="Google Shape;2100;p36"/>
              <p:cNvSpPr txBox="1"/>
              <p:nvPr/>
            </p:nvSpPr>
            <p:spPr>
              <a:xfrm>
                <a:off x="0" y="2954"/>
                <a:ext cx="1284" cy="2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0000"/>
                  </a:buClr>
                  <a:buSzPts val="1600"/>
                  <a:buFont typeface="Arial"/>
                  <a:buNone/>
                </a:pPr>
                <a:r>
                  <a:rPr b="1" i="0" lang="en-US" sz="1600" u="none" cap="none" strike="noStrike">
                    <a:solidFill>
                      <a:srgbClr val="FF0000"/>
                    </a:solidFill>
                    <a:latin typeface="Arial"/>
                    <a:ea typeface="Arial"/>
                    <a:cs typeface="Arial"/>
                    <a:sym typeface="Arial"/>
                  </a:rPr>
                  <a:t>udt_send(sndpkt)</a:t>
                </a:r>
                <a:endParaRPr b="1" i="0" sz="1600" u="none" cap="none" strike="noStrike">
                  <a:solidFill>
                    <a:srgbClr val="FF0000"/>
                  </a:solidFill>
                  <a:latin typeface="Times New Roman"/>
                  <a:ea typeface="Times New Roman"/>
                  <a:cs typeface="Times New Roman"/>
                  <a:sym typeface="Times New Roman"/>
                </a:endParaRPr>
              </a:p>
            </p:txBody>
          </p:sp>
          <p:sp>
            <p:nvSpPr>
              <p:cNvPr id="2101" name="Google Shape;2101;p36"/>
              <p:cNvSpPr txBox="1"/>
              <p:nvPr/>
            </p:nvSpPr>
            <p:spPr>
              <a:xfrm>
                <a:off x="2166" y="2709"/>
                <a:ext cx="1020"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receiver FSM</a:t>
                </a:r>
                <a:endParaRPr/>
              </a:p>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fragment</a:t>
                </a:r>
                <a:endParaRPr/>
              </a:p>
            </p:txBody>
          </p:sp>
        </p:grpSp>
        <p:sp>
          <p:nvSpPr>
            <p:cNvPr id="2102" name="Google Shape;2102;p36"/>
            <p:cNvSpPr txBox="1"/>
            <p:nvPr/>
          </p:nvSpPr>
          <p:spPr>
            <a:xfrm>
              <a:off x="4318" y="2585"/>
              <a:ext cx="23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sp>
        <p:nvSpPr>
          <p:cNvPr id="2103" name="Google Shape;2103;p3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8" name="Shape 2108"/>
        <p:cNvGrpSpPr/>
        <p:nvPr/>
      </p:nvGrpSpPr>
      <p:grpSpPr>
        <a:xfrm>
          <a:off x="0" y="0"/>
          <a:ext cx="0" cy="0"/>
          <a:chOff x="0" y="0"/>
          <a:chExt cx="0" cy="0"/>
        </a:xfrm>
      </p:grpSpPr>
      <p:sp>
        <p:nvSpPr>
          <p:cNvPr id="2109" name="Google Shape;2109;p3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rdt3.0: channels with errors </a:t>
            </a:r>
            <a:r>
              <a:rPr i="1" lang="en-US"/>
              <a:t>and</a:t>
            </a:r>
            <a:r>
              <a:rPr lang="en-US"/>
              <a:t> loss</a:t>
            </a:r>
            <a:endParaRPr sz="4000"/>
          </a:p>
        </p:txBody>
      </p:sp>
      <p:sp>
        <p:nvSpPr>
          <p:cNvPr id="2110" name="Google Shape;2110;p37"/>
          <p:cNvSpPr txBox="1"/>
          <p:nvPr/>
        </p:nvSpPr>
        <p:spPr>
          <a:xfrm>
            <a:off x="700825" y="1291107"/>
            <a:ext cx="10533232" cy="4648200"/>
          </a:xfrm>
          <a:prstGeom prst="rect">
            <a:avLst/>
          </a:prstGeom>
          <a:noFill/>
          <a:ln>
            <a:noFill/>
          </a:ln>
        </p:spPr>
        <p:txBody>
          <a:bodyPr anchorCtr="0" anchor="t" bIns="45700" lIns="91425" spcFirstLastPara="1" rIns="91425" wrap="square" tIns="45700">
            <a:normAutofit/>
          </a:bodyPr>
          <a:lstStyle/>
          <a:p>
            <a:pPr indent="-12700" lvl="0" marL="114300"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New channel assumption:</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underlying channel can also </a:t>
            </a:r>
            <a:r>
              <a:rPr b="0" i="1" lang="en-US" sz="3200" u="none" cap="none" strike="noStrike">
                <a:solidFill>
                  <a:srgbClr val="000000"/>
                </a:solidFill>
                <a:latin typeface="Calibri"/>
                <a:ea typeface="Calibri"/>
                <a:cs typeface="Calibri"/>
                <a:sym typeface="Calibri"/>
              </a:rPr>
              <a:t>lose</a:t>
            </a:r>
            <a:r>
              <a:rPr b="0" i="0" lang="en-US" sz="3200" u="none" cap="none" strike="noStrike">
                <a:solidFill>
                  <a:srgbClr val="000000"/>
                </a:solidFill>
                <a:latin typeface="Calibri"/>
                <a:ea typeface="Calibri"/>
                <a:cs typeface="Calibri"/>
                <a:sym typeface="Calibri"/>
              </a:rPr>
              <a:t> packets (data, ACKs)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sequence #s, ACKs, retransmissions will be of help … but not quite enough</a:t>
            </a:r>
            <a:endParaRPr/>
          </a:p>
        </p:txBody>
      </p:sp>
      <p:sp>
        <p:nvSpPr>
          <p:cNvPr id="2111" name="Google Shape;2111;p37"/>
          <p:cNvSpPr txBox="1"/>
          <p:nvPr/>
        </p:nvSpPr>
        <p:spPr>
          <a:xfrm>
            <a:off x="1351723" y="4023238"/>
            <a:ext cx="9435547" cy="1323439"/>
          </a:xfrm>
          <a:prstGeom prst="rect">
            <a:avLst/>
          </a:prstGeom>
          <a:noFill/>
          <a:ln>
            <a:noFill/>
          </a:ln>
        </p:spPr>
        <p:txBody>
          <a:bodyPr anchorCtr="0" anchor="t" bIns="45700" lIns="91425" spcFirstLastPara="1" rIns="91425" wrap="square" tIns="45700">
            <a:spAutoFit/>
          </a:bodyPr>
          <a:lstStyle/>
          <a:p>
            <a:pPr indent="-568325" lvl="0" marL="581025" marR="0" rtl="0" algn="ctr">
              <a:lnSpc>
                <a:spcPct val="100000"/>
              </a:lnSpc>
              <a:spcBef>
                <a:spcPts val="0"/>
              </a:spcBef>
              <a:spcAft>
                <a:spcPts val="0"/>
              </a:spcAft>
              <a:buClr>
                <a:srgbClr val="C00000"/>
              </a:buClr>
              <a:buSzPts val="4000"/>
              <a:buFont typeface="Calibri"/>
              <a:buNone/>
            </a:pPr>
            <a:r>
              <a:rPr b="0" i="1" lang="en-US" sz="4000" u="none" cap="none" strike="noStrike">
                <a:solidFill>
                  <a:srgbClr val="C00000"/>
                </a:solidFill>
                <a:latin typeface="Calibri"/>
                <a:ea typeface="Calibri"/>
                <a:cs typeface="Calibri"/>
                <a:sym typeface="Calibri"/>
              </a:rPr>
              <a:t>Q: </a:t>
            </a:r>
            <a:r>
              <a:rPr b="0" i="0" lang="en-US" sz="4000" u="none" cap="none" strike="noStrike">
                <a:solidFill>
                  <a:srgbClr val="000000"/>
                </a:solidFill>
                <a:latin typeface="Calibri"/>
                <a:ea typeface="Calibri"/>
                <a:cs typeface="Calibri"/>
                <a:sym typeface="Calibri"/>
              </a:rPr>
              <a:t>How do </a:t>
            </a:r>
            <a:r>
              <a:rPr b="0" i="1" lang="en-US" sz="4000" u="none" cap="none" strike="noStrike">
                <a:solidFill>
                  <a:srgbClr val="000000"/>
                </a:solidFill>
                <a:latin typeface="Calibri"/>
                <a:ea typeface="Calibri"/>
                <a:cs typeface="Calibri"/>
                <a:sym typeface="Calibri"/>
              </a:rPr>
              <a:t>humans</a:t>
            </a:r>
            <a:r>
              <a:rPr b="0" i="0" lang="en-US" sz="4000" u="none" cap="none" strike="noStrike">
                <a:solidFill>
                  <a:srgbClr val="000000"/>
                </a:solidFill>
                <a:latin typeface="Calibri"/>
                <a:ea typeface="Calibri"/>
                <a:cs typeface="Calibri"/>
                <a:sym typeface="Calibri"/>
              </a:rPr>
              <a:t> handle lost sender-to-receiver words in conversation?</a:t>
            </a:r>
            <a:endParaRPr/>
          </a:p>
        </p:txBody>
      </p:sp>
      <p:sp>
        <p:nvSpPr>
          <p:cNvPr id="2112" name="Google Shape;2112;p3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1"/>
                                        </p:tgtEl>
                                        <p:attrNameLst>
                                          <p:attrName>style.visibility</p:attrName>
                                        </p:attrNameLst>
                                      </p:cBhvr>
                                      <p:to>
                                        <p:strVal val="visible"/>
                                      </p:to>
                                    </p:set>
                                    <p:animEffect filter="fade" transition="in">
                                      <p:cBhvr>
                                        <p:cTn dur="500"/>
                                        <p:tgtEl>
                                          <p:spTgt spid="21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7" name="Shape 2117"/>
        <p:cNvGrpSpPr/>
        <p:nvPr/>
      </p:nvGrpSpPr>
      <p:grpSpPr>
        <a:xfrm>
          <a:off x="0" y="0"/>
          <a:ext cx="0" cy="0"/>
          <a:chOff x="0" y="0"/>
          <a:chExt cx="0" cy="0"/>
        </a:xfrm>
      </p:grpSpPr>
      <p:sp>
        <p:nvSpPr>
          <p:cNvPr id="2118" name="Google Shape;2118;p3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rdt3.0: channels with errors </a:t>
            </a:r>
            <a:r>
              <a:rPr i="1" lang="en-US"/>
              <a:t>and</a:t>
            </a:r>
            <a:r>
              <a:rPr lang="en-US"/>
              <a:t> loss</a:t>
            </a:r>
            <a:endParaRPr sz="4000"/>
          </a:p>
        </p:txBody>
      </p:sp>
      <p:sp>
        <p:nvSpPr>
          <p:cNvPr id="2119" name="Google Shape;2119;p38"/>
          <p:cNvSpPr txBox="1"/>
          <p:nvPr/>
        </p:nvSpPr>
        <p:spPr>
          <a:xfrm>
            <a:off x="751114" y="1355502"/>
            <a:ext cx="10924659" cy="5074708"/>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Approach:</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sender waits “reasonable” amount of time for ACK </a:t>
            </a:r>
            <a:endParaRPr/>
          </a:p>
          <a:p>
            <a:pPr indent="-341313" lvl="0" marL="406400" marR="0" rtl="0" algn="l">
              <a:lnSpc>
                <a:spcPct val="80000"/>
              </a:lnSpc>
              <a:spcBef>
                <a:spcPts val="12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retransmits if no ACK received in this time</a:t>
            </a:r>
            <a:endParaRPr/>
          </a:p>
          <a:p>
            <a:pPr indent="-341313" lvl="0" marL="406400" marR="0" rtl="0" algn="l">
              <a:lnSpc>
                <a:spcPct val="70000"/>
              </a:lnSpc>
              <a:spcBef>
                <a:spcPts val="12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if pkt (or ACK) just delayed (not lost):</a:t>
            </a:r>
            <a:endParaRPr/>
          </a:p>
          <a:p>
            <a:pPr indent="-374650" lvl="2" marL="747713" marR="0" rtl="0" algn="l">
              <a:lnSpc>
                <a:spcPct val="90000"/>
              </a:lnSpc>
              <a:spcBef>
                <a:spcPts val="12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retransmission will be  duplicate, but seq #s already handles this!</a:t>
            </a:r>
            <a:endParaRPr/>
          </a:p>
          <a:p>
            <a:pPr indent="-374650" lvl="2" marL="747713" marR="0" rtl="0" algn="l">
              <a:lnSpc>
                <a:spcPct val="90000"/>
              </a:lnSpc>
              <a:spcBef>
                <a:spcPts val="12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receiver must specify seq # of packet being ACKed</a:t>
            </a:r>
            <a:endParaRPr/>
          </a:p>
        </p:txBody>
      </p:sp>
      <p:grpSp>
        <p:nvGrpSpPr>
          <p:cNvPr id="2120" name="Google Shape;2120;p38"/>
          <p:cNvGrpSpPr/>
          <p:nvPr/>
        </p:nvGrpSpPr>
        <p:grpSpPr>
          <a:xfrm>
            <a:off x="3852654" y="4876800"/>
            <a:ext cx="3484723" cy="1905000"/>
            <a:chOff x="3667124" y="4359729"/>
            <a:chExt cx="3484723" cy="1905000"/>
          </a:xfrm>
        </p:grpSpPr>
        <p:pic>
          <p:nvPicPr>
            <p:cNvPr descr="Image result for red alarm clock" id="2121" name="Google Shape;2121;p38"/>
            <p:cNvPicPr preferRelativeResize="0"/>
            <p:nvPr/>
          </p:nvPicPr>
          <p:blipFill rotWithShape="1">
            <a:blip r:embed="rId3">
              <a:alphaModFix/>
            </a:blip>
            <a:srcRect b="0" l="0" r="0" t="0"/>
            <a:stretch/>
          </p:blipFill>
          <p:spPr>
            <a:xfrm>
              <a:off x="3667124" y="4359729"/>
              <a:ext cx="3381375" cy="1905000"/>
            </a:xfrm>
            <a:prstGeom prst="rect">
              <a:avLst/>
            </a:prstGeom>
            <a:noFill/>
            <a:ln>
              <a:noFill/>
            </a:ln>
          </p:spPr>
        </p:pic>
        <p:sp>
          <p:nvSpPr>
            <p:cNvPr id="2122" name="Google Shape;2122;p38"/>
            <p:cNvSpPr txBox="1"/>
            <p:nvPr/>
          </p:nvSpPr>
          <p:spPr>
            <a:xfrm>
              <a:off x="5932303" y="4757575"/>
              <a:ext cx="1219544" cy="370396"/>
            </a:xfrm>
            <a:prstGeom prst="rect">
              <a:avLst/>
            </a:prstGeom>
            <a:noFill/>
            <a:ln>
              <a:noFill/>
            </a:ln>
          </p:spPr>
          <p:txBody>
            <a:bodyPr anchorCtr="0" anchor="t" bIns="45700" lIns="91425" spcFirstLastPara="1" rIns="91425" wrap="square" tIns="45700">
              <a:spAutoFit/>
            </a:bodyPr>
            <a:lstStyle/>
            <a:p>
              <a:pPr indent="0" lvl="0" marL="0" marR="0" rtl="0" algn="l">
                <a:lnSpc>
                  <a:spcPct val="75000"/>
                </a:lnSpc>
                <a:spcBef>
                  <a:spcPts val="0"/>
                </a:spcBef>
                <a:spcAft>
                  <a:spcPts val="0"/>
                </a:spcAft>
                <a:buClr>
                  <a:srgbClr val="C00000"/>
                </a:buClr>
                <a:buSzPts val="2400"/>
                <a:buFont typeface="Tahoma"/>
                <a:buNone/>
              </a:pPr>
              <a:r>
                <a:rPr b="0" i="1" lang="en-US" sz="2400" u="none" cap="none" strike="noStrike">
                  <a:solidFill>
                    <a:srgbClr val="C00000"/>
                  </a:solidFill>
                  <a:latin typeface="Tahoma"/>
                  <a:ea typeface="Tahoma"/>
                  <a:cs typeface="Tahoma"/>
                  <a:sym typeface="Tahoma"/>
                </a:rPr>
                <a:t>timeout</a:t>
              </a:r>
              <a:endParaRPr/>
            </a:p>
          </p:txBody>
        </p:sp>
      </p:grpSp>
      <p:sp>
        <p:nvSpPr>
          <p:cNvPr id="2123" name="Google Shape;2123;p38"/>
          <p:cNvSpPr txBox="1"/>
          <p:nvPr/>
        </p:nvSpPr>
        <p:spPr>
          <a:xfrm>
            <a:off x="808619" y="4059181"/>
            <a:ext cx="10924659" cy="1016402"/>
          </a:xfrm>
          <a:prstGeom prst="rect">
            <a:avLst/>
          </a:prstGeom>
          <a:noFill/>
          <a:ln>
            <a:noFill/>
          </a:ln>
        </p:spPr>
        <p:txBody>
          <a:bodyPr anchorCtr="0" anchor="t" bIns="45700" lIns="91425" spcFirstLastPara="1" rIns="91425" wrap="square" tIns="45700">
            <a:normAutofit lnSpcReduction="10000"/>
          </a:bodyPr>
          <a:lstStyle/>
          <a:p>
            <a:pPr indent="-341313" lvl="0" marL="406400"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use countdown timer to interrupt after “reasonable” amount of time</a:t>
            </a:r>
            <a:endParaRPr/>
          </a:p>
        </p:txBody>
      </p:sp>
      <p:sp>
        <p:nvSpPr>
          <p:cNvPr id="2124" name="Google Shape;2124;p3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3"/>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2123">
                                            <p:txEl>
                                              <p:pRg end="0" st="0"/>
                                            </p:txEl>
                                          </p:spTgt>
                                        </p:tgtEl>
                                        <p:attrNameLst>
                                          <p:attrName>style.visibility</p:attrName>
                                        </p:attrNameLst>
                                      </p:cBhvr>
                                      <p:to>
                                        <p:strVal val="visible"/>
                                      </p:to>
                                    </p:set>
                                    <p:animEffect filter="fade" transition="in">
                                      <p:cBhvr>
                                        <p:cTn dur="500"/>
                                        <p:tgtEl>
                                          <p:spTgt spid="212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120"/>
                                        </p:tgtEl>
                                        <p:attrNameLst>
                                          <p:attrName>style.visibility</p:attrName>
                                        </p:attrNameLst>
                                      </p:cBhvr>
                                      <p:to>
                                        <p:strVal val="visible"/>
                                      </p:to>
                                    </p:set>
                                    <p:animEffect filter="fade" transition="in">
                                      <p:cBhvr>
                                        <p:cTn dur="500"/>
                                        <p:tgtEl>
                                          <p:spTgt spid="21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9" name="Shape 2129"/>
        <p:cNvGrpSpPr/>
        <p:nvPr/>
      </p:nvGrpSpPr>
      <p:grpSpPr>
        <a:xfrm>
          <a:off x="0" y="0"/>
          <a:ext cx="0" cy="0"/>
          <a:chOff x="0" y="0"/>
          <a:chExt cx="0" cy="0"/>
        </a:xfrm>
      </p:grpSpPr>
      <p:sp>
        <p:nvSpPr>
          <p:cNvPr id="2130" name="Google Shape;2130;p39"/>
          <p:cNvSpPr/>
          <p:nvPr/>
        </p:nvSpPr>
        <p:spPr>
          <a:xfrm>
            <a:off x="2666162" y="3735852"/>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31" name="Google Shape;2131;p39"/>
          <p:cNvSpPr/>
          <p:nvPr/>
        </p:nvSpPr>
        <p:spPr>
          <a:xfrm>
            <a:off x="5108911" y="5798809"/>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32" name="Google Shape;2132;p39"/>
          <p:cNvSpPr/>
          <p:nvPr/>
        </p:nvSpPr>
        <p:spPr>
          <a:xfrm>
            <a:off x="8105934" y="3949220"/>
            <a:ext cx="944562"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33" name="Google Shape;2133;p39"/>
          <p:cNvSpPr/>
          <p:nvPr/>
        </p:nvSpPr>
        <p:spPr>
          <a:xfrm>
            <a:off x="4772033" y="1955144"/>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34" name="Google Shape;2134;p3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sender</a:t>
            </a:r>
            <a:endParaRPr sz="4400"/>
          </a:p>
        </p:txBody>
      </p:sp>
      <p:cxnSp>
        <p:nvCxnSpPr>
          <p:cNvPr id="2135" name="Google Shape;2135;p39"/>
          <p:cNvCxnSpPr/>
          <p:nvPr/>
        </p:nvCxnSpPr>
        <p:spPr>
          <a:xfrm>
            <a:off x="4488198" y="1637972"/>
            <a:ext cx="157163" cy="576262"/>
          </a:xfrm>
          <a:prstGeom prst="straightConnector1">
            <a:avLst/>
          </a:prstGeom>
          <a:noFill/>
          <a:ln cap="flat" cmpd="sng" w="28575">
            <a:solidFill>
              <a:srgbClr val="000000"/>
            </a:solidFill>
            <a:prstDash val="dash"/>
            <a:round/>
            <a:headEnd len="med" w="med" type="none"/>
            <a:tailEnd len="med" w="med" type="triangle"/>
          </a:ln>
        </p:spPr>
      </p:cxnSp>
      <p:grpSp>
        <p:nvGrpSpPr>
          <p:cNvPr id="2136" name="Google Shape;2136;p39"/>
          <p:cNvGrpSpPr/>
          <p:nvPr/>
        </p:nvGrpSpPr>
        <p:grpSpPr>
          <a:xfrm>
            <a:off x="7099636" y="2184072"/>
            <a:ext cx="889000" cy="865187"/>
            <a:chOff x="445" y="1273"/>
            <a:chExt cx="560" cy="545"/>
          </a:xfrm>
        </p:grpSpPr>
        <p:sp>
          <p:nvSpPr>
            <p:cNvPr id="2137" name="Google Shape;2137;p39"/>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138" name="Google Shape;2138;p39"/>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ACK0</a:t>
              </a:r>
              <a:endParaRPr b="0" i="0" sz="1400" u="none" cap="none" strike="noStrike">
                <a:solidFill>
                  <a:srgbClr val="000000"/>
                </a:solidFill>
                <a:latin typeface="Times New Roman"/>
                <a:ea typeface="Times New Roman"/>
                <a:cs typeface="Times New Roman"/>
                <a:sym typeface="Times New Roman"/>
              </a:endParaRPr>
            </a:p>
          </p:txBody>
        </p:sp>
      </p:grpSp>
      <p:grpSp>
        <p:nvGrpSpPr>
          <p:cNvPr id="2139" name="Google Shape;2139;p39"/>
          <p:cNvGrpSpPr/>
          <p:nvPr/>
        </p:nvGrpSpPr>
        <p:grpSpPr>
          <a:xfrm>
            <a:off x="4758073" y="1183947"/>
            <a:ext cx="3860800" cy="1144587"/>
            <a:chOff x="4758073" y="1183947"/>
            <a:chExt cx="3860800" cy="1144587"/>
          </a:xfrm>
        </p:grpSpPr>
        <p:sp>
          <p:nvSpPr>
            <p:cNvPr id="2140" name="Google Shape;2140;p39"/>
            <p:cNvSpPr txBox="1"/>
            <p:nvPr/>
          </p:nvSpPr>
          <p:spPr>
            <a:xfrm>
              <a:off x="4758073" y="1477634"/>
              <a:ext cx="3860800" cy="5619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2141" name="Google Shape;2141;p39"/>
            <p:cNvSpPr txBox="1"/>
            <p:nvPr/>
          </p:nvSpPr>
          <p:spPr>
            <a:xfrm>
              <a:off x="4799348" y="1183947"/>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2142" name="Google Shape;2142;p39"/>
            <p:cNvCxnSpPr/>
            <p:nvPr/>
          </p:nvCxnSpPr>
          <p:spPr>
            <a:xfrm>
              <a:off x="4900948" y="1522084"/>
              <a:ext cx="990600" cy="0"/>
            </a:xfrm>
            <a:prstGeom prst="straightConnector1">
              <a:avLst/>
            </a:prstGeom>
            <a:noFill/>
            <a:ln cap="flat" cmpd="sng" w="28575">
              <a:solidFill>
                <a:srgbClr val="000000"/>
              </a:solidFill>
              <a:prstDash val="solid"/>
              <a:round/>
              <a:headEnd len="med" w="med" type="none"/>
              <a:tailEnd len="med" w="med" type="none"/>
            </a:ln>
          </p:spPr>
        </p:cxnSp>
        <p:sp>
          <p:nvSpPr>
            <p:cNvPr id="2143" name="Google Shape;2143;p39"/>
            <p:cNvSpPr/>
            <p:nvPr/>
          </p:nvSpPr>
          <p:spPr>
            <a:xfrm flipH="1" rot="10800000">
              <a:off x="5123198" y="2165022"/>
              <a:ext cx="2090738" cy="16351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144" name="Google Shape;2144;p39"/>
          <p:cNvGrpSpPr/>
          <p:nvPr/>
        </p:nvGrpSpPr>
        <p:grpSpPr>
          <a:xfrm>
            <a:off x="7191711" y="4098597"/>
            <a:ext cx="1189037" cy="850900"/>
            <a:chOff x="4090" y="3230"/>
            <a:chExt cx="749" cy="536"/>
          </a:xfrm>
        </p:grpSpPr>
        <p:sp>
          <p:nvSpPr>
            <p:cNvPr id="2145" name="Google Shape;2145;p39"/>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146" name="Google Shape;2146;p39"/>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2147" name="Google Shape;2147;p39"/>
          <p:cNvGrpSpPr/>
          <p:nvPr/>
        </p:nvGrpSpPr>
        <p:grpSpPr>
          <a:xfrm>
            <a:off x="5054936" y="4832022"/>
            <a:ext cx="3444875" cy="1038225"/>
            <a:chOff x="5054936" y="4832022"/>
            <a:chExt cx="3444875" cy="1038225"/>
          </a:xfrm>
        </p:grpSpPr>
        <p:sp>
          <p:nvSpPr>
            <p:cNvPr id="2148" name="Google Shape;2148;p39"/>
            <p:cNvSpPr/>
            <p:nvPr/>
          </p:nvSpPr>
          <p:spPr>
            <a:xfrm>
              <a:off x="5108911" y="4832022"/>
              <a:ext cx="2312987" cy="27463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49" name="Google Shape;2149;p39"/>
            <p:cNvSpPr txBox="1"/>
            <p:nvPr/>
          </p:nvSpPr>
          <p:spPr>
            <a:xfrm>
              <a:off x="5054936" y="5317797"/>
              <a:ext cx="3444875" cy="552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2150" name="Google Shape;2150;p39"/>
            <p:cNvSpPr txBox="1"/>
            <p:nvPr/>
          </p:nvSpPr>
          <p:spPr>
            <a:xfrm>
              <a:off x="5054936" y="5035222"/>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2151" name="Google Shape;2151;p39"/>
            <p:cNvCxnSpPr/>
            <p:nvPr/>
          </p:nvCxnSpPr>
          <p:spPr>
            <a:xfrm>
              <a:off x="5173998" y="5346372"/>
              <a:ext cx="2598738" cy="0"/>
            </a:xfrm>
            <a:prstGeom prst="straightConnector1">
              <a:avLst/>
            </a:prstGeom>
            <a:noFill/>
            <a:ln cap="flat" cmpd="sng" w="28575">
              <a:solidFill>
                <a:srgbClr val="000000"/>
              </a:solidFill>
              <a:prstDash val="solid"/>
              <a:round/>
              <a:headEnd len="med" w="med" type="none"/>
              <a:tailEnd len="med" w="med" type="none"/>
            </a:ln>
          </p:spPr>
        </p:cxnSp>
      </p:grpSp>
      <p:grpSp>
        <p:nvGrpSpPr>
          <p:cNvPr id="2152" name="Google Shape;2152;p39"/>
          <p:cNvGrpSpPr/>
          <p:nvPr/>
        </p:nvGrpSpPr>
        <p:grpSpPr>
          <a:xfrm>
            <a:off x="7858461" y="2912734"/>
            <a:ext cx="2309812" cy="1184275"/>
            <a:chOff x="7858461" y="2912734"/>
            <a:chExt cx="2309812" cy="1184275"/>
          </a:xfrm>
        </p:grpSpPr>
        <p:sp>
          <p:nvSpPr>
            <p:cNvPr id="2153" name="Google Shape;2153;p39"/>
            <p:cNvSpPr/>
            <p:nvPr/>
          </p:nvSpPr>
          <p:spPr>
            <a:xfrm rot="-5400000">
              <a:off x="7349667" y="3421528"/>
              <a:ext cx="1184275" cy="16668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54" name="Google Shape;2154;p39"/>
            <p:cNvSpPr txBox="1"/>
            <p:nvPr/>
          </p:nvSpPr>
          <p:spPr>
            <a:xfrm>
              <a:off x="8018798" y="3200072"/>
              <a:ext cx="214947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isACK(rcvpkt,0)</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2155" name="Google Shape;2155;p39"/>
            <p:cNvCxnSpPr/>
            <p:nvPr/>
          </p:nvCxnSpPr>
          <p:spPr>
            <a:xfrm>
              <a:off x="8134686" y="3911272"/>
              <a:ext cx="1419225" cy="0"/>
            </a:xfrm>
            <a:prstGeom prst="straightConnector1">
              <a:avLst/>
            </a:prstGeom>
            <a:noFill/>
            <a:ln cap="flat" cmpd="sng" w="28575">
              <a:solidFill>
                <a:srgbClr val="000000"/>
              </a:solidFill>
              <a:prstDash val="solid"/>
              <a:round/>
              <a:headEnd len="med" w="med" type="none"/>
              <a:tailEnd len="med" w="med" type="none"/>
            </a:ln>
          </p:spPr>
        </p:cxnSp>
        <p:sp>
          <p:nvSpPr>
            <p:cNvPr id="2156" name="Google Shape;2156;p39"/>
            <p:cNvSpPr txBox="1"/>
            <p:nvPr/>
          </p:nvSpPr>
          <p:spPr>
            <a:xfrm>
              <a:off x="8039436" y="3892222"/>
              <a:ext cx="1514475" cy="1793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2157" name="Google Shape;2157;p39"/>
          <p:cNvGrpSpPr/>
          <p:nvPr/>
        </p:nvGrpSpPr>
        <p:grpSpPr>
          <a:xfrm>
            <a:off x="2638761" y="2958772"/>
            <a:ext cx="1933239" cy="1239836"/>
            <a:chOff x="2638761" y="2958772"/>
            <a:chExt cx="1933239" cy="1239836"/>
          </a:xfrm>
        </p:grpSpPr>
        <p:sp>
          <p:nvSpPr>
            <p:cNvPr id="2158" name="Google Shape;2158;p39"/>
            <p:cNvSpPr/>
            <p:nvPr/>
          </p:nvSpPr>
          <p:spPr>
            <a:xfrm flipH="1" rot="5400000">
              <a:off x="3932569" y="3559178"/>
              <a:ext cx="1137909" cy="14095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59" name="Google Shape;2159;p39"/>
            <p:cNvSpPr txBox="1"/>
            <p:nvPr/>
          </p:nvSpPr>
          <p:spPr>
            <a:xfrm>
              <a:off x="2646698" y="2958772"/>
              <a:ext cx="1912938"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isACK(rcvpkt,1)</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2160" name="Google Shape;2160;p39"/>
            <p:cNvCxnSpPr/>
            <p:nvPr/>
          </p:nvCxnSpPr>
          <p:spPr>
            <a:xfrm>
              <a:off x="2773698" y="3698547"/>
              <a:ext cx="1517650" cy="0"/>
            </a:xfrm>
            <a:prstGeom prst="straightConnector1">
              <a:avLst/>
            </a:prstGeom>
            <a:noFill/>
            <a:ln cap="flat" cmpd="sng" w="28575">
              <a:solidFill>
                <a:srgbClr val="000000"/>
              </a:solidFill>
              <a:prstDash val="solid"/>
              <a:round/>
              <a:headEnd len="med" w="med" type="none"/>
              <a:tailEnd len="med" w="med" type="none"/>
            </a:ln>
          </p:spPr>
        </p:cxnSp>
        <p:sp>
          <p:nvSpPr>
            <p:cNvPr id="2161" name="Google Shape;2161;p39"/>
            <p:cNvSpPr txBox="1"/>
            <p:nvPr/>
          </p:nvSpPr>
          <p:spPr>
            <a:xfrm>
              <a:off x="2638761" y="3671559"/>
              <a:ext cx="1514475"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2162" name="Google Shape;2162;p39"/>
          <p:cNvGrpSpPr/>
          <p:nvPr/>
        </p:nvGrpSpPr>
        <p:grpSpPr>
          <a:xfrm>
            <a:off x="4157998" y="2228522"/>
            <a:ext cx="1189038" cy="850900"/>
            <a:chOff x="4090" y="3230"/>
            <a:chExt cx="749" cy="536"/>
          </a:xfrm>
        </p:grpSpPr>
        <p:sp>
          <p:nvSpPr>
            <p:cNvPr id="2163" name="Google Shape;2163;p39"/>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164" name="Google Shape;2164;p39"/>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0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2165" name="Google Shape;2165;p39"/>
          <p:cNvGrpSpPr/>
          <p:nvPr/>
        </p:nvGrpSpPr>
        <p:grpSpPr>
          <a:xfrm>
            <a:off x="4369136" y="4082722"/>
            <a:ext cx="889000" cy="865187"/>
            <a:chOff x="445" y="1273"/>
            <a:chExt cx="560" cy="545"/>
          </a:xfrm>
        </p:grpSpPr>
        <p:sp>
          <p:nvSpPr>
            <p:cNvPr id="2166" name="Google Shape;2166;p39"/>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167" name="Google Shape;2167;p39"/>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ACK1</a:t>
              </a:r>
              <a:endParaRPr b="0" i="0" sz="1400" u="none" cap="none" strike="noStrike">
                <a:solidFill>
                  <a:srgbClr val="000000"/>
                </a:solidFill>
                <a:latin typeface="Times New Roman"/>
                <a:ea typeface="Times New Roman"/>
                <a:cs typeface="Times New Roman"/>
                <a:sym typeface="Times New Roman"/>
              </a:endParaRPr>
            </a:p>
          </p:txBody>
        </p:sp>
      </p:grpSp>
      <p:sp>
        <p:nvSpPr>
          <p:cNvPr id="2168" name="Google Shape;2168;p39"/>
          <p:cNvSpPr/>
          <p:nvPr/>
        </p:nvSpPr>
        <p:spPr>
          <a:xfrm>
            <a:off x="3771900" y="1861459"/>
            <a:ext cx="4800600" cy="1534886"/>
          </a:xfrm>
          <a:prstGeom prst="ellipse">
            <a:avLst/>
          </a:prstGeom>
          <a:noFill/>
          <a:ln cap="flat" cmpd="sng" w="412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69" name="Google Shape;2169;p39"/>
          <p:cNvSpPr/>
          <p:nvPr/>
        </p:nvSpPr>
        <p:spPr>
          <a:xfrm>
            <a:off x="3858986" y="3777345"/>
            <a:ext cx="4800600" cy="1534886"/>
          </a:xfrm>
          <a:prstGeom prst="ellipse">
            <a:avLst/>
          </a:prstGeom>
          <a:noFill/>
          <a:ln cap="flat" cmpd="sng" w="412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70" name="Google Shape;2170;p39"/>
          <p:cNvSpPr/>
          <p:nvPr/>
        </p:nvSpPr>
        <p:spPr>
          <a:xfrm>
            <a:off x="4254500" y="2216171"/>
            <a:ext cx="952500" cy="871123"/>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71" name="Google Shape;2171;p39"/>
          <p:cNvSpPr/>
          <p:nvPr/>
        </p:nvSpPr>
        <p:spPr>
          <a:xfrm>
            <a:off x="7086600" y="2184400"/>
            <a:ext cx="914400" cy="867848"/>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72" name="Google Shape;2172;p39"/>
          <p:cNvSpPr/>
          <p:nvPr/>
        </p:nvSpPr>
        <p:spPr>
          <a:xfrm>
            <a:off x="7302500" y="4102100"/>
            <a:ext cx="936658" cy="8509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73" name="Google Shape;2173;p39"/>
          <p:cNvSpPr/>
          <p:nvPr/>
        </p:nvSpPr>
        <p:spPr>
          <a:xfrm>
            <a:off x="4356100" y="4070372"/>
            <a:ext cx="914400" cy="8763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74" name="Google Shape;2174;p39"/>
          <p:cNvSpPr/>
          <p:nvPr/>
        </p:nvSpPr>
        <p:spPr>
          <a:xfrm>
            <a:off x="4251325" y="2212996"/>
            <a:ext cx="952500" cy="871123"/>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75" name="Google Shape;2175;p3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8"/>
                                        </p:tgtEl>
                                        <p:attrNameLst>
                                          <p:attrName>style.visibility</p:attrName>
                                        </p:attrNameLst>
                                      </p:cBhvr>
                                      <p:to>
                                        <p:strVal val="visible"/>
                                      </p:to>
                                    </p:set>
                                    <p:animEffect filter="fade" transition="in">
                                      <p:cBhvr>
                                        <p:cTn dur="500"/>
                                        <p:tgtEl>
                                          <p:spTgt spid="21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168"/>
                                        </p:tgtEl>
                                      </p:cBhvr>
                                    </p:animEffect>
                                    <p:set>
                                      <p:cBhvr>
                                        <p:cTn dur="1" fill="hold">
                                          <p:stCondLst>
                                            <p:cond delay="500"/>
                                          </p:stCondLst>
                                        </p:cTn>
                                        <p:tgtEl>
                                          <p:spTgt spid="216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169"/>
                                        </p:tgtEl>
                                        <p:attrNameLst>
                                          <p:attrName>style.visibility</p:attrName>
                                        </p:attrNameLst>
                                      </p:cBhvr>
                                      <p:to>
                                        <p:strVal val="visible"/>
                                      </p:to>
                                    </p:set>
                                    <p:animEffect filter="fade" transition="in">
                                      <p:cBhvr>
                                        <p:cTn dur="500"/>
                                        <p:tgtEl>
                                          <p:spTgt spid="2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0"/>
                                        </p:tgtEl>
                                        <p:attrNameLst>
                                          <p:attrName>style.visibility</p:attrName>
                                        </p:attrNameLst>
                                      </p:cBhvr>
                                      <p:to>
                                        <p:strVal val="visible"/>
                                      </p:to>
                                    </p:set>
                                    <p:animEffect filter="fade" transition="in">
                                      <p:cBhvr>
                                        <p:cTn dur="500"/>
                                        <p:tgtEl>
                                          <p:spTgt spid="2170"/>
                                        </p:tgtEl>
                                      </p:cBhvr>
                                    </p:animEffect>
                                  </p:childTnLst>
                                </p:cTn>
                              </p:par>
                              <p:par>
                                <p:cTn fill="hold" nodeType="withEffect" presetClass="exit" presetID="10" presetSubtype="0">
                                  <p:stCondLst>
                                    <p:cond delay="0"/>
                                  </p:stCondLst>
                                  <p:childTnLst>
                                    <p:animEffect filter="fade" transition="out">
                                      <p:cBhvr>
                                        <p:cTn dur="500"/>
                                        <p:tgtEl>
                                          <p:spTgt spid="2169"/>
                                        </p:tgtEl>
                                      </p:cBhvr>
                                    </p:animEffect>
                                    <p:set>
                                      <p:cBhvr>
                                        <p:cTn dur="1" fill="hold">
                                          <p:stCondLst>
                                            <p:cond delay="500"/>
                                          </p:stCondLst>
                                        </p:cTn>
                                        <p:tgtEl>
                                          <p:spTgt spid="216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9"/>
                                        </p:tgtEl>
                                        <p:attrNameLst>
                                          <p:attrName>style.visibility</p:attrName>
                                        </p:attrNameLst>
                                      </p:cBhvr>
                                      <p:to>
                                        <p:strVal val="visible"/>
                                      </p:to>
                                    </p:set>
                                    <p:animEffect filter="fade" transition="in">
                                      <p:cBhvr>
                                        <p:cTn dur="500"/>
                                        <p:tgtEl>
                                          <p:spTgt spid="2139"/>
                                        </p:tgtEl>
                                      </p:cBhvr>
                                    </p:animEffect>
                                  </p:childTnLst>
                                </p:cTn>
                              </p:par>
                              <p:par>
                                <p:cTn fill="hold" nodeType="withEffect" presetClass="exit" presetID="10" presetSubtype="0">
                                  <p:stCondLst>
                                    <p:cond delay="0"/>
                                  </p:stCondLst>
                                  <p:childTnLst>
                                    <p:animEffect filter="fade" transition="out">
                                      <p:cBhvr>
                                        <p:cTn dur="500"/>
                                        <p:tgtEl>
                                          <p:spTgt spid="2170"/>
                                        </p:tgtEl>
                                      </p:cBhvr>
                                    </p:animEffect>
                                    <p:set>
                                      <p:cBhvr>
                                        <p:cTn dur="1" fill="hold">
                                          <p:stCondLst>
                                            <p:cond delay="500"/>
                                          </p:stCondLst>
                                        </p:cTn>
                                        <p:tgtEl>
                                          <p:spTgt spid="217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133"/>
                                        </p:tgtEl>
                                        <p:attrNameLst>
                                          <p:attrName>style.visibility</p:attrName>
                                        </p:attrNameLst>
                                      </p:cBhvr>
                                      <p:to>
                                        <p:strVal val="visible"/>
                                      </p:to>
                                    </p:set>
                                    <p:animEffect filter="fade" transition="in">
                                      <p:cBhvr>
                                        <p:cTn dur="500"/>
                                        <p:tgtEl>
                                          <p:spTgt spid="213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71"/>
                                        </p:tgtEl>
                                        <p:attrNameLst>
                                          <p:attrName>style.visibility</p:attrName>
                                        </p:attrNameLst>
                                      </p:cBhvr>
                                      <p:to>
                                        <p:strVal val="visible"/>
                                      </p:to>
                                    </p:set>
                                    <p:animEffect filter="fade" transition="in">
                                      <p:cBhvr>
                                        <p:cTn dur="500"/>
                                        <p:tgtEl>
                                          <p:spTgt spid="2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2"/>
                                        </p:tgtEl>
                                        <p:attrNameLst>
                                          <p:attrName>style.visibility</p:attrName>
                                        </p:attrNameLst>
                                      </p:cBhvr>
                                      <p:to>
                                        <p:strVal val="visible"/>
                                      </p:to>
                                    </p:set>
                                    <p:animEffect filter="fade" transition="in">
                                      <p:cBhvr>
                                        <p:cTn dur="500"/>
                                        <p:tgtEl>
                                          <p:spTgt spid="2152"/>
                                        </p:tgtEl>
                                      </p:cBhvr>
                                    </p:animEffect>
                                  </p:childTnLst>
                                </p:cTn>
                              </p:par>
                              <p:par>
                                <p:cTn fill="hold" nodeType="withEffect" presetClass="exit" presetID="10" presetSubtype="0">
                                  <p:stCondLst>
                                    <p:cond delay="0"/>
                                  </p:stCondLst>
                                  <p:childTnLst>
                                    <p:animEffect filter="fade" transition="out">
                                      <p:cBhvr>
                                        <p:cTn dur="500"/>
                                        <p:tgtEl>
                                          <p:spTgt spid="2171"/>
                                        </p:tgtEl>
                                      </p:cBhvr>
                                    </p:animEffect>
                                    <p:set>
                                      <p:cBhvr>
                                        <p:cTn dur="1" fill="hold">
                                          <p:stCondLst>
                                            <p:cond delay="500"/>
                                          </p:stCondLst>
                                        </p:cTn>
                                        <p:tgtEl>
                                          <p:spTgt spid="217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132"/>
                                        </p:tgtEl>
                                        <p:attrNameLst>
                                          <p:attrName>style.visibility</p:attrName>
                                        </p:attrNameLst>
                                      </p:cBhvr>
                                      <p:to>
                                        <p:strVal val="visible"/>
                                      </p:to>
                                    </p:set>
                                    <p:animEffect filter="fade" transition="in">
                                      <p:cBhvr>
                                        <p:cTn dur="500"/>
                                        <p:tgtEl>
                                          <p:spTgt spid="213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72"/>
                                        </p:tgtEl>
                                        <p:attrNameLst>
                                          <p:attrName>style.visibility</p:attrName>
                                        </p:attrNameLst>
                                      </p:cBhvr>
                                      <p:to>
                                        <p:strVal val="visible"/>
                                      </p:to>
                                    </p:set>
                                    <p:animEffect filter="fade" transition="in">
                                      <p:cBhvr>
                                        <p:cTn dur="500"/>
                                        <p:tgtEl>
                                          <p:spTgt spid="21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7"/>
                                        </p:tgtEl>
                                        <p:attrNameLst>
                                          <p:attrName>style.visibility</p:attrName>
                                        </p:attrNameLst>
                                      </p:cBhvr>
                                      <p:to>
                                        <p:strVal val="visible"/>
                                      </p:to>
                                    </p:set>
                                    <p:animEffect filter="fade" transition="in">
                                      <p:cBhvr>
                                        <p:cTn dur="500"/>
                                        <p:tgtEl>
                                          <p:spTgt spid="2147"/>
                                        </p:tgtEl>
                                      </p:cBhvr>
                                    </p:animEffect>
                                  </p:childTnLst>
                                </p:cTn>
                              </p:par>
                              <p:par>
                                <p:cTn fill="hold" nodeType="withEffect" presetClass="exit" presetID="10" presetSubtype="0">
                                  <p:stCondLst>
                                    <p:cond delay="0"/>
                                  </p:stCondLst>
                                  <p:childTnLst>
                                    <p:animEffect filter="fade" transition="out">
                                      <p:cBhvr>
                                        <p:cTn dur="500"/>
                                        <p:tgtEl>
                                          <p:spTgt spid="2172"/>
                                        </p:tgtEl>
                                      </p:cBhvr>
                                    </p:animEffect>
                                    <p:set>
                                      <p:cBhvr>
                                        <p:cTn dur="1" fill="hold">
                                          <p:stCondLst>
                                            <p:cond delay="500"/>
                                          </p:stCondLst>
                                        </p:cTn>
                                        <p:tgtEl>
                                          <p:spTgt spid="217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131"/>
                                        </p:tgtEl>
                                        <p:attrNameLst>
                                          <p:attrName>style.visibility</p:attrName>
                                        </p:attrNameLst>
                                      </p:cBhvr>
                                      <p:to>
                                        <p:strVal val="visible"/>
                                      </p:to>
                                    </p:set>
                                    <p:animEffect filter="fade" transition="in">
                                      <p:cBhvr>
                                        <p:cTn dur="500"/>
                                        <p:tgtEl>
                                          <p:spTgt spid="213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73"/>
                                        </p:tgtEl>
                                        <p:attrNameLst>
                                          <p:attrName>style.visibility</p:attrName>
                                        </p:attrNameLst>
                                      </p:cBhvr>
                                      <p:to>
                                        <p:strVal val="visible"/>
                                      </p:to>
                                    </p:set>
                                    <p:animEffect filter="fade" transition="in">
                                      <p:cBhvr>
                                        <p:cTn dur="500"/>
                                        <p:tgtEl>
                                          <p:spTgt spid="2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7"/>
                                        </p:tgtEl>
                                        <p:attrNameLst>
                                          <p:attrName>style.visibility</p:attrName>
                                        </p:attrNameLst>
                                      </p:cBhvr>
                                      <p:to>
                                        <p:strVal val="visible"/>
                                      </p:to>
                                    </p:set>
                                    <p:animEffect filter="fade" transition="in">
                                      <p:cBhvr>
                                        <p:cTn dur="500"/>
                                        <p:tgtEl>
                                          <p:spTgt spid="2157"/>
                                        </p:tgtEl>
                                      </p:cBhvr>
                                    </p:animEffect>
                                  </p:childTnLst>
                                </p:cTn>
                              </p:par>
                              <p:par>
                                <p:cTn fill="hold" nodeType="withEffect" presetClass="entr" presetID="10" presetSubtype="0">
                                  <p:stCondLst>
                                    <p:cond delay="0"/>
                                  </p:stCondLst>
                                  <p:childTnLst>
                                    <p:set>
                                      <p:cBhvr>
                                        <p:cTn dur="1" fill="hold">
                                          <p:stCondLst>
                                            <p:cond delay="0"/>
                                          </p:stCondLst>
                                        </p:cTn>
                                        <p:tgtEl>
                                          <p:spTgt spid="2130"/>
                                        </p:tgtEl>
                                        <p:attrNameLst>
                                          <p:attrName>style.visibility</p:attrName>
                                        </p:attrNameLst>
                                      </p:cBhvr>
                                      <p:to>
                                        <p:strVal val="visible"/>
                                      </p:to>
                                    </p:set>
                                    <p:animEffect filter="fade" transition="in">
                                      <p:cBhvr>
                                        <p:cTn dur="500"/>
                                        <p:tgtEl>
                                          <p:spTgt spid="2130"/>
                                        </p:tgtEl>
                                      </p:cBhvr>
                                    </p:animEffect>
                                  </p:childTnLst>
                                </p:cTn>
                              </p:par>
                              <p:par>
                                <p:cTn fill="hold" nodeType="withEffect" presetClass="exit" presetID="10" presetSubtype="0">
                                  <p:stCondLst>
                                    <p:cond delay="0"/>
                                  </p:stCondLst>
                                  <p:childTnLst>
                                    <p:animEffect filter="fade" transition="out">
                                      <p:cBhvr>
                                        <p:cTn dur="500"/>
                                        <p:tgtEl>
                                          <p:spTgt spid="2173"/>
                                        </p:tgtEl>
                                      </p:cBhvr>
                                    </p:animEffect>
                                    <p:set>
                                      <p:cBhvr>
                                        <p:cTn dur="1" fill="hold">
                                          <p:stCondLst>
                                            <p:cond delay="500"/>
                                          </p:stCondLst>
                                        </p:cTn>
                                        <p:tgtEl>
                                          <p:spTgt spid="2173"/>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74"/>
                                        </p:tgtEl>
                                        <p:attrNameLst>
                                          <p:attrName>style.visibility</p:attrName>
                                        </p:attrNameLst>
                                      </p:cBhvr>
                                      <p:to>
                                        <p:strVal val="visible"/>
                                      </p:to>
                                    </p:set>
                                    <p:animEffect filter="fade" transition="in">
                                      <p:cBhvr>
                                        <p:cTn dur="500"/>
                                        <p:tgtEl>
                                          <p:spTgt spid="21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0" name="Shape 2180"/>
        <p:cNvGrpSpPr/>
        <p:nvPr/>
      </p:nvGrpSpPr>
      <p:grpSpPr>
        <a:xfrm>
          <a:off x="0" y="0"/>
          <a:ext cx="0" cy="0"/>
          <a:chOff x="0" y="0"/>
          <a:chExt cx="0" cy="0"/>
        </a:xfrm>
      </p:grpSpPr>
      <p:sp>
        <p:nvSpPr>
          <p:cNvPr id="2181" name="Google Shape;2181;p40"/>
          <p:cNvSpPr/>
          <p:nvPr/>
        </p:nvSpPr>
        <p:spPr>
          <a:xfrm>
            <a:off x="2666162" y="3735852"/>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82" name="Google Shape;2182;p40"/>
          <p:cNvSpPr/>
          <p:nvPr/>
        </p:nvSpPr>
        <p:spPr>
          <a:xfrm>
            <a:off x="5108911" y="5798809"/>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83" name="Google Shape;2183;p40"/>
          <p:cNvSpPr/>
          <p:nvPr/>
        </p:nvSpPr>
        <p:spPr>
          <a:xfrm>
            <a:off x="8105934" y="3949220"/>
            <a:ext cx="944562"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84" name="Google Shape;2184;p40"/>
          <p:cNvSpPr/>
          <p:nvPr/>
        </p:nvSpPr>
        <p:spPr>
          <a:xfrm>
            <a:off x="4772033" y="1955144"/>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85" name="Google Shape;2185;p4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sender</a:t>
            </a:r>
            <a:endParaRPr sz="4400"/>
          </a:p>
        </p:txBody>
      </p:sp>
      <p:cxnSp>
        <p:nvCxnSpPr>
          <p:cNvPr id="2186" name="Google Shape;2186;p40"/>
          <p:cNvCxnSpPr/>
          <p:nvPr/>
        </p:nvCxnSpPr>
        <p:spPr>
          <a:xfrm>
            <a:off x="4488198" y="1637972"/>
            <a:ext cx="157163" cy="576262"/>
          </a:xfrm>
          <a:prstGeom prst="straightConnector1">
            <a:avLst/>
          </a:prstGeom>
          <a:noFill/>
          <a:ln cap="flat" cmpd="sng" w="28575">
            <a:solidFill>
              <a:srgbClr val="000000"/>
            </a:solidFill>
            <a:prstDash val="dash"/>
            <a:round/>
            <a:headEnd len="med" w="med" type="none"/>
            <a:tailEnd len="med" w="med" type="triangle"/>
          </a:ln>
        </p:spPr>
      </p:cxnSp>
      <p:grpSp>
        <p:nvGrpSpPr>
          <p:cNvPr id="2187" name="Google Shape;2187;p40"/>
          <p:cNvGrpSpPr/>
          <p:nvPr/>
        </p:nvGrpSpPr>
        <p:grpSpPr>
          <a:xfrm>
            <a:off x="7099636" y="2184072"/>
            <a:ext cx="889000" cy="865187"/>
            <a:chOff x="445" y="1273"/>
            <a:chExt cx="560" cy="545"/>
          </a:xfrm>
        </p:grpSpPr>
        <p:sp>
          <p:nvSpPr>
            <p:cNvPr id="2188" name="Google Shape;2188;p40"/>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189" name="Google Shape;2189;p40"/>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ACK0</a:t>
              </a:r>
              <a:endParaRPr b="0" i="0" sz="1400" u="none" cap="none" strike="noStrike">
                <a:solidFill>
                  <a:srgbClr val="000000"/>
                </a:solidFill>
                <a:latin typeface="Times New Roman"/>
                <a:ea typeface="Times New Roman"/>
                <a:cs typeface="Times New Roman"/>
                <a:sym typeface="Times New Roman"/>
              </a:endParaRPr>
            </a:p>
          </p:txBody>
        </p:sp>
      </p:grpSp>
      <p:grpSp>
        <p:nvGrpSpPr>
          <p:cNvPr id="2190" name="Google Shape;2190;p40"/>
          <p:cNvGrpSpPr/>
          <p:nvPr/>
        </p:nvGrpSpPr>
        <p:grpSpPr>
          <a:xfrm>
            <a:off x="4758073" y="1183947"/>
            <a:ext cx="3860800" cy="1144587"/>
            <a:chOff x="4758073" y="1183947"/>
            <a:chExt cx="3860800" cy="1144587"/>
          </a:xfrm>
        </p:grpSpPr>
        <p:sp>
          <p:nvSpPr>
            <p:cNvPr id="2191" name="Google Shape;2191;p40"/>
            <p:cNvSpPr txBox="1"/>
            <p:nvPr/>
          </p:nvSpPr>
          <p:spPr>
            <a:xfrm>
              <a:off x="4758073" y="1477634"/>
              <a:ext cx="3860800" cy="5619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2192" name="Google Shape;2192;p40"/>
            <p:cNvSpPr txBox="1"/>
            <p:nvPr/>
          </p:nvSpPr>
          <p:spPr>
            <a:xfrm>
              <a:off x="4799348" y="1183947"/>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2193" name="Google Shape;2193;p40"/>
            <p:cNvCxnSpPr/>
            <p:nvPr/>
          </p:nvCxnSpPr>
          <p:spPr>
            <a:xfrm>
              <a:off x="4900948" y="1522084"/>
              <a:ext cx="990600" cy="0"/>
            </a:xfrm>
            <a:prstGeom prst="straightConnector1">
              <a:avLst/>
            </a:prstGeom>
            <a:noFill/>
            <a:ln cap="flat" cmpd="sng" w="28575">
              <a:solidFill>
                <a:srgbClr val="000000"/>
              </a:solidFill>
              <a:prstDash val="solid"/>
              <a:round/>
              <a:headEnd len="med" w="med" type="none"/>
              <a:tailEnd len="med" w="med" type="none"/>
            </a:ln>
          </p:spPr>
        </p:cxnSp>
        <p:sp>
          <p:nvSpPr>
            <p:cNvPr id="2194" name="Google Shape;2194;p40"/>
            <p:cNvSpPr/>
            <p:nvPr/>
          </p:nvSpPr>
          <p:spPr>
            <a:xfrm flipH="1" rot="10800000">
              <a:off x="5123198" y="2165022"/>
              <a:ext cx="2090738" cy="16351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195" name="Google Shape;2195;p40"/>
          <p:cNvGrpSpPr/>
          <p:nvPr/>
        </p:nvGrpSpPr>
        <p:grpSpPr>
          <a:xfrm>
            <a:off x="7191711" y="4098597"/>
            <a:ext cx="1189037" cy="850900"/>
            <a:chOff x="4090" y="3230"/>
            <a:chExt cx="749" cy="536"/>
          </a:xfrm>
        </p:grpSpPr>
        <p:sp>
          <p:nvSpPr>
            <p:cNvPr id="2196" name="Google Shape;2196;p40"/>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197" name="Google Shape;2197;p40"/>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2198" name="Google Shape;2198;p40"/>
          <p:cNvGrpSpPr/>
          <p:nvPr/>
        </p:nvGrpSpPr>
        <p:grpSpPr>
          <a:xfrm>
            <a:off x="5054936" y="4832022"/>
            <a:ext cx="3444875" cy="1038225"/>
            <a:chOff x="5054936" y="4832022"/>
            <a:chExt cx="3444875" cy="1038225"/>
          </a:xfrm>
        </p:grpSpPr>
        <p:sp>
          <p:nvSpPr>
            <p:cNvPr id="2199" name="Google Shape;2199;p40"/>
            <p:cNvSpPr/>
            <p:nvPr/>
          </p:nvSpPr>
          <p:spPr>
            <a:xfrm>
              <a:off x="5108911" y="4832022"/>
              <a:ext cx="2312987" cy="27463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0" name="Google Shape;2200;p40"/>
            <p:cNvSpPr txBox="1"/>
            <p:nvPr/>
          </p:nvSpPr>
          <p:spPr>
            <a:xfrm>
              <a:off x="5054936" y="5317797"/>
              <a:ext cx="3444875" cy="552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2201" name="Google Shape;2201;p40"/>
            <p:cNvSpPr txBox="1"/>
            <p:nvPr/>
          </p:nvSpPr>
          <p:spPr>
            <a:xfrm>
              <a:off x="5054936" y="5035222"/>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2202" name="Google Shape;2202;p40"/>
            <p:cNvCxnSpPr/>
            <p:nvPr/>
          </p:nvCxnSpPr>
          <p:spPr>
            <a:xfrm>
              <a:off x="5173998" y="5346372"/>
              <a:ext cx="2598738" cy="0"/>
            </a:xfrm>
            <a:prstGeom prst="straightConnector1">
              <a:avLst/>
            </a:prstGeom>
            <a:noFill/>
            <a:ln cap="flat" cmpd="sng" w="28575">
              <a:solidFill>
                <a:srgbClr val="000000"/>
              </a:solidFill>
              <a:prstDash val="solid"/>
              <a:round/>
              <a:headEnd len="med" w="med" type="none"/>
              <a:tailEnd len="med" w="med" type="none"/>
            </a:ln>
          </p:spPr>
        </p:cxnSp>
      </p:grpSp>
      <p:grpSp>
        <p:nvGrpSpPr>
          <p:cNvPr id="2203" name="Google Shape;2203;p40"/>
          <p:cNvGrpSpPr/>
          <p:nvPr/>
        </p:nvGrpSpPr>
        <p:grpSpPr>
          <a:xfrm>
            <a:off x="7858461" y="2912734"/>
            <a:ext cx="2309812" cy="1184275"/>
            <a:chOff x="7858461" y="2912734"/>
            <a:chExt cx="2309812" cy="1184275"/>
          </a:xfrm>
        </p:grpSpPr>
        <p:sp>
          <p:nvSpPr>
            <p:cNvPr id="2204" name="Google Shape;2204;p40"/>
            <p:cNvSpPr/>
            <p:nvPr/>
          </p:nvSpPr>
          <p:spPr>
            <a:xfrm rot="-5400000">
              <a:off x="7349667" y="3421528"/>
              <a:ext cx="1184275" cy="16668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5" name="Google Shape;2205;p40"/>
            <p:cNvSpPr txBox="1"/>
            <p:nvPr/>
          </p:nvSpPr>
          <p:spPr>
            <a:xfrm>
              <a:off x="8018798" y="3200072"/>
              <a:ext cx="214947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isACK(rcvpkt,0)</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2206" name="Google Shape;2206;p40"/>
            <p:cNvCxnSpPr/>
            <p:nvPr/>
          </p:nvCxnSpPr>
          <p:spPr>
            <a:xfrm>
              <a:off x="8134686" y="3911272"/>
              <a:ext cx="1419225" cy="0"/>
            </a:xfrm>
            <a:prstGeom prst="straightConnector1">
              <a:avLst/>
            </a:prstGeom>
            <a:noFill/>
            <a:ln cap="flat" cmpd="sng" w="28575">
              <a:solidFill>
                <a:srgbClr val="000000"/>
              </a:solidFill>
              <a:prstDash val="solid"/>
              <a:round/>
              <a:headEnd len="med" w="med" type="none"/>
              <a:tailEnd len="med" w="med" type="none"/>
            </a:ln>
          </p:spPr>
        </p:cxnSp>
        <p:sp>
          <p:nvSpPr>
            <p:cNvPr id="2207" name="Google Shape;2207;p40"/>
            <p:cNvSpPr txBox="1"/>
            <p:nvPr/>
          </p:nvSpPr>
          <p:spPr>
            <a:xfrm>
              <a:off x="8039436" y="3892222"/>
              <a:ext cx="1514475" cy="1793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2208" name="Google Shape;2208;p40"/>
          <p:cNvGrpSpPr/>
          <p:nvPr/>
        </p:nvGrpSpPr>
        <p:grpSpPr>
          <a:xfrm>
            <a:off x="2638761" y="2958772"/>
            <a:ext cx="1945938" cy="1239836"/>
            <a:chOff x="2638761" y="2958772"/>
            <a:chExt cx="1945938" cy="1239836"/>
          </a:xfrm>
        </p:grpSpPr>
        <p:sp>
          <p:nvSpPr>
            <p:cNvPr id="2209" name="Google Shape;2209;p40"/>
            <p:cNvSpPr/>
            <p:nvPr/>
          </p:nvSpPr>
          <p:spPr>
            <a:xfrm flipH="1" rot="5400000">
              <a:off x="3932568" y="3546478"/>
              <a:ext cx="1150609" cy="15365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10" name="Google Shape;2210;p40"/>
            <p:cNvSpPr txBox="1"/>
            <p:nvPr/>
          </p:nvSpPr>
          <p:spPr>
            <a:xfrm>
              <a:off x="2646698" y="2958772"/>
              <a:ext cx="1912938"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isACK(rcvpkt,1)</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2211" name="Google Shape;2211;p40"/>
            <p:cNvCxnSpPr/>
            <p:nvPr/>
          </p:nvCxnSpPr>
          <p:spPr>
            <a:xfrm>
              <a:off x="2773698" y="3698547"/>
              <a:ext cx="1517650" cy="0"/>
            </a:xfrm>
            <a:prstGeom prst="straightConnector1">
              <a:avLst/>
            </a:prstGeom>
            <a:noFill/>
            <a:ln cap="flat" cmpd="sng" w="28575">
              <a:solidFill>
                <a:srgbClr val="000000"/>
              </a:solidFill>
              <a:prstDash val="solid"/>
              <a:round/>
              <a:headEnd len="med" w="med" type="none"/>
              <a:tailEnd len="med" w="med" type="none"/>
            </a:ln>
          </p:spPr>
        </p:cxnSp>
        <p:sp>
          <p:nvSpPr>
            <p:cNvPr id="2212" name="Google Shape;2212;p40"/>
            <p:cNvSpPr txBox="1"/>
            <p:nvPr/>
          </p:nvSpPr>
          <p:spPr>
            <a:xfrm>
              <a:off x="2638761" y="3671559"/>
              <a:ext cx="1514475"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2213" name="Google Shape;2213;p40"/>
          <p:cNvGrpSpPr/>
          <p:nvPr/>
        </p:nvGrpSpPr>
        <p:grpSpPr>
          <a:xfrm>
            <a:off x="7977523" y="2372984"/>
            <a:ext cx="2447925" cy="741363"/>
            <a:chOff x="7977523" y="2372984"/>
            <a:chExt cx="2447925" cy="741363"/>
          </a:xfrm>
        </p:grpSpPr>
        <p:sp>
          <p:nvSpPr>
            <p:cNvPr id="2214" name="Google Shape;2214;p40"/>
            <p:cNvSpPr/>
            <p:nvPr/>
          </p:nvSpPr>
          <p:spPr>
            <a:xfrm>
              <a:off x="8369605" y="2404148"/>
              <a:ext cx="732514" cy="223838"/>
            </a:xfrm>
            <a:prstGeom prst="rect">
              <a:avLst/>
            </a:pr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15" name="Google Shape;2215;p40"/>
            <p:cNvSpPr/>
            <p:nvPr/>
          </p:nvSpPr>
          <p:spPr>
            <a:xfrm>
              <a:off x="8358054" y="2870582"/>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216" name="Google Shape;2216;p40"/>
            <p:cNvGrpSpPr/>
            <p:nvPr/>
          </p:nvGrpSpPr>
          <p:grpSpPr>
            <a:xfrm>
              <a:off x="7977523" y="2372984"/>
              <a:ext cx="2447925" cy="741363"/>
              <a:chOff x="7977523" y="2372984"/>
              <a:chExt cx="2447925" cy="741363"/>
            </a:xfrm>
          </p:grpSpPr>
          <p:sp>
            <p:nvSpPr>
              <p:cNvPr id="2217" name="Google Shape;2217;p40"/>
              <p:cNvSpPr/>
              <p:nvPr/>
            </p:nvSpPr>
            <p:spPr>
              <a:xfrm>
                <a:off x="7977523" y="2431722"/>
                <a:ext cx="461963" cy="682625"/>
              </a:xfrm>
              <a:custGeom>
                <a:rect b="b" l="l" r="r" t="t"/>
                <a:pathLst>
                  <a:path extrusionOk="0" h="430" w="291">
                    <a:moveTo>
                      <a:pt x="0" y="120"/>
                    </a:moveTo>
                    <a:cubicBezTo>
                      <a:pt x="291" y="0"/>
                      <a:pt x="259" y="430"/>
                      <a:pt x="15" y="2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18" name="Google Shape;2218;p40"/>
              <p:cNvSpPr txBox="1"/>
              <p:nvPr/>
            </p:nvSpPr>
            <p:spPr>
              <a:xfrm>
                <a:off x="8309311" y="2609522"/>
                <a:ext cx="21161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2219" name="Google Shape;2219;p40"/>
              <p:cNvSpPr txBox="1"/>
              <p:nvPr/>
            </p:nvSpPr>
            <p:spPr>
              <a:xfrm>
                <a:off x="8331536" y="2372984"/>
                <a:ext cx="11144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timeout</a:t>
                </a:r>
                <a:endParaRPr b="0" i="0" sz="1400" u="none" cap="none" strike="noStrike">
                  <a:solidFill>
                    <a:srgbClr val="000000"/>
                  </a:solidFill>
                  <a:latin typeface="Times New Roman"/>
                  <a:ea typeface="Times New Roman"/>
                  <a:cs typeface="Times New Roman"/>
                  <a:sym typeface="Times New Roman"/>
                </a:endParaRPr>
              </a:p>
            </p:txBody>
          </p:sp>
          <p:cxnSp>
            <p:nvCxnSpPr>
              <p:cNvPr id="2220" name="Google Shape;2220;p40"/>
              <p:cNvCxnSpPr/>
              <p:nvPr/>
            </p:nvCxnSpPr>
            <p:spPr>
              <a:xfrm>
                <a:off x="8420436" y="2626984"/>
                <a:ext cx="990600" cy="0"/>
              </a:xfrm>
              <a:prstGeom prst="straightConnector1">
                <a:avLst/>
              </a:prstGeom>
              <a:noFill/>
              <a:ln cap="flat" cmpd="sng" w="28575">
                <a:solidFill>
                  <a:srgbClr val="000000"/>
                </a:solidFill>
                <a:prstDash val="solid"/>
                <a:round/>
                <a:headEnd len="med" w="med" type="none"/>
                <a:tailEnd len="med" w="med" type="none"/>
              </a:ln>
            </p:spPr>
          </p:cxnSp>
        </p:grpSp>
      </p:grpSp>
      <p:grpSp>
        <p:nvGrpSpPr>
          <p:cNvPr id="2221" name="Google Shape;2221;p40"/>
          <p:cNvGrpSpPr/>
          <p:nvPr/>
        </p:nvGrpSpPr>
        <p:grpSpPr>
          <a:xfrm>
            <a:off x="4157998" y="2228522"/>
            <a:ext cx="1189038" cy="850900"/>
            <a:chOff x="4090" y="3230"/>
            <a:chExt cx="749" cy="536"/>
          </a:xfrm>
        </p:grpSpPr>
        <p:sp>
          <p:nvSpPr>
            <p:cNvPr id="2222" name="Google Shape;2222;p40"/>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223" name="Google Shape;2223;p40"/>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0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2224" name="Google Shape;2224;p40"/>
          <p:cNvGrpSpPr/>
          <p:nvPr/>
        </p:nvGrpSpPr>
        <p:grpSpPr>
          <a:xfrm>
            <a:off x="4369136" y="4082722"/>
            <a:ext cx="889000" cy="865187"/>
            <a:chOff x="445" y="1273"/>
            <a:chExt cx="560" cy="545"/>
          </a:xfrm>
        </p:grpSpPr>
        <p:sp>
          <p:nvSpPr>
            <p:cNvPr id="2225" name="Google Shape;2225;p40"/>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226" name="Google Shape;2226;p40"/>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ACK1</a:t>
              </a:r>
              <a:endParaRPr b="0" i="0" sz="1400" u="none" cap="none" strike="noStrike">
                <a:solidFill>
                  <a:srgbClr val="000000"/>
                </a:solidFill>
                <a:latin typeface="Times New Roman"/>
                <a:ea typeface="Times New Roman"/>
                <a:cs typeface="Times New Roman"/>
                <a:sym typeface="Times New Roman"/>
              </a:endParaRPr>
            </a:p>
          </p:txBody>
        </p:sp>
      </p:grpSp>
      <p:grpSp>
        <p:nvGrpSpPr>
          <p:cNvPr id="2227" name="Google Shape;2227;p40"/>
          <p:cNvGrpSpPr/>
          <p:nvPr/>
        </p:nvGrpSpPr>
        <p:grpSpPr>
          <a:xfrm>
            <a:off x="8164848" y="4466897"/>
            <a:ext cx="1760538" cy="890587"/>
            <a:chOff x="8164848" y="4466897"/>
            <a:chExt cx="1760538" cy="890587"/>
          </a:xfrm>
        </p:grpSpPr>
        <p:sp>
          <p:nvSpPr>
            <p:cNvPr id="2228" name="Google Shape;2228;p40"/>
            <p:cNvSpPr/>
            <p:nvPr/>
          </p:nvSpPr>
          <p:spPr>
            <a:xfrm>
              <a:off x="8164848" y="4466897"/>
              <a:ext cx="579438" cy="890587"/>
            </a:xfrm>
            <a:custGeom>
              <a:rect b="b" l="l" r="r" t="t"/>
              <a:pathLst>
                <a:path extrusionOk="0" h="483" w="322">
                  <a:moveTo>
                    <a:pt x="31" y="120"/>
                  </a:moveTo>
                  <a:cubicBezTo>
                    <a:pt x="322" y="0"/>
                    <a:pt x="64" y="483"/>
                    <a:pt x="0" y="18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29" name="Google Shape;2229;p40"/>
            <p:cNvSpPr txBox="1"/>
            <p:nvPr/>
          </p:nvSpPr>
          <p:spPr>
            <a:xfrm>
              <a:off x="8963361" y="4946322"/>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sp>
          <p:nvSpPr>
            <p:cNvPr id="2230" name="Google Shape;2230;p40"/>
            <p:cNvSpPr txBox="1"/>
            <p:nvPr/>
          </p:nvSpPr>
          <p:spPr>
            <a:xfrm>
              <a:off x="8496636" y="4697084"/>
              <a:ext cx="1428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a:t>
              </a:r>
              <a:endParaRPr b="0" i="0" sz="1400" u="none" cap="none" strike="noStrike">
                <a:solidFill>
                  <a:srgbClr val="000000"/>
                </a:solidFill>
                <a:latin typeface="Times New Roman"/>
                <a:ea typeface="Times New Roman"/>
                <a:cs typeface="Times New Roman"/>
                <a:sym typeface="Times New Roman"/>
              </a:endParaRPr>
            </a:p>
          </p:txBody>
        </p:sp>
        <p:cxnSp>
          <p:nvCxnSpPr>
            <p:cNvPr id="2231" name="Google Shape;2231;p40"/>
            <p:cNvCxnSpPr/>
            <p:nvPr/>
          </p:nvCxnSpPr>
          <p:spPr>
            <a:xfrm>
              <a:off x="8583948" y="4982834"/>
              <a:ext cx="1101725" cy="0"/>
            </a:xfrm>
            <a:prstGeom prst="straightConnector1">
              <a:avLst/>
            </a:prstGeom>
            <a:noFill/>
            <a:ln cap="flat" cmpd="sng" w="28575">
              <a:solidFill>
                <a:srgbClr val="000000"/>
              </a:solidFill>
              <a:prstDash val="solid"/>
              <a:round/>
              <a:headEnd len="med" w="med" type="none"/>
              <a:tailEnd len="med" w="med" type="none"/>
            </a:ln>
          </p:spPr>
        </p:cxnSp>
      </p:grpSp>
      <p:grpSp>
        <p:nvGrpSpPr>
          <p:cNvPr id="2232" name="Google Shape;2232;p40"/>
          <p:cNvGrpSpPr/>
          <p:nvPr/>
        </p:nvGrpSpPr>
        <p:grpSpPr>
          <a:xfrm>
            <a:off x="7807661" y="1290309"/>
            <a:ext cx="2117725" cy="1144588"/>
            <a:chOff x="7807661" y="1290309"/>
            <a:chExt cx="2117725" cy="1144588"/>
          </a:xfrm>
        </p:grpSpPr>
        <p:sp>
          <p:nvSpPr>
            <p:cNvPr id="2233" name="Google Shape;2233;p40"/>
            <p:cNvSpPr/>
            <p:nvPr/>
          </p:nvSpPr>
          <p:spPr>
            <a:xfrm>
              <a:off x="7807661" y="1768147"/>
              <a:ext cx="871537" cy="666750"/>
            </a:xfrm>
            <a:custGeom>
              <a:rect b="b" l="l" r="r" t="t"/>
              <a:pathLst>
                <a:path extrusionOk="0" h="420" w="549">
                  <a:moveTo>
                    <a:pt x="0" y="306"/>
                  </a:moveTo>
                  <a:cubicBezTo>
                    <a:pt x="78" y="0"/>
                    <a:pt x="549" y="315"/>
                    <a:pt x="87" y="42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34" name="Google Shape;2234;p40"/>
            <p:cNvSpPr txBox="1"/>
            <p:nvPr/>
          </p:nvSpPr>
          <p:spPr>
            <a:xfrm>
              <a:off x="8220411" y="1290309"/>
              <a:ext cx="170497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isACK(rcvpkt,1) )</a:t>
              </a:r>
              <a:endParaRPr b="0" i="0" sz="1400" u="none" cap="none" strike="noStrike">
                <a:solidFill>
                  <a:srgbClr val="000000"/>
                </a:solidFill>
                <a:latin typeface="Times New Roman"/>
                <a:ea typeface="Times New Roman"/>
                <a:cs typeface="Times New Roman"/>
                <a:sym typeface="Times New Roman"/>
              </a:endParaRPr>
            </a:p>
          </p:txBody>
        </p:sp>
        <p:cxnSp>
          <p:nvCxnSpPr>
            <p:cNvPr id="2235" name="Google Shape;2235;p40"/>
            <p:cNvCxnSpPr/>
            <p:nvPr/>
          </p:nvCxnSpPr>
          <p:spPr>
            <a:xfrm>
              <a:off x="8429961" y="1991984"/>
              <a:ext cx="1350962" cy="0"/>
            </a:xfrm>
            <a:prstGeom prst="straightConnector1">
              <a:avLst/>
            </a:prstGeom>
            <a:noFill/>
            <a:ln cap="flat" cmpd="sng" w="28575">
              <a:solidFill>
                <a:srgbClr val="000000"/>
              </a:solidFill>
              <a:prstDash val="solid"/>
              <a:round/>
              <a:headEnd len="med" w="med" type="none"/>
              <a:tailEnd len="med" w="med" type="none"/>
            </a:ln>
          </p:spPr>
        </p:cxnSp>
        <p:sp>
          <p:nvSpPr>
            <p:cNvPr id="2236" name="Google Shape;2236;p40"/>
            <p:cNvSpPr txBox="1"/>
            <p:nvPr/>
          </p:nvSpPr>
          <p:spPr>
            <a:xfrm>
              <a:off x="8866523" y="1941184"/>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2237" name="Google Shape;2237;p40"/>
          <p:cNvGrpSpPr/>
          <p:nvPr/>
        </p:nvGrpSpPr>
        <p:grpSpPr>
          <a:xfrm>
            <a:off x="2775286" y="1876097"/>
            <a:ext cx="1549400" cy="890587"/>
            <a:chOff x="2775286" y="1876097"/>
            <a:chExt cx="1549400" cy="890587"/>
          </a:xfrm>
        </p:grpSpPr>
        <p:sp>
          <p:nvSpPr>
            <p:cNvPr id="2238" name="Google Shape;2238;p40"/>
            <p:cNvSpPr txBox="1"/>
            <p:nvPr/>
          </p:nvSpPr>
          <p:spPr>
            <a:xfrm>
              <a:off x="2775286" y="1968172"/>
              <a:ext cx="1428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a:t>
              </a:r>
              <a:endParaRPr b="0" i="0" sz="1400" u="none" cap="none" strike="noStrike">
                <a:solidFill>
                  <a:srgbClr val="000000"/>
                </a:solidFill>
                <a:latin typeface="Times New Roman"/>
                <a:ea typeface="Times New Roman"/>
                <a:cs typeface="Times New Roman"/>
                <a:sym typeface="Times New Roman"/>
              </a:endParaRPr>
            </a:p>
          </p:txBody>
        </p:sp>
        <p:cxnSp>
          <p:nvCxnSpPr>
            <p:cNvPr id="2239" name="Google Shape;2239;p40"/>
            <p:cNvCxnSpPr/>
            <p:nvPr/>
          </p:nvCxnSpPr>
          <p:spPr>
            <a:xfrm>
              <a:off x="2862598" y="2253922"/>
              <a:ext cx="1101725" cy="0"/>
            </a:xfrm>
            <a:prstGeom prst="straightConnector1">
              <a:avLst/>
            </a:prstGeom>
            <a:noFill/>
            <a:ln cap="flat" cmpd="sng" w="28575">
              <a:solidFill>
                <a:srgbClr val="000000"/>
              </a:solidFill>
              <a:prstDash val="solid"/>
              <a:round/>
              <a:headEnd len="med" w="med" type="none"/>
              <a:tailEnd len="med" w="med" type="none"/>
            </a:ln>
          </p:spPr>
        </p:cxnSp>
        <p:sp>
          <p:nvSpPr>
            <p:cNvPr id="2240" name="Google Shape;2240;p40"/>
            <p:cNvSpPr/>
            <p:nvPr/>
          </p:nvSpPr>
          <p:spPr>
            <a:xfrm rot="10800000">
              <a:off x="3745248" y="1876097"/>
              <a:ext cx="579438" cy="890587"/>
            </a:xfrm>
            <a:custGeom>
              <a:rect b="b" l="l" r="r" t="t"/>
              <a:pathLst>
                <a:path extrusionOk="0" h="483" w="322">
                  <a:moveTo>
                    <a:pt x="31" y="120"/>
                  </a:moveTo>
                  <a:cubicBezTo>
                    <a:pt x="322" y="0"/>
                    <a:pt x="64" y="483"/>
                    <a:pt x="0" y="18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41" name="Google Shape;2241;p40"/>
            <p:cNvSpPr txBox="1"/>
            <p:nvPr/>
          </p:nvSpPr>
          <p:spPr>
            <a:xfrm>
              <a:off x="3215023" y="221740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2242" name="Google Shape;2242;p40"/>
          <p:cNvGrpSpPr/>
          <p:nvPr/>
        </p:nvGrpSpPr>
        <p:grpSpPr>
          <a:xfrm>
            <a:off x="2367298" y="4307189"/>
            <a:ext cx="1973263" cy="725996"/>
            <a:chOff x="2367298" y="4307189"/>
            <a:chExt cx="1973263" cy="725996"/>
          </a:xfrm>
        </p:grpSpPr>
        <p:sp>
          <p:nvSpPr>
            <p:cNvPr id="2243" name="Google Shape;2243;p40"/>
            <p:cNvSpPr/>
            <p:nvPr/>
          </p:nvSpPr>
          <p:spPr>
            <a:xfrm>
              <a:off x="2418382" y="4342649"/>
              <a:ext cx="769654" cy="223838"/>
            </a:xfrm>
            <a:prstGeom prst="rect">
              <a:avLst/>
            </a:pr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44" name="Google Shape;2244;p40"/>
            <p:cNvSpPr/>
            <p:nvPr/>
          </p:nvSpPr>
          <p:spPr>
            <a:xfrm>
              <a:off x="2418337" y="4809347"/>
              <a:ext cx="909161"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45" name="Google Shape;2245;p40"/>
            <p:cNvSpPr/>
            <p:nvPr/>
          </p:nvSpPr>
          <p:spPr>
            <a:xfrm>
              <a:off x="3769061" y="4506584"/>
              <a:ext cx="571500" cy="420688"/>
            </a:xfrm>
            <a:custGeom>
              <a:rect b="b" l="l" r="r" t="t"/>
              <a:pathLst>
                <a:path extrusionOk="0" h="662" w="900">
                  <a:moveTo>
                    <a:pt x="900" y="360"/>
                  </a:moveTo>
                  <a:cubicBezTo>
                    <a:pt x="171" y="662"/>
                    <a:pt x="0" y="0"/>
                    <a:pt x="825" y="1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46" name="Google Shape;2246;p40"/>
            <p:cNvSpPr txBox="1"/>
            <p:nvPr/>
          </p:nvSpPr>
          <p:spPr>
            <a:xfrm>
              <a:off x="2367298" y="4554209"/>
              <a:ext cx="1824038"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2247" name="Google Shape;2247;p40"/>
            <p:cNvSpPr txBox="1"/>
            <p:nvPr/>
          </p:nvSpPr>
          <p:spPr>
            <a:xfrm>
              <a:off x="2381586" y="4307189"/>
              <a:ext cx="11144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timeout</a:t>
              </a:r>
              <a:endParaRPr b="0" i="0" sz="1400" u="none" cap="none" strike="noStrike">
                <a:solidFill>
                  <a:srgbClr val="000000"/>
                </a:solidFill>
                <a:latin typeface="Times New Roman"/>
                <a:ea typeface="Times New Roman"/>
                <a:cs typeface="Times New Roman"/>
                <a:sym typeface="Times New Roman"/>
              </a:endParaRPr>
            </a:p>
          </p:txBody>
        </p:sp>
        <p:cxnSp>
          <p:nvCxnSpPr>
            <p:cNvPr id="2248" name="Google Shape;2248;p40"/>
            <p:cNvCxnSpPr/>
            <p:nvPr/>
          </p:nvCxnSpPr>
          <p:spPr>
            <a:xfrm>
              <a:off x="2484773" y="4582784"/>
              <a:ext cx="990600" cy="0"/>
            </a:xfrm>
            <a:prstGeom prst="straightConnector1">
              <a:avLst/>
            </a:prstGeom>
            <a:noFill/>
            <a:ln cap="flat" cmpd="sng" w="28575">
              <a:solidFill>
                <a:srgbClr val="000000"/>
              </a:solidFill>
              <a:prstDash val="solid"/>
              <a:round/>
              <a:headEnd len="med" w="med" type="none"/>
              <a:tailEnd len="med" w="med" type="none"/>
            </a:ln>
          </p:spPr>
        </p:cxnSp>
      </p:grpSp>
      <p:grpSp>
        <p:nvGrpSpPr>
          <p:cNvPr id="2249" name="Google Shape;2249;p40"/>
          <p:cNvGrpSpPr/>
          <p:nvPr/>
        </p:nvGrpSpPr>
        <p:grpSpPr>
          <a:xfrm>
            <a:off x="3029286" y="4795509"/>
            <a:ext cx="1631950" cy="1428750"/>
            <a:chOff x="3029286" y="4795509"/>
            <a:chExt cx="1631950" cy="1428750"/>
          </a:xfrm>
        </p:grpSpPr>
        <p:sp>
          <p:nvSpPr>
            <p:cNvPr id="2250" name="Google Shape;2250;p40"/>
            <p:cNvSpPr txBox="1"/>
            <p:nvPr/>
          </p:nvSpPr>
          <p:spPr>
            <a:xfrm>
              <a:off x="3029286" y="5155872"/>
              <a:ext cx="162242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isACK(rcvpkt,0) )</a:t>
              </a:r>
              <a:endParaRPr b="0" i="0" sz="1400" u="none" cap="none" strike="noStrike">
                <a:solidFill>
                  <a:srgbClr val="000000"/>
                </a:solidFill>
                <a:latin typeface="Times New Roman"/>
                <a:ea typeface="Times New Roman"/>
                <a:cs typeface="Times New Roman"/>
                <a:sym typeface="Times New Roman"/>
              </a:endParaRPr>
            </a:p>
          </p:txBody>
        </p:sp>
        <p:cxnSp>
          <p:nvCxnSpPr>
            <p:cNvPr id="2251" name="Google Shape;2251;p40"/>
            <p:cNvCxnSpPr/>
            <p:nvPr/>
          </p:nvCxnSpPr>
          <p:spPr>
            <a:xfrm>
              <a:off x="3132473" y="5881359"/>
              <a:ext cx="1254125" cy="0"/>
            </a:xfrm>
            <a:prstGeom prst="straightConnector1">
              <a:avLst/>
            </a:prstGeom>
            <a:noFill/>
            <a:ln cap="flat" cmpd="sng" w="28575">
              <a:solidFill>
                <a:srgbClr val="000000"/>
              </a:solidFill>
              <a:prstDash val="solid"/>
              <a:round/>
              <a:headEnd len="med" w="med" type="none"/>
              <a:tailEnd len="med" w="med" type="none"/>
            </a:ln>
          </p:spPr>
        </p:cxnSp>
        <p:sp>
          <p:nvSpPr>
            <p:cNvPr id="2252" name="Google Shape;2252;p40"/>
            <p:cNvSpPr/>
            <p:nvPr/>
          </p:nvSpPr>
          <p:spPr>
            <a:xfrm>
              <a:off x="3969086" y="4795509"/>
              <a:ext cx="692150" cy="631825"/>
            </a:xfrm>
            <a:custGeom>
              <a:rect b="b" l="l" r="r" t="t"/>
              <a:pathLst>
                <a:path extrusionOk="0" h="398" w="436">
                  <a:moveTo>
                    <a:pt x="436" y="101"/>
                  </a:moveTo>
                  <a:cubicBezTo>
                    <a:pt x="367" y="398"/>
                    <a:pt x="0" y="31"/>
                    <a:pt x="300"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53" name="Google Shape;2253;p40"/>
            <p:cNvSpPr txBox="1"/>
            <p:nvPr/>
          </p:nvSpPr>
          <p:spPr>
            <a:xfrm>
              <a:off x="3618248" y="588770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sp>
        <p:nvSpPr>
          <p:cNvPr id="2254" name="Google Shape;2254;p40"/>
          <p:cNvSpPr/>
          <p:nvPr/>
        </p:nvSpPr>
        <p:spPr>
          <a:xfrm>
            <a:off x="7086600" y="2184400"/>
            <a:ext cx="914400" cy="867848"/>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55" name="Google Shape;2255;p40"/>
          <p:cNvSpPr/>
          <p:nvPr/>
        </p:nvSpPr>
        <p:spPr>
          <a:xfrm>
            <a:off x="7302500" y="4102100"/>
            <a:ext cx="936658" cy="8509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56" name="Google Shape;2256;p40"/>
          <p:cNvSpPr/>
          <p:nvPr/>
        </p:nvSpPr>
        <p:spPr>
          <a:xfrm>
            <a:off x="4356100" y="4070372"/>
            <a:ext cx="914400" cy="8763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57" name="Google Shape;2257;p40"/>
          <p:cNvSpPr/>
          <p:nvPr/>
        </p:nvSpPr>
        <p:spPr>
          <a:xfrm>
            <a:off x="4254500" y="2216171"/>
            <a:ext cx="952500" cy="871123"/>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58" name="Google Shape;2258;p4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54"/>
                                        </p:tgtEl>
                                        <p:attrNameLst>
                                          <p:attrName>style.visibility</p:attrName>
                                        </p:attrNameLst>
                                      </p:cBhvr>
                                      <p:to>
                                        <p:strVal val="visible"/>
                                      </p:to>
                                    </p:set>
                                    <p:animEffect filter="fade" transition="in">
                                      <p:cBhvr>
                                        <p:cTn dur="500"/>
                                        <p:tgtEl>
                                          <p:spTgt spid="225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13"/>
                                        </p:tgtEl>
                                        <p:attrNameLst>
                                          <p:attrName>style.visibility</p:attrName>
                                        </p:attrNameLst>
                                      </p:cBhvr>
                                      <p:to>
                                        <p:strVal val="visible"/>
                                      </p:to>
                                    </p:set>
                                    <p:animEffect filter="fade" transition="in">
                                      <p:cBhvr>
                                        <p:cTn dur="500"/>
                                        <p:tgtEl>
                                          <p:spTgt spid="2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2"/>
                                        </p:tgtEl>
                                        <p:attrNameLst>
                                          <p:attrName>style.visibility</p:attrName>
                                        </p:attrNameLst>
                                      </p:cBhvr>
                                      <p:to>
                                        <p:strVal val="visible"/>
                                      </p:to>
                                    </p:set>
                                    <p:animEffect filter="fade" transition="in">
                                      <p:cBhvr>
                                        <p:cTn dur="500"/>
                                        <p:tgtEl>
                                          <p:spTgt spid="2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254"/>
                                        </p:tgtEl>
                                      </p:cBhvr>
                                    </p:animEffect>
                                    <p:set>
                                      <p:cBhvr>
                                        <p:cTn dur="1" fill="hold">
                                          <p:stCondLst>
                                            <p:cond delay="500"/>
                                          </p:stCondLst>
                                        </p:cTn>
                                        <p:tgtEl>
                                          <p:spTgt spid="2254"/>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55"/>
                                        </p:tgtEl>
                                        <p:attrNameLst>
                                          <p:attrName>style.visibility</p:attrName>
                                        </p:attrNameLst>
                                      </p:cBhvr>
                                      <p:to>
                                        <p:strVal val="visible"/>
                                      </p:to>
                                    </p:set>
                                    <p:animEffect filter="fade" transition="in">
                                      <p:cBhvr>
                                        <p:cTn dur="500"/>
                                        <p:tgtEl>
                                          <p:spTgt spid="225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27"/>
                                        </p:tgtEl>
                                        <p:attrNameLst>
                                          <p:attrName>style.visibility</p:attrName>
                                        </p:attrNameLst>
                                      </p:cBhvr>
                                      <p:to>
                                        <p:strVal val="visible"/>
                                      </p:to>
                                    </p:set>
                                    <p:animEffect filter="fade" transition="in">
                                      <p:cBhvr>
                                        <p:cTn dur="500"/>
                                        <p:tgtEl>
                                          <p:spTgt spid="22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255"/>
                                        </p:tgtEl>
                                      </p:cBhvr>
                                    </p:animEffect>
                                    <p:set>
                                      <p:cBhvr>
                                        <p:cTn dur="1" fill="hold">
                                          <p:stCondLst>
                                            <p:cond delay="500"/>
                                          </p:stCondLst>
                                        </p:cTn>
                                        <p:tgtEl>
                                          <p:spTgt spid="2255"/>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56"/>
                                        </p:tgtEl>
                                        <p:attrNameLst>
                                          <p:attrName>style.visibility</p:attrName>
                                        </p:attrNameLst>
                                      </p:cBhvr>
                                      <p:to>
                                        <p:strVal val="visible"/>
                                      </p:to>
                                    </p:set>
                                    <p:animEffect filter="fade" transition="in">
                                      <p:cBhvr>
                                        <p:cTn dur="500"/>
                                        <p:tgtEl>
                                          <p:spTgt spid="2256"/>
                                        </p:tgtEl>
                                      </p:cBhvr>
                                    </p:animEffect>
                                  </p:childTnLst>
                                </p:cTn>
                              </p:par>
                              <p:par>
                                <p:cTn fill="hold" nodeType="withEffect" presetClass="entr" presetID="10" presetSubtype="0">
                                  <p:stCondLst>
                                    <p:cond delay="0"/>
                                  </p:stCondLst>
                                  <p:childTnLst>
                                    <p:set>
                                      <p:cBhvr>
                                        <p:cTn dur="1" fill="hold">
                                          <p:stCondLst>
                                            <p:cond delay="0"/>
                                          </p:stCondLst>
                                        </p:cTn>
                                        <p:tgtEl>
                                          <p:spTgt spid="2242"/>
                                        </p:tgtEl>
                                        <p:attrNameLst>
                                          <p:attrName>style.visibility</p:attrName>
                                        </p:attrNameLst>
                                      </p:cBhvr>
                                      <p:to>
                                        <p:strVal val="visible"/>
                                      </p:to>
                                    </p:set>
                                    <p:animEffect filter="fade" transition="in">
                                      <p:cBhvr>
                                        <p:cTn dur="500"/>
                                        <p:tgtEl>
                                          <p:spTgt spid="2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9"/>
                                        </p:tgtEl>
                                        <p:attrNameLst>
                                          <p:attrName>style.visibility</p:attrName>
                                        </p:attrNameLst>
                                      </p:cBhvr>
                                      <p:to>
                                        <p:strVal val="visible"/>
                                      </p:to>
                                    </p:set>
                                    <p:animEffect filter="fade" transition="in">
                                      <p:cBhvr>
                                        <p:cTn dur="500"/>
                                        <p:tgtEl>
                                          <p:spTgt spid="2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256"/>
                                        </p:tgtEl>
                                      </p:cBhvr>
                                    </p:animEffect>
                                    <p:set>
                                      <p:cBhvr>
                                        <p:cTn dur="1" fill="hold">
                                          <p:stCondLst>
                                            <p:cond delay="500"/>
                                          </p:stCondLst>
                                        </p:cTn>
                                        <p:tgtEl>
                                          <p:spTgt spid="225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257"/>
                                        </p:tgtEl>
                                        <p:attrNameLst>
                                          <p:attrName>style.visibility</p:attrName>
                                        </p:attrNameLst>
                                      </p:cBhvr>
                                      <p:to>
                                        <p:strVal val="visible"/>
                                      </p:to>
                                    </p:set>
                                    <p:animEffect filter="fade" transition="in">
                                      <p:cBhvr>
                                        <p:cTn dur="500"/>
                                        <p:tgtEl>
                                          <p:spTgt spid="2257"/>
                                        </p:tgtEl>
                                      </p:cBhvr>
                                    </p:animEffect>
                                  </p:childTnLst>
                                </p:cTn>
                              </p:par>
                              <p:par>
                                <p:cTn fill="hold" nodeType="withEffect" presetClass="entr" presetID="10" presetSubtype="0">
                                  <p:stCondLst>
                                    <p:cond delay="0"/>
                                  </p:stCondLst>
                                  <p:childTnLst>
                                    <p:set>
                                      <p:cBhvr>
                                        <p:cTn dur="1" fill="hold">
                                          <p:stCondLst>
                                            <p:cond delay="0"/>
                                          </p:stCondLst>
                                        </p:cTn>
                                        <p:tgtEl>
                                          <p:spTgt spid="2237"/>
                                        </p:tgtEl>
                                        <p:attrNameLst>
                                          <p:attrName>style.visibility</p:attrName>
                                        </p:attrNameLst>
                                      </p:cBhvr>
                                      <p:to>
                                        <p:strVal val="visible"/>
                                      </p:to>
                                    </p:set>
                                    <p:animEffect filter="fade" transition="in">
                                      <p:cBhvr>
                                        <p:cTn dur="500"/>
                                        <p:tgtEl>
                                          <p:spTgt spid="22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3" name="Shape 2263"/>
        <p:cNvGrpSpPr/>
        <p:nvPr/>
      </p:nvGrpSpPr>
      <p:grpSpPr>
        <a:xfrm>
          <a:off x="0" y="0"/>
          <a:ext cx="0" cy="0"/>
          <a:chOff x="0" y="0"/>
          <a:chExt cx="0" cy="0"/>
        </a:xfrm>
      </p:grpSpPr>
      <p:sp>
        <p:nvSpPr>
          <p:cNvPr id="2264" name="Google Shape;2264;p4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in action</a:t>
            </a:r>
            <a:endParaRPr sz="4400"/>
          </a:p>
        </p:txBody>
      </p:sp>
      <p:sp>
        <p:nvSpPr>
          <p:cNvPr id="2265" name="Google Shape;2265;p41"/>
          <p:cNvSpPr txBox="1"/>
          <p:nvPr/>
        </p:nvSpPr>
        <p:spPr>
          <a:xfrm>
            <a:off x="1363150" y="1512475"/>
            <a:ext cx="10716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2266" name="Google Shape;2266;p41"/>
          <p:cNvSpPr txBox="1"/>
          <p:nvPr/>
        </p:nvSpPr>
        <p:spPr>
          <a:xfrm>
            <a:off x="3803136" y="1507725"/>
            <a:ext cx="10715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2267" name="Google Shape;2267;p41"/>
          <p:cNvSpPr txBox="1"/>
          <p:nvPr/>
        </p:nvSpPr>
        <p:spPr>
          <a:xfrm>
            <a:off x="3806311" y="3131737"/>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2268" name="Google Shape;2268;p41"/>
          <p:cNvSpPr txBox="1"/>
          <p:nvPr/>
        </p:nvSpPr>
        <p:spPr>
          <a:xfrm>
            <a:off x="3812661" y="39874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2269" name="Google Shape;2269;p41"/>
          <p:cNvSpPr txBox="1"/>
          <p:nvPr/>
        </p:nvSpPr>
        <p:spPr>
          <a:xfrm>
            <a:off x="3809486" y="2445937"/>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2270" name="Google Shape;2270;p41"/>
          <p:cNvSpPr txBox="1"/>
          <p:nvPr/>
        </p:nvSpPr>
        <p:spPr>
          <a:xfrm>
            <a:off x="3806311" y="3357162"/>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2271" name="Google Shape;2271;p41"/>
          <p:cNvSpPr txBox="1"/>
          <p:nvPr/>
        </p:nvSpPr>
        <p:spPr>
          <a:xfrm>
            <a:off x="3806311" y="4182662"/>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2272" name="Google Shape;2272;p41"/>
          <p:cNvSpPr txBox="1"/>
          <p:nvPr/>
        </p:nvSpPr>
        <p:spPr>
          <a:xfrm>
            <a:off x="1291711" y="2695175"/>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2273" name="Google Shape;2273;p41"/>
          <p:cNvSpPr txBox="1"/>
          <p:nvPr/>
        </p:nvSpPr>
        <p:spPr>
          <a:xfrm>
            <a:off x="1136136" y="3788962"/>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2274" name="Google Shape;2274;p41"/>
          <p:cNvSpPr txBox="1"/>
          <p:nvPr/>
        </p:nvSpPr>
        <p:spPr>
          <a:xfrm>
            <a:off x="1136136" y="291425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2275" name="Google Shape;2275;p41"/>
          <p:cNvSpPr txBox="1"/>
          <p:nvPr/>
        </p:nvSpPr>
        <p:spPr>
          <a:xfrm>
            <a:off x="1280598" y="3549250"/>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2276" name="Google Shape;2276;p41"/>
          <p:cNvSpPr txBox="1"/>
          <p:nvPr/>
        </p:nvSpPr>
        <p:spPr>
          <a:xfrm>
            <a:off x="1125023" y="1952225"/>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2277" name="Google Shape;2277;p41"/>
          <p:cNvSpPr txBox="1"/>
          <p:nvPr/>
        </p:nvSpPr>
        <p:spPr>
          <a:xfrm>
            <a:off x="3801548" y="22348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2278" name="Google Shape;2278;p41"/>
          <p:cNvGrpSpPr/>
          <p:nvPr/>
        </p:nvGrpSpPr>
        <p:grpSpPr>
          <a:xfrm>
            <a:off x="2341048" y="2022075"/>
            <a:ext cx="1471613" cy="512762"/>
            <a:chOff x="850" y="1159"/>
            <a:chExt cx="927" cy="323"/>
          </a:xfrm>
        </p:grpSpPr>
        <p:cxnSp>
          <p:nvCxnSpPr>
            <p:cNvPr id="2279" name="Google Shape;2279;p41"/>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2280" name="Google Shape;2280;p41"/>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2281" name="Google Shape;2281;p41"/>
          <p:cNvGrpSpPr/>
          <p:nvPr/>
        </p:nvGrpSpPr>
        <p:grpSpPr>
          <a:xfrm>
            <a:off x="2334698" y="3758800"/>
            <a:ext cx="1471613" cy="487362"/>
            <a:chOff x="846" y="2253"/>
            <a:chExt cx="927" cy="307"/>
          </a:xfrm>
        </p:grpSpPr>
        <p:cxnSp>
          <p:nvCxnSpPr>
            <p:cNvPr id="2282" name="Google Shape;2282;p41"/>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2283" name="Google Shape;2283;p41"/>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2284" name="Google Shape;2284;p41"/>
          <p:cNvGrpSpPr/>
          <p:nvPr/>
        </p:nvGrpSpPr>
        <p:grpSpPr>
          <a:xfrm>
            <a:off x="2348986" y="2896787"/>
            <a:ext cx="1471612" cy="504825"/>
            <a:chOff x="855" y="1710"/>
            <a:chExt cx="927" cy="318"/>
          </a:xfrm>
        </p:grpSpPr>
        <p:cxnSp>
          <p:nvCxnSpPr>
            <p:cNvPr id="2285" name="Google Shape;2285;p41"/>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2286" name="Google Shape;2286;p41"/>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2287" name="Google Shape;2287;p41"/>
          <p:cNvGrpSpPr/>
          <p:nvPr/>
        </p:nvGrpSpPr>
        <p:grpSpPr>
          <a:xfrm>
            <a:off x="2334698" y="3361925"/>
            <a:ext cx="1471613" cy="471487"/>
            <a:chOff x="846" y="2003"/>
            <a:chExt cx="927" cy="297"/>
          </a:xfrm>
        </p:grpSpPr>
        <p:cxnSp>
          <p:nvCxnSpPr>
            <p:cNvPr id="2288" name="Google Shape;2288;p41"/>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2289" name="Google Shape;2289;p41"/>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2290" name="Google Shape;2290;p41"/>
          <p:cNvGrpSpPr/>
          <p:nvPr/>
        </p:nvGrpSpPr>
        <p:grpSpPr>
          <a:xfrm>
            <a:off x="2326761" y="2522137"/>
            <a:ext cx="1471612" cy="455613"/>
            <a:chOff x="841" y="1474"/>
            <a:chExt cx="927" cy="287"/>
          </a:xfrm>
        </p:grpSpPr>
        <p:cxnSp>
          <p:nvCxnSpPr>
            <p:cNvPr id="2291" name="Google Shape;2291;p41"/>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2292" name="Google Shape;2292;p41"/>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2293" name="Google Shape;2293;p41"/>
          <p:cNvGrpSpPr/>
          <p:nvPr/>
        </p:nvGrpSpPr>
        <p:grpSpPr>
          <a:xfrm>
            <a:off x="2320411" y="4214412"/>
            <a:ext cx="1471612" cy="461963"/>
            <a:chOff x="837" y="2540"/>
            <a:chExt cx="927" cy="291"/>
          </a:xfrm>
        </p:grpSpPr>
        <p:cxnSp>
          <p:nvCxnSpPr>
            <p:cNvPr id="2294" name="Google Shape;2294;p41"/>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2295" name="Google Shape;2295;p41"/>
            <p:cNvSpPr txBox="1"/>
            <p:nvPr/>
          </p:nvSpPr>
          <p:spPr>
            <a:xfrm>
              <a:off x="1086" y="2540"/>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2296" name="Google Shape;2296;p41"/>
          <p:cNvSpPr txBox="1"/>
          <p:nvPr/>
        </p:nvSpPr>
        <p:spPr>
          <a:xfrm>
            <a:off x="2628369" y="5293900"/>
            <a:ext cx="19644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 no loss</a:t>
            </a:r>
            <a:endParaRPr/>
          </a:p>
        </p:txBody>
      </p:sp>
      <p:sp>
        <p:nvSpPr>
          <p:cNvPr id="2297" name="Google Shape;2297;p41"/>
          <p:cNvSpPr txBox="1"/>
          <p:nvPr/>
        </p:nvSpPr>
        <p:spPr>
          <a:xfrm>
            <a:off x="7079948" y="1461675"/>
            <a:ext cx="11574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2298" name="Google Shape;2298;p41"/>
          <p:cNvSpPr txBox="1"/>
          <p:nvPr/>
        </p:nvSpPr>
        <p:spPr>
          <a:xfrm>
            <a:off x="9519946" y="1456925"/>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2299" name="Google Shape;2299;p41"/>
          <p:cNvSpPr txBox="1"/>
          <p:nvPr/>
        </p:nvSpPr>
        <p:spPr>
          <a:xfrm>
            <a:off x="9521534" y="4373162"/>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2300" name="Google Shape;2300;p41"/>
          <p:cNvSpPr txBox="1"/>
          <p:nvPr/>
        </p:nvSpPr>
        <p:spPr>
          <a:xfrm>
            <a:off x="9529471" y="5214537"/>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2301" name="Google Shape;2301;p41"/>
          <p:cNvSpPr txBox="1"/>
          <p:nvPr/>
        </p:nvSpPr>
        <p:spPr>
          <a:xfrm>
            <a:off x="9526296" y="2395137"/>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2302" name="Google Shape;2302;p41"/>
          <p:cNvSpPr txBox="1"/>
          <p:nvPr/>
        </p:nvSpPr>
        <p:spPr>
          <a:xfrm>
            <a:off x="9523121" y="4584300"/>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2303" name="Google Shape;2303;p41"/>
          <p:cNvSpPr txBox="1"/>
          <p:nvPr/>
        </p:nvSpPr>
        <p:spPr>
          <a:xfrm>
            <a:off x="9523121" y="5409800"/>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2304" name="Google Shape;2304;p41"/>
          <p:cNvSpPr txBox="1"/>
          <p:nvPr/>
        </p:nvSpPr>
        <p:spPr>
          <a:xfrm>
            <a:off x="7008521" y="2644375"/>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2305" name="Google Shape;2305;p41"/>
          <p:cNvSpPr txBox="1"/>
          <p:nvPr/>
        </p:nvSpPr>
        <p:spPr>
          <a:xfrm>
            <a:off x="6852946" y="501610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2306" name="Google Shape;2306;p41"/>
          <p:cNvSpPr txBox="1"/>
          <p:nvPr/>
        </p:nvSpPr>
        <p:spPr>
          <a:xfrm>
            <a:off x="6852946" y="286345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2307" name="Google Shape;2307;p41"/>
          <p:cNvSpPr txBox="1"/>
          <p:nvPr/>
        </p:nvSpPr>
        <p:spPr>
          <a:xfrm>
            <a:off x="6997409" y="4776387"/>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2308" name="Google Shape;2308;p41"/>
          <p:cNvSpPr txBox="1"/>
          <p:nvPr/>
        </p:nvSpPr>
        <p:spPr>
          <a:xfrm>
            <a:off x="6841834" y="1901425"/>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2309" name="Google Shape;2309;p41"/>
          <p:cNvSpPr txBox="1"/>
          <p:nvPr/>
        </p:nvSpPr>
        <p:spPr>
          <a:xfrm>
            <a:off x="9518359" y="21840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2310" name="Google Shape;2310;p41"/>
          <p:cNvGrpSpPr/>
          <p:nvPr/>
        </p:nvGrpSpPr>
        <p:grpSpPr>
          <a:xfrm>
            <a:off x="8057859" y="1971275"/>
            <a:ext cx="1471612" cy="512762"/>
            <a:chOff x="850" y="1159"/>
            <a:chExt cx="927" cy="323"/>
          </a:xfrm>
        </p:grpSpPr>
        <p:cxnSp>
          <p:nvCxnSpPr>
            <p:cNvPr id="2311" name="Google Shape;2311;p41"/>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2312" name="Google Shape;2312;p41"/>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2313" name="Google Shape;2313;p41"/>
          <p:cNvGrpSpPr/>
          <p:nvPr/>
        </p:nvGrpSpPr>
        <p:grpSpPr>
          <a:xfrm>
            <a:off x="8051509" y="4985937"/>
            <a:ext cx="1471612" cy="487363"/>
            <a:chOff x="846" y="2253"/>
            <a:chExt cx="927" cy="307"/>
          </a:xfrm>
        </p:grpSpPr>
        <p:cxnSp>
          <p:nvCxnSpPr>
            <p:cNvPr id="2314" name="Google Shape;2314;p41"/>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2315" name="Google Shape;2315;p41"/>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2316" name="Google Shape;2316;p41"/>
          <p:cNvGrpSpPr/>
          <p:nvPr/>
        </p:nvGrpSpPr>
        <p:grpSpPr>
          <a:xfrm>
            <a:off x="8051509" y="4589062"/>
            <a:ext cx="1471612" cy="471488"/>
            <a:chOff x="846" y="2003"/>
            <a:chExt cx="927" cy="297"/>
          </a:xfrm>
        </p:grpSpPr>
        <p:cxnSp>
          <p:nvCxnSpPr>
            <p:cNvPr id="2317" name="Google Shape;2317;p41"/>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2318" name="Google Shape;2318;p41"/>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2319" name="Google Shape;2319;p41"/>
          <p:cNvGrpSpPr/>
          <p:nvPr/>
        </p:nvGrpSpPr>
        <p:grpSpPr>
          <a:xfrm>
            <a:off x="8043571" y="2471337"/>
            <a:ext cx="1471613" cy="455613"/>
            <a:chOff x="841" y="1474"/>
            <a:chExt cx="927" cy="287"/>
          </a:xfrm>
        </p:grpSpPr>
        <p:cxnSp>
          <p:nvCxnSpPr>
            <p:cNvPr id="2320" name="Google Shape;2320;p41"/>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2321" name="Google Shape;2321;p41"/>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2322" name="Google Shape;2322;p41"/>
          <p:cNvGrpSpPr/>
          <p:nvPr/>
        </p:nvGrpSpPr>
        <p:grpSpPr>
          <a:xfrm>
            <a:off x="8037221" y="5436787"/>
            <a:ext cx="1471613" cy="466725"/>
            <a:chOff x="837" y="2537"/>
            <a:chExt cx="927" cy="294"/>
          </a:xfrm>
        </p:grpSpPr>
        <p:cxnSp>
          <p:nvCxnSpPr>
            <p:cNvPr id="2323" name="Google Shape;2323;p41"/>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2324" name="Google Shape;2324;p41"/>
            <p:cNvSpPr txBox="1"/>
            <p:nvPr/>
          </p:nvSpPr>
          <p:spPr>
            <a:xfrm>
              <a:off x="1091" y="2537"/>
              <a:ext cx="37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Tahoma"/>
                <a:buNone/>
              </a:pPr>
              <a:r>
                <a:rPr b="0" i="0" lang="en-US" sz="1600" u="none" cap="none" strike="noStrike">
                  <a:solidFill>
                    <a:srgbClr val="008000"/>
                  </a:solidFill>
                  <a:latin typeface="Tahoma"/>
                  <a:ea typeface="Tahoma"/>
                  <a:cs typeface="Tahoma"/>
                  <a:sym typeface="Tahoma"/>
                </a:rPr>
                <a:t>ack0</a:t>
              </a:r>
              <a:endParaRPr/>
            </a:p>
          </p:txBody>
        </p:sp>
      </p:grpSp>
      <p:sp>
        <p:nvSpPr>
          <p:cNvPr id="2325" name="Google Shape;2325;p41"/>
          <p:cNvSpPr txBox="1"/>
          <p:nvPr/>
        </p:nvSpPr>
        <p:spPr>
          <a:xfrm>
            <a:off x="8130884" y="6207345"/>
            <a:ext cx="167163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(b) packet loss</a:t>
            </a:r>
            <a:endParaRPr/>
          </a:p>
        </p:txBody>
      </p:sp>
      <p:grpSp>
        <p:nvGrpSpPr>
          <p:cNvPr id="2326" name="Google Shape;2326;p41"/>
          <p:cNvGrpSpPr/>
          <p:nvPr/>
        </p:nvGrpSpPr>
        <p:grpSpPr>
          <a:xfrm>
            <a:off x="8065796" y="2845987"/>
            <a:ext cx="1157288" cy="738188"/>
            <a:chOff x="3726" y="1687"/>
            <a:chExt cx="729" cy="465"/>
          </a:xfrm>
        </p:grpSpPr>
        <p:cxnSp>
          <p:nvCxnSpPr>
            <p:cNvPr id="2327" name="Google Shape;2327;p41"/>
            <p:cNvCxnSpPr/>
            <p:nvPr/>
          </p:nvCxnSpPr>
          <p:spPr>
            <a:xfrm>
              <a:off x="3726" y="1780"/>
              <a:ext cx="548" cy="148"/>
            </a:xfrm>
            <a:prstGeom prst="straightConnector1">
              <a:avLst/>
            </a:prstGeom>
            <a:noFill/>
            <a:ln cap="flat" cmpd="sng" w="28575">
              <a:solidFill>
                <a:srgbClr val="000099"/>
              </a:solidFill>
              <a:prstDash val="solid"/>
              <a:round/>
              <a:headEnd len="med" w="med" type="none"/>
              <a:tailEnd len="med" w="med" type="triangle"/>
            </a:ln>
          </p:spPr>
        </p:cxnSp>
        <p:sp>
          <p:nvSpPr>
            <p:cNvPr id="2328" name="Google Shape;2328;p41"/>
            <p:cNvSpPr txBox="1"/>
            <p:nvPr/>
          </p:nvSpPr>
          <p:spPr>
            <a:xfrm>
              <a:off x="3965" y="1687"/>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sp>
          <p:nvSpPr>
            <p:cNvPr id="2329" name="Google Shape;2329;p41"/>
            <p:cNvSpPr txBox="1"/>
            <p:nvPr/>
          </p:nvSpPr>
          <p:spPr>
            <a:xfrm>
              <a:off x="4185" y="1808"/>
              <a:ext cx="21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2330" name="Google Shape;2330;p41"/>
            <p:cNvSpPr txBox="1"/>
            <p:nvPr/>
          </p:nvSpPr>
          <p:spPr>
            <a:xfrm>
              <a:off x="4126" y="1940"/>
              <a:ext cx="3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grpSp>
        <p:nvGrpSpPr>
          <p:cNvPr id="2331" name="Google Shape;2331;p41"/>
          <p:cNvGrpSpPr/>
          <p:nvPr/>
        </p:nvGrpSpPr>
        <p:grpSpPr>
          <a:xfrm>
            <a:off x="7946734" y="3149200"/>
            <a:ext cx="122237" cy="1033462"/>
            <a:chOff x="3651" y="1878"/>
            <a:chExt cx="78" cy="963"/>
          </a:xfrm>
        </p:grpSpPr>
        <p:cxnSp>
          <p:nvCxnSpPr>
            <p:cNvPr id="2332" name="Google Shape;2332;p41"/>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2333" name="Google Shape;2333;p41"/>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2334" name="Google Shape;2334;p41"/>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2335" name="Google Shape;2335;p41"/>
          <p:cNvGrpSpPr/>
          <p:nvPr/>
        </p:nvGrpSpPr>
        <p:grpSpPr>
          <a:xfrm>
            <a:off x="8075321" y="4138212"/>
            <a:ext cx="1471613" cy="504825"/>
            <a:chOff x="855" y="1710"/>
            <a:chExt cx="927" cy="318"/>
          </a:xfrm>
        </p:grpSpPr>
        <p:cxnSp>
          <p:nvCxnSpPr>
            <p:cNvPr id="2336" name="Google Shape;2336;p41"/>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2337" name="Google Shape;2337;p41"/>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2338" name="Google Shape;2338;p41"/>
          <p:cNvGrpSpPr/>
          <p:nvPr/>
        </p:nvGrpSpPr>
        <p:grpSpPr>
          <a:xfrm>
            <a:off x="6643396" y="3761975"/>
            <a:ext cx="1377950" cy="731837"/>
            <a:chOff x="2802" y="2348"/>
            <a:chExt cx="868" cy="461"/>
          </a:xfrm>
        </p:grpSpPr>
        <p:pic>
          <p:nvPicPr>
            <p:cNvPr descr="alarm_clock_ringing" id="2339" name="Google Shape;2339;p41"/>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2340" name="Google Shape;2340;p41"/>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sp>
        <p:nvSpPr>
          <p:cNvPr id="2341" name="Google Shape;2341;p4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8"/>
                                        </p:tgtEl>
                                        <p:attrNameLst>
                                          <p:attrName>style.visibility</p:attrName>
                                        </p:attrNameLst>
                                      </p:cBhvr>
                                      <p:to>
                                        <p:strVal val="visible"/>
                                      </p:to>
                                    </p:set>
                                    <p:animEffect filter="fade" transition="in">
                                      <p:cBhvr>
                                        <p:cTn dur="500"/>
                                        <p:tgtEl>
                                          <p:spTgt spid="227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77">
                                            <p:txEl>
                                              <p:pRg end="0" st="0"/>
                                            </p:txEl>
                                          </p:spTgt>
                                        </p:tgtEl>
                                        <p:attrNameLst>
                                          <p:attrName>style.visibility</p:attrName>
                                        </p:attrNameLst>
                                      </p:cBhvr>
                                      <p:to>
                                        <p:strVal val="visible"/>
                                      </p:to>
                                    </p:set>
                                    <p:animEffect filter="fade" transition="in">
                                      <p:cBhvr>
                                        <p:cTn dur="500"/>
                                        <p:tgtEl>
                                          <p:spTgt spid="22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9"/>
                                        </p:tgtEl>
                                        <p:attrNameLst>
                                          <p:attrName>style.visibility</p:attrName>
                                        </p:attrNameLst>
                                      </p:cBhvr>
                                      <p:to>
                                        <p:strVal val="visible"/>
                                      </p:to>
                                    </p:set>
                                    <p:animEffect filter="fade" transition="in">
                                      <p:cBhvr>
                                        <p:cTn dur="500"/>
                                        <p:tgtEl>
                                          <p:spTgt spid="226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90"/>
                                        </p:tgtEl>
                                        <p:attrNameLst>
                                          <p:attrName>style.visibility</p:attrName>
                                        </p:attrNameLst>
                                      </p:cBhvr>
                                      <p:to>
                                        <p:strVal val="visible"/>
                                      </p:to>
                                    </p:set>
                                    <p:animEffect filter="fade" transition="in">
                                      <p:cBhvr>
                                        <p:cTn dur="500"/>
                                        <p:tgtEl>
                                          <p:spTgt spid="229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72"/>
                                        </p:tgtEl>
                                        <p:attrNameLst>
                                          <p:attrName>style.visibility</p:attrName>
                                        </p:attrNameLst>
                                      </p:cBhvr>
                                      <p:to>
                                        <p:strVal val="visible"/>
                                      </p:to>
                                    </p:set>
                                    <p:animEffect filter="fade" transition="in">
                                      <p:cBhvr>
                                        <p:cTn dur="500"/>
                                        <p:tgtEl>
                                          <p:spTgt spid="22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4"/>
                                        </p:tgtEl>
                                        <p:attrNameLst>
                                          <p:attrName>style.visibility</p:attrName>
                                        </p:attrNameLst>
                                      </p:cBhvr>
                                      <p:to>
                                        <p:strVal val="visible"/>
                                      </p:to>
                                    </p:set>
                                    <p:animEffect filter="fade" transition="in">
                                      <p:cBhvr>
                                        <p:cTn dur="500"/>
                                        <p:tgtEl>
                                          <p:spTgt spid="227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84"/>
                                        </p:tgtEl>
                                        <p:attrNameLst>
                                          <p:attrName>style.visibility</p:attrName>
                                        </p:attrNameLst>
                                      </p:cBhvr>
                                      <p:to>
                                        <p:strVal val="visible"/>
                                      </p:to>
                                    </p:set>
                                    <p:animEffect filter="fade" transition="in">
                                      <p:cBhvr>
                                        <p:cTn dur="500"/>
                                        <p:tgtEl>
                                          <p:spTgt spid="228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67">
                                            <p:txEl>
                                              <p:pRg end="0" st="0"/>
                                            </p:txEl>
                                          </p:spTgt>
                                        </p:tgtEl>
                                        <p:attrNameLst>
                                          <p:attrName>style.visibility</p:attrName>
                                        </p:attrNameLst>
                                      </p:cBhvr>
                                      <p:to>
                                        <p:strVal val="visible"/>
                                      </p:to>
                                    </p:set>
                                    <p:animEffect filter="fade" transition="in">
                                      <p:cBhvr>
                                        <p:cTn dur="500"/>
                                        <p:tgtEl>
                                          <p:spTgt spid="2267">
                                            <p:txEl>
                                              <p:pRg end="0" st="0"/>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270"/>
                                        </p:tgtEl>
                                        <p:attrNameLst>
                                          <p:attrName>style.visibility</p:attrName>
                                        </p:attrNameLst>
                                      </p:cBhvr>
                                      <p:to>
                                        <p:strVal val="visible"/>
                                      </p:to>
                                    </p:set>
                                    <p:animEffect filter="fade" transition="in">
                                      <p:cBhvr>
                                        <p:cTn dur="500"/>
                                        <p:tgtEl>
                                          <p:spTgt spid="227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287"/>
                                        </p:tgtEl>
                                        <p:attrNameLst>
                                          <p:attrName>style.visibility</p:attrName>
                                        </p:attrNameLst>
                                      </p:cBhvr>
                                      <p:to>
                                        <p:strVal val="visible"/>
                                      </p:to>
                                    </p:set>
                                    <p:animEffect filter="fade" transition="in">
                                      <p:cBhvr>
                                        <p:cTn dur="500"/>
                                        <p:tgtEl>
                                          <p:spTgt spid="2287"/>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275"/>
                                        </p:tgtEl>
                                        <p:attrNameLst>
                                          <p:attrName>style.visibility</p:attrName>
                                        </p:attrNameLst>
                                      </p:cBhvr>
                                      <p:to>
                                        <p:strVal val="visible"/>
                                      </p:to>
                                    </p:set>
                                    <p:animEffect filter="fade" transition="in">
                                      <p:cBhvr>
                                        <p:cTn dur="500"/>
                                        <p:tgtEl>
                                          <p:spTgt spid="2275"/>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273"/>
                                        </p:tgtEl>
                                        <p:attrNameLst>
                                          <p:attrName>style.visibility</p:attrName>
                                        </p:attrNameLst>
                                      </p:cBhvr>
                                      <p:to>
                                        <p:strVal val="visible"/>
                                      </p:to>
                                    </p:set>
                                    <p:animEffect filter="fade" transition="in">
                                      <p:cBhvr>
                                        <p:cTn dur="500"/>
                                        <p:tgtEl>
                                          <p:spTgt spid="2273"/>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281"/>
                                        </p:tgtEl>
                                        <p:attrNameLst>
                                          <p:attrName>style.visibility</p:attrName>
                                        </p:attrNameLst>
                                      </p:cBhvr>
                                      <p:to>
                                        <p:strVal val="visible"/>
                                      </p:to>
                                    </p:set>
                                    <p:animEffect filter="fade" transition="in">
                                      <p:cBhvr>
                                        <p:cTn dur="500"/>
                                        <p:tgtEl>
                                          <p:spTgt spid="2281"/>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268"/>
                                        </p:tgtEl>
                                        <p:attrNameLst>
                                          <p:attrName>style.visibility</p:attrName>
                                        </p:attrNameLst>
                                      </p:cBhvr>
                                      <p:to>
                                        <p:strVal val="visible"/>
                                      </p:to>
                                    </p:set>
                                    <p:animEffect filter="fade" transition="in">
                                      <p:cBhvr>
                                        <p:cTn dur="500"/>
                                        <p:tgtEl>
                                          <p:spTgt spid="2268"/>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271">
                                            <p:txEl>
                                              <p:pRg end="0" st="0"/>
                                            </p:txEl>
                                          </p:spTgt>
                                        </p:tgtEl>
                                        <p:attrNameLst>
                                          <p:attrName>style.visibility</p:attrName>
                                        </p:attrNameLst>
                                      </p:cBhvr>
                                      <p:to>
                                        <p:strVal val="visible"/>
                                      </p:to>
                                    </p:set>
                                    <p:animEffect filter="fade" transition="in">
                                      <p:cBhvr>
                                        <p:cTn dur="500"/>
                                        <p:tgtEl>
                                          <p:spTgt spid="2271">
                                            <p:txEl>
                                              <p:pRg end="0" st="0"/>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2293"/>
                                        </p:tgtEl>
                                        <p:attrNameLst>
                                          <p:attrName>style.visibility</p:attrName>
                                        </p:attrNameLst>
                                      </p:cBhvr>
                                      <p:to>
                                        <p:strVal val="visible"/>
                                      </p:to>
                                    </p:set>
                                    <p:animEffect filter="fade" transition="in">
                                      <p:cBhvr>
                                        <p:cTn dur="500"/>
                                        <p:tgtEl>
                                          <p:spTgt spid="22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0"/>
                                        </p:tgtEl>
                                        <p:attrNameLst>
                                          <p:attrName>style.visibility</p:attrName>
                                        </p:attrNameLst>
                                      </p:cBhvr>
                                      <p:to>
                                        <p:strVal val="visible"/>
                                      </p:to>
                                    </p:set>
                                    <p:animEffect filter="fade" transition="in">
                                      <p:cBhvr>
                                        <p:cTn dur="500"/>
                                        <p:tgtEl>
                                          <p:spTgt spid="231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309">
                                            <p:txEl>
                                              <p:pRg end="0" st="0"/>
                                            </p:txEl>
                                          </p:spTgt>
                                        </p:tgtEl>
                                        <p:attrNameLst>
                                          <p:attrName>style.visibility</p:attrName>
                                        </p:attrNameLst>
                                      </p:cBhvr>
                                      <p:to>
                                        <p:strVal val="visible"/>
                                      </p:to>
                                    </p:set>
                                    <p:animEffect filter="fade" transition="in">
                                      <p:cBhvr>
                                        <p:cTn dur="500"/>
                                        <p:tgtEl>
                                          <p:spTgt spid="2309">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01"/>
                                        </p:tgtEl>
                                        <p:attrNameLst>
                                          <p:attrName>style.visibility</p:attrName>
                                        </p:attrNameLst>
                                      </p:cBhvr>
                                      <p:to>
                                        <p:strVal val="visible"/>
                                      </p:to>
                                    </p:set>
                                    <p:animEffect filter="fade" transition="in">
                                      <p:cBhvr>
                                        <p:cTn dur="500"/>
                                        <p:tgtEl>
                                          <p:spTgt spid="230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319"/>
                                        </p:tgtEl>
                                        <p:attrNameLst>
                                          <p:attrName>style.visibility</p:attrName>
                                        </p:attrNameLst>
                                      </p:cBhvr>
                                      <p:to>
                                        <p:strVal val="visible"/>
                                      </p:to>
                                    </p:set>
                                    <p:animEffect filter="fade" transition="in">
                                      <p:cBhvr>
                                        <p:cTn dur="500"/>
                                        <p:tgtEl>
                                          <p:spTgt spid="231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304"/>
                                        </p:tgtEl>
                                        <p:attrNameLst>
                                          <p:attrName>style.visibility</p:attrName>
                                        </p:attrNameLst>
                                      </p:cBhvr>
                                      <p:to>
                                        <p:strVal val="visible"/>
                                      </p:to>
                                    </p:set>
                                    <p:animEffect filter="fade" transition="in">
                                      <p:cBhvr>
                                        <p:cTn dur="500"/>
                                        <p:tgtEl>
                                          <p:spTgt spid="230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306"/>
                                        </p:tgtEl>
                                        <p:attrNameLst>
                                          <p:attrName>style.visibility</p:attrName>
                                        </p:attrNameLst>
                                      </p:cBhvr>
                                      <p:to>
                                        <p:strVal val="visible"/>
                                      </p:to>
                                    </p:set>
                                    <p:animEffect filter="fade" transition="in">
                                      <p:cBhvr>
                                        <p:cTn dur="500"/>
                                        <p:tgtEl>
                                          <p:spTgt spid="2306"/>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326"/>
                                        </p:tgtEl>
                                        <p:attrNameLst>
                                          <p:attrName>style.visibility</p:attrName>
                                        </p:attrNameLst>
                                      </p:cBhvr>
                                      <p:to>
                                        <p:strVal val="visible"/>
                                      </p:to>
                                    </p:set>
                                    <p:animEffect filter="fade" transition="in">
                                      <p:cBhvr>
                                        <p:cTn dur="500"/>
                                        <p:tgtEl>
                                          <p:spTgt spid="23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1"/>
                                        </p:tgtEl>
                                        <p:attrNameLst>
                                          <p:attrName>style.visibility</p:attrName>
                                        </p:attrNameLst>
                                      </p:cBhvr>
                                      <p:to>
                                        <p:strVal val="visible"/>
                                      </p:to>
                                    </p:set>
                                    <p:animEffect filter="fade" transition="in">
                                      <p:cBhvr>
                                        <p:cTn dur="1000"/>
                                        <p:tgtEl>
                                          <p:spTgt spid="233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38"/>
                                        </p:tgtEl>
                                        <p:attrNameLst>
                                          <p:attrName>style.visibility</p:attrName>
                                        </p:attrNameLst>
                                      </p:cBhvr>
                                      <p:to>
                                        <p:strVal val="visible"/>
                                      </p:to>
                                    </p:set>
                                    <p:animEffect filter="fade" transition="in">
                                      <p:cBhvr>
                                        <p:cTn dur="500"/>
                                        <p:tgtEl>
                                          <p:spTgt spid="23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5"/>
                                        </p:tgtEl>
                                        <p:attrNameLst>
                                          <p:attrName>style.visibility</p:attrName>
                                        </p:attrNameLst>
                                      </p:cBhvr>
                                      <p:to>
                                        <p:strVal val="visible"/>
                                      </p:to>
                                    </p:set>
                                    <p:animEffect filter="fade" transition="in">
                                      <p:cBhvr>
                                        <p:cTn dur="500"/>
                                        <p:tgtEl>
                                          <p:spTgt spid="233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99">
                                            <p:txEl>
                                              <p:pRg end="0" st="0"/>
                                            </p:txEl>
                                          </p:spTgt>
                                        </p:tgtEl>
                                        <p:attrNameLst>
                                          <p:attrName>style.visibility</p:attrName>
                                        </p:attrNameLst>
                                      </p:cBhvr>
                                      <p:to>
                                        <p:strVal val="visible"/>
                                      </p:to>
                                    </p:set>
                                    <p:animEffect filter="fade" transition="in">
                                      <p:cBhvr>
                                        <p:cTn dur="500"/>
                                        <p:tgtEl>
                                          <p:spTgt spid="2299">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02"/>
                                        </p:tgtEl>
                                        <p:attrNameLst>
                                          <p:attrName>style.visibility</p:attrName>
                                        </p:attrNameLst>
                                      </p:cBhvr>
                                      <p:to>
                                        <p:strVal val="visible"/>
                                      </p:to>
                                    </p:set>
                                    <p:animEffect filter="fade" transition="in">
                                      <p:cBhvr>
                                        <p:cTn dur="500"/>
                                        <p:tgtEl>
                                          <p:spTgt spid="230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316"/>
                                        </p:tgtEl>
                                        <p:attrNameLst>
                                          <p:attrName>style.visibility</p:attrName>
                                        </p:attrNameLst>
                                      </p:cBhvr>
                                      <p:to>
                                        <p:strVal val="visible"/>
                                      </p:to>
                                    </p:set>
                                    <p:animEffect filter="fade" transition="in">
                                      <p:cBhvr>
                                        <p:cTn dur="500"/>
                                        <p:tgtEl>
                                          <p:spTgt spid="231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307"/>
                                        </p:tgtEl>
                                        <p:attrNameLst>
                                          <p:attrName>style.visibility</p:attrName>
                                        </p:attrNameLst>
                                      </p:cBhvr>
                                      <p:to>
                                        <p:strVal val="visible"/>
                                      </p:to>
                                    </p:set>
                                    <p:animEffect filter="fade" transition="in">
                                      <p:cBhvr>
                                        <p:cTn dur="500"/>
                                        <p:tgtEl>
                                          <p:spTgt spid="2307"/>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305"/>
                                        </p:tgtEl>
                                        <p:attrNameLst>
                                          <p:attrName>style.visibility</p:attrName>
                                        </p:attrNameLst>
                                      </p:cBhvr>
                                      <p:to>
                                        <p:strVal val="visible"/>
                                      </p:to>
                                    </p:set>
                                    <p:animEffect filter="fade" transition="in">
                                      <p:cBhvr>
                                        <p:cTn dur="500"/>
                                        <p:tgtEl>
                                          <p:spTgt spid="2305"/>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313"/>
                                        </p:tgtEl>
                                        <p:attrNameLst>
                                          <p:attrName>style.visibility</p:attrName>
                                        </p:attrNameLst>
                                      </p:cBhvr>
                                      <p:to>
                                        <p:strVal val="visible"/>
                                      </p:to>
                                    </p:set>
                                    <p:animEffect filter="fade" transition="in">
                                      <p:cBhvr>
                                        <p:cTn dur="500"/>
                                        <p:tgtEl>
                                          <p:spTgt spid="2313"/>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300"/>
                                        </p:tgtEl>
                                        <p:attrNameLst>
                                          <p:attrName>style.visibility</p:attrName>
                                        </p:attrNameLst>
                                      </p:cBhvr>
                                      <p:to>
                                        <p:strVal val="visible"/>
                                      </p:to>
                                    </p:set>
                                    <p:animEffect filter="fade" transition="in">
                                      <p:cBhvr>
                                        <p:cTn dur="500"/>
                                        <p:tgtEl>
                                          <p:spTgt spid="2300"/>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303">
                                            <p:txEl>
                                              <p:pRg end="0" st="0"/>
                                            </p:txEl>
                                          </p:spTgt>
                                        </p:tgtEl>
                                        <p:attrNameLst>
                                          <p:attrName>style.visibility</p:attrName>
                                        </p:attrNameLst>
                                      </p:cBhvr>
                                      <p:to>
                                        <p:strVal val="visible"/>
                                      </p:to>
                                    </p:set>
                                    <p:animEffect filter="fade" transition="in">
                                      <p:cBhvr>
                                        <p:cTn dur="500"/>
                                        <p:tgtEl>
                                          <p:spTgt spid="2303">
                                            <p:txEl>
                                              <p:pRg end="0" st="0"/>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322"/>
                                        </p:tgtEl>
                                        <p:attrNameLst>
                                          <p:attrName>style.visibility</p:attrName>
                                        </p:attrNameLst>
                                      </p:cBhvr>
                                      <p:to>
                                        <p:strVal val="visible"/>
                                      </p:to>
                                    </p:set>
                                    <p:animEffect filter="fade" transition="in">
                                      <p:cBhvr>
                                        <p:cTn dur="500"/>
                                        <p:tgtEl>
                                          <p:spTgt spid="23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6" name="Shape 2346"/>
        <p:cNvGrpSpPr/>
        <p:nvPr/>
      </p:nvGrpSpPr>
      <p:grpSpPr>
        <a:xfrm>
          <a:off x="0" y="0"/>
          <a:ext cx="0" cy="0"/>
          <a:chOff x="0" y="0"/>
          <a:chExt cx="0" cy="0"/>
        </a:xfrm>
      </p:grpSpPr>
      <p:sp>
        <p:nvSpPr>
          <p:cNvPr id="2347" name="Google Shape;2347;p4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in action</a:t>
            </a:r>
            <a:endParaRPr sz="4400"/>
          </a:p>
        </p:txBody>
      </p:sp>
      <p:sp>
        <p:nvSpPr>
          <p:cNvPr id="2348" name="Google Shape;2348;p42"/>
          <p:cNvSpPr txBox="1"/>
          <p:nvPr/>
        </p:nvSpPr>
        <p:spPr>
          <a:xfrm>
            <a:off x="3808470" y="3116226"/>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2349" name="Google Shape;2349;p42"/>
          <p:cNvSpPr txBox="1"/>
          <p:nvPr/>
        </p:nvSpPr>
        <p:spPr>
          <a:xfrm>
            <a:off x="3808470" y="334165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2350" name="Google Shape;2350;p42"/>
          <p:cNvSpPr txBox="1"/>
          <p:nvPr/>
        </p:nvSpPr>
        <p:spPr>
          <a:xfrm>
            <a:off x="3789420" y="4532276"/>
            <a:ext cx="15684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(detect duplicate)</a:t>
            </a:r>
            <a:endParaRPr/>
          </a:p>
        </p:txBody>
      </p:sp>
      <p:grpSp>
        <p:nvGrpSpPr>
          <p:cNvPr id="2351" name="Google Shape;2351;p42"/>
          <p:cNvGrpSpPr/>
          <p:nvPr/>
        </p:nvGrpSpPr>
        <p:grpSpPr>
          <a:xfrm>
            <a:off x="2340033" y="2889213"/>
            <a:ext cx="1471612" cy="504825"/>
            <a:chOff x="855" y="1710"/>
            <a:chExt cx="927" cy="318"/>
          </a:xfrm>
        </p:grpSpPr>
        <p:cxnSp>
          <p:nvCxnSpPr>
            <p:cNvPr id="2352" name="Google Shape;2352;p42"/>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2353" name="Google Shape;2353;p42"/>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sp>
        <p:nvSpPr>
          <p:cNvPr id="2354" name="Google Shape;2354;p42"/>
          <p:cNvSpPr txBox="1"/>
          <p:nvPr/>
        </p:nvSpPr>
        <p:spPr>
          <a:xfrm>
            <a:off x="1352599" y="1508100"/>
            <a:ext cx="10716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2355" name="Google Shape;2355;p42"/>
          <p:cNvSpPr txBox="1"/>
          <p:nvPr/>
        </p:nvSpPr>
        <p:spPr>
          <a:xfrm>
            <a:off x="3792595" y="1503326"/>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2356" name="Google Shape;2356;p42"/>
          <p:cNvSpPr txBox="1"/>
          <p:nvPr/>
        </p:nvSpPr>
        <p:spPr>
          <a:xfrm>
            <a:off x="3805295" y="426398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2357" name="Google Shape;2357;p42"/>
          <p:cNvSpPr txBox="1"/>
          <p:nvPr/>
        </p:nvSpPr>
        <p:spPr>
          <a:xfrm>
            <a:off x="3802120" y="526093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2358" name="Google Shape;2358;p42"/>
          <p:cNvSpPr txBox="1"/>
          <p:nvPr/>
        </p:nvSpPr>
        <p:spPr>
          <a:xfrm>
            <a:off x="3798945" y="2441538"/>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2359" name="Google Shape;2359;p42"/>
          <p:cNvSpPr txBox="1"/>
          <p:nvPr/>
        </p:nvSpPr>
        <p:spPr>
          <a:xfrm>
            <a:off x="3817995" y="4686263"/>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2360" name="Google Shape;2360;p42"/>
          <p:cNvSpPr txBox="1"/>
          <p:nvPr/>
        </p:nvSpPr>
        <p:spPr>
          <a:xfrm>
            <a:off x="3795770" y="545620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2361" name="Google Shape;2361;p42"/>
          <p:cNvSpPr txBox="1"/>
          <p:nvPr/>
        </p:nvSpPr>
        <p:spPr>
          <a:xfrm>
            <a:off x="1281170" y="2690776"/>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2362" name="Google Shape;2362;p42"/>
          <p:cNvSpPr txBox="1"/>
          <p:nvPr/>
        </p:nvSpPr>
        <p:spPr>
          <a:xfrm>
            <a:off x="1125595" y="5062501"/>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2363" name="Google Shape;2363;p42"/>
          <p:cNvSpPr txBox="1"/>
          <p:nvPr/>
        </p:nvSpPr>
        <p:spPr>
          <a:xfrm>
            <a:off x="1125595" y="2909851"/>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2364" name="Google Shape;2364;p42"/>
          <p:cNvSpPr txBox="1"/>
          <p:nvPr/>
        </p:nvSpPr>
        <p:spPr>
          <a:xfrm>
            <a:off x="1270058" y="4822788"/>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2365" name="Google Shape;2365;p42"/>
          <p:cNvSpPr txBox="1"/>
          <p:nvPr/>
        </p:nvSpPr>
        <p:spPr>
          <a:xfrm>
            <a:off x="1114483" y="1947826"/>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2366" name="Google Shape;2366;p42"/>
          <p:cNvSpPr txBox="1"/>
          <p:nvPr/>
        </p:nvSpPr>
        <p:spPr>
          <a:xfrm>
            <a:off x="3791008" y="2230401"/>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2367" name="Google Shape;2367;p42"/>
          <p:cNvGrpSpPr/>
          <p:nvPr/>
        </p:nvGrpSpPr>
        <p:grpSpPr>
          <a:xfrm>
            <a:off x="2330508" y="2017676"/>
            <a:ext cx="1471612" cy="512762"/>
            <a:chOff x="850" y="1159"/>
            <a:chExt cx="927" cy="323"/>
          </a:xfrm>
        </p:grpSpPr>
        <p:cxnSp>
          <p:nvCxnSpPr>
            <p:cNvPr id="2368" name="Google Shape;2368;p42"/>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2369" name="Google Shape;2369;p42"/>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2370" name="Google Shape;2370;p42"/>
          <p:cNvGrpSpPr/>
          <p:nvPr/>
        </p:nvGrpSpPr>
        <p:grpSpPr>
          <a:xfrm>
            <a:off x="2324158" y="5032338"/>
            <a:ext cx="1471612" cy="487363"/>
            <a:chOff x="846" y="2253"/>
            <a:chExt cx="927" cy="307"/>
          </a:xfrm>
        </p:grpSpPr>
        <p:cxnSp>
          <p:nvCxnSpPr>
            <p:cNvPr id="2371" name="Google Shape;2371;p42"/>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2372" name="Google Shape;2372;p42"/>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2373" name="Google Shape;2373;p42"/>
          <p:cNvGrpSpPr/>
          <p:nvPr/>
        </p:nvGrpSpPr>
        <p:grpSpPr>
          <a:xfrm>
            <a:off x="2324158" y="4635463"/>
            <a:ext cx="1471612" cy="471488"/>
            <a:chOff x="846" y="2003"/>
            <a:chExt cx="927" cy="297"/>
          </a:xfrm>
        </p:grpSpPr>
        <p:cxnSp>
          <p:nvCxnSpPr>
            <p:cNvPr id="2374" name="Google Shape;2374;p42"/>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2375" name="Google Shape;2375;p42"/>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2376" name="Google Shape;2376;p42"/>
          <p:cNvGrpSpPr/>
          <p:nvPr/>
        </p:nvGrpSpPr>
        <p:grpSpPr>
          <a:xfrm>
            <a:off x="2316220" y="2517738"/>
            <a:ext cx="1471613" cy="455613"/>
            <a:chOff x="841" y="1474"/>
            <a:chExt cx="927" cy="287"/>
          </a:xfrm>
        </p:grpSpPr>
        <p:cxnSp>
          <p:nvCxnSpPr>
            <p:cNvPr id="2377" name="Google Shape;2377;p42"/>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2378" name="Google Shape;2378;p42"/>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2379" name="Google Shape;2379;p42"/>
          <p:cNvGrpSpPr/>
          <p:nvPr/>
        </p:nvGrpSpPr>
        <p:grpSpPr>
          <a:xfrm>
            <a:off x="2309870" y="5487951"/>
            <a:ext cx="1471613" cy="461962"/>
            <a:chOff x="837" y="2540"/>
            <a:chExt cx="927" cy="291"/>
          </a:xfrm>
        </p:grpSpPr>
        <p:cxnSp>
          <p:nvCxnSpPr>
            <p:cNvPr id="2380" name="Google Shape;2380;p42"/>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2381" name="Google Shape;2381;p42"/>
            <p:cNvSpPr txBox="1"/>
            <p:nvPr/>
          </p:nvSpPr>
          <p:spPr>
            <a:xfrm>
              <a:off x="1086" y="2540"/>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2382" name="Google Shape;2382;p42"/>
          <p:cNvSpPr txBox="1"/>
          <p:nvPr/>
        </p:nvSpPr>
        <p:spPr>
          <a:xfrm>
            <a:off x="2108246" y="6200750"/>
            <a:ext cx="2046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(c) ACK loss</a:t>
            </a:r>
            <a:endParaRPr/>
          </a:p>
        </p:txBody>
      </p:sp>
      <p:grpSp>
        <p:nvGrpSpPr>
          <p:cNvPr id="2383" name="Google Shape;2383;p42"/>
          <p:cNvGrpSpPr/>
          <p:nvPr/>
        </p:nvGrpSpPr>
        <p:grpSpPr>
          <a:xfrm>
            <a:off x="2595620" y="3289263"/>
            <a:ext cx="1212850" cy="719138"/>
            <a:chOff x="1324" y="1931"/>
            <a:chExt cx="764" cy="453"/>
          </a:xfrm>
        </p:grpSpPr>
        <p:cxnSp>
          <p:nvCxnSpPr>
            <p:cNvPr id="2384" name="Google Shape;2384;p42"/>
            <p:cNvCxnSpPr/>
            <p:nvPr/>
          </p:nvCxnSpPr>
          <p:spPr>
            <a:xfrm flipH="1">
              <a:off x="1514" y="2031"/>
              <a:ext cx="574" cy="132"/>
            </a:xfrm>
            <a:prstGeom prst="straightConnector1">
              <a:avLst/>
            </a:prstGeom>
            <a:noFill/>
            <a:ln cap="flat" cmpd="sng" w="28575">
              <a:solidFill>
                <a:srgbClr val="008000"/>
              </a:solidFill>
              <a:prstDash val="solid"/>
              <a:round/>
              <a:headEnd len="med" w="med" type="none"/>
              <a:tailEnd len="med" w="med" type="triangle"/>
            </a:ln>
          </p:spPr>
        </p:cxnSp>
        <p:sp>
          <p:nvSpPr>
            <p:cNvPr id="2385" name="Google Shape;2385;p42"/>
            <p:cNvSpPr txBox="1"/>
            <p:nvPr/>
          </p:nvSpPr>
          <p:spPr>
            <a:xfrm>
              <a:off x="1456" y="1931"/>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sp>
          <p:nvSpPr>
            <p:cNvPr id="2386" name="Google Shape;2386;p42"/>
            <p:cNvSpPr txBox="1"/>
            <p:nvPr/>
          </p:nvSpPr>
          <p:spPr>
            <a:xfrm>
              <a:off x="1383" y="2040"/>
              <a:ext cx="21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2387" name="Google Shape;2387;p42"/>
            <p:cNvSpPr txBox="1"/>
            <p:nvPr/>
          </p:nvSpPr>
          <p:spPr>
            <a:xfrm>
              <a:off x="1324" y="2172"/>
              <a:ext cx="3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grpSp>
        <p:nvGrpSpPr>
          <p:cNvPr id="2388" name="Google Shape;2388;p42"/>
          <p:cNvGrpSpPr/>
          <p:nvPr/>
        </p:nvGrpSpPr>
        <p:grpSpPr>
          <a:xfrm>
            <a:off x="2219383" y="3195601"/>
            <a:ext cx="122237" cy="1033462"/>
            <a:chOff x="3651" y="1878"/>
            <a:chExt cx="78" cy="963"/>
          </a:xfrm>
        </p:grpSpPr>
        <p:cxnSp>
          <p:nvCxnSpPr>
            <p:cNvPr id="2389" name="Google Shape;2389;p42"/>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2390" name="Google Shape;2390;p42"/>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2391" name="Google Shape;2391;p42"/>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2392" name="Google Shape;2392;p42"/>
          <p:cNvGrpSpPr/>
          <p:nvPr/>
        </p:nvGrpSpPr>
        <p:grpSpPr>
          <a:xfrm>
            <a:off x="2347970" y="4184613"/>
            <a:ext cx="1471613" cy="504825"/>
            <a:chOff x="855" y="1710"/>
            <a:chExt cx="927" cy="318"/>
          </a:xfrm>
        </p:grpSpPr>
        <p:cxnSp>
          <p:nvCxnSpPr>
            <p:cNvPr id="2393" name="Google Shape;2393;p42"/>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2394" name="Google Shape;2394;p42"/>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2395" name="Google Shape;2395;p42"/>
          <p:cNvGrpSpPr/>
          <p:nvPr/>
        </p:nvGrpSpPr>
        <p:grpSpPr>
          <a:xfrm>
            <a:off x="916045" y="3808376"/>
            <a:ext cx="1377950" cy="731837"/>
            <a:chOff x="2802" y="2348"/>
            <a:chExt cx="868" cy="461"/>
          </a:xfrm>
        </p:grpSpPr>
        <p:pic>
          <p:nvPicPr>
            <p:cNvPr descr="alarm_clock_ringing" id="2396" name="Google Shape;2396;p42"/>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2397" name="Google Shape;2397;p42"/>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sp>
        <p:nvSpPr>
          <p:cNvPr id="2398" name="Google Shape;2398;p42"/>
          <p:cNvSpPr txBox="1"/>
          <p:nvPr/>
        </p:nvSpPr>
        <p:spPr>
          <a:xfrm>
            <a:off x="9492400" y="264473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2399" name="Google Shape;2399;p42"/>
          <p:cNvSpPr txBox="1"/>
          <p:nvPr/>
        </p:nvSpPr>
        <p:spPr>
          <a:xfrm>
            <a:off x="9492400" y="2870163"/>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2400" name="Google Shape;2400;p42"/>
          <p:cNvSpPr txBox="1"/>
          <p:nvPr/>
        </p:nvSpPr>
        <p:spPr>
          <a:xfrm>
            <a:off x="9432963" y="4166394"/>
            <a:ext cx="15684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(detect duplicate)</a:t>
            </a:r>
            <a:endParaRPr/>
          </a:p>
        </p:txBody>
      </p:sp>
      <p:grpSp>
        <p:nvGrpSpPr>
          <p:cNvPr id="2401" name="Google Shape;2401;p42"/>
          <p:cNvGrpSpPr/>
          <p:nvPr/>
        </p:nvGrpSpPr>
        <p:grpSpPr>
          <a:xfrm>
            <a:off x="8023963" y="2517742"/>
            <a:ext cx="1471612" cy="404813"/>
            <a:chOff x="855" y="1773"/>
            <a:chExt cx="927" cy="255"/>
          </a:xfrm>
        </p:grpSpPr>
        <p:cxnSp>
          <p:nvCxnSpPr>
            <p:cNvPr id="2402" name="Google Shape;2402;p42"/>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2403" name="Google Shape;2403;p42"/>
            <p:cNvSpPr txBox="1"/>
            <p:nvPr/>
          </p:nvSpPr>
          <p:spPr>
            <a:xfrm>
              <a:off x="1094" y="1773"/>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sp>
        <p:nvSpPr>
          <p:cNvPr id="2404" name="Google Shape;2404;p42"/>
          <p:cNvSpPr txBox="1"/>
          <p:nvPr/>
        </p:nvSpPr>
        <p:spPr>
          <a:xfrm>
            <a:off x="7036553" y="1036600"/>
            <a:ext cx="11748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2405" name="Google Shape;2405;p42"/>
          <p:cNvSpPr txBox="1"/>
          <p:nvPr/>
        </p:nvSpPr>
        <p:spPr>
          <a:xfrm>
            <a:off x="9476525" y="1031838"/>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2406" name="Google Shape;2406;p42"/>
          <p:cNvSpPr txBox="1"/>
          <p:nvPr/>
        </p:nvSpPr>
        <p:spPr>
          <a:xfrm>
            <a:off x="9500155" y="3886501"/>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2407" name="Google Shape;2407;p42"/>
          <p:cNvSpPr txBox="1"/>
          <p:nvPr/>
        </p:nvSpPr>
        <p:spPr>
          <a:xfrm>
            <a:off x="9482875" y="197005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2408" name="Google Shape;2408;p42"/>
          <p:cNvSpPr txBox="1"/>
          <p:nvPr/>
        </p:nvSpPr>
        <p:spPr>
          <a:xfrm>
            <a:off x="6965100" y="2219288"/>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2409" name="Google Shape;2409;p42"/>
          <p:cNvSpPr txBox="1"/>
          <p:nvPr/>
        </p:nvSpPr>
        <p:spPr>
          <a:xfrm>
            <a:off x="6809525" y="2438363"/>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2410" name="Google Shape;2410;p42"/>
          <p:cNvSpPr txBox="1"/>
          <p:nvPr/>
        </p:nvSpPr>
        <p:spPr>
          <a:xfrm>
            <a:off x="6798413" y="1476338"/>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2411" name="Google Shape;2411;p42"/>
          <p:cNvSpPr txBox="1"/>
          <p:nvPr/>
        </p:nvSpPr>
        <p:spPr>
          <a:xfrm>
            <a:off x="9474938" y="1758913"/>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2412" name="Google Shape;2412;p42"/>
          <p:cNvGrpSpPr/>
          <p:nvPr/>
        </p:nvGrpSpPr>
        <p:grpSpPr>
          <a:xfrm>
            <a:off x="8014438" y="1658899"/>
            <a:ext cx="1471612" cy="400050"/>
            <a:chOff x="850" y="1230"/>
            <a:chExt cx="927" cy="252"/>
          </a:xfrm>
        </p:grpSpPr>
        <p:cxnSp>
          <p:nvCxnSpPr>
            <p:cNvPr id="2413" name="Google Shape;2413;p42"/>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2414" name="Google Shape;2414;p42"/>
            <p:cNvSpPr txBox="1"/>
            <p:nvPr/>
          </p:nvSpPr>
          <p:spPr>
            <a:xfrm>
              <a:off x="1082" y="1230"/>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2415" name="Google Shape;2415;p42"/>
          <p:cNvGrpSpPr/>
          <p:nvPr/>
        </p:nvGrpSpPr>
        <p:grpSpPr>
          <a:xfrm>
            <a:off x="8000150" y="2131982"/>
            <a:ext cx="1471613" cy="369888"/>
            <a:chOff x="841" y="1528"/>
            <a:chExt cx="927" cy="233"/>
          </a:xfrm>
        </p:grpSpPr>
        <p:cxnSp>
          <p:nvCxnSpPr>
            <p:cNvPr id="2416" name="Google Shape;2416;p42"/>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2417" name="Google Shape;2417;p42"/>
            <p:cNvSpPr txBox="1"/>
            <p:nvPr/>
          </p:nvSpPr>
          <p:spPr>
            <a:xfrm>
              <a:off x="1089" y="1528"/>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2418" name="Google Shape;2418;p42"/>
          <p:cNvSpPr txBox="1"/>
          <p:nvPr/>
        </p:nvSpPr>
        <p:spPr>
          <a:xfrm>
            <a:off x="6965100" y="6200644"/>
            <a:ext cx="38671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(d) premature timeout/ delayed ACK</a:t>
            </a:r>
            <a:endParaRPr/>
          </a:p>
        </p:txBody>
      </p:sp>
      <p:grpSp>
        <p:nvGrpSpPr>
          <p:cNvPr id="2419" name="Google Shape;2419;p42"/>
          <p:cNvGrpSpPr/>
          <p:nvPr/>
        </p:nvGrpSpPr>
        <p:grpSpPr>
          <a:xfrm>
            <a:off x="7903313" y="2724113"/>
            <a:ext cx="122237" cy="1033463"/>
            <a:chOff x="3651" y="1878"/>
            <a:chExt cx="78" cy="963"/>
          </a:xfrm>
        </p:grpSpPr>
        <p:cxnSp>
          <p:nvCxnSpPr>
            <p:cNvPr id="2420" name="Google Shape;2420;p42"/>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2421" name="Google Shape;2421;p42"/>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2422" name="Google Shape;2422;p42"/>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2423" name="Google Shape;2423;p42"/>
          <p:cNvGrpSpPr/>
          <p:nvPr/>
        </p:nvGrpSpPr>
        <p:grpSpPr>
          <a:xfrm>
            <a:off x="8031900" y="3854417"/>
            <a:ext cx="1471613" cy="363538"/>
            <a:chOff x="855" y="1799"/>
            <a:chExt cx="927" cy="229"/>
          </a:xfrm>
        </p:grpSpPr>
        <p:cxnSp>
          <p:nvCxnSpPr>
            <p:cNvPr id="2424" name="Google Shape;2424;p42"/>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2425" name="Google Shape;2425;p42"/>
            <p:cNvSpPr txBox="1"/>
            <p:nvPr/>
          </p:nvSpPr>
          <p:spPr>
            <a:xfrm>
              <a:off x="1121" y="1799"/>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2426" name="Google Shape;2426;p42"/>
          <p:cNvGrpSpPr/>
          <p:nvPr/>
        </p:nvGrpSpPr>
        <p:grpSpPr>
          <a:xfrm>
            <a:off x="6599975" y="3336888"/>
            <a:ext cx="1377950" cy="731838"/>
            <a:chOff x="2802" y="2348"/>
            <a:chExt cx="868" cy="461"/>
          </a:xfrm>
        </p:grpSpPr>
        <p:pic>
          <p:nvPicPr>
            <p:cNvPr descr="alarm_clock_ringing" id="2427" name="Google Shape;2427;p42"/>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2428" name="Google Shape;2428;p42"/>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grpSp>
        <p:nvGrpSpPr>
          <p:cNvPr id="2429" name="Google Shape;2429;p42"/>
          <p:cNvGrpSpPr/>
          <p:nvPr/>
        </p:nvGrpSpPr>
        <p:grpSpPr>
          <a:xfrm>
            <a:off x="8580889" y="2976526"/>
            <a:ext cx="911514" cy="752475"/>
            <a:chOff x="4186" y="1705"/>
            <a:chExt cx="598" cy="453"/>
          </a:xfrm>
        </p:grpSpPr>
        <p:cxnSp>
          <p:nvCxnSpPr>
            <p:cNvPr id="2430" name="Google Shape;2430;p42"/>
            <p:cNvCxnSpPr/>
            <p:nvPr/>
          </p:nvCxnSpPr>
          <p:spPr>
            <a:xfrm flipH="1">
              <a:off x="4343" y="1705"/>
              <a:ext cx="441" cy="329"/>
            </a:xfrm>
            <a:prstGeom prst="straightConnector1">
              <a:avLst/>
            </a:prstGeom>
            <a:noFill/>
            <a:ln cap="flat" cmpd="sng" w="28575">
              <a:solidFill>
                <a:srgbClr val="008000"/>
              </a:solidFill>
              <a:prstDash val="solid"/>
              <a:round/>
              <a:headEnd len="med" w="med" type="none"/>
              <a:tailEnd len="med" w="med" type="none"/>
            </a:ln>
          </p:spPr>
        </p:cxnSp>
        <p:cxnSp>
          <p:nvCxnSpPr>
            <p:cNvPr id="2431" name="Google Shape;2431;p42"/>
            <p:cNvCxnSpPr/>
            <p:nvPr/>
          </p:nvCxnSpPr>
          <p:spPr>
            <a:xfrm flipH="1">
              <a:off x="4186" y="2047"/>
              <a:ext cx="146" cy="111"/>
            </a:xfrm>
            <a:prstGeom prst="straightConnector1">
              <a:avLst/>
            </a:prstGeom>
            <a:noFill/>
            <a:ln cap="flat" cmpd="sng" w="28575">
              <a:solidFill>
                <a:srgbClr val="008000"/>
              </a:solidFill>
              <a:prstDash val="dot"/>
              <a:round/>
              <a:headEnd len="med" w="med" type="none"/>
              <a:tailEnd len="med" w="med" type="none"/>
            </a:ln>
          </p:spPr>
        </p:cxnSp>
        <p:sp>
          <p:nvSpPr>
            <p:cNvPr id="2432" name="Google Shape;2432;p42"/>
            <p:cNvSpPr txBox="1"/>
            <p:nvPr/>
          </p:nvSpPr>
          <p:spPr>
            <a:xfrm>
              <a:off x="4223" y="1846"/>
              <a:ext cx="460" cy="20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cxnSp>
        <p:nvCxnSpPr>
          <p:cNvPr id="2433" name="Google Shape;2433;p42"/>
          <p:cNvCxnSpPr/>
          <p:nvPr/>
        </p:nvCxnSpPr>
        <p:spPr>
          <a:xfrm flipH="1">
            <a:off x="7922363" y="3521038"/>
            <a:ext cx="909637" cy="739775"/>
          </a:xfrm>
          <a:prstGeom prst="straightConnector1">
            <a:avLst/>
          </a:prstGeom>
          <a:noFill/>
          <a:ln cap="flat" cmpd="sng" w="28575">
            <a:solidFill>
              <a:srgbClr val="008000"/>
            </a:solidFill>
            <a:prstDash val="solid"/>
            <a:round/>
            <a:headEnd len="med" w="med" type="none"/>
            <a:tailEnd len="med" w="med" type="triangle"/>
          </a:ln>
        </p:spPr>
      </p:cxnSp>
      <p:grpSp>
        <p:nvGrpSpPr>
          <p:cNvPr id="2434" name="Google Shape;2434;p42"/>
          <p:cNvGrpSpPr/>
          <p:nvPr/>
        </p:nvGrpSpPr>
        <p:grpSpPr>
          <a:xfrm>
            <a:off x="8012670" y="4309460"/>
            <a:ext cx="2667702" cy="714018"/>
            <a:chOff x="8162097" y="4679496"/>
            <a:chExt cx="2667702" cy="714018"/>
          </a:xfrm>
        </p:grpSpPr>
        <p:grpSp>
          <p:nvGrpSpPr>
            <p:cNvPr id="2435" name="Google Shape;2435;p42"/>
            <p:cNvGrpSpPr/>
            <p:nvPr/>
          </p:nvGrpSpPr>
          <p:grpSpPr>
            <a:xfrm>
              <a:off x="8162097" y="4974413"/>
              <a:ext cx="1471613" cy="419101"/>
              <a:chOff x="2229" y="3467"/>
              <a:chExt cx="927" cy="264"/>
            </a:xfrm>
          </p:grpSpPr>
          <p:cxnSp>
            <p:nvCxnSpPr>
              <p:cNvPr id="2436" name="Google Shape;2436;p42"/>
              <p:cNvCxnSpPr/>
              <p:nvPr/>
            </p:nvCxnSpPr>
            <p:spPr>
              <a:xfrm flipH="1">
                <a:off x="2229" y="3467"/>
                <a:ext cx="927" cy="225"/>
              </a:xfrm>
              <a:prstGeom prst="straightConnector1">
                <a:avLst/>
              </a:prstGeom>
              <a:noFill/>
              <a:ln cap="flat" cmpd="sng" w="28575">
                <a:solidFill>
                  <a:srgbClr val="008000"/>
                </a:solidFill>
                <a:prstDash val="solid"/>
                <a:round/>
                <a:headEnd len="med" w="med" type="none"/>
                <a:tailEnd len="med" w="med" type="triangle"/>
              </a:ln>
            </p:spPr>
          </p:cxnSp>
          <p:sp>
            <p:nvSpPr>
              <p:cNvPr id="2437" name="Google Shape;2437;p42"/>
              <p:cNvSpPr txBox="1"/>
              <p:nvPr/>
            </p:nvSpPr>
            <p:spPr>
              <a:xfrm>
                <a:off x="2336" y="3519"/>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sp>
          <p:nvSpPr>
            <p:cNvPr id="2438" name="Google Shape;2438;p42"/>
            <p:cNvSpPr txBox="1"/>
            <p:nvPr/>
          </p:nvSpPr>
          <p:spPr>
            <a:xfrm>
              <a:off x="9632824" y="4679496"/>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grpSp>
      <p:grpSp>
        <p:nvGrpSpPr>
          <p:cNvPr id="2439" name="Google Shape;2439;p42"/>
          <p:cNvGrpSpPr/>
          <p:nvPr/>
        </p:nvGrpSpPr>
        <p:grpSpPr>
          <a:xfrm>
            <a:off x="6804583" y="4153524"/>
            <a:ext cx="3833816" cy="1104906"/>
            <a:chOff x="6954010" y="4523560"/>
            <a:chExt cx="3833816" cy="1104906"/>
          </a:xfrm>
        </p:grpSpPr>
        <p:grpSp>
          <p:nvGrpSpPr>
            <p:cNvPr id="2440" name="Google Shape;2440;p42"/>
            <p:cNvGrpSpPr/>
            <p:nvPr/>
          </p:nvGrpSpPr>
          <p:grpSpPr>
            <a:xfrm>
              <a:off x="6954010" y="4523560"/>
              <a:ext cx="1174750" cy="609601"/>
              <a:chOff x="2830" y="3285"/>
              <a:chExt cx="740" cy="384"/>
            </a:xfrm>
          </p:grpSpPr>
          <p:sp>
            <p:nvSpPr>
              <p:cNvPr id="2441" name="Google Shape;2441;p42"/>
              <p:cNvSpPr txBox="1"/>
              <p:nvPr/>
            </p:nvSpPr>
            <p:spPr>
              <a:xfrm>
                <a:off x="2830" y="3438"/>
                <a:ext cx="74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2442" name="Google Shape;2442;p42"/>
              <p:cNvSpPr txBox="1"/>
              <p:nvPr/>
            </p:nvSpPr>
            <p:spPr>
              <a:xfrm>
                <a:off x="2916" y="3285"/>
                <a:ext cx="644"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grpSp>
        <p:grpSp>
          <p:nvGrpSpPr>
            <p:cNvPr id="2443" name="Google Shape;2443;p42"/>
            <p:cNvGrpSpPr/>
            <p:nvPr/>
          </p:nvGrpSpPr>
          <p:grpSpPr>
            <a:xfrm>
              <a:off x="8073197" y="4747083"/>
              <a:ext cx="1547813" cy="446403"/>
              <a:chOff x="850" y="1229"/>
              <a:chExt cx="927" cy="253"/>
            </a:xfrm>
          </p:grpSpPr>
          <p:cxnSp>
            <p:nvCxnSpPr>
              <p:cNvPr id="2444" name="Google Shape;2444;p42"/>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2445" name="Google Shape;2445;p42"/>
              <p:cNvSpPr txBox="1"/>
              <p:nvPr/>
            </p:nvSpPr>
            <p:spPr>
              <a:xfrm>
                <a:off x="1014" y="1229"/>
                <a:ext cx="340" cy="19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2446" name="Google Shape;2446;p42"/>
            <p:cNvGrpSpPr/>
            <p:nvPr/>
          </p:nvGrpSpPr>
          <p:grpSpPr>
            <a:xfrm>
              <a:off x="9582913" y="5037915"/>
              <a:ext cx="1204913" cy="590551"/>
              <a:chOff x="4762" y="2985"/>
              <a:chExt cx="759" cy="372"/>
            </a:xfrm>
          </p:grpSpPr>
          <p:sp>
            <p:nvSpPr>
              <p:cNvPr id="2447" name="Google Shape;2447;p42"/>
              <p:cNvSpPr txBox="1"/>
              <p:nvPr/>
            </p:nvSpPr>
            <p:spPr>
              <a:xfrm>
                <a:off x="4762" y="2985"/>
                <a:ext cx="63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2448" name="Google Shape;2448;p42"/>
              <p:cNvSpPr txBox="1"/>
              <p:nvPr/>
            </p:nvSpPr>
            <p:spPr>
              <a:xfrm>
                <a:off x="4767" y="3126"/>
                <a:ext cx="754"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grpSp>
      </p:grpSp>
      <p:grpSp>
        <p:nvGrpSpPr>
          <p:cNvPr id="2449" name="Google Shape;2449;p42"/>
          <p:cNvGrpSpPr/>
          <p:nvPr/>
        </p:nvGrpSpPr>
        <p:grpSpPr>
          <a:xfrm>
            <a:off x="8034892" y="4967903"/>
            <a:ext cx="1457325" cy="488950"/>
            <a:chOff x="3839" y="2850"/>
            <a:chExt cx="918" cy="308"/>
          </a:xfrm>
        </p:grpSpPr>
        <p:cxnSp>
          <p:nvCxnSpPr>
            <p:cNvPr id="2450" name="Google Shape;2450;p42"/>
            <p:cNvCxnSpPr/>
            <p:nvPr/>
          </p:nvCxnSpPr>
          <p:spPr>
            <a:xfrm flipH="1">
              <a:off x="3839" y="2850"/>
              <a:ext cx="918" cy="308"/>
            </a:xfrm>
            <a:prstGeom prst="straightConnector1">
              <a:avLst/>
            </a:prstGeom>
            <a:noFill/>
            <a:ln cap="flat" cmpd="sng" w="28575">
              <a:solidFill>
                <a:srgbClr val="008000"/>
              </a:solidFill>
              <a:prstDash val="solid"/>
              <a:round/>
              <a:headEnd len="med" w="med" type="none"/>
              <a:tailEnd len="med" w="med" type="triangle"/>
            </a:ln>
          </p:spPr>
        </p:cxnSp>
        <p:sp>
          <p:nvSpPr>
            <p:cNvPr id="2451" name="Google Shape;2451;p42"/>
            <p:cNvSpPr txBox="1"/>
            <p:nvPr/>
          </p:nvSpPr>
          <p:spPr>
            <a:xfrm>
              <a:off x="4104" y="2873"/>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2452" name="Google Shape;2452;p42"/>
          <p:cNvGrpSpPr/>
          <p:nvPr/>
        </p:nvGrpSpPr>
        <p:grpSpPr>
          <a:xfrm>
            <a:off x="8026461" y="5469606"/>
            <a:ext cx="1471612" cy="363538"/>
            <a:chOff x="855" y="1799"/>
            <a:chExt cx="927" cy="229"/>
          </a:xfrm>
        </p:grpSpPr>
        <p:cxnSp>
          <p:nvCxnSpPr>
            <p:cNvPr id="2453" name="Google Shape;2453;p42"/>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2454" name="Google Shape;2454;p42"/>
            <p:cNvSpPr txBox="1"/>
            <p:nvPr/>
          </p:nvSpPr>
          <p:spPr>
            <a:xfrm>
              <a:off x="1129" y="1799"/>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2455" name="Google Shape;2455;p42"/>
          <p:cNvGrpSpPr/>
          <p:nvPr/>
        </p:nvGrpSpPr>
        <p:grpSpPr>
          <a:xfrm>
            <a:off x="6993934" y="4806637"/>
            <a:ext cx="1022350" cy="553607"/>
            <a:chOff x="6289259" y="5452590"/>
            <a:chExt cx="1022350" cy="553607"/>
          </a:xfrm>
        </p:grpSpPr>
        <p:sp>
          <p:nvSpPr>
            <p:cNvPr id="2456" name="Google Shape;2456;p42"/>
            <p:cNvSpPr txBox="1"/>
            <p:nvPr/>
          </p:nvSpPr>
          <p:spPr>
            <a:xfrm>
              <a:off x="6339123" y="5698420"/>
              <a:ext cx="819455"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(ignore)</a:t>
              </a:r>
              <a:endParaRPr/>
            </a:p>
          </p:txBody>
        </p:sp>
        <p:sp>
          <p:nvSpPr>
            <p:cNvPr id="2457" name="Google Shape;2457;p42"/>
            <p:cNvSpPr txBox="1"/>
            <p:nvPr/>
          </p:nvSpPr>
          <p:spPr>
            <a:xfrm>
              <a:off x="6289259" y="5452590"/>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grpSp>
      <p:sp>
        <p:nvSpPr>
          <p:cNvPr id="2458" name="Google Shape;2458;p4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7"/>
                                        </p:tgtEl>
                                        <p:attrNameLst>
                                          <p:attrName>style.visibility</p:attrName>
                                        </p:attrNameLst>
                                      </p:cBhvr>
                                      <p:to>
                                        <p:strVal val="visible"/>
                                      </p:to>
                                    </p:set>
                                    <p:animEffect filter="fade" transition="in">
                                      <p:cBhvr>
                                        <p:cTn dur="500"/>
                                        <p:tgtEl>
                                          <p:spTgt spid="236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366">
                                            <p:txEl>
                                              <p:pRg end="0" st="0"/>
                                            </p:txEl>
                                          </p:spTgt>
                                        </p:tgtEl>
                                        <p:attrNameLst>
                                          <p:attrName>style.visibility</p:attrName>
                                        </p:attrNameLst>
                                      </p:cBhvr>
                                      <p:to>
                                        <p:strVal val="visible"/>
                                      </p:to>
                                    </p:set>
                                    <p:animEffect filter="fade" transition="in">
                                      <p:cBhvr>
                                        <p:cTn dur="500"/>
                                        <p:tgtEl>
                                          <p:spTgt spid="2366">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58"/>
                                        </p:tgtEl>
                                        <p:attrNameLst>
                                          <p:attrName>style.visibility</p:attrName>
                                        </p:attrNameLst>
                                      </p:cBhvr>
                                      <p:to>
                                        <p:strVal val="visible"/>
                                      </p:to>
                                    </p:set>
                                    <p:animEffect filter="fade" transition="in">
                                      <p:cBhvr>
                                        <p:cTn dur="500"/>
                                        <p:tgtEl>
                                          <p:spTgt spid="235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376"/>
                                        </p:tgtEl>
                                        <p:attrNameLst>
                                          <p:attrName>style.visibility</p:attrName>
                                        </p:attrNameLst>
                                      </p:cBhvr>
                                      <p:to>
                                        <p:strVal val="visible"/>
                                      </p:to>
                                    </p:set>
                                    <p:animEffect filter="fade" transition="in">
                                      <p:cBhvr>
                                        <p:cTn dur="500"/>
                                        <p:tgtEl>
                                          <p:spTgt spid="237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361"/>
                                        </p:tgtEl>
                                        <p:attrNameLst>
                                          <p:attrName>style.visibility</p:attrName>
                                        </p:attrNameLst>
                                      </p:cBhvr>
                                      <p:to>
                                        <p:strVal val="visible"/>
                                      </p:to>
                                    </p:set>
                                    <p:animEffect filter="fade" transition="in">
                                      <p:cBhvr>
                                        <p:cTn dur="500"/>
                                        <p:tgtEl>
                                          <p:spTgt spid="2361"/>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363"/>
                                        </p:tgtEl>
                                        <p:attrNameLst>
                                          <p:attrName>style.visibility</p:attrName>
                                        </p:attrNameLst>
                                      </p:cBhvr>
                                      <p:to>
                                        <p:strVal val="visible"/>
                                      </p:to>
                                    </p:set>
                                    <p:animEffect filter="fade" transition="in">
                                      <p:cBhvr>
                                        <p:cTn dur="500"/>
                                        <p:tgtEl>
                                          <p:spTgt spid="236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351"/>
                                        </p:tgtEl>
                                        <p:attrNameLst>
                                          <p:attrName>style.visibility</p:attrName>
                                        </p:attrNameLst>
                                      </p:cBhvr>
                                      <p:to>
                                        <p:strVal val="visible"/>
                                      </p:to>
                                    </p:set>
                                    <p:animEffect filter="fade" transition="in">
                                      <p:cBhvr>
                                        <p:cTn dur="500"/>
                                        <p:tgtEl>
                                          <p:spTgt spid="235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348">
                                            <p:txEl>
                                              <p:pRg end="0" st="0"/>
                                            </p:txEl>
                                          </p:spTgt>
                                        </p:tgtEl>
                                        <p:attrNameLst>
                                          <p:attrName>style.visibility</p:attrName>
                                        </p:attrNameLst>
                                      </p:cBhvr>
                                      <p:to>
                                        <p:strVal val="visible"/>
                                      </p:to>
                                    </p:set>
                                    <p:animEffect filter="fade" transition="in">
                                      <p:cBhvr>
                                        <p:cTn dur="500"/>
                                        <p:tgtEl>
                                          <p:spTgt spid="2348">
                                            <p:txEl>
                                              <p:pRg end="0" st="0"/>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349"/>
                                        </p:tgtEl>
                                        <p:attrNameLst>
                                          <p:attrName>style.visibility</p:attrName>
                                        </p:attrNameLst>
                                      </p:cBhvr>
                                      <p:to>
                                        <p:strVal val="visible"/>
                                      </p:to>
                                    </p:set>
                                    <p:animEffect filter="fade" transition="in">
                                      <p:cBhvr>
                                        <p:cTn dur="500"/>
                                        <p:tgtEl>
                                          <p:spTgt spid="2349"/>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383"/>
                                        </p:tgtEl>
                                        <p:attrNameLst>
                                          <p:attrName>style.visibility</p:attrName>
                                        </p:attrNameLst>
                                      </p:cBhvr>
                                      <p:to>
                                        <p:strVal val="visible"/>
                                      </p:to>
                                    </p:set>
                                    <p:animEffect filter="fade" transition="in">
                                      <p:cBhvr>
                                        <p:cTn dur="500"/>
                                        <p:tgtEl>
                                          <p:spTgt spid="23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8"/>
                                        </p:tgtEl>
                                        <p:attrNameLst>
                                          <p:attrName>style.visibility</p:attrName>
                                        </p:attrNameLst>
                                      </p:cBhvr>
                                      <p:to>
                                        <p:strVal val="visible"/>
                                      </p:to>
                                    </p:set>
                                    <p:animEffect filter="fade" transition="in">
                                      <p:cBhvr>
                                        <p:cTn dur="1000"/>
                                        <p:tgtEl>
                                          <p:spTgt spid="238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95"/>
                                        </p:tgtEl>
                                        <p:attrNameLst>
                                          <p:attrName>style.visibility</p:attrName>
                                        </p:attrNameLst>
                                      </p:cBhvr>
                                      <p:to>
                                        <p:strVal val="visible"/>
                                      </p:to>
                                    </p:set>
                                    <p:animEffect filter="fade" transition="in">
                                      <p:cBhvr>
                                        <p:cTn dur="500"/>
                                        <p:tgtEl>
                                          <p:spTgt spid="23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2"/>
                                        </p:tgtEl>
                                        <p:attrNameLst>
                                          <p:attrName>style.visibility</p:attrName>
                                        </p:attrNameLst>
                                      </p:cBhvr>
                                      <p:to>
                                        <p:strVal val="visible"/>
                                      </p:to>
                                    </p:set>
                                    <p:animEffect filter="fade" transition="in">
                                      <p:cBhvr>
                                        <p:cTn dur="500"/>
                                        <p:tgtEl>
                                          <p:spTgt spid="239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356">
                                            <p:txEl>
                                              <p:pRg end="0" st="0"/>
                                            </p:txEl>
                                          </p:spTgt>
                                        </p:tgtEl>
                                        <p:attrNameLst>
                                          <p:attrName>style.visibility</p:attrName>
                                        </p:attrNameLst>
                                      </p:cBhvr>
                                      <p:to>
                                        <p:strVal val="visible"/>
                                      </p:to>
                                    </p:set>
                                    <p:animEffect filter="fade" transition="in">
                                      <p:cBhvr>
                                        <p:cTn dur="500"/>
                                        <p:tgtEl>
                                          <p:spTgt spid="2356">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350"/>
                                        </p:tgtEl>
                                        <p:attrNameLst>
                                          <p:attrName>style.visibility</p:attrName>
                                        </p:attrNameLst>
                                      </p:cBhvr>
                                      <p:to>
                                        <p:strVal val="visible"/>
                                      </p:to>
                                    </p:set>
                                    <p:animEffect filter="fade" transition="in">
                                      <p:cBhvr>
                                        <p:cTn dur="500"/>
                                        <p:tgtEl>
                                          <p:spTgt spid="235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59"/>
                                        </p:tgtEl>
                                        <p:attrNameLst>
                                          <p:attrName>style.visibility</p:attrName>
                                        </p:attrNameLst>
                                      </p:cBhvr>
                                      <p:to>
                                        <p:strVal val="visible"/>
                                      </p:to>
                                    </p:set>
                                    <p:animEffect filter="fade" transition="in">
                                      <p:cBhvr>
                                        <p:cTn dur="500"/>
                                        <p:tgtEl>
                                          <p:spTgt spid="235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373"/>
                                        </p:tgtEl>
                                        <p:attrNameLst>
                                          <p:attrName>style.visibility</p:attrName>
                                        </p:attrNameLst>
                                      </p:cBhvr>
                                      <p:to>
                                        <p:strVal val="visible"/>
                                      </p:to>
                                    </p:set>
                                    <p:animEffect filter="fade" transition="in">
                                      <p:cBhvr>
                                        <p:cTn dur="500"/>
                                        <p:tgtEl>
                                          <p:spTgt spid="237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364"/>
                                        </p:tgtEl>
                                        <p:attrNameLst>
                                          <p:attrName>style.visibility</p:attrName>
                                        </p:attrNameLst>
                                      </p:cBhvr>
                                      <p:to>
                                        <p:strVal val="visible"/>
                                      </p:to>
                                    </p:set>
                                    <p:animEffect filter="fade" transition="in">
                                      <p:cBhvr>
                                        <p:cTn dur="500"/>
                                        <p:tgtEl>
                                          <p:spTgt spid="236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362"/>
                                        </p:tgtEl>
                                        <p:attrNameLst>
                                          <p:attrName>style.visibility</p:attrName>
                                        </p:attrNameLst>
                                      </p:cBhvr>
                                      <p:to>
                                        <p:strVal val="visible"/>
                                      </p:to>
                                    </p:set>
                                    <p:animEffect filter="fade" transition="in">
                                      <p:cBhvr>
                                        <p:cTn dur="500"/>
                                        <p:tgtEl>
                                          <p:spTgt spid="2362"/>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370"/>
                                        </p:tgtEl>
                                        <p:attrNameLst>
                                          <p:attrName>style.visibility</p:attrName>
                                        </p:attrNameLst>
                                      </p:cBhvr>
                                      <p:to>
                                        <p:strVal val="visible"/>
                                      </p:to>
                                    </p:set>
                                    <p:animEffect filter="fade" transition="in">
                                      <p:cBhvr>
                                        <p:cTn dur="500"/>
                                        <p:tgtEl>
                                          <p:spTgt spid="2370"/>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357"/>
                                        </p:tgtEl>
                                        <p:attrNameLst>
                                          <p:attrName>style.visibility</p:attrName>
                                        </p:attrNameLst>
                                      </p:cBhvr>
                                      <p:to>
                                        <p:strVal val="visible"/>
                                      </p:to>
                                    </p:set>
                                    <p:animEffect filter="fade" transition="in">
                                      <p:cBhvr>
                                        <p:cTn dur="500"/>
                                        <p:tgtEl>
                                          <p:spTgt spid="2357"/>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360">
                                            <p:txEl>
                                              <p:pRg end="0" st="0"/>
                                            </p:txEl>
                                          </p:spTgt>
                                        </p:tgtEl>
                                        <p:attrNameLst>
                                          <p:attrName>style.visibility</p:attrName>
                                        </p:attrNameLst>
                                      </p:cBhvr>
                                      <p:to>
                                        <p:strVal val="visible"/>
                                      </p:to>
                                    </p:set>
                                    <p:animEffect filter="fade" transition="in">
                                      <p:cBhvr>
                                        <p:cTn dur="500"/>
                                        <p:tgtEl>
                                          <p:spTgt spid="2360">
                                            <p:txEl>
                                              <p:pRg end="0" st="0"/>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379"/>
                                        </p:tgtEl>
                                        <p:attrNameLst>
                                          <p:attrName>style.visibility</p:attrName>
                                        </p:attrNameLst>
                                      </p:cBhvr>
                                      <p:to>
                                        <p:strVal val="visible"/>
                                      </p:to>
                                    </p:set>
                                    <p:animEffect filter="fade" transition="in">
                                      <p:cBhvr>
                                        <p:cTn dur="500"/>
                                        <p:tgtEl>
                                          <p:spTgt spid="2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2"/>
                                        </p:tgtEl>
                                        <p:attrNameLst>
                                          <p:attrName>style.visibility</p:attrName>
                                        </p:attrNameLst>
                                      </p:cBhvr>
                                      <p:to>
                                        <p:strVal val="visible"/>
                                      </p:to>
                                    </p:set>
                                    <p:animEffect filter="fade" transition="in">
                                      <p:cBhvr>
                                        <p:cTn dur="500"/>
                                        <p:tgtEl>
                                          <p:spTgt spid="241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411">
                                            <p:txEl>
                                              <p:pRg end="0" st="0"/>
                                            </p:txEl>
                                          </p:spTgt>
                                        </p:tgtEl>
                                        <p:attrNameLst>
                                          <p:attrName>style.visibility</p:attrName>
                                        </p:attrNameLst>
                                      </p:cBhvr>
                                      <p:to>
                                        <p:strVal val="visible"/>
                                      </p:to>
                                    </p:set>
                                    <p:animEffect filter="fade" transition="in">
                                      <p:cBhvr>
                                        <p:cTn dur="500"/>
                                        <p:tgtEl>
                                          <p:spTgt spid="2411">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407"/>
                                        </p:tgtEl>
                                        <p:attrNameLst>
                                          <p:attrName>style.visibility</p:attrName>
                                        </p:attrNameLst>
                                      </p:cBhvr>
                                      <p:to>
                                        <p:strVal val="visible"/>
                                      </p:to>
                                    </p:set>
                                    <p:animEffect filter="fade" transition="in">
                                      <p:cBhvr>
                                        <p:cTn dur="500"/>
                                        <p:tgtEl>
                                          <p:spTgt spid="240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415"/>
                                        </p:tgtEl>
                                        <p:attrNameLst>
                                          <p:attrName>style.visibility</p:attrName>
                                        </p:attrNameLst>
                                      </p:cBhvr>
                                      <p:to>
                                        <p:strVal val="visible"/>
                                      </p:to>
                                    </p:set>
                                    <p:animEffect filter="fade" transition="in">
                                      <p:cBhvr>
                                        <p:cTn dur="500"/>
                                        <p:tgtEl>
                                          <p:spTgt spid="241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408"/>
                                        </p:tgtEl>
                                        <p:attrNameLst>
                                          <p:attrName>style.visibility</p:attrName>
                                        </p:attrNameLst>
                                      </p:cBhvr>
                                      <p:to>
                                        <p:strVal val="visible"/>
                                      </p:to>
                                    </p:set>
                                    <p:animEffect filter="fade" transition="in">
                                      <p:cBhvr>
                                        <p:cTn dur="500"/>
                                        <p:tgtEl>
                                          <p:spTgt spid="2408"/>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409"/>
                                        </p:tgtEl>
                                        <p:attrNameLst>
                                          <p:attrName>style.visibility</p:attrName>
                                        </p:attrNameLst>
                                      </p:cBhvr>
                                      <p:to>
                                        <p:strVal val="visible"/>
                                      </p:to>
                                    </p:set>
                                    <p:animEffect filter="fade" transition="in">
                                      <p:cBhvr>
                                        <p:cTn dur="500"/>
                                        <p:tgtEl>
                                          <p:spTgt spid="240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401"/>
                                        </p:tgtEl>
                                        <p:attrNameLst>
                                          <p:attrName>style.visibility</p:attrName>
                                        </p:attrNameLst>
                                      </p:cBhvr>
                                      <p:to>
                                        <p:strVal val="visible"/>
                                      </p:to>
                                    </p:set>
                                    <p:animEffect filter="fade" transition="in">
                                      <p:cBhvr>
                                        <p:cTn dur="500"/>
                                        <p:tgtEl>
                                          <p:spTgt spid="240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398">
                                            <p:txEl>
                                              <p:pRg end="0" st="0"/>
                                            </p:txEl>
                                          </p:spTgt>
                                        </p:tgtEl>
                                        <p:attrNameLst>
                                          <p:attrName>style.visibility</p:attrName>
                                        </p:attrNameLst>
                                      </p:cBhvr>
                                      <p:to>
                                        <p:strVal val="visible"/>
                                      </p:to>
                                    </p:set>
                                    <p:animEffect filter="fade" transition="in">
                                      <p:cBhvr>
                                        <p:cTn dur="500"/>
                                        <p:tgtEl>
                                          <p:spTgt spid="2398">
                                            <p:txEl>
                                              <p:pRg end="0" st="0"/>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399"/>
                                        </p:tgtEl>
                                        <p:attrNameLst>
                                          <p:attrName>style.visibility</p:attrName>
                                        </p:attrNameLst>
                                      </p:cBhvr>
                                      <p:to>
                                        <p:strVal val="visible"/>
                                      </p:to>
                                    </p:set>
                                    <p:animEffect filter="fade" transition="in">
                                      <p:cBhvr>
                                        <p:cTn dur="500"/>
                                        <p:tgtEl>
                                          <p:spTgt spid="2399"/>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419"/>
                                        </p:tgtEl>
                                        <p:attrNameLst>
                                          <p:attrName>style.visibility</p:attrName>
                                        </p:attrNameLst>
                                      </p:cBhvr>
                                      <p:to>
                                        <p:strVal val="visible"/>
                                      </p:to>
                                    </p:set>
                                    <p:animEffect filter="fade" transition="in">
                                      <p:cBhvr>
                                        <p:cTn dur="1000"/>
                                        <p:tgtEl>
                                          <p:spTgt spid="2419"/>
                                        </p:tgtEl>
                                      </p:cBhvr>
                                    </p:animEffect>
                                  </p:childTnLst>
                                </p:cTn>
                              </p:par>
                              <p:par>
                                <p:cTn fill="hold" nodeType="withEffect" presetClass="entr" presetID="10" presetSubtype="0">
                                  <p:stCondLst>
                                    <p:cond delay="0"/>
                                  </p:stCondLst>
                                  <p:childTnLst>
                                    <p:set>
                                      <p:cBhvr>
                                        <p:cTn dur="1" fill="hold">
                                          <p:stCondLst>
                                            <p:cond delay="0"/>
                                          </p:stCondLst>
                                        </p:cTn>
                                        <p:tgtEl>
                                          <p:spTgt spid="2429"/>
                                        </p:tgtEl>
                                        <p:attrNameLst>
                                          <p:attrName>style.visibility</p:attrName>
                                        </p:attrNameLst>
                                      </p:cBhvr>
                                      <p:to>
                                        <p:strVal val="visible"/>
                                      </p:to>
                                    </p:set>
                                    <p:animEffect filter="fade" transition="in">
                                      <p:cBhvr>
                                        <p:cTn dur="500"/>
                                        <p:tgtEl>
                                          <p:spTgt spid="2429"/>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2426"/>
                                        </p:tgtEl>
                                        <p:attrNameLst>
                                          <p:attrName>style.visibility</p:attrName>
                                        </p:attrNameLst>
                                      </p:cBhvr>
                                      <p:to>
                                        <p:strVal val="visible"/>
                                      </p:to>
                                    </p:set>
                                    <p:animEffect filter="fade" transition="in">
                                      <p:cBhvr>
                                        <p:cTn dur="500"/>
                                        <p:tgtEl>
                                          <p:spTgt spid="24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3"/>
                                        </p:tgtEl>
                                        <p:attrNameLst>
                                          <p:attrName>style.visibility</p:attrName>
                                        </p:attrNameLst>
                                      </p:cBhvr>
                                      <p:to>
                                        <p:strVal val="visible"/>
                                      </p:to>
                                    </p:set>
                                    <p:animEffect filter="fade" transition="in">
                                      <p:cBhvr>
                                        <p:cTn dur="500"/>
                                        <p:tgtEl>
                                          <p:spTgt spid="2423"/>
                                        </p:tgtEl>
                                      </p:cBhvr>
                                    </p:animEffect>
                                  </p:childTnLst>
                                </p:cTn>
                              </p:par>
                              <p:par>
                                <p:cTn fill="hold" nodeType="withEffect" presetClass="entr" presetID="10" presetSubtype="0">
                                  <p:stCondLst>
                                    <p:cond delay="0"/>
                                  </p:stCondLst>
                                  <p:childTnLst>
                                    <p:set>
                                      <p:cBhvr>
                                        <p:cTn dur="1" fill="hold">
                                          <p:stCondLst>
                                            <p:cond delay="0"/>
                                          </p:stCondLst>
                                        </p:cTn>
                                        <p:tgtEl>
                                          <p:spTgt spid="2433"/>
                                        </p:tgtEl>
                                        <p:attrNameLst>
                                          <p:attrName>style.visibility</p:attrName>
                                        </p:attrNameLst>
                                      </p:cBhvr>
                                      <p:to>
                                        <p:strVal val="visible"/>
                                      </p:to>
                                    </p:set>
                                    <p:animEffect filter="fade" transition="in">
                                      <p:cBhvr>
                                        <p:cTn dur="500"/>
                                        <p:tgtEl>
                                          <p:spTgt spid="243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406">
                                            <p:txEl>
                                              <p:pRg end="0" st="0"/>
                                            </p:txEl>
                                          </p:spTgt>
                                        </p:tgtEl>
                                        <p:attrNameLst>
                                          <p:attrName>style.visibility</p:attrName>
                                        </p:attrNameLst>
                                      </p:cBhvr>
                                      <p:to>
                                        <p:strVal val="visible"/>
                                      </p:to>
                                    </p:set>
                                    <p:animEffect filter="fade" transition="in">
                                      <p:cBhvr>
                                        <p:cTn dur="500"/>
                                        <p:tgtEl>
                                          <p:spTgt spid="2406">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400"/>
                                        </p:tgtEl>
                                        <p:attrNameLst>
                                          <p:attrName>style.visibility</p:attrName>
                                        </p:attrNameLst>
                                      </p:cBhvr>
                                      <p:to>
                                        <p:strVal val="visible"/>
                                      </p:to>
                                    </p:set>
                                    <p:animEffect filter="fade" transition="in">
                                      <p:cBhvr>
                                        <p:cTn dur="500"/>
                                        <p:tgtEl>
                                          <p:spTgt spid="24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4"/>
                                        </p:tgtEl>
                                        <p:attrNameLst>
                                          <p:attrName>style.visibility</p:attrName>
                                        </p:attrNameLst>
                                      </p:cBhvr>
                                      <p:to>
                                        <p:strVal val="visible"/>
                                      </p:to>
                                    </p:set>
                                    <p:animEffect filter="fade" transition="in">
                                      <p:cBhvr>
                                        <p:cTn dur="500"/>
                                        <p:tgtEl>
                                          <p:spTgt spid="24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9"/>
                                        </p:tgtEl>
                                        <p:attrNameLst>
                                          <p:attrName>style.visibility</p:attrName>
                                        </p:attrNameLst>
                                      </p:cBhvr>
                                      <p:to>
                                        <p:strVal val="visible"/>
                                      </p:to>
                                    </p:set>
                                    <p:animEffect filter="fade" transition="in">
                                      <p:cBhvr>
                                        <p:cTn dur="500"/>
                                        <p:tgtEl>
                                          <p:spTgt spid="24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9"/>
                                        </p:tgtEl>
                                        <p:attrNameLst>
                                          <p:attrName>style.visibility</p:attrName>
                                        </p:attrNameLst>
                                      </p:cBhvr>
                                      <p:to>
                                        <p:strVal val="visible"/>
                                      </p:to>
                                    </p:set>
                                    <p:animEffect filter="fade" transition="in">
                                      <p:cBhvr>
                                        <p:cTn dur="500"/>
                                        <p:tgtEl>
                                          <p:spTgt spid="244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452"/>
                                        </p:tgtEl>
                                        <p:attrNameLst>
                                          <p:attrName>style.visibility</p:attrName>
                                        </p:attrNameLst>
                                      </p:cBhvr>
                                      <p:to>
                                        <p:strVal val="visible"/>
                                      </p:to>
                                    </p:set>
                                    <p:animEffect filter="fade" transition="in">
                                      <p:cBhvr>
                                        <p:cTn dur="500"/>
                                        <p:tgtEl>
                                          <p:spTgt spid="24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5"/>
                                        </p:tgtEl>
                                        <p:attrNameLst>
                                          <p:attrName>style.visibility</p:attrName>
                                        </p:attrNameLst>
                                      </p:cBhvr>
                                      <p:to>
                                        <p:strVal val="visible"/>
                                      </p:to>
                                    </p:set>
                                    <p:animEffect filter="fade" transition="in">
                                      <p:cBhvr>
                                        <p:cTn dur="500"/>
                                        <p:tgtEl>
                                          <p:spTgt spid="24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3" name="Shape 2463"/>
        <p:cNvGrpSpPr/>
        <p:nvPr/>
      </p:nvGrpSpPr>
      <p:grpSpPr>
        <a:xfrm>
          <a:off x="0" y="0"/>
          <a:ext cx="0" cy="0"/>
          <a:chOff x="0" y="0"/>
          <a:chExt cx="0" cy="0"/>
        </a:xfrm>
      </p:grpSpPr>
      <p:sp>
        <p:nvSpPr>
          <p:cNvPr id="2464" name="Google Shape;2464;p4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Performance of rdt3.0 </a:t>
            </a:r>
            <a:r>
              <a:rPr lang="en-US" sz="3200"/>
              <a:t>(stop-and-wait)</a:t>
            </a:r>
            <a:endParaRPr sz="4400"/>
          </a:p>
        </p:txBody>
      </p:sp>
      <p:sp>
        <p:nvSpPr>
          <p:cNvPr id="2465" name="Google Shape;2465;p43"/>
          <p:cNvSpPr txBox="1"/>
          <p:nvPr/>
        </p:nvSpPr>
        <p:spPr>
          <a:xfrm>
            <a:off x="870314" y="2451713"/>
            <a:ext cx="10532792" cy="1044522"/>
          </a:xfrm>
          <a:prstGeom prst="rect">
            <a:avLst/>
          </a:prstGeom>
          <a:noFill/>
          <a:ln>
            <a:noFill/>
          </a:ln>
        </p:spPr>
        <p:txBody>
          <a:bodyPr anchorCtr="0" anchor="t" bIns="45700" lIns="91425" spcFirstLastPara="1" rIns="91425" wrap="square" tIns="45700">
            <a:normAutofit/>
          </a:bodyPr>
          <a:lstStyle/>
          <a:p>
            <a:pPr indent="-279400" lvl="0" marL="40957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example: 1 Gbps link, 15 ms prop. delay, 8000 bit packet</a:t>
            </a:r>
            <a:endParaRPr b="0" i="0" sz="2800" u="none" cap="none" strike="noStrike">
              <a:solidFill>
                <a:srgbClr val="000000"/>
              </a:solidFill>
              <a:latin typeface="Calibri"/>
              <a:ea typeface="Calibri"/>
              <a:cs typeface="Calibri"/>
              <a:sym typeface="Calibri"/>
            </a:endParaRPr>
          </a:p>
        </p:txBody>
      </p:sp>
      <p:sp>
        <p:nvSpPr>
          <p:cNvPr id="2466" name="Google Shape;2466;p43"/>
          <p:cNvSpPr/>
          <p:nvPr/>
        </p:nvSpPr>
        <p:spPr>
          <a:xfrm>
            <a:off x="536827" y="1472895"/>
            <a:ext cx="10752586" cy="476250"/>
          </a:xfrm>
          <a:prstGeom prst="rect">
            <a:avLst/>
          </a:prstGeom>
          <a:noFill/>
          <a:ln>
            <a:noFill/>
          </a:ln>
        </p:spPr>
        <p:txBody>
          <a:bodyPr anchorCtr="0" anchor="t" bIns="45700" lIns="91425" spcFirstLastPara="1" rIns="91425" wrap="square" tIns="45700">
            <a:noAutofit/>
          </a:bodyPr>
          <a:lstStyle/>
          <a:p>
            <a:pPr indent="-231775" lvl="1" marL="688975" marR="0" rtl="0" algn="l">
              <a:lnSpc>
                <a:spcPct val="85000"/>
              </a:lnSpc>
              <a:spcBef>
                <a:spcPts val="0"/>
              </a:spcBef>
              <a:spcAft>
                <a:spcPts val="0"/>
              </a:spcAft>
              <a:buClr>
                <a:srgbClr val="000099"/>
              </a:buClr>
              <a:buSzPts val="3200"/>
              <a:buFont typeface="Noto Sans Symbols"/>
              <a:buChar char="▪"/>
            </a:pPr>
            <a:r>
              <a:rPr b="0" i="1" lang="en-US" sz="3200" u="none" cap="none" strike="noStrike">
                <a:solidFill>
                  <a:srgbClr val="000000"/>
                </a:solidFill>
                <a:latin typeface="Calibri"/>
                <a:ea typeface="Calibri"/>
                <a:cs typeface="Calibri"/>
                <a:sym typeface="Calibri"/>
              </a:rPr>
              <a:t>U </a:t>
            </a:r>
            <a:r>
              <a:rPr b="0" baseline="-25000" i="1" lang="en-US" sz="3200" u="none" cap="none" strike="noStrike">
                <a:solidFill>
                  <a:srgbClr val="000000"/>
                </a:solidFill>
                <a:latin typeface="Calibri"/>
                <a:ea typeface="Calibri"/>
                <a:cs typeface="Calibri"/>
                <a:sym typeface="Calibri"/>
              </a:rPr>
              <a:t>sender</a:t>
            </a:r>
            <a:r>
              <a:rPr b="0" i="0" lang="en-US" sz="3200" u="none" cap="none" strike="noStrike">
                <a:solidFill>
                  <a:srgbClr val="000000"/>
                </a:solidFill>
                <a:latin typeface="Calibri"/>
                <a:ea typeface="Calibri"/>
                <a:cs typeface="Calibri"/>
                <a:sym typeface="Calibri"/>
              </a:rPr>
              <a:t>: </a:t>
            </a:r>
            <a:r>
              <a:rPr b="0" i="1" lang="en-US" sz="3200" u="none" cap="none" strike="noStrike">
                <a:solidFill>
                  <a:srgbClr val="CC0000"/>
                </a:solidFill>
                <a:latin typeface="Calibri"/>
                <a:ea typeface="Calibri"/>
                <a:cs typeface="Calibri"/>
                <a:sym typeface="Calibri"/>
              </a:rPr>
              <a:t>utilization</a:t>
            </a:r>
            <a:r>
              <a:rPr b="0" i="0" lang="en-US" sz="3200" u="none" cap="none" strike="noStrike">
                <a:solidFill>
                  <a:srgbClr val="000000"/>
                </a:solidFill>
                <a:latin typeface="Calibri"/>
                <a:ea typeface="Calibri"/>
                <a:cs typeface="Calibri"/>
                <a:sym typeface="Calibri"/>
              </a:rPr>
              <a:t> – fraction of time sender busy sending</a:t>
            </a:r>
            <a:endParaRPr/>
          </a:p>
        </p:txBody>
      </p:sp>
      <p:grpSp>
        <p:nvGrpSpPr>
          <p:cNvPr id="2467" name="Google Shape;2467;p43"/>
          <p:cNvGrpSpPr/>
          <p:nvPr/>
        </p:nvGrpSpPr>
        <p:grpSpPr>
          <a:xfrm>
            <a:off x="1782678" y="3526869"/>
            <a:ext cx="5724525" cy="812800"/>
            <a:chOff x="137" y="1675"/>
            <a:chExt cx="3606" cy="512"/>
          </a:xfrm>
        </p:grpSpPr>
        <p:sp>
          <p:nvSpPr>
            <p:cNvPr id="2468" name="Google Shape;2468;p43"/>
            <p:cNvSpPr txBox="1"/>
            <p:nvPr/>
          </p:nvSpPr>
          <p:spPr>
            <a:xfrm>
              <a:off x="137" y="1795"/>
              <a:ext cx="647"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D</a:t>
              </a:r>
              <a:r>
                <a:rPr b="0" baseline="-25000" i="1" lang="en-US" sz="2400" u="none" cap="none" strike="noStrike">
                  <a:solidFill>
                    <a:srgbClr val="000000"/>
                  </a:solidFill>
                  <a:latin typeface="Calibri"/>
                  <a:ea typeface="Calibri"/>
                  <a:cs typeface="Calibri"/>
                  <a:sym typeface="Calibri"/>
                </a:rPr>
                <a:t>trans</a:t>
              </a:r>
              <a:r>
                <a:rPr b="0" i="1" lang="en-US" sz="2400" u="none" cap="none" strike="noStrike">
                  <a:solidFill>
                    <a:srgbClr val="000000"/>
                  </a:solidFill>
                  <a:latin typeface="Calibri"/>
                  <a:ea typeface="Calibri"/>
                  <a:cs typeface="Calibri"/>
                  <a:sym typeface="Calibri"/>
                </a:rPr>
                <a:t> =</a:t>
              </a:r>
              <a:endParaRPr/>
            </a:p>
          </p:txBody>
        </p:sp>
        <p:grpSp>
          <p:nvGrpSpPr>
            <p:cNvPr id="2469" name="Google Shape;2469;p43"/>
            <p:cNvGrpSpPr/>
            <p:nvPr/>
          </p:nvGrpSpPr>
          <p:grpSpPr>
            <a:xfrm>
              <a:off x="827" y="1677"/>
              <a:ext cx="235" cy="499"/>
              <a:chOff x="155" y="2937"/>
              <a:chExt cx="235" cy="499"/>
            </a:xfrm>
          </p:grpSpPr>
          <p:sp>
            <p:nvSpPr>
              <p:cNvPr id="2470" name="Google Shape;2470;p43"/>
              <p:cNvSpPr txBox="1"/>
              <p:nvPr/>
            </p:nvSpPr>
            <p:spPr>
              <a:xfrm>
                <a:off x="176" y="2937"/>
                <a:ext cx="198"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L</a:t>
                </a:r>
                <a:endParaRPr/>
              </a:p>
            </p:txBody>
          </p:sp>
          <p:sp>
            <p:nvSpPr>
              <p:cNvPr id="2471" name="Google Shape;2471;p43"/>
              <p:cNvSpPr txBox="1"/>
              <p:nvPr/>
            </p:nvSpPr>
            <p:spPr>
              <a:xfrm>
                <a:off x="155" y="3145"/>
                <a:ext cx="221"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R</a:t>
                </a:r>
                <a:endParaRPr/>
              </a:p>
            </p:txBody>
          </p:sp>
          <p:cxnSp>
            <p:nvCxnSpPr>
              <p:cNvPr id="2472" name="Google Shape;2472;p43"/>
              <p:cNvCxnSpPr/>
              <p:nvPr/>
            </p:nvCxnSpPr>
            <p:spPr>
              <a:xfrm>
                <a:off x="204" y="3192"/>
                <a:ext cx="186" cy="0"/>
              </a:xfrm>
              <a:prstGeom prst="straightConnector1">
                <a:avLst/>
              </a:prstGeom>
              <a:noFill/>
              <a:ln cap="flat" cmpd="sng" w="19050">
                <a:solidFill>
                  <a:schemeClr val="dk1"/>
                </a:solidFill>
                <a:prstDash val="solid"/>
                <a:round/>
                <a:headEnd len="med" w="med" type="none"/>
                <a:tailEnd len="med" w="med" type="none"/>
              </a:ln>
            </p:spPr>
          </p:cxnSp>
        </p:grpSp>
        <p:grpSp>
          <p:nvGrpSpPr>
            <p:cNvPr id="2473" name="Google Shape;2473;p43"/>
            <p:cNvGrpSpPr/>
            <p:nvPr/>
          </p:nvGrpSpPr>
          <p:grpSpPr>
            <a:xfrm>
              <a:off x="1233" y="1675"/>
              <a:ext cx="1225" cy="512"/>
              <a:chOff x="1401" y="1693"/>
              <a:chExt cx="1225" cy="512"/>
            </a:xfrm>
          </p:grpSpPr>
          <p:sp>
            <p:nvSpPr>
              <p:cNvPr id="2474" name="Google Shape;2474;p43"/>
              <p:cNvSpPr txBox="1"/>
              <p:nvPr/>
            </p:nvSpPr>
            <p:spPr>
              <a:xfrm>
                <a:off x="2085" y="1748"/>
                <a:ext cx="15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endParaRPr b="0" i="0" sz="2400" u="none" cap="none" strike="noStrike">
                  <a:solidFill>
                    <a:srgbClr val="000000"/>
                  </a:solidFill>
                  <a:latin typeface="Calibri"/>
                  <a:ea typeface="Calibri"/>
                  <a:cs typeface="Calibri"/>
                  <a:sym typeface="Calibri"/>
                </a:endParaRPr>
              </a:p>
            </p:txBody>
          </p:sp>
          <p:sp>
            <p:nvSpPr>
              <p:cNvPr id="2475" name="Google Shape;2475;p43"/>
              <p:cNvSpPr txBox="1"/>
              <p:nvPr/>
            </p:nvSpPr>
            <p:spPr>
              <a:xfrm>
                <a:off x="1563" y="1693"/>
                <a:ext cx="836"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8000 bits</a:t>
                </a:r>
                <a:endParaRPr/>
              </a:p>
            </p:txBody>
          </p:sp>
          <p:sp>
            <p:nvSpPr>
              <p:cNvPr id="2476" name="Google Shape;2476;p43"/>
              <p:cNvSpPr txBox="1"/>
              <p:nvPr/>
            </p:nvSpPr>
            <p:spPr>
              <a:xfrm>
                <a:off x="1401" y="1917"/>
                <a:ext cx="1225"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10</a:t>
                </a:r>
                <a:r>
                  <a:rPr b="0" baseline="30000" i="1" lang="en-US" sz="2400" u="none" cap="none" strike="noStrike">
                    <a:solidFill>
                      <a:srgbClr val="000000"/>
                    </a:solidFill>
                    <a:latin typeface="Calibri"/>
                    <a:ea typeface="Calibri"/>
                    <a:cs typeface="Calibri"/>
                    <a:sym typeface="Calibri"/>
                  </a:rPr>
                  <a:t>9 </a:t>
                </a:r>
                <a:r>
                  <a:rPr b="0" i="1" lang="en-US" sz="2400" u="none" cap="none" strike="noStrike">
                    <a:solidFill>
                      <a:srgbClr val="000000"/>
                    </a:solidFill>
                    <a:latin typeface="Calibri"/>
                    <a:ea typeface="Calibri"/>
                    <a:cs typeface="Calibri"/>
                    <a:sym typeface="Calibri"/>
                  </a:rPr>
                  <a:t>bits/sec</a:t>
                </a:r>
                <a:endParaRPr/>
              </a:p>
            </p:txBody>
          </p:sp>
          <p:cxnSp>
            <p:nvCxnSpPr>
              <p:cNvPr id="2477" name="Google Shape;2477;p43"/>
              <p:cNvCxnSpPr/>
              <p:nvPr/>
            </p:nvCxnSpPr>
            <p:spPr>
              <a:xfrm>
                <a:off x="1604" y="1950"/>
                <a:ext cx="970" cy="0"/>
              </a:xfrm>
              <a:prstGeom prst="straightConnector1">
                <a:avLst/>
              </a:prstGeom>
              <a:noFill/>
              <a:ln cap="flat" cmpd="sng" w="19050">
                <a:solidFill>
                  <a:schemeClr val="dk1"/>
                </a:solidFill>
                <a:prstDash val="solid"/>
                <a:round/>
                <a:headEnd len="med" w="med" type="none"/>
                <a:tailEnd len="med" w="med" type="none"/>
              </a:ln>
            </p:spPr>
          </p:cxnSp>
        </p:grpSp>
        <p:sp>
          <p:nvSpPr>
            <p:cNvPr id="2478" name="Google Shape;2478;p43"/>
            <p:cNvSpPr txBox="1"/>
            <p:nvPr/>
          </p:nvSpPr>
          <p:spPr>
            <a:xfrm>
              <a:off x="1093" y="1789"/>
              <a:ext cx="213"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a:p>
          </p:txBody>
        </p:sp>
        <p:sp>
          <p:nvSpPr>
            <p:cNvPr id="2479" name="Google Shape;2479;p43"/>
            <p:cNvSpPr txBox="1"/>
            <p:nvPr/>
          </p:nvSpPr>
          <p:spPr>
            <a:xfrm>
              <a:off x="2509" y="1789"/>
              <a:ext cx="213"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a:p>
          </p:txBody>
        </p:sp>
        <p:sp>
          <p:nvSpPr>
            <p:cNvPr id="2480" name="Google Shape;2480;p43"/>
            <p:cNvSpPr txBox="1"/>
            <p:nvPr/>
          </p:nvSpPr>
          <p:spPr>
            <a:xfrm>
              <a:off x="2715" y="1777"/>
              <a:ext cx="1028"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8 microsecs</a:t>
              </a:r>
              <a:endParaRPr/>
            </a:p>
          </p:txBody>
        </p:sp>
      </p:grpSp>
      <p:sp>
        <p:nvSpPr>
          <p:cNvPr id="2481" name="Google Shape;2481;p43"/>
          <p:cNvSpPr txBox="1"/>
          <p:nvPr/>
        </p:nvSpPr>
        <p:spPr>
          <a:xfrm>
            <a:off x="829076" y="3163511"/>
            <a:ext cx="9723349" cy="1044522"/>
          </a:xfrm>
          <a:prstGeom prst="rect">
            <a:avLst/>
          </a:prstGeom>
          <a:noFill/>
          <a:ln>
            <a:noFill/>
          </a:ln>
        </p:spPr>
        <p:txBody>
          <a:bodyPr anchorCtr="0" anchor="t" bIns="45700" lIns="91425" spcFirstLastPara="1" rIns="91425" wrap="square" tIns="45700">
            <a:normAutofit/>
          </a:bodyPr>
          <a:lstStyle/>
          <a:p>
            <a:pPr indent="-457200" lvl="1" marL="930275" marR="0" rtl="0" algn="l">
              <a:lnSpc>
                <a:spcPct val="90000"/>
              </a:lnSpc>
              <a:spcBef>
                <a:spcPts val="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time to transmit packet into channel:</a:t>
            </a:r>
            <a:endParaRPr/>
          </a:p>
        </p:txBody>
      </p:sp>
      <p:sp>
        <p:nvSpPr>
          <p:cNvPr id="2482" name="Google Shape;2482;p4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6"/>
                                        </p:tgtEl>
                                        <p:attrNameLst>
                                          <p:attrName>style.visibility</p:attrName>
                                        </p:attrNameLst>
                                      </p:cBhvr>
                                      <p:to>
                                        <p:strVal val="visible"/>
                                      </p:to>
                                    </p:set>
                                    <p:animEffect filter="fade" transition="in">
                                      <p:cBhvr>
                                        <p:cTn dur="500"/>
                                        <p:tgtEl>
                                          <p:spTgt spid="24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5">
                                            <p:txEl>
                                              <p:pRg end="0" st="0"/>
                                            </p:txEl>
                                          </p:spTgt>
                                        </p:tgtEl>
                                        <p:attrNameLst>
                                          <p:attrName>style.visibility</p:attrName>
                                        </p:attrNameLst>
                                      </p:cBhvr>
                                      <p:to>
                                        <p:strVal val="visible"/>
                                      </p:to>
                                    </p:set>
                                    <p:animEffect filter="fade" transition="in">
                                      <p:cBhvr>
                                        <p:cTn dur="500"/>
                                        <p:tgtEl>
                                          <p:spTgt spid="24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7"/>
                                        </p:tgtEl>
                                        <p:attrNameLst>
                                          <p:attrName>style.visibility</p:attrName>
                                        </p:attrNameLst>
                                      </p:cBhvr>
                                      <p:to>
                                        <p:strVal val="visible"/>
                                      </p:to>
                                    </p:set>
                                    <p:animEffect filter="fade" transition="in">
                                      <p:cBhvr>
                                        <p:cTn dur="500"/>
                                        <p:tgtEl>
                                          <p:spTgt spid="2467"/>
                                        </p:tgtEl>
                                      </p:cBhvr>
                                    </p:animEffect>
                                  </p:childTnLst>
                                </p:cTn>
                              </p:par>
                              <p:par>
                                <p:cTn fill="hold" nodeType="withEffect" presetClass="entr" presetID="10" presetSubtype="0">
                                  <p:stCondLst>
                                    <p:cond delay="0"/>
                                  </p:stCondLst>
                                  <p:childTnLst>
                                    <p:set>
                                      <p:cBhvr>
                                        <p:cTn dur="1" fill="hold">
                                          <p:stCondLst>
                                            <p:cond delay="0"/>
                                          </p:stCondLst>
                                        </p:cTn>
                                        <p:tgtEl>
                                          <p:spTgt spid="2481">
                                            <p:txEl>
                                              <p:pRg end="0" st="0"/>
                                            </p:txEl>
                                          </p:spTgt>
                                        </p:tgtEl>
                                        <p:attrNameLst>
                                          <p:attrName>style.visibility</p:attrName>
                                        </p:attrNameLst>
                                      </p:cBhvr>
                                      <p:to>
                                        <p:strVal val="visible"/>
                                      </p:to>
                                    </p:set>
                                    <p:animEffect filter="fade" transition="in">
                                      <p:cBhvr>
                                        <p:cTn dur="500"/>
                                        <p:tgtEl>
                                          <p:spTgt spid="248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7" name="Shape 2487"/>
        <p:cNvGrpSpPr/>
        <p:nvPr/>
      </p:nvGrpSpPr>
      <p:grpSpPr>
        <a:xfrm>
          <a:off x="0" y="0"/>
          <a:ext cx="0" cy="0"/>
          <a:chOff x="0" y="0"/>
          <a:chExt cx="0" cy="0"/>
        </a:xfrm>
      </p:grpSpPr>
      <p:sp>
        <p:nvSpPr>
          <p:cNvPr id="2488" name="Google Shape;2488;p4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stop-and-wait operation</a:t>
            </a:r>
            <a:endParaRPr sz="4400"/>
          </a:p>
        </p:txBody>
      </p:sp>
      <p:grpSp>
        <p:nvGrpSpPr>
          <p:cNvPr id="2489" name="Google Shape;2489;p44"/>
          <p:cNvGrpSpPr/>
          <p:nvPr/>
        </p:nvGrpSpPr>
        <p:grpSpPr>
          <a:xfrm>
            <a:off x="3188111" y="1436688"/>
            <a:ext cx="8729662" cy="3249612"/>
            <a:chOff x="1660525" y="1638643"/>
            <a:chExt cx="8729662" cy="3249612"/>
          </a:xfrm>
        </p:grpSpPr>
        <p:cxnSp>
          <p:nvCxnSpPr>
            <p:cNvPr id="2490" name="Google Shape;2490;p44"/>
            <p:cNvCxnSpPr/>
            <p:nvPr/>
          </p:nvCxnSpPr>
          <p:spPr>
            <a:xfrm>
              <a:off x="4984750" y="2194268"/>
              <a:ext cx="2227262" cy="922337"/>
            </a:xfrm>
            <a:prstGeom prst="straightConnector1">
              <a:avLst/>
            </a:prstGeom>
            <a:noFill/>
            <a:ln cap="flat" cmpd="sng" w="9525">
              <a:solidFill>
                <a:srgbClr val="000000"/>
              </a:solidFill>
              <a:prstDash val="solid"/>
              <a:round/>
              <a:headEnd len="med" w="med" type="none"/>
              <a:tailEnd len="med" w="med" type="none"/>
            </a:ln>
          </p:spPr>
        </p:cxnSp>
        <p:sp>
          <p:nvSpPr>
            <p:cNvPr id="2491" name="Google Shape;2491;p44"/>
            <p:cNvSpPr txBox="1"/>
            <p:nvPr/>
          </p:nvSpPr>
          <p:spPr>
            <a:xfrm>
              <a:off x="1660525" y="1989480"/>
              <a:ext cx="3232150" cy="35242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transmitted, t = 0</a:t>
              </a:r>
              <a:endParaRPr/>
            </a:p>
          </p:txBody>
        </p:sp>
        <p:cxnSp>
          <p:nvCxnSpPr>
            <p:cNvPr id="2492" name="Google Shape;2492;p44"/>
            <p:cNvCxnSpPr/>
            <p:nvPr/>
          </p:nvCxnSpPr>
          <p:spPr>
            <a:xfrm>
              <a:off x="4973637" y="1975193"/>
              <a:ext cx="23813" cy="2913062"/>
            </a:xfrm>
            <a:prstGeom prst="straightConnector1">
              <a:avLst/>
            </a:prstGeom>
            <a:noFill/>
            <a:ln cap="flat" cmpd="sng" w="9525">
              <a:solidFill>
                <a:srgbClr val="000000"/>
              </a:solidFill>
              <a:prstDash val="solid"/>
              <a:round/>
              <a:headEnd len="med" w="med" type="none"/>
              <a:tailEnd len="med" w="med" type="triangle"/>
            </a:ln>
          </p:spPr>
        </p:cxnSp>
        <p:cxnSp>
          <p:nvCxnSpPr>
            <p:cNvPr id="2493" name="Google Shape;2493;p44"/>
            <p:cNvCxnSpPr/>
            <p:nvPr/>
          </p:nvCxnSpPr>
          <p:spPr>
            <a:xfrm>
              <a:off x="7200900" y="1987893"/>
              <a:ext cx="22225" cy="2890837"/>
            </a:xfrm>
            <a:prstGeom prst="straightConnector1">
              <a:avLst/>
            </a:prstGeom>
            <a:noFill/>
            <a:ln cap="flat" cmpd="sng" w="9525">
              <a:solidFill>
                <a:srgbClr val="000000"/>
              </a:solidFill>
              <a:prstDash val="solid"/>
              <a:round/>
              <a:headEnd len="med" w="med" type="none"/>
              <a:tailEnd len="med" w="med" type="triangle"/>
            </a:ln>
          </p:spPr>
        </p:cxnSp>
        <p:sp>
          <p:nvSpPr>
            <p:cNvPr id="2494" name="Google Shape;2494;p44"/>
            <p:cNvSpPr txBox="1"/>
            <p:nvPr/>
          </p:nvSpPr>
          <p:spPr>
            <a:xfrm>
              <a:off x="4445000" y="1638643"/>
              <a:ext cx="885825"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sender</a:t>
              </a:r>
              <a:endParaRPr b="0" i="0" sz="1600" u="none" cap="none" strike="noStrike">
                <a:solidFill>
                  <a:srgbClr val="000000"/>
                </a:solidFill>
                <a:latin typeface="Times New Roman"/>
                <a:ea typeface="Times New Roman"/>
                <a:cs typeface="Times New Roman"/>
                <a:sym typeface="Times New Roman"/>
              </a:endParaRPr>
            </a:p>
          </p:txBody>
        </p:sp>
        <p:sp>
          <p:nvSpPr>
            <p:cNvPr id="2495" name="Google Shape;2495;p44"/>
            <p:cNvSpPr txBox="1"/>
            <p:nvPr/>
          </p:nvSpPr>
          <p:spPr>
            <a:xfrm>
              <a:off x="6623050" y="1638643"/>
              <a:ext cx="946150"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receiver</a:t>
              </a:r>
              <a:endParaRPr b="0" i="0" sz="1600" u="none" cap="none" strike="noStrike">
                <a:solidFill>
                  <a:srgbClr val="000000"/>
                </a:solidFill>
                <a:latin typeface="Times New Roman"/>
                <a:ea typeface="Times New Roman"/>
                <a:cs typeface="Times New Roman"/>
                <a:sym typeface="Times New Roman"/>
              </a:endParaRPr>
            </a:p>
          </p:txBody>
        </p:sp>
        <p:cxnSp>
          <p:nvCxnSpPr>
            <p:cNvPr id="2496" name="Google Shape;2496;p44"/>
            <p:cNvCxnSpPr/>
            <p:nvPr/>
          </p:nvCxnSpPr>
          <p:spPr>
            <a:xfrm>
              <a:off x="4997450" y="2189505"/>
              <a:ext cx="2190750" cy="3175"/>
            </a:xfrm>
            <a:prstGeom prst="straightConnector1">
              <a:avLst/>
            </a:prstGeom>
            <a:noFill/>
            <a:ln cap="flat" cmpd="sng" w="9525">
              <a:solidFill>
                <a:srgbClr val="000000"/>
              </a:solidFill>
              <a:prstDash val="dash"/>
              <a:round/>
              <a:headEnd len="med" w="med" type="none"/>
              <a:tailEnd len="med" w="med" type="none"/>
            </a:ln>
          </p:spPr>
        </p:cxnSp>
        <p:cxnSp>
          <p:nvCxnSpPr>
            <p:cNvPr id="2497" name="Google Shape;2497;p44"/>
            <p:cNvCxnSpPr/>
            <p:nvPr/>
          </p:nvCxnSpPr>
          <p:spPr>
            <a:xfrm>
              <a:off x="5002212" y="4300880"/>
              <a:ext cx="2192338" cy="0"/>
            </a:xfrm>
            <a:prstGeom prst="straightConnector1">
              <a:avLst/>
            </a:prstGeom>
            <a:noFill/>
            <a:ln cap="flat" cmpd="sng" w="9525">
              <a:solidFill>
                <a:srgbClr val="000000"/>
              </a:solidFill>
              <a:prstDash val="dash"/>
              <a:round/>
              <a:headEnd len="med" w="med" type="none"/>
              <a:tailEnd len="med" w="med" type="none"/>
            </a:ln>
          </p:spPr>
        </p:cxnSp>
        <p:cxnSp>
          <p:nvCxnSpPr>
            <p:cNvPr id="2498" name="Google Shape;2498;p44"/>
            <p:cNvCxnSpPr/>
            <p:nvPr/>
          </p:nvCxnSpPr>
          <p:spPr>
            <a:xfrm flipH="1" rot="10800000">
              <a:off x="5002212" y="3357905"/>
              <a:ext cx="2209800" cy="922338"/>
            </a:xfrm>
            <a:prstGeom prst="straightConnector1">
              <a:avLst/>
            </a:prstGeom>
            <a:noFill/>
            <a:ln cap="flat" cmpd="sng" w="9525">
              <a:solidFill>
                <a:srgbClr val="000000"/>
              </a:solidFill>
              <a:prstDash val="solid"/>
              <a:round/>
              <a:headEnd len="med" w="med" type="none"/>
              <a:tailEnd len="med" w="med" type="none"/>
            </a:ln>
          </p:spPr>
        </p:cxnSp>
        <p:sp>
          <p:nvSpPr>
            <p:cNvPr id="2499" name="Google Shape;2499;p44"/>
            <p:cNvSpPr/>
            <p:nvPr/>
          </p:nvSpPr>
          <p:spPr>
            <a:xfrm>
              <a:off x="4979987" y="2187918"/>
              <a:ext cx="2232025" cy="11557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500" name="Google Shape;2500;p44"/>
            <p:cNvCxnSpPr/>
            <p:nvPr/>
          </p:nvCxnSpPr>
          <p:spPr>
            <a:xfrm rot="10800000">
              <a:off x="4835525" y="2187918"/>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2501" name="Google Shape;2501;p44"/>
            <p:cNvCxnSpPr/>
            <p:nvPr/>
          </p:nvCxnSpPr>
          <p:spPr>
            <a:xfrm rot="10800000">
              <a:off x="4835525" y="2429218"/>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2502" name="Google Shape;2502;p44"/>
            <p:cNvCxnSpPr/>
            <p:nvPr/>
          </p:nvCxnSpPr>
          <p:spPr>
            <a:xfrm rot="10800000">
              <a:off x="4846637" y="4288180"/>
              <a:ext cx="133350" cy="0"/>
            </a:xfrm>
            <a:prstGeom prst="straightConnector1">
              <a:avLst/>
            </a:prstGeom>
            <a:noFill/>
            <a:ln cap="flat" cmpd="sng" w="9525">
              <a:solidFill>
                <a:srgbClr val="000000"/>
              </a:solidFill>
              <a:prstDash val="solid"/>
              <a:round/>
              <a:headEnd len="med" w="med" type="none"/>
              <a:tailEnd len="med" w="med" type="none"/>
            </a:ln>
          </p:spPr>
        </p:cxnSp>
        <p:sp>
          <p:nvSpPr>
            <p:cNvPr id="2503" name="Google Shape;2503;p44"/>
            <p:cNvSpPr txBox="1"/>
            <p:nvPr/>
          </p:nvSpPr>
          <p:spPr>
            <a:xfrm>
              <a:off x="4183062" y="3161055"/>
              <a:ext cx="847725" cy="336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RTT</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2504" name="Google Shape;2504;p44"/>
            <p:cNvCxnSpPr/>
            <p:nvPr/>
          </p:nvCxnSpPr>
          <p:spPr>
            <a:xfrm>
              <a:off x="4870450" y="3469030"/>
              <a:ext cx="11112" cy="811213"/>
            </a:xfrm>
            <a:prstGeom prst="straightConnector1">
              <a:avLst/>
            </a:prstGeom>
            <a:noFill/>
            <a:ln cap="flat" cmpd="sng" w="9525">
              <a:solidFill>
                <a:srgbClr val="000000"/>
              </a:solidFill>
              <a:prstDash val="solid"/>
              <a:round/>
              <a:headEnd len="med" w="med" type="none"/>
              <a:tailEnd len="med" w="med" type="triangle"/>
            </a:ln>
          </p:spPr>
        </p:cxnSp>
        <p:cxnSp>
          <p:nvCxnSpPr>
            <p:cNvPr id="2505" name="Google Shape;2505;p44"/>
            <p:cNvCxnSpPr/>
            <p:nvPr/>
          </p:nvCxnSpPr>
          <p:spPr>
            <a:xfrm flipH="1" rot="10800000">
              <a:off x="4875212" y="2451443"/>
              <a:ext cx="3175" cy="768350"/>
            </a:xfrm>
            <a:prstGeom prst="straightConnector1">
              <a:avLst/>
            </a:prstGeom>
            <a:noFill/>
            <a:ln cap="flat" cmpd="sng" w="9525">
              <a:solidFill>
                <a:srgbClr val="000000"/>
              </a:solidFill>
              <a:prstDash val="solid"/>
              <a:round/>
              <a:headEnd len="med" w="med" type="none"/>
              <a:tailEnd len="med" w="med" type="triangle"/>
            </a:ln>
          </p:spPr>
        </p:cxnSp>
        <p:cxnSp>
          <p:nvCxnSpPr>
            <p:cNvPr id="2506" name="Google Shape;2506;p44"/>
            <p:cNvCxnSpPr/>
            <p:nvPr/>
          </p:nvCxnSpPr>
          <p:spPr>
            <a:xfrm rot="10800000">
              <a:off x="7188200" y="3102318"/>
              <a:ext cx="133350" cy="0"/>
            </a:xfrm>
            <a:prstGeom prst="straightConnector1">
              <a:avLst/>
            </a:prstGeom>
            <a:noFill/>
            <a:ln cap="flat" cmpd="sng" w="9525">
              <a:solidFill>
                <a:srgbClr val="000000"/>
              </a:solidFill>
              <a:prstDash val="solid"/>
              <a:round/>
              <a:headEnd len="med" w="med" type="none"/>
              <a:tailEnd len="med" w="med" type="none"/>
            </a:ln>
          </p:spPr>
        </p:cxnSp>
        <p:sp>
          <p:nvSpPr>
            <p:cNvPr id="2507" name="Google Shape;2507;p44"/>
            <p:cNvSpPr txBox="1"/>
            <p:nvPr/>
          </p:nvSpPr>
          <p:spPr>
            <a:xfrm>
              <a:off x="7269162" y="2926105"/>
              <a:ext cx="24257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arrives</a:t>
              </a:r>
              <a:endParaRPr b="0" i="0" sz="1600" u="none" cap="none" strike="noStrike">
                <a:solidFill>
                  <a:srgbClr val="000000"/>
                </a:solidFill>
                <a:latin typeface="Times New Roman"/>
                <a:ea typeface="Times New Roman"/>
                <a:cs typeface="Times New Roman"/>
                <a:sym typeface="Times New Roman"/>
              </a:endParaRPr>
            </a:p>
          </p:txBody>
        </p:sp>
        <p:cxnSp>
          <p:nvCxnSpPr>
            <p:cNvPr id="2508" name="Google Shape;2508;p44"/>
            <p:cNvCxnSpPr/>
            <p:nvPr/>
          </p:nvCxnSpPr>
          <p:spPr>
            <a:xfrm>
              <a:off x="7212012" y="3351555"/>
              <a:ext cx="127000" cy="0"/>
            </a:xfrm>
            <a:prstGeom prst="straightConnector1">
              <a:avLst/>
            </a:prstGeom>
            <a:noFill/>
            <a:ln cap="flat" cmpd="sng" w="9525">
              <a:solidFill>
                <a:srgbClr val="000000"/>
              </a:solidFill>
              <a:prstDash val="solid"/>
              <a:round/>
              <a:headEnd len="med" w="med" type="none"/>
              <a:tailEnd len="med" w="med" type="none"/>
            </a:ln>
          </p:spPr>
        </p:cxnSp>
        <p:sp>
          <p:nvSpPr>
            <p:cNvPr id="2509" name="Google Shape;2509;p44"/>
            <p:cNvSpPr txBox="1"/>
            <p:nvPr/>
          </p:nvSpPr>
          <p:spPr>
            <a:xfrm>
              <a:off x="7275512" y="3178518"/>
              <a:ext cx="3114675" cy="5699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packet bit arrives, send ACK</a:t>
              </a:r>
              <a:endParaRPr b="0" i="0" sz="1600" u="none" cap="none" strike="noStrike">
                <a:solidFill>
                  <a:srgbClr val="000000"/>
                </a:solidFill>
                <a:latin typeface="Times New Roman"/>
                <a:ea typeface="Times New Roman"/>
                <a:cs typeface="Times New Roman"/>
                <a:sym typeface="Times New Roman"/>
              </a:endParaRPr>
            </a:p>
          </p:txBody>
        </p:sp>
        <p:sp>
          <p:nvSpPr>
            <p:cNvPr id="2510" name="Google Shape;2510;p44"/>
            <p:cNvSpPr txBox="1"/>
            <p:nvPr/>
          </p:nvSpPr>
          <p:spPr>
            <a:xfrm>
              <a:off x="2252662" y="3961155"/>
              <a:ext cx="2686050" cy="635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ACK arrives, send next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packet, </a:t>
              </a:r>
              <a:r>
                <a:rPr b="0" i="0" lang="en-US" sz="1600" u="none" cap="none" strike="noStrike">
                  <a:solidFill>
                    <a:srgbClr val="CC0000"/>
                  </a:solidFill>
                  <a:latin typeface="Arial"/>
                  <a:ea typeface="Arial"/>
                  <a:cs typeface="Arial"/>
                  <a:sym typeface="Arial"/>
                </a:rPr>
                <a:t>t = RTT + L / R</a:t>
              </a:r>
              <a:endParaRPr b="0" i="0" sz="1600" u="none" cap="none" strike="noStrike">
                <a:solidFill>
                  <a:srgbClr val="CC0000"/>
                </a:solidFill>
                <a:latin typeface="Times New Roman"/>
                <a:ea typeface="Times New Roman"/>
                <a:cs typeface="Times New Roman"/>
                <a:sym typeface="Times New Roman"/>
              </a:endParaRPr>
            </a:p>
          </p:txBody>
        </p:sp>
        <p:sp>
          <p:nvSpPr>
            <p:cNvPr id="2511" name="Google Shape;2511;p44"/>
            <p:cNvSpPr/>
            <p:nvPr/>
          </p:nvSpPr>
          <p:spPr>
            <a:xfrm>
              <a:off x="4997450" y="4296118"/>
              <a:ext cx="1419225" cy="577850"/>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512" name="Google Shape;2512;p44"/>
            <p:cNvGrpSpPr/>
            <p:nvPr/>
          </p:nvGrpSpPr>
          <p:grpSpPr>
            <a:xfrm>
              <a:off x="4991100" y="4288180"/>
              <a:ext cx="1281112" cy="534988"/>
              <a:chOff x="12315" y="13225"/>
              <a:chExt cx="2775" cy="913"/>
            </a:xfrm>
          </p:grpSpPr>
          <p:cxnSp>
            <p:nvCxnSpPr>
              <p:cNvPr id="2513" name="Google Shape;2513;p44"/>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2514" name="Google Shape;2514;p44"/>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2515" name="Google Shape;2515;p44"/>
            <p:cNvCxnSpPr/>
            <p:nvPr/>
          </p:nvCxnSpPr>
          <p:spPr>
            <a:xfrm>
              <a:off x="4991100" y="4529480"/>
              <a:ext cx="317500" cy="123825"/>
            </a:xfrm>
            <a:prstGeom prst="straightConnector1">
              <a:avLst/>
            </a:prstGeom>
            <a:noFill/>
            <a:ln cap="flat" cmpd="sng" w="9525">
              <a:solidFill>
                <a:srgbClr val="000000"/>
              </a:solidFill>
              <a:prstDash val="solid"/>
              <a:round/>
              <a:headEnd len="med" w="med" type="none"/>
              <a:tailEnd len="med" w="med" type="none"/>
            </a:ln>
          </p:spPr>
        </p:cxnSp>
        <p:cxnSp>
          <p:nvCxnSpPr>
            <p:cNvPr id="2516" name="Google Shape;2516;p44"/>
            <p:cNvCxnSpPr/>
            <p:nvPr/>
          </p:nvCxnSpPr>
          <p:spPr>
            <a:xfrm>
              <a:off x="5314950" y="4653305"/>
              <a:ext cx="541337" cy="234950"/>
            </a:xfrm>
            <a:prstGeom prst="straightConnector1">
              <a:avLst/>
            </a:prstGeom>
            <a:noFill/>
            <a:ln cap="flat" cmpd="sng" w="9525">
              <a:solidFill>
                <a:srgbClr val="000000"/>
              </a:solidFill>
              <a:prstDash val="dot"/>
              <a:round/>
              <a:headEnd len="med" w="med" type="none"/>
              <a:tailEnd len="med" w="med" type="none"/>
            </a:ln>
          </p:spPr>
        </p:cxnSp>
      </p:grpSp>
      <p:sp>
        <p:nvSpPr>
          <p:cNvPr id="2517" name="Google Shape;2517;p4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9"/>
                                        </p:tgtEl>
                                        <p:attrNameLst>
                                          <p:attrName>style.visibility</p:attrName>
                                        </p:attrNameLst>
                                      </p:cBhvr>
                                      <p:to>
                                        <p:strVal val="visible"/>
                                      </p:to>
                                    </p:set>
                                    <p:animEffect filter="fade" transition="in">
                                      <p:cBhvr>
                                        <p:cTn dur="2000"/>
                                        <p:tgtEl>
                                          <p:spTgt spid="24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2" name="Shape 2522"/>
        <p:cNvGrpSpPr/>
        <p:nvPr/>
      </p:nvGrpSpPr>
      <p:grpSpPr>
        <a:xfrm>
          <a:off x="0" y="0"/>
          <a:ext cx="0" cy="0"/>
          <a:chOff x="0" y="0"/>
          <a:chExt cx="0" cy="0"/>
        </a:xfrm>
      </p:grpSpPr>
      <p:sp>
        <p:nvSpPr>
          <p:cNvPr id="2523" name="Google Shape;2523;p4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stop-and-wait operation</a:t>
            </a:r>
            <a:endParaRPr sz="4400"/>
          </a:p>
        </p:txBody>
      </p:sp>
      <p:cxnSp>
        <p:nvCxnSpPr>
          <p:cNvPr id="2524" name="Google Shape;2524;p45"/>
          <p:cNvCxnSpPr/>
          <p:nvPr/>
        </p:nvCxnSpPr>
        <p:spPr>
          <a:xfrm>
            <a:off x="6523093" y="1992313"/>
            <a:ext cx="2227262" cy="922337"/>
          </a:xfrm>
          <a:prstGeom prst="straightConnector1">
            <a:avLst/>
          </a:prstGeom>
          <a:noFill/>
          <a:ln cap="flat" cmpd="sng" w="9525">
            <a:solidFill>
              <a:srgbClr val="000000"/>
            </a:solidFill>
            <a:prstDash val="solid"/>
            <a:round/>
            <a:headEnd len="med" w="med" type="none"/>
            <a:tailEnd len="med" w="med" type="none"/>
          </a:ln>
        </p:spPr>
      </p:cxnSp>
      <p:cxnSp>
        <p:nvCxnSpPr>
          <p:cNvPr id="2525" name="Google Shape;2525;p45"/>
          <p:cNvCxnSpPr/>
          <p:nvPr/>
        </p:nvCxnSpPr>
        <p:spPr>
          <a:xfrm>
            <a:off x="6511980" y="1773238"/>
            <a:ext cx="23813" cy="2913062"/>
          </a:xfrm>
          <a:prstGeom prst="straightConnector1">
            <a:avLst/>
          </a:prstGeom>
          <a:noFill/>
          <a:ln cap="flat" cmpd="sng" w="9525">
            <a:solidFill>
              <a:srgbClr val="000000"/>
            </a:solidFill>
            <a:prstDash val="solid"/>
            <a:round/>
            <a:headEnd len="med" w="med" type="none"/>
            <a:tailEnd len="med" w="med" type="triangle"/>
          </a:ln>
        </p:spPr>
      </p:cxnSp>
      <p:cxnSp>
        <p:nvCxnSpPr>
          <p:cNvPr id="2526" name="Google Shape;2526;p45"/>
          <p:cNvCxnSpPr/>
          <p:nvPr/>
        </p:nvCxnSpPr>
        <p:spPr>
          <a:xfrm>
            <a:off x="8739243" y="1785938"/>
            <a:ext cx="22225" cy="2890837"/>
          </a:xfrm>
          <a:prstGeom prst="straightConnector1">
            <a:avLst/>
          </a:prstGeom>
          <a:noFill/>
          <a:ln cap="flat" cmpd="sng" w="9525">
            <a:solidFill>
              <a:srgbClr val="000000"/>
            </a:solidFill>
            <a:prstDash val="solid"/>
            <a:round/>
            <a:headEnd len="med" w="med" type="none"/>
            <a:tailEnd len="med" w="med" type="triangle"/>
          </a:ln>
        </p:spPr>
      </p:cxnSp>
      <p:sp>
        <p:nvSpPr>
          <p:cNvPr id="2527" name="Google Shape;2527;p45"/>
          <p:cNvSpPr txBox="1"/>
          <p:nvPr/>
        </p:nvSpPr>
        <p:spPr>
          <a:xfrm>
            <a:off x="5983343" y="1436688"/>
            <a:ext cx="885825"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sender</a:t>
            </a:r>
            <a:endParaRPr b="0" i="0" sz="1600" u="none" cap="none" strike="noStrike">
              <a:solidFill>
                <a:srgbClr val="000000"/>
              </a:solidFill>
              <a:latin typeface="Times New Roman"/>
              <a:ea typeface="Times New Roman"/>
              <a:cs typeface="Times New Roman"/>
              <a:sym typeface="Times New Roman"/>
            </a:endParaRPr>
          </a:p>
        </p:txBody>
      </p:sp>
      <p:sp>
        <p:nvSpPr>
          <p:cNvPr id="2528" name="Google Shape;2528;p45"/>
          <p:cNvSpPr txBox="1"/>
          <p:nvPr/>
        </p:nvSpPr>
        <p:spPr>
          <a:xfrm>
            <a:off x="8161393" y="1436688"/>
            <a:ext cx="946150"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receiver</a:t>
            </a:r>
            <a:endParaRPr b="0" i="0" sz="1600" u="none" cap="none" strike="noStrike">
              <a:solidFill>
                <a:srgbClr val="000000"/>
              </a:solidFill>
              <a:latin typeface="Times New Roman"/>
              <a:ea typeface="Times New Roman"/>
              <a:cs typeface="Times New Roman"/>
              <a:sym typeface="Times New Roman"/>
            </a:endParaRPr>
          </a:p>
        </p:txBody>
      </p:sp>
      <p:cxnSp>
        <p:nvCxnSpPr>
          <p:cNvPr id="2529" name="Google Shape;2529;p45"/>
          <p:cNvCxnSpPr/>
          <p:nvPr/>
        </p:nvCxnSpPr>
        <p:spPr>
          <a:xfrm>
            <a:off x="6535793" y="1987550"/>
            <a:ext cx="2190750" cy="3175"/>
          </a:xfrm>
          <a:prstGeom prst="straightConnector1">
            <a:avLst/>
          </a:prstGeom>
          <a:noFill/>
          <a:ln cap="flat" cmpd="sng" w="9525">
            <a:solidFill>
              <a:srgbClr val="000000"/>
            </a:solidFill>
            <a:prstDash val="dash"/>
            <a:round/>
            <a:headEnd len="med" w="med" type="none"/>
            <a:tailEnd len="med" w="med" type="none"/>
          </a:ln>
        </p:spPr>
      </p:cxnSp>
      <p:cxnSp>
        <p:nvCxnSpPr>
          <p:cNvPr id="2530" name="Google Shape;2530;p45"/>
          <p:cNvCxnSpPr/>
          <p:nvPr/>
        </p:nvCxnSpPr>
        <p:spPr>
          <a:xfrm>
            <a:off x="6540555" y="4098925"/>
            <a:ext cx="2192338" cy="0"/>
          </a:xfrm>
          <a:prstGeom prst="straightConnector1">
            <a:avLst/>
          </a:prstGeom>
          <a:noFill/>
          <a:ln cap="flat" cmpd="sng" w="9525">
            <a:solidFill>
              <a:srgbClr val="000000"/>
            </a:solidFill>
            <a:prstDash val="dash"/>
            <a:round/>
            <a:headEnd len="med" w="med" type="none"/>
            <a:tailEnd len="med" w="med" type="none"/>
          </a:ln>
        </p:spPr>
      </p:cxnSp>
      <p:cxnSp>
        <p:nvCxnSpPr>
          <p:cNvPr id="2531" name="Google Shape;2531;p45"/>
          <p:cNvCxnSpPr/>
          <p:nvPr/>
        </p:nvCxnSpPr>
        <p:spPr>
          <a:xfrm flipH="1" rot="10800000">
            <a:off x="6540555" y="3155950"/>
            <a:ext cx="2209800" cy="922338"/>
          </a:xfrm>
          <a:prstGeom prst="straightConnector1">
            <a:avLst/>
          </a:prstGeom>
          <a:noFill/>
          <a:ln cap="flat" cmpd="sng" w="9525">
            <a:solidFill>
              <a:srgbClr val="000000"/>
            </a:solidFill>
            <a:prstDash val="solid"/>
            <a:round/>
            <a:headEnd len="med" w="med" type="none"/>
            <a:tailEnd len="med" w="med" type="none"/>
          </a:ln>
        </p:spPr>
      </p:cxnSp>
      <p:sp>
        <p:nvSpPr>
          <p:cNvPr id="2532" name="Google Shape;2532;p45"/>
          <p:cNvSpPr/>
          <p:nvPr/>
        </p:nvSpPr>
        <p:spPr>
          <a:xfrm>
            <a:off x="6518330" y="1985963"/>
            <a:ext cx="2232025" cy="11557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533" name="Google Shape;2533;p45"/>
          <p:cNvCxnSpPr/>
          <p:nvPr/>
        </p:nvCxnSpPr>
        <p:spPr>
          <a:xfrm rot="10800000">
            <a:off x="6373868" y="1985963"/>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2534" name="Google Shape;2534;p45"/>
          <p:cNvCxnSpPr/>
          <p:nvPr/>
        </p:nvCxnSpPr>
        <p:spPr>
          <a:xfrm rot="10800000">
            <a:off x="6373868" y="2227263"/>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2535" name="Google Shape;2535;p45"/>
          <p:cNvCxnSpPr/>
          <p:nvPr/>
        </p:nvCxnSpPr>
        <p:spPr>
          <a:xfrm rot="10800000">
            <a:off x="6384980" y="4086225"/>
            <a:ext cx="133350" cy="0"/>
          </a:xfrm>
          <a:prstGeom prst="straightConnector1">
            <a:avLst/>
          </a:prstGeom>
          <a:noFill/>
          <a:ln cap="flat" cmpd="sng" w="9525">
            <a:solidFill>
              <a:srgbClr val="000000"/>
            </a:solidFill>
            <a:prstDash val="solid"/>
            <a:round/>
            <a:headEnd len="med" w="med" type="none"/>
            <a:tailEnd len="med" w="med" type="none"/>
          </a:ln>
        </p:spPr>
      </p:cxnSp>
      <p:cxnSp>
        <p:nvCxnSpPr>
          <p:cNvPr id="2536" name="Google Shape;2536;p45"/>
          <p:cNvCxnSpPr/>
          <p:nvPr/>
        </p:nvCxnSpPr>
        <p:spPr>
          <a:xfrm rot="10800000">
            <a:off x="8726543" y="2900363"/>
            <a:ext cx="133350" cy="0"/>
          </a:xfrm>
          <a:prstGeom prst="straightConnector1">
            <a:avLst/>
          </a:prstGeom>
          <a:noFill/>
          <a:ln cap="flat" cmpd="sng" w="9525">
            <a:solidFill>
              <a:srgbClr val="000000"/>
            </a:solidFill>
            <a:prstDash val="solid"/>
            <a:round/>
            <a:headEnd len="med" w="med" type="none"/>
            <a:tailEnd len="med" w="med" type="none"/>
          </a:ln>
        </p:spPr>
      </p:cxnSp>
      <p:cxnSp>
        <p:nvCxnSpPr>
          <p:cNvPr id="2537" name="Google Shape;2537;p45"/>
          <p:cNvCxnSpPr/>
          <p:nvPr/>
        </p:nvCxnSpPr>
        <p:spPr>
          <a:xfrm>
            <a:off x="8750355" y="3149600"/>
            <a:ext cx="127000" cy="0"/>
          </a:xfrm>
          <a:prstGeom prst="straightConnector1">
            <a:avLst/>
          </a:prstGeom>
          <a:noFill/>
          <a:ln cap="flat" cmpd="sng" w="9525">
            <a:solidFill>
              <a:srgbClr val="000000"/>
            </a:solidFill>
            <a:prstDash val="solid"/>
            <a:round/>
            <a:headEnd len="med" w="med" type="none"/>
            <a:tailEnd len="med" w="med" type="none"/>
          </a:ln>
        </p:spPr>
      </p:cxnSp>
      <p:sp>
        <p:nvSpPr>
          <p:cNvPr id="2538" name="Google Shape;2538;p45"/>
          <p:cNvSpPr/>
          <p:nvPr/>
        </p:nvSpPr>
        <p:spPr>
          <a:xfrm>
            <a:off x="6535793" y="4094163"/>
            <a:ext cx="1419225" cy="577850"/>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539" name="Google Shape;2539;p45"/>
          <p:cNvGrpSpPr/>
          <p:nvPr/>
        </p:nvGrpSpPr>
        <p:grpSpPr>
          <a:xfrm>
            <a:off x="6529443" y="4086225"/>
            <a:ext cx="1281112" cy="534988"/>
            <a:chOff x="12315" y="13225"/>
            <a:chExt cx="2775" cy="913"/>
          </a:xfrm>
        </p:grpSpPr>
        <p:cxnSp>
          <p:nvCxnSpPr>
            <p:cNvPr id="2540" name="Google Shape;2540;p45"/>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2541" name="Google Shape;2541;p45"/>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2542" name="Google Shape;2542;p45"/>
          <p:cNvCxnSpPr/>
          <p:nvPr/>
        </p:nvCxnSpPr>
        <p:spPr>
          <a:xfrm>
            <a:off x="6529443" y="4327525"/>
            <a:ext cx="317500" cy="123825"/>
          </a:xfrm>
          <a:prstGeom prst="straightConnector1">
            <a:avLst/>
          </a:prstGeom>
          <a:noFill/>
          <a:ln cap="flat" cmpd="sng" w="9525">
            <a:solidFill>
              <a:srgbClr val="000000"/>
            </a:solidFill>
            <a:prstDash val="solid"/>
            <a:round/>
            <a:headEnd len="med" w="med" type="none"/>
            <a:tailEnd len="med" w="med" type="none"/>
          </a:ln>
        </p:spPr>
      </p:cxnSp>
      <p:cxnSp>
        <p:nvCxnSpPr>
          <p:cNvPr id="2543" name="Google Shape;2543;p45"/>
          <p:cNvCxnSpPr/>
          <p:nvPr/>
        </p:nvCxnSpPr>
        <p:spPr>
          <a:xfrm>
            <a:off x="6853293" y="4451350"/>
            <a:ext cx="541337" cy="234950"/>
          </a:xfrm>
          <a:prstGeom prst="straightConnector1">
            <a:avLst/>
          </a:prstGeom>
          <a:noFill/>
          <a:ln cap="flat" cmpd="sng" w="9525">
            <a:solidFill>
              <a:srgbClr val="000000"/>
            </a:solidFill>
            <a:prstDash val="dot"/>
            <a:round/>
            <a:headEnd len="med" w="med" type="none"/>
            <a:tailEnd len="med" w="med" type="none"/>
          </a:ln>
        </p:spPr>
      </p:cxnSp>
      <p:grpSp>
        <p:nvGrpSpPr>
          <p:cNvPr id="2544" name="Google Shape;2544;p45"/>
          <p:cNvGrpSpPr/>
          <p:nvPr/>
        </p:nvGrpSpPr>
        <p:grpSpPr>
          <a:xfrm>
            <a:off x="2244612" y="2022637"/>
            <a:ext cx="1278602" cy="597475"/>
            <a:chOff x="749300" y="3009900"/>
            <a:chExt cx="1278602" cy="597475"/>
          </a:xfrm>
        </p:grpSpPr>
        <p:sp>
          <p:nvSpPr>
            <p:cNvPr id="2545" name="Google Shape;2545;p45"/>
            <p:cNvSpPr txBox="1"/>
            <p:nvPr/>
          </p:nvSpPr>
          <p:spPr>
            <a:xfrm>
              <a:off x="749300" y="3022600"/>
              <a:ext cx="1111202"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U</a:t>
              </a:r>
              <a:r>
                <a:rPr b="0" baseline="-25000" i="0" lang="en-US" sz="2800" u="none" cap="none" strike="noStrike">
                  <a:solidFill>
                    <a:srgbClr val="000000"/>
                  </a:solidFill>
                  <a:latin typeface="Calibri"/>
                  <a:ea typeface="Calibri"/>
                  <a:cs typeface="Calibri"/>
                  <a:sym typeface="Calibri"/>
                </a:rPr>
                <a:t>sender</a:t>
              </a:r>
              <a:endParaRPr/>
            </a:p>
          </p:txBody>
        </p:sp>
        <p:sp>
          <p:nvSpPr>
            <p:cNvPr id="2546" name="Google Shape;2546;p45"/>
            <p:cNvSpPr txBox="1"/>
            <p:nvPr/>
          </p:nvSpPr>
          <p:spPr>
            <a:xfrm>
              <a:off x="1663700" y="3009900"/>
              <a:ext cx="3642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a:p>
          </p:txBody>
        </p:sp>
      </p:grpSp>
      <p:sp>
        <p:nvSpPr>
          <p:cNvPr id="2547" name="Google Shape;2547;p45"/>
          <p:cNvSpPr txBox="1"/>
          <p:nvPr/>
        </p:nvSpPr>
        <p:spPr>
          <a:xfrm>
            <a:off x="4022612" y="1768637"/>
            <a:ext cx="83388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L / R</a:t>
            </a:r>
            <a:endParaRPr/>
          </a:p>
        </p:txBody>
      </p:sp>
      <p:sp>
        <p:nvSpPr>
          <p:cNvPr id="2548" name="Google Shape;2548;p45"/>
          <p:cNvSpPr txBox="1"/>
          <p:nvPr/>
        </p:nvSpPr>
        <p:spPr>
          <a:xfrm>
            <a:off x="3565412" y="2314737"/>
            <a:ext cx="73109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RTT</a:t>
            </a:r>
            <a:endParaRPr/>
          </a:p>
        </p:txBody>
      </p:sp>
      <p:cxnSp>
        <p:nvCxnSpPr>
          <p:cNvPr id="2549" name="Google Shape;2549;p45"/>
          <p:cNvCxnSpPr/>
          <p:nvPr/>
        </p:nvCxnSpPr>
        <p:spPr>
          <a:xfrm>
            <a:off x="3654312" y="2314737"/>
            <a:ext cx="1549400" cy="0"/>
          </a:xfrm>
          <a:prstGeom prst="straightConnector1">
            <a:avLst/>
          </a:prstGeom>
          <a:noFill/>
          <a:ln cap="flat" cmpd="sng" w="22225">
            <a:solidFill>
              <a:schemeClr val="dk1"/>
            </a:solidFill>
            <a:prstDash val="solid"/>
            <a:miter lim="800000"/>
            <a:headEnd len="sm" w="sm" type="none"/>
            <a:tailEnd len="sm" w="sm" type="none"/>
          </a:ln>
        </p:spPr>
      </p:cxnSp>
      <p:grpSp>
        <p:nvGrpSpPr>
          <p:cNvPr id="2550" name="Google Shape;2550;p45"/>
          <p:cNvGrpSpPr/>
          <p:nvPr/>
        </p:nvGrpSpPr>
        <p:grpSpPr>
          <a:xfrm>
            <a:off x="5721405" y="2234921"/>
            <a:ext cx="847725" cy="1860804"/>
            <a:chOff x="4183062" y="2436876"/>
            <a:chExt cx="847725" cy="1860804"/>
          </a:xfrm>
        </p:grpSpPr>
        <p:sp>
          <p:nvSpPr>
            <p:cNvPr id="2551" name="Google Shape;2551;p45"/>
            <p:cNvSpPr txBox="1"/>
            <p:nvPr/>
          </p:nvSpPr>
          <p:spPr>
            <a:xfrm>
              <a:off x="4183062" y="3161055"/>
              <a:ext cx="847725" cy="336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RTT</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2552" name="Google Shape;2552;p45"/>
            <p:cNvCxnSpPr/>
            <p:nvPr/>
          </p:nvCxnSpPr>
          <p:spPr>
            <a:xfrm>
              <a:off x="4870450" y="3469030"/>
              <a:ext cx="11112" cy="811213"/>
            </a:xfrm>
            <a:prstGeom prst="straightConnector1">
              <a:avLst/>
            </a:prstGeom>
            <a:noFill/>
            <a:ln cap="flat" cmpd="sng" w="9525">
              <a:solidFill>
                <a:srgbClr val="000000"/>
              </a:solidFill>
              <a:prstDash val="solid"/>
              <a:round/>
              <a:headEnd len="med" w="med" type="none"/>
              <a:tailEnd len="med" w="med" type="triangle"/>
            </a:ln>
          </p:spPr>
        </p:cxnSp>
        <p:cxnSp>
          <p:nvCxnSpPr>
            <p:cNvPr id="2553" name="Google Shape;2553;p45"/>
            <p:cNvCxnSpPr/>
            <p:nvPr/>
          </p:nvCxnSpPr>
          <p:spPr>
            <a:xfrm flipH="1" rot="10800000">
              <a:off x="4875212" y="2451443"/>
              <a:ext cx="3175" cy="768350"/>
            </a:xfrm>
            <a:prstGeom prst="straightConnector1">
              <a:avLst/>
            </a:prstGeom>
            <a:noFill/>
            <a:ln cap="flat" cmpd="sng" w="9525">
              <a:solidFill>
                <a:srgbClr val="000000"/>
              </a:solidFill>
              <a:prstDash val="solid"/>
              <a:round/>
              <a:headEnd len="med" w="med" type="none"/>
              <a:tailEnd len="med" w="med" type="triangle"/>
            </a:ln>
          </p:spPr>
        </p:cxnSp>
        <p:sp>
          <p:nvSpPr>
            <p:cNvPr id="2554" name="Google Shape;2554;p45"/>
            <p:cNvSpPr/>
            <p:nvPr/>
          </p:nvSpPr>
          <p:spPr>
            <a:xfrm>
              <a:off x="4421124" y="2436876"/>
              <a:ext cx="77724" cy="1860804"/>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555" name="Google Shape;2555;p45"/>
          <p:cNvGrpSpPr/>
          <p:nvPr/>
        </p:nvGrpSpPr>
        <p:grpSpPr>
          <a:xfrm>
            <a:off x="5737741" y="1941782"/>
            <a:ext cx="847725" cy="336550"/>
            <a:chOff x="4199398" y="2143737"/>
            <a:chExt cx="847725" cy="336550"/>
          </a:xfrm>
        </p:grpSpPr>
        <p:sp>
          <p:nvSpPr>
            <p:cNvPr id="2556" name="Google Shape;2556;p45"/>
            <p:cNvSpPr txBox="1"/>
            <p:nvPr/>
          </p:nvSpPr>
          <p:spPr>
            <a:xfrm>
              <a:off x="4199398" y="2143737"/>
              <a:ext cx="847725" cy="336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L/R</a:t>
              </a:r>
              <a:endParaRPr b="0" i="0" sz="2400" u="none" cap="none" strike="noStrike">
                <a:solidFill>
                  <a:srgbClr val="000000"/>
                </a:solidFill>
                <a:latin typeface="Times New Roman"/>
                <a:ea typeface="Times New Roman"/>
                <a:cs typeface="Times New Roman"/>
                <a:sym typeface="Times New Roman"/>
              </a:endParaRPr>
            </a:p>
          </p:txBody>
        </p:sp>
        <p:sp>
          <p:nvSpPr>
            <p:cNvPr id="2557" name="Google Shape;2557;p45"/>
            <p:cNvSpPr/>
            <p:nvPr/>
          </p:nvSpPr>
          <p:spPr>
            <a:xfrm>
              <a:off x="4418854" y="2180844"/>
              <a:ext cx="85344" cy="246888"/>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558" name="Google Shape;2558;p45"/>
          <p:cNvSpPr txBox="1"/>
          <p:nvPr/>
        </p:nvSpPr>
        <p:spPr>
          <a:xfrm>
            <a:off x="4175012" y="2314737"/>
            <a:ext cx="109517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L / R</a:t>
            </a:r>
            <a:endParaRPr/>
          </a:p>
        </p:txBody>
      </p:sp>
      <p:grpSp>
        <p:nvGrpSpPr>
          <p:cNvPr id="2559" name="Google Shape;2559;p45"/>
          <p:cNvGrpSpPr/>
          <p:nvPr/>
        </p:nvGrpSpPr>
        <p:grpSpPr>
          <a:xfrm>
            <a:off x="3156251" y="2947504"/>
            <a:ext cx="1781653" cy="1463020"/>
            <a:chOff x="1660939" y="3934767"/>
            <a:chExt cx="1781653" cy="1463020"/>
          </a:xfrm>
        </p:grpSpPr>
        <p:sp>
          <p:nvSpPr>
            <p:cNvPr id="2560" name="Google Shape;2560;p45"/>
            <p:cNvSpPr txBox="1"/>
            <p:nvPr/>
          </p:nvSpPr>
          <p:spPr>
            <a:xfrm>
              <a:off x="1673639" y="4856490"/>
              <a:ext cx="3642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a:p>
          </p:txBody>
        </p:sp>
        <p:sp>
          <p:nvSpPr>
            <p:cNvPr id="2561" name="Google Shape;2561;p45"/>
            <p:cNvSpPr txBox="1"/>
            <p:nvPr/>
          </p:nvSpPr>
          <p:spPr>
            <a:xfrm>
              <a:off x="2070100" y="4874567"/>
              <a:ext cx="137249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0.00027</a:t>
              </a:r>
              <a:endParaRPr/>
            </a:p>
          </p:txBody>
        </p:sp>
        <p:grpSp>
          <p:nvGrpSpPr>
            <p:cNvPr id="2562" name="Google Shape;2562;p45"/>
            <p:cNvGrpSpPr/>
            <p:nvPr/>
          </p:nvGrpSpPr>
          <p:grpSpPr>
            <a:xfrm>
              <a:off x="1660939" y="3934767"/>
              <a:ext cx="1473628" cy="868065"/>
              <a:chOff x="1660939" y="3795067"/>
              <a:chExt cx="1473628" cy="868065"/>
            </a:xfrm>
          </p:grpSpPr>
          <p:sp>
            <p:nvSpPr>
              <p:cNvPr id="2563" name="Google Shape;2563;p45"/>
              <p:cNvSpPr txBox="1"/>
              <p:nvPr/>
            </p:nvSpPr>
            <p:spPr>
              <a:xfrm>
                <a:off x="1660939" y="3952557"/>
                <a:ext cx="3642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a:p>
            </p:txBody>
          </p:sp>
          <p:grpSp>
            <p:nvGrpSpPr>
              <p:cNvPr id="2564" name="Google Shape;2564;p45"/>
              <p:cNvGrpSpPr/>
              <p:nvPr/>
            </p:nvGrpSpPr>
            <p:grpSpPr>
              <a:xfrm>
                <a:off x="2095500" y="3795067"/>
                <a:ext cx="1039067" cy="868065"/>
                <a:chOff x="2032000" y="3795067"/>
                <a:chExt cx="1039067" cy="868065"/>
              </a:xfrm>
            </p:grpSpPr>
            <p:sp>
              <p:nvSpPr>
                <p:cNvPr id="2565" name="Google Shape;2565;p45"/>
                <p:cNvSpPr txBox="1"/>
                <p:nvPr/>
              </p:nvSpPr>
              <p:spPr>
                <a:xfrm>
                  <a:off x="2146300" y="3795067"/>
                  <a:ext cx="72808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.008</a:t>
                  </a:r>
                  <a:endParaRPr/>
                </a:p>
              </p:txBody>
            </p:sp>
            <p:sp>
              <p:nvSpPr>
                <p:cNvPr id="2566" name="Google Shape;2566;p45"/>
                <p:cNvSpPr txBox="1"/>
                <p:nvPr/>
              </p:nvSpPr>
              <p:spPr>
                <a:xfrm>
                  <a:off x="2032000" y="4201467"/>
                  <a:ext cx="103906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30.008</a:t>
                  </a:r>
                  <a:endParaRPr/>
                </a:p>
              </p:txBody>
            </p:sp>
            <p:cxnSp>
              <p:nvCxnSpPr>
                <p:cNvPr id="2567" name="Google Shape;2567;p45"/>
                <p:cNvCxnSpPr/>
                <p:nvPr/>
              </p:nvCxnSpPr>
              <p:spPr>
                <a:xfrm>
                  <a:off x="2120900" y="4239567"/>
                  <a:ext cx="825500" cy="0"/>
                </a:xfrm>
                <a:prstGeom prst="straightConnector1">
                  <a:avLst/>
                </a:prstGeom>
                <a:noFill/>
                <a:ln cap="flat" cmpd="sng" w="19050">
                  <a:solidFill>
                    <a:schemeClr val="dk1"/>
                  </a:solidFill>
                  <a:prstDash val="solid"/>
                  <a:miter lim="800000"/>
                  <a:headEnd len="sm" w="sm" type="none"/>
                  <a:tailEnd len="sm" w="sm" type="none"/>
                </a:ln>
              </p:spPr>
            </p:cxnSp>
          </p:grpSp>
        </p:grpSp>
      </p:grpSp>
      <p:sp>
        <p:nvSpPr>
          <p:cNvPr id="2568" name="Google Shape;2568;p45"/>
          <p:cNvSpPr/>
          <p:nvPr/>
        </p:nvSpPr>
        <p:spPr>
          <a:xfrm>
            <a:off x="5728597" y="1978889"/>
            <a:ext cx="85344" cy="246888"/>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69" name="Google Shape;2569;p45"/>
          <p:cNvSpPr txBox="1"/>
          <p:nvPr/>
        </p:nvSpPr>
        <p:spPr>
          <a:xfrm>
            <a:off x="1219200" y="5055243"/>
            <a:ext cx="10194664" cy="1231106"/>
          </a:xfrm>
          <a:prstGeom prst="rect">
            <a:avLst/>
          </a:prstGeom>
          <a:noFill/>
          <a:ln>
            <a:noFill/>
          </a:ln>
        </p:spPr>
        <p:txBody>
          <a:bodyPr anchorCtr="0" anchor="t" bIns="45700" lIns="91425" spcFirstLastPara="1" rIns="91425" wrap="square" tIns="45700">
            <a:spAutoFit/>
          </a:bodyPr>
          <a:lstStyle/>
          <a:p>
            <a:pPr indent="-287338" lvl="0" marL="287338"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rdt 3.0 protocol performance stinks!</a:t>
            </a:r>
            <a:endParaRPr/>
          </a:p>
          <a:p>
            <a:pPr indent="-287338" lvl="0" marL="287338"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Protocol limits performance of underlying infrastructure (channel)</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570" name="Google Shape;2570;p4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4"/>
                                        </p:tgtEl>
                                        <p:attrNameLst>
                                          <p:attrName>style.visibility</p:attrName>
                                        </p:attrNameLst>
                                      </p:cBhvr>
                                      <p:to>
                                        <p:strVal val="visible"/>
                                      </p:to>
                                    </p:set>
                                    <p:animEffect filter="fade" transition="in">
                                      <p:cBhvr>
                                        <p:cTn dur="500"/>
                                        <p:tgtEl>
                                          <p:spTgt spid="25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8"/>
                                        </p:tgtEl>
                                        <p:attrNameLst>
                                          <p:attrName>style.visibility</p:attrName>
                                        </p:attrNameLst>
                                      </p:cBhvr>
                                      <p:to>
                                        <p:strVal val="visible"/>
                                      </p:to>
                                    </p:set>
                                    <p:animEffect filter="fade" transition="in">
                                      <p:cBhvr>
                                        <p:cTn dur="500"/>
                                        <p:tgtEl>
                                          <p:spTgt spid="2548"/>
                                        </p:tgtEl>
                                      </p:cBhvr>
                                    </p:animEffect>
                                  </p:childTnLst>
                                </p:cTn>
                              </p:par>
                              <p:par>
                                <p:cTn fill="hold" nodeType="withEffect" presetClass="entr" presetID="10" presetSubtype="0">
                                  <p:stCondLst>
                                    <p:cond delay="0"/>
                                  </p:stCondLst>
                                  <p:childTnLst>
                                    <p:set>
                                      <p:cBhvr>
                                        <p:cTn dur="1" fill="hold">
                                          <p:stCondLst>
                                            <p:cond delay="0"/>
                                          </p:stCondLst>
                                        </p:cTn>
                                        <p:tgtEl>
                                          <p:spTgt spid="2550"/>
                                        </p:tgtEl>
                                        <p:attrNameLst>
                                          <p:attrName>style.visibility</p:attrName>
                                        </p:attrNameLst>
                                      </p:cBhvr>
                                      <p:to>
                                        <p:strVal val="visible"/>
                                      </p:to>
                                    </p:set>
                                    <p:animEffect filter="fade" transition="in">
                                      <p:cBhvr>
                                        <p:cTn dur="500"/>
                                        <p:tgtEl>
                                          <p:spTgt spid="25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5"/>
                                        </p:tgtEl>
                                        <p:attrNameLst>
                                          <p:attrName>style.visibility</p:attrName>
                                        </p:attrNameLst>
                                      </p:cBhvr>
                                      <p:to>
                                        <p:strVal val="visible"/>
                                      </p:to>
                                    </p:set>
                                    <p:animEffect filter="fade" transition="in">
                                      <p:cBhvr>
                                        <p:cTn dur="500"/>
                                        <p:tgtEl>
                                          <p:spTgt spid="2555"/>
                                        </p:tgtEl>
                                      </p:cBhvr>
                                    </p:animEffect>
                                  </p:childTnLst>
                                </p:cTn>
                              </p:par>
                              <p:par>
                                <p:cTn fill="hold" nodeType="withEffect" presetClass="entr" presetID="10" presetSubtype="0">
                                  <p:stCondLst>
                                    <p:cond delay="0"/>
                                  </p:stCondLst>
                                  <p:childTnLst>
                                    <p:set>
                                      <p:cBhvr>
                                        <p:cTn dur="1" fill="hold">
                                          <p:stCondLst>
                                            <p:cond delay="0"/>
                                          </p:stCondLst>
                                        </p:cTn>
                                        <p:tgtEl>
                                          <p:spTgt spid="2558"/>
                                        </p:tgtEl>
                                        <p:attrNameLst>
                                          <p:attrName>style.visibility</p:attrName>
                                        </p:attrNameLst>
                                      </p:cBhvr>
                                      <p:to>
                                        <p:strVal val="visible"/>
                                      </p:to>
                                    </p:set>
                                    <p:animEffect filter="fade" transition="in">
                                      <p:cBhvr>
                                        <p:cTn dur="500"/>
                                        <p:tgtEl>
                                          <p:spTgt spid="25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7"/>
                                        </p:tgtEl>
                                        <p:attrNameLst>
                                          <p:attrName>style.visibility</p:attrName>
                                        </p:attrNameLst>
                                      </p:cBhvr>
                                      <p:to>
                                        <p:strVal val="visible"/>
                                      </p:to>
                                    </p:set>
                                    <p:animEffect filter="fade" transition="in">
                                      <p:cBhvr>
                                        <p:cTn dur="500"/>
                                        <p:tgtEl>
                                          <p:spTgt spid="2547"/>
                                        </p:tgtEl>
                                      </p:cBhvr>
                                    </p:animEffect>
                                  </p:childTnLst>
                                </p:cTn>
                              </p:par>
                              <p:par>
                                <p:cTn fill="hold" nodeType="withEffect" presetClass="entr" presetID="10" presetSubtype="0">
                                  <p:stCondLst>
                                    <p:cond delay="0"/>
                                  </p:stCondLst>
                                  <p:childTnLst>
                                    <p:set>
                                      <p:cBhvr>
                                        <p:cTn dur="1" fill="hold">
                                          <p:stCondLst>
                                            <p:cond delay="0"/>
                                          </p:stCondLst>
                                        </p:cTn>
                                        <p:tgtEl>
                                          <p:spTgt spid="2568"/>
                                        </p:tgtEl>
                                        <p:attrNameLst>
                                          <p:attrName>style.visibility</p:attrName>
                                        </p:attrNameLst>
                                      </p:cBhvr>
                                      <p:to>
                                        <p:strVal val="visible"/>
                                      </p:to>
                                    </p:set>
                                    <p:animEffect filter="fade" transition="in">
                                      <p:cBhvr>
                                        <p:cTn dur="500"/>
                                        <p:tgtEl>
                                          <p:spTgt spid="256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49"/>
                                        </p:tgtEl>
                                        <p:attrNameLst>
                                          <p:attrName>style.visibility</p:attrName>
                                        </p:attrNameLst>
                                      </p:cBhvr>
                                      <p:to>
                                        <p:strVal val="visible"/>
                                      </p:to>
                                    </p:set>
                                    <p:animEffect filter="fade" transition="in">
                                      <p:cBhvr>
                                        <p:cTn dur="500"/>
                                        <p:tgtEl>
                                          <p:spTgt spid="25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9"/>
                                        </p:tgtEl>
                                        <p:attrNameLst>
                                          <p:attrName>style.visibility</p:attrName>
                                        </p:attrNameLst>
                                      </p:cBhvr>
                                      <p:to>
                                        <p:strVal val="visible"/>
                                      </p:to>
                                    </p:set>
                                    <p:animEffect filter="fade" transition="in">
                                      <p:cBhvr>
                                        <p:cTn dur="500"/>
                                        <p:tgtEl>
                                          <p:spTgt spid="25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9"/>
                                        </p:tgtEl>
                                        <p:attrNameLst>
                                          <p:attrName>style.visibility</p:attrName>
                                        </p:attrNameLst>
                                      </p:cBhvr>
                                      <p:to>
                                        <p:strVal val="visible"/>
                                      </p:to>
                                    </p:set>
                                    <p:animEffect filter="fade" transition="in">
                                      <p:cBhvr>
                                        <p:cTn dur="500"/>
                                        <p:tgtEl>
                                          <p:spTgt spid="25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5" name="Shape 2575"/>
        <p:cNvGrpSpPr/>
        <p:nvPr/>
      </p:nvGrpSpPr>
      <p:grpSpPr>
        <a:xfrm>
          <a:off x="0" y="0"/>
          <a:ext cx="0" cy="0"/>
          <a:chOff x="0" y="0"/>
          <a:chExt cx="0" cy="0"/>
        </a:xfrm>
      </p:grpSpPr>
      <p:sp>
        <p:nvSpPr>
          <p:cNvPr id="2576" name="Google Shape;2576;p4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pipelined protocols operation</a:t>
            </a:r>
            <a:endParaRPr sz="4400"/>
          </a:p>
        </p:txBody>
      </p:sp>
      <p:sp>
        <p:nvSpPr>
          <p:cNvPr id="2577" name="Google Shape;2577;p46"/>
          <p:cNvSpPr txBox="1"/>
          <p:nvPr/>
        </p:nvSpPr>
        <p:spPr>
          <a:xfrm>
            <a:off x="722556" y="1312877"/>
            <a:ext cx="10988826" cy="203318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pipelining:</a:t>
            </a:r>
            <a:r>
              <a:rPr b="0" i="0" lang="en-US" sz="2800" u="none" cap="none" strike="noStrike">
                <a:solidFill>
                  <a:srgbClr val="000000"/>
                </a:solidFill>
                <a:latin typeface="Calibri"/>
                <a:ea typeface="Calibri"/>
                <a:cs typeface="Calibri"/>
                <a:sym typeface="Calibri"/>
              </a:rPr>
              <a:t> sender allows multiple, “in-flight”, yet-to-be-acknowledged packets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range of sequence numbers must be increased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buffering at sender and/or receiver</a:t>
            </a:r>
            <a:endParaRPr/>
          </a:p>
        </p:txBody>
      </p:sp>
      <p:grpSp>
        <p:nvGrpSpPr>
          <p:cNvPr id="2578" name="Google Shape;2578;p46"/>
          <p:cNvGrpSpPr/>
          <p:nvPr/>
        </p:nvGrpSpPr>
        <p:grpSpPr>
          <a:xfrm>
            <a:off x="2916237" y="2993267"/>
            <a:ext cx="6359525" cy="2370138"/>
            <a:chOff x="1673403" y="3019025"/>
            <a:chExt cx="6359525" cy="2370138"/>
          </a:xfrm>
        </p:grpSpPr>
        <p:pic>
          <p:nvPicPr>
            <p:cNvPr descr="rdt_pipelined1" id="2579" name="Google Shape;2579;p46"/>
            <p:cNvPicPr preferRelativeResize="0"/>
            <p:nvPr/>
          </p:nvPicPr>
          <p:blipFill rotWithShape="1">
            <a:blip r:embed="rId3">
              <a:alphaModFix/>
            </a:blip>
            <a:srcRect b="0" l="0" r="0" t="0"/>
            <a:stretch/>
          </p:blipFill>
          <p:spPr>
            <a:xfrm>
              <a:off x="1927403" y="3019025"/>
              <a:ext cx="6105525" cy="2370138"/>
            </a:xfrm>
            <a:prstGeom prst="rect">
              <a:avLst/>
            </a:prstGeom>
            <a:noFill/>
            <a:ln>
              <a:noFill/>
            </a:ln>
          </p:spPr>
        </p:pic>
        <p:grpSp>
          <p:nvGrpSpPr>
            <p:cNvPr id="2580" name="Google Shape;2580;p46"/>
            <p:cNvGrpSpPr/>
            <p:nvPr/>
          </p:nvGrpSpPr>
          <p:grpSpPr>
            <a:xfrm>
              <a:off x="1673403" y="3696888"/>
              <a:ext cx="469900" cy="465137"/>
              <a:chOff x="881" y="2283"/>
              <a:chExt cx="296" cy="293"/>
            </a:xfrm>
          </p:grpSpPr>
          <p:sp>
            <p:nvSpPr>
              <p:cNvPr id="2581" name="Google Shape;2581;p46"/>
              <p:cNvSpPr/>
              <p:nvPr/>
            </p:nvSpPr>
            <p:spPr>
              <a:xfrm>
                <a:off x="1026" y="2283"/>
                <a:ext cx="122" cy="2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2582" name="Google Shape;2582;p46"/>
              <p:cNvGrpSpPr/>
              <p:nvPr/>
            </p:nvGrpSpPr>
            <p:grpSpPr>
              <a:xfrm flipH="1">
                <a:off x="881" y="2283"/>
                <a:ext cx="296" cy="293"/>
                <a:chOff x="2839" y="3501"/>
                <a:chExt cx="755" cy="803"/>
              </a:xfrm>
            </p:grpSpPr>
            <p:pic>
              <p:nvPicPr>
                <p:cNvPr descr="desktop_computer_stylized_medium" id="2583" name="Google Shape;2583;p46"/>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2584" name="Google Shape;2584;p4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
          <p:nvSpPr>
            <p:cNvPr id="2585" name="Google Shape;2585;p46"/>
            <p:cNvSpPr/>
            <p:nvPr/>
          </p:nvSpPr>
          <p:spPr>
            <a:xfrm>
              <a:off x="7613828" y="3709588"/>
              <a:ext cx="185737" cy="431800"/>
            </a:xfrm>
            <a:custGeom>
              <a:rect b="b" l="l" r="r" t="t"/>
              <a:pathLst>
                <a:path extrusionOk="0" h="272" w="117">
                  <a:moveTo>
                    <a:pt x="6" y="6"/>
                  </a:moveTo>
                  <a:lnTo>
                    <a:pt x="3" y="77"/>
                  </a:lnTo>
                  <a:lnTo>
                    <a:pt x="59" y="120"/>
                  </a:lnTo>
                  <a:lnTo>
                    <a:pt x="0" y="146"/>
                  </a:lnTo>
                  <a:lnTo>
                    <a:pt x="3" y="270"/>
                  </a:lnTo>
                  <a:lnTo>
                    <a:pt x="117" y="272"/>
                  </a:lnTo>
                  <a:lnTo>
                    <a:pt x="114" y="0"/>
                  </a:lnTo>
                  <a:lnTo>
                    <a:pt x="6" y="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586" name="Google Shape;2586;p46"/>
            <p:cNvGrpSpPr/>
            <p:nvPr/>
          </p:nvGrpSpPr>
          <p:grpSpPr>
            <a:xfrm>
              <a:off x="4784903" y="3714350"/>
              <a:ext cx="469900" cy="465138"/>
              <a:chOff x="881" y="2283"/>
              <a:chExt cx="296" cy="293"/>
            </a:xfrm>
          </p:grpSpPr>
          <p:sp>
            <p:nvSpPr>
              <p:cNvPr id="2587" name="Google Shape;2587;p46"/>
              <p:cNvSpPr/>
              <p:nvPr/>
            </p:nvSpPr>
            <p:spPr>
              <a:xfrm>
                <a:off x="1026" y="2283"/>
                <a:ext cx="122" cy="2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2588" name="Google Shape;2588;p46"/>
              <p:cNvGrpSpPr/>
              <p:nvPr/>
            </p:nvGrpSpPr>
            <p:grpSpPr>
              <a:xfrm flipH="1">
                <a:off x="881" y="2283"/>
                <a:ext cx="296" cy="293"/>
                <a:chOff x="2839" y="3501"/>
                <a:chExt cx="755" cy="803"/>
              </a:xfrm>
            </p:grpSpPr>
            <p:pic>
              <p:nvPicPr>
                <p:cNvPr descr="desktop_computer_stylized_medium" id="2589" name="Google Shape;2589;p46"/>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2590" name="Google Shape;2590;p4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2591" name="Google Shape;2591;p46"/>
            <p:cNvGrpSpPr/>
            <p:nvPr/>
          </p:nvGrpSpPr>
          <p:grpSpPr>
            <a:xfrm>
              <a:off x="4493546" y="3633388"/>
              <a:ext cx="223838" cy="501650"/>
              <a:chOff x="4140" y="429"/>
              <a:chExt cx="1425" cy="2396"/>
            </a:xfrm>
          </p:grpSpPr>
          <p:sp>
            <p:nvSpPr>
              <p:cNvPr id="2592" name="Google Shape;2592;p4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593" name="Google Shape;2593;p46"/>
              <p:cNvSpPr/>
              <p:nvPr/>
            </p:nvSpPr>
            <p:spPr>
              <a:xfrm>
                <a:off x="4211" y="429"/>
                <a:ext cx="1041"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594" name="Google Shape;2594;p4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595" name="Google Shape;2595;p4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596" name="Google Shape;2596;p46"/>
              <p:cNvSpPr/>
              <p:nvPr/>
            </p:nvSpPr>
            <p:spPr>
              <a:xfrm>
                <a:off x="4211" y="694"/>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2597" name="Google Shape;2597;p46"/>
              <p:cNvGrpSpPr/>
              <p:nvPr/>
            </p:nvGrpSpPr>
            <p:grpSpPr>
              <a:xfrm>
                <a:off x="4747" y="671"/>
                <a:ext cx="586" cy="144"/>
                <a:chOff x="611" y="2571"/>
                <a:chExt cx="731" cy="138"/>
              </a:xfrm>
            </p:grpSpPr>
            <p:sp>
              <p:nvSpPr>
                <p:cNvPr id="2598" name="Google Shape;2598;p46"/>
                <p:cNvSpPr/>
                <p:nvPr/>
              </p:nvSpPr>
              <p:spPr>
                <a:xfrm>
                  <a:off x="611" y="2571"/>
                  <a:ext cx="73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599" name="Google Shape;2599;p46"/>
                <p:cNvSpPr/>
                <p:nvPr/>
              </p:nvSpPr>
              <p:spPr>
                <a:xfrm>
                  <a:off x="623" y="2586"/>
                  <a:ext cx="706"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2600" name="Google Shape;2600;p46"/>
              <p:cNvSpPr/>
              <p:nvPr/>
            </p:nvSpPr>
            <p:spPr>
              <a:xfrm>
                <a:off x="4221" y="1020"/>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2601" name="Google Shape;2601;p46"/>
              <p:cNvGrpSpPr/>
              <p:nvPr/>
            </p:nvGrpSpPr>
            <p:grpSpPr>
              <a:xfrm>
                <a:off x="4746" y="998"/>
                <a:ext cx="586" cy="129"/>
                <a:chOff x="613" y="2572"/>
                <a:chExt cx="731" cy="134"/>
              </a:xfrm>
            </p:grpSpPr>
            <p:sp>
              <p:nvSpPr>
                <p:cNvPr id="2602" name="Google Shape;2602;p46"/>
                <p:cNvSpPr/>
                <p:nvPr/>
              </p:nvSpPr>
              <p:spPr>
                <a:xfrm>
                  <a:off x="613" y="2572"/>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03" name="Google Shape;2603;p46"/>
                <p:cNvSpPr/>
                <p:nvPr/>
              </p:nvSpPr>
              <p:spPr>
                <a:xfrm>
                  <a:off x="626" y="2588"/>
                  <a:ext cx="706"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2604" name="Google Shape;2604;p46"/>
              <p:cNvSpPr/>
              <p:nvPr/>
            </p:nvSpPr>
            <p:spPr>
              <a:xfrm>
                <a:off x="4221" y="1362"/>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05" name="Google Shape;2605;p46"/>
              <p:cNvSpPr/>
              <p:nvPr/>
            </p:nvSpPr>
            <p:spPr>
              <a:xfrm>
                <a:off x="4231" y="1657"/>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2606" name="Google Shape;2606;p46"/>
              <p:cNvGrpSpPr/>
              <p:nvPr/>
            </p:nvGrpSpPr>
            <p:grpSpPr>
              <a:xfrm>
                <a:off x="4737" y="1627"/>
                <a:ext cx="576" cy="152"/>
                <a:chOff x="616" y="2568"/>
                <a:chExt cx="718" cy="140"/>
              </a:xfrm>
            </p:grpSpPr>
            <p:sp>
              <p:nvSpPr>
                <p:cNvPr id="2607" name="Google Shape;2607;p46"/>
                <p:cNvSpPr/>
                <p:nvPr/>
              </p:nvSpPr>
              <p:spPr>
                <a:xfrm>
                  <a:off x="616" y="2568"/>
                  <a:ext cx="718"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08" name="Google Shape;2608;p46"/>
                <p:cNvSpPr/>
                <p:nvPr/>
              </p:nvSpPr>
              <p:spPr>
                <a:xfrm>
                  <a:off x="628" y="2582"/>
                  <a:ext cx="692" cy="11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2609" name="Google Shape;2609;p4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610" name="Google Shape;2610;p46"/>
              <p:cNvGrpSpPr/>
              <p:nvPr/>
            </p:nvGrpSpPr>
            <p:grpSpPr>
              <a:xfrm>
                <a:off x="4737" y="1324"/>
                <a:ext cx="586" cy="144"/>
                <a:chOff x="611" y="2565"/>
                <a:chExt cx="730" cy="144"/>
              </a:xfrm>
            </p:grpSpPr>
            <p:sp>
              <p:nvSpPr>
                <p:cNvPr id="2611" name="Google Shape;2611;p46"/>
                <p:cNvSpPr/>
                <p:nvPr/>
              </p:nvSpPr>
              <p:spPr>
                <a:xfrm>
                  <a:off x="611" y="2565"/>
                  <a:ext cx="730"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12" name="Google Shape;2612;p46"/>
                <p:cNvSpPr/>
                <p:nvPr/>
              </p:nvSpPr>
              <p:spPr>
                <a:xfrm>
                  <a:off x="623" y="2580"/>
                  <a:ext cx="705"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2613" name="Google Shape;2613;p46"/>
              <p:cNvSpPr/>
              <p:nvPr/>
            </p:nvSpPr>
            <p:spPr>
              <a:xfrm>
                <a:off x="5252"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14" name="Google Shape;2614;p4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15" name="Google Shape;2615;p4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16" name="Google Shape;2616;p46"/>
              <p:cNvSpPr/>
              <p:nvPr/>
            </p:nvSpPr>
            <p:spPr>
              <a:xfrm>
                <a:off x="5514" y="2613"/>
                <a:ext cx="51" cy="9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17" name="Google Shape;2617;p4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18" name="Google Shape;2618;p46"/>
              <p:cNvSpPr/>
              <p:nvPr/>
            </p:nvSpPr>
            <p:spPr>
              <a:xfrm>
                <a:off x="4140" y="2681"/>
                <a:ext cx="1203"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19" name="Google Shape;2619;p46"/>
              <p:cNvSpPr/>
              <p:nvPr/>
            </p:nvSpPr>
            <p:spPr>
              <a:xfrm>
                <a:off x="4211" y="2711"/>
                <a:ext cx="106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20" name="Google Shape;2620;p46"/>
              <p:cNvSpPr/>
              <p:nvPr/>
            </p:nvSpPr>
            <p:spPr>
              <a:xfrm>
                <a:off x="4312" y="2385"/>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21" name="Google Shape;2621;p46"/>
              <p:cNvSpPr/>
              <p:nvPr/>
            </p:nvSpPr>
            <p:spPr>
              <a:xfrm>
                <a:off x="4484" y="2385"/>
                <a:ext cx="162"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622" name="Google Shape;2622;p46"/>
              <p:cNvSpPr/>
              <p:nvPr/>
            </p:nvSpPr>
            <p:spPr>
              <a:xfrm>
                <a:off x="4666" y="2378"/>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23" name="Google Shape;2623;p46"/>
              <p:cNvSpPr/>
              <p:nvPr/>
            </p:nvSpPr>
            <p:spPr>
              <a:xfrm>
                <a:off x="5060" y="1832"/>
                <a:ext cx="91" cy="766"/>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2624" name="Google Shape;2624;p46"/>
            <p:cNvGrpSpPr/>
            <p:nvPr/>
          </p:nvGrpSpPr>
          <p:grpSpPr>
            <a:xfrm>
              <a:off x="7659865" y="3576238"/>
              <a:ext cx="223838" cy="501650"/>
              <a:chOff x="4140" y="429"/>
              <a:chExt cx="1425" cy="2396"/>
            </a:xfrm>
          </p:grpSpPr>
          <p:sp>
            <p:nvSpPr>
              <p:cNvPr id="2625" name="Google Shape;2625;p4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26" name="Google Shape;2626;p46"/>
              <p:cNvSpPr/>
              <p:nvPr/>
            </p:nvSpPr>
            <p:spPr>
              <a:xfrm>
                <a:off x="4211" y="429"/>
                <a:ext cx="1041"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27" name="Google Shape;2627;p4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28" name="Google Shape;2628;p4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29" name="Google Shape;2629;p46"/>
              <p:cNvSpPr/>
              <p:nvPr/>
            </p:nvSpPr>
            <p:spPr>
              <a:xfrm>
                <a:off x="4211" y="694"/>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2630" name="Google Shape;2630;p46"/>
              <p:cNvGrpSpPr/>
              <p:nvPr/>
            </p:nvGrpSpPr>
            <p:grpSpPr>
              <a:xfrm>
                <a:off x="4747" y="671"/>
                <a:ext cx="586" cy="144"/>
                <a:chOff x="611" y="2571"/>
                <a:chExt cx="731" cy="138"/>
              </a:xfrm>
            </p:grpSpPr>
            <p:sp>
              <p:nvSpPr>
                <p:cNvPr id="2631" name="Google Shape;2631;p46"/>
                <p:cNvSpPr/>
                <p:nvPr/>
              </p:nvSpPr>
              <p:spPr>
                <a:xfrm>
                  <a:off x="611" y="2571"/>
                  <a:ext cx="73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32" name="Google Shape;2632;p46"/>
                <p:cNvSpPr/>
                <p:nvPr/>
              </p:nvSpPr>
              <p:spPr>
                <a:xfrm>
                  <a:off x="623" y="2586"/>
                  <a:ext cx="706"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2633" name="Google Shape;2633;p46"/>
              <p:cNvSpPr/>
              <p:nvPr/>
            </p:nvSpPr>
            <p:spPr>
              <a:xfrm>
                <a:off x="4221" y="1020"/>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2634" name="Google Shape;2634;p46"/>
              <p:cNvGrpSpPr/>
              <p:nvPr/>
            </p:nvGrpSpPr>
            <p:grpSpPr>
              <a:xfrm>
                <a:off x="4746" y="998"/>
                <a:ext cx="586" cy="129"/>
                <a:chOff x="613" y="2572"/>
                <a:chExt cx="731" cy="134"/>
              </a:xfrm>
            </p:grpSpPr>
            <p:sp>
              <p:nvSpPr>
                <p:cNvPr id="2635" name="Google Shape;2635;p46"/>
                <p:cNvSpPr/>
                <p:nvPr/>
              </p:nvSpPr>
              <p:spPr>
                <a:xfrm>
                  <a:off x="613" y="2572"/>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36" name="Google Shape;2636;p46"/>
                <p:cNvSpPr/>
                <p:nvPr/>
              </p:nvSpPr>
              <p:spPr>
                <a:xfrm>
                  <a:off x="626" y="2588"/>
                  <a:ext cx="706"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2637" name="Google Shape;2637;p46"/>
              <p:cNvSpPr/>
              <p:nvPr/>
            </p:nvSpPr>
            <p:spPr>
              <a:xfrm>
                <a:off x="4221" y="1362"/>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38" name="Google Shape;2638;p46"/>
              <p:cNvSpPr/>
              <p:nvPr/>
            </p:nvSpPr>
            <p:spPr>
              <a:xfrm>
                <a:off x="4231" y="1657"/>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2639" name="Google Shape;2639;p46"/>
              <p:cNvGrpSpPr/>
              <p:nvPr/>
            </p:nvGrpSpPr>
            <p:grpSpPr>
              <a:xfrm>
                <a:off x="4737" y="1627"/>
                <a:ext cx="576" cy="152"/>
                <a:chOff x="616" y="2568"/>
                <a:chExt cx="718" cy="140"/>
              </a:xfrm>
            </p:grpSpPr>
            <p:sp>
              <p:nvSpPr>
                <p:cNvPr id="2640" name="Google Shape;2640;p46"/>
                <p:cNvSpPr/>
                <p:nvPr/>
              </p:nvSpPr>
              <p:spPr>
                <a:xfrm>
                  <a:off x="616" y="2568"/>
                  <a:ext cx="718"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41" name="Google Shape;2641;p46"/>
                <p:cNvSpPr/>
                <p:nvPr/>
              </p:nvSpPr>
              <p:spPr>
                <a:xfrm>
                  <a:off x="628" y="2582"/>
                  <a:ext cx="692" cy="11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2642" name="Google Shape;2642;p4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643" name="Google Shape;2643;p46"/>
              <p:cNvGrpSpPr/>
              <p:nvPr/>
            </p:nvGrpSpPr>
            <p:grpSpPr>
              <a:xfrm>
                <a:off x="4737" y="1324"/>
                <a:ext cx="586" cy="144"/>
                <a:chOff x="611" y="2565"/>
                <a:chExt cx="730" cy="144"/>
              </a:xfrm>
            </p:grpSpPr>
            <p:sp>
              <p:nvSpPr>
                <p:cNvPr id="2644" name="Google Shape;2644;p46"/>
                <p:cNvSpPr/>
                <p:nvPr/>
              </p:nvSpPr>
              <p:spPr>
                <a:xfrm>
                  <a:off x="611" y="2565"/>
                  <a:ext cx="730"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45" name="Google Shape;2645;p46"/>
                <p:cNvSpPr/>
                <p:nvPr/>
              </p:nvSpPr>
              <p:spPr>
                <a:xfrm>
                  <a:off x="623" y="2580"/>
                  <a:ext cx="705"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2646" name="Google Shape;2646;p46"/>
              <p:cNvSpPr/>
              <p:nvPr/>
            </p:nvSpPr>
            <p:spPr>
              <a:xfrm>
                <a:off x="5252"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47" name="Google Shape;2647;p4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48" name="Google Shape;2648;p4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49" name="Google Shape;2649;p46"/>
              <p:cNvSpPr/>
              <p:nvPr/>
            </p:nvSpPr>
            <p:spPr>
              <a:xfrm>
                <a:off x="5514" y="2613"/>
                <a:ext cx="51" cy="9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50" name="Google Shape;2650;p4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51" name="Google Shape;2651;p46"/>
              <p:cNvSpPr/>
              <p:nvPr/>
            </p:nvSpPr>
            <p:spPr>
              <a:xfrm>
                <a:off x="4140" y="2681"/>
                <a:ext cx="1203"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52" name="Google Shape;2652;p46"/>
              <p:cNvSpPr/>
              <p:nvPr/>
            </p:nvSpPr>
            <p:spPr>
              <a:xfrm>
                <a:off x="4211" y="2711"/>
                <a:ext cx="106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53" name="Google Shape;2653;p46"/>
              <p:cNvSpPr/>
              <p:nvPr/>
            </p:nvSpPr>
            <p:spPr>
              <a:xfrm>
                <a:off x="4312" y="2385"/>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54" name="Google Shape;2654;p46"/>
              <p:cNvSpPr/>
              <p:nvPr/>
            </p:nvSpPr>
            <p:spPr>
              <a:xfrm>
                <a:off x="4484" y="2385"/>
                <a:ext cx="162"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655" name="Google Shape;2655;p46"/>
              <p:cNvSpPr/>
              <p:nvPr/>
            </p:nvSpPr>
            <p:spPr>
              <a:xfrm>
                <a:off x="4666" y="2378"/>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656" name="Google Shape;2656;p46"/>
              <p:cNvSpPr/>
              <p:nvPr/>
            </p:nvSpPr>
            <p:spPr>
              <a:xfrm>
                <a:off x="5060" y="1832"/>
                <a:ext cx="91" cy="766"/>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sp>
        <p:nvSpPr>
          <p:cNvPr id="2657" name="Google Shape;2657;p46"/>
          <p:cNvSpPr/>
          <p:nvPr/>
        </p:nvSpPr>
        <p:spPr>
          <a:xfrm>
            <a:off x="6069496" y="2941983"/>
            <a:ext cx="3750365" cy="2491408"/>
          </a:xfrm>
          <a:custGeom>
            <a:rect b="b" l="l" r="r" t="t"/>
            <a:pathLst>
              <a:path extrusionOk="0" h="2491408" w="3750365">
                <a:moveTo>
                  <a:pt x="331304" y="0"/>
                </a:moveTo>
                <a:lnTo>
                  <a:pt x="0" y="861391"/>
                </a:lnTo>
                <a:lnTo>
                  <a:pt x="13252" y="1378226"/>
                </a:lnTo>
                <a:lnTo>
                  <a:pt x="26504" y="2491408"/>
                </a:lnTo>
                <a:lnTo>
                  <a:pt x="3750365" y="2451652"/>
                </a:lnTo>
                <a:lnTo>
                  <a:pt x="3723861" y="79513"/>
                </a:lnTo>
                <a:lnTo>
                  <a:pt x="331304"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58" name="Google Shape;2658;p4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657"/>
                                        </p:tgtEl>
                                      </p:cBhvr>
                                    </p:animEffect>
                                    <p:set>
                                      <p:cBhvr>
                                        <p:cTn dur="1" fill="hold">
                                          <p:stCondLst>
                                            <p:cond delay="500"/>
                                          </p:stCondLst>
                                        </p:cTn>
                                        <p:tgtEl>
                                          <p:spTgt spid="265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3" name="Shape 2663"/>
        <p:cNvGrpSpPr/>
        <p:nvPr/>
      </p:nvGrpSpPr>
      <p:grpSpPr>
        <a:xfrm>
          <a:off x="0" y="0"/>
          <a:ext cx="0" cy="0"/>
          <a:chOff x="0" y="0"/>
          <a:chExt cx="0" cy="0"/>
        </a:xfrm>
      </p:grpSpPr>
      <p:sp>
        <p:nvSpPr>
          <p:cNvPr id="2664" name="Google Shape;2664;p47"/>
          <p:cNvSpPr txBox="1"/>
          <p:nvPr>
            <p:ph type="title"/>
          </p:nvPr>
        </p:nvSpPr>
        <p:spPr>
          <a:xfrm>
            <a:off x="798690" y="289325"/>
            <a:ext cx="11100600" cy="89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Pipelining: increased utilization</a:t>
            </a:r>
            <a:endParaRPr sz="4400"/>
          </a:p>
        </p:txBody>
      </p:sp>
      <p:grpSp>
        <p:nvGrpSpPr>
          <p:cNvPr id="2665" name="Google Shape;2665;p47"/>
          <p:cNvGrpSpPr/>
          <p:nvPr/>
        </p:nvGrpSpPr>
        <p:grpSpPr>
          <a:xfrm>
            <a:off x="1436915" y="1417186"/>
            <a:ext cx="9143925" cy="3744503"/>
            <a:chOff x="1436915" y="1417186"/>
            <a:chExt cx="9143925" cy="3744503"/>
          </a:xfrm>
        </p:grpSpPr>
        <p:grpSp>
          <p:nvGrpSpPr>
            <p:cNvPr id="2666" name="Google Shape;2666;p47"/>
            <p:cNvGrpSpPr/>
            <p:nvPr/>
          </p:nvGrpSpPr>
          <p:grpSpPr>
            <a:xfrm>
              <a:off x="1436915" y="1744211"/>
              <a:ext cx="5265713" cy="3417478"/>
              <a:chOff x="1436915" y="1744211"/>
              <a:chExt cx="5265713" cy="3417478"/>
            </a:xfrm>
          </p:grpSpPr>
          <p:sp>
            <p:nvSpPr>
              <p:cNvPr id="2667" name="Google Shape;2667;p47"/>
              <p:cNvSpPr txBox="1"/>
              <p:nvPr/>
            </p:nvSpPr>
            <p:spPr>
              <a:xfrm>
                <a:off x="1436915" y="1760086"/>
                <a:ext cx="3086100" cy="3540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transmitted, t = 0</a:t>
                </a:r>
                <a:endParaRPr b="0" i="0" sz="1600" u="none" cap="none" strike="noStrike">
                  <a:solidFill>
                    <a:srgbClr val="000000"/>
                  </a:solidFill>
                  <a:latin typeface="Times New Roman"/>
                  <a:ea typeface="Times New Roman"/>
                  <a:cs typeface="Times New Roman"/>
                  <a:sym typeface="Times New Roman"/>
                </a:endParaRPr>
              </a:p>
            </p:txBody>
          </p:sp>
          <p:cxnSp>
            <p:nvCxnSpPr>
              <p:cNvPr id="2668" name="Google Shape;2668;p47"/>
              <p:cNvCxnSpPr/>
              <p:nvPr/>
            </p:nvCxnSpPr>
            <p:spPr>
              <a:xfrm>
                <a:off x="4599215" y="1744211"/>
                <a:ext cx="20700" cy="3284400"/>
              </a:xfrm>
              <a:prstGeom prst="straightConnector1">
                <a:avLst/>
              </a:prstGeom>
              <a:noFill/>
              <a:ln cap="flat" cmpd="sng" w="9525">
                <a:solidFill>
                  <a:srgbClr val="000000"/>
                </a:solidFill>
                <a:prstDash val="solid"/>
                <a:round/>
                <a:headEnd len="med" w="med" type="none"/>
                <a:tailEnd len="med" w="med" type="triangle"/>
              </a:ln>
            </p:spPr>
          </p:cxnSp>
          <p:cxnSp>
            <p:nvCxnSpPr>
              <p:cNvPr id="2669" name="Google Shape;2669;p47"/>
              <p:cNvCxnSpPr/>
              <p:nvPr/>
            </p:nvCxnSpPr>
            <p:spPr>
              <a:xfrm>
                <a:off x="6680428" y="1756911"/>
                <a:ext cx="22200" cy="3351300"/>
              </a:xfrm>
              <a:prstGeom prst="straightConnector1">
                <a:avLst/>
              </a:prstGeom>
              <a:noFill/>
              <a:ln cap="flat" cmpd="sng" w="9525">
                <a:solidFill>
                  <a:srgbClr val="000000"/>
                </a:solidFill>
                <a:prstDash val="solid"/>
                <a:round/>
                <a:headEnd len="med" w="med" type="none"/>
                <a:tailEnd len="med" w="med" type="triangle"/>
              </a:ln>
            </p:spPr>
          </p:cxnSp>
          <p:grpSp>
            <p:nvGrpSpPr>
              <p:cNvPr id="2670" name="Google Shape;2670;p47"/>
              <p:cNvGrpSpPr/>
              <p:nvPr/>
            </p:nvGrpSpPr>
            <p:grpSpPr>
              <a:xfrm>
                <a:off x="4474976" y="4081011"/>
                <a:ext cx="1472691" cy="593278"/>
                <a:chOff x="12490" y="21425"/>
                <a:chExt cx="3414" cy="1000"/>
              </a:xfrm>
            </p:grpSpPr>
            <p:cxnSp>
              <p:nvCxnSpPr>
                <p:cNvPr id="2671" name="Google Shape;2671;p47"/>
                <p:cNvCxnSpPr/>
                <p:nvPr/>
              </p:nvCxnSpPr>
              <p:spPr>
                <a:xfrm rot="10800000">
                  <a:off x="12490" y="21425"/>
                  <a:ext cx="300" cy="0"/>
                </a:xfrm>
                <a:prstGeom prst="straightConnector1">
                  <a:avLst/>
                </a:prstGeom>
                <a:noFill/>
                <a:ln cap="flat" cmpd="sng" w="9525">
                  <a:solidFill>
                    <a:srgbClr val="000000"/>
                  </a:solidFill>
                  <a:prstDash val="solid"/>
                  <a:round/>
                  <a:headEnd len="med" w="med" type="none"/>
                  <a:tailEnd len="med" w="med" type="none"/>
                </a:ln>
              </p:spPr>
            </p:cxnSp>
            <p:sp>
              <p:nvSpPr>
                <p:cNvPr id="2672" name="Google Shape;2672;p47"/>
                <p:cNvSpPr/>
                <p:nvPr/>
              </p:nvSpPr>
              <p:spPr>
                <a:xfrm>
                  <a:off x="12827" y="21438"/>
                  <a:ext cx="3077"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673" name="Google Shape;2673;p47"/>
                <p:cNvGrpSpPr/>
                <p:nvPr/>
              </p:nvGrpSpPr>
              <p:grpSpPr>
                <a:xfrm>
                  <a:off x="12815" y="21425"/>
                  <a:ext cx="2801" cy="812"/>
                  <a:chOff x="12315" y="13225"/>
                  <a:chExt cx="2800" cy="812"/>
                </a:xfrm>
              </p:grpSpPr>
              <p:cxnSp>
                <p:nvCxnSpPr>
                  <p:cNvPr id="2674" name="Google Shape;2674;p47"/>
                  <p:cNvCxnSpPr/>
                  <p:nvPr/>
                </p:nvCxnSpPr>
                <p:spPr>
                  <a:xfrm>
                    <a:off x="12315" y="13225"/>
                    <a:ext cx="1500" cy="600"/>
                  </a:xfrm>
                  <a:prstGeom prst="straightConnector1">
                    <a:avLst/>
                  </a:prstGeom>
                  <a:noFill/>
                  <a:ln cap="flat" cmpd="sng" w="9525">
                    <a:solidFill>
                      <a:srgbClr val="000000"/>
                    </a:solidFill>
                    <a:prstDash val="solid"/>
                    <a:round/>
                    <a:headEnd len="med" w="med" type="none"/>
                    <a:tailEnd len="med" w="med" type="none"/>
                  </a:ln>
                </p:spPr>
              </p:cxnSp>
              <p:cxnSp>
                <p:nvCxnSpPr>
                  <p:cNvPr id="2675" name="Google Shape;2675;p47"/>
                  <p:cNvCxnSpPr/>
                  <p:nvPr/>
                </p:nvCxnSpPr>
                <p:spPr>
                  <a:xfrm>
                    <a:off x="13915" y="13737"/>
                    <a:ext cx="1200" cy="300"/>
                  </a:xfrm>
                  <a:prstGeom prst="straightConnector1">
                    <a:avLst/>
                  </a:prstGeom>
                  <a:noFill/>
                  <a:ln cap="flat" cmpd="sng" w="9525">
                    <a:solidFill>
                      <a:srgbClr val="000000"/>
                    </a:solidFill>
                    <a:prstDash val="dot"/>
                    <a:round/>
                    <a:headEnd len="med" w="med" type="none"/>
                    <a:tailEnd len="med" w="med" type="none"/>
                  </a:ln>
                </p:spPr>
              </p:cxnSp>
            </p:grpSp>
            <p:cxnSp>
              <p:nvCxnSpPr>
                <p:cNvPr id="2676" name="Google Shape;2676;p47"/>
                <p:cNvCxnSpPr/>
                <p:nvPr/>
              </p:nvCxnSpPr>
              <p:spPr>
                <a:xfrm>
                  <a:off x="12815" y="21837"/>
                  <a:ext cx="600" cy="300"/>
                </a:xfrm>
                <a:prstGeom prst="straightConnector1">
                  <a:avLst/>
                </a:prstGeom>
                <a:noFill/>
                <a:ln cap="flat" cmpd="sng" w="9525">
                  <a:solidFill>
                    <a:srgbClr val="000000"/>
                  </a:solidFill>
                  <a:prstDash val="solid"/>
                  <a:round/>
                  <a:headEnd len="med" w="med" type="none"/>
                  <a:tailEnd len="med" w="med" type="none"/>
                </a:ln>
              </p:spPr>
            </p:cxnSp>
            <p:cxnSp>
              <p:nvCxnSpPr>
                <p:cNvPr id="2677" name="Google Shape;2677;p47"/>
                <p:cNvCxnSpPr/>
                <p:nvPr/>
              </p:nvCxnSpPr>
              <p:spPr>
                <a:xfrm>
                  <a:off x="13515" y="22048"/>
                  <a:ext cx="1200" cy="300"/>
                </a:xfrm>
                <a:prstGeom prst="straightConnector1">
                  <a:avLst/>
                </a:prstGeom>
                <a:noFill/>
                <a:ln cap="flat" cmpd="sng" w="9525">
                  <a:solidFill>
                    <a:srgbClr val="000000"/>
                  </a:solidFill>
                  <a:prstDash val="dot"/>
                  <a:round/>
                  <a:headEnd len="med" w="med" type="none"/>
                  <a:tailEnd len="med" w="med" type="none"/>
                </a:ln>
              </p:spPr>
            </p:cxnSp>
          </p:grpSp>
          <p:grpSp>
            <p:nvGrpSpPr>
              <p:cNvPr id="2678" name="Google Shape;2678;p47"/>
              <p:cNvGrpSpPr/>
              <p:nvPr/>
            </p:nvGrpSpPr>
            <p:grpSpPr>
              <a:xfrm>
                <a:off x="4463863" y="4319135"/>
                <a:ext cx="1472691" cy="591729"/>
                <a:chOff x="12490" y="21425"/>
                <a:chExt cx="3414" cy="1000"/>
              </a:xfrm>
            </p:grpSpPr>
            <p:cxnSp>
              <p:nvCxnSpPr>
                <p:cNvPr id="2679" name="Google Shape;2679;p47"/>
                <p:cNvCxnSpPr/>
                <p:nvPr/>
              </p:nvCxnSpPr>
              <p:spPr>
                <a:xfrm rot="10800000">
                  <a:off x="12490" y="21425"/>
                  <a:ext cx="300" cy="0"/>
                </a:xfrm>
                <a:prstGeom prst="straightConnector1">
                  <a:avLst/>
                </a:prstGeom>
                <a:noFill/>
                <a:ln cap="flat" cmpd="sng" w="9525">
                  <a:solidFill>
                    <a:srgbClr val="000000"/>
                  </a:solidFill>
                  <a:prstDash val="solid"/>
                  <a:round/>
                  <a:headEnd len="med" w="med" type="none"/>
                  <a:tailEnd len="med" w="med" type="none"/>
                </a:ln>
              </p:spPr>
            </p:cxnSp>
            <p:sp>
              <p:nvSpPr>
                <p:cNvPr id="2680" name="Google Shape;2680;p47"/>
                <p:cNvSpPr/>
                <p:nvPr/>
              </p:nvSpPr>
              <p:spPr>
                <a:xfrm>
                  <a:off x="12827" y="21438"/>
                  <a:ext cx="3077"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681" name="Google Shape;2681;p47"/>
                <p:cNvGrpSpPr/>
                <p:nvPr/>
              </p:nvGrpSpPr>
              <p:grpSpPr>
                <a:xfrm>
                  <a:off x="12815" y="21425"/>
                  <a:ext cx="2801" cy="812"/>
                  <a:chOff x="12315" y="13225"/>
                  <a:chExt cx="2800" cy="812"/>
                </a:xfrm>
              </p:grpSpPr>
              <p:cxnSp>
                <p:nvCxnSpPr>
                  <p:cNvPr id="2682" name="Google Shape;2682;p47"/>
                  <p:cNvCxnSpPr/>
                  <p:nvPr/>
                </p:nvCxnSpPr>
                <p:spPr>
                  <a:xfrm>
                    <a:off x="12315" y="13225"/>
                    <a:ext cx="1500" cy="600"/>
                  </a:xfrm>
                  <a:prstGeom prst="straightConnector1">
                    <a:avLst/>
                  </a:prstGeom>
                  <a:noFill/>
                  <a:ln cap="flat" cmpd="sng" w="9525">
                    <a:solidFill>
                      <a:srgbClr val="000000"/>
                    </a:solidFill>
                    <a:prstDash val="solid"/>
                    <a:round/>
                    <a:headEnd len="med" w="med" type="none"/>
                    <a:tailEnd len="med" w="med" type="none"/>
                  </a:ln>
                </p:spPr>
              </p:cxnSp>
              <p:cxnSp>
                <p:nvCxnSpPr>
                  <p:cNvPr id="2683" name="Google Shape;2683;p47"/>
                  <p:cNvCxnSpPr/>
                  <p:nvPr/>
                </p:nvCxnSpPr>
                <p:spPr>
                  <a:xfrm>
                    <a:off x="13915" y="13737"/>
                    <a:ext cx="1200" cy="300"/>
                  </a:xfrm>
                  <a:prstGeom prst="straightConnector1">
                    <a:avLst/>
                  </a:prstGeom>
                  <a:noFill/>
                  <a:ln cap="flat" cmpd="sng" w="9525">
                    <a:solidFill>
                      <a:srgbClr val="000000"/>
                    </a:solidFill>
                    <a:prstDash val="dot"/>
                    <a:round/>
                    <a:headEnd len="med" w="med" type="none"/>
                    <a:tailEnd len="med" w="med" type="none"/>
                  </a:ln>
                </p:spPr>
              </p:cxnSp>
            </p:grpSp>
            <p:cxnSp>
              <p:nvCxnSpPr>
                <p:cNvPr id="2684" name="Google Shape;2684;p47"/>
                <p:cNvCxnSpPr/>
                <p:nvPr/>
              </p:nvCxnSpPr>
              <p:spPr>
                <a:xfrm>
                  <a:off x="12815" y="21837"/>
                  <a:ext cx="600" cy="300"/>
                </a:xfrm>
                <a:prstGeom prst="straightConnector1">
                  <a:avLst/>
                </a:prstGeom>
                <a:noFill/>
                <a:ln cap="flat" cmpd="sng" w="9525">
                  <a:solidFill>
                    <a:srgbClr val="000000"/>
                  </a:solidFill>
                  <a:prstDash val="solid"/>
                  <a:round/>
                  <a:headEnd len="med" w="med" type="none"/>
                  <a:tailEnd len="med" w="med" type="none"/>
                </a:ln>
              </p:spPr>
            </p:cxnSp>
            <p:cxnSp>
              <p:nvCxnSpPr>
                <p:cNvPr id="2685" name="Google Shape;2685;p47"/>
                <p:cNvCxnSpPr/>
                <p:nvPr/>
              </p:nvCxnSpPr>
              <p:spPr>
                <a:xfrm>
                  <a:off x="13515" y="22048"/>
                  <a:ext cx="1200" cy="300"/>
                </a:xfrm>
                <a:prstGeom prst="straightConnector1">
                  <a:avLst/>
                </a:prstGeom>
                <a:noFill/>
                <a:ln cap="flat" cmpd="sng" w="9525">
                  <a:solidFill>
                    <a:srgbClr val="000000"/>
                  </a:solidFill>
                  <a:prstDash val="dot"/>
                  <a:round/>
                  <a:headEnd len="med" w="med" type="none"/>
                  <a:tailEnd len="med" w="med" type="none"/>
                </a:ln>
              </p:spPr>
            </p:cxnSp>
          </p:grpSp>
          <p:grpSp>
            <p:nvGrpSpPr>
              <p:cNvPr id="2686" name="Google Shape;2686;p47"/>
              <p:cNvGrpSpPr/>
              <p:nvPr/>
            </p:nvGrpSpPr>
            <p:grpSpPr>
              <a:xfrm>
                <a:off x="4474976" y="4569960"/>
                <a:ext cx="1472691" cy="591729"/>
                <a:chOff x="12490" y="21425"/>
                <a:chExt cx="3414" cy="1000"/>
              </a:xfrm>
            </p:grpSpPr>
            <p:cxnSp>
              <p:nvCxnSpPr>
                <p:cNvPr id="2687" name="Google Shape;2687;p47"/>
                <p:cNvCxnSpPr/>
                <p:nvPr/>
              </p:nvCxnSpPr>
              <p:spPr>
                <a:xfrm rot="10800000">
                  <a:off x="12490" y="21425"/>
                  <a:ext cx="300" cy="0"/>
                </a:xfrm>
                <a:prstGeom prst="straightConnector1">
                  <a:avLst/>
                </a:prstGeom>
                <a:noFill/>
                <a:ln cap="flat" cmpd="sng" w="9525">
                  <a:solidFill>
                    <a:srgbClr val="000000"/>
                  </a:solidFill>
                  <a:prstDash val="solid"/>
                  <a:round/>
                  <a:headEnd len="med" w="med" type="none"/>
                  <a:tailEnd len="med" w="med" type="none"/>
                </a:ln>
              </p:spPr>
            </p:cxnSp>
            <p:sp>
              <p:nvSpPr>
                <p:cNvPr id="2688" name="Google Shape;2688;p47"/>
                <p:cNvSpPr/>
                <p:nvPr/>
              </p:nvSpPr>
              <p:spPr>
                <a:xfrm>
                  <a:off x="12827" y="21438"/>
                  <a:ext cx="3077"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689" name="Google Shape;2689;p47"/>
                <p:cNvGrpSpPr/>
                <p:nvPr/>
              </p:nvGrpSpPr>
              <p:grpSpPr>
                <a:xfrm>
                  <a:off x="12815" y="21425"/>
                  <a:ext cx="2801" cy="812"/>
                  <a:chOff x="12315" y="13225"/>
                  <a:chExt cx="2800" cy="812"/>
                </a:xfrm>
              </p:grpSpPr>
              <p:cxnSp>
                <p:nvCxnSpPr>
                  <p:cNvPr id="2690" name="Google Shape;2690;p47"/>
                  <p:cNvCxnSpPr/>
                  <p:nvPr/>
                </p:nvCxnSpPr>
                <p:spPr>
                  <a:xfrm>
                    <a:off x="12315" y="13225"/>
                    <a:ext cx="1500" cy="600"/>
                  </a:xfrm>
                  <a:prstGeom prst="straightConnector1">
                    <a:avLst/>
                  </a:prstGeom>
                  <a:noFill/>
                  <a:ln cap="flat" cmpd="sng" w="9525">
                    <a:solidFill>
                      <a:srgbClr val="000000"/>
                    </a:solidFill>
                    <a:prstDash val="solid"/>
                    <a:round/>
                    <a:headEnd len="med" w="med" type="none"/>
                    <a:tailEnd len="med" w="med" type="none"/>
                  </a:ln>
                </p:spPr>
              </p:cxnSp>
              <p:cxnSp>
                <p:nvCxnSpPr>
                  <p:cNvPr id="2691" name="Google Shape;2691;p47"/>
                  <p:cNvCxnSpPr/>
                  <p:nvPr/>
                </p:nvCxnSpPr>
                <p:spPr>
                  <a:xfrm>
                    <a:off x="13915" y="13737"/>
                    <a:ext cx="1200" cy="300"/>
                  </a:xfrm>
                  <a:prstGeom prst="straightConnector1">
                    <a:avLst/>
                  </a:prstGeom>
                  <a:noFill/>
                  <a:ln cap="flat" cmpd="sng" w="9525">
                    <a:solidFill>
                      <a:srgbClr val="000000"/>
                    </a:solidFill>
                    <a:prstDash val="dot"/>
                    <a:round/>
                    <a:headEnd len="med" w="med" type="none"/>
                    <a:tailEnd len="med" w="med" type="none"/>
                  </a:ln>
                </p:spPr>
              </p:cxnSp>
            </p:grpSp>
            <p:cxnSp>
              <p:nvCxnSpPr>
                <p:cNvPr id="2692" name="Google Shape;2692;p47"/>
                <p:cNvCxnSpPr/>
                <p:nvPr/>
              </p:nvCxnSpPr>
              <p:spPr>
                <a:xfrm>
                  <a:off x="12815" y="21837"/>
                  <a:ext cx="600" cy="300"/>
                </a:xfrm>
                <a:prstGeom prst="straightConnector1">
                  <a:avLst/>
                </a:prstGeom>
                <a:noFill/>
                <a:ln cap="flat" cmpd="sng" w="9525">
                  <a:solidFill>
                    <a:srgbClr val="000000"/>
                  </a:solidFill>
                  <a:prstDash val="solid"/>
                  <a:round/>
                  <a:headEnd len="med" w="med" type="none"/>
                  <a:tailEnd len="med" w="med" type="none"/>
                </a:ln>
              </p:spPr>
            </p:cxnSp>
            <p:cxnSp>
              <p:nvCxnSpPr>
                <p:cNvPr id="2693" name="Google Shape;2693;p47"/>
                <p:cNvCxnSpPr/>
                <p:nvPr/>
              </p:nvCxnSpPr>
              <p:spPr>
                <a:xfrm>
                  <a:off x="13515" y="22048"/>
                  <a:ext cx="1200" cy="300"/>
                </a:xfrm>
                <a:prstGeom prst="straightConnector1">
                  <a:avLst/>
                </a:prstGeom>
                <a:noFill/>
                <a:ln cap="flat" cmpd="sng" w="9525">
                  <a:solidFill>
                    <a:srgbClr val="000000"/>
                  </a:solidFill>
                  <a:prstDash val="dot"/>
                  <a:round/>
                  <a:headEnd len="med" w="med" type="none"/>
                  <a:tailEnd len="med" w="med" type="none"/>
                </a:ln>
              </p:spPr>
            </p:cxnSp>
          </p:grpSp>
          <p:cxnSp>
            <p:nvCxnSpPr>
              <p:cNvPr id="2694" name="Google Shape;2694;p47"/>
              <p:cNvCxnSpPr/>
              <p:nvPr/>
            </p:nvCxnSpPr>
            <p:spPr>
              <a:xfrm flipH="1" rot="10800000">
                <a:off x="4630965" y="3646099"/>
                <a:ext cx="2065200" cy="931800"/>
              </a:xfrm>
              <a:prstGeom prst="straightConnector1">
                <a:avLst/>
              </a:prstGeom>
              <a:noFill/>
              <a:ln cap="flat" cmpd="sng" w="9525">
                <a:solidFill>
                  <a:srgbClr val="000000"/>
                </a:solidFill>
                <a:prstDash val="solid"/>
                <a:round/>
                <a:headEnd len="med" w="med" type="none"/>
                <a:tailEnd len="med" w="med" type="none"/>
              </a:ln>
            </p:spPr>
          </p:cxnSp>
        </p:grpSp>
        <p:grpSp>
          <p:nvGrpSpPr>
            <p:cNvPr id="2695" name="Google Shape;2695;p47"/>
            <p:cNvGrpSpPr/>
            <p:nvPr/>
          </p:nvGrpSpPr>
          <p:grpSpPr>
            <a:xfrm>
              <a:off x="1782990" y="1417186"/>
              <a:ext cx="8797850" cy="2975025"/>
              <a:chOff x="1782990" y="1417186"/>
              <a:chExt cx="8797850" cy="2975025"/>
            </a:xfrm>
          </p:grpSpPr>
          <p:cxnSp>
            <p:nvCxnSpPr>
              <p:cNvPr id="2696" name="Google Shape;2696;p47"/>
              <p:cNvCxnSpPr/>
              <p:nvPr/>
            </p:nvCxnSpPr>
            <p:spPr>
              <a:xfrm>
                <a:off x="4608740" y="1966461"/>
                <a:ext cx="2082900" cy="931800"/>
              </a:xfrm>
              <a:prstGeom prst="straightConnector1">
                <a:avLst/>
              </a:prstGeom>
              <a:noFill/>
              <a:ln cap="flat" cmpd="sng" w="9525">
                <a:solidFill>
                  <a:srgbClr val="000000"/>
                </a:solidFill>
                <a:prstDash val="solid"/>
                <a:round/>
                <a:headEnd len="med" w="med" type="none"/>
                <a:tailEnd len="med" w="med" type="none"/>
              </a:ln>
            </p:spPr>
          </p:cxnSp>
          <p:sp>
            <p:nvSpPr>
              <p:cNvPr id="2697" name="Google Shape;2697;p47"/>
              <p:cNvSpPr txBox="1"/>
              <p:nvPr/>
            </p:nvSpPr>
            <p:spPr>
              <a:xfrm>
                <a:off x="4138840" y="1417186"/>
                <a:ext cx="1043100" cy="3555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sender</a:t>
                </a:r>
                <a:endParaRPr b="0" i="0" sz="1600" u="none" cap="none" strike="noStrike">
                  <a:solidFill>
                    <a:srgbClr val="000000"/>
                  </a:solidFill>
                  <a:latin typeface="Times New Roman"/>
                  <a:ea typeface="Times New Roman"/>
                  <a:cs typeface="Times New Roman"/>
                  <a:sym typeface="Times New Roman"/>
                </a:endParaRPr>
              </a:p>
            </p:txBody>
          </p:sp>
          <p:sp>
            <p:nvSpPr>
              <p:cNvPr id="2698" name="Google Shape;2698;p47"/>
              <p:cNvSpPr txBox="1"/>
              <p:nvPr/>
            </p:nvSpPr>
            <p:spPr>
              <a:xfrm>
                <a:off x="6167665" y="1417186"/>
                <a:ext cx="1108200" cy="3555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receiver</a:t>
                </a:r>
                <a:endParaRPr b="0" i="0" sz="1600" u="none" cap="none" strike="noStrike">
                  <a:solidFill>
                    <a:srgbClr val="000000"/>
                  </a:solidFill>
                  <a:latin typeface="Times New Roman"/>
                  <a:ea typeface="Times New Roman"/>
                  <a:cs typeface="Times New Roman"/>
                  <a:sym typeface="Times New Roman"/>
                </a:endParaRPr>
              </a:p>
            </p:txBody>
          </p:sp>
          <p:cxnSp>
            <p:nvCxnSpPr>
              <p:cNvPr id="2699" name="Google Shape;2699;p47"/>
              <p:cNvCxnSpPr/>
              <p:nvPr/>
            </p:nvCxnSpPr>
            <p:spPr>
              <a:xfrm>
                <a:off x="4619853" y="1961699"/>
                <a:ext cx="2049600" cy="3300"/>
              </a:xfrm>
              <a:prstGeom prst="straightConnector1">
                <a:avLst/>
              </a:prstGeom>
              <a:noFill/>
              <a:ln cap="flat" cmpd="sng" w="9525">
                <a:solidFill>
                  <a:srgbClr val="000000"/>
                </a:solidFill>
                <a:prstDash val="dash"/>
                <a:round/>
                <a:headEnd len="med" w="med" type="none"/>
                <a:tailEnd len="med" w="med" type="none"/>
              </a:ln>
            </p:spPr>
          </p:cxnSp>
          <p:cxnSp>
            <p:nvCxnSpPr>
              <p:cNvPr id="2700" name="Google Shape;2700;p47"/>
              <p:cNvCxnSpPr/>
              <p:nvPr/>
            </p:nvCxnSpPr>
            <p:spPr>
              <a:xfrm>
                <a:off x="4626203" y="4093711"/>
                <a:ext cx="2049600" cy="0"/>
              </a:xfrm>
              <a:prstGeom prst="straightConnector1">
                <a:avLst/>
              </a:prstGeom>
              <a:noFill/>
              <a:ln cap="flat" cmpd="sng" w="9525">
                <a:solidFill>
                  <a:srgbClr val="000000"/>
                </a:solidFill>
                <a:prstDash val="dash"/>
                <a:round/>
                <a:headEnd len="med" w="med" type="none"/>
                <a:tailEnd len="med" w="med" type="none"/>
              </a:ln>
            </p:spPr>
          </p:cxnSp>
          <p:sp>
            <p:nvSpPr>
              <p:cNvPr id="2701" name="Google Shape;2701;p47"/>
              <p:cNvSpPr/>
              <p:nvPr/>
            </p:nvSpPr>
            <p:spPr>
              <a:xfrm>
                <a:off x="4603978" y="1958524"/>
                <a:ext cx="2087561" cy="1169986"/>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702" name="Google Shape;2702;p47"/>
              <p:cNvCxnSpPr/>
              <p:nvPr/>
            </p:nvCxnSpPr>
            <p:spPr>
              <a:xfrm flipH="1">
                <a:off x="4468965" y="1958524"/>
                <a:ext cx="123900" cy="3300"/>
              </a:xfrm>
              <a:prstGeom prst="straightConnector1">
                <a:avLst/>
              </a:prstGeom>
              <a:noFill/>
              <a:ln cap="flat" cmpd="sng" w="9525">
                <a:solidFill>
                  <a:srgbClr val="000000"/>
                </a:solidFill>
                <a:prstDash val="solid"/>
                <a:round/>
                <a:headEnd len="med" w="med" type="none"/>
                <a:tailEnd len="med" w="med" type="none"/>
              </a:ln>
            </p:spPr>
          </p:cxnSp>
          <p:cxnSp>
            <p:nvCxnSpPr>
              <p:cNvPr id="2703" name="Google Shape;2703;p47"/>
              <p:cNvCxnSpPr/>
              <p:nvPr/>
            </p:nvCxnSpPr>
            <p:spPr>
              <a:xfrm rot="10800000">
                <a:off x="4468965" y="2202999"/>
                <a:ext cx="123900" cy="0"/>
              </a:xfrm>
              <a:prstGeom prst="straightConnector1">
                <a:avLst/>
              </a:prstGeom>
              <a:noFill/>
              <a:ln cap="flat" cmpd="sng" w="9525">
                <a:solidFill>
                  <a:srgbClr val="000000"/>
                </a:solidFill>
                <a:prstDash val="solid"/>
                <a:round/>
                <a:headEnd len="med" w="med" type="none"/>
                <a:tailEnd len="med" w="med" type="none"/>
              </a:ln>
            </p:spPr>
          </p:cxnSp>
          <p:sp>
            <p:nvSpPr>
              <p:cNvPr id="2704" name="Google Shape;2704;p47"/>
              <p:cNvSpPr txBox="1"/>
              <p:nvPr/>
            </p:nvSpPr>
            <p:spPr>
              <a:xfrm>
                <a:off x="3687990" y="2942774"/>
                <a:ext cx="965100" cy="339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RTT </a:t>
                </a:r>
                <a:endParaRPr b="0" i="0" sz="1600" u="none" cap="none" strike="noStrike">
                  <a:solidFill>
                    <a:srgbClr val="000000"/>
                  </a:solidFill>
                  <a:latin typeface="Times New Roman"/>
                  <a:ea typeface="Times New Roman"/>
                  <a:cs typeface="Times New Roman"/>
                  <a:sym typeface="Times New Roman"/>
                </a:endParaRPr>
              </a:p>
            </p:txBody>
          </p:sp>
          <p:cxnSp>
            <p:nvCxnSpPr>
              <p:cNvPr id="2705" name="Google Shape;2705;p47"/>
              <p:cNvCxnSpPr/>
              <p:nvPr/>
            </p:nvCxnSpPr>
            <p:spPr>
              <a:xfrm>
                <a:off x="4502378" y="3253924"/>
                <a:ext cx="9600" cy="820800"/>
              </a:xfrm>
              <a:prstGeom prst="straightConnector1">
                <a:avLst/>
              </a:prstGeom>
              <a:noFill/>
              <a:ln cap="flat" cmpd="sng" w="9525">
                <a:solidFill>
                  <a:srgbClr val="000000"/>
                </a:solidFill>
                <a:prstDash val="solid"/>
                <a:round/>
                <a:headEnd len="med" w="med" type="none"/>
                <a:tailEnd len="med" w="med" type="triangle"/>
              </a:ln>
            </p:spPr>
          </p:cxnSp>
          <p:cxnSp>
            <p:nvCxnSpPr>
              <p:cNvPr id="2706" name="Google Shape;2706;p47"/>
              <p:cNvCxnSpPr/>
              <p:nvPr/>
            </p:nvCxnSpPr>
            <p:spPr>
              <a:xfrm flipH="1" rot="10800000">
                <a:off x="4507140" y="2225111"/>
                <a:ext cx="1500" cy="776400"/>
              </a:xfrm>
              <a:prstGeom prst="straightConnector1">
                <a:avLst/>
              </a:prstGeom>
              <a:noFill/>
              <a:ln cap="flat" cmpd="sng" w="9525">
                <a:solidFill>
                  <a:srgbClr val="000000"/>
                </a:solidFill>
                <a:prstDash val="solid"/>
                <a:round/>
                <a:headEnd len="med" w="med" type="none"/>
                <a:tailEnd len="med" w="med" type="triangle"/>
              </a:ln>
            </p:spPr>
          </p:cxnSp>
          <p:sp>
            <p:nvSpPr>
              <p:cNvPr id="2707" name="Google Shape;2707;p47"/>
              <p:cNvSpPr txBox="1"/>
              <p:nvPr/>
            </p:nvSpPr>
            <p:spPr>
              <a:xfrm>
                <a:off x="1782990" y="2041074"/>
                <a:ext cx="2739900" cy="354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transmitted, t = L / R</a:t>
                </a:r>
                <a:endParaRPr b="0" i="0" sz="1600" u="none" cap="none" strike="noStrike">
                  <a:solidFill>
                    <a:srgbClr val="000000"/>
                  </a:solidFill>
                  <a:latin typeface="Times New Roman"/>
                  <a:ea typeface="Times New Roman"/>
                  <a:cs typeface="Times New Roman"/>
                  <a:sym typeface="Times New Roman"/>
                </a:endParaRPr>
              </a:p>
            </p:txBody>
          </p:sp>
          <p:cxnSp>
            <p:nvCxnSpPr>
              <p:cNvPr id="2708" name="Google Shape;2708;p47"/>
              <p:cNvCxnSpPr/>
              <p:nvPr/>
            </p:nvCxnSpPr>
            <p:spPr>
              <a:xfrm rot="10800000">
                <a:off x="6669328" y="2884036"/>
                <a:ext cx="125400" cy="0"/>
              </a:xfrm>
              <a:prstGeom prst="straightConnector1">
                <a:avLst/>
              </a:prstGeom>
              <a:noFill/>
              <a:ln cap="flat" cmpd="sng" w="9525">
                <a:solidFill>
                  <a:srgbClr val="000000"/>
                </a:solidFill>
                <a:prstDash val="solid"/>
                <a:round/>
                <a:headEnd len="med" w="med" type="none"/>
                <a:tailEnd len="med" w="med" type="none"/>
              </a:ln>
            </p:spPr>
          </p:cxnSp>
          <p:sp>
            <p:nvSpPr>
              <p:cNvPr id="2709" name="Google Shape;2709;p47"/>
              <p:cNvSpPr txBox="1"/>
              <p:nvPr/>
            </p:nvSpPr>
            <p:spPr>
              <a:xfrm>
                <a:off x="6745515" y="2706236"/>
                <a:ext cx="2641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arrives</a:t>
                </a:r>
                <a:endParaRPr b="0" i="0" sz="1600" u="none" cap="none" strike="noStrike">
                  <a:solidFill>
                    <a:srgbClr val="000000"/>
                  </a:solidFill>
                  <a:latin typeface="Times New Roman"/>
                  <a:ea typeface="Times New Roman"/>
                  <a:cs typeface="Times New Roman"/>
                  <a:sym typeface="Times New Roman"/>
                </a:endParaRPr>
              </a:p>
            </p:txBody>
          </p:sp>
          <p:cxnSp>
            <p:nvCxnSpPr>
              <p:cNvPr id="2710" name="Google Shape;2710;p47"/>
              <p:cNvCxnSpPr/>
              <p:nvPr/>
            </p:nvCxnSpPr>
            <p:spPr>
              <a:xfrm>
                <a:off x="6691540" y="3134861"/>
                <a:ext cx="119100" cy="0"/>
              </a:xfrm>
              <a:prstGeom prst="straightConnector1">
                <a:avLst/>
              </a:prstGeom>
              <a:noFill/>
              <a:ln cap="flat" cmpd="sng" w="9525">
                <a:solidFill>
                  <a:srgbClr val="000000"/>
                </a:solidFill>
                <a:prstDash val="solid"/>
                <a:round/>
                <a:headEnd len="med" w="med" type="none"/>
                <a:tailEnd len="med" w="med" type="none"/>
              </a:ln>
            </p:spPr>
          </p:cxnSp>
          <p:sp>
            <p:nvSpPr>
              <p:cNvPr id="2711" name="Google Shape;2711;p47"/>
              <p:cNvSpPr txBox="1"/>
              <p:nvPr/>
            </p:nvSpPr>
            <p:spPr>
              <a:xfrm>
                <a:off x="6750278" y="2958649"/>
                <a:ext cx="3581400" cy="384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packet bit arrives, send ACK</a:t>
                </a:r>
                <a:endParaRPr b="0" i="0" sz="1600" u="none" cap="none" strike="noStrike">
                  <a:solidFill>
                    <a:srgbClr val="000000"/>
                  </a:solidFill>
                  <a:latin typeface="Times New Roman"/>
                  <a:ea typeface="Times New Roman"/>
                  <a:cs typeface="Times New Roman"/>
                  <a:sym typeface="Times New Roman"/>
                </a:endParaRPr>
              </a:p>
            </p:txBody>
          </p:sp>
          <p:sp>
            <p:nvSpPr>
              <p:cNvPr id="2712" name="Google Shape;2712;p47"/>
              <p:cNvSpPr txBox="1"/>
              <p:nvPr/>
            </p:nvSpPr>
            <p:spPr>
              <a:xfrm>
                <a:off x="1930628" y="3750811"/>
                <a:ext cx="2635200" cy="6414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ACK arrives, send next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packet, t = RTT + L / R</a:t>
                </a:r>
                <a:endParaRPr b="0" i="0" sz="1600" u="none" cap="none" strike="noStrike">
                  <a:solidFill>
                    <a:srgbClr val="000000"/>
                  </a:solidFill>
                  <a:latin typeface="Times New Roman"/>
                  <a:ea typeface="Times New Roman"/>
                  <a:cs typeface="Times New Roman"/>
                  <a:sym typeface="Times New Roman"/>
                </a:endParaRPr>
              </a:p>
            </p:txBody>
          </p:sp>
          <p:sp>
            <p:nvSpPr>
              <p:cNvPr id="2713" name="Google Shape;2713;p47"/>
              <p:cNvSpPr/>
              <p:nvPr/>
            </p:nvSpPr>
            <p:spPr>
              <a:xfrm>
                <a:off x="4608740" y="2210936"/>
                <a:ext cx="2087561" cy="1168401"/>
              </a:xfrm>
              <a:custGeom>
                <a:rect b="b" l="l" r="r" t="t"/>
                <a:pathLst>
                  <a:path extrusionOk="0" h="1185" w="2902">
                    <a:moveTo>
                      <a:pt x="0" y="0"/>
                    </a:moveTo>
                    <a:lnTo>
                      <a:pt x="2895" y="937"/>
                    </a:lnTo>
                    <a:lnTo>
                      <a:pt x="2902" y="1185"/>
                    </a:lnTo>
                    <a:lnTo>
                      <a:pt x="0" y="247"/>
                    </a:lnTo>
                    <a:lnTo>
                      <a:pt x="0" y="0"/>
                    </a:lnTo>
                    <a:close/>
                  </a:path>
                </a:pathLst>
              </a:custGeom>
              <a:solidFill>
                <a:srgbClr val="00CC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14" name="Google Shape;2714;p47"/>
              <p:cNvSpPr/>
              <p:nvPr/>
            </p:nvSpPr>
            <p:spPr>
              <a:xfrm>
                <a:off x="4608740" y="2461761"/>
                <a:ext cx="2087561" cy="1168401"/>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715" name="Google Shape;2715;p47"/>
              <p:cNvCxnSpPr/>
              <p:nvPr/>
            </p:nvCxnSpPr>
            <p:spPr>
              <a:xfrm flipH="1" rot="10800000">
                <a:off x="4626203" y="3142861"/>
                <a:ext cx="2065200" cy="931800"/>
              </a:xfrm>
              <a:prstGeom prst="straightConnector1">
                <a:avLst/>
              </a:prstGeom>
              <a:noFill/>
              <a:ln cap="flat" cmpd="sng" w="9525">
                <a:solidFill>
                  <a:srgbClr val="000000"/>
                </a:solidFill>
                <a:prstDash val="solid"/>
                <a:round/>
                <a:headEnd len="med" w="med" type="none"/>
                <a:tailEnd len="med" w="med" type="none"/>
              </a:ln>
            </p:spPr>
          </p:cxnSp>
          <p:cxnSp>
            <p:nvCxnSpPr>
              <p:cNvPr id="2716" name="Google Shape;2716;p47"/>
              <p:cNvCxnSpPr/>
              <p:nvPr/>
            </p:nvCxnSpPr>
            <p:spPr>
              <a:xfrm flipH="1" rot="10800000">
                <a:off x="4626203" y="3393686"/>
                <a:ext cx="2065200" cy="931800"/>
              </a:xfrm>
              <a:prstGeom prst="straightConnector1">
                <a:avLst/>
              </a:prstGeom>
              <a:noFill/>
              <a:ln cap="flat" cmpd="sng" w="9525">
                <a:solidFill>
                  <a:srgbClr val="000000"/>
                </a:solidFill>
                <a:prstDash val="solid"/>
                <a:round/>
                <a:headEnd len="med" w="med" type="none"/>
                <a:tailEnd len="med" w="med" type="none"/>
              </a:ln>
            </p:spPr>
          </p:cxnSp>
          <p:sp>
            <p:nvSpPr>
              <p:cNvPr id="2717" name="Google Shape;2717;p47"/>
              <p:cNvSpPr txBox="1"/>
              <p:nvPr/>
            </p:nvSpPr>
            <p:spPr>
              <a:xfrm>
                <a:off x="6747103" y="3212649"/>
                <a:ext cx="3833700" cy="384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of 2</a:t>
                </a:r>
                <a:r>
                  <a:rPr b="0" baseline="30000" i="0" lang="en-US" sz="1600" u="none" cap="none" strike="noStrike">
                    <a:solidFill>
                      <a:srgbClr val="000000"/>
                    </a:solidFill>
                    <a:latin typeface="Arial"/>
                    <a:ea typeface="Arial"/>
                    <a:cs typeface="Arial"/>
                    <a:sym typeface="Arial"/>
                  </a:rPr>
                  <a:t>nd</a:t>
                </a:r>
                <a:r>
                  <a:rPr b="0" i="0" lang="en-US" sz="1600" u="none" cap="none" strike="noStrike">
                    <a:solidFill>
                      <a:srgbClr val="000000"/>
                    </a:solidFill>
                    <a:latin typeface="Arial"/>
                    <a:ea typeface="Arial"/>
                    <a:cs typeface="Arial"/>
                    <a:sym typeface="Arial"/>
                  </a:rPr>
                  <a:t> packet arrives, send ACK</a:t>
                </a:r>
                <a:endParaRPr b="0" i="0" sz="1600" u="none" cap="none" strike="noStrike">
                  <a:solidFill>
                    <a:srgbClr val="000000"/>
                  </a:solidFill>
                  <a:latin typeface="Times New Roman"/>
                  <a:ea typeface="Times New Roman"/>
                  <a:cs typeface="Times New Roman"/>
                  <a:sym typeface="Times New Roman"/>
                </a:endParaRPr>
              </a:p>
            </p:txBody>
          </p:sp>
          <p:cxnSp>
            <p:nvCxnSpPr>
              <p:cNvPr id="2718" name="Google Shape;2718;p47"/>
              <p:cNvCxnSpPr/>
              <p:nvPr/>
            </p:nvCxnSpPr>
            <p:spPr>
              <a:xfrm>
                <a:off x="6691540" y="3371399"/>
                <a:ext cx="112800" cy="0"/>
              </a:xfrm>
              <a:prstGeom prst="straightConnector1">
                <a:avLst/>
              </a:prstGeom>
              <a:noFill/>
              <a:ln cap="flat" cmpd="sng" w="9525">
                <a:solidFill>
                  <a:srgbClr val="000000"/>
                </a:solidFill>
                <a:prstDash val="solid"/>
                <a:round/>
                <a:headEnd len="med" w="med" type="none"/>
                <a:tailEnd len="med" w="med" type="none"/>
              </a:ln>
            </p:spPr>
          </p:cxnSp>
          <p:cxnSp>
            <p:nvCxnSpPr>
              <p:cNvPr id="2719" name="Google Shape;2719;p47"/>
              <p:cNvCxnSpPr/>
              <p:nvPr/>
            </p:nvCxnSpPr>
            <p:spPr>
              <a:xfrm>
                <a:off x="6702653" y="3623811"/>
                <a:ext cx="112800" cy="0"/>
              </a:xfrm>
              <a:prstGeom prst="straightConnector1">
                <a:avLst/>
              </a:prstGeom>
              <a:noFill/>
              <a:ln cap="flat" cmpd="sng" w="9525">
                <a:solidFill>
                  <a:srgbClr val="000000"/>
                </a:solidFill>
                <a:prstDash val="solid"/>
                <a:round/>
                <a:headEnd len="med" w="med" type="none"/>
                <a:tailEnd len="med" w="med" type="none"/>
              </a:ln>
            </p:spPr>
          </p:cxnSp>
          <p:sp>
            <p:nvSpPr>
              <p:cNvPr id="2720" name="Google Shape;2720;p47"/>
              <p:cNvSpPr txBox="1"/>
              <p:nvPr/>
            </p:nvSpPr>
            <p:spPr>
              <a:xfrm>
                <a:off x="6742340" y="3446011"/>
                <a:ext cx="3838500" cy="384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of 3</a:t>
                </a:r>
                <a:r>
                  <a:rPr b="0" baseline="30000" i="0" lang="en-US" sz="1600" u="none" cap="none" strike="noStrike">
                    <a:solidFill>
                      <a:srgbClr val="000000"/>
                    </a:solidFill>
                    <a:latin typeface="Arial"/>
                    <a:ea typeface="Arial"/>
                    <a:cs typeface="Arial"/>
                    <a:sym typeface="Arial"/>
                  </a:rPr>
                  <a:t>rd</a:t>
                </a:r>
                <a:r>
                  <a:rPr b="0" i="0" lang="en-US" sz="1600" u="none" cap="none" strike="noStrike">
                    <a:solidFill>
                      <a:srgbClr val="000000"/>
                    </a:solidFill>
                    <a:latin typeface="Arial"/>
                    <a:ea typeface="Arial"/>
                    <a:cs typeface="Arial"/>
                    <a:sym typeface="Arial"/>
                  </a:rPr>
                  <a:t> packet arrives, send ACK</a:t>
                </a:r>
                <a:endParaRPr b="0" i="0" sz="1600" u="none" cap="none" strike="noStrike">
                  <a:solidFill>
                    <a:srgbClr val="000000"/>
                  </a:solidFill>
                  <a:latin typeface="Times New Roman"/>
                  <a:ea typeface="Times New Roman"/>
                  <a:cs typeface="Times New Roman"/>
                  <a:sym typeface="Times New Roman"/>
                </a:endParaRPr>
              </a:p>
            </p:txBody>
          </p:sp>
        </p:grpSp>
      </p:grpSp>
      <p:grpSp>
        <p:nvGrpSpPr>
          <p:cNvPr id="2721" name="Google Shape;2721;p47"/>
          <p:cNvGrpSpPr/>
          <p:nvPr/>
        </p:nvGrpSpPr>
        <p:grpSpPr>
          <a:xfrm>
            <a:off x="6955065" y="4341361"/>
            <a:ext cx="3460800" cy="1145038"/>
            <a:chOff x="6955065" y="4341361"/>
            <a:chExt cx="3460800" cy="1145038"/>
          </a:xfrm>
        </p:grpSpPr>
        <p:sp>
          <p:nvSpPr>
            <p:cNvPr id="2722" name="Google Shape;2722;p47"/>
            <p:cNvSpPr txBox="1"/>
            <p:nvPr/>
          </p:nvSpPr>
          <p:spPr>
            <a:xfrm>
              <a:off x="6955065" y="4341361"/>
              <a:ext cx="3460800" cy="70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3-packet pipelining increases</a:t>
              </a:r>
              <a:endParaRPr/>
            </a:p>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 utilization by a factor of 3!</a:t>
              </a:r>
              <a:endParaRPr/>
            </a:p>
          </p:txBody>
        </p:sp>
        <p:cxnSp>
          <p:nvCxnSpPr>
            <p:cNvPr id="2723" name="Google Shape;2723;p47"/>
            <p:cNvCxnSpPr/>
            <p:nvPr/>
          </p:nvCxnSpPr>
          <p:spPr>
            <a:xfrm>
              <a:off x="7948840" y="5009699"/>
              <a:ext cx="1500" cy="476700"/>
            </a:xfrm>
            <a:prstGeom prst="straightConnector1">
              <a:avLst/>
            </a:prstGeom>
            <a:noFill/>
            <a:ln cap="flat" cmpd="sng" w="9525">
              <a:solidFill>
                <a:srgbClr val="CC0000"/>
              </a:solidFill>
              <a:prstDash val="solid"/>
              <a:round/>
              <a:headEnd len="med" w="med" type="none"/>
              <a:tailEnd len="med" w="med" type="triangle"/>
            </a:ln>
          </p:spPr>
        </p:cxnSp>
      </p:grpSp>
      <p:pic>
        <p:nvPicPr>
          <p:cNvPr id="2724" name="Google Shape;2724;p47"/>
          <p:cNvPicPr preferRelativeResize="0"/>
          <p:nvPr/>
        </p:nvPicPr>
        <p:blipFill rotWithShape="1">
          <a:blip r:embed="rId3">
            <a:alphaModFix/>
          </a:blip>
          <a:srcRect b="0" l="0" r="0" t="0"/>
          <a:stretch/>
        </p:blipFill>
        <p:spPr>
          <a:xfrm>
            <a:off x="2992665" y="5276399"/>
            <a:ext cx="6748466" cy="933450"/>
          </a:xfrm>
          <a:prstGeom prst="rect">
            <a:avLst/>
          </a:prstGeom>
          <a:noFill/>
          <a:ln>
            <a:noFill/>
          </a:ln>
        </p:spPr>
      </p:pic>
      <p:sp>
        <p:nvSpPr>
          <p:cNvPr id="2725" name="Google Shape;2725;p47"/>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5"/>
                                        </p:tgtEl>
                                        <p:attrNameLst>
                                          <p:attrName>style.visibility</p:attrName>
                                        </p:attrNameLst>
                                      </p:cBhvr>
                                      <p:to>
                                        <p:strVal val="visible"/>
                                      </p:to>
                                    </p:set>
                                    <p:animEffect filter="fade" transition="in">
                                      <p:cBhvr>
                                        <p:cTn dur="2000"/>
                                        <p:tgtEl>
                                          <p:spTgt spid="26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1"/>
                                        </p:tgtEl>
                                        <p:attrNameLst>
                                          <p:attrName>style.visibility</p:attrName>
                                        </p:attrNameLst>
                                      </p:cBhvr>
                                      <p:to>
                                        <p:strVal val="visible"/>
                                      </p:to>
                                    </p:set>
                                    <p:animEffect filter="fade" transition="in">
                                      <p:cBhvr>
                                        <p:cTn dur="500"/>
                                        <p:tgtEl>
                                          <p:spTgt spid="27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0" name="Shape 2730"/>
        <p:cNvGrpSpPr/>
        <p:nvPr/>
      </p:nvGrpSpPr>
      <p:grpSpPr>
        <a:xfrm>
          <a:off x="0" y="0"/>
          <a:ext cx="0" cy="0"/>
          <a:chOff x="0" y="0"/>
          <a:chExt cx="0" cy="0"/>
        </a:xfrm>
      </p:grpSpPr>
      <p:sp>
        <p:nvSpPr>
          <p:cNvPr id="2731" name="Google Shape;2731;p48"/>
          <p:cNvSpPr/>
          <p:nvPr/>
        </p:nvSpPr>
        <p:spPr>
          <a:xfrm>
            <a:off x="2766060" y="3200400"/>
            <a:ext cx="2480400" cy="674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32" name="Google Shape;2732;p48"/>
          <p:cNvSpPr txBox="1"/>
          <p:nvPr>
            <p:ph type="title"/>
          </p:nvPr>
        </p:nvSpPr>
        <p:spPr>
          <a:xfrm>
            <a:off x="798690" y="289325"/>
            <a:ext cx="11100600" cy="89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sender</a:t>
            </a:r>
            <a:endParaRPr sz="4400"/>
          </a:p>
        </p:txBody>
      </p:sp>
      <p:sp>
        <p:nvSpPr>
          <p:cNvPr id="2733" name="Google Shape;2733;p48"/>
          <p:cNvSpPr txBox="1"/>
          <p:nvPr/>
        </p:nvSpPr>
        <p:spPr>
          <a:xfrm>
            <a:off x="938540" y="1295239"/>
            <a:ext cx="11077800" cy="1396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“window” of up to N, consecutive transmitted but unACKed pkts </a:t>
            </a:r>
            <a:endParaRPr/>
          </a:p>
          <a:p>
            <a:pPr indent="-342900" lvl="1" marL="815975" marR="0" rtl="0" algn="l">
              <a:lnSpc>
                <a:spcPct val="90000"/>
              </a:lnSpc>
              <a:spcBef>
                <a:spcPts val="1000"/>
              </a:spcBef>
              <a:spcAft>
                <a:spcPts val="0"/>
              </a:spcAft>
              <a:buClr>
                <a:srgbClr val="0000A3"/>
              </a:buClr>
              <a:buSzPts val="2400"/>
              <a:buFont typeface="Arial"/>
              <a:buChar char="•"/>
            </a:pPr>
            <a:r>
              <a:rPr b="0" i="0" lang="en-US" sz="2400" u="none" cap="none" strike="noStrike">
                <a:solidFill>
                  <a:srgbClr val="000000"/>
                </a:solidFill>
                <a:latin typeface="Calibri"/>
                <a:ea typeface="Calibri"/>
                <a:cs typeface="Calibri"/>
                <a:sym typeface="Calibri"/>
              </a:rPr>
              <a:t>k-bit seq # in pkt header</a:t>
            </a:r>
            <a:endParaRPr/>
          </a:p>
          <a:p>
            <a:pPr indent="-69850" lvl="1" marL="6953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pic>
        <p:nvPicPr>
          <p:cNvPr descr="gbn_seqnum" id="2734" name="Google Shape;2734;p48"/>
          <p:cNvPicPr preferRelativeResize="0"/>
          <p:nvPr/>
        </p:nvPicPr>
        <p:blipFill rotWithShape="1">
          <a:blip r:embed="rId3">
            <a:alphaModFix amt="83000"/>
          </a:blip>
          <a:srcRect b="0" l="0" r="0" t="0"/>
          <a:stretch/>
        </p:blipFill>
        <p:spPr>
          <a:xfrm>
            <a:off x="1743751" y="2576024"/>
            <a:ext cx="9167469" cy="1845354"/>
          </a:xfrm>
          <a:prstGeom prst="rect">
            <a:avLst/>
          </a:prstGeom>
          <a:noFill/>
          <a:ln>
            <a:noFill/>
          </a:ln>
        </p:spPr>
      </p:pic>
      <p:sp>
        <p:nvSpPr>
          <p:cNvPr id="2735" name="Google Shape;2735;p48"/>
          <p:cNvSpPr/>
          <p:nvPr/>
        </p:nvSpPr>
        <p:spPr>
          <a:xfrm>
            <a:off x="1057835" y="4782281"/>
            <a:ext cx="11309700" cy="1985100"/>
          </a:xfrm>
          <a:prstGeom prst="rect">
            <a:avLst/>
          </a:prstGeom>
          <a:noFill/>
          <a:ln>
            <a:noFill/>
          </a:ln>
        </p:spPr>
        <p:txBody>
          <a:bodyPr anchorCtr="0" anchor="t" bIns="45700" lIns="91425" spcFirstLastPara="1" rIns="91425" wrap="square" tIns="45700">
            <a:noAutofit/>
          </a:bodyPr>
          <a:lstStyle/>
          <a:p>
            <a:pPr indent="-339725" lvl="0" marL="350837" marR="0" rtl="0" algn="l">
              <a:lnSpc>
                <a:spcPct val="85000"/>
              </a:lnSpc>
              <a:spcBef>
                <a:spcPts val="0"/>
              </a:spcBef>
              <a:spcAft>
                <a:spcPts val="0"/>
              </a:spcAft>
              <a:buClr>
                <a:srgbClr val="000099"/>
              </a:buClr>
              <a:buSzPts val="2800"/>
              <a:buFont typeface="Noto Sans Symbols"/>
              <a:buChar char="▪"/>
            </a:pPr>
            <a:r>
              <a:rPr b="0" i="1" lang="en-US" sz="2800" u="none" cap="none" strike="noStrike">
                <a:solidFill>
                  <a:srgbClr val="C00000"/>
                </a:solidFill>
                <a:latin typeface="Calibri"/>
                <a:ea typeface="Calibri"/>
                <a:cs typeface="Calibri"/>
                <a:sym typeface="Calibri"/>
              </a:rPr>
              <a:t>cumulative ACK: </a:t>
            </a:r>
            <a:r>
              <a:rPr b="0" i="0" lang="en-US" sz="2800" u="none" cap="none" strike="noStrike">
                <a:solidFill>
                  <a:srgbClr val="000000"/>
                </a:solidFill>
                <a:latin typeface="Calibri"/>
                <a:ea typeface="Calibri"/>
                <a:cs typeface="Calibri"/>
                <a:sym typeface="Calibri"/>
              </a:rPr>
              <a:t>ACK(</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ACKs all packets up to, including seq # </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a:t>
            </a:r>
            <a:endParaRPr/>
          </a:p>
          <a:p>
            <a:pPr indent="-457200" lvl="1" marL="862012"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on receiving ACK(</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move window forward to begin at </a:t>
            </a:r>
            <a:r>
              <a:rPr b="0" i="1" lang="en-US" sz="2800" u="none" cap="none" strike="noStrike">
                <a:solidFill>
                  <a:srgbClr val="000000"/>
                </a:solidFill>
                <a:latin typeface="Calibri"/>
                <a:ea typeface="Calibri"/>
                <a:cs typeface="Calibri"/>
                <a:sym typeface="Calibri"/>
              </a:rPr>
              <a:t>n+1</a:t>
            </a:r>
            <a:endParaRPr/>
          </a:p>
          <a:p>
            <a:pPr indent="-339725" lvl="0" marL="350837"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timer for oldest in-flight packet</a:t>
            </a:r>
            <a:endParaRPr/>
          </a:p>
          <a:p>
            <a:pPr indent="-339725" lvl="0" marL="350837" marR="0" rtl="0" algn="l">
              <a:lnSpc>
                <a:spcPct val="85000"/>
              </a:lnSpc>
              <a:spcBef>
                <a:spcPts val="560"/>
              </a:spcBef>
              <a:spcAft>
                <a:spcPts val="0"/>
              </a:spcAft>
              <a:buClr>
                <a:srgbClr val="000099"/>
              </a:buClr>
              <a:buSzPts val="2800"/>
              <a:buFont typeface="Noto Sans Symbols"/>
              <a:buChar char="▪"/>
            </a:pPr>
            <a:r>
              <a:rPr b="0" i="1" lang="en-US" sz="2800" u="none" cap="none" strike="noStrike">
                <a:solidFill>
                  <a:srgbClr val="000000"/>
                </a:solidFill>
                <a:latin typeface="Calibri"/>
                <a:ea typeface="Calibri"/>
                <a:cs typeface="Calibri"/>
                <a:sym typeface="Calibri"/>
              </a:rPr>
              <a:t>timeout(n):</a:t>
            </a:r>
            <a:r>
              <a:rPr b="0" i="0" lang="en-US" sz="2800" u="none" cap="none" strike="noStrike">
                <a:solidFill>
                  <a:srgbClr val="000000"/>
                </a:solidFill>
                <a:latin typeface="Calibri"/>
                <a:ea typeface="Calibri"/>
                <a:cs typeface="Calibri"/>
                <a:sym typeface="Calibri"/>
              </a:rPr>
              <a:t> retransmit packet n and all higher seq # packets in window</a:t>
            </a:r>
            <a:endParaRPr b="0" i="0" sz="3200" u="none" cap="none" strike="noStrike">
              <a:solidFill>
                <a:srgbClr val="000000"/>
              </a:solidFill>
              <a:latin typeface="Calibri"/>
              <a:ea typeface="Calibri"/>
              <a:cs typeface="Calibri"/>
              <a:sym typeface="Calibri"/>
            </a:endParaRPr>
          </a:p>
          <a:p>
            <a:pPr indent="-176530" lvl="0" marL="2921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2736" name="Google Shape;2736;p48"/>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4"/>
                                        </p:tgtEl>
                                        <p:attrNameLst>
                                          <p:attrName>style.visibility</p:attrName>
                                        </p:attrNameLst>
                                      </p:cBhvr>
                                      <p:to>
                                        <p:strVal val="visible"/>
                                      </p:to>
                                    </p:set>
                                    <p:animEffect filter="fade" transition="in">
                                      <p:cBhvr>
                                        <p:cTn dur="500"/>
                                        <p:tgtEl>
                                          <p:spTgt spid="27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1"/>
                                        </p:tgtEl>
                                        <p:attrNameLst>
                                          <p:attrName>style.visibility</p:attrName>
                                        </p:attrNameLst>
                                      </p:cBhvr>
                                      <p:to>
                                        <p:strVal val="visible"/>
                                      </p:to>
                                    </p:set>
                                    <p:animEffect filter="fade" transition="in">
                                      <p:cBhvr>
                                        <p:cTn dur="500"/>
                                        <p:tgtEl>
                                          <p:spTgt spid="27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5"/>
                                        </p:tgtEl>
                                        <p:attrNameLst>
                                          <p:attrName>style.visibility</p:attrName>
                                        </p:attrNameLst>
                                      </p:cBhvr>
                                      <p:to>
                                        <p:strVal val="visible"/>
                                      </p:to>
                                    </p:set>
                                    <p:animEffect filter="fade" transition="in">
                                      <p:cBhvr>
                                        <p:cTn dur="500"/>
                                        <p:tgtEl>
                                          <p:spTgt spid="27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1" name="Shape 2741"/>
        <p:cNvGrpSpPr/>
        <p:nvPr/>
      </p:nvGrpSpPr>
      <p:grpSpPr>
        <a:xfrm>
          <a:off x="0" y="0"/>
          <a:ext cx="0" cy="0"/>
          <a:chOff x="0" y="0"/>
          <a:chExt cx="0" cy="0"/>
        </a:xfrm>
      </p:grpSpPr>
      <p:sp>
        <p:nvSpPr>
          <p:cNvPr id="2742" name="Google Shape;2742;p49"/>
          <p:cNvSpPr txBox="1"/>
          <p:nvPr>
            <p:ph type="title"/>
          </p:nvPr>
        </p:nvSpPr>
        <p:spPr>
          <a:xfrm>
            <a:off x="798690" y="289325"/>
            <a:ext cx="11100600" cy="89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receiver</a:t>
            </a:r>
            <a:endParaRPr sz="4400"/>
          </a:p>
        </p:txBody>
      </p:sp>
      <p:sp>
        <p:nvSpPr>
          <p:cNvPr id="2743" name="Google Shape;2743;p49"/>
          <p:cNvSpPr txBox="1"/>
          <p:nvPr/>
        </p:nvSpPr>
        <p:spPr>
          <a:xfrm>
            <a:off x="803389" y="1374775"/>
            <a:ext cx="10318200" cy="2854200"/>
          </a:xfrm>
          <a:prstGeom prst="rect">
            <a:avLst/>
          </a:prstGeom>
          <a:noFill/>
          <a:ln>
            <a:noFill/>
          </a:ln>
        </p:spPr>
        <p:txBody>
          <a:bodyPr anchorCtr="0" anchor="t" bIns="45700" lIns="91425" spcFirstLastPara="1" rIns="91425" wrap="square" tIns="45700">
            <a:normAutofit lnSpcReduction="10000"/>
          </a:bodyPr>
          <a:lstStyle/>
          <a:p>
            <a:pPr indent="-277812" lvl="0" marL="2889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ACK-only: always send ACK for correctly-received packet so far, with highest </a:t>
            </a:r>
            <a:r>
              <a:rPr b="0" i="1" lang="en-US" sz="2800" u="none" cap="none" strike="noStrike">
                <a:solidFill>
                  <a:srgbClr val="CC0000"/>
                </a:solidFill>
                <a:latin typeface="Calibri"/>
                <a:ea typeface="Calibri"/>
                <a:cs typeface="Calibri"/>
                <a:sym typeface="Calibri"/>
              </a:rPr>
              <a:t>in-order</a:t>
            </a:r>
            <a:r>
              <a:rPr b="0" i="0" lang="en-US" sz="2800" u="none" cap="none" strike="noStrike">
                <a:solidFill>
                  <a:srgbClr val="000000"/>
                </a:solidFill>
                <a:latin typeface="Calibri"/>
                <a:ea typeface="Calibri"/>
                <a:cs typeface="Calibri"/>
                <a:sym typeface="Calibri"/>
              </a:rPr>
              <a:t> seq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may generate duplicate ACKs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need only remember </a:t>
            </a:r>
            <a:r>
              <a:rPr b="0" i="0" lang="en-US" sz="2400" u="none" cap="none" strike="noStrike">
                <a:solidFill>
                  <a:srgbClr val="0013A3"/>
                </a:solidFill>
                <a:latin typeface="Courier New"/>
                <a:ea typeface="Courier New"/>
                <a:cs typeface="Courier New"/>
                <a:sym typeface="Courier New"/>
              </a:rPr>
              <a:t>rcv_base</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on receipt of out-of-order packet: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can discard (don’t buffer) or buffer: an implementation decision</a:t>
            </a:r>
            <a:endParaRPr b="0" i="1" sz="2400" u="none" cap="none" strike="noStrike">
              <a:solidFill>
                <a:srgbClr val="CC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re-ACK pkt with highest in-order seq #</a:t>
            </a:r>
            <a:endParaRPr/>
          </a:p>
        </p:txBody>
      </p:sp>
      <p:grpSp>
        <p:nvGrpSpPr>
          <p:cNvPr id="2744" name="Google Shape;2744;p49"/>
          <p:cNvGrpSpPr/>
          <p:nvPr/>
        </p:nvGrpSpPr>
        <p:grpSpPr>
          <a:xfrm>
            <a:off x="965200" y="4368800"/>
            <a:ext cx="10131800" cy="2135189"/>
            <a:chOff x="965200" y="4368800"/>
            <a:chExt cx="10131800" cy="2135189"/>
          </a:xfrm>
        </p:grpSpPr>
        <p:sp>
          <p:nvSpPr>
            <p:cNvPr id="2745" name="Google Shape;2745;p49"/>
            <p:cNvSpPr/>
            <p:nvPr/>
          </p:nvSpPr>
          <p:spPr>
            <a:xfrm>
              <a:off x="2412281" y="4877998"/>
              <a:ext cx="81900" cy="5952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46" name="Google Shape;2746;p49"/>
            <p:cNvSpPr/>
            <p:nvPr/>
          </p:nvSpPr>
          <p:spPr>
            <a:xfrm>
              <a:off x="2603500" y="4878537"/>
              <a:ext cx="81900" cy="5952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47" name="Google Shape;2747;p49"/>
            <p:cNvSpPr/>
            <p:nvPr/>
          </p:nvSpPr>
          <p:spPr>
            <a:xfrm>
              <a:off x="2777467" y="4879975"/>
              <a:ext cx="81900" cy="5952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48" name="Google Shape;2748;p49"/>
            <p:cNvSpPr/>
            <p:nvPr/>
          </p:nvSpPr>
          <p:spPr>
            <a:xfrm>
              <a:off x="2951434" y="4878238"/>
              <a:ext cx="81900" cy="5952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49" name="Google Shape;2749;p49"/>
            <p:cNvSpPr/>
            <p:nvPr/>
          </p:nvSpPr>
          <p:spPr>
            <a:xfrm>
              <a:off x="3125401" y="4879676"/>
              <a:ext cx="81900" cy="5952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50" name="Google Shape;2750;p49"/>
            <p:cNvSpPr/>
            <p:nvPr/>
          </p:nvSpPr>
          <p:spPr>
            <a:xfrm>
              <a:off x="3312307" y="4876800"/>
              <a:ext cx="81900" cy="595200"/>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51" name="Google Shape;2751;p49"/>
            <p:cNvSpPr/>
            <p:nvPr/>
          </p:nvSpPr>
          <p:spPr>
            <a:xfrm>
              <a:off x="4042679" y="4877097"/>
              <a:ext cx="81900" cy="595200"/>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52" name="Google Shape;2752;p49"/>
            <p:cNvSpPr/>
            <p:nvPr/>
          </p:nvSpPr>
          <p:spPr>
            <a:xfrm>
              <a:off x="4216646" y="4877396"/>
              <a:ext cx="81900" cy="595200"/>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53" name="Google Shape;2753;p49"/>
            <p:cNvSpPr/>
            <p:nvPr/>
          </p:nvSpPr>
          <p:spPr>
            <a:xfrm>
              <a:off x="4394926" y="4877695"/>
              <a:ext cx="81900" cy="595200"/>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54" name="Google Shape;2754;p49"/>
            <p:cNvSpPr/>
            <p:nvPr/>
          </p:nvSpPr>
          <p:spPr>
            <a:xfrm>
              <a:off x="4573204" y="4877096"/>
              <a:ext cx="81900" cy="595200"/>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55" name="Google Shape;2755;p49"/>
            <p:cNvSpPr/>
            <p:nvPr/>
          </p:nvSpPr>
          <p:spPr>
            <a:xfrm>
              <a:off x="4738544" y="4882607"/>
              <a:ext cx="81900" cy="595200"/>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56" name="Google Shape;2756;p49"/>
            <p:cNvSpPr txBox="1"/>
            <p:nvPr/>
          </p:nvSpPr>
          <p:spPr>
            <a:xfrm>
              <a:off x="3200400" y="5878722"/>
              <a:ext cx="1287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13A3"/>
                </a:buClr>
                <a:buSzPts val="1800"/>
                <a:buFont typeface="Courier New"/>
                <a:buNone/>
              </a:pPr>
              <a:r>
                <a:rPr b="0" i="0" lang="en-US" sz="1800" u="none" cap="none" strike="noStrike">
                  <a:solidFill>
                    <a:srgbClr val="0013A3"/>
                  </a:solidFill>
                  <a:latin typeface="Courier New"/>
                  <a:ea typeface="Courier New"/>
                  <a:cs typeface="Courier New"/>
                  <a:sym typeface="Courier New"/>
                </a:rPr>
                <a:t>rcv_base</a:t>
              </a:r>
              <a:endParaRPr b="0" i="0" sz="1800" u="none" cap="none" strike="noStrike">
                <a:solidFill>
                  <a:srgbClr val="0013A3"/>
                </a:solidFill>
                <a:latin typeface="Calibri"/>
                <a:ea typeface="Calibri"/>
                <a:cs typeface="Calibri"/>
                <a:sym typeface="Calibri"/>
              </a:endParaRPr>
            </a:p>
          </p:txBody>
        </p:sp>
        <p:cxnSp>
          <p:nvCxnSpPr>
            <p:cNvPr id="2757" name="Google Shape;2757;p49"/>
            <p:cNvCxnSpPr/>
            <p:nvPr/>
          </p:nvCxnSpPr>
          <p:spPr>
            <a:xfrm rot="10800000">
              <a:off x="3340100" y="5523222"/>
              <a:ext cx="0" cy="469800"/>
            </a:xfrm>
            <a:prstGeom prst="straightConnector1">
              <a:avLst/>
            </a:prstGeom>
            <a:noFill/>
            <a:ln cap="flat" cmpd="sng" w="22225">
              <a:solidFill>
                <a:schemeClr val="accent1"/>
              </a:solidFill>
              <a:prstDash val="solid"/>
              <a:miter lim="800000"/>
              <a:headEnd len="sm" w="sm" type="none"/>
              <a:tailEnd len="med" w="med" type="triangle"/>
            </a:ln>
          </p:spPr>
        </p:cxnSp>
        <p:grpSp>
          <p:nvGrpSpPr>
            <p:cNvPr id="2758" name="Google Shape;2758;p49"/>
            <p:cNvGrpSpPr/>
            <p:nvPr/>
          </p:nvGrpSpPr>
          <p:grpSpPr>
            <a:xfrm>
              <a:off x="7035081" y="4522877"/>
              <a:ext cx="4061919" cy="1981112"/>
              <a:chOff x="7797081" y="4179977"/>
              <a:chExt cx="4061919" cy="1981112"/>
            </a:xfrm>
          </p:grpSpPr>
          <p:sp>
            <p:nvSpPr>
              <p:cNvPr id="2759" name="Google Shape;2759;p49"/>
              <p:cNvSpPr/>
              <p:nvPr/>
            </p:nvSpPr>
            <p:spPr>
              <a:xfrm>
                <a:off x="7797081" y="4179977"/>
                <a:ext cx="81900" cy="5952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60" name="Google Shape;2760;p49"/>
              <p:cNvSpPr/>
              <p:nvPr/>
            </p:nvSpPr>
            <p:spPr>
              <a:xfrm>
                <a:off x="7797081" y="5565889"/>
                <a:ext cx="81900" cy="595200"/>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61" name="Google Shape;2761;p49"/>
              <p:cNvSpPr txBox="1"/>
              <p:nvPr/>
            </p:nvSpPr>
            <p:spPr>
              <a:xfrm>
                <a:off x="8089900" y="4279900"/>
                <a:ext cx="2094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received and ACKed</a:t>
                </a:r>
                <a:endParaRPr/>
              </a:p>
            </p:txBody>
          </p:sp>
          <p:sp>
            <p:nvSpPr>
              <p:cNvPr id="2762" name="Google Shape;2762;p49"/>
              <p:cNvSpPr txBox="1"/>
              <p:nvPr/>
            </p:nvSpPr>
            <p:spPr>
              <a:xfrm>
                <a:off x="8115300" y="4965700"/>
                <a:ext cx="3743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Out-of-order: received but not  ACKed</a:t>
                </a:r>
                <a:endParaRPr/>
              </a:p>
            </p:txBody>
          </p:sp>
          <p:sp>
            <p:nvSpPr>
              <p:cNvPr id="2763" name="Google Shape;2763;p49"/>
              <p:cNvSpPr txBox="1"/>
              <p:nvPr/>
            </p:nvSpPr>
            <p:spPr>
              <a:xfrm>
                <a:off x="8089900" y="5664200"/>
                <a:ext cx="1383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Not received</a:t>
                </a:r>
                <a:endParaRPr/>
              </a:p>
            </p:txBody>
          </p:sp>
        </p:grpSp>
        <p:sp>
          <p:nvSpPr>
            <p:cNvPr id="2764" name="Google Shape;2764;p49"/>
            <p:cNvSpPr txBox="1"/>
            <p:nvPr/>
          </p:nvSpPr>
          <p:spPr>
            <a:xfrm>
              <a:off x="965200" y="4368800"/>
              <a:ext cx="5419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Receiver view of sequence number space:</a:t>
              </a:r>
              <a:endParaRPr/>
            </a:p>
          </p:txBody>
        </p:sp>
        <p:sp>
          <p:nvSpPr>
            <p:cNvPr id="2765" name="Google Shape;2765;p49"/>
            <p:cNvSpPr/>
            <p:nvPr/>
          </p:nvSpPr>
          <p:spPr>
            <a:xfrm>
              <a:off x="7043594" y="5225507"/>
              <a:ext cx="81900" cy="595200"/>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66" name="Google Shape;2766;p49"/>
            <p:cNvSpPr/>
            <p:nvPr/>
          </p:nvSpPr>
          <p:spPr>
            <a:xfrm>
              <a:off x="3855894" y="4876800"/>
              <a:ext cx="81900" cy="595200"/>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67" name="Google Shape;2767;p49"/>
            <p:cNvSpPr/>
            <p:nvPr/>
          </p:nvSpPr>
          <p:spPr>
            <a:xfrm>
              <a:off x="3500294" y="4876800"/>
              <a:ext cx="81900" cy="595200"/>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68" name="Google Shape;2768;p49"/>
            <p:cNvSpPr/>
            <p:nvPr/>
          </p:nvSpPr>
          <p:spPr>
            <a:xfrm>
              <a:off x="3684444" y="4876800"/>
              <a:ext cx="81900" cy="595200"/>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69" name="Google Shape;2769;p49"/>
            <p:cNvSpPr txBox="1"/>
            <p:nvPr/>
          </p:nvSpPr>
          <p:spPr>
            <a:xfrm>
              <a:off x="1892300" y="5105400"/>
              <a:ext cx="433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p:txBody>
        </p:sp>
        <p:sp>
          <p:nvSpPr>
            <p:cNvPr id="2770" name="Google Shape;2770;p49"/>
            <p:cNvSpPr txBox="1"/>
            <p:nvPr/>
          </p:nvSpPr>
          <p:spPr>
            <a:xfrm>
              <a:off x="4876800" y="5105400"/>
              <a:ext cx="433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p:txBody>
        </p:sp>
      </p:grpSp>
      <p:sp>
        <p:nvSpPr>
          <p:cNvPr id="2771" name="Google Shape;2771;p49"/>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4"/>
                                        </p:tgtEl>
                                        <p:attrNameLst>
                                          <p:attrName>style.visibility</p:attrName>
                                        </p:attrNameLst>
                                      </p:cBhvr>
                                      <p:to>
                                        <p:strVal val="visible"/>
                                      </p:to>
                                    </p:set>
                                    <p:animEffect filter="fade" transition="in">
                                      <p:cBhvr>
                                        <p:cTn dur="500"/>
                                        <p:tgtEl>
                                          <p:spTgt spid="27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6" name="Shape 2776"/>
        <p:cNvGrpSpPr/>
        <p:nvPr/>
      </p:nvGrpSpPr>
      <p:grpSpPr>
        <a:xfrm>
          <a:off x="0" y="0"/>
          <a:ext cx="0" cy="0"/>
          <a:chOff x="0" y="0"/>
          <a:chExt cx="0" cy="0"/>
        </a:xfrm>
      </p:grpSpPr>
      <p:sp>
        <p:nvSpPr>
          <p:cNvPr id="2777" name="Google Shape;2777;p50"/>
          <p:cNvSpPr txBox="1"/>
          <p:nvPr>
            <p:ph type="title"/>
          </p:nvPr>
        </p:nvSpPr>
        <p:spPr>
          <a:xfrm>
            <a:off x="798690" y="289325"/>
            <a:ext cx="11100600" cy="89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in action</a:t>
            </a:r>
            <a:endParaRPr sz="4400"/>
          </a:p>
        </p:txBody>
      </p:sp>
      <p:sp>
        <p:nvSpPr>
          <p:cNvPr id="2778" name="Google Shape;2778;p50"/>
          <p:cNvSpPr txBox="1"/>
          <p:nvPr/>
        </p:nvSpPr>
        <p:spPr>
          <a:xfrm>
            <a:off x="4770437" y="1531937"/>
            <a:ext cx="1246200" cy="1465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(wait)</a:t>
            </a:r>
            <a:endParaRPr/>
          </a:p>
        </p:txBody>
      </p:sp>
      <p:sp>
        <p:nvSpPr>
          <p:cNvPr id="2779" name="Google Shape;2779;p50"/>
          <p:cNvSpPr txBox="1"/>
          <p:nvPr/>
        </p:nvSpPr>
        <p:spPr>
          <a:xfrm>
            <a:off x="5091097" y="1160450"/>
            <a:ext cx="11436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2780" name="Google Shape;2780;p50"/>
          <p:cNvSpPr txBox="1"/>
          <p:nvPr/>
        </p:nvSpPr>
        <p:spPr>
          <a:xfrm>
            <a:off x="8121650" y="1179512"/>
            <a:ext cx="1071600" cy="39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cxnSp>
        <p:nvCxnSpPr>
          <p:cNvPr id="2781" name="Google Shape;2781;p50"/>
          <p:cNvCxnSpPr/>
          <p:nvPr/>
        </p:nvCxnSpPr>
        <p:spPr>
          <a:xfrm>
            <a:off x="8196262" y="1778000"/>
            <a:ext cx="11100" cy="4538700"/>
          </a:xfrm>
          <a:prstGeom prst="straightConnector1">
            <a:avLst/>
          </a:prstGeom>
          <a:noFill/>
          <a:ln cap="flat" cmpd="sng" w="9525">
            <a:solidFill>
              <a:srgbClr val="000000"/>
            </a:solidFill>
            <a:prstDash val="solid"/>
            <a:round/>
            <a:headEnd len="med" w="med" type="none"/>
            <a:tailEnd len="med" w="med" type="none"/>
          </a:ln>
        </p:spPr>
      </p:cxnSp>
      <p:sp>
        <p:nvSpPr>
          <p:cNvPr id="2782" name="Google Shape;2782;p50"/>
          <p:cNvSpPr txBox="1"/>
          <p:nvPr/>
        </p:nvSpPr>
        <p:spPr>
          <a:xfrm>
            <a:off x="8139112" y="1973262"/>
            <a:ext cx="2568600" cy="1465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pkt0, send ack0</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pkt1, send ack1</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pkt3,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2783" name="Google Shape;2783;p50"/>
          <p:cNvSpPr txBox="1"/>
          <p:nvPr/>
        </p:nvSpPr>
        <p:spPr>
          <a:xfrm>
            <a:off x="4775200" y="4713287"/>
            <a:ext cx="1246200" cy="108270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pkt4</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pkt5</a:t>
            </a:r>
            <a:endParaRPr/>
          </a:p>
        </p:txBody>
      </p:sp>
      <p:cxnSp>
        <p:nvCxnSpPr>
          <p:cNvPr id="2784" name="Google Shape;2784;p50"/>
          <p:cNvCxnSpPr/>
          <p:nvPr/>
        </p:nvCxnSpPr>
        <p:spPr>
          <a:xfrm flipH="1">
            <a:off x="6067462" y="2249487"/>
            <a:ext cx="2014500" cy="1066800"/>
          </a:xfrm>
          <a:prstGeom prst="straightConnector1">
            <a:avLst/>
          </a:prstGeom>
          <a:noFill/>
          <a:ln cap="flat" cmpd="sng" w="28575">
            <a:solidFill>
              <a:srgbClr val="008000"/>
            </a:solidFill>
            <a:prstDash val="solid"/>
            <a:round/>
            <a:headEnd len="med" w="med" type="none"/>
            <a:tailEnd len="med" w="med" type="triangle"/>
          </a:ln>
        </p:spPr>
      </p:cxnSp>
      <p:grpSp>
        <p:nvGrpSpPr>
          <p:cNvPr id="2785" name="Google Shape;2785;p50"/>
          <p:cNvGrpSpPr/>
          <p:nvPr/>
        </p:nvGrpSpPr>
        <p:grpSpPr>
          <a:xfrm>
            <a:off x="6059487" y="1725612"/>
            <a:ext cx="2122525" cy="1292213"/>
            <a:chOff x="6059487" y="1725612"/>
            <a:chExt cx="2122525" cy="1292213"/>
          </a:xfrm>
        </p:grpSpPr>
        <p:cxnSp>
          <p:nvCxnSpPr>
            <p:cNvPr id="2786" name="Google Shape;2786;p50"/>
            <p:cNvCxnSpPr/>
            <p:nvPr/>
          </p:nvCxnSpPr>
          <p:spPr>
            <a:xfrm>
              <a:off x="6061075" y="1725612"/>
              <a:ext cx="2101800" cy="468300"/>
            </a:xfrm>
            <a:prstGeom prst="straightConnector1">
              <a:avLst/>
            </a:prstGeom>
            <a:noFill/>
            <a:ln cap="flat" cmpd="sng" w="28575">
              <a:solidFill>
                <a:srgbClr val="000099"/>
              </a:solidFill>
              <a:prstDash val="solid"/>
              <a:round/>
              <a:headEnd len="med" w="med" type="none"/>
              <a:tailEnd len="med" w="med" type="triangle"/>
            </a:ln>
          </p:spPr>
        </p:cxnSp>
        <p:cxnSp>
          <p:nvCxnSpPr>
            <p:cNvPr id="2787" name="Google Shape;2787;p50"/>
            <p:cNvCxnSpPr/>
            <p:nvPr/>
          </p:nvCxnSpPr>
          <p:spPr>
            <a:xfrm>
              <a:off x="6059487" y="2000250"/>
              <a:ext cx="2100300" cy="468300"/>
            </a:xfrm>
            <a:prstGeom prst="straightConnector1">
              <a:avLst/>
            </a:prstGeom>
            <a:noFill/>
            <a:ln cap="flat" cmpd="sng" w="28575">
              <a:solidFill>
                <a:srgbClr val="000099"/>
              </a:solidFill>
              <a:prstDash val="solid"/>
              <a:round/>
              <a:headEnd len="med" w="med" type="none"/>
              <a:tailEnd len="med" w="med" type="triangle"/>
            </a:ln>
          </p:spPr>
        </p:cxnSp>
        <p:cxnSp>
          <p:nvCxnSpPr>
            <p:cNvPr id="2788" name="Google Shape;2788;p50"/>
            <p:cNvCxnSpPr/>
            <p:nvPr/>
          </p:nvCxnSpPr>
          <p:spPr>
            <a:xfrm>
              <a:off x="6075362" y="2263775"/>
              <a:ext cx="876300" cy="200100"/>
            </a:xfrm>
            <a:prstGeom prst="straightConnector1">
              <a:avLst/>
            </a:prstGeom>
            <a:noFill/>
            <a:ln cap="flat" cmpd="sng" w="28575">
              <a:solidFill>
                <a:srgbClr val="000099"/>
              </a:solidFill>
              <a:prstDash val="solid"/>
              <a:round/>
              <a:headEnd len="med" w="med" type="none"/>
              <a:tailEnd len="med" w="med" type="triangle"/>
            </a:ln>
          </p:spPr>
        </p:cxnSp>
        <p:cxnSp>
          <p:nvCxnSpPr>
            <p:cNvPr id="2789" name="Google Shape;2789;p50"/>
            <p:cNvCxnSpPr/>
            <p:nvPr/>
          </p:nvCxnSpPr>
          <p:spPr>
            <a:xfrm>
              <a:off x="6081712" y="2549525"/>
              <a:ext cx="2100300" cy="468300"/>
            </a:xfrm>
            <a:prstGeom prst="straightConnector1">
              <a:avLst/>
            </a:prstGeom>
            <a:noFill/>
            <a:ln cap="flat" cmpd="sng" w="28575">
              <a:solidFill>
                <a:srgbClr val="000099"/>
              </a:solidFill>
              <a:prstDash val="solid"/>
              <a:round/>
              <a:headEnd len="med" w="med" type="none"/>
              <a:tailEnd len="med" w="med" type="triangle"/>
            </a:ln>
          </p:spPr>
        </p:cxnSp>
        <p:sp>
          <p:nvSpPr>
            <p:cNvPr id="2790" name="Google Shape;2790;p50"/>
            <p:cNvSpPr txBox="1"/>
            <p:nvPr/>
          </p:nvSpPr>
          <p:spPr>
            <a:xfrm>
              <a:off x="6837362" y="2298700"/>
              <a:ext cx="341400" cy="366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2791" name="Google Shape;2791;p50"/>
            <p:cNvSpPr txBox="1"/>
            <p:nvPr/>
          </p:nvSpPr>
          <p:spPr>
            <a:xfrm>
              <a:off x="6996112" y="2319337"/>
              <a:ext cx="522300" cy="336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cxnSp>
        <p:nvCxnSpPr>
          <p:cNvPr id="2792" name="Google Shape;2792;p50"/>
          <p:cNvCxnSpPr/>
          <p:nvPr/>
        </p:nvCxnSpPr>
        <p:spPr>
          <a:xfrm flipH="1">
            <a:off x="6064287" y="2535237"/>
            <a:ext cx="2014500" cy="1100100"/>
          </a:xfrm>
          <a:prstGeom prst="straightConnector1">
            <a:avLst/>
          </a:prstGeom>
          <a:noFill/>
          <a:ln cap="flat" cmpd="sng" w="28575">
            <a:solidFill>
              <a:srgbClr val="008000"/>
            </a:solidFill>
            <a:prstDash val="solid"/>
            <a:round/>
            <a:headEnd len="med" w="med" type="none"/>
            <a:tailEnd len="med" w="med" type="triangle"/>
          </a:ln>
        </p:spPr>
      </p:cxnSp>
      <p:cxnSp>
        <p:nvCxnSpPr>
          <p:cNvPr id="2793" name="Google Shape;2793;p50"/>
          <p:cNvCxnSpPr/>
          <p:nvPr/>
        </p:nvCxnSpPr>
        <p:spPr>
          <a:xfrm>
            <a:off x="6067425" y="3371850"/>
            <a:ext cx="2100300" cy="468300"/>
          </a:xfrm>
          <a:prstGeom prst="straightConnector1">
            <a:avLst/>
          </a:prstGeom>
          <a:noFill/>
          <a:ln cap="flat" cmpd="sng" w="28575">
            <a:solidFill>
              <a:srgbClr val="000099"/>
            </a:solidFill>
            <a:prstDash val="solid"/>
            <a:round/>
            <a:headEnd len="med" w="med" type="none"/>
            <a:tailEnd len="med" w="med" type="triangle"/>
          </a:ln>
        </p:spPr>
      </p:cxnSp>
      <p:cxnSp>
        <p:nvCxnSpPr>
          <p:cNvPr id="2794" name="Google Shape;2794;p50"/>
          <p:cNvCxnSpPr/>
          <p:nvPr/>
        </p:nvCxnSpPr>
        <p:spPr>
          <a:xfrm>
            <a:off x="6099175" y="3690937"/>
            <a:ext cx="2101800" cy="468300"/>
          </a:xfrm>
          <a:prstGeom prst="straightConnector1">
            <a:avLst/>
          </a:prstGeom>
          <a:noFill/>
          <a:ln cap="flat" cmpd="sng" w="28575">
            <a:solidFill>
              <a:srgbClr val="000099"/>
            </a:solidFill>
            <a:prstDash val="solid"/>
            <a:round/>
            <a:headEnd len="med" w="med" type="none"/>
            <a:tailEnd len="med" w="med" type="triangle"/>
          </a:ln>
        </p:spPr>
      </p:cxnSp>
      <p:cxnSp>
        <p:nvCxnSpPr>
          <p:cNvPr id="2795" name="Google Shape;2795;p50"/>
          <p:cNvCxnSpPr/>
          <p:nvPr/>
        </p:nvCxnSpPr>
        <p:spPr>
          <a:xfrm flipH="1">
            <a:off x="6096037" y="3065462"/>
            <a:ext cx="2014500" cy="1100100"/>
          </a:xfrm>
          <a:prstGeom prst="straightConnector1">
            <a:avLst/>
          </a:prstGeom>
          <a:noFill/>
          <a:ln cap="flat" cmpd="sng" w="28575">
            <a:solidFill>
              <a:srgbClr val="008000"/>
            </a:solidFill>
            <a:prstDash val="solid"/>
            <a:round/>
            <a:headEnd len="med" w="med" type="none"/>
            <a:tailEnd len="med" w="med" type="triangle"/>
          </a:ln>
        </p:spPr>
      </p:cxnSp>
      <p:grpSp>
        <p:nvGrpSpPr>
          <p:cNvPr id="2796" name="Google Shape;2796;p50"/>
          <p:cNvGrpSpPr/>
          <p:nvPr/>
        </p:nvGrpSpPr>
        <p:grpSpPr>
          <a:xfrm>
            <a:off x="4081462" y="2254250"/>
            <a:ext cx="1978025" cy="2543225"/>
            <a:chOff x="4081462" y="2254250"/>
            <a:chExt cx="1978025" cy="2543225"/>
          </a:xfrm>
        </p:grpSpPr>
        <p:pic>
          <p:nvPicPr>
            <p:cNvPr descr="alarm_clock_ringing" id="2797" name="Google Shape;2797;p50"/>
            <p:cNvPicPr preferRelativeResize="0"/>
            <p:nvPr/>
          </p:nvPicPr>
          <p:blipFill rotWithShape="1">
            <a:blip r:embed="rId3">
              <a:alphaModFix/>
            </a:blip>
            <a:srcRect b="0" l="0" r="0" t="0"/>
            <a:stretch/>
          </p:blipFill>
          <p:spPr>
            <a:xfrm>
              <a:off x="4081462" y="4283075"/>
              <a:ext cx="436563" cy="481012"/>
            </a:xfrm>
            <a:prstGeom prst="rect">
              <a:avLst/>
            </a:prstGeom>
            <a:noFill/>
            <a:ln>
              <a:noFill/>
            </a:ln>
          </p:spPr>
        </p:pic>
        <p:sp>
          <p:nvSpPr>
            <p:cNvPr id="2798" name="Google Shape;2798;p50"/>
            <p:cNvSpPr txBox="1"/>
            <p:nvPr/>
          </p:nvSpPr>
          <p:spPr>
            <a:xfrm>
              <a:off x="4449762" y="4498975"/>
              <a:ext cx="1538400" cy="298500"/>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pkt 2 timeout</a:t>
              </a:r>
              <a:endParaRPr/>
            </a:p>
          </p:txBody>
        </p:sp>
        <p:grpSp>
          <p:nvGrpSpPr>
            <p:cNvPr id="2799" name="Google Shape;2799;p50"/>
            <p:cNvGrpSpPr/>
            <p:nvPr/>
          </p:nvGrpSpPr>
          <p:grpSpPr>
            <a:xfrm>
              <a:off x="6056841" y="2254250"/>
              <a:ext cx="2646" cy="2462212"/>
              <a:chOff x="3727" y="1878"/>
              <a:chExt cx="2" cy="963"/>
            </a:xfrm>
          </p:grpSpPr>
          <p:cxnSp>
            <p:nvCxnSpPr>
              <p:cNvPr id="2800" name="Google Shape;2800;p50"/>
              <p:cNvCxnSpPr/>
              <p:nvPr/>
            </p:nvCxnSpPr>
            <p:spPr>
              <a:xfrm>
                <a:off x="3729" y="1879"/>
                <a:ext cx="0" cy="900"/>
              </a:xfrm>
              <a:prstGeom prst="straightConnector1">
                <a:avLst/>
              </a:prstGeom>
              <a:noFill/>
              <a:ln cap="flat" cmpd="sng" w="28575">
                <a:solidFill>
                  <a:srgbClr val="000000"/>
                </a:solidFill>
                <a:prstDash val="solid"/>
                <a:round/>
                <a:headEnd len="med" w="med" type="none"/>
                <a:tailEnd len="med" w="med" type="none"/>
              </a:ln>
            </p:spPr>
          </p:cxnSp>
          <p:cxnSp>
            <p:nvCxnSpPr>
              <p:cNvPr id="2801" name="Google Shape;2801;p50"/>
              <p:cNvCxnSpPr/>
              <p:nvPr/>
            </p:nvCxnSpPr>
            <p:spPr>
              <a:xfrm>
                <a:off x="3727" y="1878"/>
                <a:ext cx="0" cy="0"/>
              </a:xfrm>
              <a:prstGeom prst="straightConnector1">
                <a:avLst/>
              </a:prstGeom>
              <a:noFill/>
              <a:ln cap="flat" cmpd="sng" w="28575">
                <a:solidFill>
                  <a:srgbClr val="000000"/>
                </a:solidFill>
                <a:prstDash val="solid"/>
                <a:round/>
                <a:headEnd len="med" w="med" type="none"/>
                <a:tailEnd len="med" w="med" type="none"/>
              </a:ln>
            </p:spPr>
          </p:cxnSp>
          <p:cxnSp>
            <p:nvCxnSpPr>
              <p:cNvPr id="2802" name="Google Shape;2802;p50"/>
              <p:cNvCxnSpPr/>
              <p:nvPr/>
            </p:nvCxnSpPr>
            <p:spPr>
              <a:xfrm>
                <a:off x="3727" y="2841"/>
                <a:ext cx="0" cy="0"/>
              </a:xfrm>
              <a:prstGeom prst="straightConnector1">
                <a:avLst/>
              </a:prstGeom>
              <a:noFill/>
              <a:ln cap="flat" cmpd="sng" w="28575">
                <a:solidFill>
                  <a:srgbClr val="000000"/>
                </a:solidFill>
                <a:prstDash val="solid"/>
                <a:round/>
                <a:headEnd len="med" w="med" type="none"/>
                <a:tailEnd len="med" w="med" type="none"/>
              </a:ln>
            </p:spPr>
          </p:cxnSp>
        </p:grpSp>
      </p:grpSp>
      <p:grpSp>
        <p:nvGrpSpPr>
          <p:cNvPr id="2803" name="Google Shape;2803;p50"/>
          <p:cNvGrpSpPr/>
          <p:nvPr/>
        </p:nvGrpSpPr>
        <p:grpSpPr>
          <a:xfrm>
            <a:off x="6061075" y="4884737"/>
            <a:ext cx="2114587" cy="1179500"/>
            <a:chOff x="6061075" y="4884737"/>
            <a:chExt cx="2114587" cy="1179500"/>
          </a:xfrm>
        </p:grpSpPr>
        <p:cxnSp>
          <p:nvCxnSpPr>
            <p:cNvPr id="2804" name="Google Shape;2804;p50"/>
            <p:cNvCxnSpPr/>
            <p:nvPr/>
          </p:nvCxnSpPr>
          <p:spPr>
            <a:xfrm>
              <a:off x="6075362" y="4884737"/>
              <a:ext cx="2100300" cy="468300"/>
            </a:xfrm>
            <a:prstGeom prst="straightConnector1">
              <a:avLst/>
            </a:prstGeom>
            <a:noFill/>
            <a:ln cap="flat" cmpd="sng" w="28575">
              <a:solidFill>
                <a:srgbClr val="000099"/>
              </a:solidFill>
              <a:prstDash val="solid"/>
              <a:round/>
              <a:headEnd len="med" w="med" type="none"/>
              <a:tailEnd len="med" w="med" type="triangle"/>
            </a:ln>
          </p:spPr>
        </p:cxnSp>
        <p:cxnSp>
          <p:nvCxnSpPr>
            <p:cNvPr id="2805" name="Google Shape;2805;p50"/>
            <p:cNvCxnSpPr/>
            <p:nvPr/>
          </p:nvCxnSpPr>
          <p:spPr>
            <a:xfrm>
              <a:off x="6067425" y="5129212"/>
              <a:ext cx="2101800" cy="468300"/>
            </a:xfrm>
            <a:prstGeom prst="straightConnector1">
              <a:avLst/>
            </a:prstGeom>
            <a:noFill/>
            <a:ln cap="flat" cmpd="sng" w="28575">
              <a:solidFill>
                <a:srgbClr val="000099"/>
              </a:solidFill>
              <a:prstDash val="solid"/>
              <a:round/>
              <a:headEnd len="med" w="med" type="none"/>
              <a:tailEnd len="med" w="med" type="triangle"/>
            </a:ln>
          </p:spPr>
        </p:cxnSp>
        <p:cxnSp>
          <p:nvCxnSpPr>
            <p:cNvPr id="2806" name="Google Shape;2806;p50"/>
            <p:cNvCxnSpPr/>
            <p:nvPr/>
          </p:nvCxnSpPr>
          <p:spPr>
            <a:xfrm>
              <a:off x="6061075" y="5362575"/>
              <a:ext cx="2101800" cy="468300"/>
            </a:xfrm>
            <a:prstGeom prst="straightConnector1">
              <a:avLst/>
            </a:prstGeom>
            <a:noFill/>
            <a:ln cap="flat" cmpd="sng" w="28575">
              <a:solidFill>
                <a:srgbClr val="000099"/>
              </a:solidFill>
              <a:prstDash val="solid"/>
              <a:round/>
              <a:headEnd len="med" w="med" type="none"/>
              <a:tailEnd len="med" w="med" type="triangle"/>
            </a:ln>
          </p:spPr>
        </p:cxnSp>
        <p:cxnSp>
          <p:nvCxnSpPr>
            <p:cNvPr id="2807" name="Google Shape;2807;p50"/>
            <p:cNvCxnSpPr/>
            <p:nvPr/>
          </p:nvCxnSpPr>
          <p:spPr>
            <a:xfrm>
              <a:off x="6064250" y="5595937"/>
              <a:ext cx="2100300" cy="468300"/>
            </a:xfrm>
            <a:prstGeom prst="straightConnector1">
              <a:avLst/>
            </a:prstGeom>
            <a:noFill/>
            <a:ln cap="flat" cmpd="sng" w="28575">
              <a:solidFill>
                <a:srgbClr val="000099"/>
              </a:solidFill>
              <a:prstDash val="solid"/>
              <a:round/>
              <a:headEnd len="med" w="med" type="none"/>
              <a:tailEnd len="med" w="med" type="triangle"/>
            </a:ln>
          </p:spPr>
        </p:cxnSp>
      </p:grpSp>
      <p:sp>
        <p:nvSpPr>
          <p:cNvPr id="2808" name="Google Shape;2808;p50"/>
          <p:cNvSpPr txBox="1"/>
          <p:nvPr/>
        </p:nvSpPr>
        <p:spPr>
          <a:xfrm>
            <a:off x="8135937" y="3497262"/>
            <a:ext cx="2412900" cy="64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pkt4,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2809" name="Google Shape;2809;p50"/>
          <p:cNvSpPr txBox="1"/>
          <p:nvPr/>
        </p:nvSpPr>
        <p:spPr>
          <a:xfrm>
            <a:off x="8154987" y="4017962"/>
            <a:ext cx="2412900" cy="64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pkt5,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2810" name="Google Shape;2810;p50"/>
          <p:cNvSpPr txBox="1"/>
          <p:nvPr/>
        </p:nvSpPr>
        <p:spPr>
          <a:xfrm>
            <a:off x="8166100" y="5172075"/>
            <a:ext cx="2965500" cy="10827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pkt2, deliver, send ack2</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pkt3, deliver, send ack3</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pkt4, deliver, send ack4</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pkt5, deliver, send ack5</a:t>
            </a:r>
            <a:endParaRPr/>
          </a:p>
        </p:txBody>
      </p:sp>
      <p:sp>
        <p:nvSpPr>
          <p:cNvPr id="2811" name="Google Shape;2811;p50"/>
          <p:cNvSpPr txBox="1"/>
          <p:nvPr/>
        </p:nvSpPr>
        <p:spPr>
          <a:xfrm>
            <a:off x="4217987" y="4000500"/>
            <a:ext cx="181140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ignore duplicate ACK</a:t>
            </a:r>
            <a:endParaRPr/>
          </a:p>
        </p:txBody>
      </p:sp>
      <p:sp>
        <p:nvSpPr>
          <p:cNvPr id="2812" name="Google Shape;2812;p50"/>
          <p:cNvSpPr txBox="1"/>
          <p:nvPr/>
        </p:nvSpPr>
        <p:spPr>
          <a:xfrm>
            <a:off x="2278062" y="1223962"/>
            <a:ext cx="2146200" cy="336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Tahoma"/>
              <a:buNone/>
            </a:pPr>
            <a:r>
              <a:rPr b="0" i="1" lang="en-US" sz="1600" u="sng" cap="none" strike="noStrike">
                <a:solidFill>
                  <a:srgbClr val="000099"/>
                </a:solidFill>
                <a:latin typeface="Tahoma"/>
                <a:ea typeface="Tahoma"/>
                <a:cs typeface="Tahoma"/>
                <a:sym typeface="Tahoma"/>
              </a:rPr>
              <a:t>sender window (N=4)</a:t>
            </a:r>
            <a:endParaRPr/>
          </a:p>
        </p:txBody>
      </p:sp>
      <p:grpSp>
        <p:nvGrpSpPr>
          <p:cNvPr id="2813" name="Google Shape;2813;p50"/>
          <p:cNvGrpSpPr/>
          <p:nvPr/>
        </p:nvGrpSpPr>
        <p:grpSpPr>
          <a:xfrm>
            <a:off x="2171628" y="1686923"/>
            <a:ext cx="1912922" cy="1322400"/>
            <a:chOff x="2317750" y="1570025"/>
            <a:chExt cx="1912922" cy="1322400"/>
          </a:xfrm>
        </p:grpSpPr>
        <p:grpSp>
          <p:nvGrpSpPr>
            <p:cNvPr id="2814" name="Google Shape;2814;p50"/>
            <p:cNvGrpSpPr/>
            <p:nvPr/>
          </p:nvGrpSpPr>
          <p:grpSpPr>
            <a:xfrm>
              <a:off x="2320925" y="1570025"/>
              <a:ext cx="1904999" cy="476250"/>
              <a:chOff x="115" y="914"/>
              <a:chExt cx="1200" cy="300"/>
            </a:xfrm>
          </p:grpSpPr>
          <p:sp>
            <p:nvSpPr>
              <p:cNvPr id="2815" name="Google Shape;2815;p50"/>
              <p:cNvSpPr/>
              <p:nvPr/>
            </p:nvSpPr>
            <p:spPr>
              <a:xfrm>
                <a:off x="152" y="936"/>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16" name="Google Shape;2816;p50"/>
              <p:cNvSpPr txBox="1"/>
              <p:nvPr/>
            </p:nvSpPr>
            <p:spPr>
              <a:xfrm>
                <a:off x="115" y="914"/>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highlight>
                      <a:srgbClr val="0013A3"/>
                    </a:highlight>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2817" name="Google Shape;2817;p50"/>
            <p:cNvGrpSpPr/>
            <p:nvPr/>
          </p:nvGrpSpPr>
          <p:grpSpPr>
            <a:xfrm>
              <a:off x="2317750" y="1855775"/>
              <a:ext cx="1904999" cy="476250"/>
              <a:chOff x="115" y="914"/>
              <a:chExt cx="1200" cy="300"/>
            </a:xfrm>
          </p:grpSpPr>
          <p:sp>
            <p:nvSpPr>
              <p:cNvPr id="2818" name="Google Shape;2818;p50"/>
              <p:cNvSpPr/>
              <p:nvPr/>
            </p:nvSpPr>
            <p:spPr>
              <a:xfrm>
                <a:off x="152" y="936"/>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19" name="Google Shape;2819;p50"/>
              <p:cNvSpPr txBox="1"/>
              <p:nvPr/>
            </p:nvSpPr>
            <p:spPr>
              <a:xfrm>
                <a:off x="115" y="914"/>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lang="en-US">
                    <a:solidFill>
                      <a:srgbClr val="FFFFFF"/>
                    </a:solidFill>
                    <a:highlight>
                      <a:srgbClr val="0013A3"/>
                    </a:highlight>
                  </a:rPr>
                  <a:t>0 1 2 3</a:t>
                </a:r>
                <a:r>
                  <a:rPr b="0" i="0" lang="en-US" sz="1400" u="none" cap="none" strike="noStrike">
                    <a:solidFill>
                      <a:srgbClr val="FFFFFF"/>
                    </a:solidFill>
                    <a:highlight>
                      <a:srgbClr val="0013A3"/>
                    </a:highlight>
                    <a:latin typeface="Arial"/>
                    <a:ea typeface="Arial"/>
                    <a:cs typeface="Arial"/>
                    <a:sym typeface="Arial"/>
                  </a:rPr>
                  <a:t> </a:t>
                </a:r>
                <a:r>
                  <a:rPr b="0" i="0" lang="en-US" sz="1400" u="none" cap="none" strike="noStrike">
                    <a:solidFill>
                      <a:srgbClr val="000000"/>
                    </a:solidFill>
                    <a:latin typeface="Arial"/>
                    <a:ea typeface="Arial"/>
                    <a:cs typeface="Arial"/>
                    <a:sym typeface="Arial"/>
                  </a:rPr>
                  <a:t>4 5 6 7 8 </a:t>
                </a:r>
                <a:endParaRPr/>
              </a:p>
            </p:txBody>
          </p:sp>
        </p:grpSp>
        <p:grpSp>
          <p:nvGrpSpPr>
            <p:cNvPr id="2820" name="Google Shape;2820;p50"/>
            <p:cNvGrpSpPr/>
            <p:nvPr/>
          </p:nvGrpSpPr>
          <p:grpSpPr>
            <a:xfrm>
              <a:off x="2325671" y="2141525"/>
              <a:ext cx="1905001" cy="476250"/>
              <a:chOff x="115" y="914"/>
              <a:chExt cx="1200" cy="300"/>
            </a:xfrm>
          </p:grpSpPr>
          <p:sp>
            <p:nvSpPr>
              <p:cNvPr id="2821" name="Google Shape;2821;p50"/>
              <p:cNvSpPr/>
              <p:nvPr/>
            </p:nvSpPr>
            <p:spPr>
              <a:xfrm>
                <a:off x="152" y="936"/>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2" name="Google Shape;2822;p50"/>
              <p:cNvSpPr txBox="1"/>
              <p:nvPr/>
            </p:nvSpPr>
            <p:spPr>
              <a:xfrm>
                <a:off x="115" y="914"/>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highlight>
                      <a:srgbClr val="0013A3"/>
                    </a:highlight>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2823" name="Google Shape;2823;p50"/>
            <p:cNvGrpSpPr/>
            <p:nvPr/>
          </p:nvGrpSpPr>
          <p:grpSpPr>
            <a:xfrm>
              <a:off x="2322496" y="2416175"/>
              <a:ext cx="1905001" cy="476250"/>
              <a:chOff x="115" y="914"/>
              <a:chExt cx="1200" cy="300"/>
            </a:xfrm>
          </p:grpSpPr>
          <p:sp>
            <p:nvSpPr>
              <p:cNvPr id="2824" name="Google Shape;2824;p50"/>
              <p:cNvSpPr/>
              <p:nvPr/>
            </p:nvSpPr>
            <p:spPr>
              <a:xfrm>
                <a:off x="152" y="936"/>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25" name="Google Shape;2825;p50"/>
              <p:cNvSpPr txBox="1"/>
              <p:nvPr/>
            </p:nvSpPr>
            <p:spPr>
              <a:xfrm>
                <a:off x="115" y="914"/>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highlight>
                      <a:srgbClr val="0013A3"/>
                    </a:highlight>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grpSp>
        <p:nvGrpSpPr>
          <p:cNvPr id="2826" name="Google Shape;2826;p50"/>
          <p:cNvGrpSpPr/>
          <p:nvPr/>
        </p:nvGrpSpPr>
        <p:grpSpPr>
          <a:xfrm>
            <a:off x="2278050" y="3135312"/>
            <a:ext cx="3791005" cy="369300"/>
            <a:chOff x="2278050" y="3135312"/>
            <a:chExt cx="3791005" cy="369300"/>
          </a:xfrm>
        </p:grpSpPr>
        <p:sp>
          <p:nvSpPr>
            <p:cNvPr id="2827" name="Google Shape;2827;p50"/>
            <p:cNvSpPr/>
            <p:nvPr/>
          </p:nvSpPr>
          <p:spPr>
            <a:xfrm>
              <a:off x="2533650" y="3221037"/>
              <a:ext cx="628800" cy="228600"/>
            </a:xfrm>
            <a:prstGeom prst="rect">
              <a:avLst/>
            </a:prstGeom>
            <a:solidFill>
              <a:srgbClr val="000099"/>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28" name="Google Shape;2828;p50"/>
            <p:cNvGrpSpPr/>
            <p:nvPr/>
          </p:nvGrpSpPr>
          <p:grpSpPr>
            <a:xfrm>
              <a:off x="2278050" y="3135312"/>
              <a:ext cx="3791005" cy="369300"/>
              <a:chOff x="2278050" y="3135312"/>
              <a:chExt cx="3791005" cy="369300"/>
            </a:xfrm>
          </p:grpSpPr>
          <p:sp>
            <p:nvSpPr>
              <p:cNvPr id="2829" name="Google Shape;2829;p50"/>
              <p:cNvSpPr txBox="1"/>
              <p:nvPr/>
            </p:nvSpPr>
            <p:spPr>
              <a:xfrm>
                <a:off x="3894955" y="3135312"/>
                <a:ext cx="2174100" cy="3693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 send pkt4</a:t>
                </a:r>
                <a:endParaRPr/>
              </a:p>
            </p:txBody>
          </p:sp>
          <p:sp>
            <p:nvSpPr>
              <p:cNvPr id="2830" name="Google Shape;2830;p50"/>
              <p:cNvSpPr txBox="1"/>
              <p:nvPr/>
            </p:nvSpPr>
            <p:spPr>
              <a:xfrm>
                <a:off x="2278050" y="3186100"/>
                <a:ext cx="1852800" cy="3078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rtl="0" algn="l">
                  <a:spcBef>
                    <a:spcPts val="0"/>
                  </a:spcBef>
                  <a:spcAft>
                    <a:spcPts val="0"/>
                  </a:spcAft>
                  <a:buClr>
                    <a:srgbClr val="000000"/>
                  </a:buClr>
                  <a:buSzPts val="1400"/>
                  <a:buFont typeface="Arial"/>
                  <a:buNone/>
                </a:pPr>
                <a:r>
                  <a:rPr lang="en-US"/>
                  <a:t>0 </a:t>
                </a:r>
                <a:r>
                  <a:rPr lang="en-US">
                    <a:solidFill>
                      <a:schemeClr val="lt1"/>
                    </a:solidFill>
                  </a:rPr>
                  <a:t>1 2 3</a:t>
                </a:r>
                <a:r>
                  <a:rPr lang="en-US">
                    <a:solidFill>
                      <a:schemeClr val="lt1"/>
                    </a:solidFill>
                  </a:rPr>
                  <a:t> 4 </a:t>
                </a:r>
                <a:r>
                  <a:rPr lang="en-US">
                    <a:solidFill>
                      <a:schemeClr val="dk1"/>
                    </a:solidFill>
                    <a:highlight>
                      <a:schemeClr val="lt1"/>
                    </a:highlight>
                  </a:rPr>
                  <a:t>5</a:t>
                </a:r>
                <a:r>
                  <a:rPr lang="en-US">
                    <a:solidFill>
                      <a:schemeClr val="lt1"/>
                    </a:solidFill>
                    <a:highlight>
                      <a:schemeClr val="lt1"/>
                    </a:highlight>
                  </a:rPr>
                  <a:t> </a:t>
                </a:r>
                <a:r>
                  <a:rPr lang="en-US"/>
                  <a:t>6 7 8 </a:t>
                </a:r>
                <a:endParaRPr/>
              </a:p>
            </p:txBody>
          </p:sp>
        </p:grpSp>
      </p:grpSp>
      <p:grpSp>
        <p:nvGrpSpPr>
          <p:cNvPr id="2831" name="Google Shape;2831;p50"/>
          <p:cNvGrpSpPr/>
          <p:nvPr/>
        </p:nvGrpSpPr>
        <p:grpSpPr>
          <a:xfrm>
            <a:off x="2305050" y="4754550"/>
            <a:ext cx="1912922" cy="1222375"/>
            <a:chOff x="2305050" y="4754550"/>
            <a:chExt cx="1912922" cy="1222375"/>
          </a:xfrm>
        </p:grpSpPr>
        <p:grpSp>
          <p:nvGrpSpPr>
            <p:cNvPr id="2832" name="Google Shape;2832;p50"/>
            <p:cNvGrpSpPr/>
            <p:nvPr/>
          </p:nvGrpSpPr>
          <p:grpSpPr>
            <a:xfrm>
              <a:off x="2305050" y="4754550"/>
              <a:ext cx="1904999" cy="476250"/>
              <a:chOff x="112" y="2105"/>
              <a:chExt cx="1200" cy="300"/>
            </a:xfrm>
          </p:grpSpPr>
          <p:sp>
            <p:nvSpPr>
              <p:cNvPr id="2833" name="Google Shape;2833;p50"/>
              <p:cNvSpPr/>
              <p:nvPr/>
            </p:nvSpPr>
            <p:spPr>
              <a:xfrm>
                <a:off x="338" y="2127"/>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34" name="Google Shape;2834;p50"/>
              <p:cNvSpPr txBox="1"/>
              <p:nvPr/>
            </p:nvSpPr>
            <p:spPr>
              <a:xfrm>
                <a:off x="112" y="2105"/>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a:t>
                </a:r>
                <a:r>
                  <a:rPr b="0" i="0" lang="en-US" sz="1400" u="none" cap="none" strike="noStrike">
                    <a:solidFill>
                      <a:srgbClr val="FFFFFF"/>
                    </a:solidFill>
                    <a:highlight>
                      <a:srgbClr val="0013A3"/>
                    </a:highlight>
                    <a:latin typeface="Arial"/>
                    <a:ea typeface="Arial"/>
                    <a:cs typeface="Arial"/>
                    <a:sym typeface="Arial"/>
                  </a:rPr>
                  <a:t>2 3 4 5</a:t>
                </a:r>
                <a:r>
                  <a:rPr b="0" i="0" lang="en-US" sz="1400" u="none" cap="none" strike="noStrike">
                    <a:solidFill>
                      <a:srgbClr val="000000"/>
                    </a:solidFill>
                    <a:latin typeface="Arial"/>
                    <a:ea typeface="Arial"/>
                    <a:cs typeface="Arial"/>
                    <a:sym typeface="Arial"/>
                  </a:rPr>
                  <a:t> 6 7 8 </a:t>
                </a:r>
                <a:endParaRPr/>
              </a:p>
            </p:txBody>
          </p:sp>
        </p:grpSp>
        <p:grpSp>
          <p:nvGrpSpPr>
            <p:cNvPr id="2835" name="Google Shape;2835;p50"/>
            <p:cNvGrpSpPr/>
            <p:nvPr/>
          </p:nvGrpSpPr>
          <p:grpSpPr>
            <a:xfrm>
              <a:off x="2312971" y="4995850"/>
              <a:ext cx="1905001" cy="476250"/>
              <a:chOff x="112" y="2105"/>
              <a:chExt cx="1200" cy="300"/>
            </a:xfrm>
          </p:grpSpPr>
          <p:sp>
            <p:nvSpPr>
              <p:cNvPr id="2836" name="Google Shape;2836;p50"/>
              <p:cNvSpPr/>
              <p:nvPr/>
            </p:nvSpPr>
            <p:spPr>
              <a:xfrm>
                <a:off x="338" y="2127"/>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37" name="Google Shape;2837;p50"/>
              <p:cNvSpPr txBox="1"/>
              <p:nvPr/>
            </p:nvSpPr>
            <p:spPr>
              <a:xfrm>
                <a:off x="112" y="2105"/>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lang="en-US">
                    <a:solidFill>
                      <a:srgbClr val="FFFFFF"/>
                    </a:solidFill>
                    <a:highlight>
                      <a:srgbClr val="0013A3"/>
                    </a:highlight>
                  </a:rPr>
                  <a:t> 2 3 4 5</a:t>
                </a:r>
                <a:r>
                  <a:rPr b="0" i="0" lang="en-US" sz="1400" u="none" cap="none" strike="noStrike">
                    <a:solidFill>
                      <a:srgbClr val="000000"/>
                    </a:solidFill>
                    <a:latin typeface="Arial"/>
                    <a:ea typeface="Arial"/>
                    <a:cs typeface="Arial"/>
                    <a:sym typeface="Arial"/>
                  </a:rPr>
                  <a:t> 6 7 8 </a:t>
                </a:r>
                <a:endParaRPr/>
              </a:p>
            </p:txBody>
          </p:sp>
        </p:grpSp>
        <p:grpSp>
          <p:nvGrpSpPr>
            <p:cNvPr id="2838" name="Google Shape;2838;p50"/>
            <p:cNvGrpSpPr/>
            <p:nvPr/>
          </p:nvGrpSpPr>
          <p:grpSpPr>
            <a:xfrm>
              <a:off x="2309796" y="5259375"/>
              <a:ext cx="1905001" cy="476250"/>
              <a:chOff x="112" y="2105"/>
              <a:chExt cx="1200" cy="300"/>
            </a:xfrm>
          </p:grpSpPr>
          <p:sp>
            <p:nvSpPr>
              <p:cNvPr id="2839" name="Google Shape;2839;p50"/>
              <p:cNvSpPr/>
              <p:nvPr/>
            </p:nvSpPr>
            <p:spPr>
              <a:xfrm>
                <a:off x="338" y="2127"/>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40" name="Google Shape;2840;p50"/>
              <p:cNvSpPr txBox="1"/>
              <p:nvPr/>
            </p:nvSpPr>
            <p:spPr>
              <a:xfrm>
                <a:off x="112" y="2105"/>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lang="en-US">
                    <a:solidFill>
                      <a:srgbClr val="FFFFFF"/>
                    </a:solidFill>
                    <a:highlight>
                      <a:srgbClr val="0013A3"/>
                    </a:highlight>
                  </a:rPr>
                  <a:t> 2 3 4 5</a:t>
                </a:r>
                <a:r>
                  <a:rPr b="0" i="0" lang="en-US" sz="1400" u="none" cap="none" strike="noStrike">
                    <a:solidFill>
                      <a:srgbClr val="000000"/>
                    </a:solidFill>
                    <a:latin typeface="Arial"/>
                    <a:ea typeface="Arial"/>
                    <a:cs typeface="Arial"/>
                    <a:sym typeface="Arial"/>
                  </a:rPr>
                  <a:t> 6 7 8 </a:t>
                </a:r>
                <a:endParaRPr/>
              </a:p>
            </p:txBody>
          </p:sp>
        </p:grpSp>
        <p:grpSp>
          <p:nvGrpSpPr>
            <p:cNvPr id="2841" name="Google Shape;2841;p50"/>
            <p:cNvGrpSpPr/>
            <p:nvPr/>
          </p:nvGrpSpPr>
          <p:grpSpPr>
            <a:xfrm>
              <a:off x="2306621" y="5500675"/>
              <a:ext cx="1905001" cy="476250"/>
              <a:chOff x="112" y="2105"/>
              <a:chExt cx="1200" cy="300"/>
            </a:xfrm>
          </p:grpSpPr>
          <p:sp>
            <p:nvSpPr>
              <p:cNvPr id="2842" name="Google Shape;2842;p50"/>
              <p:cNvSpPr/>
              <p:nvPr/>
            </p:nvSpPr>
            <p:spPr>
              <a:xfrm>
                <a:off x="338" y="2127"/>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43" name="Google Shape;2843;p50"/>
              <p:cNvSpPr txBox="1"/>
              <p:nvPr/>
            </p:nvSpPr>
            <p:spPr>
              <a:xfrm>
                <a:off x="112" y="2105"/>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lang="en-US">
                    <a:solidFill>
                      <a:srgbClr val="FFFFFF"/>
                    </a:solidFill>
                    <a:highlight>
                      <a:srgbClr val="0013A3"/>
                    </a:highlight>
                  </a:rPr>
                  <a:t> 2 3 4 5</a:t>
                </a:r>
                <a:r>
                  <a:rPr b="0" i="0" lang="en-US" sz="1400" u="none" cap="none" strike="noStrike">
                    <a:solidFill>
                      <a:srgbClr val="000000"/>
                    </a:solidFill>
                    <a:latin typeface="Arial"/>
                    <a:ea typeface="Arial"/>
                    <a:cs typeface="Arial"/>
                    <a:sym typeface="Arial"/>
                  </a:rPr>
                  <a:t> 6 7 8 </a:t>
                </a:r>
                <a:endParaRPr/>
              </a:p>
            </p:txBody>
          </p:sp>
        </p:grpSp>
      </p:grpSp>
      <p:grpSp>
        <p:nvGrpSpPr>
          <p:cNvPr id="2844" name="Google Shape;2844;p50"/>
          <p:cNvGrpSpPr/>
          <p:nvPr/>
        </p:nvGrpSpPr>
        <p:grpSpPr>
          <a:xfrm>
            <a:off x="7129425" y="3876675"/>
            <a:ext cx="1039850" cy="873262"/>
            <a:chOff x="7129425" y="3876675"/>
            <a:chExt cx="1039850" cy="873262"/>
          </a:xfrm>
        </p:grpSpPr>
        <p:cxnSp>
          <p:nvCxnSpPr>
            <p:cNvPr id="2845" name="Google Shape;2845;p50"/>
            <p:cNvCxnSpPr/>
            <p:nvPr/>
          </p:nvCxnSpPr>
          <p:spPr>
            <a:xfrm flipH="1">
              <a:off x="7129425" y="3876675"/>
              <a:ext cx="1033500" cy="563700"/>
            </a:xfrm>
            <a:prstGeom prst="straightConnector1">
              <a:avLst/>
            </a:prstGeom>
            <a:noFill/>
            <a:ln cap="flat" cmpd="sng" w="28575">
              <a:solidFill>
                <a:srgbClr val="008000"/>
              </a:solidFill>
              <a:prstDash val="solid"/>
              <a:round/>
              <a:headEnd len="med" w="med" type="none"/>
              <a:tailEnd len="med" w="med" type="triangle"/>
            </a:ln>
          </p:spPr>
        </p:cxnSp>
        <p:cxnSp>
          <p:nvCxnSpPr>
            <p:cNvPr id="2846" name="Google Shape;2846;p50"/>
            <p:cNvCxnSpPr/>
            <p:nvPr/>
          </p:nvCxnSpPr>
          <p:spPr>
            <a:xfrm flipH="1">
              <a:off x="7135775" y="4186237"/>
              <a:ext cx="1033500" cy="563700"/>
            </a:xfrm>
            <a:prstGeom prst="straightConnector1">
              <a:avLst/>
            </a:prstGeom>
            <a:noFill/>
            <a:ln cap="flat" cmpd="sng" w="28575">
              <a:solidFill>
                <a:srgbClr val="008000"/>
              </a:solidFill>
              <a:prstDash val="solid"/>
              <a:round/>
              <a:headEnd len="med" w="med" type="none"/>
              <a:tailEnd len="med" w="med" type="triangle"/>
            </a:ln>
          </p:spPr>
        </p:cxnSp>
      </p:grpSp>
      <p:grpSp>
        <p:nvGrpSpPr>
          <p:cNvPr id="2847" name="Google Shape;2847;p50"/>
          <p:cNvGrpSpPr/>
          <p:nvPr/>
        </p:nvGrpSpPr>
        <p:grpSpPr>
          <a:xfrm>
            <a:off x="7108787" y="5376862"/>
            <a:ext cx="1081125" cy="1303475"/>
            <a:chOff x="7083387" y="5376862"/>
            <a:chExt cx="1081125" cy="1303475"/>
          </a:xfrm>
        </p:grpSpPr>
        <p:cxnSp>
          <p:nvCxnSpPr>
            <p:cNvPr id="2848" name="Google Shape;2848;p50"/>
            <p:cNvCxnSpPr/>
            <p:nvPr/>
          </p:nvCxnSpPr>
          <p:spPr>
            <a:xfrm flipH="1">
              <a:off x="7131012" y="5376862"/>
              <a:ext cx="1033500" cy="563700"/>
            </a:xfrm>
            <a:prstGeom prst="straightConnector1">
              <a:avLst/>
            </a:prstGeom>
            <a:noFill/>
            <a:ln cap="flat" cmpd="sng" w="28575">
              <a:solidFill>
                <a:srgbClr val="008000"/>
              </a:solidFill>
              <a:prstDash val="solid"/>
              <a:round/>
              <a:headEnd len="med" w="med" type="none"/>
              <a:tailEnd len="med" w="med" type="triangle"/>
            </a:ln>
          </p:spPr>
        </p:cxnSp>
        <p:cxnSp>
          <p:nvCxnSpPr>
            <p:cNvPr id="2849" name="Google Shape;2849;p50"/>
            <p:cNvCxnSpPr/>
            <p:nvPr/>
          </p:nvCxnSpPr>
          <p:spPr>
            <a:xfrm flipH="1">
              <a:off x="7115137" y="5630862"/>
              <a:ext cx="1033500" cy="563700"/>
            </a:xfrm>
            <a:prstGeom prst="straightConnector1">
              <a:avLst/>
            </a:prstGeom>
            <a:noFill/>
            <a:ln cap="flat" cmpd="sng" w="28575">
              <a:solidFill>
                <a:srgbClr val="008000"/>
              </a:solidFill>
              <a:prstDash val="solid"/>
              <a:round/>
              <a:headEnd len="med" w="med" type="none"/>
              <a:tailEnd len="med" w="med" type="triangle"/>
            </a:ln>
          </p:spPr>
        </p:cxnSp>
        <p:cxnSp>
          <p:nvCxnSpPr>
            <p:cNvPr id="2850" name="Google Shape;2850;p50"/>
            <p:cNvCxnSpPr/>
            <p:nvPr/>
          </p:nvCxnSpPr>
          <p:spPr>
            <a:xfrm flipH="1">
              <a:off x="7099262" y="5873750"/>
              <a:ext cx="1033500" cy="563700"/>
            </a:xfrm>
            <a:prstGeom prst="straightConnector1">
              <a:avLst/>
            </a:prstGeom>
            <a:noFill/>
            <a:ln cap="flat" cmpd="sng" w="28575">
              <a:solidFill>
                <a:srgbClr val="008000"/>
              </a:solidFill>
              <a:prstDash val="solid"/>
              <a:round/>
              <a:headEnd len="med" w="med" type="none"/>
              <a:tailEnd len="med" w="med" type="triangle"/>
            </a:ln>
          </p:spPr>
        </p:cxnSp>
        <p:cxnSp>
          <p:nvCxnSpPr>
            <p:cNvPr id="2851" name="Google Shape;2851;p50"/>
            <p:cNvCxnSpPr/>
            <p:nvPr/>
          </p:nvCxnSpPr>
          <p:spPr>
            <a:xfrm flipH="1">
              <a:off x="7083387" y="6116637"/>
              <a:ext cx="1033500" cy="563700"/>
            </a:xfrm>
            <a:prstGeom prst="straightConnector1">
              <a:avLst/>
            </a:prstGeom>
            <a:noFill/>
            <a:ln cap="flat" cmpd="sng" w="28575">
              <a:solidFill>
                <a:srgbClr val="008000"/>
              </a:solidFill>
              <a:prstDash val="solid"/>
              <a:round/>
              <a:headEnd len="med" w="med" type="none"/>
              <a:tailEnd len="med" w="med" type="triangle"/>
            </a:ln>
          </p:spPr>
        </p:cxnSp>
      </p:grpSp>
      <p:grpSp>
        <p:nvGrpSpPr>
          <p:cNvPr id="2852" name="Google Shape;2852;p50"/>
          <p:cNvGrpSpPr/>
          <p:nvPr/>
        </p:nvGrpSpPr>
        <p:grpSpPr>
          <a:xfrm>
            <a:off x="2106576" y="3452813"/>
            <a:ext cx="3962524" cy="484187"/>
            <a:chOff x="2106576" y="3452813"/>
            <a:chExt cx="3962524" cy="484187"/>
          </a:xfrm>
        </p:grpSpPr>
        <p:grpSp>
          <p:nvGrpSpPr>
            <p:cNvPr id="2853" name="Google Shape;2853;p50"/>
            <p:cNvGrpSpPr/>
            <p:nvPr/>
          </p:nvGrpSpPr>
          <p:grpSpPr>
            <a:xfrm>
              <a:off x="2106576" y="3460750"/>
              <a:ext cx="1905001" cy="476250"/>
              <a:chOff x="-20" y="2105"/>
              <a:chExt cx="1200" cy="300"/>
            </a:xfrm>
          </p:grpSpPr>
          <p:sp>
            <p:nvSpPr>
              <p:cNvPr id="2854" name="Google Shape;2854;p50"/>
              <p:cNvSpPr/>
              <p:nvPr/>
            </p:nvSpPr>
            <p:spPr>
              <a:xfrm>
                <a:off x="338" y="2127"/>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55" name="Google Shape;2855;p50"/>
              <p:cNvSpPr txBox="1"/>
              <p:nvPr/>
            </p:nvSpPr>
            <p:spPr>
              <a:xfrm>
                <a:off x="-20" y="2105"/>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a:t>
                </a:r>
                <a:r>
                  <a:rPr b="0" i="0" lang="en-US" sz="1400" u="none" cap="none" strike="noStrike">
                    <a:solidFill>
                      <a:srgbClr val="FFFFFF"/>
                    </a:solidFill>
                    <a:highlight>
                      <a:srgbClr val="0013A3"/>
                    </a:highlight>
                    <a:latin typeface="Arial"/>
                    <a:ea typeface="Arial"/>
                    <a:cs typeface="Arial"/>
                    <a:sym typeface="Arial"/>
                  </a:rPr>
                  <a:t>2 3 4 5</a:t>
                </a:r>
                <a:r>
                  <a:rPr b="0" i="0" lang="en-US" sz="1400" u="none" cap="none" strike="noStrike">
                    <a:solidFill>
                      <a:srgbClr val="000000"/>
                    </a:solidFill>
                    <a:latin typeface="Arial"/>
                    <a:ea typeface="Arial"/>
                    <a:cs typeface="Arial"/>
                    <a:sym typeface="Arial"/>
                  </a:rPr>
                  <a:t> 6 7 8 </a:t>
                </a:r>
                <a:endParaRPr/>
              </a:p>
            </p:txBody>
          </p:sp>
        </p:grpSp>
        <p:sp>
          <p:nvSpPr>
            <p:cNvPr id="2856" name="Google Shape;2856;p50"/>
            <p:cNvSpPr txBox="1"/>
            <p:nvPr/>
          </p:nvSpPr>
          <p:spPr>
            <a:xfrm>
              <a:off x="3860800" y="3452813"/>
              <a:ext cx="2208300" cy="369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 send pkt5</a:t>
              </a:r>
              <a:endParaRPr/>
            </a:p>
          </p:txBody>
        </p:sp>
      </p:grpSp>
      <p:cxnSp>
        <p:nvCxnSpPr>
          <p:cNvPr id="2857" name="Google Shape;2857;p50"/>
          <p:cNvCxnSpPr/>
          <p:nvPr/>
        </p:nvCxnSpPr>
        <p:spPr>
          <a:xfrm>
            <a:off x="6037262" y="1612900"/>
            <a:ext cx="11100" cy="4538700"/>
          </a:xfrm>
          <a:prstGeom prst="straightConnector1">
            <a:avLst/>
          </a:prstGeom>
          <a:noFill/>
          <a:ln cap="flat" cmpd="sng" w="9525">
            <a:solidFill>
              <a:srgbClr val="000000"/>
            </a:solidFill>
            <a:prstDash val="solid"/>
            <a:round/>
            <a:headEnd len="med" w="med" type="none"/>
            <a:tailEnd len="med" w="med" type="none"/>
          </a:ln>
        </p:spPr>
      </p:cxnSp>
      <p:sp>
        <p:nvSpPr>
          <p:cNvPr id="2858" name="Google Shape;2858;p50"/>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3"/>
                                        </p:tgtEl>
                                        <p:attrNameLst>
                                          <p:attrName>style.visibility</p:attrName>
                                        </p:attrNameLst>
                                      </p:cBhvr>
                                      <p:to>
                                        <p:strVal val="visible"/>
                                      </p:to>
                                    </p:set>
                                    <p:animEffect filter="fade" transition="in">
                                      <p:cBhvr>
                                        <p:cTn dur="500"/>
                                        <p:tgtEl>
                                          <p:spTgt spid="281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778"/>
                                        </p:tgtEl>
                                        <p:attrNameLst>
                                          <p:attrName>style.visibility</p:attrName>
                                        </p:attrNameLst>
                                      </p:cBhvr>
                                      <p:to>
                                        <p:strVal val="visible"/>
                                      </p:to>
                                    </p:set>
                                    <p:animEffect filter="fade" transition="in">
                                      <p:cBhvr>
                                        <p:cTn dur="500"/>
                                        <p:tgtEl>
                                          <p:spTgt spid="277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785"/>
                                        </p:tgtEl>
                                        <p:attrNameLst>
                                          <p:attrName>style.visibility</p:attrName>
                                        </p:attrNameLst>
                                      </p:cBhvr>
                                      <p:to>
                                        <p:strVal val="visible"/>
                                      </p:to>
                                    </p:set>
                                    <p:animEffect filter="fade" transition="in">
                                      <p:cBhvr>
                                        <p:cTn dur="500"/>
                                        <p:tgtEl>
                                          <p:spTgt spid="278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782"/>
                                        </p:tgtEl>
                                        <p:attrNameLst>
                                          <p:attrName>style.visibility</p:attrName>
                                        </p:attrNameLst>
                                      </p:cBhvr>
                                      <p:to>
                                        <p:strVal val="visible"/>
                                      </p:to>
                                    </p:set>
                                    <p:animEffect filter="fade" transition="in">
                                      <p:cBhvr>
                                        <p:cTn dur="500"/>
                                        <p:tgtEl>
                                          <p:spTgt spid="27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4"/>
                                        </p:tgtEl>
                                        <p:attrNameLst>
                                          <p:attrName>style.visibility</p:attrName>
                                        </p:attrNameLst>
                                      </p:cBhvr>
                                      <p:to>
                                        <p:strVal val="visible"/>
                                      </p:to>
                                    </p:set>
                                    <p:animEffect filter="fade" transition="in">
                                      <p:cBhvr>
                                        <p:cTn dur="500"/>
                                        <p:tgtEl>
                                          <p:spTgt spid="2784"/>
                                        </p:tgtEl>
                                      </p:cBhvr>
                                    </p:animEffect>
                                  </p:childTnLst>
                                </p:cTn>
                              </p:par>
                              <p:par>
                                <p:cTn fill="hold" nodeType="withEffect" presetClass="entr" presetID="10" presetSubtype="0">
                                  <p:stCondLst>
                                    <p:cond delay="0"/>
                                  </p:stCondLst>
                                  <p:childTnLst>
                                    <p:set>
                                      <p:cBhvr>
                                        <p:cTn dur="1" fill="hold">
                                          <p:stCondLst>
                                            <p:cond delay="0"/>
                                          </p:stCondLst>
                                        </p:cTn>
                                        <p:tgtEl>
                                          <p:spTgt spid="2792"/>
                                        </p:tgtEl>
                                        <p:attrNameLst>
                                          <p:attrName>style.visibility</p:attrName>
                                        </p:attrNameLst>
                                      </p:cBhvr>
                                      <p:to>
                                        <p:strVal val="visible"/>
                                      </p:to>
                                    </p:set>
                                    <p:animEffect filter="fade" transition="in">
                                      <p:cBhvr>
                                        <p:cTn dur="500"/>
                                        <p:tgtEl>
                                          <p:spTgt spid="2792"/>
                                        </p:tgtEl>
                                      </p:cBhvr>
                                    </p:animEffect>
                                  </p:childTnLst>
                                </p:cTn>
                              </p:par>
                              <p:par>
                                <p:cTn fill="hold" nodeType="withEffect" presetClass="entr" presetID="10" presetSubtype="0">
                                  <p:stCondLst>
                                    <p:cond delay="0"/>
                                  </p:stCondLst>
                                  <p:childTnLst>
                                    <p:set>
                                      <p:cBhvr>
                                        <p:cTn dur="1" fill="hold">
                                          <p:stCondLst>
                                            <p:cond delay="0"/>
                                          </p:stCondLst>
                                        </p:cTn>
                                        <p:tgtEl>
                                          <p:spTgt spid="2795"/>
                                        </p:tgtEl>
                                        <p:attrNameLst>
                                          <p:attrName>style.visibility</p:attrName>
                                        </p:attrNameLst>
                                      </p:cBhvr>
                                      <p:to>
                                        <p:strVal val="visible"/>
                                      </p:to>
                                    </p:set>
                                    <p:animEffect filter="fade" transition="in">
                                      <p:cBhvr>
                                        <p:cTn dur="500"/>
                                        <p:tgtEl>
                                          <p:spTgt spid="27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6"/>
                                        </p:tgtEl>
                                        <p:attrNameLst>
                                          <p:attrName>style.visibility</p:attrName>
                                        </p:attrNameLst>
                                      </p:cBhvr>
                                      <p:to>
                                        <p:strVal val="visible"/>
                                      </p:to>
                                    </p:set>
                                    <p:animEffect filter="fade" transition="in">
                                      <p:cBhvr>
                                        <p:cTn dur="500"/>
                                        <p:tgtEl>
                                          <p:spTgt spid="282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793"/>
                                        </p:tgtEl>
                                        <p:attrNameLst>
                                          <p:attrName>style.visibility</p:attrName>
                                        </p:attrNameLst>
                                      </p:cBhvr>
                                      <p:to>
                                        <p:strVal val="visible"/>
                                      </p:to>
                                    </p:set>
                                    <p:animEffect filter="fade" transition="in">
                                      <p:cBhvr>
                                        <p:cTn dur="500"/>
                                        <p:tgtEl>
                                          <p:spTgt spid="279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808"/>
                                        </p:tgtEl>
                                        <p:attrNameLst>
                                          <p:attrName>style.visibility</p:attrName>
                                        </p:attrNameLst>
                                      </p:cBhvr>
                                      <p:to>
                                        <p:strVal val="visible"/>
                                      </p:to>
                                    </p:set>
                                    <p:animEffect filter="fade" transition="in">
                                      <p:cBhvr>
                                        <p:cTn dur="500"/>
                                        <p:tgtEl>
                                          <p:spTgt spid="28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2"/>
                                        </p:tgtEl>
                                        <p:attrNameLst>
                                          <p:attrName>style.visibility</p:attrName>
                                        </p:attrNameLst>
                                      </p:cBhvr>
                                      <p:to>
                                        <p:strVal val="visible"/>
                                      </p:to>
                                    </p:set>
                                    <p:animEffect filter="fade" transition="in">
                                      <p:cBhvr>
                                        <p:cTn dur="500"/>
                                        <p:tgtEl>
                                          <p:spTgt spid="285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794"/>
                                        </p:tgtEl>
                                        <p:attrNameLst>
                                          <p:attrName>style.visibility</p:attrName>
                                        </p:attrNameLst>
                                      </p:cBhvr>
                                      <p:to>
                                        <p:strVal val="visible"/>
                                      </p:to>
                                    </p:set>
                                    <p:animEffect filter="fade" transition="in">
                                      <p:cBhvr>
                                        <p:cTn dur="500"/>
                                        <p:tgtEl>
                                          <p:spTgt spid="279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809"/>
                                        </p:tgtEl>
                                        <p:attrNameLst>
                                          <p:attrName>style.visibility</p:attrName>
                                        </p:attrNameLst>
                                      </p:cBhvr>
                                      <p:to>
                                        <p:strVal val="visible"/>
                                      </p:to>
                                    </p:set>
                                    <p:animEffect filter="fade" transition="in">
                                      <p:cBhvr>
                                        <p:cTn dur="500"/>
                                        <p:tgtEl>
                                          <p:spTgt spid="28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1"/>
                                        </p:tgtEl>
                                        <p:attrNameLst>
                                          <p:attrName>style.visibility</p:attrName>
                                        </p:attrNameLst>
                                      </p:cBhvr>
                                      <p:to>
                                        <p:strVal val="visible"/>
                                      </p:to>
                                    </p:set>
                                    <p:animEffect filter="fade" transition="in">
                                      <p:cBhvr>
                                        <p:cTn dur="500"/>
                                        <p:tgtEl>
                                          <p:spTgt spid="28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4"/>
                                        </p:tgtEl>
                                        <p:attrNameLst>
                                          <p:attrName>style.visibility</p:attrName>
                                        </p:attrNameLst>
                                      </p:cBhvr>
                                      <p:to>
                                        <p:strVal val="visible"/>
                                      </p:to>
                                    </p:set>
                                    <p:animEffect filter="fade" transition="in">
                                      <p:cBhvr>
                                        <p:cTn dur="500"/>
                                        <p:tgtEl>
                                          <p:spTgt spid="28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6"/>
                                        </p:tgtEl>
                                        <p:attrNameLst>
                                          <p:attrName>style.visibility</p:attrName>
                                        </p:attrNameLst>
                                      </p:cBhvr>
                                      <p:to>
                                        <p:strVal val="visible"/>
                                      </p:to>
                                    </p:set>
                                    <p:animEffect filter="fade" transition="in">
                                      <p:cBhvr>
                                        <p:cTn dur="500"/>
                                        <p:tgtEl>
                                          <p:spTgt spid="27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1"/>
                                        </p:tgtEl>
                                        <p:attrNameLst>
                                          <p:attrName>style.visibility</p:attrName>
                                        </p:attrNameLst>
                                      </p:cBhvr>
                                      <p:to>
                                        <p:strVal val="visible"/>
                                      </p:to>
                                    </p:set>
                                    <p:animEffect filter="fade" transition="in">
                                      <p:cBhvr>
                                        <p:cTn dur="500"/>
                                        <p:tgtEl>
                                          <p:spTgt spid="283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783"/>
                                        </p:tgtEl>
                                        <p:attrNameLst>
                                          <p:attrName>style.visibility</p:attrName>
                                        </p:attrNameLst>
                                      </p:cBhvr>
                                      <p:to>
                                        <p:strVal val="visible"/>
                                      </p:to>
                                    </p:set>
                                    <p:animEffect filter="fade" transition="in">
                                      <p:cBhvr>
                                        <p:cTn dur="500"/>
                                        <p:tgtEl>
                                          <p:spTgt spid="278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803"/>
                                        </p:tgtEl>
                                        <p:attrNameLst>
                                          <p:attrName>style.visibility</p:attrName>
                                        </p:attrNameLst>
                                      </p:cBhvr>
                                      <p:to>
                                        <p:strVal val="visible"/>
                                      </p:to>
                                    </p:set>
                                    <p:animEffect filter="fade" transition="in">
                                      <p:cBhvr>
                                        <p:cTn dur="500"/>
                                        <p:tgtEl>
                                          <p:spTgt spid="280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810"/>
                                        </p:tgtEl>
                                        <p:attrNameLst>
                                          <p:attrName>style.visibility</p:attrName>
                                        </p:attrNameLst>
                                      </p:cBhvr>
                                      <p:to>
                                        <p:strVal val="visible"/>
                                      </p:to>
                                    </p:set>
                                    <p:animEffect filter="fade" transition="in">
                                      <p:cBhvr>
                                        <p:cTn dur="500"/>
                                        <p:tgtEl>
                                          <p:spTgt spid="281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847"/>
                                        </p:tgtEl>
                                        <p:attrNameLst>
                                          <p:attrName>style.visibility</p:attrName>
                                        </p:attrNameLst>
                                      </p:cBhvr>
                                      <p:to>
                                        <p:strVal val="visible"/>
                                      </p:to>
                                    </p:set>
                                    <p:animEffect filter="fade" transition="in">
                                      <p:cBhvr>
                                        <p:cTn dur="500"/>
                                        <p:tgtEl>
                                          <p:spTgt spid="28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3" name="Shape 2863"/>
        <p:cNvGrpSpPr/>
        <p:nvPr/>
      </p:nvGrpSpPr>
      <p:grpSpPr>
        <a:xfrm>
          <a:off x="0" y="0"/>
          <a:ext cx="0" cy="0"/>
          <a:chOff x="0" y="0"/>
          <a:chExt cx="0" cy="0"/>
        </a:xfrm>
      </p:grpSpPr>
      <p:sp>
        <p:nvSpPr>
          <p:cNvPr id="2864" name="Google Shape;2864;p51"/>
          <p:cNvSpPr txBox="1"/>
          <p:nvPr>
            <p:ph type="title"/>
          </p:nvPr>
        </p:nvSpPr>
        <p:spPr>
          <a:xfrm>
            <a:off x="798690" y="289325"/>
            <a:ext cx="11100600" cy="89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the approach</a:t>
            </a:r>
            <a:endParaRPr sz="4400"/>
          </a:p>
        </p:txBody>
      </p:sp>
      <p:sp>
        <p:nvSpPr>
          <p:cNvPr id="2865" name="Google Shape;2865;p51"/>
          <p:cNvSpPr txBox="1"/>
          <p:nvPr/>
        </p:nvSpPr>
        <p:spPr>
          <a:xfrm>
            <a:off x="545687" y="1489418"/>
            <a:ext cx="11353500"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Char char="▪"/>
            </a:pPr>
            <a:r>
              <a:rPr b="0" i="1" lang="en-US" sz="3200" u="none" cap="none" strike="noStrike">
                <a:solidFill>
                  <a:srgbClr val="CC0000"/>
                </a:solidFill>
                <a:latin typeface="Calibri"/>
                <a:ea typeface="Calibri"/>
                <a:cs typeface="Calibri"/>
                <a:sym typeface="Calibri"/>
              </a:rPr>
              <a:t>pipelining</a:t>
            </a:r>
            <a:r>
              <a:rPr b="0" i="0" lang="en-US" sz="3200" u="none" cap="none" strike="noStrike">
                <a:solidFill>
                  <a:srgbClr val="000000"/>
                </a:solidFill>
                <a:latin typeface="Calibri"/>
                <a:ea typeface="Calibri"/>
                <a:cs typeface="Calibri"/>
                <a:sym typeface="Calibri"/>
              </a:rPr>
              <a:t>:</a:t>
            </a:r>
            <a:r>
              <a:rPr b="0" i="0"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 </a:t>
            </a:r>
            <a:r>
              <a:rPr b="0" i="1" lang="en-US" sz="3200" u="none" cap="none" strike="noStrike">
                <a:solidFill>
                  <a:srgbClr val="000000"/>
                </a:solidFill>
                <a:latin typeface="Calibri"/>
                <a:ea typeface="Calibri"/>
                <a:cs typeface="Calibri"/>
                <a:sym typeface="Calibri"/>
              </a:rPr>
              <a:t>multiple</a:t>
            </a:r>
            <a:r>
              <a:rPr b="0" i="0" lang="en-US" sz="3200" u="none" cap="none" strike="noStrike">
                <a:solidFill>
                  <a:srgbClr val="000000"/>
                </a:solidFill>
                <a:latin typeface="Calibri"/>
                <a:ea typeface="Calibri"/>
                <a:cs typeface="Calibri"/>
                <a:sym typeface="Calibri"/>
              </a:rPr>
              <a:t> packets</a:t>
            </a:r>
            <a:r>
              <a:rPr b="0" i="0" lang="en-US" sz="3200" u="none" cap="none" strike="noStrike">
                <a:solidFill>
                  <a:srgbClr val="000000"/>
                </a:solidFill>
                <a:latin typeface="Calibri"/>
                <a:ea typeface="Calibri"/>
                <a:cs typeface="Calibri"/>
                <a:sym typeface="Calibri"/>
              </a:rPr>
              <a:t> in flight</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1" lang="en-US" sz="3200" u="none" cap="none" strike="noStrike">
                <a:solidFill>
                  <a:srgbClr val="CC0000"/>
                </a:solidFill>
                <a:latin typeface="Calibri"/>
                <a:ea typeface="Calibri"/>
                <a:cs typeface="Calibri"/>
                <a:sym typeface="Calibri"/>
              </a:rPr>
              <a:t>receiver individually ACKs </a:t>
            </a:r>
            <a:r>
              <a:rPr b="0" i="0" lang="en-US" sz="3200" u="none" cap="none" strike="noStrike">
                <a:solidFill>
                  <a:srgbClr val="000000"/>
                </a:solidFill>
                <a:latin typeface="Calibri"/>
                <a:ea typeface="Calibri"/>
                <a:cs typeface="Calibri"/>
                <a:sym typeface="Calibri"/>
              </a:rPr>
              <a:t>all correctly received packets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buffers packets, as needed, for in-order delivery to upper layer</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sender:</a:t>
            </a:r>
            <a:endParaRPr/>
          </a:p>
          <a:p>
            <a:pPr indent="-227012" lvl="1" marL="747712"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maintains (conceptually) a timer for each unACKed pkt</a:t>
            </a:r>
            <a:endParaRPr/>
          </a:p>
          <a:p>
            <a:pPr indent="-227012" lvl="2" marL="1195387"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timeout: retransmits single unACKed packet  associated with timeout</a:t>
            </a:r>
            <a:endParaRPr/>
          </a:p>
          <a:p>
            <a:pPr indent="-223837" lvl="1" marL="746125"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maintains (conceptually) “window” over  </a:t>
            </a:r>
            <a:r>
              <a:rPr b="0" i="1" lang="en-US" sz="2800" u="none" cap="none" strike="noStrike">
                <a:solidFill>
                  <a:srgbClr val="CC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consecutive seq #s</a:t>
            </a:r>
            <a:endParaRPr/>
          </a:p>
          <a:p>
            <a:pPr indent="-231775" lvl="2" marL="1143000"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limits pipelined, “in flight” packets to be within this window</a:t>
            </a:r>
            <a:endParaRPr/>
          </a:p>
        </p:txBody>
      </p:sp>
      <p:sp>
        <p:nvSpPr>
          <p:cNvPr id="2866" name="Google Shape;2866;p51"/>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Transport Layer: 3-</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5">
                                            <p:txEl>
                                              <p:pRg end="0" st="0"/>
                                            </p:txEl>
                                          </p:spTgt>
                                        </p:tgtEl>
                                        <p:attrNameLst>
                                          <p:attrName>style.visibility</p:attrName>
                                        </p:attrNameLst>
                                      </p:cBhvr>
                                      <p:to>
                                        <p:strVal val="visible"/>
                                      </p:to>
                                    </p:set>
                                    <p:animEffect filter="fade" transition="in">
                                      <p:cBhvr>
                                        <p:cTn dur="500"/>
                                        <p:tgtEl>
                                          <p:spTgt spid="28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5">
                                            <p:txEl>
                                              <p:pRg end="1" st="1"/>
                                            </p:txEl>
                                          </p:spTgt>
                                        </p:tgtEl>
                                        <p:attrNameLst>
                                          <p:attrName>style.visibility</p:attrName>
                                        </p:attrNameLst>
                                      </p:cBhvr>
                                      <p:to>
                                        <p:strVal val="visible"/>
                                      </p:to>
                                    </p:set>
                                    <p:animEffect filter="fade" transition="in">
                                      <p:cBhvr>
                                        <p:cTn dur="500"/>
                                        <p:tgtEl>
                                          <p:spTgt spid="28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5">
                                            <p:txEl>
                                              <p:pRg end="2" st="2"/>
                                            </p:txEl>
                                          </p:spTgt>
                                        </p:tgtEl>
                                        <p:attrNameLst>
                                          <p:attrName>style.visibility</p:attrName>
                                        </p:attrNameLst>
                                      </p:cBhvr>
                                      <p:to>
                                        <p:strVal val="visible"/>
                                      </p:to>
                                    </p:set>
                                    <p:animEffect filter="fade" transition="in">
                                      <p:cBhvr>
                                        <p:cTn dur="500"/>
                                        <p:tgtEl>
                                          <p:spTgt spid="28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5">
                                            <p:txEl>
                                              <p:pRg end="3" st="3"/>
                                            </p:txEl>
                                          </p:spTgt>
                                        </p:tgtEl>
                                        <p:attrNameLst>
                                          <p:attrName>style.visibility</p:attrName>
                                        </p:attrNameLst>
                                      </p:cBhvr>
                                      <p:to>
                                        <p:strVal val="visible"/>
                                      </p:to>
                                    </p:set>
                                    <p:animEffect filter="fade" transition="in">
                                      <p:cBhvr>
                                        <p:cTn dur="500"/>
                                        <p:tgtEl>
                                          <p:spTgt spid="28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5">
                                            <p:txEl>
                                              <p:pRg end="4" st="4"/>
                                            </p:txEl>
                                          </p:spTgt>
                                        </p:tgtEl>
                                        <p:attrNameLst>
                                          <p:attrName>style.visibility</p:attrName>
                                        </p:attrNameLst>
                                      </p:cBhvr>
                                      <p:to>
                                        <p:strVal val="visible"/>
                                      </p:to>
                                    </p:set>
                                    <p:animEffect filter="fade" transition="in">
                                      <p:cBhvr>
                                        <p:cTn dur="500"/>
                                        <p:tgtEl>
                                          <p:spTgt spid="28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5">
                                            <p:txEl>
                                              <p:pRg end="5" st="5"/>
                                            </p:txEl>
                                          </p:spTgt>
                                        </p:tgtEl>
                                        <p:attrNameLst>
                                          <p:attrName>style.visibility</p:attrName>
                                        </p:attrNameLst>
                                      </p:cBhvr>
                                      <p:to>
                                        <p:strVal val="visible"/>
                                      </p:to>
                                    </p:set>
                                    <p:animEffect filter="fade" transition="in">
                                      <p:cBhvr>
                                        <p:cTn dur="500"/>
                                        <p:tgtEl>
                                          <p:spTgt spid="28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5">
                                            <p:txEl>
                                              <p:pRg end="6" st="6"/>
                                            </p:txEl>
                                          </p:spTgt>
                                        </p:tgtEl>
                                        <p:attrNameLst>
                                          <p:attrName>style.visibility</p:attrName>
                                        </p:attrNameLst>
                                      </p:cBhvr>
                                      <p:to>
                                        <p:strVal val="visible"/>
                                      </p:to>
                                    </p:set>
                                    <p:animEffect filter="fade" transition="in">
                                      <p:cBhvr>
                                        <p:cTn dur="500"/>
                                        <p:tgtEl>
                                          <p:spTgt spid="286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5">
                                            <p:txEl>
                                              <p:pRg end="7" st="7"/>
                                            </p:txEl>
                                          </p:spTgt>
                                        </p:tgtEl>
                                        <p:attrNameLst>
                                          <p:attrName>style.visibility</p:attrName>
                                        </p:attrNameLst>
                                      </p:cBhvr>
                                      <p:to>
                                        <p:strVal val="visible"/>
                                      </p:to>
                                    </p:set>
                                    <p:animEffect filter="fade" transition="in">
                                      <p:cBhvr>
                                        <p:cTn dur="500"/>
                                        <p:tgtEl>
                                          <p:spTgt spid="2865">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1" name="Shape 2871"/>
        <p:cNvGrpSpPr/>
        <p:nvPr/>
      </p:nvGrpSpPr>
      <p:grpSpPr>
        <a:xfrm>
          <a:off x="0" y="0"/>
          <a:ext cx="0" cy="0"/>
          <a:chOff x="0" y="0"/>
          <a:chExt cx="0" cy="0"/>
        </a:xfrm>
      </p:grpSpPr>
      <p:sp>
        <p:nvSpPr>
          <p:cNvPr id="2872" name="Google Shape;2872;p52"/>
          <p:cNvSpPr txBox="1"/>
          <p:nvPr>
            <p:ph type="title"/>
          </p:nvPr>
        </p:nvSpPr>
        <p:spPr>
          <a:xfrm>
            <a:off x="798690" y="289325"/>
            <a:ext cx="11100600" cy="89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sender, receiver windows</a:t>
            </a:r>
            <a:endParaRPr sz="4400"/>
          </a:p>
        </p:txBody>
      </p:sp>
      <p:pic>
        <p:nvPicPr>
          <p:cNvPr descr="sr_seqnum" id="2873" name="Google Shape;2873;p52"/>
          <p:cNvPicPr preferRelativeResize="0"/>
          <p:nvPr/>
        </p:nvPicPr>
        <p:blipFill rotWithShape="1">
          <a:blip r:embed="rId3">
            <a:alphaModFix/>
          </a:blip>
          <a:srcRect b="0" l="0" r="0" t="0"/>
          <a:stretch/>
        </p:blipFill>
        <p:spPr>
          <a:xfrm>
            <a:off x="1978025" y="1526602"/>
            <a:ext cx="8235951" cy="4916486"/>
          </a:xfrm>
          <a:prstGeom prst="rect">
            <a:avLst/>
          </a:prstGeom>
          <a:noFill/>
          <a:ln>
            <a:noFill/>
          </a:ln>
        </p:spPr>
      </p:pic>
      <p:sp>
        <p:nvSpPr>
          <p:cNvPr id="2874" name="Google Shape;2874;p52"/>
          <p:cNvSpPr/>
          <p:nvPr/>
        </p:nvSpPr>
        <p:spPr>
          <a:xfrm>
            <a:off x="2150592" y="4671612"/>
            <a:ext cx="73200" cy="5121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75" name="Google Shape;2875;p52"/>
          <p:cNvSpPr/>
          <p:nvPr/>
        </p:nvSpPr>
        <p:spPr>
          <a:xfrm>
            <a:off x="2299806" y="4667895"/>
            <a:ext cx="73200" cy="5121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76" name="Google Shape;2876;p52"/>
          <p:cNvSpPr/>
          <p:nvPr/>
        </p:nvSpPr>
        <p:spPr>
          <a:xfrm>
            <a:off x="2452206" y="4667364"/>
            <a:ext cx="73200" cy="5121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77" name="Google Shape;2877;p52"/>
          <p:cNvSpPr/>
          <p:nvPr/>
        </p:nvSpPr>
        <p:spPr>
          <a:xfrm>
            <a:off x="2604606" y="4666833"/>
            <a:ext cx="73200" cy="5121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78" name="Google Shape;2878;p52"/>
          <p:cNvSpPr/>
          <p:nvPr/>
        </p:nvSpPr>
        <p:spPr>
          <a:xfrm>
            <a:off x="2760192" y="4663116"/>
            <a:ext cx="73200" cy="5121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79" name="Google Shape;2879;p52"/>
          <p:cNvSpPr/>
          <p:nvPr/>
        </p:nvSpPr>
        <p:spPr>
          <a:xfrm>
            <a:off x="2915778" y="4665771"/>
            <a:ext cx="73200" cy="5121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80" name="Google Shape;2880;p52"/>
          <p:cNvSpPr/>
          <p:nvPr/>
        </p:nvSpPr>
        <p:spPr>
          <a:xfrm>
            <a:off x="3064992" y="4662054"/>
            <a:ext cx="73200" cy="5121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81" name="Google Shape;2881;p52"/>
          <p:cNvSpPr/>
          <p:nvPr/>
        </p:nvSpPr>
        <p:spPr>
          <a:xfrm>
            <a:off x="3220578" y="4661523"/>
            <a:ext cx="73200" cy="5121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82" name="Google Shape;2882;p52"/>
          <p:cNvSpPr/>
          <p:nvPr/>
        </p:nvSpPr>
        <p:spPr>
          <a:xfrm>
            <a:off x="3369792" y="4664178"/>
            <a:ext cx="73200" cy="512100"/>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83" name="Google Shape;2883;p52"/>
          <p:cNvSpPr/>
          <p:nvPr/>
        </p:nvSpPr>
        <p:spPr>
          <a:xfrm>
            <a:off x="914400" y="3897630"/>
            <a:ext cx="10835700" cy="28119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84" name="Google Shape;2884;p52"/>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883"/>
                                        </p:tgtEl>
                                      </p:cBhvr>
                                    </p:animEffect>
                                    <p:set>
                                      <p:cBhvr>
                                        <p:cTn dur="1" fill="hold">
                                          <p:stCondLst>
                                            <p:cond delay="500"/>
                                          </p:stCondLst>
                                        </p:cTn>
                                        <p:tgtEl>
                                          <p:spTgt spid="288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9" name="Shape 2889"/>
        <p:cNvGrpSpPr/>
        <p:nvPr/>
      </p:nvGrpSpPr>
      <p:grpSpPr>
        <a:xfrm>
          <a:off x="0" y="0"/>
          <a:ext cx="0" cy="0"/>
          <a:chOff x="0" y="0"/>
          <a:chExt cx="0" cy="0"/>
        </a:xfrm>
      </p:grpSpPr>
      <p:sp>
        <p:nvSpPr>
          <p:cNvPr id="2890" name="Google Shape;2890;p53"/>
          <p:cNvSpPr txBox="1"/>
          <p:nvPr>
            <p:ph type="title"/>
          </p:nvPr>
        </p:nvSpPr>
        <p:spPr>
          <a:xfrm>
            <a:off x="798690" y="289325"/>
            <a:ext cx="11100600" cy="89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sender and receiver</a:t>
            </a:r>
            <a:endParaRPr sz="4400"/>
          </a:p>
        </p:txBody>
      </p:sp>
      <p:sp>
        <p:nvSpPr>
          <p:cNvPr id="2891" name="Google Shape;2891;p53"/>
          <p:cNvSpPr txBox="1"/>
          <p:nvPr/>
        </p:nvSpPr>
        <p:spPr>
          <a:xfrm>
            <a:off x="946165" y="1698978"/>
            <a:ext cx="4651200"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data from above:</a:t>
            </a:r>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if next available seq # in window, send packet</a:t>
            </a:r>
            <a:endParaRPr/>
          </a:p>
          <a:p>
            <a:pPr indent="-222250" lvl="0" marL="352425" marR="0" rtl="0" algn="l">
              <a:lnSpc>
                <a:spcPct val="90000"/>
              </a:lnSpc>
              <a:spcBef>
                <a:spcPts val="100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timeout(</a:t>
            </a:r>
            <a:r>
              <a:rPr b="0" i="1" lang="en-US" sz="2800" u="none" cap="none" strike="noStrike">
                <a:solidFill>
                  <a:srgbClr val="CC0000"/>
                </a:solidFill>
                <a:latin typeface="Calibri"/>
                <a:ea typeface="Calibri"/>
                <a:cs typeface="Calibri"/>
                <a:sym typeface="Calibri"/>
              </a:rPr>
              <a:t>n</a:t>
            </a:r>
            <a:r>
              <a:rPr b="0" i="0" lang="en-US" sz="2800" u="none" cap="none" strike="noStrike">
                <a:solidFill>
                  <a:srgbClr val="CC0000"/>
                </a:solidFill>
                <a:latin typeface="Calibri"/>
                <a:ea typeface="Calibri"/>
                <a:cs typeface="Calibri"/>
                <a:sym typeface="Calibri"/>
              </a:rPr>
              <a:t>):</a:t>
            </a:r>
            <a:endParaRPr/>
          </a:p>
          <a:p>
            <a:pPr indent="-228600" lvl="0" marL="471487"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resend packet </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 restart timer</a:t>
            </a:r>
            <a:endParaRPr/>
          </a:p>
          <a:p>
            <a:pPr indent="-222250" lvl="0" marL="352425" marR="0" rtl="0" algn="l">
              <a:lnSpc>
                <a:spcPct val="90000"/>
              </a:lnSpc>
              <a:spcBef>
                <a:spcPts val="1000"/>
              </a:spcBef>
              <a:spcAft>
                <a:spcPts val="0"/>
              </a:spcAft>
              <a:buClr>
                <a:srgbClr val="0000A3"/>
              </a:buClr>
              <a:buSzPts val="2400"/>
              <a:buFont typeface="Noto Sans Symbols"/>
              <a:buNone/>
            </a:pPr>
            <a:r>
              <a:rPr b="0" i="0" lang="en-US" sz="2400" u="none" cap="none" strike="noStrike">
                <a:solidFill>
                  <a:srgbClr val="CC0000"/>
                </a:solidFill>
                <a:latin typeface="Calibri"/>
                <a:ea typeface="Calibri"/>
                <a:cs typeface="Calibri"/>
                <a:sym typeface="Calibri"/>
              </a:rPr>
              <a:t>ACK(</a:t>
            </a:r>
            <a:r>
              <a:rPr b="0" i="1" lang="en-US" sz="2400" u="none" cap="none" strike="noStrike">
                <a:solidFill>
                  <a:srgbClr val="CC0000"/>
                </a:solidFill>
                <a:latin typeface="Calibri"/>
                <a:ea typeface="Calibri"/>
                <a:cs typeface="Calibri"/>
                <a:sym typeface="Calibri"/>
              </a:rPr>
              <a:t>n</a:t>
            </a:r>
            <a:r>
              <a:rPr b="0" i="0" lang="en-US" sz="2400" u="none" cap="none" strike="noStrike">
                <a:solidFill>
                  <a:srgbClr val="CC0000"/>
                </a:solidFill>
                <a:latin typeface="Calibri"/>
                <a:ea typeface="Calibri"/>
                <a:cs typeface="Calibri"/>
                <a:sym typeface="Calibri"/>
              </a:rPr>
              <a:t>)</a:t>
            </a:r>
            <a:r>
              <a:rPr b="0" i="0" lang="en-US" sz="2800" u="none" cap="none" strike="noStrike">
                <a:solidFill>
                  <a:srgbClr val="FF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in [</a:t>
            </a:r>
            <a:r>
              <a:rPr b="0" i="0" lang="en-US" sz="2000" u="none" cap="none" strike="noStrike">
                <a:solidFill>
                  <a:srgbClr val="000000"/>
                </a:solidFill>
                <a:latin typeface="Calibri"/>
                <a:ea typeface="Calibri"/>
                <a:cs typeface="Calibri"/>
                <a:sym typeface="Calibri"/>
              </a:rPr>
              <a:t>sendbase,sendbase+N-1</a:t>
            </a:r>
            <a:r>
              <a:rPr b="0" i="0" lang="en-US" sz="2400" u="none" cap="none" strike="noStrike">
                <a:solidFill>
                  <a:srgbClr val="000000"/>
                </a:solidFill>
                <a:latin typeface="Calibri"/>
                <a:ea typeface="Calibri"/>
                <a:cs typeface="Calibri"/>
                <a:sym typeface="Calibri"/>
              </a:rPr>
              <a:t>]</a:t>
            </a:r>
            <a:r>
              <a:rPr b="0" i="0" lang="en-US" sz="20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mark packet </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 as received</a:t>
            </a:r>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if n smallest unACKed packet, advance window base to next unACKed seq #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2892" name="Google Shape;2892;p53"/>
          <p:cNvSpPr/>
          <p:nvPr/>
        </p:nvSpPr>
        <p:spPr>
          <a:xfrm>
            <a:off x="876300" y="1485900"/>
            <a:ext cx="4721100" cy="4610100"/>
          </a:xfrm>
          <a:prstGeom prst="rect">
            <a:avLst/>
          </a:prstGeom>
          <a:noFill/>
          <a:ln cap="flat" cmpd="sng" w="28575">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2893" name="Google Shape;2893;p53"/>
          <p:cNvGrpSpPr/>
          <p:nvPr/>
        </p:nvGrpSpPr>
        <p:grpSpPr>
          <a:xfrm>
            <a:off x="1079500" y="1184280"/>
            <a:ext cx="1588288" cy="615951"/>
            <a:chOff x="1100" y="3896"/>
            <a:chExt cx="900" cy="388"/>
          </a:xfrm>
        </p:grpSpPr>
        <p:sp>
          <p:nvSpPr>
            <p:cNvPr id="2894" name="Google Shape;2894;p53"/>
            <p:cNvSpPr/>
            <p:nvPr/>
          </p:nvSpPr>
          <p:spPr>
            <a:xfrm>
              <a:off x="1146" y="3984"/>
              <a:ext cx="600" cy="3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895" name="Google Shape;2895;p53"/>
            <p:cNvSpPr txBox="1"/>
            <p:nvPr/>
          </p:nvSpPr>
          <p:spPr>
            <a:xfrm>
              <a:off x="1100" y="3896"/>
              <a:ext cx="900" cy="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alibri"/>
                <a:buNone/>
              </a:pPr>
              <a:r>
                <a:rPr b="0" i="0" lang="en-US" sz="3200" u="none" cap="none" strike="noStrike">
                  <a:solidFill>
                    <a:srgbClr val="000099"/>
                  </a:solidFill>
                  <a:latin typeface="Calibri"/>
                  <a:ea typeface="Calibri"/>
                  <a:cs typeface="Calibri"/>
                  <a:sym typeface="Calibri"/>
                </a:rPr>
                <a:t>sender</a:t>
              </a:r>
              <a:endParaRPr b="0" i="0" sz="2800" u="none" cap="none" strike="noStrike">
                <a:solidFill>
                  <a:srgbClr val="000099"/>
                </a:solidFill>
                <a:latin typeface="Calibri"/>
                <a:ea typeface="Calibri"/>
                <a:cs typeface="Calibri"/>
                <a:sym typeface="Calibri"/>
              </a:endParaRPr>
            </a:p>
          </p:txBody>
        </p:sp>
      </p:grpSp>
      <p:grpSp>
        <p:nvGrpSpPr>
          <p:cNvPr id="2896" name="Google Shape;2896;p53"/>
          <p:cNvGrpSpPr/>
          <p:nvPr/>
        </p:nvGrpSpPr>
        <p:grpSpPr>
          <a:xfrm>
            <a:off x="6447754" y="1183951"/>
            <a:ext cx="5269604" cy="5221182"/>
            <a:chOff x="6447754" y="1183951"/>
            <a:chExt cx="5269604" cy="5221182"/>
          </a:xfrm>
        </p:grpSpPr>
        <p:sp>
          <p:nvSpPr>
            <p:cNvPr id="2897" name="Google Shape;2897;p53"/>
            <p:cNvSpPr/>
            <p:nvPr/>
          </p:nvSpPr>
          <p:spPr>
            <a:xfrm>
              <a:off x="6855858" y="1756933"/>
              <a:ext cx="4861500"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packet </a:t>
              </a:r>
              <a:r>
                <a:rPr b="0" i="1" lang="en-US" sz="2800" u="none" cap="none" strike="noStrike">
                  <a:solidFill>
                    <a:srgbClr val="CC0000"/>
                  </a:solidFill>
                  <a:latin typeface="Calibri"/>
                  <a:ea typeface="Calibri"/>
                  <a:cs typeface="Calibri"/>
                  <a:sym typeface="Calibri"/>
                </a:rPr>
                <a:t>n</a:t>
              </a:r>
              <a:r>
                <a:rPr b="0" i="0" lang="en-US" sz="2800" u="none" cap="none" strike="noStrike">
                  <a:solidFill>
                    <a:srgbClr val="CC0000"/>
                  </a:solidFill>
                  <a:latin typeface="Calibri"/>
                  <a:ea typeface="Calibri"/>
                  <a:cs typeface="Calibri"/>
                  <a:sym typeface="Calibri"/>
                </a:rPr>
                <a:t> in </a:t>
              </a:r>
              <a:r>
                <a:rPr b="0" i="0" lang="en-US" sz="1800" u="none" cap="none" strike="noStrike">
                  <a:solidFill>
                    <a:srgbClr val="CC0000"/>
                  </a:solidFill>
                  <a:latin typeface="Calibri"/>
                  <a:ea typeface="Calibri"/>
                  <a:cs typeface="Calibri"/>
                  <a:sym typeface="Calibri"/>
                </a:rPr>
                <a:t>[</a:t>
              </a:r>
              <a:r>
                <a:rPr b="0" i="0" lang="en-US" sz="2400" u="none" cap="none" strike="noStrike">
                  <a:solidFill>
                    <a:srgbClr val="CC0000"/>
                  </a:solidFill>
                  <a:latin typeface="Calibri"/>
                  <a:ea typeface="Calibri"/>
                  <a:cs typeface="Calibri"/>
                  <a:sym typeface="Calibri"/>
                </a:rPr>
                <a:t>rcvbase, rcvbase+N-1]</a:t>
              </a:r>
              <a:endParaRPr b="0" i="0" sz="2800" u="none" cap="none" strike="noStrike">
                <a:solidFill>
                  <a:srgbClr val="CC0000"/>
                </a:solidFill>
                <a:latin typeface="Calibri"/>
                <a:ea typeface="Calibri"/>
                <a:cs typeface="Calibri"/>
                <a:sym typeface="Calibri"/>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send ACK(</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a:t>
              </a:r>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out-of-order: buffer</a:t>
              </a:r>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in-order: deliver (also deliver buffered, in-order packets), advance window to next not-yet-received packet</a:t>
              </a:r>
              <a:endParaRPr/>
            </a:p>
            <a:p>
              <a:pPr indent="-342900" lvl="0" marL="342900" marR="0" rtl="0" algn="l">
                <a:lnSpc>
                  <a:spcPct val="85000"/>
                </a:lnSpc>
                <a:spcBef>
                  <a:spcPts val="56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packet</a:t>
              </a:r>
              <a:r>
                <a:rPr b="0" i="1" lang="en-US" sz="2800" u="none" cap="none" strike="noStrike">
                  <a:solidFill>
                    <a:srgbClr val="CC0000"/>
                  </a:solidFill>
                  <a:latin typeface="Calibri"/>
                  <a:ea typeface="Calibri"/>
                  <a:cs typeface="Calibri"/>
                  <a:sym typeface="Calibri"/>
                </a:rPr>
                <a:t> n </a:t>
              </a:r>
              <a:r>
                <a:rPr b="0" i="0" lang="en-US" sz="2800" u="none" cap="none" strike="noStrike">
                  <a:solidFill>
                    <a:srgbClr val="CC0000"/>
                  </a:solidFill>
                  <a:latin typeface="Calibri"/>
                  <a:ea typeface="Calibri"/>
                  <a:cs typeface="Calibri"/>
                  <a:sym typeface="Calibri"/>
                </a:rPr>
                <a:t>in </a:t>
              </a:r>
              <a:r>
                <a:rPr b="0" i="0" lang="en-US" sz="2400" u="none" cap="none" strike="noStrike">
                  <a:solidFill>
                    <a:srgbClr val="CC0000"/>
                  </a:solidFill>
                  <a:latin typeface="Calibri"/>
                  <a:ea typeface="Calibri"/>
                  <a:cs typeface="Calibri"/>
                  <a:sym typeface="Calibri"/>
                </a:rPr>
                <a:t>[rcvbase-N,rcvbase-1]</a:t>
              </a:r>
              <a:endParaRPr b="0" i="0" sz="3600" u="none" cap="none" strike="noStrike">
                <a:solidFill>
                  <a:srgbClr val="CC0000"/>
                </a:solidFill>
                <a:latin typeface="Calibri"/>
                <a:ea typeface="Calibri"/>
                <a:cs typeface="Calibri"/>
                <a:sym typeface="Calibri"/>
              </a:endParaRPr>
            </a:p>
            <a:p>
              <a:pPr indent="-276225" lvl="0" marL="4064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ACK(</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a:t>
              </a:r>
              <a:endParaRPr/>
            </a:p>
            <a:p>
              <a:pPr indent="-342900" lvl="0" marL="342900" marR="0" rtl="0" algn="l">
                <a:lnSpc>
                  <a:spcPct val="85000"/>
                </a:lnSpc>
                <a:spcBef>
                  <a:spcPts val="56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otherwise:</a:t>
              </a:r>
              <a:r>
                <a:rPr b="0" i="0" lang="en-US" sz="2400" u="none" cap="none" strike="noStrike">
                  <a:solidFill>
                    <a:srgbClr val="FF0000"/>
                  </a:solidFill>
                  <a:latin typeface="Calibri"/>
                  <a:ea typeface="Calibri"/>
                  <a:cs typeface="Calibri"/>
                  <a:sym typeface="Calibri"/>
                </a:rPr>
                <a:t> </a:t>
              </a:r>
              <a:endParaRPr/>
            </a:p>
            <a:p>
              <a:pPr indent="-276225" lvl="0" marL="4064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ignore </a:t>
              </a:r>
              <a:endParaRPr b="0" i="0" sz="2800" u="none" cap="none" strike="noStrike">
                <a:solidFill>
                  <a:srgbClr val="000000"/>
                </a:solidFill>
                <a:latin typeface="Calibri"/>
                <a:ea typeface="Calibri"/>
                <a:cs typeface="Calibri"/>
                <a:sym typeface="Calibri"/>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2898" name="Google Shape;2898;p53"/>
            <p:cNvSpPr/>
            <p:nvPr/>
          </p:nvSpPr>
          <p:spPr>
            <a:xfrm>
              <a:off x="6447754" y="1495097"/>
              <a:ext cx="5129100" cy="4610100"/>
            </a:xfrm>
            <a:prstGeom prst="rect">
              <a:avLst/>
            </a:prstGeom>
            <a:noFill/>
            <a:ln cap="flat" cmpd="sng" w="28575">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899" name="Google Shape;2899;p53"/>
            <p:cNvGrpSpPr/>
            <p:nvPr/>
          </p:nvGrpSpPr>
          <p:grpSpPr>
            <a:xfrm>
              <a:off x="6643024" y="1183951"/>
              <a:ext cx="1905001" cy="644522"/>
              <a:chOff x="3339" y="158"/>
              <a:chExt cx="1200" cy="406"/>
            </a:xfrm>
          </p:grpSpPr>
          <p:sp>
            <p:nvSpPr>
              <p:cNvPr id="2900" name="Google Shape;2900;p53"/>
              <p:cNvSpPr/>
              <p:nvPr/>
            </p:nvSpPr>
            <p:spPr>
              <a:xfrm>
                <a:off x="3360" y="264"/>
                <a:ext cx="900" cy="3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901" name="Google Shape;2901;p53"/>
              <p:cNvSpPr txBox="1"/>
              <p:nvPr/>
            </p:nvSpPr>
            <p:spPr>
              <a:xfrm>
                <a:off x="3339" y="158"/>
                <a:ext cx="12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alibri"/>
                  <a:buNone/>
                </a:pPr>
                <a:r>
                  <a:rPr b="0" i="0" lang="en-US" sz="3200" u="none" cap="none" strike="noStrike">
                    <a:solidFill>
                      <a:srgbClr val="000099"/>
                    </a:solidFill>
                    <a:latin typeface="Calibri"/>
                    <a:ea typeface="Calibri"/>
                    <a:cs typeface="Calibri"/>
                    <a:sym typeface="Calibri"/>
                  </a:rPr>
                  <a:t>receiver</a:t>
                </a:r>
                <a:endParaRPr b="0" i="0" sz="2800" u="none" cap="none" strike="noStrike">
                  <a:solidFill>
                    <a:srgbClr val="000099"/>
                  </a:solidFill>
                  <a:latin typeface="Calibri"/>
                  <a:ea typeface="Calibri"/>
                  <a:cs typeface="Calibri"/>
                  <a:sym typeface="Calibri"/>
                </a:endParaRPr>
              </a:p>
            </p:txBody>
          </p:sp>
        </p:grpSp>
      </p:grpSp>
      <p:sp>
        <p:nvSpPr>
          <p:cNvPr id="2902" name="Google Shape;2902;p53"/>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6"/>
                                        </p:tgtEl>
                                        <p:attrNameLst>
                                          <p:attrName>style.visibility</p:attrName>
                                        </p:attrNameLst>
                                      </p:cBhvr>
                                      <p:to>
                                        <p:strVal val="visible"/>
                                      </p:to>
                                    </p:set>
                                    <p:animEffect filter="fade" transition="in">
                                      <p:cBhvr>
                                        <p:cTn dur="500"/>
                                        <p:tgtEl>
                                          <p:spTgt spid="28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7" name="Shape 2907"/>
        <p:cNvGrpSpPr/>
        <p:nvPr/>
      </p:nvGrpSpPr>
      <p:grpSpPr>
        <a:xfrm>
          <a:off x="0" y="0"/>
          <a:ext cx="0" cy="0"/>
          <a:chOff x="0" y="0"/>
          <a:chExt cx="0" cy="0"/>
        </a:xfrm>
      </p:grpSpPr>
      <p:sp>
        <p:nvSpPr>
          <p:cNvPr id="2908" name="Google Shape;2908;p54"/>
          <p:cNvSpPr txBox="1"/>
          <p:nvPr>
            <p:ph type="title"/>
          </p:nvPr>
        </p:nvSpPr>
        <p:spPr>
          <a:xfrm>
            <a:off x="798690" y="289325"/>
            <a:ext cx="11100600" cy="89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in action</a:t>
            </a:r>
            <a:endParaRPr sz="4400"/>
          </a:p>
        </p:txBody>
      </p:sp>
      <p:sp>
        <p:nvSpPr>
          <p:cNvPr id="2909" name="Google Shape;2909;p54"/>
          <p:cNvSpPr txBox="1"/>
          <p:nvPr/>
        </p:nvSpPr>
        <p:spPr>
          <a:xfrm>
            <a:off x="4770437" y="1531937"/>
            <a:ext cx="1246200" cy="1465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(wait)</a:t>
            </a:r>
            <a:endParaRPr/>
          </a:p>
        </p:txBody>
      </p:sp>
      <p:sp>
        <p:nvSpPr>
          <p:cNvPr id="2910" name="Google Shape;2910;p54"/>
          <p:cNvSpPr txBox="1"/>
          <p:nvPr/>
        </p:nvSpPr>
        <p:spPr>
          <a:xfrm>
            <a:off x="5091098" y="1160450"/>
            <a:ext cx="10716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2911" name="Google Shape;2911;p54"/>
          <p:cNvSpPr txBox="1"/>
          <p:nvPr/>
        </p:nvSpPr>
        <p:spPr>
          <a:xfrm>
            <a:off x="8121650" y="1179512"/>
            <a:ext cx="1071600" cy="39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cxnSp>
        <p:nvCxnSpPr>
          <p:cNvPr id="2912" name="Google Shape;2912;p54"/>
          <p:cNvCxnSpPr/>
          <p:nvPr/>
        </p:nvCxnSpPr>
        <p:spPr>
          <a:xfrm>
            <a:off x="8196262" y="1778000"/>
            <a:ext cx="11100" cy="4538700"/>
          </a:xfrm>
          <a:prstGeom prst="straightConnector1">
            <a:avLst/>
          </a:prstGeom>
          <a:noFill/>
          <a:ln cap="flat" cmpd="sng" w="9525">
            <a:solidFill>
              <a:srgbClr val="000000"/>
            </a:solidFill>
            <a:prstDash val="solid"/>
            <a:round/>
            <a:headEnd len="med" w="med" type="none"/>
            <a:tailEnd len="med" w="med" type="none"/>
          </a:ln>
        </p:spPr>
      </p:cxnSp>
      <p:sp>
        <p:nvSpPr>
          <p:cNvPr id="2913" name="Google Shape;2913;p54"/>
          <p:cNvSpPr txBox="1"/>
          <p:nvPr/>
        </p:nvSpPr>
        <p:spPr>
          <a:xfrm>
            <a:off x="4498213" y="4713287"/>
            <a:ext cx="1523100" cy="56310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90000"/>
              </a:lnSpc>
              <a:spcBef>
                <a:spcPts val="0"/>
              </a:spcBef>
              <a:spcAft>
                <a:spcPts val="0"/>
              </a:spcAft>
              <a:buClr>
                <a:srgbClr val="C00000"/>
              </a:buClr>
              <a:buSzPts val="1600"/>
              <a:buFont typeface="Tahoma"/>
              <a:buNone/>
            </a:pPr>
            <a:r>
              <a:rPr b="0" i="0" lang="en-US" sz="1600" u="none" cap="none" strike="noStrike">
                <a:solidFill>
                  <a:srgbClr val="C00000"/>
                </a:solidFill>
                <a:latin typeface="Tahoma"/>
                <a:ea typeface="Tahoma"/>
                <a:cs typeface="Tahoma"/>
                <a:sym typeface="Tahoma"/>
              </a:rPr>
              <a:t>(but not 3,4,5)</a:t>
            </a:r>
            <a:endParaRPr/>
          </a:p>
        </p:txBody>
      </p:sp>
      <p:cxnSp>
        <p:nvCxnSpPr>
          <p:cNvPr id="2914" name="Google Shape;2914;p54"/>
          <p:cNvCxnSpPr/>
          <p:nvPr/>
        </p:nvCxnSpPr>
        <p:spPr>
          <a:xfrm flipH="1">
            <a:off x="6067462" y="2249487"/>
            <a:ext cx="2014500" cy="1066800"/>
          </a:xfrm>
          <a:prstGeom prst="straightConnector1">
            <a:avLst/>
          </a:prstGeom>
          <a:noFill/>
          <a:ln cap="flat" cmpd="sng" w="28575">
            <a:solidFill>
              <a:srgbClr val="008000"/>
            </a:solidFill>
            <a:prstDash val="solid"/>
            <a:round/>
            <a:headEnd len="med" w="med" type="none"/>
            <a:tailEnd len="med" w="med" type="triangle"/>
          </a:ln>
        </p:spPr>
      </p:cxnSp>
      <p:grpSp>
        <p:nvGrpSpPr>
          <p:cNvPr id="2915" name="Google Shape;2915;p54"/>
          <p:cNvGrpSpPr/>
          <p:nvPr/>
        </p:nvGrpSpPr>
        <p:grpSpPr>
          <a:xfrm>
            <a:off x="6059487" y="1725612"/>
            <a:ext cx="2122525" cy="1292213"/>
            <a:chOff x="6059487" y="1725612"/>
            <a:chExt cx="2122525" cy="1292213"/>
          </a:xfrm>
        </p:grpSpPr>
        <p:cxnSp>
          <p:nvCxnSpPr>
            <p:cNvPr id="2916" name="Google Shape;2916;p54"/>
            <p:cNvCxnSpPr/>
            <p:nvPr/>
          </p:nvCxnSpPr>
          <p:spPr>
            <a:xfrm>
              <a:off x="6061075" y="1725612"/>
              <a:ext cx="2101800" cy="468300"/>
            </a:xfrm>
            <a:prstGeom prst="straightConnector1">
              <a:avLst/>
            </a:prstGeom>
            <a:noFill/>
            <a:ln cap="flat" cmpd="sng" w="28575">
              <a:solidFill>
                <a:srgbClr val="000099"/>
              </a:solidFill>
              <a:prstDash val="solid"/>
              <a:round/>
              <a:headEnd len="med" w="med" type="none"/>
              <a:tailEnd len="med" w="med" type="triangle"/>
            </a:ln>
          </p:spPr>
        </p:cxnSp>
        <p:cxnSp>
          <p:nvCxnSpPr>
            <p:cNvPr id="2917" name="Google Shape;2917;p54"/>
            <p:cNvCxnSpPr/>
            <p:nvPr/>
          </p:nvCxnSpPr>
          <p:spPr>
            <a:xfrm>
              <a:off x="6059487" y="2000250"/>
              <a:ext cx="2100300" cy="468300"/>
            </a:xfrm>
            <a:prstGeom prst="straightConnector1">
              <a:avLst/>
            </a:prstGeom>
            <a:noFill/>
            <a:ln cap="flat" cmpd="sng" w="28575">
              <a:solidFill>
                <a:srgbClr val="000099"/>
              </a:solidFill>
              <a:prstDash val="solid"/>
              <a:round/>
              <a:headEnd len="med" w="med" type="none"/>
              <a:tailEnd len="med" w="med" type="triangle"/>
            </a:ln>
          </p:spPr>
        </p:cxnSp>
        <p:cxnSp>
          <p:nvCxnSpPr>
            <p:cNvPr id="2918" name="Google Shape;2918;p54"/>
            <p:cNvCxnSpPr/>
            <p:nvPr/>
          </p:nvCxnSpPr>
          <p:spPr>
            <a:xfrm>
              <a:off x="6075362" y="2263775"/>
              <a:ext cx="876300" cy="200100"/>
            </a:xfrm>
            <a:prstGeom prst="straightConnector1">
              <a:avLst/>
            </a:prstGeom>
            <a:noFill/>
            <a:ln cap="flat" cmpd="sng" w="28575">
              <a:solidFill>
                <a:srgbClr val="000099"/>
              </a:solidFill>
              <a:prstDash val="solid"/>
              <a:round/>
              <a:headEnd len="med" w="med" type="none"/>
              <a:tailEnd len="med" w="med" type="triangle"/>
            </a:ln>
          </p:spPr>
        </p:cxnSp>
        <p:cxnSp>
          <p:nvCxnSpPr>
            <p:cNvPr id="2919" name="Google Shape;2919;p54"/>
            <p:cNvCxnSpPr/>
            <p:nvPr/>
          </p:nvCxnSpPr>
          <p:spPr>
            <a:xfrm>
              <a:off x="6081712" y="2549525"/>
              <a:ext cx="2100300" cy="468300"/>
            </a:xfrm>
            <a:prstGeom prst="straightConnector1">
              <a:avLst/>
            </a:prstGeom>
            <a:noFill/>
            <a:ln cap="flat" cmpd="sng" w="28575">
              <a:solidFill>
                <a:srgbClr val="000099"/>
              </a:solidFill>
              <a:prstDash val="solid"/>
              <a:round/>
              <a:headEnd len="med" w="med" type="none"/>
              <a:tailEnd len="med" w="med" type="triangle"/>
            </a:ln>
          </p:spPr>
        </p:cxnSp>
        <p:sp>
          <p:nvSpPr>
            <p:cNvPr id="2920" name="Google Shape;2920;p54"/>
            <p:cNvSpPr txBox="1"/>
            <p:nvPr/>
          </p:nvSpPr>
          <p:spPr>
            <a:xfrm>
              <a:off x="6837362" y="2298700"/>
              <a:ext cx="341400" cy="366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2921" name="Google Shape;2921;p54"/>
            <p:cNvSpPr txBox="1"/>
            <p:nvPr/>
          </p:nvSpPr>
          <p:spPr>
            <a:xfrm>
              <a:off x="6996112" y="2319337"/>
              <a:ext cx="522300" cy="336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cxnSp>
        <p:nvCxnSpPr>
          <p:cNvPr id="2922" name="Google Shape;2922;p54"/>
          <p:cNvCxnSpPr/>
          <p:nvPr/>
        </p:nvCxnSpPr>
        <p:spPr>
          <a:xfrm flipH="1">
            <a:off x="6064287" y="2535237"/>
            <a:ext cx="2014500" cy="1100100"/>
          </a:xfrm>
          <a:prstGeom prst="straightConnector1">
            <a:avLst/>
          </a:prstGeom>
          <a:noFill/>
          <a:ln cap="flat" cmpd="sng" w="28575">
            <a:solidFill>
              <a:srgbClr val="008000"/>
            </a:solidFill>
            <a:prstDash val="solid"/>
            <a:round/>
            <a:headEnd len="med" w="med" type="none"/>
            <a:tailEnd len="med" w="med" type="triangle"/>
          </a:ln>
        </p:spPr>
      </p:cxnSp>
      <p:cxnSp>
        <p:nvCxnSpPr>
          <p:cNvPr id="2923" name="Google Shape;2923;p54"/>
          <p:cNvCxnSpPr/>
          <p:nvPr/>
        </p:nvCxnSpPr>
        <p:spPr>
          <a:xfrm>
            <a:off x="6067425" y="3371850"/>
            <a:ext cx="2100300" cy="468300"/>
          </a:xfrm>
          <a:prstGeom prst="straightConnector1">
            <a:avLst/>
          </a:prstGeom>
          <a:noFill/>
          <a:ln cap="flat" cmpd="sng" w="28575">
            <a:solidFill>
              <a:srgbClr val="000099"/>
            </a:solidFill>
            <a:prstDash val="solid"/>
            <a:round/>
            <a:headEnd len="med" w="med" type="none"/>
            <a:tailEnd len="med" w="med" type="triangle"/>
          </a:ln>
        </p:spPr>
      </p:cxnSp>
      <p:cxnSp>
        <p:nvCxnSpPr>
          <p:cNvPr id="2924" name="Google Shape;2924;p54"/>
          <p:cNvCxnSpPr/>
          <p:nvPr/>
        </p:nvCxnSpPr>
        <p:spPr>
          <a:xfrm>
            <a:off x="6099175" y="3690937"/>
            <a:ext cx="2101800" cy="468300"/>
          </a:xfrm>
          <a:prstGeom prst="straightConnector1">
            <a:avLst/>
          </a:prstGeom>
          <a:noFill/>
          <a:ln cap="flat" cmpd="sng" w="28575">
            <a:solidFill>
              <a:srgbClr val="000099"/>
            </a:solidFill>
            <a:prstDash val="solid"/>
            <a:round/>
            <a:headEnd len="med" w="med" type="none"/>
            <a:tailEnd len="med" w="med" type="triangle"/>
          </a:ln>
        </p:spPr>
      </p:cxnSp>
      <p:cxnSp>
        <p:nvCxnSpPr>
          <p:cNvPr id="2925" name="Google Shape;2925;p54"/>
          <p:cNvCxnSpPr/>
          <p:nvPr/>
        </p:nvCxnSpPr>
        <p:spPr>
          <a:xfrm flipH="1">
            <a:off x="6096037" y="3065462"/>
            <a:ext cx="2014500" cy="1100100"/>
          </a:xfrm>
          <a:prstGeom prst="straightConnector1">
            <a:avLst/>
          </a:prstGeom>
          <a:noFill/>
          <a:ln cap="flat" cmpd="sng" w="28575">
            <a:solidFill>
              <a:srgbClr val="008000"/>
            </a:solidFill>
            <a:prstDash val="solid"/>
            <a:round/>
            <a:headEnd len="med" w="med" type="none"/>
            <a:tailEnd len="med" w="med" type="triangle"/>
          </a:ln>
        </p:spPr>
      </p:cxnSp>
      <p:grpSp>
        <p:nvGrpSpPr>
          <p:cNvPr id="2926" name="Google Shape;2926;p54"/>
          <p:cNvGrpSpPr/>
          <p:nvPr/>
        </p:nvGrpSpPr>
        <p:grpSpPr>
          <a:xfrm>
            <a:off x="4081462" y="2254250"/>
            <a:ext cx="1978025" cy="2543225"/>
            <a:chOff x="4081462" y="2254250"/>
            <a:chExt cx="1978025" cy="2543225"/>
          </a:xfrm>
        </p:grpSpPr>
        <p:pic>
          <p:nvPicPr>
            <p:cNvPr descr="alarm_clock_ringing" id="2927" name="Google Shape;2927;p54"/>
            <p:cNvPicPr preferRelativeResize="0"/>
            <p:nvPr/>
          </p:nvPicPr>
          <p:blipFill rotWithShape="1">
            <a:blip r:embed="rId3">
              <a:alphaModFix/>
            </a:blip>
            <a:srcRect b="0" l="0" r="0" t="0"/>
            <a:stretch/>
          </p:blipFill>
          <p:spPr>
            <a:xfrm>
              <a:off x="4081462" y="4283075"/>
              <a:ext cx="436563" cy="481012"/>
            </a:xfrm>
            <a:prstGeom prst="rect">
              <a:avLst/>
            </a:prstGeom>
            <a:noFill/>
            <a:ln>
              <a:noFill/>
            </a:ln>
          </p:spPr>
        </p:pic>
        <p:sp>
          <p:nvSpPr>
            <p:cNvPr id="2928" name="Google Shape;2928;p54"/>
            <p:cNvSpPr txBox="1"/>
            <p:nvPr/>
          </p:nvSpPr>
          <p:spPr>
            <a:xfrm>
              <a:off x="4449762" y="4498975"/>
              <a:ext cx="1538400" cy="298500"/>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pkt 2 timeout</a:t>
              </a:r>
              <a:endParaRPr/>
            </a:p>
          </p:txBody>
        </p:sp>
        <p:grpSp>
          <p:nvGrpSpPr>
            <p:cNvPr id="2929" name="Google Shape;2929;p54"/>
            <p:cNvGrpSpPr/>
            <p:nvPr/>
          </p:nvGrpSpPr>
          <p:grpSpPr>
            <a:xfrm>
              <a:off x="6056841" y="2254250"/>
              <a:ext cx="2646" cy="2462212"/>
              <a:chOff x="3727" y="1878"/>
              <a:chExt cx="2" cy="963"/>
            </a:xfrm>
          </p:grpSpPr>
          <p:cxnSp>
            <p:nvCxnSpPr>
              <p:cNvPr id="2930" name="Google Shape;2930;p54"/>
              <p:cNvCxnSpPr/>
              <p:nvPr/>
            </p:nvCxnSpPr>
            <p:spPr>
              <a:xfrm>
                <a:off x="3729" y="1879"/>
                <a:ext cx="0" cy="900"/>
              </a:xfrm>
              <a:prstGeom prst="straightConnector1">
                <a:avLst/>
              </a:prstGeom>
              <a:noFill/>
              <a:ln cap="flat" cmpd="sng" w="28575">
                <a:solidFill>
                  <a:srgbClr val="000000"/>
                </a:solidFill>
                <a:prstDash val="solid"/>
                <a:round/>
                <a:headEnd len="med" w="med" type="none"/>
                <a:tailEnd len="med" w="med" type="none"/>
              </a:ln>
            </p:spPr>
          </p:cxnSp>
          <p:cxnSp>
            <p:nvCxnSpPr>
              <p:cNvPr id="2931" name="Google Shape;2931;p54"/>
              <p:cNvCxnSpPr/>
              <p:nvPr/>
            </p:nvCxnSpPr>
            <p:spPr>
              <a:xfrm>
                <a:off x="3727" y="1878"/>
                <a:ext cx="0" cy="0"/>
              </a:xfrm>
              <a:prstGeom prst="straightConnector1">
                <a:avLst/>
              </a:prstGeom>
              <a:noFill/>
              <a:ln cap="flat" cmpd="sng" w="28575">
                <a:solidFill>
                  <a:srgbClr val="000000"/>
                </a:solidFill>
                <a:prstDash val="solid"/>
                <a:round/>
                <a:headEnd len="med" w="med" type="none"/>
                <a:tailEnd len="med" w="med" type="none"/>
              </a:ln>
            </p:spPr>
          </p:cxnSp>
          <p:cxnSp>
            <p:nvCxnSpPr>
              <p:cNvPr id="2932" name="Google Shape;2932;p54"/>
              <p:cNvCxnSpPr/>
              <p:nvPr/>
            </p:nvCxnSpPr>
            <p:spPr>
              <a:xfrm>
                <a:off x="3727" y="2841"/>
                <a:ext cx="0" cy="0"/>
              </a:xfrm>
              <a:prstGeom prst="straightConnector1">
                <a:avLst/>
              </a:prstGeom>
              <a:noFill/>
              <a:ln cap="flat" cmpd="sng" w="28575">
                <a:solidFill>
                  <a:srgbClr val="000000"/>
                </a:solidFill>
                <a:prstDash val="solid"/>
                <a:round/>
                <a:headEnd len="med" w="med" type="none"/>
                <a:tailEnd len="med" w="med" type="none"/>
              </a:ln>
            </p:spPr>
          </p:cxnSp>
        </p:grpSp>
      </p:grpSp>
      <p:cxnSp>
        <p:nvCxnSpPr>
          <p:cNvPr id="2933" name="Google Shape;2933;p54"/>
          <p:cNvCxnSpPr/>
          <p:nvPr/>
        </p:nvCxnSpPr>
        <p:spPr>
          <a:xfrm>
            <a:off x="6075362" y="4884737"/>
            <a:ext cx="2100300" cy="468300"/>
          </a:xfrm>
          <a:prstGeom prst="straightConnector1">
            <a:avLst/>
          </a:prstGeom>
          <a:noFill/>
          <a:ln cap="flat" cmpd="sng" w="28575">
            <a:solidFill>
              <a:srgbClr val="000099"/>
            </a:solidFill>
            <a:prstDash val="solid"/>
            <a:round/>
            <a:headEnd len="med" w="med" type="none"/>
            <a:tailEnd len="med" w="med" type="triangle"/>
          </a:ln>
        </p:spPr>
      </p:cxnSp>
      <p:sp>
        <p:nvSpPr>
          <p:cNvPr id="2934" name="Google Shape;2934;p54"/>
          <p:cNvSpPr txBox="1"/>
          <p:nvPr/>
        </p:nvSpPr>
        <p:spPr>
          <a:xfrm>
            <a:off x="2278062" y="1223962"/>
            <a:ext cx="2146200" cy="336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Tahoma"/>
              <a:buNone/>
            </a:pPr>
            <a:r>
              <a:rPr b="0" i="1" lang="en-US" sz="1600" u="sng" cap="none" strike="noStrike">
                <a:solidFill>
                  <a:srgbClr val="000099"/>
                </a:solidFill>
                <a:latin typeface="Tahoma"/>
                <a:ea typeface="Tahoma"/>
                <a:cs typeface="Tahoma"/>
                <a:sym typeface="Tahoma"/>
              </a:rPr>
              <a:t>sender window (N=4)</a:t>
            </a:r>
            <a:endParaRPr/>
          </a:p>
        </p:txBody>
      </p:sp>
      <p:grpSp>
        <p:nvGrpSpPr>
          <p:cNvPr id="2935" name="Google Shape;2935;p54"/>
          <p:cNvGrpSpPr/>
          <p:nvPr/>
        </p:nvGrpSpPr>
        <p:grpSpPr>
          <a:xfrm>
            <a:off x="2317750" y="1686930"/>
            <a:ext cx="1912922" cy="1371100"/>
            <a:chOff x="2317750" y="1521325"/>
            <a:chExt cx="1912922" cy="1371100"/>
          </a:xfrm>
        </p:grpSpPr>
        <p:grpSp>
          <p:nvGrpSpPr>
            <p:cNvPr id="2936" name="Google Shape;2936;p54"/>
            <p:cNvGrpSpPr/>
            <p:nvPr/>
          </p:nvGrpSpPr>
          <p:grpSpPr>
            <a:xfrm>
              <a:off x="2320925" y="1521325"/>
              <a:ext cx="1904999" cy="476250"/>
              <a:chOff x="115" y="883"/>
              <a:chExt cx="1200" cy="300"/>
            </a:xfrm>
          </p:grpSpPr>
          <p:sp>
            <p:nvSpPr>
              <p:cNvPr id="2937" name="Google Shape;2937;p54"/>
              <p:cNvSpPr/>
              <p:nvPr/>
            </p:nvSpPr>
            <p:spPr>
              <a:xfrm>
                <a:off x="152" y="936"/>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38" name="Google Shape;2938;p54"/>
              <p:cNvSpPr txBox="1"/>
              <p:nvPr/>
            </p:nvSpPr>
            <p:spPr>
              <a:xfrm>
                <a:off x="115" y="883"/>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highlight>
                      <a:srgbClr val="0013A3"/>
                    </a:highlight>
                    <a:latin typeface="Arial"/>
                    <a:ea typeface="Arial"/>
                    <a:cs typeface="Arial"/>
                    <a:sym typeface="Arial"/>
                  </a:rPr>
                  <a:t>0 1 2 3</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4 5 6 7 8 </a:t>
                </a:r>
                <a:endParaRPr/>
              </a:p>
            </p:txBody>
          </p:sp>
        </p:grpSp>
        <p:grpSp>
          <p:nvGrpSpPr>
            <p:cNvPr id="2939" name="Google Shape;2939;p54"/>
            <p:cNvGrpSpPr/>
            <p:nvPr/>
          </p:nvGrpSpPr>
          <p:grpSpPr>
            <a:xfrm>
              <a:off x="2317750" y="1855775"/>
              <a:ext cx="1904999" cy="476250"/>
              <a:chOff x="115" y="914"/>
              <a:chExt cx="1200" cy="300"/>
            </a:xfrm>
          </p:grpSpPr>
          <p:sp>
            <p:nvSpPr>
              <p:cNvPr id="2940" name="Google Shape;2940;p54"/>
              <p:cNvSpPr/>
              <p:nvPr/>
            </p:nvSpPr>
            <p:spPr>
              <a:xfrm>
                <a:off x="152" y="936"/>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41" name="Google Shape;2941;p54"/>
              <p:cNvSpPr txBox="1"/>
              <p:nvPr/>
            </p:nvSpPr>
            <p:spPr>
              <a:xfrm>
                <a:off x="115" y="914"/>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highlight>
                      <a:srgbClr val="0013A3"/>
                    </a:highlight>
                    <a:latin typeface="Arial"/>
                    <a:ea typeface="Arial"/>
                    <a:cs typeface="Arial"/>
                    <a:sym typeface="Arial"/>
                  </a:rPr>
                  <a:t>0 1 2 3</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4 5 6 7 8 </a:t>
                </a:r>
                <a:endParaRPr/>
              </a:p>
            </p:txBody>
          </p:sp>
        </p:grpSp>
        <p:grpSp>
          <p:nvGrpSpPr>
            <p:cNvPr id="2942" name="Google Shape;2942;p54"/>
            <p:cNvGrpSpPr/>
            <p:nvPr/>
          </p:nvGrpSpPr>
          <p:grpSpPr>
            <a:xfrm>
              <a:off x="2325671" y="2141525"/>
              <a:ext cx="1905001" cy="476250"/>
              <a:chOff x="115" y="914"/>
              <a:chExt cx="1200" cy="300"/>
            </a:xfrm>
          </p:grpSpPr>
          <p:sp>
            <p:nvSpPr>
              <p:cNvPr id="2943" name="Google Shape;2943;p54"/>
              <p:cNvSpPr/>
              <p:nvPr/>
            </p:nvSpPr>
            <p:spPr>
              <a:xfrm>
                <a:off x="152" y="936"/>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44" name="Google Shape;2944;p54"/>
              <p:cNvSpPr txBox="1"/>
              <p:nvPr/>
            </p:nvSpPr>
            <p:spPr>
              <a:xfrm>
                <a:off x="115" y="914"/>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highlight>
                      <a:srgbClr val="0013A3"/>
                    </a:highlight>
                    <a:latin typeface="Arial"/>
                    <a:ea typeface="Arial"/>
                    <a:cs typeface="Arial"/>
                    <a:sym typeface="Arial"/>
                  </a:rPr>
                  <a:t>0 1 2 3</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4 5 6 7 8 </a:t>
                </a:r>
                <a:endParaRPr/>
              </a:p>
            </p:txBody>
          </p:sp>
        </p:grpSp>
        <p:grpSp>
          <p:nvGrpSpPr>
            <p:cNvPr id="2945" name="Google Shape;2945;p54"/>
            <p:cNvGrpSpPr/>
            <p:nvPr/>
          </p:nvGrpSpPr>
          <p:grpSpPr>
            <a:xfrm>
              <a:off x="2322496" y="2416175"/>
              <a:ext cx="1905001" cy="476250"/>
              <a:chOff x="115" y="914"/>
              <a:chExt cx="1200" cy="300"/>
            </a:xfrm>
          </p:grpSpPr>
          <p:sp>
            <p:nvSpPr>
              <p:cNvPr id="2946" name="Google Shape;2946;p54"/>
              <p:cNvSpPr/>
              <p:nvPr/>
            </p:nvSpPr>
            <p:spPr>
              <a:xfrm>
                <a:off x="152" y="936"/>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47" name="Google Shape;2947;p54"/>
              <p:cNvSpPr txBox="1"/>
              <p:nvPr/>
            </p:nvSpPr>
            <p:spPr>
              <a:xfrm>
                <a:off x="115" y="914"/>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highlight>
                      <a:srgbClr val="0013A3"/>
                    </a:highlight>
                    <a:latin typeface="Arial"/>
                    <a:ea typeface="Arial"/>
                    <a:cs typeface="Arial"/>
                    <a:sym typeface="Arial"/>
                  </a:rPr>
                  <a:t>0 1 2 3</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4 5 6 7 8 </a:t>
                </a:r>
                <a:endParaRPr/>
              </a:p>
            </p:txBody>
          </p:sp>
        </p:grpSp>
      </p:grpSp>
      <p:grpSp>
        <p:nvGrpSpPr>
          <p:cNvPr id="2948" name="Google Shape;2948;p54"/>
          <p:cNvGrpSpPr/>
          <p:nvPr/>
        </p:nvGrpSpPr>
        <p:grpSpPr>
          <a:xfrm>
            <a:off x="2319337" y="3135312"/>
            <a:ext cx="3749718" cy="369300"/>
            <a:chOff x="2319337" y="3135312"/>
            <a:chExt cx="3749718" cy="369300"/>
          </a:xfrm>
        </p:grpSpPr>
        <p:sp>
          <p:nvSpPr>
            <p:cNvPr id="2949" name="Google Shape;2949;p54"/>
            <p:cNvSpPr/>
            <p:nvPr/>
          </p:nvSpPr>
          <p:spPr>
            <a:xfrm>
              <a:off x="2533650" y="3221037"/>
              <a:ext cx="628800" cy="2286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50" name="Google Shape;2950;p54"/>
            <p:cNvGrpSpPr/>
            <p:nvPr/>
          </p:nvGrpSpPr>
          <p:grpSpPr>
            <a:xfrm>
              <a:off x="2319337" y="3135312"/>
              <a:ext cx="3749718" cy="369300"/>
              <a:chOff x="2319337" y="3135312"/>
              <a:chExt cx="3749718" cy="369300"/>
            </a:xfrm>
          </p:grpSpPr>
          <p:sp>
            <p:nvSpPr>
              <p:cNvPr id="2951" name="Google Shape;2951;p54"/>
              <p:cNvSpPr txBox="1"/>
              <p:nvPr/>
            </p:nvSpPr>
            <p:spPr>
              <a:xfrm>
                <a:off x="3894955" y="3135312"/>
                <a:ext cx="2174100" cy="369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 send pkt4</a:t>
                </a:r>
                <a:endParaRPr/>
              </a:p>
            </p:txBody>
          </p:sp>
          <p:sp>
            <p:nvSpPr>
              <p:cNvPr id="2952" name="Google Shape;2952;p54"/>
              <p:cNvSpPr txBox="1"/>
              <p:nvPr/>
            </p:nvSpPr>
            <p:spPr>
              <a:xfrm>
                <a:off x="2319337" y="3186112"/>
                <a:ext cx="151290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a:t>
                </a:r>
                <a:r>
                  <a:rPr b="0" i="0" lang="en-US" sz="1400" u="none" cap="none" strike="noStrike">
                    <a:solidFill>
                      <a:srgbClr val="FFFFFF"/>
                    </a:solidFill>
                    <a:latin typeface="Arial"/>
                    <a:ea typeface="Arial"/>
                    <a:cs typeface="Arial"/>
                    <a:sym typeface="Arial"/>
                  </a:rPr>
                  <a:t>1 2 3 4</a:t>
                </a:r>
                <a:r>
                  <a:rPr b="0" i="0" lang="en-US" sz="1400" u="none" cap="none" strike="noStrike">
                    <a:solidFill>
                      <a:srgbClr val="000000"/>
                    </a:solidFill>
                    <a:latin typeface="Arial"/>
                    <a:ea typeface="Arial"/>
                    <a:cs typeface="Arial"/>
                    <a:sym typeface="Arial"/>
                  </a:rPr>
                  <a:t> 5 6 7 8 </a:t>
                </a:r>
                <a:endParaRPr/>
              </a:p>
            </p:txBody>
          </p:sp>
        </p:grpSp>
      </p:grpSp>
      <p:grpSp>
        <p:nvGrpSpPr>
          <p:cNvPr id="2953" name="Google Shape;2953;p54"/>
          <p:cNvGrpSpPr/>
          <p:nvPr/>
        </p:nvGrpSpPr>
        <p:grpSpPr>
          <a:xfrm>
            <a:off x="7129425" y="3876675"/>
            <a:ext cx="1039850" cy="873262"/>
            <a:chOff x="7129425" y="3876675"/>
            <a:chExt cx="1039850" cy="873262"/>
          </a:xfrm>
        </p:grpSpPr>
        <p:cxnSp>
          <p:nvCxnSpPr>
            <p:cNvPr id="2954" name="Google Shape;2954;p54"/>
            <p:cNvCxnSpPr/>
            <p:nvPr/>
          </p:nvCxnSpPr>
          <p:spPr>
            <a:xfrm flipH="1">
              <a:off x="7129425" y="3876675"/>
              <a:ext cx="1033500" cy="563700"/>
            </a:xfrm>
            <a:prstGeom prst="straightConnector1">
              <a:avLst/>
            </a:prstGeom>
            <a:noFill/>
            <a:ln cap="flat" cmpd="sng" w="28575">
              <a:solidFill>
                <a:srgbClr val="008000"/>
              </a:solidFill>
              <a:prstDash val="solid"/>
              <a:round/>
              <a:headEnd len="med" w="med" type="none"/>
              <a:tailEnd len="med" w="med" type="triangle"/>
            </a:ln>
          </p:spPr>
        </p:cxnSp>
        <p:cxnSp>
          <p:nvCxnSpPr>
            <p:cNvPr id="2955" name="Google Shape;2955;p54"/>
            <p:cNvCxnSpPr/>
            <p:nvPr/>
          </p:nvCxnSpPr>
          <p:spPr>
            <a:xfrm flipH="1">
              <a:off x="7135775" y="4186237"/>
              <a:ext cx="1033500" cy="563700"/>
            </a:xfrm>
            <a:prstGeom prst="straightConnector1">
              <a:avLst/>
            </a:prstGeom>
            <a:noFill/>
            <a:ln cap="flat" cmpd="sng" w="28575">
              <a:solidFill>
                <a:srgbClr val="008000"/>
              </a:solidFill>
              <a:prstDash val="solid"/>
              <a:round/>
              <a:headEnd len="med" w="med" type="none"/>
              <a:tailEnd len="med" w="med" type="triangle"/>
            </a:ln>
          </p:spPr>
        </p:cxnSp>
      </p:grpSp>
      <p:cxnSp>
        <p:nvCxnSpPr>
          <p:cNvPr id="2956" name="Google Shape;2956;p54"/>
          <p:cNvCxnSpPr/>
          <p:nvPr/>
        </p:nvCxnSpPr>
        <p:spPr>
          <a:xfrm flipH="1">
            <a:off x="7156412" y="5376862"/>
            <a:ext cx="1033500" cy="563700"/>
          </a:xfrm>
          <a:prstGeom prst="straightConnector1">
            <a:avLst/>
          </a:prstGeom>
          <a:noFill/>
          <a:ln cap="flat" cmpd="sng" w="28575">
            <a:solidFill>
              <a:srgbClr val="008000"/>
            </a:solidFill>
            <a:prstDash val="solid"/>
            <a:round/>
            <a:headEnd len="med" w="med" type="none"/>
            <a:tailEnd len="med" w="med" type="triangle"/>
          </a:ln>
        </p:spPr>
      </p:cxnSp>
      <p:grpSp>
        <p:nvGrpSpPr>
          <p:cNvPr id="2957" name="Google Shape;2957;p54"/>
          <p:cNvGrpSpPr/>
          <p:nvPr/>
        </p:nvGrpSpPr>
        <p:grpSpPr>
          <a:xfrm>
            <a:off x="2121284" y="3452813"/>
            <a:ext cx="3947816" cy="484187"/>
            <a:chOff x="2121284" y="3452813"/>
            <a:chExt cx="3947816" cy="484187"/>
          </a:xfrm>
        </p:grpSpPr>
        <p:grpSp>
          <p:nvGrpSpPr>
            <p:cNvPr id="2958" name="Google Shape;2958;p54"/>
            <p:cNvGrpSpPr/>
            <p:nvPr/>
          </p:nvGrpSpPr>
          <p:grpSpPr>
            <a:xfrm>
              <a:off x="2121284" y="3460750"/>
              <a:ext cx="1905001" cy="476250"/>
              <a:chOff x="-11" y="2105"/>
              <a:chExt cx="1200" cy="300"/>
            </a:xfrm>
          </p:grpSpPr>
          <p:sp>
            <p:nvSpPr>
              <p:cNvPr id="2959" name="Google Shape;2959;p54"/>
              <p:cNvSpPr/>
              <p:nvPr/>
            </p:nvSpPr>
            <p:spPr>
              <a:xfrm>
                <a:off x="338" y="2127"/>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0" name="Google Shape;2960;p54"/>
              <p:cNvSpPr txBox="1"/>
              <p:nvPr/>
            </p:nvSpPr>
            <p:spPr>
              <a:xfrm>
                <a:off x="-11" y="2105"/>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a:t>
                </a:r>
                <a:r>
                  <a:rPr b="0" i="0" lang="en-US" sz="1400" u="none" cap="none" strike="noStrike">
                    <a:solidFill>
                      <a:srgbClr val="FFFFFF"/>
                    </a:solidFill>
                    <a:highlight>
                      <a:srgbClr val="0013A3"/>
                    </a:highlight>
                    <a:latin typeface="Arial"/>
                    <a:ea typeface="Arial"/>
                    <a:cs typeface="Arial"/>
                    <a:sym typeface="Arial"/>
                  </a:rPr>
                  <a:t>2 3 4 5</a:t>
                </a:r>
                <a:r>
                  <a:rPr b="0" i="0" lang="en-US" sz="1400" u="none" cap="none" strike="noStrike">
                    <a:solidFill>
                      <a:srgbClr val="000000"/>
                    </a:solidFill>
                    <a:latin typeface="Arial"/>
                    <a:ea typeface="Arial"/>
                    <a:cs typeface="Arial"/>
                    <a:sym typeface="Arial"/>
                  </a:rPr>
                  <a:t> 6 7 8 </a:t>
                </a:r>
                <a:endParaRPr/>
              </a:p>
            </p:txBody>
          </p:sp>
        </p:grpSp>
        <p:sp>
          <p:nvSpPr>
            <p:cNvPr id="2961" name="Google Shape;2961;p54"/>
            <p:cNvSpPr txBox="1"/>
            <p:nvPr/>
          </p:nvSpPr>
          <p:spPr>
            <a:xfrm>
              <a:off x="3860800" y="3452813"/>
              <a:ext cx="2208300" cy="369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 send pkt5</a:t>
              </a:r>
              <a:endParaRPr/>
            </a:p>
          </p:txBody>
        </p:sp>
      </p:grpSp>
      <p:cxnSp>
        <p:nvCxnSpPr>
          <p:cNvPr id="2962" name="Google Shape;2962;p54"/>
          <p:cNvCxnSpPr/>
          <p:nvPr/>
        </p:nvCxnSpPr>
        <p:spPr>
          <a:xfrm>
            <a:off x="6037263" y="1612900"/>
            <a:ext cx="7800" cy="4292700"/>
          </a:xfrm>
          <a:prstGeom prst="straightConnector1">
            <a:avLst/>
          </a:prstGeom>
          <a:noFill/>
          <a:ln cap="flat" cmpd="sng" w="9525">
            <a:solidFill>
              <a:srgbClr val="000000"/>
            </a:solidFill>
            <a:prstDash val="solid"/>
            <a:round/>
            <a:headEnd len="med" w="med" type="none"/>
            <a:tailEnd len="med" w="med" type="none"/>
          </a:ln>
        </p:spPr>
      </p:cxnSp>
      <p:sp>
        <p:nvSpPr>
          <p:cNvPr id="2963" name="Google Shape;2963;p54"/>
          <p:cNvSpPr txBox="1"/>
          <p:nvPr/>
        </p:nvSpPr>
        <p:spPr>
          <a:xfrm>
            <a:off x="8122331" y="2003425"/>
            <a:ext cx="2568600" cy="1465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pkt0, send ack0</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pkt1, send ack1</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pkt3, </a:t>
            </a:r>
            <a:r>
              <a:rPr b="0" i="0" lang="en-US" sz="1800" u="none" cap="none" strike="noStrike">
                <a:solidFill>
                  <a:srgbClr val="C00000"/>
                </a:solidFill>
                <a:latin typeface="Tahoma"/>
                <a:ea typeface="Tahoma"/>
                <a:cs typeface="Tahoma"/>
                <a:sym typeface="Tahoma"/>
              </a:rPr>
              <a:t>buffer</a:t>
            </a: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r>
              <a:rPr b="0" i="0" lang="en-US" sz="1800" u="none" cap="none" strike="noStrike">
                <a:solidFill>
                  <a:srgbClr val="C00000"/>
                </a:solidFill>
                <a:latin typeface="Tahoma"/>
                <a:ea typeface="Tahoma"/>
                <a:cs typeface="Tahoma"/>
                <a:sym typeface="Tahoma"/>
              </a:rPr>
              <a:t>send ack3</a:t>
            </a:r>
            <a:endParaRPr/>
          </a:p>
        </p:txBody>
      </p:sp>
      <p:sp>
        <p:nvSpPr>
          <p:cNvPr id="2964" name="Google Shape;2964;p54"/>
          <p:cNvSpPr txBox="1"/>
          <p:nvPr/>
        </p:nvSpPr>
        <p:spPr>
          <a:xfrm>
            <a:off x="4390118" y="3967162"/>
            <a:ext cx="169860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400"/>
              <a:buFont typeface="Tahoma"/>
              <a:buNone/>
            </a:pPr>
            <a:r>
              <a:rPr b="0" i="0" lang="en-US" sz="1400" u="none" cap="none" strike="noStrike">
                <a:solidFill>
                  <a:srgbClr val="C00000"/>
                </a:solidFill>
                <a:latin typeface="Tahoma"/>
                <a:ea typeface="Tahoma"/>
                <a:cs typeface="Tahoma"/>
                <a:sym typeface="Tahoma"/>
              </a:rPr>
              <a:t>record ack3 arrived</a:t>
            </a:r>
            <a:endParaRPr/>
          </a:p>
        </p:txBody>
      </p:sp>
      <p:sp>
        <p:nvSpPr>
          <p:cNvPr id="2965" name="Google Shape;2965;p54"/>
          <p:cNvSpPr txBox="1"/>
          <p:nvPr/>
        </p:nvSpPr>
        <p:spPr>
          <a:xfrm>
            <a:off x="8169956" y="3603625"/>
            <a:ext cx="2300400" cy="64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pkt4, </a:t>
            </a:r>
            <a:r>
              <a:rPr b="0" i="0" lang="en-US" sz="1800" u="none" cap="none" strike="noStrike">
                <a:solidFill>
                  <a:srgbClr val="C00000"/>
                </a:solidFill>
                <a:latin typeface="Tahoma"/>
                <a:ea typeface="Tahoma"/>
                <a:cs typeface="Tahoma"/>
                <a:sym typeface="Tahoma"/>
              </a:rPr>
              <a:t>buffer, </a:t>
            </a:r>
            <a:endParaRPr/>
          </a:p>
          <a:p>
            <a:pPr indent="0" lvl="0" marL="0" marR="0" rtl="0" algn="l">
              <a:lnSpc>
                <a:spcPct val="10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           send ack4</a:t>
            </a:r>
            <a:endParaRPr/>
          </a:p>
        </p:txBody>
      </p:sp>
      <p:sp>
        <p:nvSpPr>
          <p:cNvPr id="2966" name="Google Shape;2966;p54"/>
          <p:cNvSpPr txBox="1"/>
          <p:nvPr/>
        </p:nvSpPr>
        <p:spPr>
          <a:xfrm>
            <a:off x="8189006" y="4124325"/>
            <a:ext cx="2300400" cy="64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pkt5, </a:t>
            </a:r>
            <a:r>
              <a:rPr b="0" i="0" lang="en-US" sz="1800" u="none" cap="none" strike="noStrike">
                <a:solidFill>
                  <a:srgbClr val="C00000"/>
                </a:solidFill>
                <a:latin typeface="Tahoma"/>
                <a:ea typeface="Tahoma"/>
                <a:cs typeface="Tahoma"/>
                <a:sym typeface="Tahoma"/>
              </a:rPr>
              <a:t>buffer, </a:t>
            </a:r>
            <a:endParaRPr/>
          </a:p>
          <a:p>
            <a:pPr indent="0" lvl="0" marL="0" marR="0" rtl="0" algn="l">
              <a:lnSpc>
                <a:spcPct val="10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           send ack5</a:t>
            </a:r>
            <a:endParaRPr/>
          </a:p>
        </p:txBody>
      </p:sp>
      <p:sp>
        <p:nvSpPr>
          <p:cNvPr id="2967" name="Google Shape;2967;p54"/>
          <p:cNvSpPr txBox="1"/>
          <p:nvPr/>
        </p:nvSpPr>
        <p:spPr>
          <a:xfrm>
            <a:off x="8162018" y="5189537"/>
            <a:ext cx="2960700" cy="5874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pkt2; </a:t>
            </a:r>
            <a:r>
              <a:rPr b="0" i="0" lang="en-US" sz="1800" u="none" cap="none" strike="noStrike">
                <a:solidFill>
                  <a:srgbClr val="C00000"/>
                </a:solidFill>
                <a:latin typeface="Tahoma"/>
                <a:ea typeface="Tahoma"/>
                <a:cs typeface="Tahoma"/>
                <a:sym typeface="Tahoma"/>
              </a:rPr>
              <a:t>deliver pkt2,</a:t>
            </a:r>
            <a:endParaRPr/>
          </a:p>
          <a:p>
            <a:pPr indent="0" lvl="0" marL="0" marR="0" rtl="0" algn="l">
              <a:lnSpc>
                <a:spcPct val="9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pkt3, pkt4, pkt5; send ack2</a:t>
            </a:r>
            <a:endParaRPr/>
          </a:p>
        </p:txBody>
      </p:sp>
      <p:sp>
        <p:nvSpPr>
          <p:cNvPr id="2968" name="Google Shape;2968;p54"/>
          <p:cNvSpPr txBox="1"/>
          <p:nvPr/>
        </p:nvSpPr>
        <p:spPr>
          <a:xfrm>
            <a:off x="4472668" y="5919787"/>
            <a:ext cx="3498900" cy="336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1" lang="en-US" sz="1600" u="none" cap="none" strike="noStrike">
                <a:solidFill>
                  <a:srgbClr val="000000"/>
                </a:solidFill>
                <a:latin typeface="Tahoma"/>
                <a:ea typeface="Tahoma"/>
                <a:cs typeface="Tahoma"/>
                <a:sym typeface="Tahoma"/>
              </a:rPr>
              <a:t>Q: what happens when ack2 arrives?</a:t>
            </a:r>
            <a:endParaRPr/>
          </a:p>
        </p:txBody>
      </p:sp>
      <p:sp>
        <p:nvSpPr>
          <p:cNvPr id="2969" name="Google Shape;2969;p54"/>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grpSp>
        <p:nvGrpSpPr>
          <p:cNvPr id="2970" name="Google Shape;2970;p54"/>
          <p:cNvGrpSpPr/>
          <p:nvPr/>
        </p:nvGrpSpPr>
        <p:grpSpPr>
          <a:xfrm>
            <a:off x="2305038" y="4754550"/>
            <a:ext cx="1615268" cy="1222375"/>
            <a:chOff x="2305050" y="4754562"/>
            <a:chExt cx="1436687" cy="1222375"/>
          </a:xfrm>
        </p:grpSpPr>
        <p:grpSp>
          <p:nvGrpSpPr>
            <p:cNvPr id="2971" name="Google Shape;2971;p54"/>
            <p:cNvGrpSpPr/>
            <p:nvPr/>
          </p:nvGrpSpPr>
          <p:grpSpPr>
            <a:xfrm>
              <a:off x="2305050" y="4754562"/>
              <a:ext cx="1428750" cy="476250"/>
              <a:chOff x="112" y="2105"/>
              <a:chExt cx="900" cy="300"/>
            </a:xfrm>
          </p:grpSpPr>
          <p:sp>
            <p:nvSpPr>
              <p:cNvPr id="2972" name="Google Shape;2972;p54"/>
              <p:cNvSpPr/>
              <p:nvPr/>
            </p:nvSpPr>
            <p:spPr>
              <a:xfrm>
                <a:off x="338" y="2127"/>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3" name="Google Shape;2973;p54"/>
              <p:cNvSpPr txBox="1"/>
              <p:nvPr/>
            </p:nvSpPr>
            <p:spPr>
              <a:xfrm>
                <a:off x="112" y="2105"/>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a:t>
                </a:r>
                <a:r>
                  <a:rPr b="0" i="0" lang="en-US" sz="1400" u="none" cap="none" strike="noStrike">
                    <a:solidFill>
                      <a:srgbClr val="FFFFFF"/>
                    </a:solidFill>
                    <a:highlight>
                      <a:srgbClr val="0013A3"/>
                    </a:highlight>
                    <a:latin typeface="Arial"/>
                    <a:ea typeface="Arial"/>
                    <a:cs typeface="Arial"/>
                    <a:sym typeface="Arial"/>
                  </a:rPr>
                  <a:t>2 3 4 5</a:t>
                </a:r>
                <a:r>
                  <a:rPr b="0" i="0" lang="en-US" sz="1400" u="none" cap="none" strike="noStrike">
                    <a:solidFill>
                      <a:srgbClr val="000000"/>
                    </a:solidFill>
                    <a:latin typeface="Arial"/>
                    <a:ea typeface="Arial"/>
                    <a:cs typeface="Arial"/>
                    <a:sym typeface="Arial"/>
                  </a:rPr>
                  <a:t> 6 7 8 </a:t>
                </a:r>
                <a:endParaRPr/>
              </a:p>
            </p:txBody>
          </p:sp>
        </p:grpSp>
        <p:grpSp>
          <p:nvGrpSpPr>
            <p:cNvPr id="2974" name="Google Shape;2974;p54"/>
            <p:cNvGrpSpPr/>
            <p:nvPr/>
          </p:nvGrpSpPr>
          <p:grpSpPr>
            <a:xfrm>
              <a:off x="2312987" y="4995862"/>
              <a:ext cx="1428750" cy="476250"/>
              <a:chOff x="112" y="2105"/>
              <a:chExt cx="900" cy="300"/>
            </a:xfrm>
          </p:grpSpPr>
          <p:sp>
            <p:nvSpPr>
              <p:cNvPr id="2975" name="Google Shape;2975;p54"/>
              <p:cNvSpPr/>
              <p:nvPr/>
            </p:nvSpPr>
            <p:spPr>
              <a:xfrm>
                <a:off x="338" y="2127"/>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6" name="Google Shape;2976;p54"/>
              <p:cNvSpPr txBox="1"/>
              <p:nvPr/>
            </p:nvSpPr>
            <p:spPr>
              <a:xfrm>
                <a:off x="112" y="2105"/>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a:t>
                </a:r>
                <a:r>
                  <a:rPr b="0" i="0" lang="en-US" sz="1400" u="none" cap="none" strike="noStrike">
                    <a:solidFill>
                      <a:srgbClr val="FFFFFF"/>
                    </a:solidFill>
                    <a:highlight>
                      <a:srgbClr val="0013A3"/>
                    </a:highlight>
                    <a:latin typeface="Arial"/>
                    <a:ea typeface="Arial"/>
                    <a:cs typeface="Arial"/>
                    <a:sym typeface="Arial"/>
                  </a:rPr>
                  <a:t>2 3 4 5</a:t>
                </a:r>
                <a:r>
                  <a:rPr b="0" i="0" lang="en-US" sz="1400" u="none" cap="none" strike="noStrike">
                    <a:solidFill>
                      <a:srgbClr val="000000"/>
                    </a:solidFill>
                    <a:latin typeface="Arial"/>
                    <a:ea typeface="Arial"/>
                    <a:cs typeface="Arial"/>
                    <a:sym typeface="Arial"/>
                  </a:rPr>
                  <a:t> 6 7 8 </a:t>
                </a:r>
                <a:endParaRPr/>
              </a:p>
            </p:txBody>
          </p:sp>
        </p:grpSp>
        <p:grpSp>
          <p:nvGrpSpPr>
            <p:cNvPr id="2977" name="Google Shape;2977;p54"/>
            <p:cNvGrpSpPr/>
            <p:nvPr/>
          </p:nvGrpSpPr>
          <p:grpSpPr>
            <a:xfrm>
              <a:off x="2309812" y="5259387"/>
              <a:ext cx="1428750" cy="476250"/>
              <a:chOff x="112" y="2105"/>
              <a:chExt cx="900" cy="300"/>
            </a:xfrm>
          </p:grpSpPr>
          <p:sp>
            <p:nvSpPr>
              <p:cNvPr id="2978" name="Google Shape;2978;p54"/>
              <p:cNvSpPr/>
              <p:nvPr/>
            </p:nvSpPr>
            <p:spPr>
              <a:xfrm>
                <a:off x="338" y="2127"/>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9" name="Google Shape;2979;p54"/>
              <p:cNvSpPr txBox="1"/>
              <p:nvPr/>
            </p:nvSpPr>
            <p:spPr>
              <a:xfrm>
                <a:off x="112" y="2105"/>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a:t>
                </a:r>
                <a:r>
                  <a:rPr lang="en-US">
                    <a:solidFill>
                      <a:srgbClr val="FFFFFF"/>
                    </a:solidFill>
                    <a:highlight>
                      <a:srgbClr val="0013A3"/>
                    </a:highlight>
                  </a:rPr>
                  <a:t>2 3 4 5</a:t>
                </a:r>
                <a:r>
                  <a:rPr b="0" i="0" lang="en-US" sz="1400" u="none" cap="none" strike="noStrike">
                    <a:solidFill>
                      <a:srgbClr val="000000"/>
                    </a:solidFill>
                    <a:latin typeface="Arial"/>
                    <a:ea typeface="Arial"/>
                    <a:cs typeface="Arial"/>
                    <a:sym typeface="Arial"/>
                  </a:rPr>
                  <a:t> 6 7 8 </a:t>
                </a:r>
                <a:endParaRPr/>
              </a:p>
            </p:txBody>
          </p:sp>
        </p:grpSp>
        <p:grpSp>
          <p:nvGrpSpPr>
            <p:cNvPr id="2980" name="Google Shape;2980;p54"/>
            <p:cNvGrpSpPr/>
            <p:nvPr/>
          </p:nvGrpSpPr>
          <p:grpSpPr>
            <a:xfrm>
              <a:off x="2306637" y="5500687"/>
              <a:ext cx="1428750" cy="476250"/>
              <a:chOff x="112" y="2105"/>
              <a:chExt cx="900" cy="300"/>
            </a:xfrm>
          </p:grpSpPr>
          <p:sp>
            <p:nvSpPr>
              <p:cNvPr id="2981" name="Google Shape;2981;p54"/>
              <p:cNvSpPr/>
              <p:nvPr/>
            </p:nvSpPr>
            <p:spPr>
              <a:xfrm>
                <a:off x="338" y="2127"/>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82" name="Google Shape;2982;p54"/>
              <p:cNvSpPr txBox="1"/>
              <p:nvPr/>
            </p:nvSpPr>
            <p:spPr>
              <a:xfrm>
                <a:off x="112" y="2105"/>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a:t>
                </a:r>
                <a:r>
                  <a:rPr lang="en-US">
                    <a:solidFill>
                      <a:srgbClr val="FFFFFF"/>
                    </a:solidFill>
                    <a:highlight>
                      <a:srgbClr val="0013A3"/>
                    </a:highlight>
                  </a:rPr>
                  <a:t>2 3 4 5</a:t>
                </a:r>
                <a:r>
                  <a:rPr b="0" i="0" lang="en-US" sz="1400" u="none" cap="none" strike="noStrike">
                    <a:solidFill>
                      <a:srgbClr val="000000"/>
                    </a:solidFill>
                    <a:latin typeface="Arial"/>
                    <a:ea typeface="Arial"/>
                    <a:cs typeface="Arial"/>
                    <a:sym typeface="Arial"/>
                  </a:rPr>
                  <a:t> 6 7 8 </a:t>
                </a:r>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5"/>
                                        </p:tgtEl>
                                        <p:attrNameLst>
                                          <p:attrName>style.visibility</p:attrName>
                                        </p:attrNameLst>
                                      </p:cBhvr>
                                      <p:to>
                                        <p:strVal val="visible"/>
                                      </p:to>
                                    </p:set>
                                    <p:animEffect filter="fade" transition="in">
                                      <p:cBhvr>
                                        <p:cTn dur="500"/>
                                        <p:tgtEl>
                                          <p:spTgt spid="293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909"/>
                                        </p:tgtEl>
                                        <p:attrNameLst>
                                          <p:attrName>style.visibility</p:attrName>
                                        </p:attrNameLst>
                                      </p:cBhvr>
                                      <p:to>
                                        <p:strVal val="visible"/>
                                      </p:to>
                                    </p:set>
                                    <p:animEffect filter="fade" transition="in">
                                      <p:cBhvr>
                                        <p:cTn dur="500"/>
                                        <p:tgtEl>
                                          <p:spTgt spid="290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915"/>
                                        </p:tgtEl>
                                        <p:attrNameLst>
                                          <p:attrName>style.visibility</p:attrName>
                                        </p:attrNameLst>
                                      </p:cBhvr>
                                      <p:to>
                                        <p:strVal val="visible"/>
                                      </p:to>
                                    </p:set>
                                    <p:animEffect filter="fade" transition="in">
                                      <p:cBhvr>
                                        <p:cTn dur="500"/>
                                        <p:tgtEl>
                                          <p:spTgt spid="291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963"/>
                                        </p:tgtEl>
                                        <p:attrNameLst>
                                          <p:attrName>style.visibility</p:attrName>
                                        </p:attrNameLst>
                                      </p:cBhvr>
                                      <p:to>
                                        <p:strVal val="visible"/>
                                      </p:to>
                                    </p:set>
                                    <p:animEffect filter="fade" transition="in">
                                      <p:cBhvr>
                                        <p:cTn dur="500"/>
                                        <p:tgtEl>
                                          <p:spTgt spid="29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4"/>
                                        </p:tgtEl>
                                        <p:attrNameLst>
                                          <p:attrName>style.visibility</p:attrName>
                                        </p:attrNameLst>
                                      </p:cBhvr>
                                      <p:to>
                                        <p:strVal val="visible"/>
                                      </p:to>
                                    </p:set>
                                    <p:animEffect filter="fade" transition="in">
                                      <p:cBhvr>
                                        <p:cTn dur="500"/>
                                        <p:tgtEl>
                                          <p:spTgt spid="2914"/>
                                        </p:tgtEl>
                                      </p:cBhvr>
                                    </p:animEffect>
                                  </p:childTnLst>
                                </p:cTn>
                              </p:par>
                              <p:par>
                                <p:cTn fill="hold" nodeType="withEffect" presetClass="entr" presetID="10" presetSubtype="0">
                                  <p:stCondLst>
                                    <p:cond delay="0"/>
                                  </p:stCondLst>
                                  <p:childTnLst>
                                    <p:set>
                                      <p:cBhvr>
                                        <p:cTn dur="1" fill="hold">
                                          <p:stCondLst>
                                            <p:cond delay="0"/>
                                          </p:stCondLst>
                                        </p:cTn>
                                        <p:tgtEl>
                                          <p:spTgt spid="2922"/>
                                        </p:tgtEl>
                                        <p:attrNameLst>
                                          <p:attrName>style.visibility</p:attrName>
                                        </p:attrNameLst>
                                      </p:cBhvr>
                                      <p:to>
                                        <p:strVal val="visible"/>
                                      </p:to>
                                    </p:set>
                                    <p:animEffect filter="fade" transition="in">
                                      <p:cBhvr>
                                        <p:cTn dur="500"/>
                                        <p:tgtEl>
                                          <p:spTgt spid="2922"/>
                                        </p:tgtEl>
                                      </p:cBhvr>
                                    </p:animEffect>
                                  </p:childTnLst>
                                </p:cTn>
                              </p:par>
                              <p:par>
                                <p:cTn fill="hold" nodeType="withEffect" presetClass="entr" presetID="10" presetSubtype="0">
                                  <p:stCondLst>
                                    <p:cond delay="0"/>
                                  </p:stCondLst>
                                  <p:childTnLst>
                                    <p:set>
                                      <p:cBhvr>
                                        <p:cTn dur="1" fill="hold">
                                          <p:stCondLst>
                                            <p:cond delay="0"/>
                                          </p:stCondLst>
                                        </p:cTn>
                                        <p:tgtEl>
                                          <p:spTgt spid="2925"/>
                                        </p:tgtEl>
                                        <p:attrNameLst>
                                          <p:attrName>style.visibility</p:attrName>
                                        </p:attrNameLst>
                                      </p:cBhvr>
                                      <p:to>
                                        <p:strVal val="visible"/>
                                      </p:to>
                                    </p:set>
                                    <p:animEffect filter="fade" transition="in">
                                      <p:cBhvr>
                                        <p:cTn dur="500"/>
                                        <p:tgtEl>
                                          <p:spTgt spid="29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8"/>
                                        </p:tgtEl>
                                        <p:attrNameLst>
                                          <p:attrName>style.visibility</p:attrName>
                                        </p:attrNameLst>
                                      </p:cBhvr>
                                      <p:to>
                                        <p:strVal val="visible"/>
                                      </p:to>
                                    </p:set>
                                    <p:animEffect filter="fade" transition="in">
                                      <p:cBhvr>
                                        <p:cTn dur="500"/>
                                        <p:tgtEl>
                                          <p:spTgt spid="294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923"/>
                                        </p:tgtEl>
                                        <p:attrNameLst>
                                          <p:attrName>style.visibility</p:attrName>
                                        </p:attrNameLst>
                                      </p:cBhvr>
                                      <p:to>
                                        <p:strVal val="visible"/>
                                      </p:to>
                                    </p:set>
                                    <p:animEffect filter="fade" transition="in">
                                      <p:cBhvr>
                                        <p:cTn dur="500"/>
                                        <p:tgtEl>
                                          <p:spTgt spid="292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965"/>
                                        </p:tgtEl>
                                        <p:attrNameLst>
                                          <p:attrName>style.visibility</p:attrName>
                                        </p:attrNameLst>
                                      </p:cBhvr>
                                      <p:to>
                                        <p:strVal val="visible"/>
                                      </p:to>
                                    </p:set>
                                    <p:animEffect filter="fade" transition="in">
                                      <p:cBhvr>
                                        <p:cTn dur="500"/>
                                        <p:tgtEl>
                                          <p:spTgt spid="29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7"/>
                                        </p:tgtEl>
                                        <p:attrNameLst>
                                          <p:attrName>style.visibility</p:attrName>
                                        </p:attrNameLst>
                                      </p:cBhvr>
                                      <p:to>
                                        <p:strVal val="visible"/>
                                      </p:to>
                                    </p:set>
                                    <p:animEffect filter="fade" transition="in">
                                      <p:cBhvr>
                                        <p:cTn dur="500"/>
                                        <p:tgtEl>
                                          <p:spTgt spid="295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924"/>
                                        </p:tgtEl>
                                        <p:attrNameLst>
                                          <p:attrName>style.visibility</p:attrName>
                                        </p:attrNameLst>
                                      </p:cBhvr>
                                      <p:to>
                                        <p:strVal val="visible"/>
                                      </p:to>
                                    </p:set>
                                    <p:animEffect filter="fade" transition="in">
                                      <p:cBhvr>
                                        <p:cTn dur="500"/>
                                        <p:tgtEl>
                                          <p:spTgt spid="292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966"/>
                                        </p:tgtEl>
                                        <p:attrNameLst>
                                          <p:attrName>style.visibility</p:attrName>
                                        </p:attrNameLst>
                                      </p:cBhvr>
                                      <p:to>
                                        <p:strVal val="visible"/>
                                      </p:to>
                                    </p:set>
                                    <p:animEffect filter="fade" transition="in">
                                      <p:cBhvr>
                                        <p:cTn dur="500"/>
                                        <p:tgtEl>
                                          <p:spTgt spid="29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3"/>
                                        </p:tgtEl>
                                        <p:attrNameLst>
                                          <p:attrName>style.visibility</p:attrName>
                                        </p:attrNameLst>
                                      </p:cBhvr>
                                      <p:to>
                                        <p:strVal val="visible"/>
                                      </p:to>
                                    </p:set>
                                    <p:animEffect filter="fade" transition="in">
                                      <p:cBhvr>
                                        <p:cTn dur="500"/>
                                        <p:tgtEl>
                                          <p:spTgt spid="295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964"/>
                                        </p:tgtEl>
                                        <p:attrNameLst>
                                          <p:attrName>style.visibility</p:attrName>
                                        </p:attrNameLst>
                                      </p:cBhvr>
                                      <p:to>
                                        <p:strVal val="visible"/>
                                      </p:to>
                                    </p:set>
                                    <p:animEffect filter="fade" transition="in">
                                      <p:cBhvr>
                                        <p:cTn dur="500"/>
                                        <p:tgtEl>
                                          <p:spTgt spid="29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6"/>
                                        </p:tgtEl>
                                        <p:attrNameLst>
                                          <p:attrName>style.visibility</p:attrName>
                                        </p:attrNameLst>
                                      </p:cBhvr>
                                      <p:to>
                                        <p:strVal val="visible"/>
                                      </p:to>
                                    </p:set>
                                    <p:animEffect filter="fade" transition="in">
                                      <p:cBhvr>
                                        <p:cTn dur="500"/>
                                        <p:tgtEl>
                                          <p:spTgt spid="29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0"/>
                                        </p:tgtEl>
                                        <p:attrNameLst>
                                          <p:attrName>style.visibility</p:attrName>
                                        </p:attrNameLst>
                                      </p:cBhvr>
                                      <p:to>
                                        <p:strVal val="visible"/>
                                      </p:to>
                                    </p:set>
                                    <p:animEffect filter="fade" transition="in">
                                      <p:cBhvr>
                                        <p:cTn dur="500"/>
                                        <p:tgtEl>
                                          <p:spTgt spid="297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913"/>
                                        </p:tgtEl>
                                        <p:attrNameLst>
                                          <p:attrName>style.visibility</p:attrName>
                                        </p:attrNameLst>
                                      </p:cBhvr>
                                      <p:to>
                                        <p:strVal val="visible"/>
                                      </p:to>
                                    </p:set>
                                    <p:animEffect filter="fade" transition="in">
                                      <p:cBhvr>
                                        <p:cTn dur="500"/>
                                        <p:tgtEl>
                                          <p:spTgt spid="291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933"/>
                                        </p:tgtEl>
                                        <p:attrNameLst>
                                          <p:attrName>style.visibility</p:attrName>
                                        </p:attrNameLst>
                                      </p:cBhvr>
                                      <p:to>
                                        <p:strVal val="visible"/>
                                      </p:to>
                                    </p:set>
                                    <p:animEffect filter="fade" transition="in">
                                      <p:cBhvr>
                                        <p:cTn dur="500"/>
                                        <p:tgtEl>
                                          <p:spTgt spid="293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967"/>
                                        </p:tgtEl>
                                        <p:attrNameLst>
                                          <p:attrName>style.visibility</p:attrName>
                                        </p:attrNameLst>
                                      </p:cBhvr>
                                      <p:to>
                                        <p:strVal val="visible"/>
                                      </p:to>
                                    </p:set>
                                    <p:animEffect filter="fade" transition="in">
                                      <p:cBhvr>
                                        <p:cTn dur="500"/>
                                        <p:tgtEl>
                                          <p:spTgt spid="296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956"/>
                                        </p:tgtEl>
                                        <p:attrNameLst>
                                          <p:attrName>style.visibility</p:attrName>
                                        </p:attrNameLst>
                                      </p:cBhvr>
                                      <p:to>
                                        <p:strVal val="visible"/>
                                      </p:to>
                                    </p:set>
                                    <p:animEffect filter="fade" transition="in">
                                      <p:cBhvr>
                                        <p:cTn dur="500"/>
                                        <p:tgtEl>
                                          <p:spTgt spid="29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8"/>
                                        </p:tgtEl>
                                        <p:attrNameLst>
                                          <p:attrName>style.visibility</p:attrName>
                                        </p:attrNameLst>
                                      </p:cBhvr>
                                      <p:to>
                                        <p:strVal val="visible"/>
                                      </p:to>
                                    </p:set>
                                    <p:animEffect filter="fade" transition="in">
                                      <p:cBhvr>
                                        <p:cTn dur="500"/>
                                        <p:tgtEl>
                                          <p:spTgt spid="29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7" name="Shape 2987"/>
        <p:cNvGrpSpPr/>
        <p:nvPr/>
      </p:nvGrpSpPr>
      <p:grpSpPr>
        <a:xfrm>
          <a:off x="0" y="0"/>
          <a:ext cx="0" cy="0"/>
          <a:chOff x="0" y="0"/>
          <a:chExt cx="0" cy="0"/>
        </a:xfrm>
      </p:grpSpPr>
      <p:sp>
        <p:nvSpPr>
          <p:cNvPr id="2988" name="Google Shape;2988;p55"/>
          <p:cNvSpPr txBox="1"/>
          <p:nvPr>
            <p:ph type="title"/>
          </p:nvPr>
        </p:nvSpPr>
        <p:spPr>
          <a:xfrm>
            <a:off x="794655" y="408214"/>
            <a:ext cx="6222600" cy="13308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a:t>
            </a:r>
            <a:br>
              <a:rPr lang="en-US" sz="4800"/>
            </a:br>
            <a:r>
              <a:rPr lang="en-US" sz="4800"/>
              <a:t>a dilemma!</a:t>
            </a:r>
            <a:endParaRPr/>
          </a:p>
        </p:txBody>
      </p:sp>
      <p:grpSp>
        <p:nvGrpSpPr>
          <p:cNvPr id="2989" name="Google Shape;2989;p55"/>
          <p:cNvGrpSpPr/>
          <p:nvPr/>
        </p:nvGrpSpPr>
        <p:grpSpPr>
          <a:xfrm>
            <a:off x="6931301" y="4061030"/>
            <a:ext cx="4257667" cy="2225676"/>
            <a:chOff x="6909765" y="4181931"/>
            <a:chExt cx="4257667" cy="2225676"/>
          </a:xfrm>
        </p:grpSpPr>
        <p:grpSp>
          <p:nvGrpSpPr>
            <p:cNvPr id="2990" name="Google Shape;2990;p55"/>
            <p:cNvGrpSpPr/>
            <p:nvPr/>
          </p:nvGrpSpPr>
          <p:grpSpPr>
            <a:xfrm>
              <a:off x="6909765" y="4258127"/>
              <a:ext cx="1428751" cy="476251"/>
              <a:chOff x="1895" y="3931"/>
              <a:chExt cx="900" cy="300"/>
            </a:xfrm>
          </p:grpSpPr>
          <p:sp>
            <p:nvSpPr>
              <p:cNvPr id="2991" name="Google Shape;2991;p55"/>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992" name="Google Shape;2992;p55"/>
              <p:cNvSpPr txBox="1"/>
              <p:nvPr/>
            </p:nvSpPr>
            <p:spPr>
              <a:xfrm>
                <a:off x="1895" y="3931"/>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lang="en-US" sz="1200">
                    <a:solidFill>
                      <a:srgbClr val="FFFFFF"/>
                    </a:solidFill>
                    <a:highlight>
                      <a:srgbClr val="0013A3"/>
                    </a:highlight>
                  </a:rPr>
                  <a:t>0 1 2</a:t>
                </a:r>
                <a:r>
                  <a:rPr b="0" i="0" lang="en-US" sz="1200" u="none" cap="none" strike="noStrike">
                    <a:solidFill>
                      <a:srgbClr val="000000"/>
                    </a:solidFill>
                    <a:latin typeface="Arial"/>
                    <a:ea typeface="Arial"/>
                    <a:cs typeface="Arial"/>
                    <a:sym typeface="Arial"/>
                  </a:rPr>
                  <a:t> 3 0 1 2</a:t>
                </a:r>
                <a:endParaRPr/>
              </a:p>
            </p:txBody>
          </p:sp>
        </p:grpSp>
        <p:grpSp>
          <p:nvGrpSpPr>
            <p:cNvPr id="2993" name="Google Shape;2993;p55"/>
            <p:cNvGrpSpPr/>
            <p:nvPr/>
          </p:nvGrpSpPr>
          <p:grpSpPr>
            <a:xfrm>
              <a:off x="6928815" y="4532777"/>
              <a:ext cx="1428751" cy="476251"/>
              <a:chOff x="1895" y="3931"/>
              <a:chExt cx="900" cy="300"/>
            </a:xfrm>
          </p:grpSpPr>
          <p:sp>
            <p:nvSpPr>
              <p:cNvPr id="2994" name="Google Shape;2994;p55"/>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995" name="Google Shape;2995;p55"/>
              <p:cNvSpPr txBox="1"/>
              <p:nvPr/>
            </p:nvSpPr>
            <p:spPr>
              <a:xfrm>
                <a:off x="1895" y="3931"/>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lang="en-US" sz="1200">
                    <a:solidFill>
                      <a:srgbClr val="FFFFFF"/>
                    </a:solidFill>
                    <a:highlight>
                      <a:srgbClr val="0013A3"/>
                    </a:highlight>
                  </a:rPr>
                  <a:t>0 1 2</a:t>
                </a:r>
                <a:r>
                  <a:rPr b="0" i="0" lang="en-US" sz="1200" u="none" cap="none" strike="noStrike">
                    <a:solidFill>
                      <a:srgbClr val="000000"/>
                    </a:solidFill>
                    <a:latin typeface="Arial"/>
                    <a:ea typeface="Arial"/>
                    <a:cs typeface="Arial"/>
                    <a:sym typeface="Arial"/>
                  </a:rPr>
                  <a:t> 3 0 1 2</a:t>
                </a:r>
                <a:endParaRPr/>
              </a:p>
            </p:txBody>
          </p:sp>
        </p:grpSp>
        <p:grpSp>
          <p:nvGrpSpPr>
            <p:cNvPr id="2996" name="Google Shape;2996;p55"/>
            <p:cNvGrpSpPr/>
            <p:nvPr/>
          </p:nvGrpSpPr>
          <p:grpSpPr>
            <a:xfrm>
              <a:off x="6936737" y="4796302"/>
              <a:ext cx="1428751" cy="476251"/>
              <a:chOff x="1895" y="3931"/>
              <a:chExt cx="900" cy="300"/>
            </a:xfrm>
          </p:grpSpPr>
          <p:sp>
            <p:nvSpPr>
              <p:cNvPr id="2997" name="Google Shape;2997;p55"/>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998" name="Google Shape;2998;p55"/>
              <p:cNvSpPr txBox="1"/>
              <p:nvPr/>
            </p:nvSpPr>
            <p:spPr>
              <a:xfrm>
                <a:off x="1895" y="3931"/>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lang="en-US" sz="1200">
                    <a:solidFill>
                      <a:srgbClr val="FFFFFF"/>
                    </a:solidFill>
                    <a:highlight>
                      <a:srgbClr val="0013A3"/>
                    </a:highlight>
                  </a:rPr>
                  <a:t>0 1 2</a:t>
                </a:r>
                <a:r>
                  <a:rPr b="0" i="0" lang="en-US" sz="1200" u="none" cap="none" strike="noStrike">
                    <a:solidFill>
                      <a:srgbClr val="000000"/>
                    </a:solidFill>
                    <a:latin typeface="Arial"/>
                    <a:ea typeface="Arial"/>
                    <a:cs typeface="Arial"/>
                    <a:sym typeface="Arial"/>
                  </a:rPr>
                  <a:t> 3 0 1 2</a:t>
                </a:r>
                <a:endParaRPr/>
              </a:p>
            </p:txBody>
          </p:sp>
        </p:grpSp>
        <p:cxnSp>
          <p:nvCxnSpPr>
            <p:cNvPr id="2999" name="Google Shape;2999;p55"/>
            <p:cNvCxnSpPr/>
            <p:nvPr/>
          </p:nvCxnSpPr>
          <p:spPr>
            <a:xfrm>
              <a:off x="7927345" y="4396244"/>
              <a:ext cx="1827300" cy="238200"/>
            </a:xfrm>
            <a:prstGeom prst="straightConnector1">
              <a:avLst/>
            </a:prstGeom>
            <a:noFill/>
            <a:ln cap="flat" cmpd="sng" w="19050">
              <a:solidFill>
                <a:srgbClr val="000099"/>
              </a:solidFill>
              <a:prstDash val="solid"/>
              <a:round/>
              <a:headEnd len="med" w="med" type="none"/>
              <a:tailEnd len="med" w="med" type="triangle"/>
            </a:ln>
          </p:spPr>
        </p:cxnSp>
        <p:cxnSp>
          <p:nvCxnSpPr>
            <p:cNvPr id="3000" name="Google Shape;3000;p55"/>
            <p:cNvCxnSpPr/>
            <p:nvPr/>
          </p:nvCxnSpPr>
          <p:spPr>
            <a:xfrm>
              <a:off x="7957507" y="4681994"/>
              <a:ext cx="1808100" cy="228600"/>
            </a:xfrm>
            <a:prstGeom prst="straightConnector1">
              <a:avLst/>
            </a:prstGeom>
            <a:noFill/>
            <a:ln cap="flat" cmpd="sng" w="19050">
              <a:solidFill>
                <a:srgbClr val="000099"/>
              </a:solidFill>
              <a:prstDash val="solid"/>
              <a:round/>
              <a:headEnd len="med" w="med" type="none"/>
              <a:tailEnd len="med" w="med" type="triangle"/>
            </a:ln>
          </p:spPr>
        </p:cxnSp>
        <p:cxnSp>
          <p:nvCxnSpPr>
            <p:cNvPr id="3001" name="Google Shape;3001;p55"/>
            <p:cNvCxnSpPr/>
            <p:nvPr/>
          </p:nvCxnSpPr>
          <p:spPr>
            <a:xfrm>
              <a:off x="7987670" y="4967744"/>
              <a:ext cx="1784400" cy="209700"/>
            </a:xfrm>
            <a:prstGeom prst="straightConnector1">
              <a:avLst/>
            </a:prstGeom>
            <a:noFill/>
            <a:ln cap="flat" cmpd="sng" w="19050">
              <a:solidFill>
                <a:srgbClr val="000099"/>
              </a:solidFill>
              <a:prstDash val="solid"/>
              <a:round/>
              <a:headEnd len="med" w="med" type="none"/>
              <a:tailEnd len="med" w="med" type="triangle"/>
            </a:ln>
          </p:spPr>
        </p:cxnSp>
        <p:sp>
          <p:nvSpPr>
            <p:cNvPr id="3002" name="Google Shape;3002;p55"/>
            <p:cNvSpPr txBox="1"/>
            <p:nvPr/>
          </p:nvSpPr>
          <p:spPr>
            <a:xfrm>
              <a:off x="8040057" y="4181931"/>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3003" name="Google Shape;3003;p55"/>
            <p:cNvSpPr txBox="1"/>
            <p:nvPr/>
          </p:nvSpPr>
          <p:spPr>
            <a:xfrm>
              <a:off x="8036882" y="4467681"/>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3004" name="Google Shape;3004;p55"/>
            <p:cNvSpPr txBox="1"/>
            <p:nvPr/>
          </p:nvSpPr>
          <p:spPr>
            <a:xfrm>
              <a:off x="8033707" y="4753431"/>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grpSp>
          <p:nvGrpSpPr>
            <p:cNvPr id="3005" name="Google Shape;3005;p55"/>
            <p:cNvGrpSpPr/>
            <p:nvPr/>
          </p:nvGrpSpPr>
          <p:grpSpPr>
            <a:xfrm>
              <a:off x="6939912" y="5828178"/>
              <a:ext cx="1428751" cy="476251"/>
              <a:chOff x="1895" y="3931"/>
              <a:chExt cx="900" cy="300"/>
            </a:xfrm>
          </p:grpSpPr>
          <p:sp>
            <p:nvSpPr>
              <p:cNvPr id="3006" name="Google Shape;3006;p55"/>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07" name="Google Shape;3007;p55"/>
              <p:cNvSpPr txBox="1"/>
              <p:nvPr/>
            </p:nvSpPr>
            <p:spPr>
              <a:xfrm>
                <a:off x="1895" y="3931"/>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lang="en-US" sz="1200">
                    <a:solidFill>
                      <a:srgbClr val="FFFFFF"/>
                    </a:solidFill>
                    <a:highlight>
                      <a:srgbClr val="0013A3"/>
                    </a:highlight>
                  </a:rPr>
                  <a:t>0 1 2</a:t>
                </a:r>
                <a:r>
                  <a:rPr b="0" i="0" lang="en-US" sz="1200" u="none" cap="none" strike="noStrike">
                    <a:solidFill>
                      <a:srgbClr val="000000"/>
                    </a:solidFill>
                    <a:latin typeface="Arial"/>
                    <a:ea typeface="Arial"/>
                    <a:cs typeface="Arial"/>
                    <a:sym typeface="Arial"/>
                  </a:rPr>
                  <a:t> 3 0 1 2</a:t>
                </a:r>
                <a:endParaRPr/>
              </a:p>
            </p:txBody>
          </p:sp>
        </p:grpSp>
        <p:cxnSp>
          <p:nvCxnSpPr>
            <p:cNvPr id="3008" name="Google Shape;3008;p55"/>
            <p:cNvCxnSpPr/>
            <p:nvPr/>
          </p:nvCxnSpPr>
          <p:spPr>
            <a:xfrm>
              <a:off x="7990845" y="5961520"/>
              <a:ext cx="1784400" cy="223800"/>
            </a:xfrm>
            <a:prstGeom prst="straightConnector1">
              <a:avLst/>
            </a:prstGeom>
            <a:noFill/>
            <a:ln cap="flat" cmpd="sng" w="19050">
              <a:solidFill>
                <a:srgbClr val="000099"/>
              </a:solidFill>
              <a:prstDash val="solid"/>
              <a:round/>
              <a:headEnd len="med" w="med" type="none"/>
              <a:tailEnd len="med" w="med" type="triangle"/>
            </a:ln>
          </p:spPr>
        </p:cxnSp>
        <p:sp>
          <p:nvSpPr>
            <p:cNvPr id="3009" name="Google Shape;3009;p55"/>
            <p:cNvSpPr txBox="1"/>
            <p:nvPr/>
          </p:nvSpPr>
          <p:spPr>
            <a:xfrm>
              <a:off x="8074982" y="5747207"/>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3010" name="Google Shape;3010;p55"/>
            <p:cNvSpPr txBox="1"/>
            <p:nvPr/>
          </p:nvSpPr>
          <p:spPr>
            <a:xfrm>
              <a:off x="6924038" y="5429701"/>
              <a:ext cx="1677900" cy="480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retransmit pkt0</a:t>
              </a:r>
              <a:endParaRPr/>
            </a:p>
          </p:txBody>
        </p:sp>
        <p:sp>
          <p:nvSpPr>
            <p:cNvPr id="3011" name="Google Shape;3011;p55"/>
            <p:cNvSpPr/>
            <p:nvPr/>
          </p:nvSpPr>
          <p:spPr>
            <a:xfrm>
              <a:off x="9959345" y="4559756"/>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12" name="Google Shape;3012;p55"/>
            <p:cNvSpPr txBox="1"/>
            <p:nvPr/>
          </p:nvSpPr>
          <p:spPr>
            <a:xfrm>
              <a:off x="9770440" y="4510551"/>
              <a:ext cx="1220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3013" name="Google Shape;3013;p55"/>
            <p:cNvSpPr/>
            <p:nvPr/>
          </p:nvSpPr>
          <p:spPr>
            <a:xfrm>
              <a:off x="10079995" y="4831219"/>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14" name="Google Shape;3014;p55"/>
            <p:cNvSpPr txBox="1"/>
            <p:nvPr/>
          </p:nvSpPr>
          <p:spPr>
            <a:xfrm>
              <a:off x="9767265" y="4785176"/>
              <a:ext cx="1160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3015" name="Google Shape;3015;p55"/>
            <p:cNvSpPr/>
            <p:nvPr/>
          </p:nvSpPr>
          <p:spPr>
            <a:xfrm>
              <a:off x="10210170" y="5094744"/>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16" name="Google Shape;3016;p55"/>
            <p:cNvSpPr txBox="1"/>
            <p:nvPr/>
          </p:nvSpPr>
          <p:spPr>
            <a:xfrm>
              <a:off x="9770440" y="5048701"/>
              <a:ext cx="1160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3017" name="Google Shape;3017;p55"/>
            <p:cNvCxnSpPr/>
            <p:nvPr/>
          </p:nvCxnSpPr>
          <p:spPr>
            <a:xfrm flipH="1">
              <a:off x="9122782" y="4642306"/>
              <a:ext cx="577800" cy="257100"/>
            </a:xfrm>
            <a:prstGeom prst="straightConnector1">
              <a:avLst/>
            </a:prstGeom>
            <a:noFill/>
            <a:ln cap="flat" cmpd="sng" w="19050">
              <a:solidFill>
                <a:srgbClr val="008000"/>
              </a:solidFill>
              <a:prstDash val="solid"/>
              <a:round/>
              <a:headEnd len="med" w="med" type="none"/>
              <a:tailEnd len="med" w="med" type="triangle"/>
            </a:ln>
          </p:spPr>
        </p:cxnSp>
        <p:cxnSp>
          <p:nvCxnSpPr>
            <p:cNvPr id="3018" name="Google Shape;3018;p55"/>
            <p:cNvCxnSpPr/>
            <p:nvPr/>
          </p:nvCxnSpPr>
          <p:spPr>
            <a:xfrm flipH="1">
              <a:off x="9122645" y="4905831"/>
              <a:ext cx="608100" cy="225300"/>
            </a:xfrm>
            <a:prstGeom prst="straightConnector1">
              <a:avLst/>
            </a:prstGeom>
            <a:noFill/>
            <a:ln cap="flat" cmpd="sng" w="19050">
              <a:solidFill>
                <a:srgbClr val="008000"/>
              </a:solidFill>
              <a:prstDash val="solid"/>
              <a:round/>
              <a:headEnd len="med" w="med" type="none"/>
              <a:tailEnd len="med" w="med" type="triangle"/>
            </a:ln>
          </p:spPr>
        </p:cxnSp>
        <p:cxnSp>
          <p:nvCxnSpPr>
            <p:cNvPr id="3019" name="Google Shape;3019;p55"/>
            <p:cNvCxnSpPr/>
            <p:nvPr/>
          </p:nvCxnSpPr>
          <p:spPr>
            <a:xfrm flipH="1">
              <a:off x="9129107" y="5169357"/>
              <a:ext cx="631800" cy="212700"/>
            </a:xfrm>
            <a:prstGeom prst="straightConnector1">
              <a:avLst/>
            </a:prstGeom>
            <a:noFill/>
            <a:ln cap="flat" cmpd="sng" w="19050">
              <a:solidFill>
                <a:srgbClr val="008000"/>
              </a:solidFill>
              <a:prstDash val="solid"/>
              <a:round/>
              <a:headEnd len="med" w="med" type="none"/>
              <a:tailEnd len="med" w="med" type="triangle"/>
            </a:ln>
          </p:spPr>
        </p:cxnSp>
        <p:sp>
          <p:nvSpPr>
            <p:cNvPr id="3020" name="Google Shape;3020;p55"/>
            <p:cNvSpPr txBox="1"/>
            <p:nvPr/>
          </p:nvSpPr>
          <p:spPr>
            <a:xfrm>
              <a:off x="8913182" y="4759781"/>
              <a:ext cx="324000" cy="33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3021" name="Google Shape;3021;p55"/>
            <p:cNvSpPr txBox="1"/>
            <p:nvPr/>
          </p:nvSpPr>
          <p:spPr>
            <a:xfrm>
              <a:off x="8921120" y="5002669"/>
              <a:ext cx="324000" cy="33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3022" name="Google Shape;3022;p55"/>
            <p:cNvSpPr txBox="1"/>
            <p:nvPr/>
          </p:nvSpPr>
          <p:spPr>
            <a:xfrm>
              <a:off x="8927470" y="5240794"/>
              <a:ext cx="324000" cy="33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3023" name="Google Shape;3023;p55"/>
            <p:cNvSpPr txBox="1"/>
            <p:nvPr/>
          </p:nvSpPr>
          <p:spPr>
            <a:xfrm>
              <a:off x="9719632" y="595040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3024" name="Google Shape;3024;p55"/>
            <p:cNvCxnSpPr/>
            <p:nvPr/>
          </p:nvCxnSpPr>
          <p:spPr>
            <a:xfrm rot="10800000">
              <a:off x="10424482" y="5345469"/>
              <a:ext cx="0" cy="635100"/>
            </a:xfrm>
            <a:prstGeom prst="straightConnector1">
              <a:avLst/>
            </a:prstGeom>
            <a:noFill/>
            <a:ln cap="flat" cmpd="sng" w="9525">
              <a:solidFill>
                <a:srgbClr val="CC0000"/>
              </a:solidFill>
              <a:prstDash val="solid"/>
              <a:round/>
              <a:headEnd len="med" w="med" type="none"/>
              <a:tailEnd len="med" w="med" type="triangle"/>
            </a:ln>
          </p:spPr>
        </p:cxnSp>
      </p:grpSp>
      <p:sp>
        <p:nvSpPr>
          <p:cNvPr id="3025" name="Google Shape;3025;p55"/>
          <p:cNvSpPr txBox="1"/>
          <p:nvPr/>
        </p:nvSpPr>
        <p:spPr>
          <a:xfrm>
            <a:off x="6903407" y="6111434"/>
            <a:ext cx="12207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(b) oops!</a:t>
            </a:r>
            <a:endParaRPr/>
          </a:p>
        </p:txBody>
      </p:sp>
      <p:grpSp>
        <p:nvGrpSpPr>
          <p:cNvPr id="3026" name="Google Shape;3026;p55"/>
          <p:cNvGrpSpPr/>
          <p:nvPr/>
        </p:nvGrpSpPr>
        <p:grpSpPr>
          <a:xfrm>
            <a:off x="6671176" y="351292"/>
            <a:ext cx="4524831" cy="2644775"/>
            <a:chOff x="6671176" y="351292"/>
            <a:chExt cx="4524831" cy="2644775"/>
          </a:xfrm>
        </p:grpSpPr>
        <p:sp>
          <p:nvSpPr>
            <p:cNvPr id="3027" name="Google Shape;3027;p55"/>
            <p:cNvSpPr txBox="1"/>
            <p:nvPr/>
          </p:nvSpPr>
          <p:spPr>
            <a:xfrm>
              <a:off x="9546595" y="351292"/>
              <a:ext cx="1458900" cy="51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sp>
          <p:nvSpPr>
            <p:cNvPr id="3028" name="Google Shape;3028;p55"/>
            <p:cNvSpPr txBox="1"/>
            <p:nvPr/>
          </p:nvSpPr>
          <p:spPr>
            <a:xfrm>
              <a:off x="6785932" y="354467"/>
              <a:ext cx="1365300" cy="51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cxnSp>
          <p:nvCxnSpPr>
            <p:cNvPr id="3029" name="Google Shape;3029;p55"/>
            <p:cNvCxnSpPr/>
            <p:nvPr/>
          </p:nvCxnSpPr>
          <p:spPr>
            <a:xfrm>
              <a:off x="6871657" y="845004"/>
              <a:ext cx="1109700" cy="0"/>
            </a:xfrm>
            <a:prstGeom prst="straightConnector1">
              <a:avLst/>
            </a:prstGeom>
            <a:noFill/>
            <a:ln cap="flat" cmpd="sng" w="19050">
              <a:solidFill>
                <a:srgbClr val="000099"/>
              </a:solidFill>
              <a:prstDash val="solid"/>
              <a:round/>
              <a:headEnd len="med" w="med" type="none"/>
              <a:tailEnd len="med" w="med" type="none"/>
            </a:ln>
          </p:spPr>
        </p:cxnSp>
        <p:cxnSp>
          <p:nvCxnSpPr>
            <p:cNvPr id="3030" name="Google Shape;3030;p55"/>
            <p:cNvCxnSpPr/>
            <p:nvPr/>
          </p:nvCxnSpPr>
          <p:spPr>
            <a:xfrm>
              <a:off x="9652957" y="845004"/>
              <a:ext cx="1109700" cy="0"/>
            </a:xfrm>
            <a:prstGeom prst="straightConnector1">
              <a:avLst/>
            </a:prstGeom>
            <a:noFill/>
            <a:ln cap="flat" cmpd="sng" w="19050">
              <a:solidFill>
                <a:srgbClr val="008000"/>
              </a:solidFill>
              <a:prstDash val="solid"/>
              <a:round/>
              <a:headEnd len="med" w="med" type="none"/>
              <a:tailEnd len="med" w="med" type="none"/>
            </a:ln>
          </p:spPr>
        </p:cxnSp>
        <p:grpSp>
          <p:nvGrpSpPr>
            <p:cNvPr id="3031" name="Google Shape;3031;p55"/>
            <p:cNvGrpSpPr/>
            <p:nvPr/>
          </p:nvGrpSpPr>
          <p:grpSpPr>
            <a:xfrm>
              <a:off x="6671176" y="1057725"/>
              <a:ext cx="1428749" cy="476251"/>
              <a:chOff x="1734" y="3931"/>
              <a:chExt cx="900" cy="300"/>
            </a:xfrm>
          </p:grpSpPr>
          <p:sp>
            <p:nvSpPr>
              <p:cNvPr id="3032" name="Google Shape;3032;p55"/>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33" name="Google Shape;3033;p55"/>
              <p:cNvSpPr txBox="1"/>
              <p:nvPr/>
            </p:nvSpPr>
            <p:spPr>
              <a:xfrm>
                <a:off x="1734" y="3931"/>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lang="en-US" sz="1200">
                    <a:solidFill>
                      <a:srgbClr val="FFFFFF"/>
                    </a:solidFill>
                    <a:highlight>
                      <a:srgbClr val="0013A3"/>
                    </a:highlight>
                  </a:rPr>
                  <a:t>0 1 2</a:t>
                </a:r>
                <a:r>
                  <a:rPr b="0" i="0" lang="en-US" sz="1200" u="none" cap="none" strike="noStrike">
                    <a:solidFill>
                      <a:srgbClr val="000000"/>
                    </a:solidFill>
                    <a:latin typeface="Arial"/>
                    <a:ea typeface="Arial"/>
                    <a:cs typeface="Arial"/>
                    <a:sym typeface="Arial"/>
                  </a:rPr>
                  <a:t> 3 0 1 2</a:t>
                </a:r>
                <a:endParaRPr/>
              </a:p>
            </p:txBody>
          </p:sp>
        </p:grpSp>
        <p:grpSp>
          <p:nvGrpSpPr>
            <p:cNvPr id="3034" name="Google Shape;3034;p55"/>
            <p:cNvGrpSpPr/>
            <p:nvPr/>
          </p:nvGrpSpPr>
          <p:grpSpPr>
            <a:xfrm>
              <a:off x="6711376" y="1332375"/>
              <a:ext cx="1428749" cy="476251"/>
              <a:chOff x="1747" y="3931"/>
              <a:chExt cx="900" cy="300"/>
            </a:xfrm>
          </p:grpSpPr>
          <p:sp>
            <p:nvSpPr>
              <p:cNvPr id="3035" name="Google Shape;3035;p55"/>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36" name="Google Shape;3036;p55"/>
              <p:cNvSpPr txBox="1"/>
              <p:nvPr/>
            </p:nvSpPr>
            <p:spPr>
              <a:xfrm>
                <a:off x="1747" y="3931"/>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lang="en-US" sz="1200">
                    <a:solidFill>
                      <a:srgbClr val="FFFFFF"/>
                    </a:solidFill>
                    <a:highlight>
                      <a:srgbClr val="0013A3"/>
                    </a:highlight>
                  </a:rPr>
                  <a:t>0 1 2</a:t>
                </a:r>
                <a:r>
                  <a:rPr b="0" i="0" lang="en-US" sz="1200" u="none" cap="none" strike="noStrike">
                    <a:solidFill>
                      <a:srgbClr val="000000"/>
                    </a:solidFill>
                    <a:latin typeface="Arial"/>
                    <a:ea typeface="Arial"/>
                    <a:cs typeface="Arial"/>
                    <a:sym typeface="Arial"/>
                  </a:rPr>
                  <a:t> 3 0 1 2</a:t>
                </a:r>
                <a:endParaRPr/>
              </a:p>
            </p:txBody>
          </p:sp>
        </p:grpSp>
        <p:grpSp>
          <p:nvGrpSpPr>
            <p:cNvPr id="3037" name="Google Shape;3037;p55"/>
            <p:cNvGrpSpPr/>
            <p:nvPr/>
          </p:nvGrpSpPr>
          <p:grpSpPr>
            <a:xfrm>
              <a:off x="6725599" y="1595900"/>
              <a:ext cx="1428749" cy="476251"/>
              <a:chOff x="1751" y="3931"/>
              <a:chExt cx="900" cy="300"/>
            </a:xfrm>
          </p:grpSpPr>
          <p:sp>
            <p:nvSpPr>
              <p:cNvPr id="3038" name="Google Shape;3038;p55"/>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39" name="Google Shape;3039;p55"/>
              <p:cNvSpPr txBox="1"/>
              <p:nvPr/>
            </p:nvSpPr>
            <p:spPr>
              <a:xfrm>
                <a:off x="1751" y="3931"/>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lang="en-US" sz="1200">
                    <a:solidFill>
                      <a:srgbClr val="FFFFFF"/>
                    </a:solidFill>
                    <a:highlight>
                      <a:srgbClr val="0013A3"/>
                    </a:highlight>
                  </a:rPr>
                  <a:t>0 1 2</a:t>
                </a:r>
                <a:r>
                  <a:rPr b="0" i="0" lang="en-US" sz="1200" u="none" cap="none" strike="noStrike">
                    <a:solidFill>
                      <a:srgbClr val="000000"/>
                    </a:solidFill>
                    <a:latin typeface="Arial"/>
                    <a:ea typeface="Arial"/>
                    <a:cs typeface="Arial"/>
                    <a:sym typeface="Arial"/>
                  </a:rPr>
                  <a:t> 3 0 1 2</a:t>
                </a:r>
                <a:endParaRPr/>
              </a:p>
            </p:txBody>
          </p:sp>
        </p:grpSp>
        <p:cxnSp>
          <p:nvCxnSpPr>
            <p:cNvPr id="3040" name="Google Shape;3040;p55"/>
            <p:cNvCxnSpPr/>
            <p:nvPr/>
          </p:nvCxnSpPr>
          <p:spPr>
            <a:xfrm>
              <a:off x="7944807" y="1195842"/>
              <a:ext cx="1827300" cy="238200"/>
            </a:xfrm>
            <a:prstGeom prst="straightConnector1">
              <a:avLst/>
            </a:prstGeom>
            <a:noFill/>
            <a:ln cap="flat" cmpd="sng" w="19050">
              <a:solidFill>
                <a:srgbClr val="000099"/>
              </a:solidFill>
              <a:prstDash val="solid"/>
              <a:round/>
              <a:headEnd len="med" w="med" type="none"/>
              <a:tailEnd len="med" w="med" type="triangle"/>
            </a:ln>
          </p:spPr>
        </p:cxnSp>
        <p:cxnSp>
          <p:nvCxnSpPr>
            <p:cNvPr id="3041" name="Google Shape;3041;p55"/>
            <p:cNvCxnSpPr/>
            <p:nvPr/>
          </p:nvCxnSpPr>
          <p:spPr>
            <a:xfrm>
              <a:off x="7974970" y="1481592"/>
              <a:ext cx="1808100" cy="228600"/>
            </a:xfrm>
            <a:prstGeom prst="straightConnector1">
              <a:avLst/>
            </a:prstGeom>
            <a:noFill/>
            <a:ln cap="flat" cmpd="sng" w="19050">
              <a:solidFill>
                <a:srgbClr val="000099"/>
              </a:solidFill>
              <a:prstDash val="solid"/>
              <a:round/>
              <a:headEnd len="med" w="med" type="none"/>
              <a:tailEnd len="med" w="med" type="triangle"/>
            </a:ln>
          </p:spPr>
        </p:cxnSp>
        <p:cxnSp>
          <p:nvCxnSpPr>
            <p:cNvPr id="3042" name="Google Shape;3042;p55"/>
            <p:cNvCxnSpPr/>
            <p:nvPr/>
          </p:nvCxnSpPr>
          <p:spPr>
            <a:xfrm>
              <a:off x="8005132" y="1767342"/>
              <a:ext cx="1784400" cy="209700"/>
            </a:xfrm>
            <a:prstGeom prst="straightConnector1">
              <a:avLst/>
            </a:prstGeom>
            <a:noFill/>
            <a:ln cap="flat" cmpd="sng" w="19050">
              <a:solidFill>
                <a:srgbClr val="000099"/>
              </a:solidFill>
              <a:prstDash val="solid"/>
              <a:round/>
              <a:headEnd len="med" w="med" type="none"/>
              <a:tailEnd len="med" w="med" type="triangle"/>
            </a:ln>
          </p:spPr>
        </p:cxnSp>
        <p:sp>
          <p:nvSpPr>
            <p:cNvPr id="3043" name="Google Shape;3043;p55"/>
            <p:cNvSpPr txBox="1"/>
            <p:nvPr/>
          </p:nvSpPr>
          <p:spPr>
            <a:xfrm>
              <a:off x="7990845" y="981529"/>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3044" name="Google Shape;3044;p55"/>
            <p:cNvSpPr txBox="1"/>
            <p:nvPr/>
          </p:nvSpPr>
          <p:spPr>
            <a:xfrm>
              <a:off x="8054345" y="1267279"/>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3045" name="Google Shape;3045;p55"/>
            <p:cNvSpPr txBox="1"/>
            <p:nvPr/>
          </p:nvSpPr>
          <p:spPr>
            <a:xfrm>
              <a:off x="8051170" y="1553029"/>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sp>
          <p:nvSpPr>
            <p:cNvPr id="3046" name="Google Shape;3046;p55"/>
            <p:cNvSpPr/>
            <p:nvPr/>
          </p:nvSpPr>
          <p:spPr>
            <a:xfrm>
              <a:off x="7270120" y="2369004"/>
              <a:ext cx="401700" cy="1890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47" name="Google Shape;3047;p55"/>
            <p:cNvSpPr txBox="1"/>
            <p:nvPr/>
          </p:nvSpPr>
          <p:spPr>
            <a:xfrm>
              <a:off x="6957373" y="2322975"/>
              <a:ext cx="13230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3 0</a:t>
              </a:r>
              <a:r>
                <a:rPr b="0" i="0" lang="en-US" sz="1200" u="none" cap="none" strike="noStrike">
                  <a:solidFill>
                    <a:srgbClr val="000000"/>
                  </a:solidFill>
                  <a:latin typeface="Arial"/>
                  <a:ea typeface="Arial"/>
                  <a:cs typeface="Arial"/>
                  <a:sym typeface="Arial"/>
                </a:rPr>
                <a:t> 1 2</a:t>
              </a:r>
              <a:endParaRPr/>
            </a:p>
          </p:txBody>
        </p:sp>
        <p:cxnSp>
          <p:nvCxnSpPr>
            <p:cNvPr id="3048" name="Google Shape;3048;p55"/>
            <p:cNvCxnSpPr/>
            <p:nvPr/>
          </p:nvCxnSpPr>
          <p:spPr>
            <a:xfrm>
              <a:off x="7976557" y="2494417"/>
              <a:ext cx="1784400" cy="223800"/>
            </a:xfrm>
            <a:prstGeom prst="straightConnector1">
              <a:avLst/>
            </a:prstGeom>
            <a:noFill/>
            <a:ln cap="flat" cmpd="sng" w="19050">
              <a:solidFill>
                <a:srgbClr val="000099"/>
              </a:solidFill>
              <a:prstDash val="solid"/>
              <a:round/>
              <a:headEnd len="med" w="med" type="none"/>
              <a:tailEnd len="med" w="med" type="triangle"/>
            </a:ln>
          </p:spPr>
        </p:cxnSp>
        <p:sp>
          <p:nvSpPr>
            <p:cNvPr id="3049" name="Google Shape;3049;p55"/>
            <p:cNvSpPr txBox="1"/>
            <p:nvPr/>
          </p:nvSpPr>
          <p:spPr>
            <a:xfrm>
              <a:off x="8079745" y="2502354"/>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3050" name="Google Shape;3050;p55"/>
            <p:cNvSpPr/>
            <p:nvPr/>
          </p:nvSpPr>
          <p:spPr>
            <a:xfrm>
              <a:off x="9976807" y="1359354"/>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51" name="Google Shape;3051;p55"/>
            <p:cNvSpPr txBox="1"/>
            <p:nvPr/>
          </p:nvSpPr>
          <p:spPr>
            <a:xfrm>
              <a:off x="9787901" y="1310150"/>
              <a:ext cx="1220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3052" name="Google Shape;3052;p55"/>
            <p:cNvSpPr/>
            <p:nvPr/>
          </p:nvSpPr>
          <p:spPr>
            <a:xfrm>
              <a:off x="10097457" y="1630817"/>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53" name="Google Shape;3053;p55"/>
            <p:cNvSpPr txBox="1"/>
            <p:nvPr/>
          </p:nvSpPr>
          <p:spPr>
            <a:xfrm>
              <a:off x="9784725" y="1584775"/>
              <a:ext cx="1109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3054" name="Google Shape;3054;p55"/>
            <p:cNvSpPr/>
            <p:nvPr/>
          </p:nvSpPr>
          <p:spPr>
            <a:xfrm>
              <a:off x="10227632" y="1894342"/>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55" name="Google Shape;3055;p55"/>
            <p:cNvSpPr txBox="1"/>
            <p:nvPr/>
          </p:nvSpPr>
          <p:spPr>
            <a:xfrm>
              <a:off x="9787901" y="1848300"/>
              <a:ext cx="1171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3056" name="Google Shape;3056;p55"/>
            <p:cNvCxnSpPr/>
            <p:nvPr/>
          </p:nvCxnSpPr>
          <p:spPr>
            <a:xfrm flipH="1">
              <a:off x="7933645" y="1441904"/>
              <a:ext cx="1784400" cy="735000"/>
            </a:xfrm>
            <a:prstGeom prst="straightConnector1">
              <a:avLst/>
            </a:prstGeom>
            <a:noFill/>
            <a:ln cap="flat" cmpd="sng" w="19050">
              <a:solidFill>
                <a:srgbClr val="008000"/>
              </a:solidFill>
              <a:prstDash val="solid"/>
              <a:round/>
              <a:headEnd len="med" w="med" type="none"/>
              <a:tailEnd len="med" w="med" type="triangle"/>
            </a:ln>
          </p:spPr>
        </p:cxnSp>
        <p:cxnSp>
          <p:nvCxnSpPr>
            <p:cNvPr id="3057" name="Google Shape;3057;p55"/>
            <p:cNvCxnSpPr/>
            <p:nvPr/>
          </p:nvCxnSpPr>
          <p:spPr>
            <a:xfrm flipH="1">
              <a:off x="7952707" y="1705429"/>
              <a:ext cx="1795500" cy="758700"/>
            </a:xfrm>
            <a:prstGeom prst="straightConnector1">
              <a:avLst/>
            </a:prstGeom>
            <a:noFill/>
            <a:ln cap="flat" cmpd="sng" w="19050">
              <a:solidFill>
                <a:srgbClr val="008000"/>
              </a:solidFill>
              <a:prstDash val="solid"/>
              <a:round/>
              <a:headEnd len="med" w="med" type="none"/>
              <a:tailEnd len="med" w="med" type="triangle"/>
            </a:ln>
          </p:spPr>
        </p:cxnSp>
        <p:sp>
          <p:nvSpPr>
            <p:cNvPr id="3058" name="Google Shape;3058;p55"/>
            <p:cNvSpPr txBox="1"/>
            <p:nvPr/>
          </p:nvSpPr>
          <p:spPr>
            <a:xfrm>
              <a:off x="8452807" y="2132467"/>
              <a:ext cx="324000" cy="33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3059" name="Google Shape;3059;p55"/>
            <p:cNvSpPr txBox="1"/>
            <p:nvPr/>
          </p:nvSpPr>
          <p:spPr>
            <a:xfrm>
              <a:off x="9748207" y="253886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3060" name="Google Shape;3060;p55"/>
            <p:cNvCxnSpPr/>
            <p:nvPr/>
          </p:nvCxnSpPr>
          <p:spPr>
            <a:xfrm rot="10800000">
              <a:off x="10441945" y="2145155"/>
              <a:ext cx="0" cy="446100"/>
            </a:xfrm>
            <a:prstGeom prst="straightConnector1">
              <a:avLst/>
            </a:prstGeom>
            <a:noFill/>
            <a:ln cap="flat" cmpd="sng" w="9525">
              <a:solidFill>
                <a:srgbClr val="CC0000"/>
              </a:solidFill>
              <a:prstDash val="solid"/>
              <a:round/>
              <a:headEnd len="med" w="med" type="none"/>
              <a:tailEnd len="med" w="med" type="triangle"/>
            </a:ln>
          </p:spPr>
        </p:cxnSp>
        <p:cxnSp>
          <p:nvCxnSpPr>
            <p:cNvPr id="3061" name="Google Shape;3061;p55"/>
            <p:cNvCxnSpPr/>
            <p:nvPr/>
          </p:nvCxnSpPr>
          <p:spPr>
            <a:xfrm>
              <a:off x="7968620" y="2203904"/>
              <a:ext cx="590700" cy="72900"/>
            </a:xfrm>
            <a:prstGeom prst="straightConnector1">
              <a:avLst/>
            </a:prstGeom>
            <a:noFill/>
            <a:ln cap="flat" cmpd="sng" w="19050">
              <a:solidFill>
                <a:srgbClr val="000099"/>
              </a:solidFill>
              <a:prstDash val="solid"/>
              <a:round/>
              <a:headEnd len="med" w="med" type="none"/>
              <a:tailEnd len="med" w="med" type="triangle"/>
            </a:ln>
          </p:spPr>
        </p:cxnSp>
        <p:grpSp>
          <p:nvGrpSpPr>
            <p:cNvPr id="3062" name="Google Shape;3062;p55"/>
            <p:cNvGrpSpPr/>
            <p:nvPr/>
          </p:nvGrpSpPr>
          <p:grpSpPr>
            <a:xfrm>
              <a:off x="6800176" y="2037225"/>
              <a:ext cx="1428749" cy="476251"/>
              <a:chOff x="2568" y="3750"/>
              <a:chExt cx="900" cy="300"/>
            </a:xfrm>
          </p:grpSpPr>
          <p:sp>
            <p:nvSpPr>
              <p:cNvPr id="3063" name="Google Shape;3063;p55"/>
              <p:cNvSpPr/>
              <p:nvPr/>
            </p:nvSpPr>
            <p:spPr>
              <a:xfrm>
                <a:off x="2786" y="3779"/>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64" name="Google Shape;3064;p55"/>
              <p:cNvSpPr txBox="1"/>
              <p:nvPr/>
            </p:nvSpPr>
            <p:spPr>
              <a:xfrm>
                <a:off x="2568" y="3750"/>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a:t>
                </a:r>
                <a:r>
                  <a:rPr b="0" i="0" lang="en-US" sz="1200" u="none" cap="none" strike="noStrike">
                    <a:solidFill>
                      <a:srgbClr val="FFFFFF"/>
                    </a:solidFill>
                    <a:highlight>
                      <a:srgbClr val="0013A3"/>
                    </a:highlight>
                    <a:latin typeface="Arial"/>
                    <a:ea typeface="Arial"/>
                    <a:cs typeface="Arial"/>
                    <a:sym typeface="Arial"/>
                  </a:rPr>
                  <a:t>1 2</a:t>
                </a:r>
                <a:r>
                  <a:rPr b="0" i="0" lang="en-US" sz="1200" u="none" cap="none" strike="noStrike">
                    <a:solidFill>
                      <a:srgbClr val="000000"/>
                    </a:solidFill>
                    <a:highlight>
                      <a:srgbClr val="0013A3"/>
                    </a:highlight>
                    <a:latin typeface="Arial"/>
                    <a:ea typeface="Arial"/>
                    <a:cs typeface="Arial"/>
                    <a:sym typeface="Arial"/>
                  </a:rPr>
                  <a:t> </a:t>
                </a:r>
                <a:r>
                  <a:rPr b="0" i="0" lang="en-US" sz="1200" u="none" cap="none" strike="noStrike">
                    <a:solidFill>
                      <a:srgbClr val="FFFFFF"/>
                    </a:solidFill>
                    <a:highlight>
                      <a:srgbClr val="0013A3"/>
                    </a:highlight>
                    <a:latin typeface="Arial"/>
                    <a:ea typeface="Arial"/>
                    <a:cs typeface="Arial"/>
                    <a:sym typeface="Arial"/>
                  </a:rPr>
                  <a:t>3 </a:t>
                </a:r>
                <a:r>
                  <a:rPr b="0" i="0" lang="en-US" sz="1200" u="none" cap="none" strike="noStrike">
                    <a:solidFill>
                      <a:srgbClr val="000000"/>
                    </a:solidFill>
                    <a:latin typeface="Arial"/>
                    <a:ea typeface="Arial"/>
                    <a:cs typeface="Arial"/>
                    <a:sym typeface="Arial"/>
                  </a:rPr>
                  <a:t>0 1 2</a:t>
                </a:r>
                <a:endParaRPr/>
              </a:p>
            </p:txBody>
          </p:sp>
        </p:grpSp>
        <p:sp>
          <p:nvSpPr>
            <p:cNvPr id="3065" name="Google Shape;3065;p55"/>
            <p:cNvSpPr txBox="1"/>
            <p:nvPr/>
          </p:nvSpPr>
          <p:spPr>
            <a:xfrm>
              <a:off x="8082920" y="1988004"/>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pkt3</a:t>
              </a:r>
              <a:endParaRPr/>
            </a:p>
          </p:txBody>
        </p:sp>
      </p:grpSp>
      <p:sp>
        <p:nvSpPr>
          <p:cNvPr id="3066" name="Google Shape;3066;p55"/>
          <p:cNvSpPr txBox="1"/>
          <p:nvPr/>
        </p:nvSpPr>
        <p:spPr>
          <a:xfrm>
            <a:off x="6800220" y="2834142"/>
            <a:ext cx="18795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(a) no problem</a:t>
            </a:r>
            <a:endParaRPr/>
          </a:p>
        </p:txBody>
      </p:sp>
      <p:sp>
        <p:nvSpPr>
          <p:cNvPr id="3067" name="Google Shape;3067;p55"/>
          <p:cNvSpPr txBox="1"/>
          <p:nvPr/>
        </p:nvSpPr>
        <p:spPr>
          <a:xfrm>
            <a:off x="794654" y="1899557"/>
            <a:ext cx="5517300" cy="1326300"/>
          </a:xfrm>
          <a:prstGeom prst="rect">
            <a:avLst/>
          </a:prstGeom>
          <a:noFill/>
          <a:ln>
            <a:noFill/>
          </a:ln>
        </p:spPr>
        <p:txBody>
          <a:bodyPr anchorCtr="0" anchor="t" bIns="45700" lIns="91425" spcFirstLastPara="1" rIns="91425" wrap="square" tIns="45700">
            <a:normAutofit/>
          </a:bodyPr>
          <a:lstStyle/>
          <a:p>
            <a:pPr indent="0" lvl="0" marL="158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seq #s: 0, 1, 2, 3 </a:t>
            </a:r>
            <a:r>
              <a:rPr b="0" i="0" lang="en-US" sz="2000" u="none" cap="none" strike="noStrike">
                <a:solidFill>
                  <a:srgbClr val="000000"/>
                </a:solidFill>
                <a:latin typeface="Calibri"/>
                <a:ea typeface="Calibri"/>
                <a:cs typeface="Calibri"/>
                <a:sym typeface="Calibri"/>
              </a:rPr>
              <a:t>(base 4 counting)</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window size=3</a:t>
            </a:r>
            <a:endParaRPr b="0" i="0" sz="2800" u="none" cap="none" strike="noStrike">
              <a:solidFill>
                <a:srgbClr val="000000"/>
              </a:solidFill>
              <a:latin typeface="Calibri"/>
              <a:ea typeface="Calibri"/>
              <a:cs typeface="Calibri"/>
              <a:sym typeface="Calibri"/>
            </a:endParaRPr>
          </a:p>
        </p:txBody>
      </p:sp>
      <p:sp>
        <p:nvSpPr>
          <p:cNvPr id="3068" name="Google Shape;3068;p55"/>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6"/>
                                        </p:tgtEl>
                                        <p:attrNameLst>
                                          <p:attrName>style.visibility</p:attrName>
                                        </p:attrNameLst>
                                      </p:cBhvr>
                                      <p:to>
                                        <p:strVal val="visible"/>
                                      </p:to>
                                    </p:set>
                                    <p:animEffect filter="fade" transition="in">
                                      <p:cBhvr>
                                        <p:cTn dur="500"/>
                                        <p:tgtEl>
                                          <p:spTgt spid="30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6"/>
                                        </p:tgtEl>
                                        <p:attrNameLst>
                                          <p:attrName>style.visibility</p:attrName>
                                        </p:attrNameLst>
                                      </p:cBhvr>
                                      <p:to>
                                        <p:strVal val="visible"/>
                                      </p:to>
                                    </p:set>
                                    <p:animEffect filter="fade" transition="in">
                                      <p:cBhvr>
                                        <p:cTn dur="500"/>
                                        <p:tgtEl>
                                          <p:spTgt spid="30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9"/>
                                        </p:tgtEl>
                                        <p:attrNameLst>
                                          <p:attrName>style.visibility</p:attrName>
                                        </p:attrNameLst>
                                      </p:cBhvr>
                                      <p:to>
                                        <p:strVal val="visible"/>
                                      </p:to>
                                    </p:set>
                                    <p:animEffect filter="fade" transition="in">
                                      <p:cBhvr>
                                        <p:cTn dur="500"/>
                                        <p:tgtEl>
                                          <p:spTgt spid="29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5"/>
                                        </p:tgtEl>
                                        <p:attrNameLst>
                                          <p:attrName>style.visibility</p:attrName>
                                        </p:attrNameLst>
                                      </p:cBhvr>
                                      <p:to>
                                        <p:strVal val="visible"/>
                                      </p:to>
                                    </p:set>
                                    <p:animEffect filter="fade" transition="in">
                                      <p:cBhvr>
                                        <p:cTn dur="500"/>
                                        <p:tgtEl>
                                          <p:spTgt spid="30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3" name="Shape 3073"/>
        <p:cNvGrpSpPr/>
        <p:nvPr/>
      </p:nvGrpSpPr>
      <p:grpSpPr>
        <a:xfrm>
          <a:off x="0" y="0"/>
          <a:ext cx="0" cy="0"/>
          <a:chOff x="0" y="0"/>
          <a:chExt cx="0" cy="0"/>
        </a:xfrm>
      </p:grpSpPr>
      <p:sp>
        <p:nvSpPr>
          <p:cNvPr id="3074" name="Google Shape;3074;p56"/>
          <p:cNvSpPr txBox="1"/>
          <p:nvPr>
            <p:ph type="title"/>
          </p:nvPr>
        </p:nvSpPr>
        <p:spPr>
          <a:xfrm>
            <a:off x="794655" y="408214"/>
            <a:ext cx="6222600" cy="13308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a:t>
            </a:r>
            <a:br>
              <a:rPr lang="en-US" sz="4800"/>
            </a:br>
            <a:r>
              <a:rPr lang="en-US" sz="4800"/>
              <a:t>a dilemma!</a:t>
            </a:r>
            <a:endParaRPr/>
          </a:p>
        </p:txBody>
      </p:sp>
      <p:sp>
        <p:nvSpPr>
          <p:cNvPr id="3075" name="Google Shape;3075;p56"/>
          <p:cNvSpPr/>
          <p:nvPr/>
        </p:nvSpPr>
        <p:spPr>
          <a:xfrm>
            <a:off x="1004800" y="3949575"/>
            <a:ext cx="5038200" cy="27819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rgbClr val="000099"/>
              </a:buClr>
              <a:buSzPts val="1560"/>
              <a:buFont typeface="Noto Sans Symbols"/>
              <a:buNone/>
            </a:pPr>
            <a:r>
              <a:t/>
            </a:r>
            <a:endParaRPr b="0" i="0" sz="2400" u="none" cap="none" strike="noStrike">
              <a:solidFill>
                <a:srgbClr val="000000"/>
              </a:solidFill>
              <a:latin typeface="Calibri"/>
              <a:ea typeface="Calibri"/>
              <a:cs typeface="Calibri"/>
              <a:sym typeface="Calibri"/>
            </a:endParaRPr>
          </a:p>
          <a:p>
            <a:pPr indent="-342900" lvl="0" marL="342900" marR="0" rtl="0" algn="l">
              <a:lnSpc>
                <a:spcPct val="80000"/>
              </a:lnSpc>
              <a:spcBef>
                <a:spcPts val="560"/>
              </a:spcBef>
              <a:spcAft>
                <a:spcPts val="0"/>
              </a:spcAft>
              <a:buClr>
                <a:srgbClr val="000099"/>
              </a:buClr>
              <a:buSzPts val="1820"/>
              <a:buFont typeface="Calibri"/>
              <a:buNone/>
            </a:pPr>
            <a:r>
              <a:rPr b="0" i="0" lang="en-US" sz="2800" u="none" cap="none" strike="noStrike">
                <a:solidFill>
                  <a:srgbClr val="CC0000"/>
                </a:solidFill>
                <a:latin typeface="Calibri"/>
                <a:ea typeface="Calibri"/>
                <a:cs typeface="Calibri"/>
                <a:sym typeface="Calibri"/>
              </a:rPr>
              <a:t>Q:</a:t>
            </a:r>
            <a:r>
              <a:rPr b="0" i="0" lang="en-US" sz="2800" u="none" cap="none" strike="noStrike">
                <a:solidFill>
                  <a:srgbClr val="000000"/>
                </a:solidFill>
                <a:latin typeface="Calibri"/>
                <a:ea typeface="Calibri"/>
                <a:cs typeface="Calibri"/>
                <a:sym typeface="Calibri"/>
              </a:rPr>
              <a:t> what relationship is needed between sequence # size (N) and window size (W) to avoid problem in scenario (b)?</a:t>
            </a:r>
            <a:endParaRPr b="0" i="0" sz="2800" u="none" cap="none" strike="noStrike">
              <a:solidFill>
                <a:srgbClr val="000000"/>
              </a:solidFill>
              <a:latin typeface="Calibri"/>
              <a:ea typeface="Calibri"/>
              <a:cs typeface="Calibri"/>
              <a:sym typeface="Calibri"/>
            </a:endParaRPr>
          </a:p>
          <a:p>
            <a:pPr indent="-342900" lvl="0" marL="342900" marR="0" rtl="0" algn="l">
              <a:lnSpc>
                <a:spcPct val="80000"/>
              </a:lnSpc>
              <a:spcBef>
                <a:spcPts val="560"/>
              </a:spcBef>
              <a:spcAft>
                <a:spcPts val="0"/>
              </a:spcAft>
              <a:buClr>
                <a:srgbClr val="000099"/>
              </a:buClr>
              <a:buSzPts val="1820"/>
              <a:buFont typeface="Calibri"/>
              <a:buNone/>
            </a:pPr>
            <a:r>
              <a:t/>
            </a:r>
            <a:endParaRPr sz="2800">
              <a:solidFill>
                <a:srgbClr val="CD0004"/>
              </a:solidFill>
              <a:latin typeface="Calibri"/>
              <a:ea typeface="Calibri"/>
              <a:cs typeface="Calibri"/>
              <a:sym typeface="Calibri"/>
            </a:endParaRPr>
          </a:p>
          <a:p>
            <a:pPr indent="-342900" lvl="0" marL="342900" marR="0" rtl="0" algn="l">
              <a:lnSpc>
                <a:spcPct val="80000"/>
              </a:lnSpc>
              <a:spcBef>
                <a:spcPts val="560"/>
              </a:spcBef>
              <a:spcAft>
                <a:spcPts val="0"/>
              </a:spcAft>
              <a:buClr>
                <a:srgbClr val="000099"/>
              </a:buClr>
              <a:buSzPts val="1820"/>
              <a:buFont typeface="Calibri"/>
              <a:buNone/>
            </a:pPr>
            <a:r>
              <a:rPr lang="en-US" sz="2800">
                <a:solidFill>
                  <a:srgbClr val="CD0004"/>
                </a:solidFill>
                <a:latin typeface="Calibri"/>
                <a:ea typeface="Calibri"/>
                <a:cs typeface="Calibri"/>
                <a:sym typeface="Calibri"/>
              </a:rPr>
              <a:t>A:</a:t>
            </a:r>
            <a:r>
              <a:rPr lang="en-US" sz="2800">
                <a:latin typeface="Calibri"/>
                <a:ea typeface="Calibri"/>
                <a:cs typeface="Calibri"/>
                <a:sym typeface="Calibri"/>
              </a:rPr>
              <a:t> N &gt;= 2W</a:t>
            </a:r>
            <a:endParaRPr sz="2800">
              <a:latin typeface="Calibri"/>
              <a:ea typeface="Calibri"/>
              <a:cs typeface="Calibri"/>
              <a:sym typeface="Calibri"/>
            </a:endParaRPr>
          </a:p>
        </p:txBody>
      </p:sp>
      <p:grpSp>
        <p:nvGrpSpPr>
          <p:cNvPr id="3076" name="Google Shape;3076;p56"/>
          <p:cNvGrpSpPr/>
          <p:nvPr/>
        </p:nvGrpSpPr>
        <p:grpSpPr>
          <a:xfrm>
            <a:off x="6931293" y="4061030"/>
            <a:ext cx="4257675" cy="2225676"/>
            <a:chOff x="6909757" y="4181931"/>
            <a:chExt cx="4257675" cy="2225676"/>
          </a:xfrm>
        </p:grpSpPr>
        <p:grpSp>
          <p:nvGrpSpPr>
            <p:cNvPr id="3077" name="Google Shape;3077;p56"/>
            <p:cNvGrpSpPr/>
            <p:nvPr/>
          </p:nvGrpSpPr>
          <p:grpSpPr>
            <a:xfrm>
              <a:off x="6909757" y="4258131"/>
              <a:ext cx="952500" cy="476251"/>
              <a:chOff x="1895" y="3931"/>
              <a:chExt cx="600" cy="300"/>
            </a:xfrm>
          </p:grpSpPr>
          <p:sp>
            <p:nvSpPr>
              <p:cNvPr id="3078" name="Google Shape;3078;p56"/>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79" name="Google Shape;3079;p56"/>
              <p:cNvSpPr txBox="1"/>
              <p:nvPr/>
            </p:nvSpPr>
            <p:spPr>
              <a:xfrm>
                <a:off x="1895" y="3931"/>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3080" name="Google Shape;3080;p56"/>
            <p:cNvGrpSpPr/>
            <p:nvPr/>
          </p:nvGrpSpPr>
          <p:grpSpPr>
            <a:xfrm>
              <a:off x="6928807" y="4532769"/>
              <a:ext cx="952500" cy="476251"/>
              <a:chOff x="1895" y="3931"/>
              <a:chExt cx="600" cy="300"/>
            </a:xfrm>
          </p:grpSpPr>
          <p:sp>
            <p:nvSpPr>
              <p:cNvPr id="3081" name="Google Shape;3081;p56"/>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82" name="Google Shape;3082;p56"/>
              <p:cNvSpPr txBox="1"/>
              <p:nvPr/>
            </p:nvSpPr>
            <p:spPr>
              <a:xfrm>
                <a:off x="1895" y="3931"/>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3083" name="Google Shape;3083;p56"/>
            <p:cNvGrpSpPr/>
            <p:nvPr/>
          </p:nvGrpSpPr>
          <p:grpSpPr>
            <a:xfrm>
              <a:off x="6936745" y="4796294"/>
              <a:ext cx="952500" cy="476251"/>
              <a:chOff x="1895" y="3931"/>
              <a:chExt cx="600" cy="300"/>
            </a:xfrm>
          </p:grpSpPr>
          <p:sp>
            <p:nvSpPr>
              <p:cNvPr id="3084" name="Google Shape;3084;p56"/>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85" name="Google Shape;3085;p56"/>
              <p:cNvSpPr txBox="1"/>
              <p:nvPr/>
            </p:nvSpPr>
            <p:spPr>
              <a:xfrm>
                <a:off x="1895" y="3931"/>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3086" name="Google Shape;3086;p56"/>
            <p:cNvCxnSpPr/>
            <p:nvPr/>
          </p:nvCxnSpPr>
          <p:spPr>
            <a:xfrm>
              <a:off x="7927345" y="4396244"/>
              <a:ext cx="1827300" cy="238200"/>
            </a:xfrm>
            <a:prstGeom prst="straightConnector1">
              <a:avLst/>
            </a:prstGeom>
            <a:noFill/>
            <a:ln cap="flat" cmpd="sng" w="19050">
              <a:solidFill>
                <a:srgbClr val="000099"/>
              </a:solidFill>
              <a:prstDash val="solid"/>
              <a:round/>
              <a:headEnd len="med" w="med" type="none"/>
              <a:tailEnd len="med" w="med" type="triangle"/>
            </a:ln>
          </p:spPr>
        </p:cxnSp>
        <p:cxnSp>
          <p:nvCxnSpPr>
            <p:cNvPr id="3087" name="Google Shape;3087;p56"/>
            <p:cNvCxnSpPr/>
            <p:nvPr/>
          </p:nvCxnSpPr>
          <p:spPr>
            <a:xfrm>
              <a:off x="7957507" y="4681994"/>
              <a:ext cx="1808100" cy="228600"/>
            </a:xfrm>
            <a:prstGeom prst="straightConnector1">
              <a:avLst/>
            </a:prstGeom>
            <a:noFill/>
            <a:ln cap="flat" cmpd="sng" w="19050">
              <a:solidFill>
                <a:srgbClr val="000099"/>
              </a:solidFill>
              <a:prstDash val="solid"/>
              <a:round/>
              <a:headEnd len="med" w="med" type="none"/>
              <a:tailEnd len="med" w="med" type="triangle"/>
            </a:ln>
          </p:spPr>
        </p:cxnSp>
        <p:cxnSp>
          <p:nvCxnSpPr>
            <p:cNvPr id="3088" name="Google Shape;3088;p56"/>
            <p:cNvCxnSpPr/>
            <p:nvPr/>
          </p:nvCxnSpPr>
          <p:spPr>
            <a:xfrm>
              <a:off x="7987670" y="4967744"/>
              <a:ext cx="1784400" cy="209700"/>
            </a:xfrm>
            <a:prstGeom prst="straightConnector1">
              <a:avLst/>
            </a:prstGeom>
            <a:noFill/>
            <a:ln cap="flat" cmpd="sng" w="19050">
              <a:solidFill>
                <a:srgbClr val="000099"/>
              </a:solidFill>
              <a:prstDash val="solid"/>
              <a:round/>
              <a:headEnd len="med" w="med" type="none"/>
              <a:tailEnd len="med" w="med" type="triangle"/>
            </a:ln>
          </p:spPr>
        </p:cxnSp>
        <p:sp>
          <p:nvSpPr>
            <p:cNvPr id="3089" name="Google Shape;3089;p56"/>
            <p:cNvSpPr txBox="1"/>
            <p:nvPr/>
          </p:nvSpPr>
          <p:spPr>
            <a:xfrm>
              <a:off x="8040057" y="4181931"/>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3090" name="Google Shape;3090;p56"/>
            <p:cNvSpPr txBox="1"/>
            <p:nvPr/>
          </p:nvSpPr>
          <p:spPr>
            <a:xfrm>
              <a:off x="8036882" y="4467681"/>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3091" name="Google Shape;3091;p56"/>
            <p:cNvSpPr txBox="1"/>
            <p:nvPr/>
          </p:nvSpPr>
          <p:spPr>
            <a:xfrm>
              <a:off x="8033707" y="4753431"/>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grpSp>
          <p:nvGrpSpPr>
            <p:cNvPr id="3092" name="Google Shape;3092;p56"/>
            <p:cNvGrpSpPr/>
            <p:nvPr/>
          </p:nvGrpSpPr>
          <p:grpSpPr>
            <a:xfrm>
              <a:off x="6939920" y="5828170"/>
              <a:ext cx="952500" cy="476251"/>
              <a:chOff x="1895" y="3931"/>
              <a:chExt cx="600" cy="300"/>
            </a:xfrm>
          </p:grpSpPr>
          <p:sp>
            <p:nvSpPr>
              <p:cNvPr id="3093" name="Google Shape;3093;p56"/>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94" name="Google Shape;3094;p56"/>
              <p:cNvSpPr txBox="1"/>
              <p:nvPr/>
            </p:nvSpPr>
            <p:spPr>
              <a:xfrm>
                <a:off x="1895" y="3931"/>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3095" name="Google Shape;3095;p56"/>
            <p:cNvCxnSpPr/>
            <p:nvPr/>
          </p:nvCxnSpPr>
          <p:spPr>
            <a:xfrm>
              <a:off x="7990845" y="5961520"/>
              <a:ext cx="1784400" cy="223800"/>
            </a:xfrm>
            <a:prstGeom prst="straightConnector1">
              <a:avLst/>
            </a:prstGeom>
            <a:noFill/>
            <a:ln cap="flat" cmpd="sng" w="19050">
              <a:solidFill>
                <a:srgbClr val="000099"/>
              </a:solidFill>
              <a:prstDash val="solid"/>
              <a:round/>
              <a:headEnd len="med" w="med" type="none"/>
              <a:tailEnd len="med" w="med" type="triangle"/>
            </a:ln>
          </p:spPr>
        </p:cxnSp>
        <p:sp>
          <p:nvSpPr>
            <p:cNvPr id="3096" name="Google Shape;3096;p56"/>
            <p:cNvSpPr txBox="1"/>
            <p:nvPr/>
          </p:nvSpPr>
          <p:spPr>
            <a:xfrm>
              <a:off x="8074982" y="5747207"/>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3097" name="Google Shape;3097;p56"/>
            <p:cNvSpPr txBox="1"/>
            <p:nvPr/>
          </p:nvSpPr>
          <p:spPr>
            <a:xfrm>
              <a:off x="6924045" y="5429707"/>
              <a:ext cx="1382700" cy="4764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retransmit pkt0</a:t>
              </a:r>
              <a:endParaRPr/>
            </a:p>
          </p:txBody>
        </p:sp>
        <p:sp>
          <p:nvSpPr>
            <p:cNvPr id="3098" name="Google Shape;3098;p56"/>
            <p:cNvSpPr/>
            <p:nvPr/>
          </p:nvSpPr>
          <p:spPr>
            <a:xfrm>
              <a:off x="9959345" y="4559756"/>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099" name="Google Shape;3099;p56"/>
            <p:cNvSpPr txBox="1"/>
            <p:nvPr/>
          </p:nvSpPr>
          <p:spPr>
            <a:xfrm>
              <a:off x="9770441" y="4510551"/>
              <a:ext cx="1293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3100" name="Google Shape;3100;p56"/>
            <p:cNvSpPr/>
            <p:nvPr/>
          </p:nvSpPr>
          <p:spPr>
            <a:xfrm>
              <a:off x="10079995" y="4831219"/>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101" name="Google Shape;3101;p56"/>
            <p:cNvSpPr txBox="1"/>
            <p:nvPr/>
          </p:nvSpPr>
          <p:spPr>
            <a:xfrm>
              <a:off x="9767266" y="4785176"/>
              <a:ext cx="1293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3102" name="Google Shape;3102;p56"/>
            <p:cNvSpPr/>
            <p:nvPr/>
          </p:nvSpPr>
          <p:spPr>
            <a:xfrm>
              <a:off x="10210170" y="5094744"/>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103" name="Google Shape;3103;p56"/>
            <p:cNvSpPr txBox="1"/>
            <p:nvPr/>
          </p:nvSpPr>
          <p:spPr>
            <a:xfrm>
              <a:off x="9770440" y="5048701"/>
              <a:ext cx="1220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3104" name="Google Shape;3104;p56"/>
            <p:cNvCxnSpPr/>
            <p:nvPr/>
          </p:nvCxnSpPr>
          <p:spPr>
            <a:xfrm flipH="1">
              <a:off x="9122782" y="4642306"/>
              <a:ext cx="577800" cy="257100"/>
            </a:xfrm>
            <a:prstGeom prst="straightConnector1">
              <a:avLst/>
            </a:prstGeom>
            <a:noFill/>
            <a:ln cap="flat" cmpd="sng" w="19050">
              <a:solidFill>
                <a:srgbClr val="008000"/>
              </a:solidFill>
              <a:prstDash val="solid"/>
              <a:round/>
              <a:headEnd len="med" w="med" type="none"/>
              <a:tailEnd len="med" w="med" type="triangle"/>
            </a:ln>
          </p:spPr>
        </p:cxnSp>
        <p:cxnSp>
          <p:nvCxnSpPr>
            <p:cNvPr id="3105" name="Google Shape;3105;p56"/>
            <p:cNvCxnSpPr/>
            <p:nvPr/>
          </p:nvCxnSpPr>
          <p:spPr>
            <a:xfrm flipH="1">
              <a:off x="9122645" y="4905831"/>
              <a:ext cx="608100" cy="225300"/>
            </a:xfrm>
            <a:prstGeom prst="straightConnector1">
              <a:avLst/>
            </a:prstGeom>
            <a:noFill/>
            <a:ln cap="flat" cmpd="sng" w="19050">
              <a:solidFill>
                <a:srgbClr val="008000"/>
              </a:solidFill>
              <a:prstDash val="solid"/>
              <a:round/>
              <a:headEnd len="med" w="med" type="none"/>
              <a:tailEnd len="med" w="med" type="triangle"/>
            </a:ln>
          </p:spPr>
        </p:cxnSp>
        <p:cxnSp>
          <p:nvCxnSpPr>
            <p:cNvPr id="3106" name="Google Shape;3106;p56"/>
            <p:cNvCxnSpPr/>
            <p:nvPr/>
          </p:nvCxnSpPr>
          <p:spPr>
            <a:xfrm flipH="1">
              <a:off x="9129107" y="5169357"/>
              <a:ext cx="631800" cy="212700"/>
            </a:xfrm>
            <a:prstGeom prst="straightConnector1">
              <a:avLst/>
            </a:prstGeom>
            <a:noFill/>
            <a:ln cap="flat" cmpd="sng" w="19050">
              <a:solidFill>
                <a:srgbClr val="008000"/>
              </a:solidFill>
              <a:prstDash val="solid"/>
              <a:round/>
              <a:headEnd len="med" w="med" type="none"/>
              <a:tailEnd len="med" w="med" type="triangle"/>
            </a:ln>
          </p:spPr>
        </p:cxnSp>
        <p:sp>
          <p:nvSpPr>
            <p:cNvPr id="3107" name="Google Shape;3107;p56"/>
            <p:cNvSpPr txBox="1"/>
            <p:nvPr/>
          </p:nvSpPr>
          <p:spPr>
            <a:xfrm>
              <a:off x="8913182" y="4759781"/>
              <a:ext cx="324000" cy="33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3108" name="Google Shape;3108;p56"/>
            <p:cNvSpPr txBox="1"/>
            <p:nvPr/>
          </p:nvSpPr>
          <p:spPr>
            <a:xfrm>
              <a:off x="8921120" y="5002669"/>
              <a:ext cx="324000" cy="33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3109" name="Google Shape;3109;p56"/>
            <p:cNvSpPr txBox="1"/>
            <p:nvPr/>
          </p:nvSpPr>
          <p:spPr>
            <a:xfrm>
              <a:off x="8927470" y="5240794"/>
              <a:ext cx="324000" cy="33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3110" name="Google Shape;3110;p56"/>
            <p:cNvSpPr txBox="1"/>
            <p:nvPr/>
          </p:nvSpPr>
          <p:spPr>
            <a:xfrm>
              <a:off x="9719632" y="595040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3111" name="Google Shape;3111;p56"/>
            <p:cNvCxnSpPr/>
            <p:nvPr/>
          </p:nvCxnSpPr>
          <p:spPr>
            <a:xfrm rot="10800000">
              <a:off x="10424482" y="5345469"/>
              <a:ext cx="0" cy="635100"/>
            </a:xfrm>
            <a:prstGeom prst="straightConnector1">
              <a:avLst/>
            </a:prstGeom>
            <a:noFill/>
            <a:ln cap="flat" cmpd="sng" w="9525">
              <a:solidFill>
                <a:srgbClr val="CC0000"/>
              </a:solidFill>
              <a:prstDash val="solid"/>
              <a:round/>
              <a:headEnd len="med" w="med" type="none"/>
              <a:tailEnd len="med" w="med" type="triangle"/>
            </a:ln>
          </p:spPr>
        </p:cxnSp>
      </p:grpSp>
      <p:sp>
        <p:nvSpPr>
          <p:cNvPr id="3112" name="Google Shape;3112;p56"/>
          <p:cNvSpPr txBox="1"/>
          <p:nvPr/>
        </p:nvSpPr>
        <p:spPr>
          <a:xfrm>
            <a:off x="6903407" y="6111434"/>
            <a:ext cx="12207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(b) oops!</a:t>
            </a:r>
            <a:endParaRPr/>
          </a:p>
        </p:txBody>
      </p:sp>
      <p:grpSp>
        <p:nvGrpSpPr>
          <p:cNvPr id="3113" name="Google Shape;3113;p56"/>
          <p:cNvGrpSpPr/>
          <p:nvPr/>
        </p:nvGrpSpPr>
        <p:grpSpPr>
          <a:xfrm>
            <a:off x="6785932" y="351292"/>
            <a:ext cx="4410075" cy="2644775"/>
            <a:chOff x="6785932" y="351292"/>
            <a:chExt cx="4410075" cy="2644775"/>
          </a:xfrm>
        </p:grpSpPr>
        <p:sp>
          <p:nvSpPr>
            <p:cNvPr id="3114" name="Google Shape;3114;p56"/>
            <p:cNvSpPr txBox="1"/>
            <p:nvPr/>
          </p:nvSpPr>
          <p:spPr>
            <a:xfrm>
              <a:off x="9546595" y="351292"/>
              <a:ext cx="1458900" cy="51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sp>
          <p:nvSpPr>
            <p:cNvPr id="3115" name="Google Shape;3115;p56"/>
            <p:cNvSpPr txBox="1"/>
            <p:nvPr/>
          </p:nvSpPr>
          <p:spPr>
            <a:xfrm>
              <a:off x="6785932" y="354467"/>
              <a:ext cx="1365300" cy="51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cxnSp>
          <p:nvCxnSpPr>
            <p:cNvPr id="3116" name="Google Shape;3116;p56"/>
            <p:cNvCxnSpPr/>
            <p:nvPr/>
          </p:nvCxnSpPr>
          <p:spPr>
            <a:xfrm>
              <a:off x="6871657" y="845004"/>
              <a:ext cx="1109700" cy="0"/>
            </a:xfrm>
            <a:prstGeom prst="straightConnector1">
              <a:avLst/>
            </a:prstGeom>
            <a:noFill/>
            <a:ln cap="flat" cmpd="sng" w="19050">
              <a:solidFill>
                <a:srgbClr val="000099"/>
              </a:solidFill>
              <a:prstDash val="solid"/>
              <a:round/>
              <a:headEnd len="med" w="med" type="none"/>
              <a:tailEnd len="med" w="med" type="none"/>
            </a:ln>
          </p:spPr>
        </p:cxnSp>
        <p:cxnSp>
          <p:nvCxnSpPr>
            <p:cNvPr id="3117" name="Google Shape;3117;p56"/>
            <p:cNvCxnSpPr/>
            <p:nvPr/>
          </p:nvCxnSpPr>
          <p:spPr>
            <a:xfrm>
              <a:off x="9652957" y="845004"/>
              <a:ext cx="1109700" cy="0"/>
            </a:xfrm>
            <a:prstGeom prst="straightConnector1">
              <a:avLst/>
            </a:prstGeom>
            <a:noFill/>
            <a:ln cap="flat" cmpd="sng" w="19050">
              <a:solidFill>
                <a:srgbClr val="008000"/>
              </a:solidFill>
              <a:prstDash val="solid"/>
              <a:round/>
              <a:headEnd len="med" w="med" type="none"/>
              <a:tailEnd len="med" w="med" type="none"/>
            </a:ln>
          </p:spPr>
        </p:cxnSp>
        <p:grpSp>
          <p:nvGrpSpPr>
            <p:cNvPr id="3118" name="Google Shape;3118;p56"/>
            <p:cNvGrpSpPr/>
            <p:nvPr/>
          </p:nvGrpSpPr>
          <p:grpSpPr>
            <a:xfrm>
              <a:off x="6927220" y="1057729"/>
              <a:ext cx="952500" cy="476251"/>
              <a:chOff x="1895" y="3931"/>
              <a:chExt cx="600" cy="300"/>
            </a:xfrm>
          </p:grpSpPr>
          <p:sp>
            <p:nvSpPr>
              <p:cNvPr id="3119" name="Google Shape;3119;p56"/>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120" name="Google Shape;3120;p56"/>
              <p:cNvSpPr txBox="1"/>
              <p:nvPr/>
            </p:nvSpPr>
            <p:spPr>
              <a:xfrm>
                <a:off x="1895" y="3931"/>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3121" name="Google Shape;3121;p56"/>
            <p:cNvGrpSpPr/>
            <p:nvPr/>
          </p:nvGrpSpPr>
          <p:grpSpPr>
            <a:xfrm>
              <a:off x="6946270" y="1332367"/>
              <a:ext cx="952500" cy="476251"/>
              <a:chOff x="1895" y="3931"/>
              <a:chExt cx="600" cy="300"/>
            </a:xfrm>
          </p:grpSpPr>
          <p:sp>
            <p:nvSpPr>
              <p:cNvPr id="3122" name="Google Shape;3122;p56"/>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123" name="Google Shape;3123;p56"/>
              <p:cNvSpPr txBox="1"/>
              <p:nvPr/>
            </p:nvSpPr>
            <p:spPr>
              <a:xfrm>
                <a:off x="1895" y="3931"/>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3124" name="Google Shape;3124;p56"/>
            <p:cNvGrpSpPr/>
            <p:nvPr/>
          </p:nvGrpSpPr>
          <p:grpSpPr>
            <a:xfrm>
              <a:off x="6954207" y="1595892"/>
              <a:ext cx="952500" cy="476251"/>
              <a:chOff x="1895" y="3931"/>
              <a:chExt cx="600" cy="300"/>
            </a:xfrm>
          </p:grpSpPr>
          <p:sp>
            <p:nvSpPr>
              <p:cNvPr id="3125" name="Google Shape;3125;p56"/>
              <p:cNvSpPr/>
              <p:nvPr/>
            </p:nvSpPr>
            <p:spPr>
              <a:xfrm>
                <a:off x="1936" y="3962"/>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126" name="Google Shape;3126;p56"/>
              <p:cNvSpPr txBox="1"/>
              <p:nvPr/>
            </p:nvSpPr>
            <p:spPr>
              <a:xfrm>
                <a:off x="1895" y="3931"/>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3127" name="Google Shape;3127;p56"/>
            <p:cNvCxnSpPr/>
            <p:nvPr/>
          </p:nvCxnSpPr>
          <p:spPr>
            <a:xfrm>
              <a:off x="7944807" y="1195842"/>
              <a:ext cx="1827300" cy="238200"/>
            </a:xfrm>
            <a:prstGeom prst="straightConnector1">
              <a:avLst/>
            </a:prstGeom>
            <a:noFill/>
            <a:ln cap="flat" cmpd="sng" w="19050">
              <a:solidFill>
                <a:srgbClr val="000099"/>
              </a:solidFill>
              <a:prstDash val="solid"/>
              <a:round/>
              <a:headEnd len="med" w="med" type="none"/>
              <a:tailEnd len="med" w="med" type="triangle"/>
            </a:ln>
          </p:spPr>
        </p:cxnSp>
        <p:cxnSp>
          <p:nvCxnSpPr>
            <p:cNvPr id="3128" name="Google Shape;3128;p56"/>
            <p:cNvCxnSpPr/>
            <p:nvPr/>
          </p:nvCxnSpPr>
          <p:spPr>
            <a:xfrm>
              <a:off x="7974970" y="1481592"/>
              <a:ext cx="1808100" cy="228600"/>
            </a:xfrm>
            <a:prstGeom prst="straightConnector1">
              <a:avLst/>
            </a:prstGeom>
            <a:noFill/>
            <a:ln cap="flat" cmpd="sng" w="19050">
              <a:solidFill>
                <a:srgbClr val="000099"/>
              </a:solidFill>
              <a:prstDash val="solid"/>
              <a:round/>
              <a:headEnd len="med" w="med" type="none"/>
              <a:tailEnd len="med" w="med" type="triangle"/>
            </a:ln>
          </p:spPr>
        </p:cxnSp>
        <p:cxnSp>
          <p:nvCxnSpPr>
            <p:cNvPr id="3129" name="Google Shape;3129;p56"/>
            <p:cNvCxnSpPr/>
            <p:nvPr/>
          </p:nvCxnSpPr>
          <p:spPr>
            <a:xfrm>
              <a:off x="8005132" y="1767342"/>
              <a:ext cx="1784400" cy="209700"/>
            </a:xfrm>
            <a:prstGeom prst="straightConnector1">
              <a:avLst/>
            </a:prstGeom>
            <a:noFill/>
            <a:ln cap="flat" cmpd="sng" w="19050">
              <a:solidFill>
                <a:srgbClr val="000099"/>
              </a:solidFill>
              <a:prstDash val="solid"/>
              <a:round/>
              <a:headEnd len="med" w="med" type="none"/>
              <a:tailEnd len="med" w="med" type="triangle"/>
            </a:ln>
          </p:spPr>
        </p:cxnSp>
        <p:sp>
          <p:nvSpPr>
            <p:cNvPr id="3130" name="Google Shape;3130;p56"/>
            <p:cNvSpPr txBox="1"/>
            <p:nvPr/>
          </p:nvSpPr>
          <p:spPr>
            <a:xfrm>
              <a:off x="7990845" y="981529"/>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3131" name="Google Shape;3131;p56"/>
            <p:cNvSpPr txBox="1"/>
            <p:nvPr/>
          </p:nvSpPr>
          <p:spPr>
            <a:xfrm>
              <a:off x="8054345" y="1267279"/>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3132" name="Google Shape;3132;p56"/>
            <p:cNvSpPr txBox="1"/>
            <p:nvPr/>
          </p:nvSpPr>
          <p:spPr>
            <a:xfrm>
              <a:off x="8051170" y="1553029"/>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sp>
          <p:nvSpPr>
            <p:cNvPr id="3133" name="Google Shape;3133;p56"/>
            <p:cNvSpPr/>
            <p:nvPr/>
          </p:nvSpPr>
          <p:spPr>
            <a:xfrm>
              <a:off x="7270120" y="2369004"/>
              <a:ext cx="401700" cy="1890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134" name="Google Shape;3134;p56"/>
            <p:cNvSpPr txBox="1"/>
            <p:nvPr/>
          </p:nvSpPr>
          <p:spPr>
            <a:xfrm>
              <a:off x="6957382" y="2322967"/>
              <a:ext cx="1030200" cy="274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3 0</a:t>
              </a:r>
              <a:r>
                <a:rPr b="0" i="0" lang="en-US" sz="1200" u="none" cap="none" strike="noStrike">
                  <a:solidFill>
                    <a:srgbClr val="000000"/>
                  </a:solidFill>
                  <a:latin typeface="Arial"/>
                  <a:ea typeface="Arial"/>
                  <a:cs typeface="Arial"/>
                  <a:sym typeface="Arial"/>
                </a:rPr>
                <a:t> 1 2</a:t>
              </a:r>
              <a:endParaRPr/>
            </a:p>
          </p:txBody>
        </p:sp>
        <p:cxnSp>
          <p:nvCxnSpPr>
            <p:cNvPr id="3135" name="Google Shape;3135;p56"/>
            <p:cNvCxnSpPr/>
            <p:nvPr/>
          </p:nvCxnSpPr>
          <p:spPr>
            <a:xfrm>
              <a:off x="7976557" y="2494417"/>
              <a:ext cx="1784400" cy="223800"/>
            </a:xfrm>
            <a:prstGeom prst="straightConnector1">
              <a:avLst/>
            </a:prstGeom>
            <a:noFill/>
            <a:ln cap="flat" cmpd="sng" w="19050">
              <a:solidFill>
                <a:srgbClr val="000099"/>
              </a:solidFill>
              <a:prstDash val="solid"/>
              <a:round/>
              <a:headEnd len="med" w="med" type="none"/>
              <a:tailEnd len="med" w="med" type="triangle"/>
            </a:ln>
          </p:spPr>
        </p:cxnSp>
        <p:sp>
          <p:nvSpPr>
            <p:cNvPr id="3136" name="Google Shape;3136;p56"/>
            <p:cNvSpPr txBox="1"/>
            <p:nvPr/>
          </p:nvSpPr>
          <p:spPr>
            <a:xfrm>
              <a:off x="8079745" y="2502354"/>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3137" name="Google Shape;3137;p56"/>
            <p:cNvSpPr/>
            <p:nvPr/>
          </p:nvSpPr>
          <p:spPr>
            <a:xfrm>
              <a:off x="9976807" y="1359354"/>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138" name="Google Shape;3138;p56"/>
            <p:cNvSpPr txBox="1"/>
            <p:nvPr/>
          </p:nvSpPr>
          <p:spPr>
            <a:xfrm>
              <a:off x="9787901" y="1310150"/>
              <a:ext cx="1268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3139" name="Google Shape;3139;p56"/>
            <p:cNvSpPr/>
            <p:nvPr/>
          </p:nvSpPr>
          <p:spPr>
            <a:xfrm>
              <a:off x="10097457" y="1630817"/>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140" name="Google Shape;3140;p56"/>
            <p:cNvSpPr txBox="1"/>
            <p:nvPr/>
          </p:nvSpPr>
          <p:spPr>
            <a:xfrm>
              <a:off x="9784726" y="1584775"/>
              <a:ext cx="1220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3141" name="Google Shape;3141;p56"/>
            <p:cNvSpPr/>
            <p:nvPr/>
          </p:nvSpPr>
          <p:spPr>
            <a:xfrm>
              <a:off x="10227632" y="1894342"/>
              <a:ext cx="401700" cy="18900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142" name="Google Shape;3142;p56"/>
            <p:cNvSpPr txBox="1"/>
            <p:nvPr/>
          </p:nvSpPr>
          <p:spPr>
            <a:xfrm>
              <a:off x="9787901" y="1848300"/>
              <a:ext cx="1268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3143" name="Google Shape;3143;p56"/>
            <p:cNvCxnSpPr/>
            <p:nvPr/>
          </p:nvCxnSpPr>
          <p:spPr>
            <a:xfrm flipH="1">
              <a:off x="7933645" y="1441904"/>
              <a:ext cx="1784400" cy="735000"/>
            </a:xfrm>
            <a:prstGeom prst="straightConnector1">
              <a:avLst/>
            </a:prstGeom>
            <a:noFill/>
            <a:ln cap="flat" cmpd="sng" w="19050">
              <a:solidFill>
                <a:srgbClr val="008000"/>
              </a:solidFill>
              <a:prstDash val="solid"/>
              <a:round/>
              <a:headEnd len="med" w="med" type="none"/>
              <a:tailEnd len="med" w="med" type="triangle"/>
            </a:ln>
          </p:spPr>
        </p:cxnSp>
        <p:cxnSp>
          <p:nvCxnSpPr>
            <p:cNvPr id="3144" name="Google Shape;3144;p56"/>
            <p:cNvCxnSpPr/>
            <p:nvPr/>
          </p:nvCxnSpPr>
          <p:spPr>
            <a:xfrm flipH="1">
              <a:off x="7952707" y="1705429"/>
              <a:ext cx="1795500" cy="758700"/>
            </a:xfrm>
            <a:prstGeom prst="straightConnector1">
              <a:avLst/>
            </a:prstGeom>
            <a:noFill/>
            <a:ln cap="flat" cmpd="sng" w="19050">
              <a:solidFill>
                <a:srgbClr val="008000"/>
              </a:solidFill>
              <a:prstDash val="solid"/>
              <a:round/>
              <a:headEnd len="med" w="med" type="none"/>
              <a:tailEnd len="med" w="med" type="triangle"/>
            </a:ln>
          </p:spPr>
        </p:cxnSp>
        <p:sp>
          <p:nvSpPr>
            <p:cNvPr id="3145" name="Google Shape;3145;p56"/>
            <p:cNvSpPr txBox="1"/>
            <p:nvPr/>
          </p:nvSpPr>
          <p:spPr>
            <a:xfrm>
              <a:off x="8452807" y="2132467"/>
              <a:ext cx="324000" cy="33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3146" name="Google Shape;3146;p56"/>
            <p:cNvSpPr txBox="1"/>
            <p:nvPr/>
          </p:nvSpPr>
          <p:spPr>
            <a:xfrm>
              <a:off x="9748207" y="253886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3147" name="Google Shape;3147;p56"/>
            <p:cNvCxnSpPr/>
            <p:nvPr/>
          </p:nvCxnSpPr>
          <p:spPr>
            <a:xfrm rot="10800000">
              <a:off x="10441945" y="2145155"/>
              <a:ext cx="0" cy="446100"/>
            </a:xfrm>
            <a:prstGeom prst="straightConnector1">
              <a:avLst/>
            </a:prstGeom>
            <a:noFill/>
            <a:ln cap="flat" cmpd="sng" w="9525">
              <a:solidFill>
                <a:srgbClr val="CC0000"/>
              </a:solidFill>
              <a:prstDash val="solid"/>
              <a:round/>
              <a:headEnd len="med" w="med" type="none"/>
              <a:tailEnd len="med" w="med" type="triangle"/>
            </a:ln>
          </p:spPr>
        </p:cxnSp>
        <p:cxnSp>
          <p:nvCxnSpPr>
            <p:cNvPr id="3148" name="Google Shape;3148;p56"/>
            <p:cNvCxnSpPr/>
            <p:nvPr/>
          </p:nvCxnSpPr>
          <p:spPr>
            <a:xfrm>
              <a:off x="7968620" y="2203904"/>
              <a:ext cx="590700" cy="72900"/>
            </a:xfrm>
            <a:prstGeom prst="straightConnector1">
              <a:avLst/>
            </a:prstGeom>
            <a:noFill/>
            <a:ln cap="flat" cmpd="sng" w="19050">
              <a:solidFill>
                <a:srgbClr val="000099"/>
              </a:solidFill>
              <a:prstDash val="solid"/>
              <a:round/>
              <a:headEnd len="med" w="med" type="none"/>
              <a:tailEnd len="med" w="med" type="triangle"/>
            </a:ln>
          </p:spPr>
        </p:cxnSp>
        <p:grpSp>
          <p:nvGrpSpPr>
            <p:cNvPr id="3149" name="Google Shape;3149;p56"/>
            <p:cNvGrpSpPr/>
            <p:nvPr/>
          </p:nvGrpSpPr>
          <p:grpSpPr>
            <a:xfrm>
              <a:off x="6957382" y="2037217"/>
              <a:ext cx="952500" cy="476251"/>
              <a:chOff x="2667" y="3750"/>
              <a:chExt cx="600" cy="300"/>
            </a:xfrm>
          </p:grpSpPr>
          <p:sp>
            <p:nvSpPr>
              <p:cNvPr id="3150" name="Google Shape;3150;p56"/>
              <p:cNvSpPr/>
              <p:nvPr/>
            </p:nvSpPr>
            <p:spPr>
              <a:xfrm>
                <a:off x="2786" y="3779"/>
                <a:ext cx="300" cy="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151" name="Google Shape;3151;p56"/>
              <p:cNvSpPr txBox="1"/>
              <p:nvPr/>
            </p:nvSpPr>
            <p:spPr>
              <a:xfrm>
                <a:off x="2667" y="3750"/>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a:t>
                </a:r>
                <a:r>
                  <a:rPr b="0" i="0" lang="en-US" sz="1200" u="none" cap="none" strike="noStrike">
                    <a:solidFill>
                      <a:srgbClr val="FFFFFF"/>
                    </a:solidFill>
                    <a:latin typeface="Arial"/>
                    <a:ea typeface="Arial"/>
                    <a:cs typeface="Arial"/>
                    <a:sym typeface="Arial"/>
                  </a:rPr>
                  <a:t>1 2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a:t>
                </a:r>
                <a:r>
                  <a:rPr b="0" i="0" lang="en-US" sz="1200" u="none" cap="none" strike="noStrike">
                    <a:solidFill>
                      <a:srgbClr val="000000"/>
                    </a:solidFill>
                    <a:latin typeface="Arial"/>
                    <a:ea typeface="Arial"/>
                    <a:cs typeface="Arial"/>
                    <a:sym typeface="Arial"/>
                  </a:rPr>
                  <a:t>0 1 2</a:t>
                </a:r>
                <a:endParaRPr/>
              </a:p>
            </p:txBody>
          </p:sp>
        </p:grpSp>
        <p:sp>
          <p:nvSpPr>
            <p:cNvPr id="3152" name="Google Shape;3152;p56"/>
            <p:cNvSpPr txBox="1"/>
            <p:nvPr/>
          </p:nvSpPr>
          <p:spPr>
            <a:xfrm>
              <a:off x="8082920" y="1988004"/>
              <a:ext cx="5271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pkt3</a:t>
              </a:r>
              <a:endParaRPr/>
            </a:p>
          </p:txBody>
        </p:sp>
      </p:grpSp>
      <p:sp>
        <p:nvSpPr>
          <p:cNvPr id="3153" name="Google Shape;3153;p56"/>
          <p:cNvSpPr txBox="1"/>
          <p:nvPr/>
        </p:nvSpPr>
        <p:spPr>
          <a:xfrm>
            <a:off x="6800220" y="2834142"/>
            <a:ext cx="18795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(a) no problem</a:t>
            </a:r>
            <a:endParaRPr/>
          </a:p>
        </p:txBody>
      </p:sp>
      <p:sp>
        <p:nvSpPr>
          <p:cNvPr id="3154" name="Google Shape;3154;p56"/>
          <p:cNvSpPr txBox="1"/>
          <p:nvPr/>
        </p:nvSpPr>
        <p:spPr>
          <a:xfrm>
            <a:off x="794654" y="1899557"/>
            <a:ext cx="5517300" cy="1326300"/>
          </a:xfrm>
          <a:prstGeom prst="rect">
            <a:avLst/>
          </a:prstGeom>
          <a:noFill/>
          <a:ln>
            <a:noFill/>
          </a:ln>
        </p:spPr>
        <p:txBody>
          <a:bodyPr anchorCtr="0" anchor="t" bIns="45700" lIns="91425" spcFirstLastPara="1" rIns="91425" wrap="square" tIns="45700">
            <a:normAutofit/>
          </a:bodyPr>
          <a:lstStyle/>
          <a:p>
            <a:pPr indent="0" lvl="0" marL="158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seq #s: 0, 1, 2, 3 </a:t>
            </a:r>
            <a:r>
              <a:rPr b="0" i="0" lang="en-US" sz="2000" u="none" cap="none" strike="noStrike">
                <a:solidFill>
                  <a:srgbClr val="000000"/>
                </a:solidFill>
                <a:latin typeface="Calibri"/>
                <a:ea typeface="Calibri"/>
                <a:cs typeface="Calibri"/>
                <a:sym typeface="Calibri"/>
              </a:rPr>
              <a:t>(base 4 counting)</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window size=3</a:t>
            </a:r>
            <a:endParaRPr b="0" i="0" sz="2800" u="none" cap="none" strike="noStrike">
              <a:solidFill>
                <a:srgbClr val="000000"/>
              </a:solidFill>
              <a:latin typeface="Calibri"/>
              <a:ea typeface="Calibri"/>
              <a:cs typeface="Calibri"/>
              <a:sym typeface="Calibri"/>
            </a:endParaRPr>
          </a:p>
        </p:txBody>
      </p:sp>
      <p:grpSp>
        <p:nvGrpSpPr>
          <p:cNvPr id="3155" name="Google Shape;3155;p56"/>
          <p:cNvGrpSpPr/>
          <p:nvPr/>
        </p:nvGrpSpPr>
        <p:grpSpPr>
          <a:xfrm>
            <a:off x="6612895" y="981529"/>
            <a:ext cx="2769370" cy="5564100"/>
            <a:chOff x="6612895" y="981529"/>
            <a:chExt cx="2769370" cy="5564100"/>
          </a:xfrm>
        </p:grpSpPr>
        <p:sp>
          <p:nvSpPr>
            <p:cNvPr id="3156" name="Google Shape;3156;p56"/>
            <p:cNvSpPr/>
            <p:nvPr/>
          </p:nvSpPr>
          <p:spPr>
            <a:xfrm>
              <a:off x="6612895" y="981529"/>
              <a:ext cx="2463900" cy="5564100"/>
            </a:xfrm>
            <a:prstGeom prst="rect">
              <a:avLst/>
            </a:prstGeom>
            <a:solidFill>
              <a:schemeClr val="lt1">
                <a:alpha val="968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157" name="Google Shape;3157;p56"/>
            <p:cNvGrpSpPr/>
            <p:nvPr/>
          </p:nvGrpSpPr>
          <p:grpSpPr>
            <a:xfrm>
              <a:off x="8864867" y="1005799"/>
              <a:ext cx="517398" cy="5278627"/>
              <a:chOff x="3821" y="550"/>
              <a:chExt cx="326" cy="3325"/>
            </a:xfrm>
          </p:grpSpPr>
          <p:pic>
            <p:nvPicPr>
              <p:cNvPr descr="curtain" id="3158" name="Google Shape;3158;p56"/>
              <p:cNvPicPr preferRelativeResize="0"/>
              <p:nvPr/>
            </p:nvPicPr>
            <p:blipFill rotWithShape="1">
              <a:blip r:embed="rId3">
                <a:alphaModFix/>
              </a:blip>
              <a:srcRect b="0" l="0" r="0" t="0"/>
              <a:stretch/>
            </p:blipFill>
            <p:spPr>
              <a:xfrm>
                <a:off x="3823" y="550"/>
                <a:ext cx="284" cy="1366"/>
              </a:xfrm>
              <a:prstGeom prst="rect">
                <a:avLst/>
              </a:prstGeom>
              <a:noFill/>
              <a:ln>
                <a:noFill/>
              </a:ln>
            </p:spPr>
          </p:pic>
          <p:pic>
            <p:nvPicPr>
              <p:cNvPr descr="curtain" id="3159" name="Google Shape;3159;p56"/>
              <p:cNvPicPr preferRelativeResize="0"/>
              <p:nvPr/>
            </p:nvPicPr>
            <p:blipFill rotWithShape="1">
              <a:blip r:embed="rId3">
                <a:alphaModFix/>
              </a:blip>
              <a:srcRect b="0" l="0" r="0" t="0"/>
              <a:stretch/>
            </p:blipFill>
            <p:spPr>
              <a:xfrm>
                <a:off x="3821" y="2564"/>
                <a:ext cx="326" cy="1311"/>
              </a:xfrm>
              <a:prstGeom prst="rect">
                <a:avLst/>
              </a:prstGeom>
              <a:noFill/>
              <a:ln>
                <a:noFill/>
              </a:ln>
            </p:spPr>
          </p:pic>
        </p:grpSp>
      </p:grpSp>
      <p:sp>
        <p:nvSpPr>
          <p:cNvPr id="3160" name="Google Shape;3160;p56"/>
          <p:cNvSpPr txBox="1"/>
          <p:nvPr/>
        </p:nvSpPr>
        <p:spPr>
          <a:xfrm>
            <a:off x="6811617" y="2358260"/>
            <a:ext cx="2107200" cy="2308200"/>
          </a:xfrm>
          <a:prstGeom prst="rect">
            <a:avLst/>
          </a:prstGeom>
          <a:solidFill>
            <a:schemeClr val="lt1"/>
          </a:solidFill>
          <a:ln>
            <a:noFill/>
          </a:ln>
        </p:spPr>
        <p:txBody>
          <a:bodyPr anchorCtr="0" anchor="t" bIns="45700" lIns="91425" spcFirstLastPara="1" rIns="91425" wrap="square" tIns="45700">
            <a:spAutoFit/>
          </a:bodyPr>
          <a:lstStyle/>
          <a:p>
            <a:pPr indent="-171450" lvl="0" marL="171450" marR="0" rtl="0" algn="l">
              <a:lnSpc>
                <a:spcPct val="90000"/>
              </a:lnSpc>
              <a:spcBef>
                <a:spcPts val="0"/>
              </a:spcBef>
              <a:spcAft>
                <a:spcPts val="0"/>
              </a:spcAft>
              <a:buClr>
                <a:srgbClr val="0013A3"/>
              </a:buClr>
              <a:buSzPts val="2000"/>
              <a:buFont typeface="Noto Sans Symbols"/>
              <a:buChar char="▪"/>
            </a:pPr>
            <a:r>
              <a:rPr b="0" i="1" lang="en-US" sz="2000" u="none" cap="none" strike="noStrike">
                <a:solidFill>
                  <a:srgbClr val="000000"/>
                </a:solidFill>
                <a:latin typeface="Calibri"/>
                <a:ea typeface="Calibri"/>
                <a:cs typeface="Calibri"/>
                <a:sym typeface="Calibri"/>
              </a:rPr>
              <a:t>receiver can’t see sender side</a:t>
            </a:r>
            <a:endParaRPr/>
          </a:p>
          <a:p>
            <a:pPr indent="-171450" lvl="0" marL="171450" marR="0" rtl="0" algn="l">
              <a:lnSpc>
                <a:spcPct val="90000"/>
              </a:lnSpc>
              <a:spcBef>
                <a:spcPts val="0"/>
              </a:spcBef>
              <a:spcAft>
                <a:spcPts val="0"/>
              </a:spcAft>
              <a:buClr>
                <a:srgbClr val="0013A3"/>
              </a:buClr>
              <a:buSzPts val="2000"/>
              <a:buFont typeface="Noto Sans Symbols"/>
              <a:buChar char="▪"/>
            </a:pPr>
            <a:r>
              <a:rPr b="0" i="1" lang="en-US" sz="2000" u="none" cap="none" strike="noStrike">
                <a:solidFill>
                  <a:srgbClr val="000000"/>
                </a:solidFill>
                <a:latin typeface="Calibri"/>
                <a:ea typeface="Calibri"/>
                <a:cs typeface="Calibri"/>
                <a:sym typeface="Calibri"/>
              </a:rPr>
              <a:t>receiver behavior identical in both cases!</a:t>
            </a:r>
            <a:endParaRPr/>
          </a:p>
          <a:p>
            <a:pPr indent="-171450" lvl="0" marL="171450" marR="0" rtl="0" algn="l">
              <a:lnSpc>
                <a:spcPct val="90000"/>
              </a:lnSpc>
              <a:spcBef>
                <a:spcPts val="0"/>
              </a:spcBef>
              <a:spcAft>
                <a:spcPts val="0"/>
              </a:spcAft>
              <a:buClr>
                <a:srgbClr val="0013A3"/>
              </a:buClr>
              <a:buSzPts val="2000"/>
              <a:buFont typeface="Noto Sans Symbols"/>
              <a:buChar char="▪"/>
            </a:pPr>
            <a:r>
              <a:rPr b="0" i="1" lang="en-US" sz="2000" u="none" cap="none" strike="noStrike">
                <a:solidFill>
                  <a:srgbClr val="CC0000"/>
                </a:solidFill>
                <a:latin typeface="Calibri"/>
                <a:ea typeface="Calibri"/>
                <a:cs typeface="Calibri"/>
                <a:sym typeface="Calibri"/>
              </a:rPr>
              <a:t>something’s (very) wrong!</a:t>
            </a:r>
            <a:endParaRPr b="0" i="1" sz="2000" u="none" cap="none" strike="noStrike">
              <a:solidFill>
                <a:srgbClr val="CC0000"/>
              </a:solidFill>
              <a:latin typeface="Calibri"/>
              <a:ea typeface="Calibri"/>
              <a:cs typeface="Calibri"/>
              <a:sym typeface="Calibri"/>
            </a:endParaRPr>
          </a:p>
        </p:txBody>
      </p:sp>
      <p:sp>
        <p:nvSpPr>
          <p:cNvPr id="3161" name="Google Shape;3161;p56"/>
          <p:cNvSpPr txBox="1"/>
          <p:nvPr>
            <p:ph idx="12" type="sldNum"/>
          </p:nvPr>
        </p:nvSpPr>
        <p:spPr>
          <a:xfrm>
            <a:off x="9219616" y="6443089"/>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60"/>
                                        </p:tgtEl>
                                        <p:attrNameLst>
                                          <p:attrName>style.visibility</p:attrName>
                                        </p:attrNameLst>
                                      </p:cBhvr>
                                      <p:to>
                                        <p:strVal val="visible"/>
                                      </p:to>
                                    </p:set>
                                    <p:animEffect filter="fade" transition="in">
                                      <p:cBhvr>
                                        <p:cTn dur="500"/>
                                        <p:tgtEl>
                                          <p:spTgt spid="3160"/>
                                        </p:tgtEl>
                                      </p:cBhvr>
                                    </p:animEffect>
                                  </p:childTnLst>
                                </p:cTn>
                              </p:par>
                              <p:par>
                                <p:cTn fill="hold" nodeType="withEffect" presetClass="entr" presetID="10" presetSubtype="0">
                                  <p:stCondLst>
                                    <p:cond delay="0"/>
                                  </p:stCondLst>
                                  <p:childTnLst>
                                    <p:set>
                                      <p:cBhvr>
                                        <p:cTn dur="1" fill="hold">
                                          <p:stCondLst>
                                            <p:cond delay="0"/>
                                          </p:stCondLst>
                                        </p:cTn>
                                        <p:tgtEl>
                                          <p:spTgt spid="3155"/>
                                        </p:tgtEl>
                                        <p:attrNameLst>
                                          <p:attrName>style.visibility</p:attrName>
                                        </p:attrNameLst>
                                      </p:cBhvr>
                                      <p:to>
                                        <p:strVal val="visible"/>
                                      </p:to>
                                    </p:set>
                                    <p:animEffect filter="fade" transition="in">
                                      <p:cBhvr>
                                        <p:cTn dur="500"/>
                                        <p:tgtEl>
                                          <p:spTgt spid="31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5"/>
                                        </p:tgtEl>
                                        <p:attrNameLst>
                                          <p:attrName>style.visibility</p:attrName>
                                        </p:attrNameLst>
                                      </p:cBhvr>
                                      <p:to>
                                        <p:strVal val="visible"/>
                                      </p:to>
                                    </p:set>
                                    <p:animEffect filter="fade" transition="in">
                                      <p:cBhvr>
                                        <p:cTn dur="500"/>
                                        <p:tgtEl>
                                          <p:spTgt spid="30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6" name="Shape 3166"/>
        <p:cNvGrpSpPr/>
        <p:nvPr/>
      </p:nvGrpSpPr>
      <p:grpSpPr>
        <a:xfrm>
          <a:off x="0" y="0"/>
          <a:ext cx="0" cy="0"/>
          <a:chOff x="0" y="0"/>
          <a:chExt cx="0" cy="0"/>
        </a:xfrm>
      </p:grpSpPr>
      <p:sp>
        <p:nvSpPr>
          <p:cNvPr id="3167" name="Google Shape;3167;p57"/>
          <p:cNvSpPr txBox="1"/>
          <p:nvPr>
            <p:ph type="title"/>
          </p:nvPr>
        </p:nvSpPr>
        <p:spPr>
          <a:xfrm>
            <a:off x="838200" y="451821"/>
            <a:ext cx="10515600" cy="894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References</a:t>
            </a:r>
            <a:endParaRPr/>
          </a:p>
        </p:txBody>
      </p:sp>
      <p:sp>
        <p:nvSpPr>
          <p:cNvPr id="3168" name="Google Shape;3168;p57"/>
          <p:cNvSpPr txBox="1"/>
          <p:nvPr>
            <p:ph idx="1" type="body"/>
          </p:nvPr>
        </p:nvSpPr>
        <p:spPr>
          <a:xfrm>
            <a:off x="838200" y="1724025"/>
            <a:ext cx="108612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1.</a:t>
            </a:r>
            <a:r>
              <a:rPr lang="en-US" u="sng">
                <a:solidFill>
                  <a:schemeClr val="hlink"/>
                </a:solidFill>
                <a:hlinkClick r:id="rId3"/>
              </a:rPr>
              <a:t>https://media.pearsoncmg.com/ph/esm/ecs_kurose_compnetwork_8/cw/#interactiveanimations</a:t>
            </a:r>
            <a:endParaRPr/>
          </a:p>
          <a:p>
            <a:pPr indent="0" lvl="0" marL="0" rtl="0" algn="l">
              <a:spcBef>
                <a:spcPts val="1000"/>
              </a:spcBef>
              <a:spcAft>
                <a:spcPts val="0"/>
              </a:spcAft>
              <a:buNone/>
            </a:pPr>
            <a:r>
              <a:rPr lang="en-US"/>
              <a:t>2. </a:t>
            </a:r>
            <a:r>
              <a:rPr lang="en-US" u="sng">
                <a:solidFill>
                  <a:schemeClr val="hlink"/>
                </a:solidFill>
                <a:hlinkClick r:id="rId4"/>
              </a:rPr>
              <a:t>https://www.tkn.tu-berlin.de/teaching/rn/animations/gbn_sr/</a:t>
            </a:r>
            <a:endParaRPr/>
          </a:p>
        </p:txBody>
      </p:sp>
      <p:sp>
        <p:nvSpPr>
          <p:cNvPr id="3169" name="Google Shape;3169;p57"/>
          <p:cNvSpPr txBox="1"/>
          <p:nvPr>
            <p:ph idx="12" type="sldNum"/>
          </p:nvPr>
        </p:nvSpPr>
        <p:spPr>
          <a:xfrm>
            <a:off x="9219616" y="6443089"/>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Transport Layer: 3-</a:t>
            </a: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