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4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</p:sldIdLst>
  <p:sldSz cy="6858000" cx="12192000"/>
  <p:notesSz cx="6858000" cy="9144000"/>
  <p:embeddedFontLst>
    <p:embeddedFont>
      <p:font typeface="Tahoma"/>
      <p:regular r:id="rId67"/>
      <p:bold r:id="rId68"/>
    </p:embeddedFont>
    <p:embeddedFont>
      <p:font typeface="Gill Sans"/>
      <p:regular r:id="rId69"/>
      <p:bold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hWMnURmhZzqwG0rL1P2jL+e8S7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FBF620-4B53-4476-BB3B-3EF72CB36E6C}">
  <a:tblStyle styleId="{51FBF620-4B53-4476-BB3B-3EF72CB36E6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customschemas.google.com/relationships/presentationmetadata" Target="metadata"/><Relationship Id="rId70" Type="http://schemas.openxmlformats.org/officeDocument/2006/relationships/font" Target="fonts/GillSans-bold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font" Target="fonts/Tahoma-bold.fntdata"/><Relationship Id="rId23" Type="http://schemas.openxmlformats.org/officeDocument/2006/relationships/slide" Target="slides/slide15.xml"/><Relationship Id="rId67" Type="http://schemas.openxmlformats.org/officeDocument/2006/relationships/font" Target="fonts/Tahoma-regular.fntdata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GillSans-regular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137" name="Google Shape;13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7" name="Google Shape;11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8" name="Google Shape;11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5" name="Google Shape;16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6" name="Google Shape;16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7" name="Google Shape;16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8" name="Google Shape;168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4" name="Google Shape;16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5" name="Google Shape;16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1" name="Google Shape;17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2" name="Google Shape;17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1" name="Google Shape;17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2" name="Google Shape;17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0" name="Google Shape;17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1" name="Google Shape;177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8" name="Google Shape;177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9" name="Google Shape;177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8" name="Google Shape;17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9" name="Google Shape;17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5" name="Google Shape;18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6" name="Google Shape;180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4" name="Google Shape;18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5" name="Google Shape;181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0" name="Google Shape;18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1" name="Google Shape;183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8" name="Google Shape;18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9" name="Google Shape;18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5" name="Google Shape;18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6" name="Google Shape;18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2" name="Google Shape;185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3" name="Google Shape;185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9" name="Google Shape;185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0" name="Google Shape;18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7" name="Google Shape;18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8" name="Google Shape;186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3" name="Google Shape;18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4" name="Google Shape;18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1" name="Google Shape;18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2" name="Google Shape;189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1" name="Google Shape;190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2" name="Google Shape;190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3" name="Google Shape;196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4" name="Google Shape;196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7" name="Google Shape;19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8" name="Google Shape;197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5" name="Google Shape;198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6" name="Google Shape;198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2" name="Google Shape;204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3" name="Google Shape;209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4" name="Google Shape;209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8" name="Google Shape;215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9" name="Google Shape;215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6" name="Google Shape;216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Can put several requests in a single packet</a:t>
            </a:r>
            <a:endParaRPr/>
          </a:p>
        </p:txBody>
      </p:sp>
      <p:sp>
        <p:nvSpPr>
          <p:cNvPr id="2167" name="Google Shape;216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3" name="Google Shape;217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4" name="Google Shape;217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1" name="Google Shape;218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Head-of-line blocking: if big item is the first request, smaller requests are stuck waiting behind it to finish when they could be issued as a parallel connection</a:t>
            </a:r>
            <a:endParaRPr/>
          </a:p>
        </p:txBody>
      </p:sp>
      <p:sp>
        <p:nvSpPr>
          <p:cNvPr id="2182" name="Google Shape;218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8" name="Google Shape;218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9" name="Google Shape;218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6" name="Google Shape;21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7" name="Google Shape;219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7" name="Google Shape;221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8" name="Google Shape;221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5" name="Google Shape;222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6" name="Google Shape;222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4" name="Google Shape;224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5" name="Google Shape;224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4" name="Google Shape;225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5" name="Google Shape;225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4" name="Google Shape;226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5" name="Google Shape;226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3" name="Google Shape;227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4" name="Google Shape;2274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4" name="Google Shape;228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5" name="Google Shape;2285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0" name="Google Shape;230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301" name="Google Shape;230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3" name="Google Shape;2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394" name="Google Shape;239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1" name="Google Shape;240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402" name="Google Shape;240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3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" name="Google Shape;24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5" name="Google Shape;249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2496" name="Google Shape;249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5" name="Google Shape;250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6" name="Google Shape;2506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7" name="Google Shape;263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8" name="Google Shape;263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3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5" name="Google Shape;276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6" name="Google Shape;276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8" name="Google Shape;292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9" name="Google Shape;292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9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1" name="Google Shape;309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2" name="Google Shape;309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8" name="Google Shape;309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9" name="Google Shape;3099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3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5" name="Google Shape;310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/>
          <p:nvPr>
            <p:ph type="title"/>
          </p:nvPr>
        </p:nvSpPr>
        <p:spPr>
          <a:xfrm>
            <a:off x="1016000" y="274638"/>
            <a:ext cx="105664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1"/>
          <p:cNvSpPr txBox="1"/>
          <p:nvPr>
            <p:ph idx="1" type="body"/>
          </p:nvPr>
        </p:nvSpPr>
        <p:spPr>
          <a:xfrm>
            <a:off x="914400" y="1371600"/>
            <a:ext cx="10871200" cy="23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61"/>
          <p:cNvSpPr txBox="1"/>
          <p:nvPr>
            <p:ph idx="2" type="body"/>
          </p:nvPr>
        </p:nvSpPr>
        <p:spPr>
          <a:xfrm>
            <a:off x="914400" y="3824289"/>
            <a:ext cx="10871200" cy="230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6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7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p7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7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p7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7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2" name="Google Shape;112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8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8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11" Type="http://schemas.openxmlformats.org/officeDocument/2006/relationships/image" Target="../media/image7.png"/><Relationship Id="rId22" Type="http://schemas.openxmlformats.org/officeDocument/2006/relationships/image" Target="../media/image25.png"/><Relationship Id="rId10" Type="http://schemas.openxmlformats.org/officeDocument/2006/relationships/image" Target="../media/image5.png"/><Relationship Id="rId21" Type="http://schemas.openxmlformats.org/officeDocument/2006/relationships/image" Target="../media/image22.png"/><Relationship Id="rId13" Type="http://schemas.openxmlformats.org/officeDocument/2006/relationships/image" Target="../media/image42.png"/><Relationship Id="rId12" Type="http://schemas.openxmlformats.org/officeDocument/2006/relationships/image" Target="../media/image23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10.png"/><Relationship Id="rId14" Type="http://schemas.openxmlformats.org/officeDocument/2006/relationships/image" Target="../media/image20.png"/><Relationship Id="rId17" Type="http://schemas.openxmlformats.org/officeDocument/2006/relationships/image" Target="../media/image35.png"/><Relationship Id="rId16" Type="http://schemas.openxmlformats.org/officeDocument/2006/relationships/image" Target="../media/image13.png"/><Relationship Id="rId5" Type="http://schemas.openxmlformats.org/officeDocument/2006/relationships/image" Target="../media/image1.png"/><Relationship Id="rId19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11" Type="http://schemas.openxmlformats.org/officeDocument/2006/relationships/image" Target="../media/image7.png"/><Relationship Id="rId22" Type="http://schemas.openxmlformats.org/officeDocument/2006/relationships/image" Target="../media/image25.png"/><Relationship Id="rId10" Type="http://schemas.openxmlformats.org/officeDocument/2006/relationships/image" Target="../media/image5.png"/><Relationship Id="rId21" Type="http://schemas.openxmlformats.org/officeDocument/2006/relationships/image" Target="../media/image22.png"/><Relationship Id="rId13" Type="http://schemas.openxmlformats.org/officeDocument/2006/relationships/image" Target="../media/image42.png"/><Relationship Id="rId12" Type="http://schemas.openxmlformats.org/officeDocument/2006/relationships/image" Target="../media/image23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10.png"/><Relationship Id="rId14" Type="http://schemas.openxmlformats.org/officeDocument/2006/relationships/image" Target="../media/image20.png"/><Relationship Id="rId17" Type="http://schemas.openxmlformats.org/officeDocument/2006/relationships/image" Target="../media/image35.png"/><Relationship Id="rId16" Type="http://schemas.openxmlformats.org/officeDocument/2006/relationships/image" Target="../media/image13.png"/><Relationship Id="rId5" Type="http://schemas.openxmlformats.org/officeDocument/2006/relationships/image" Target="../media/image1.png"/><Relationship Id="rId19" Type="http://schemas.openxmlformats.org/officeDocument/2006/relationships/image" Target="../media/image14.png"/><Relationship Id="rId6" Type="http://schemas.openxmlformats.org/officeDocument/2006/relationships/image" Target="../media/image4.png"/><Relationship Id="rId18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23.png"/><Relationship Id="rId22" Type="http://schemas.openxmlformats.org/officeDocument/2006/relationships/image" Target="../media/image7.png"/><Relationship Id="rId10" Type="http://schemas.openxmlformats.org/officeDocument/2006/relationships/image" Target="../media/image5.png"/><Relationship Id="rId21" Type="http://schemas.openxmlformats.org/officeDocument/2006/relationships/image" Target="../media/image27.png"/><Relationship Id="rId13" Type="http://schemas.openxmlformats.org/officeDocument/2006/relationships/image" Target="../media/image20.png"/><Relationship Id="rId12" Type="http://schemas.openxmlformats.org/officeDocument/2006/relationships/image" Target="../media/image42.png"/><Relationship Id="rId23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35.png"/><Relationship Id="rId14" Type="http://schemas.openxmlformats.org/officeDocument/2006/relationships/image" Target="../media/image13.png"/><Relationship Id="rId17" Type="http://schemas.openxmlformats.org/officeDocument/2006/relationships/image" Target="../media/image14.png"/><Relationship Id="rId16" Type="http://schemas.openxmlformats.org/officeDocument/2006/relationships/image" Target="../media/image17.png"/><Relationship Id="rId5" Type="http://schemas.openxmlformats.org/officeDocument/2006/relationships/image" Target="../media/image1.png"/><Relationship Id="rId19" Type="http://schemas.openxmlformats.org/officeDocument/2006/relationships/image" Target="../media/image22.png"/><Relationship Id="rId6" Type="http://schemas.openxmlformats.org/officeDocument/2006/relationships/image" Target="../media/image4.png"/><Relationship Id="rId18" Type="http://schemas.openxmlformats.org/officeDocument/2006/relationships/image" Target="../media/image16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Relationship Id="rId5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6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Relationship Id="rId5" Type="http://schemas.openxmlformats.org/officeDocument/2006/relationships/image" Target="../media/image46.png"/><Relationship Id="rId6" Type="http://schemas.openxmlformats.org/officeDocument/2006/relationships/image" Target="../media/image70.png"/><Relationship Id="rId7" Type="http://schemas.openxmlformats.org/officeDocument/2006/relationships/image" Target="../media/image6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8.png"/><Relationship Id="rId4" Type="http://schemas.openxmlformats.org/officeDocument/2006/relationships/image" Target="../media/image64.png"/><Relationship Id="rId5" Type="http://schemas.openxmlformats.org/officeDocument/2006/relationships/image" Target="../media/image46.png"/><Relationship Id="rId6" Type="http://schemas.openxmlformats.org/officeDocument/2006/relationships/image" Target="../media/image7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8.png"/><Relationship Id="rId4" Type="http://schemas.openxmlformats.org/officeDocument/2006/relationships/image" Target="../media/image46.png"/><Relationship Id="rId5" Type="http://schemas.openxmlformats.org/officeDocument/2006/relationships/image" Target="../media/image70.png"/><Relationship Id="rId6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8.png"/><Relationship Id="rId4" Type="http://schemas.openxmlformats.org/officeDocument/2006/relationships/image" Target="../media/image46.png"/><Relationship Id="rId5" Type="http://schemas.openxmlformats.org/officeDocument/2006/relationships/image" Target="../media/image70.png"/><Relationship Id="rId6" Type="http://schemas.openxmlformats.org/officeDocument/2006/relationships/image" Target="../media/image72.png"/><Relationship Id="rId7" Type="http://schemas.openxmlformats.org/officeDocument/2006/relationships/image" Target="../media/image7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/>
          <p:nvPr/>
        </p:nvSpPr>
        <p:spPr>
          <a:xfrm>
            <a:off x="0" y="2384201"/>
            <a:ext cx="12192000" cy="20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5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layer: overview</a:t>
            </a:r>
            <a:endParaRPr sz="4400"/>
          </a:p>
        </p:txBody>
      </p:sp>
      <p:sp>
        <p:nvSpPr>
          <p:cNvPr id="147" name="Google Shape;147;p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Some </a:t>
            </a:r>
            <a:r>
              <a:rPr lang="en-US"/>
              <a:t>n</a:t>
            </a:r>
            <a:r>
              <a:rPr lang="en-US" sz="4400"/>
              <a:t>etwork apps</a:t>
            </a:r>
            <a:endParaRPr sz="4400"/>
          </a:p>
        </p:txBody>
      </p:sp>
      <p:sp>
        <p:nvSpPr>
          <p:cNvPr id="154" name="Google Shape;154;p3"/>
          <p:cNvSpPr txBox="1"/>
          <p:nvPr/>
        </p:nvSpPr>
        <p:spPr>
          <a:xfrm>
            <a:off x="914400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social networking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multi-user network games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stored video (YouTube, Hulu, Netflix)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P2P file 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1788" lvl="0" marL="3460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IP (e.g., Skype)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video conferencing (e.g., Zoom)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7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login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title"/>
          </p:nvPr>
        </p:nvSpPr>
        <p:spPr>
          <a:xfrm>
            <a:off x="1016000" y="274638"/>
            <a:ext cx="105664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</a:t>
            </a:r>
            <a:endParaRPr/>
          </a:p>
        </p:txBody>
      </p:sp>
      <p:sp>
        <p:nvSpPr>
          <p:cNvPr id="162" name="Google Shape;162;p4"/>
          <p:cNvSpPr txBox="1"/>
          <p:nvPr>
            <p:ph idx="1" type="body"/>
          </p:nvPr>
        </p:nvSpPr>
        <p:spPr>
          <a:xfrm>
            <a:off x="1016000" y="1376313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This layer allows people to use the Internet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Other 4 layers are just made so people can use application programs</a:t>
            </a:r>
            <a:endParaRPr/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1" y="2320926"/>
            <a:ext cx="5307013" cy="3757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3505200" y="3048000"/>
            <a:ext cx="2133600" cy="990600"/>
          </a:xfrm>
          <a:prstGeom prst="ellipse">
            <a:avLst/>
          </a:prstGeom>
          <a:noFill/>
          <a:ln cap="flat" cmpd="sng" w="190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applications</a:t>
            </a:r>
            <a:endParaRPr/>
          </a:p>
        </p:txBody>
      </p:sp>
      <p:graphicFrame>
        <p:nvGraphicFramePr>
          <p:cNvPr id="171" name="Google Shape;171;p5"/>
          <p:cNvGraphicFramePr/>
          <p:nvPr/>
        </p:nvGraphicFramePr>
        <p:xfrm>
          <a:off x="22860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{51FBF620-4B53-4476-BB3B-3EF72CB36E6C}</a:tableStyleId>
              </a:tblPr>
              <a:tblGrid>
                <a:gridCol w="2667000"/>
                <a:gridCol w="2667000"/>
                <a:gridCol w="26670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 layer protocol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C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 protocol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E-mail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SMTP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Remote terminal access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telnet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transfer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FTP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Streaming multimedia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Proprietary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 or UDP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Internet telephony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Proprietary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Typically UDP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914400" y="4040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</a:t>
            </a:r>
            <a:endParaRPr/>
          </a:p>
        </p:txBody>
      </p:sp>
      <p:pic>
        <p:nvPicPr>
          <p:cNvPr id="178" name="Google Shape;17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925" y="1951038"/>
            <a:ext cx="767715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87" name="Google Shape;187;p7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95" name="Google Shape;195;p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1" name="Google Shape;201;p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" name="Google Shape;202;p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3" name="Google Shape;203;p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04" name="Google Shape;204;p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2" name="Google Shape;212;p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" name="Google Shape;221;p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" name="Google Shape;227;p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8" name="Google Shape;228;p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9" name="Google Shape;229;p7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230" name="Google Shape;230;p7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231" name="Google Shape;231;p7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7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7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4" name="Google Shape;234;p7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7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7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7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7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" name="Google Shape;239;p7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0" name="Google Shape;240;p7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7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7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7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7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7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6" name="Google Shape;246;p7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" name="Google Shape;247;p7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7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9" name="Google Shape;249;p7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0" name="Google Shape;250;p7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7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7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7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7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ntenna_radiation_stylized" id="255" name="Google Shape;25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6" name="Google Shape;256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257" name="Google Shape;257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7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9" name="Google Shape;259;p7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0" name="Google Shape;260;p7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261" name="Google Shape;261;p7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7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7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7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7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7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7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7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7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7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7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7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7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7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7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access_point_stylized_small" id="276" name="Google Shape;2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277" name="Google Shape;27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7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279" name="Google Shape;27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" name="Google Shape;28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" name="Google Shape;286;p7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287" name="Google Shape;287;p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90" name="Google Shape;290;p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4" name="Google Shape;294;p7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295" name="Google Shape;29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7" name="Google Shape;29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98" name="Google Shape;29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2" name="Google Shape;302;p7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303" name="Google Shape;303;p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5" name="Google Shape;305;p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06" name="Google Shape;306;p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0" name="Google Shape;310;p7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311" name="Google Shape;311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" name="Google Shape;313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4" name="Google Shape;314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8" name="Google Shape;318;p7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319" name="Google Shape;31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" name="Google Shape;32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" name="Google Shape;32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6" name="Google Shape;326;p7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327" name="Google Shape;327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9" name="Google Shape;329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0" name="Google Shape;330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4" name="Google Shape;334;p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335" name="Google Shape;33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" name="Google Shape;33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8" name="Google Shape;33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2" name="Google Shape;342;p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343" name="Google Shape;343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6" name="Google Shape;346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0" name="Google Shape;350;p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351" name="Google Shape;351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54" name="Google Shape;354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58" name="Google Shape;358;p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359" name="Google Shape;35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" name="Google Shape;36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6" name="Google Shape;366;p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367" name="Google Shape;367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9" name="Google Shape;369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0" name="Google Shape;370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4" name="Google Shape;374;p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375" name="Google Shape;37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8" name="Google Shape;37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2" name="Google Shape;382;p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83" name="Google Shape;383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" name="Google Shape;385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6" name="Google Shape;386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0" name="Google Shape;390;p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391" name="Google Shape;391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3" name="Google Shape;393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94" name="Google Shape;394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8" name="Google Shape;398;p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99" name="Google Shape;399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02" name="Google Shape;402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6" name="Google Shape;406;p7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07" name="Google Shape;407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9" name="Google Shape;409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0" name="Google Shape;410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4" name="Google Shape;414;p7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15" name="Google Shape;415;p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" name="Google Shape;417;p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8" name="Google Shape;418;p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7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423" name="Google Shape;423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4" name="Google Shape;424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" name="Google Shape;426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3" name="Google Shape;433;p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434" name="Google Shape;434;p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" name="Google Shape;440;p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7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447" name="Google Shape;44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48" name="Google Shape;44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9" name="Google Shape;449;p7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450" name="Google Shape;450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51" name="Google Shape;45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2" name="Google Shape;452;p7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453" name="Google Shape;453;p7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454" name="Google Shape;454;p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55" name="Google Shape;455;p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6" name="Google Shape;456;p7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57" name="Google Shape;457;p7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7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7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7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7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7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7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4" name="Google Shape;464;p7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465" name="Google Shape;465;p7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7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7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7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7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p7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7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" name="Google Shape;477;p7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478" name="Google Shape;478;p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9" name="Google Shape;479;p7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0" name="Google Shape;480;p7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481" name="Google Shape;481;p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2" name="Google Shape;482;p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3" name="Google Shape;483;p7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484" name="Google Shape;484;p7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485" name="Google Shape;485;p7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6" name="Google Shape;486;p7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7" name="Google Shape;487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8" name="Google Shape;488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" name="Google Shape;489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90" name="Google Shape;490;p7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491" name="Google Shape;491;p7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92" name="Google Shape;492;p7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93" name="Google Shape;493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94" name="Google Shape;494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95" name="Google Shape;495;p7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496" name="Google Shape;496;p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497" name="Google Shape;497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2" name="Google Shape;502;p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03" name="Google Shape;503;p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5" name="Google Shape;505;p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6" name="Google Shape;506;p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07" name="Google Shape;507;p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9" name="Google Shape;509;p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" name="Google Shape;511;p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12" name="Google Shape;512;p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4" name="Google Shape;514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6" name="Google Shape;516;p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" name="Google Shape;518;p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30" name="Google Shape;530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2" name="Google Shape;532;p7"/>
          <p:cNvGrpSpPr/>
          <p:nvPr/>
        </p:nvGrpSpPr>
        <p:grpSpPr>
          <a:xfrm>
            <a:off x="9201681" y="5852809"/>
            <a:ext cx="310186" cy="312050"/>
            <a:chOff x="877" y="1008"/>
            <a:chExt cx="2747" cy="2626"/>
          </a:xfrm>
        </p:grpSpPr>
        <p:pic>
          <p:nvPicPr>
            <p:cNvPr descr="antenna_stylized" id="533" name="Google Shape;533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34" name="Google Shape;534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7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36" name="Google Shape;536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7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3" name="Google Shape;543;p7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44" name="Google Shape;544;p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0" name="Google Shape;550;p7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7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6" name="Google Shape;556;p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57" name="Google Shape;557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9" name="Google Shape;559;p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60" name="Google Shape;560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7"/>
          <p:cNvGrpSpPr/>
          <p:nvPr/>
        </p:nvGrpSpPr>
        <p:grpSpPr>
          <a:xfrm>
            <a:off x="9534746" y="5795138"/>
            <a:ext cx="319264" cy="256870"/>
            <a:chOff x="877" y="1008"/>
            <a:chExt cx="2747" cy="2626"/>
          </a:xfrm>
        </p:grpSpPr>
        <p:pic>
          <p:nvPicPr>
            <p:cNvPr descr="antenna_stylized" id="563" name="Google Shape;563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564" name="Google Shape;564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" name="Google Shape;565;p7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566" name="Google Shape;566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7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3" name="Google Shape;573;p7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74" name="Google Shape;574;p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0" name="Google Shape;580;p7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7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7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7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7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7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0" name="Google Shape;590;p7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591" name="Google Shape;591;p7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3" name="Google Shape;593;p7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7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595" name="Google Shape;595;p7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7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7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7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600" name="Google Shape;600;p7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2" name="Google Shape;602;p7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7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604" name="Google Shape;604;p7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6" name="Google Shape;606;p7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7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7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7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7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7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7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7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8" name="Google Shape;618;p7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619" name="Google Shape;619;p7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620" name="Google Shape;620;p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621" name="Google Shape;621;p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2" name="Google Shape;622;p7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23" name="Google Shape;623;p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4" name="Google Shape;624;p7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7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8" name="Google Shape;628;p7"/>
          <p:cNvGrpSpPr/>
          <p:nvPr/>
        </p:nvGrpSpPr>
        <p:grpSpPr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629" name="Google Shape;629;p7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7"/>
            <p:cNvSpPr txBox="1"/>
            <p:nvPr/>
          </p:nvSpPr>
          <p:spPr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3" name="Google Shape;633;p7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4" name="Google Shape;634;p7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5" name="Google Shape;635;p7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6" name="Google Shape;636;p7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p7"/>
          <p:cNvGrpSpPr/>
          <p:nvPr/>
        </p:nvGrpSpPr>
        <p:grpSpPr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8" name="Google Shape;638;p7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7"/>
            <p:cNvSpPr txBox="1"/>
            <p:nvPr/>
          </p:nvSpPr>
          <p:spPr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2" name="Google Shape;642;p7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3" name="Google Shape;643;p7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4" name="Google Shape;644;p7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5" name="Google Shape;645;p7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6" name="Google Shape;646;p7"/>
          <p:cNvGrpSpPr/>
          <p:nvPr/>
        </p:nvGrpSpPr>
        <p:grpSpPr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7" name="Google Shape;647;p7"/>
            <p:cNvSpPr/>
            <p:nvPr/>
          </p:nvSpPr>
          <p:spPr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4245" y="435"/>
              <a:ext cx="435" cy="5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7"/>
            <p:cNvSpPr txBox="1"/>
            <p:nvPr/>
          </p:nvSpPr>
          <p:spPr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1" name="Google Shape;651;p7"/>
            <p:cNvCxnSpPr/>
            <p:nvPr/>
          </p:nvCxnSpPr>
          <p:spPr>
            <a:xfrm>
              <a:off x="4245" y="651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2" name="Google Shape;652;p7"/>
            <p:cNvCxnSpPr/>
            <p:nvPr/>
          </p:nvCxnSpPr>
          <p:spPr>
            <a:xfrm>
              <a:off x="4251" y="738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3" name="Google Shape;653;p7"/>
            <p:cNvCxnSpPr/>
            <p:nvPr/>
          </p:nvCxnSpPr>
          <p:spPr>
            <a:xfrm>
              <a:off x="4251" y="825"/>
              <a:ext cx="435" cy="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4" name="Google Shape;654;p7"/>
            <p:cNvSpPr/>
            <p:nvPr/>
          </p:nvSpPr>
          <p:spPr>
            <a:xfrm>
              <a:off x="4047" y="434"/>
              <a:ext cx="192" cy="594"/>
            </a:xfrm>
            <a:custGeom>
              <a:rect b="b" l="l" r="r" t="t"/>
              <a:pathLst>
                <a:path extrusionOk="0" h="594" w="192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CC000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5" name="Google Shape;655;p7"/>
          <p:cNvCxnSpPr/>
          <p:nvPr/>
        </p:nvCxnSpPr>
        <p:spPr>
          <a:xfrm>
            <a:off x="8998030" y="4451439"/>
            <a:ext cx="1290637" cy="54133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656" name="Google Shape;656;p7"/>
          <p:cNvCxnSpPr/>
          <p:nvPr/>
        </p:nvCxnSpPr>
        <p:spPr>
          <a:xfrm>
            <a:off x="9093280" y="1325651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7" name="Google Shape;657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Creating a network </a:t>
            </a:r>
            <a:r>
              <a:rPr lang="en-US"/>
              <a:t>a</a:t>
            </a:r>
            <a:r>
              <a:rPr lang="en-US" sz="4400"/>
              <a:t>pp</a:t>
            </a:r>
            <a:endParaRPr sz="4400"/>
          </a:p>
        </p:txBody>
      </p:sp>
      <p:sp>
        <p:nvSpPr>
          <p:cNvPr id="658" name="Google Shape;658;p7"/>
          <p:cNvSpPr txBox="1"/>
          <p:nvPr/>
        </p:nvSpPr>
        <p:spPr>
          <a:xfrm>
            <a:off x="889178" y="1334086"/>
            <a:ext cx="5309184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write programs that: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on (different) end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communicate over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web server software communicates with browser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2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need to write software for network-core 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network-core devices do not run user applications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on end systems  allows for rapid app development, propagation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9" name="Google Shape;659;p7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0" name="Google Shape;660;p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5" name="Google Shape;665;p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666" name="Google Shape;666;p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8" name="Google Shape;668;p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9" name="Google Shape;669;p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670" name="Google Shape;670;p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2" name="Google Shape;672;p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4" name="Google Shape;674;p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675" name="Google Shape;675;p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7" name="Google Shape;677;p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8" name="Google Shape;678;p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679" name="Google Shape;679;p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1" name="Google Shape;681;p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Client-server Architecture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Peer to peer Architecture</a:t>
            </a:r>
            <a:endParaRPr/>
          </a:p>
        </p:txBody>
      </p:sp>
      <p:sp>
        <p:nvSpPr>
          <p:cNvPr id="698" name="Google Shape;69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Application Architecture</a:t>
            </a:r>
            <a:endParaRPr sz="4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9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6" name="Google Shape;706;p9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07" name="Google Shape;707;p9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9" name="Google Shape;709;p9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9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9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9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9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4" name="Google Shape;714;p9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15" name="Google Shape;715;p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7" name="Google Shape;717;p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8" name="Google Shape;718;p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3" name="Google Shape;723;p9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24" name="Google Shape;724;p9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6" name="Google Shape;726;p9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7" name="Google Shape;727;p9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9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9" name="Google Shape;729;p9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9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9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2" name="Google Shape;732;p9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9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9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9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9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8" name="Google Shape;738;p9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9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9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9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9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9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9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9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9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9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8" name="Google Shape;748;p9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9" name="Google Shape;749;p9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750" name="Google Shape;750;p9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751" name="Google Shape;751;p9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2" name="Google Shape;752;p9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9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9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5" name="Google Shape;755;p9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6" name="Google Shape;756;p9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7" name="Google Shape;757;p9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8" name="Google Shape;758;p9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9" name="Google Shape;759;p9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p9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1" name="Google Shape;761;p9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2" name="Google Shape;762;p9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3" name="Google Shape;763;p9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4" name="Google Shape;764;p9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9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9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9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9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9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9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9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9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9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4" name="Google Shape;774;p9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ntenna_radiation_stylized" id="775" name="Google Shape;77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6" name="Google Shape;77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777" name="Google Shape;77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8" name="Google Shape;778;p9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9" name="Google Shape;779;p9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0" name="Google Shape;780;p9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781" name="Google Shape;781;p9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2" name="Google Shape;782;p9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9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4" name="Google Shape;784;p9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5" name="Google Shape;785;p9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6" name="Google Shape;786;p9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9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8" name="Google Shape;788;p9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9" name="Google Shape;789;p9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0" name="Google Shape;790;p9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9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2" name="Google Shape;792;p9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3" name="Google Shape;793;p9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4" name="Google Shape;794;p9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9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access_point_stylized_small" id="796" name="Google Shape;7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797" name="Google Shape;79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8" name="Google Shape;798;p9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799" name="Google Shape;799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1" name="Google Shape;801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2" name="Google Shape;802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" name="Google Shape;806;p9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807" name="Google Shape;807;p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9" name="Google Shape;809;p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10" name="Google Shape;810;p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4" name="Google Shape;814;p9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815" name="Google Shape;81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7" name="Google Shape;81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8" name="Google Shape;81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2" name="Google Shape;822;p9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823" name="Google Shape;823;p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5" name="Google Shape;825;p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26" name="Google Shape;826;p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0" name="Google Shape;830;p9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831" name="Google Shape;831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3" name="Google Shape;833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4" name="Google Shape;834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8" name="Google Shape;838;p9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839" name="Google Shape;839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1" name="Google Shape;841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2" name="Google Shape;842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6" name="Google Shape;846;p9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847" name="Google Shape;847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" name="Google Shape;849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0" name="Google Shape;850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4" name="Google Shape;854;p9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855" name="Google Shape;85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7" name="Google Shape;85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8" name="Google Shape;85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2" name="Google Shape;862;p9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863" name="Google Shape;863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5" name="Google Shape;865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6" name="Google Shape;866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0" name="Google Shape;870;p9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871" name="Google Shape;871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3" name="Google Shape;873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4" name="Google Shape;874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8" name="Google Shape;878;p9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879" name="Google Shape;879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2" name="Google Shape;882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6" name="Google Shape;886;p9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887" name="Google Shape;887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9" name="Google Shape;889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0" name="Google Shape;890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4" name="Google Shape;894;p9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895" name="Google Shape;89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7" name="Google Shape;89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8" name="Google Shape;89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2" name="Google Shape;902;p9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903" name="Google Shape;903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5" name="Google Shape;905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6" name="Google Shape;906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0" name="Google Shape;910;p9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911" name="Google Shape;911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3" name="Google Shape;913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4" name="Google Shape;914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8" name="Google Shape;918;p9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919" name="Google Shape;919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1" name="Google Shape;921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Google Shape;922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6" name="Google Shape;926;p9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927" name="Google Shape;927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9" name="Google Shape;929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0" name="Google Shape;930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4" name="Google Shape;934;p9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935" name="Google Shape;93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7" name="Google Shape;93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8" name="Google Shape;93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2" name="Google Shape;942;p9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943" name="Google Shape;943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44" name="Google Shape;944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9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46" name="Google Shape;946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7" name="Google Shape;947;p9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3" name="Google Shape;953;p9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54" name="Google Shape;954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0" name="Google Shape;960;p9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9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967" name="Google Shape;967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68" name="Google Shape;968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9" name="Google Shape;969;p9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970" name="Google Shape;970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71" name="Google Shape;971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2" name="Google Shape;972;p9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973" name="Google Shape;973;p9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974" name="Google Shape;974;p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975" name="Google Shape;975;p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6" name="Google Shape;976;p9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77" name="Google Shape;977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8" name="Google Shape;978;p9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9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9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9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9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9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4" name="Google Shape;984;p9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985" name="Google Shape;985;p9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9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9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8" name="Google Shape;988;p9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9" name="Google Shape;989;p9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9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91" name="Google Shape;991;p9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9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9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9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9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9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7" name="Google Shape;997;p9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998" name="Google Shape;998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9" name="Google Shape;999;p9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0" name="Google Shape;1000;p9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001" name="Google Shape;1001;p9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002" name="Google Shape;1002;p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03" name="Google Shape;1003;p9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004" name="Google Shape;1004;p9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005" name="Google Shape;1005;p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06" name="Google Shape;1006;p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007" name="Google Shape;1007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008" name="Google Shape;1008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009" name="Google Shape;1009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010" name="Google Shape;1010;p9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011" name="Google Shape;1011;p9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12" name="Google Shape;1012;p9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013" name="Google Shape;1013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014" name="Google Shape;1014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015" name="Google Shape;1015;p9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016" name="Google Shape;1016;p9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017" name="Google Shape;1017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2" name="Google Shape;1022;p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23" name="Google Shape;1023;p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5" name="Google Shape;1025;p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6" name="Google Shape;1026;p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27" name="Google Shape;1027;p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9" name="Google Shape;1029;p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1" name="Google Shape;1031;p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32" name="Google Shape;1032;p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4" name="Google Shape;1034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5" name="Google Shape;1035;p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36" name="Google Shape;1036;p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8" name="Google Shape;1038;p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" name="Google Shape;1049;p9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050" name="Google Shape;1050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9201681" y="5852809"/>
            <a:ext cx="310186" cy="312050"/>
            <a:chOff x="877" y="1008"/>
            <a:chExt cx="2747" cy="2626"/>
          </a:xfrm>
        </p:grpSpPr>
        <p:pic>
          <p:nvPicPr>
            <p:cNvPr descr="antenna_stylized" id="1053" name="Google Shape;1053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54" name="Google Shape;1054;p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56" name="Google Shape;1056;p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" name="Google Shape;1063;p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64" name="Google Shape;1064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0" name="Google Shape;1070;p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6" name="Google Shape;1076;p9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077" name="Google Shape;1077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8" name="Google Shape;1078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9" name="Google Shape;1079;p9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080" name="Google Shape;1080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9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2" name="Google Shape;1082;p9"/>
          <p:cNvGrpSpPr/>
          <p:nvPr/>
        </p:nvGrpSpPr>
        <p:grpSpPr>
          <a:xfrm>
            <a:off x="9534746" y="5795138"/>
            <a:ext cx="319264" cy="256870"/>
            <a:chOff x="877" y="1008"/>
            <a:chExt cx="2747" cy="2626"/>
          </a:xfrm>
        </p:grpSpPr>
        <p:pic>
          <p:nvPicPr>
            <p:cNvPr descr="antenna_stylized" id="1083" name="Google Shape;1083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84" name="Google Shape;1084;p9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9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86" name="Google Shape;1086;p9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3" name="Google Shape;1093;p9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94" name="Google Shape;1094;p9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9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9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9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9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0" name="Google Shape;1100;p9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9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6" name="Google Shape;1106;p9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9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9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9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0" name="Google Shape;1110;p9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111" name="Google Shape;1111;p9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3" name="Google Shape;1113;p9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4" name="Google Shape;1114;p9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115" name="Google Shape;1115;p9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7" name="Google Shape;1117;p9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9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9" name="Google Shape;1119;p9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120" name="Google Shape;1120;p9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9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3" name="Google Shape;1123;p9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124" name="Google Shape;1124;p9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6" name="Google Shape;1126;p9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9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9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9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9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9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9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9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9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9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9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9"/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8" name="Google Shape;1138;p9"/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1139" name="Google Shape;1139;p9"/>
            <p:cNvGrpSpPr/>
            <p:nvPr/>
          </p:nvGrpSpPr>
          <p:grpSpPr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140" name="Google Shape;1140;p9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141" name="Google Shape;1141;p9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2" name="Google Shape;1142;p9"/>
            <p:cNvGrpSpPr/>
            <p:nvPr/>
          </p:nvGrpSpPr>
          <p:grpSpPr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1143" name="Google Shape;1143;p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4" name="Google Shape;1144;p9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5" name="Google Shape;1145;p9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48" name="Google Shape;1148;p9"/>
          <p:cNvCxnSpPr/>
          <p:nvPr/>
        </p:nvCxnSpPr>
        <p:spPr>
          <a:xfrm rot="10800000">
            <a:off x="8310623" y="5474824"/>
            <a:ext cx="1423686" cy="289367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9" name="Google Shape;1149;p9"/>
          <p:cNvCxnSpPr/>
          <p:nvPr/>
        </p:nvCxnSpPr>
        <p:spPr>
          <a:xfrm>
            <a:off x="8370450" y="2297968"/>
            <a:ext cx="1700212" cy="3386138"/>
          </a:xfrm>
          <a:prstGeom prst="straightConnector1">
            <a:avLst/>
          </a:prstGeom>
          <a:noFill/>
          <a:ln cap="flat" cmpd="sng" w="762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0" name="Google Shape;1150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Client-server </a:t>
            </a:r>
            <a:r>
              <a:rPr lang="en-US"/>
              <a:t>architecture</a:t>
            </a:r>
            <a:endParaRPr sz="4400"/>
          </a:p>
        </p:txBody>
      </p:sp>
      <p:sp>
        <p:nvSpPr>
          <p:cNvPr id="1151" name="Google Shape;1151;p9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always-on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permanent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in data centers, for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contact, communicate with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be intermittently connected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have dynamic IP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2" lvl="0" marL="4667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communicate directly with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HTTP, IMAP, FTP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2" name="Google Shape;1152;p9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153" name="Google Shape;1153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8" name="Google Shape;1158;p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59" name="Google Shape;1159;p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1" name="Google Shape;1161;p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2" name="Google Shape;1162;p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63" name="Google Shape;1163;p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5" name="Google Shape;1165;p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7" name="Google Shape;1167;p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68" name="Google Shape;1168;p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0" name="Google Shape;1170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1" name="Google Shape;1171;p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72" name="Google Shape;1172;p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4" name="Google Shape;1174;p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0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0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9" name="Google Shape;119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200" name="Google Shape;120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2" name="Google Shape;120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3" name="Google Shape;120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4" name="Google Shape;120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5" name="Google Shape;120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6" name="Google Shape;120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8" name="Google Shape;120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09" name="Google Shape;120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11" name="Google Shape;121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2" name="Google Shape;121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3" name="Google Shape;121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4" name="Google Shape;121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5" name="Google Shape;121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6" name="Google Shape;121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7" name="Google Shape;121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3" name="Google Shape;1223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4" name="Google Shape;1224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5" name="Google Shape;1225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7" name="Google Shape;1227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8" name="Google Shape;1228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9" name="Google Shape;1229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0" name="Google Shape;1230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1" name="Google Shape;1231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2" name="Google Shape;1232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3" name="Google Shape;1233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34" name="Google Shape;1234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235" name="Google Shape;1235;p10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236" name="Google Shape;1236;p10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7" name="Google Shape;1237;p10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8" name="Google Shape;1238;p10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9" name="Google Shape;1239;p10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10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10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10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10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4" name="Google Shape;1244;p10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5" name="Google Shape;1245;p10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10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10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10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10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0" name="Google Shape;1250;p10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1" name="Google Shape;1251;p10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2" name="Google Shape;1252;p10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3" name="Google Shape;1253;p10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4" name="Google Shape;1254;p10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5" name="Google Shape;1255;p10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6" name="Google Shape;1256;p10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7" name="Google Shape;1257;p10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10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10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pic>
          <p:nvPicPr>
            <p:cNvPr descr="antenna_radiation_stylized" id="1260" name="Google Shape;126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61" name="Google Shape;126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262" name="Google Shape;126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64" name="Google Shape;1264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5" name="Google Shape;1265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266" name="Google Shape;1266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7" name="Google Shape;1267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8" name="Google Shape;1268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9" name="Google Shape;1269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0" name="Google Shape;1270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1" name="Google Shape;1271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2" name="Google Shape;1272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3" name="Google Shape;1273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4" name="Google Shape;1274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5" name="Google Shape;1275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6" name="Google Shape;1276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7" name="Google Shape;1277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8" name="Google Shape;1278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9" name="Google Shape;1279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0" name="Google Shape;1280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access_point_stylized_small" id="1281" name="Google Shape;128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282" name="Google Shape;128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1284" name="Google Shape;128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6" name="Google Shape;128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87" name="Google Shape;128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1" name="Google Shape;1291;p10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292" name="Google Shape;1292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4" name="Google Shape;1294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95" name="Google Shape;1295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99" name="Google Shape;1299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300" name="Google Shape;130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2" name="Google Shape;130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03" name="Google Shape;130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07" name="Google Shape;1307;p10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308" name="Google Shape;1308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0" name="Google Shape;1310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311" name="Google Shape;1311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5" name="Google Shape;1315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316" name="Google Shape;131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8" name="Google Shape;131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9" name="Google Shape;131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3" name="Google Shape;1323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1324" name="Google Shape;132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6" name="Google Shape;132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27" name="Google Shape;132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1" name="Google Shape;1331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332" name="Google Shape;133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4" name="Google Shape;133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35" name="Google Shape;133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39" name="Google Shape;1339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340" name="Google Shape;134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2" name="Google Shape;134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43" name="Google Shape;134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47" name="Google Shape;1347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348" name="Google Shape;134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0" name="Google Shape;135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1" name="Google Shape;135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55" name="Google Shape;1355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356" name="Google Shape;135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8" name="Google Shape;135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9" name="Google Shape;135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63" name="Google Shape;1363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1364" name="Google Shape;136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6" name="Google Shape;136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67" name="Google Shape;136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71" name="Google Shape;1371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1372" name="Google Shape;137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4" name="Google Shape;137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75" name="Google Shape;137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79" name="Google Shape;1379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1380" name="Google Shape;138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2" name="Google Shape;138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83" name="Google Shape;138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7" name="Google Shape;1387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1388" name="Google Shape;138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0" name="Google Shape;139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1" name="Google Shape;139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95" name="Google Shape;1395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1396" name="Google Shape;139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8" name="Google Shape;139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9" name="Google Shape;139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03" name="Google Shape;1403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1404" name="Google Shape;140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6" name="Google Shape;140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07" name="Google Shape;140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1" name="Google Shape;1411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1412" name="Google Shape;141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4" name="Google Shape;141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15" name="Google Shape;141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9" name="Google Shape;1419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1420" name="Google Shape;142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2" name="Google Shape;142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23" name="Google Shape;142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7" name="Google Shape;1427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1428" name="Google Shape;142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29" name="Google Shape;142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0" name="Google Shape;1430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31" name="Google Shape;1431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2" name="Google Shape;1432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8" name="Google Shape;1438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439" name="Google Shape;1439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5" name="Google Shape;1445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1" name="Google Shape;1451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1452" name="Google Shape;1452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53" name="Google Shape;145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4" name="Google Shape;1454;p10"/>
          <p:cNvGrpSpPr/>
          <p:nvPr/>
        </p:nvGrpSpPr>
        <p:grpSpPr>
          <a:xfrm>
            <a:off x="7493518" y="3419140"/>
            <a:ext cx="350807" cy="310034"/>
            <a:chOff x="7487144" y="3389820"/>
            <a:chExt cx="350807" cy="310034"/>
          </a:xfrm>
        </p:grpSpPr>
        <p:pic>
          <p:nvPicPr>
            <p:cNvPr descr="antenna_stylized" id="1455" name="Google Shape;1455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56" name="Google Shape;1456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7" name="Google Shape;1457;p10"/>
            <p:cNvSpPr/>
            <p:nvPr/>
          </p:nvSpPr>
          <p:spPr>
            <a:xfrm>
              <a:off x="7599014" y="3459979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58" name="Google Shape;1458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10"/>
            <p:cNvSpPr/>
            <p:nvPr/>
          </p:nvSpPr>
          <p:spPr>
            <a:xfrm>
              <a:off x="7641029" y="3455381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0"/>
            <p:cNvSpPr/>
            <p:nvPr/>
          </p:nvSpPr>
          <p:spPr>
            <a:xfrm>
              <a:off x="7596971" y="3455145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0"/>
            <p:cNvSpPr/>
            <p:nvPr/>
          </p:nvSpPr>
          <p:spPr>
            <a:xfrm>
              <a:off x="7776652" y="3476723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0"/>
            <p:cNvSpPr/>
            <p:nvPr/>
          </p:nvSpPr>
          <p:spPr>
            <a:xfrm>
              <a:off x="7596332" y="3569758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0"/>
            <p:cNvSpPr/>
            <p:nvPr/>
          </p:nvSpPr>
          <p:spPr>
            <a:xfrm>
              <a:off x="7783165" y="3477902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0"/>
            <p:cNvSpPr/>
            <p:nvPr/>
          </p:nvSpPr>
          <p:spPr>
            <a:xfrm>
              <a:off x="7596588" y="3576007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65" name="Google Shape;1465;p10"/>
            <p:cNvGrpSpPr/>
            <p:nvPr/>
          </p:nvGrpSpPr>
          <p:grpSpPr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66" name="Google Shape;1466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2" name="Google Shape;1472;p10"/>
            <p:cNvSpPr/>
            <p:nvPr/>
          </p:nvSpPr>
          <p:spPr>
            <a:xfrm>
              <a:off x="7704243" y="3629776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0"/>
            <p:cNvSpPr/>
            <p:nvPr/>
          </p:nvSpPr>
          <p:spPr>
            <a:xfrm>
              <a:off x="7504129" y="3634611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0"/>
            <p:cNvSpPr/>
            <p:nvPr/>
          </p:nvSpPr>
          <p:spPr>
            <a:xfrm>
              <a:off x="7504257" y="3624470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0"/>
            <p:cNvSpPr/>
            <p:nvPr/>
          </p:nvSpPr>
          <p:spPr>
            <a:xfrm>
              <a:off x="7504384" y="3578837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10"/>
            <p:cNvSpPr/>
            <p:nvPr/>
          </p:nvSpPr>
          <p:spPr>
            <a:xfrm>
              <a:off x="7510642" y="3626829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10"/>
            <p:cNvSpPr/>
            <p:nvPr/>
          </p:nvSpPr>
          <p:spPr>
            <a:xfrm flipH="1" rot="10800000">
              <a:off x="7700668" y="3623055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8" name="Google Shape;1478;p10"/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descr="fridge2.png" id="1479" name="Google Shape;1479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480" name="Google Shape;1480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1" name="Google Shape;1481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1482" name="Google Shape;1482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483" name="Google Shape;1483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84" name="Google Shape;1484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485" name="Google Shape;1485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486" name="Google Shape;1486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487" name="Google Shape;1487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488" name="Google Shape;1488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489" name="Google Shape;1489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490" name="Google Shape;1490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491" name="Google Shape;1491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492" name="Google Shape;1492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493" name="Google Shape;1493;p10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494" name="Google Shape;1494;p10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1495" name="Google Shape;1495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0" name="Google Shape;1500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501" name="Google Shape;1501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3" name="Google Shape;1503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4" name="Google Shape;1504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505" name="Google Shape;1505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7" name="Google Shape;1507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9" name="Google Shape;1509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510" name="Google Shape;1510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2" name="Google Shape;1512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13" name="Google Shape;1513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514" name="Google Shape;1514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6" name="Google Shape;1516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7" name="Google Shape;1527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1528" name="Google Shape;1528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9" name="Google Shape;1529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0" name="Google Shape;1530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1531" name="Google Shape;1531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2" name="Google Shape;1532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3" name="Google Shape;1533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1534" name="Google Shape;1534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5" name="Google Shape;153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6" name="Google Shape;1536;p10"/>
          <p:cNvGrpSpPr/>
          <p:nvPr/>
        </p:nvGrpSpPr>
        <p:grpSpPr>
          <a:xfrm>
            <a:off x="9534746" y="5795138"/>
            <a:ext cx="319264" cy="256870"/>
            <a:chOff x="877" y="1008"/>
            <a:chExt cx="2747" cy="2626"/>
          </a:xfrm>
        </p:grpSpPr>
        <p:pic>
          <p:nvPicPr>
            <p:cNvPr descr="antenna_stylized" id="1537" name="Google Shape;1537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538" name="Google Shape;1538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9" name="Google Shape;1539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540" name="Google Shape;1540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1" name="Google Shape;1541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7" name="Google Shape;1547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548" name="Google Shape;1548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54" name="Google Shape;1554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0" name="Google Shape;1560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4" name="Google Shape;1564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1565" name="Google Shape;1565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7" name="Google Shape;1567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1569" name="Google Shape;1569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1" name="Google Shape;1571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2" name="Google Shape;1572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3" name="Google Shape;1573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1574" name="Google Shape;1574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6" name="Google Shape;1576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7" name="Google Shape;1577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1578" name="Google Shape;1578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0" name="Google Shape;1580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Peer-peer </a:t>
            </a:r>
            <a:r>
              <a:rPr lang="en-US"/>
              <a:t>a</a:t>
            </a:r>
            <a:r>
              <a:rPr lang="en-US" sz="4400"/>
              <a:t>rchitecture</a:t>
            </a:r>
            <a:endParaRPr sz="4400"/>
          </a:p>
        </p:txBody>
      </p:sp>
      <p:sp>
        <p:nvSpPr>
          <p:cNvPr id="1592" name="Google Shape;1592;p10"/>
          <p:cNvSpPr txBox="1"/>
          <p:nvPr/>
        </p:nvSpPr>
        <p:spPr>
          <a:xfrm>
            <a:off x="889178" y="1260346"/>
            <a:ext cx="5968498" cy="49746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always-on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arbitrary end systems directly communicate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request service from other peers, provide service in return to other peers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self scalability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– new peers bring new service capacity, as well as new service demands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are intermittently connected and change IP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complex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P2P file sharing [BitTorrent]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3" name="Google Shape;1593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1594" name="Google Shape;1594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9" name="Google Shape;1599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600" name="Google Shape;1600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2" name="Google Shape;1602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3" name="Google Shape;1603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604" name="Google Shape;1604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6" name="Google Shape;1606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8" name="Google Shape;1608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609" name="Google Shape;1609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1" name="Google Shape;1611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2" name="Google Shape;1612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613" name="Google Shape;1613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5" name="Google Shape;1615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6" name="Google Shape;1626;p10"/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7" name="Google Shape;1627;p10"/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1628" name="Google Shape;1628;p10"/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0" name="Google Shape;1630;p10"/>
            <p:cNvCxnSpPr/>
            <p:nvPr/>
          </p:nvCxnSpPr>
          <p:spPr>
            <a:xfrm flipH="1">
              <a:off x="8353326" y="2438326"/>
              <a:ext cx="498897" cy="1114752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31" name="Google Shape;1631;p10"/>
            <p:cNvCxnSpPr/>
            <p:nvPr/>
          </p:nvCxnSpPr>
          <p:spPr>
            <a:xfrm>
              <a:off x="7971176" y="2321758"/>
              <a:ext cx="1187" cy="2793530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632" name="Google Shape;1632;p10"/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10"/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5" name="Google Shape;1635;p10"/>
            <p:cNvCxnSpPr/>
            <p:nvPr/>
          </p:nvCxnSpPr>
          <p:spPr>
            <a:xfrm>
              <a:off x="9143664" y="2462348"/>
              <a:ext cx="228982" cy="3299611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36" name="Google Shape;1636;p10"/>
            <p:cNvCxnSpPr/>
            <p:nvPr/>
          </p:nvCxnSpPr>
          <p:spPr>
            <a:xfrm>
              <a:off x="8485044" y="3911282"/>
              <a:ext cx="764880" cy="1866664"/>
            </a:xfrm>
            <a:prstGeom prst="straightConnector1">
              <a:avLst/>
            </a:prstGeom>
            <a:noFill/>
            <a:ln cap="flat" cmpd="sng" w="762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37" name="Google Shape;1637;p10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1638" name="Google Shape;1638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639" name="Google Shape;1639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0" name="Google Shape;1640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1641" name="Google Shape;1641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1642" name="Google Shape;1642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3" name="Google Shape;1643;p10"/>
          <p:cNvGrpSpPr/>
          <p:nvPr/>
        </p:nvGrpSpPr>
        <p:grpSpPr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descr="desktop_computer_stylized_medium" id="1644" name="Google Shape;1644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5" name="Google Shape;164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6" name="Google Shape;1646;p10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1647" name="Google Shape;1647;p1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8" name="Google Shape;164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9" name="Google Shape;1649;p10"/>
          <p:cNvGrpSpPr/>
          <p:nvPr/>
        </p:nvGrpSpPr>
        <p:grpSpPr>
          <a:xfrm>
            <a:off x="9201681" y="5852809"/>
            <a:ext cx="310186" cy="312050"/>
            <a:chOff x="877" y="1008"/>
            <a:chExt cx="2747" cy="2626"/>
          </a:xfrm>
        </p:grpSpPr>
        <p:pic>
          <p:nvPicPr>
            <p:cNvPr descr="antenna_stylized" id="1650" name="Google Shape;1650;p1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651" name="Google Shape;165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2" name="Google Shape;1652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653" name="Google Shape;1653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4" name="Google Shape;1654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0" name="Google Shape;1660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61" name="Google Shape;166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7" name="Google Shape;1667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Processes communicating</a:t>
            </a:r>
            <a:endParaRPr sz="4400"/>
          </a:p>
        </p:txBody>
      </p:sp>
      <p:sp>
        <p:nvSpPr>
          <p:cNvPr id="1679" name="Google Shape;1679;p11"/>
          <p:cNvSpPr txBox="1"/>
          <p:nvPr/>
        </p:nvSpPr>
        <p:spPr>
          <a:xfrm>
            <a:off x="606042" y="1565977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running within a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within same host, two processes communicate using 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inter-process communication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(defined by 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different hosts communicate by exchanging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1"/>
          <p:cNvSpPr/>
          <p:nvPr/>
        </p:nvSpPr>
        <p:spPr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applications with P2P architectures have client processes &amp; server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1" name="Google Shape;1681;p11"/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1682" name="Google Shape;1682;p11"/>
            <p:cNvSpPr txBox="1"/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client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initiates communication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server process: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that waits to be contacted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6974010" y="1786951"/>
              <a:ext cx="4092575" cy="206216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1"/>
            <p:cNvSpPr txBox="1"/>
            <p:nvPr/>
          </p:nvSpPr>
          <p:spPr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clients, servers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Ports</a:t>
            </a:r>
            <a:endParaRPr sz="4400"/>
          </a:p>
        </p:txBody>
      </p:sp>
      <p:sp>
        <p:nvSpPr>
          <p:cNvPr id="1691" name="Google Shape;1691;p13"/>
          <p:cNvSpPr txBox="1"/>
          <p:nvPr/>
        </p:nvSpPr>
        <p:spPr>
          <a:xfrm>
            <a:off x="798691" y="1183986"/>
            <a:ext cx="10965041" cy="40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numerical identifier (0–65535) used to distinguish different services on the same IP address.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Port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HTTP, Port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443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HTTPS.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 of it like an </a:t>
            </a:r>
            <a:r>
              <a:rPr b="0" i="1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apartment number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inside a building (the IP address is the building’s street address).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698" name="Google Shape;1698;p14"/>
          <p:cNvSpPr txBox="1"/>
          <p:nvPr/>
        </p:nvSpPr>
        <p:spPr>
          <a:xfrm>
            <a:off x="798691" y="1183986"/>
            <a:ext cx="10965041" cy="4085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combination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(TCP/UDP)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uniquely identifies one endpoint of a network connections message out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192.168.1.10:443 over TCP is one socket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Sockets</a:t>
            </a:r>
            <a:endParaRPr sz="4400"/>
          </a:p>
        </p:txBody>
      </p:sp>
      <p:sp>
        <p:nvSpPr>
          <p:cNvPr id="1705" name="Google Shape;1705;p12"/>
          <p:cNvSpPr txBox="1"/>
          <p:nvPr/>
        </p:nvSpPr>
        <p:spPr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sends/receives messages to/from its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 analogous to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shoves message out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process relies on transport infrastructure on other side of door to deliver message to socket at receiving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sockets involved: one on each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2"/>
          <p:cNvSpPr/>
          <p:nvPr/>
        </p:nvSpPr>
        <p:spPr>
          <a:xfrm>
            <a:off x="8482481" y="4098352"/>
            <a:ext cx="736600" cy="1998662"/>
          </a:xfrm>
          <a:custGeom>
            <a:rect b="b" l="l" r="r" t="t"/>
            <a:pathLst>
              <a:path extrusionOk="0" h="1259" w="464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2"/>
          <p:cNvSpPr/>
          <p:nvPr/>
        </p:nvSpPr>
        <p:spPr>
          <a:xfrm>
            <a:off x="5167781" y="5395339"/>
            <a:ext cx="1808162" cy="1031875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12"/>
          <p:cNvSpPr txBox="1"/>
          <p:nvPr/>
        </p:nvSpPr>
        <p:spPr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9" name="Google Shape;1709;p12"/>
          <p:cNvCxnSpPr/>
          <p:nvPr/>
        </p:nvCxnSpPr>
        <p:spPr>
          <a:xfrm>
            <a:off x="4926481" y="5938264"/>
            <a:ext cx="22113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0" name="Google Shape;1710;p12"/>
          <p:cNvSpPr txBox="1"/>
          <p:nvPr/>
        </p:nvSpPr>
        <p:spPr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by 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1" name="Google Shape;1711;p12"/>
          <p:cNvSpPr txBox="1"/>
          <p:nvPr/>
        </p:nvSpPr>
        <p:spPr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controlled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app developer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12"/>
          <p:cNvSpPr/>
          <p:nvPr/>
        </p:nvSpPr>
        <p:spPr>
          <a:xfrm>
            <a:off x="2742081" y="4161852"/>
            <a:ext cx="758825" cy="1997075"/>
          </a:xfrm>
          <a:custGeom>
            <a:rect b="b" l="l" r="r" t="t"/>
            <a:pathLst>
              <a:path extrusionOk="0" h="1258" w="47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2"/>
          <p:cNvSpPr/>
          <p:nvPr/>
        </p:nvSpPr>
        <p:spPr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4" name="Google Shape;1714;p12"/>
          <p:cNvSpPr/>
          <p:nvPr/>
        </p:nvSpPr>
        <p:spPr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15" name="Google Shape;1715;p12"/>
          <p:cNvCxnSpPr/>
          <p:nvPr/>
        </p:nvCxnSpPr>
        <p:spPr>
          <a:xfrm>
            <a:off x="3516781" y="49317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6" name="Google Shape;1716;p12"/>
          <p:cNvSpPr txBox="1"/>
          <p:nvPr/>
        </p:nvSpPr>
        <p:spPr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7" name="Google Shape;1717;p12"/>
          <p:cNvCxnSpPr/>
          <p:nvPr/>
        </p:nvCxnSpPr>
        <p:spPr>
          <a:xfrm>
            <a:off x="3524718" y="52524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8" name="Google Shape;1718;p12"/>
          <p:cNvCxnSpPr/>
          <p:nvPr/>
        </p:nvCxnSpPr>
        <p:spPr>
          <a:xfrm>
            <a:off x="3510431" y="556202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9" name="Google Shape;1719;p12"/>
          <p:cNvCxnSpPr/>
          <p:nvPr/>
        </p:nvCxnSpPr>
        <p:spPr>
          <a:xfrm>
            <a:off x="3510431" y="58477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0" name="Google Shape;1720;p12"/>
          <p:cNvSpPr txBox="1"/>
          <p:nvPr/>
        </p:nvSpPr>
        <p:spPr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2"/>
          <p:cNvSpPr txBox="1"/>
          <p:nvPr/>
        </p:nvSpPr>
        <p:spPr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2"/>
          <p:cNvSpPr txBox="1"/>
          <p:nvPr/>
        </p:nvSpPr>
        <p:spPr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2"/>
          <p:cNvSpPr txBox="1"/>
          <p:nvPr/>
        </p:nvSpPr>
        <p:spPr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12"/>
          <p:cNvSpPr/>
          <p:nvPr/>
        </p:nvSpPr>
        <p:spPr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5" name="Google Shape;1725;p12"/>
          <p:cNvGrpSpPr/>
          <p:nvPr/>
        </p:nvGrpSpPr>
        <p:grpSpPr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1726" name="Google Shape;1726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2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2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0" name="Google Shape;1730;p12"/>
          <p:cNvSpPr/>
          <p:nvPr/>
        </p:nvSpPr>
        <p:spPr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1" name="Google Shape;1731;p12"/>
          <p:cNvSpPr/>
          <p:nvPr/>
        </p:nvSpPr>
        <p:spPr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2" name="Google Shape;1732;p12"/>
          <p:cNvCxnSpPr/>
          <p:nvPr/>
        </p:nvCxnSpPr>
        <p:spPr>
          <a:xfrm>
            <a:off x="7179143" y="49032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3" name="Google Shape;1733;p12"/>
          <p:cNvSpPr txBox="1"/>
          <p:nvPr/>
        </p:nvSpPr>
        <p:spPr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4" name="Google Shape;1734;p12"/>
          <p:cNvCxnSpPr/>
          <p:nvPr/>
        </p:nvCxnSpPr>
        <p:spPr>
          <a:xfrm>
            <a:off x="7187081" y="52238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5" name="Google Shape;1735;p12"/>
          <p:cNvCxnSpPr/>
          <p:nvPr/>
        </p:nvCxnSpPr>
        <p:spPr>
          <a:xfrm>
            <a:off x="7172793" y="55334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6" name="Google Shape;1736;p12"/>
          <p:cNvCxnSpPr/>
          <p:nvPr/>
        </p:nvCxnSpPr>
        <p:spPr>
          <a:xfrm>
            <a:off x="7172793" y="5819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7" name="Google Shape;1737;p12"/>
          <p:cNvSpPr txBox="1"/>
          <p:nvPr/>
        </p:nvSpPr>
        <p:spPr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2"/>
          <p:cNvSpPr txBox="1"/>
          <p:nvPr/>
        </p:nvSpPr>
        <p:spPr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2"/>
          <p:cNvSpPr txBox="1"/>
          <p:nvPr/>
        </p:nvSpPr>
        <p:spPr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2"/>
          <p:cNvSpPr txBox="1"/>
          <p:nvPr/>
        </p:nvSpPr>
        <p:spPr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969696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2"/>
          <p:cNvSpPr/>
          <p:nvPr/>
        </p:nvSpPr>
        <p:spPr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2" name="Google Shape;1742;p12"/>
          <p:cNvGrpSpPr/>
          <p:nvPr/>
        </p:nvGrpSpPr>
        <p:grpSpPr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743" name="Google Shape;1743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2"/>
            <p:cNvSpPr/>
            <p:nvPr/>
          </p:nvSpPr>
          <p:spPr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2"/>
            <p:cNvSpPr/>
            <p:nvPr/>
          </p:nvSpPr>
          <p:spPr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47" name="Google Shape;1747;p12"/>
          <p:cNvCxnSpPr/>
          <p:nvPr/>
        </p:nvCxnSpPr>
        <p:spPr>
          <a:xfrm rot="10800000">
            <a:off x="8361831" y="45396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8" name="Google Shape;1748;p12"/>
          <p:cNvCxnSpPr/>
          <p:nvPr/>
        </p:nvCxnSpPr>
        <p:spPr>
          <a:xfrm>
            <a:off x="8587256" y="4965127"/>
            <a:ext cx="0" cy="102235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9" name="Google Shape;1749;p12"/>
          <p:cNvCxnSpPr/>
          <p:nvPr/>
        </p:nvCxnSpPr>
        <p:spPr>
          <a:xfrm rot="10800000">
            <a:off x="8611068" y="5465189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0" name="Google Shape;1750;p12"/>
          <p:cNvSpPr txBox="1"/>
          <p:nvPr/>
        </p:nvSpPr>
        <p:spPr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1" name="Google Shape;1751;p12"/>
          <p:cNvCxnSpPr/>
          <p:nvPr/>
        </p:nvCxnSpPr>
        <p:spPr>
          <a:xfrm flipH="1" rot="10800000">
            <a:off x="4528018" y="4420614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2" name="Google Shape;1752;p12"/>
          <p:cNvCxnSpPr/>
          <p:nvPr/>
        </p:nvCxnSpPr>
        <p:spPr>
          <a:xfrm rot="10800000">
            <a:off x="6463181" y="4409502"/>
            <a:ext cx="968375" cy="434975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53" name="Google Shape;1753;p12"/>
          <p:cNvGrpSpPr/>
          <p:nvPr/>
        </p:nvGrpSpPr>
        <p:grpSpPr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descr="desktop_computer_stylized_medium" id="1754" name="Google Shape;175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5" name="Google Shape;1755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6" name="Google Shape;1756;p12"/>
          <p:cNvGrpSpPr/>
          <p:nvPr/>
        </p:nvGrpSpPr>
        <p:grpSpPr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descr="desktop_computer_stylized_medium" id="1757" name="Google Shape;1757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8" name="Google Shape;1758;p1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Addressing processes</a:t>
            </a:r>
            <a:endParaRPr sz="4400"/>
          </a:p>
        </p:txBody>
      </p:sp>
      <p:sp>
        <p:nvSpPr>
          <p:cNvPr id="1765" name="Google Shape;1765;p15"/>
          <p:cNvSpPr txBox="1"/>
          <p:nvPr/>
        </p:nvSpPr>
        <p:spPr>
          <a:xfrm>
            <a:off x="695101" y="1464896"/>
            <a:ext cx="496447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receive messages, process  must have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device has unique 32-bit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  IP address of host on which process runs suffice for identifying the process?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15"/>
          <p:cNvSpPr txBox="1"/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includes both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associated with process on host.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 port numbers: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server: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mail server: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message to gaia.cs.umass.edu web server: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address: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128.119.245.12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port number: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shortly…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5"/>
          <p:cNvSpPr/>
          <p:nvPr/>
        </p:nvSpPr>
        <p:spPr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no,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processes can be running on same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An application-layer </a:t>
            </a:r>
            <a:r>
              <a:rPr lang="en-US"/>
              <a:t>p</a:t>
            </a:r>
            <a:r>
              <a:rPr lang="en-US" sz="4400"/>
              <a:t>rotocol </a:t>
            </a:r>
            <a:r>
              <a:rPr lang="en-US"/>
              <a:t>d</a:t>
            </a:r>
            <a:r>
              <a:rPr lang="en-US" sz="4400"/>
              <a:t>efines:</a:t>
            </a:r>
            <a:endParaRPr sz="4400"/>
          </a:p>
        </p:txBody>
      </p:sp>
      <p:sp>
        <p:nvSpPr>
          <p:cNvPr id="1774" name="Google Shape;1774;p16"/>
          <p:cNvSpPr txBox="1"/>
          <p:nvPr/>
        </p:nvSpPr>
        <p:spPr>
          <a:xfrm>
            <a:off x="759182" y="1464838"/>
            <a:ext cx="52973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types of messages exchanged,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request, response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syntax: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fields in messages &amp; how fields are delineated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semantics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meaning of information in fields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rules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when and how processes send &amp; respond to messages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6"/>
          <p:cNvSpPr txBox="1"/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open protocols: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in RFCs, everyone has access to protocol 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for interoperability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HTTP, SMTP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proprietary protocols: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0" marL="527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Skype, Zoom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What </a:t>
            </a:r>
            <a:r>
              <a:rPr lang="en-US"/>
              <a:t>t</a:t>
            </a:r>
            <a:r>
              <a:rPr lang="en-US" sz="4400"/>
              <a:t>ransport </a:t>
            </a:r>
            <a:r>
              <a:rPr lang="en-US"/>
              <a:t>s</a:t>
            </a:r>
            <a:r>
              <a:rPr lang="en-US" sz="4400"/>
              <a:t>ervice does an </a:t>
            </a:r>
            <a:r>
              <a:rPr lang="en-US"/>
              <a:t>a</a:t>
            </a:r>
            <a:r>
              <a:rPr lang="en-US" sz="4400"/>
              <a:t>pp need?</a:t>
            </a:r>
            <a:endParaRPr sz="4400"/>
          </a:p>
        </p:txBody>
      </p:sp>
      <p:sp>
        <p:nvSpPr>
          <p:cNvPr id="1782" name="Google Shape;1782;p17"/>
          <p:cNvSpPr txBox="1"/>
          <p:nvPr/>
        </p:nvSpPr>
        <p:spPr>
          <a:xfrm>
            <a:off x="676025" y="1406872"/>
            <a:ext cx="4972505" cy="279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file transfer, web transactions) require 100% reliable data transfer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(e.g., audio) can tolerate some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17"/>
          <p:cNvSpPr txBox="1"/>
          <p:nvPr/>
        </p:nvSpPr>
        <p:spPr>
          <a:xfrm>
            <a:off x="544999" y="4365808"/>
            <a:ext cx="5572612" cy="244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Internet telephony, interactive games) require low delay to be “effective”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17"/>
          <p:cNvSpPr/>
          <p:nvPr/>
        </p:nvSpPr>
        <p:spPr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apps (e.g., multimedia) require minimum amount of throughput to be “effective”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 apps (“elastic apps”) make use of whatever throughput they get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17"/>
          <p:cNvSpPr/>
          <p:nvPr/>
        </p:nvSpPr>
        <p:spPr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encryption, data integrity,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Transport </a:t>
            </a:r>
            <a:r>
              <a:rPr lang="en-US"/>
              <a:t>s</a:t>
            </a:r>
            <a:r>
              <a:rPr lang="en-US" sz="4400"/>
              <a:t>ervice </a:t>
            </a:r>
            <a:r>
              <a:rPr lang="en-US"/>
              <a:t>r</a:t>
            </a:r>
            <a:r>
              <a:rPr lang="en-US" sz="4400"/>
              <a:t>equirements: common apps</a:t>
            </a:r>
            <a:endParaRPr sz="4400"/>
          </a:p>
        </p:txBody>
      </p:sp>
      <p:sp>
        <p:nvSpPr>
          <p:cNvPr id="1792" name="Google Shape;1792;p18"/>
          <p:cNvSpPr txBox="1"/>
          <p:nvPr/>
        </p:nvSpPr>
        <p:spPr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real-time audio/video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8"/>
          <p:cNvSpPr txBox="1"/>
          <p:nvPr/>
        </p:nvSpPr>
        <p:spPr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loss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loss-tolerant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loss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18"/>
          <p:cNvSpPr txBox="1"/>
          <p:nvPr/>
        </p:nvSpPr>
        <p:spPr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audio: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5Kbps-1Mbps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10Kbps-5Mbps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as above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Kbps+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elastic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18"/>
          <p:cNvSpPr txBox="1"/>
          <p:nvPr/>
        </p:nvSpPr>
        <p:spPr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sensitive?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few secs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yes, 10’s msec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and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6" name="Google Shape;1796;p18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7" name="Google Shape;1797;p18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8" name="Google Shape;1798;p18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9" name="Google Shape;1799;p18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0" name="Google Shape;1800;p18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1" name="Google Shape;1801;p18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02" name="Google Shape;1802;p18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</a:t>
            </a:r>
            <a:r>
              <a:rPr lang="en-US"/>
              <a:t>t</a:t>
            </a:r>
            <a:r>
              <a:rPr lang="en-US" sz="4400"/>
              <a:t>ransport protocols services</a:t>
            </a:r>
            <a:endParaRPr sz="4400"/>
          </a:p>
        </p:txBody>
      </p:sp>
      <p:sp>
        <p:nvSpPr>
          <p:cNvPr id="1809" name="Google Shape;1809;p19"/>
          <p:cNvSpPr txBox="1"/>
          <p:nvPr/>
        </p:nvSpPr>
        <p:spPr>
          <a:xfrm>
            <a:off x="753320" y="1383910"/>
            <a:ext cx="6016137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TCP service: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transport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won’t overwhelm receiver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congestion control: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throttle sender when network overloaded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 required between client and server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timing, minimum throughput guarantee, 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4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9"/>
          <p:cNvSpPr txBox="1"/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UDP service: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 data transfer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between sending and receiving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does not provide: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reliability, flow control, congestion control, timing, throughput guarantee, security, or connection setup.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9"/>
          <p:cNvSpPr txBox="1"/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bother?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is there a UDP?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applications, and transport protocols</a:t>
            </a:r>
            <a:endParaRPr sz="4400"/>
          </a:p>
        </p:txBody>
      </p:sp>
      <p:sp>
        <p:nvSpPr>
          <p:cNvPr id="1818" name="Google Shape;1818;p20"/>
          <p:cNvSpPr txBox="1"/>
          <p:nvPr/>
        </p:nvSpPr>
        <p:spPr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transfer/download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telephony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audio/video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games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9" name="Google Shape;1819;p20"/>
          <p:cNvCxnSpPr/>
          <p:nvPr/>
        </p:nvCxnSpPr>
        <p:spPr>
          <a:xfrm>
            <a:off x="1931843" y="2115070"/>
            <a:ext cx="9382448" cy="0"/>
          </a:xfrm>
          <a:prstGeom prst="straightConnector1">
            <a:avLst/>
          </a:prstGeom>
          <a:noFill/>
          <a:ln cap="flat" cmpd="sng" w="317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0" name="Google Shape;1820;p20"/>
          <p:cNvCxnSpPr/>
          <p:nvPr/>
        </p:nvCxnSpPr>
        <p:spPr>
          <a:xfrm>
            <a:off x="1939865" y="2900516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1" name="Google Shape;1821;p20"/>
          <p:cNvCxnSpPr/>
          <p:nvPr/>
        </p:nvCxnSpPr>
        <p:spPr>
          <a:xfrm>
            <a:off x="1939865" y="3426882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2" name="Google Shape;1822;p20"/>
          <p:cNvCxnSpPr/>
          <p:nvPr/>
        </p:nvCxnSpPr>
        <p:spPr>
          <a:xfrm>
            <a:off x="1939865" y="387196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3" name="Google Shape;1823;p20"/>
          <p:cNvCxnSpPr/>
          <p:nvPr/>
        </p:nvCxnSpPr>
        <p:spPr>
          <a:xfrm>
            <a:off x="1943100" y="4810618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4" name="Google Shape;1824;p20"/>
          <p:cNvCxnSpPr/>
          <p:nvPr/>
        </p:nvCxnSpPr>
        <p:spPr>
          <a:xfrm>
            <a:off x="1943876" y="526399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5" name="Google Shape;1825;p20"/>
          <p:cNvCxnSpPr/>
          <p:nvPr/>
        </p:nvCxnSpPr>
        <p:spPr>
          <a:xfrm>
            <a:off x="1943876" y="5745521"/>
            <a:ext cx="9382448" cy="0"/>
          </a:xfrm>
          <a:prstGeom prst="straightConnector1">
            <a:avLst/>
          </a:prstGeom>
          <a:noFill/>
          <a:ln cap="flat" cmpd="sng" w="1587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26" name="Google Shape;1826;p20"/>
          <p:cNvSpPr txBox="1"/>
          <p:nvPr/>
        </p:nvSpPr>
        <p:spPr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 [RFC 959]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SMTP [RFC 5321]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[RFC 7230, 9110]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SIP [RFC 3261], RTP [RFC 3550], or proprietary HTTP [RFC 7230], DASH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WOW, FPS (proprietary)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20"/>
          <p:cNvSpPr txBox="1"/>
          <p:nvPr/>
        </p:nvSpPr>
        <p:spPr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protocol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or UDP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or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A8"/>
                </a:solidFill>
              </a:rPr>
              <a:t>Securing TCP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834" name="Google Shape;1834;p21"/>
          <p:cNvSpPr txBox="1"/>
          <p:nvPr/>
        </p:nvSpPr>
        <p:spPr>
          <a:xfrm>
            <a:off x="753320" y="1383910"/>
            <a:ext cx="595719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Vanilla TCP &amp; UDP sockets: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encryption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passwords sent into socket traverse Internet  in cleartext (!)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Layer Security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(TLS)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encrypted TCP 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92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end-point authenticatio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21"/>
          <p:cNvSpPr txBox="1"/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22228B"/>
                </a:solidFill>
                <a:latin typeface="Calibri"/>
                <a:ea typeface="Calibri"/>
                <a:cs typeface="Calibri"/>
                <a:sym typeface="Calibri"/>
              </a:rPr>
              <a:t>TLS implemented in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apps use TLS libraries, that use TCP in turn</a:t>
            </a:r>
            <a:endParaRPr b="0" i="0" sz="3200" u="none" cap="none" strike="noStrike">
              <a:solidFill>
                <a:srgbClr val="2222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cleartext sent into “socket”  traverse Internet 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1" marL="2333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more: Chapter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842" name="Google Shape;1842;p2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WWW</a:t>
            </a:r>
            <a:endParaRPr/>
          </a:p>
        </p:txBody>
      </p:sp>
      <p:sp>
        <p:nvSpPr>
          <p:cNvPr id="1849" name="Google Shape;1849;p2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World Wide Web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Introduced in 1991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originated from the CERN High-Energy Physics laboratories in Geneva, Switzerland.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Web: Some Jargon</a:t>
            </a:r>
            <a:endParaRPr/>
          </a:p>
        </p:txBody>
      </p:sp>
      <p:sp>
        <p:nvSpPr>
          <p:cNvPr id="1856" name="Google Shape;1856;p2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Web page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consists of </a:t>
            </a:r>
            <a:r>
              <a:rPr lang="en-US" u="sng"/>
              <a:t>objects </a:t>
            </a:r>
            <a:r>
              <a:rPr lang="en-US"/>
              <a:t>(HTML file, JPEG image, GIF image…)</a:t>
            </a:r>
            <a:endParaRPr u="sng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addressed by URL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Most Web pages consist of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base HTML page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several referenced objects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URL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 standard way of specifying the location of an object, typically a web page, on the Internet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User agent for Web is called a browser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MS Internet Explorer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Server for Web is called a  </a:t>
            </a:r>
            <a:r>
              <a:rPr lang="en-US" u="sng"/>
              <a:t>Web server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2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HyperText Transfer Protocol</a:t>
            </a:r>
            <a:endParaRPr/>
          </a:p>
        </p:txBody>
      </p:sp>
      <p:sp>
        <p:nvSpPr>
          <p:cNvPr id="1863" name="Google Shape;1863;p2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Web’s application layer protocol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Used to access data on the World Wide Web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Rapid jump from one document to another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Client-server model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client: browser that requests, receives, “displays” web objects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server: Web server sends objects in response to request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uses one TCP connection on the well-known port 80</a:t>
            </a:r>
            <a:endParaRPr/>
          </a:p>
        </p:txBody>
      </p:sp>
      <p:pic>
        <p:nvPicPr>
          <p:cNvPr id="1864" name="Google Shape;18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1" y="4343401"/>
            <a:ext cx="4143375" cy="176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2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Web and HTTP</a:t>
            </a:r>
            <a:endParaRPr sz="4400"/>
          </a:p>
        </p:txBody>
      </p:sp>
      <p:sp>
        <p:nvSpPr>
          <p:cNvPr id="1871" name="Google Shape;1871;p26"/>
          <p:cNvSpPr txBox="1"/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objects,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of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can be stored on different Web 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can be HTML file, JPEG image, Java applet, audio file,…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consists of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base HTML-file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which includes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several referenced objects, each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addressable by a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URL,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2" name="Google Shape;1872;p26"/>
          <p:cNvGrpSpPr/>
          <p:nvPr/>
        </p:nvGrpSpPr>
        <p:grpSpPr>
          <a:xfrm>
            <a:off x="2495116" y="4210137"/>
            <a:ext cx="6719888" cy="1089026"/>
            <a:chOff x="808" y="2550"/>
            <a:chExt cx="4233" cy="686"/>
          </a:xfrm>
        </p:grpSpPr>
        <p:sp>
          <p:nvSpPr>
            <p:cNvPr id="1873" name="Google Shape;1873;p26"/>
            <p:cNvSpPr txBox="1"/>
            <p:nvPr/>
          </p:nvSpPr>
          <p:spPr>
            <a:xfrm>
              <a:off x="808" y="2550"/>
              <a:ext cx="418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 New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www.someschool.edu/someDept/pic.gif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26"/>
            <p:cNvSpPr/>
            <p:nvPr/>
          </p:nvSpPr>
          <p:spPr>
            <a:xfrm rot="-5400000">
              <a:off x="1832" y="1866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26"/>
            <p:cNvSpPr txBox="1"/>
            <p:nvPr/>
          </p:nvSpPr>
          <p:spPr>
            <a:xfrm>
              <a:off x="863" y="2863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876" name="Google Shape;1876;p26"/>
            <p:cNvSpPr/>
            <p:nvPr/>
          </p:nvSpPr>
          <p:spPr>
            <a:xfrm rot="-5400000">
              <a:off x="3971" y="1866"/>
              <a:ext cx="57" cy="2083"/>
            </a:xfrm>
            <a:prstGeom prst="leftBrace">
              <a:avLst>
                <a:gd fmla="val 304532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26"/>
            <p:cNvSpPr txBox="1"/>
            <p:nvPr/>
          </p:nvSpPr>
          <p:spPr>
            <a:xfrm>
              <a:off x="2988" y="2863"/>
              <a:ext cx="1981" cy="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1878" name="Google Shape;1878;p26"/>
            <p:cNvSpPr txBox="1"/>
            <p:nvPr/>
          </p:nvSpPr>
          <p:spPr>
            <a:xfrm>
              <a:off x="1389" y="2940"/>
              <a:ext cx="1013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name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26"/>
            <p:cNvSpPr txBox="1"/>
            <p:nvPr/>
          </p:nvSpPr>
          <p:spPr>
            <a:xfrm>
              <a:off x="3395" y="2948"/>
              <a:ext cx="102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path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80" name="Google Shape;18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4266" y="5490406"/>
            <a:ext cx="7550150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2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URL - continued</a:t>
            </a:r>
            <a:endParaRPr/>
          </a:p>
        </p:txBody>
      </p:sp>
      <p:sp>
        <p:nvSpPr>
          <p:cNvPr id="1887" name="Google Shape;1887;p27"/>
          <p:cNvSpPr txBox="1"/>
          <p:nvPr>
            <p:ph idx="1" type="body"/>
          </p:nvPr>
        </p:nvSpPr>
        <p:spPr>
          <a:xfrm>
            <a:off x="2209800" y="2514601"/>
            <a:ext cx="8153400" cy="361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method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protocol used to retrieve the document (FTP, HTTP, …)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host	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a computer where the info is located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name of the computer can be an alias (not necessary www)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port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optional port # of the server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path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the path name of the file where the info is located</a:t>
            </a:r>
            <a:endParaRPr/>
          </a:p>
        </p:txBody>
      </p:sp>
      <p:pic>
        <p:nvPicPr>
          <p:cNvPr id="1888" name="Google Shape;18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1" y="1295401"/>
            <a:ext cx="5489575" cy="109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4" name="Google Shape;1894;p28"/>
          <p:cNvCxnSpPr/>
          <p:nvPr/>
        </p:nvCxnSpPr>
        <p:spPr>
          <a:xfrm>
            <a:off x="1676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5" name="Google Shape;1895;p28"/>
          <p:cNvCxnSpPr/>
          <p:nvPr/>
        </p:nvCxnSpPr>
        <p:spPr>
          <a:xfrm>
            <a:off x="1676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6" name="Google Shape;1896;p28"/>
          <p:cNvSpPr txBox="1"/>
          <p:nvPr/>
        </p:nvSpPr>
        <p:spPr>
          <a:xfrm>
            <a:off x="1828801" y="762000"/>
            <a:ext cx="41322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27.1 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of WWW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7" name="Google Shape;1897;p28"/>
          <p:cNvCxnSpPr/>
          <p:nvPr/>
        </p:nvCxnSpPr>
        <p:spPr>
          <a:xfrm>
            <a:off x="1676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98" name="Google Shape;18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6388" y="1752601"/>
            <a:ext cx="6526212" cy="392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2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</a:t>
            </a:r>
            <a:endParaRPr sz="4400"/>
          </a:p>
        </p:txBody>
      </p:sp>
      <p:sp>
        <p:nvSpPr>
          <p:cNvPr id="1905" name="Google Shape;1905;p29"/>
          <p:cNvSpPr txBox="1"/>
          <p:nvPr/>
        </p:nvSpPr>
        <p:spPr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HTTP: hypertext transfer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Web’s application-layer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client/server model: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browser that requests, receives, (using HTTP protocol) and “displays” Web objects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server sends (using HTTP protocol) objects in response to requests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7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6" name="Google Shape;1906;p29"/>
          <p:cNvGrpSpPr/>
          <p:nvPr/>
        </p:nvGrpSpPr>
        <p:grpSpPr>
          <a:xfrm>
            <a:off x="8129954" y="2270931"/>
            <a:ext cx="2101850" cy="1066336"/>
            <a:chOff x="3640" y="1271"/>
            <a:chExt cx="1324" cy="671"/>
          </a:xfrm>
        </p:grpSpPr>
        <p:cxnSp>
          <p:nvCxnSpPr>
            <p:cNvPr id="1907" name="Google Shape;1907;p29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08" name="Google Shape;1908;p29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9" name="Google Shape;1909;p29"/>
          <p:cNvGrpSpPr/>
          <p:nvPr/>
        </p:nvGrpSpPr>
        <p:grpSpPr>
          <a:xfrm>
            <a:off x="8241079" y="2599080"/>
            <a:ext cx="1971675" cy="1138148"/>
            <a:chOff x="4141" y="394"/>
            <a:chExt cx="1242" cy="717"/>
          </a:xfrm>
        </p:grpSpPr>
        <p:cxnSp>
          <p:nvCxnSpPr>
            <p:cNvPr id="1910" name="Google Shape;1910;p29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11" name="Google Shape;1911;p29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2" name="Google Shape;1912;p29"/>
          <p:cNvGrpSpPr/>
          <p:nvPr/>
        </p:nvGrpSpPr>
        <p:grpSpPr>
          <a:xfrm rot="-3183056">
            <a:off x="8058117" y="3788740"/>
            <a:ext cx="2101850" cy="1066336"/>
            <a:chOff x="3640" y="1271"/>
            <a:chExt cx="1324" cy="671"/>
          </a:xfrm>
        </p:grpSpPr>
        <p:cxnSp>
          <p:nvCxnSpPr>
            <p:cNvPr id="1913" name="Google Shape;1913;p29"/>
            <p:cNvCxnSpPr/>
            <p:nvPr/>
          </p:nvCxnSpPr>
          <p:spPr>
            <a:xfrm>
              <a:off x="3640" y="1346"/>
              <a:ext cx="1324" cy="596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14" name="Google Shape;1914;p29"/>
            <p:cNvSpPr txBox="1"/>
            <p:nvPr/>
          </p:nvSpPr>
          <p:spPr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5" name="Google Shape;1915;p29"/>
          <p:cNvGrpSpPr/>
          <p:nvPr/>
        </p:nvGrpSpPr>
        <p:grpSpPr>
          <a:xfrm rot="-3264937">
            <a:off x="8247035" y="4075901"/>
            <a:ext cx="1971675" cy="1138148"/>
            <a:chOff x="4141" y="394"/>
            <a:chExt cx="1242" cy="717"/>
          </a:xfrm>
        </p:grpSpPr>
        <p:cxnSp>
          <p:nvCxnSpPr>
            <p:cNvPr id="1916" name="Google Shape;1916;p29"/>
            <p:cNvCxnSpPr/>
            <p:nvPr/>
          </p:nvCxnSpPr>
          <p:spPr>
            <a:xfrm rot="10800000">
              <a:off x="4141" y="394"/>
              <a:ext cx="1242" cy="57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17" name="Google Shape;1917;p29"/>
            <p:cNvSpPr txBox="1"/>
            <p:nvPr/>
          </p:nvSpPr>
          <p:spPr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8" name="Google Shape;1918;p29"/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1919" name="Google Shape;1919;p29"/>
            <p:cNvSpPr txBox="1"/>
            <p:nvPr/>
          </p:nvSpPr>
          <p:spPr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iPhone running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Safari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phone_stylized_small" id="1920" name="Google Shape;192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1" name="Google Shape;1921;p29"/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1922" name="Google Shape;1922;p29"/>
            <p:cNvSpPr txBox="1"/>
            <p:nvPr/>
          </p:nvSpPr>
          <p:spPr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PC running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Firefox browser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23" name="Google Shape;1923;p29"/>
            <p:cNvGrpSpPr/>
            <p:nvPr/>
          </p:nvGrpSpPr>
          <p:grpSpPr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descr="desktop_computer_stylized_medium" id="1924" name="Google Shape;1924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5" name="Google Shape;1925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26" name="Google Shape;1926;p29"/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1927" name="Google Shape;1927;p29"/>
            <p:cNvSpPr txBox="1"/>
            <p:nvPr/>
          </p:nvSpPr>
          <p:spPr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running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Apache Web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28" name="Google Shape;1928;p29"/>
            <p:cNvGrpSpPr/>
            <p:nvPr/>
          </p:nvGrpSpPr>
          <p:grpSpPr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1929" name="Google Shape;1929;p2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0" name="Google Shape;1930;p29"/>
              <p:cNvSpPr/>
              <p:nvPr/>
            </p:nvSpPr>
            <p:spPr>
              <a:xfrm>
                <a:off x="4205" y="429"/>
                <a:ext cx="1048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1" name="Google Shape;1931;p2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2" name="Google Shape;1932;p2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29"/>
              <p:cNvSpPr/>
              <p:nvPr/>
            </p:nvSpPr>
            <p:spPr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34" name="Google Shape;1934;p29"/>
              <p:cNvGrpSpPr/>
              <p:nvPr/>
            </p:nvGrpSpPr>
            <p:grpSpPr>
              <a:xfrm>
                <a:off x="4748" y="669"/>
                <a:ext cx="583" cy="140"/>
                <a:chOff x="613" y="2569"/>
                <a:chExt cx="727" cy="134"/>
              </a:xfrm>
            </p:grpSpPr>
            <p:sp>
              <p:nvSpPr>
                <p:cNvPr id="1935" name="Google Shape;1935;p29"/>
                <p:cNvSpPr/>
                <p:nvPr/>
              </p:nvSpPr>
              <p:spPr>
                <a:xfrm>
                  <a:off x="613" y="2569"/>
                  <a:ext cx="727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6" name="Google Shape;1936;p29"/>
                <p:cNvSpPr/>
                <p:nvPr/>
              </p:nvSpPr>
              <p:spPr>
                <a:xfrm>
                  <a:off x="629" y="2586"/>
                  <a:ext cx="694" cy="9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37" name="Google Shape;1937;p29"/>
              <p:cNvSpPr/>
              <p:nvPr/>
            </p:nvSpPr>
            <p:spPr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38" name="Google Shape;1938;p29"/>
              <p:cNvGrpSpPr/>
              <p:nvPr/>
            </p:nvGrpSpPr>
            <p:grpSpPr>
              <a:xfrm>
                <a:off x="4749" y="995"/>
                <a:ext cx="579" cy="133"/>
                <a:chOff x="616" y="2569"/>
                <a:chExt cx="723" cy="138"/>
              </a:xfrm>
            </p:grpSpPr>
            <p:sp>
              <p:nvSpPr>
                <p:cNvPr id="1939" name="Google Shape;1939;p29"/>
                <p:cNvSpPr/>
                <p:nvPr/>
              </p:nvSpPr>
              <p:spPr>
                <a:xfrm>
                  <a:off x="616" y="2569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0" name="Google Shape;1940;p29"/>
                <p:cNvSpPr/>
                <p:nvPr/>
              </p:nvSpPr>
              <p:spPr>
                <a:xfrm>
                  <a:off x="632" y="2588"/>
                  <a:ext cx="690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41" name="Google Shape;1941;p29"/>
              <p:cNvSpPr/>
              <p:nvPr/>
            </p:nvSpPr>
            <p:spPr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2" name="Google Shape;1942;p29"/>
              <p:cNvSpPr/>
              <p:nvPr/>
            </p:nvSpPr>
            <p:spPr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43" name="Google Shape;1943;p29"/>
              <p:cNvGrpSpPr/>
              <p:nvPr/>
            </p:nvGrpSpPr>
            <p:grpSpPr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44" name="Google Shape;1944;p29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5" name="Google Shape;1945;p29"/>
                <p:cNvSpPr/>
                <p:nvPr/>
              </p:nvSpPr>
              <p:spPr>
                <a:xfrm>
                  <a:off x="631" y="2584"/>
                  <a:ext cx="693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46" name="Google Shape;1946;p2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47" name="Google Shape;1947;p29"/>
              <p:cNvGrpSpPr/>
              <p:nvPr/>
            </p:nvGrpSpPr>
            <p:grpSpPr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48" name="Google Shape;1948;p29"/>
                <p:cNvSpPr/>
                <p:nvPr/>
              </p:nvSpPr>
              <p:spPr>
                <a:xfrm>
                  <a:off x="614" y="2568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9" name="Google Shape;1949;p29"/>
                <p:cNvSpPr/>
                <p:nvPr/>
              </p:nvSpPr>
              <p:spPr>
                <a:xfrm>
                  <a:off x="630" y="2583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50" name="Google Shape;1950;p29"/>
              <p:cNvSpPr/>
              <p:nvPr/>
            </p:nvSpPr>
            <p:spPr>
              <a:xfrm>
                <a:off x="5249" y="432"/>
                <a:ext cx="68" cy="2286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1" name="Google Shape;1951;p2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2" name="Google Shape;1952;p2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3" name="Google Shape;1953;p29"/>
              <p:cNvSpPr/>
              <p:nvPr/>
            </p:nvSpPr>
            <p:spPr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4" name="Google Shape;1954;p2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5" name="Google Shape;1955;p29"/>
              <p:cNvSpPr/>
              <p:nvPr/>
            </p:nvSpPr>
            <p:spPr>
              <a:xfrm>
                <a:off x="4140" y="2677"/>
                <a:ext cx="1201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6" name="Google Shape;1956;p29"/>
              <p:cNvSpPr/>
              <p:nvPr/>
            </p:nvSpPr>
            <p:spPr>
              <a:xfrm>
                <a:off x="4205" y="2712"/>
                <a:ext cx="1070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7" name="Google Shape;1957;p29"/>
              <p:cNvSpPr/>
              <p:nvPr/>
            </p:nvSpPr>
            <p:spPr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8" name="Google Shape;1958;p29"/>
              <p:cNvSpPr/>
              <p:nvPr/>
            </p:nvSpPr>
            <p:spPr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9" name="Google Shape;1959;p29"/>
              <p:cNvSpPr/>
              <p:nvPr/>
            </p:nvSpPr>
            <p:spPr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29"/>
              <p:cNvSpPr/>
              <p:nvPr/>
            </p:nvSpPr>
            <p:spPr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30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overview (continued)</a:t>
            </a:r>
            <a:endParaRPr sz="4400"/>
          </a:p>
        </p:txBody>
      </p:sp>
      <p:sp>
        <p:nvSpPr>
          <p:cNvPr id="1967" name="Google Shape;1967;p30"/>
          <p:cNvSpPr txBox="1"/>
          <p:nvPr/>
        </p:nvSpPr>
        <p:spPr>
          <a:xfrm>
            <a:off x="947614" y="1548630"/>
            <a:ext cx="55514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uses TCP: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initiates TCP connection (creates socket) to server,  port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accepts TCP connection from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messages (application-layer protocol messages) exchanged between browser (HTTP client) and Web server (HTTP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30"/>
          <p:cNvSpPr txBox="1"/>
          <p:nvPr/>
        </p:nvSpPr>
        <p:spPr>
          <a:xfrm>
            <a:off x="6909801" y="1582098"/>
            <a:ext cx="5053013" cy="1705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is “stateless”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maintains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information about past client requests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9" name="Google Shape;1969;p30"/>
          <p:cNvGrpSpPr/>
          <p:nvPr/>
        </p:nvGrpSpPr>
        <p:grpSpPr>
          <a:xfrm>
            <a:off x="6909802" y="3209500"/>
            <a:ext cx="5053013" cy="3248103"/>
            <a:chOff x="6909802" y="3209500"/>
            <a:chExt cx="5053013" cy="3248103"/>
          </a:xfrm>
        </p:grpSpPr>
        <p:sp>
          <p:nvSpPr>
            <p:cNvPr id="1970" name="Google Shape;1970;p30"/>
            <p:cNvSpPr/>
            <p:nvPr/>
          </p:nvSpPr>
          <p:spPr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30"/>
            <p:cNvSpPr/>
            <p:nvPr/>
          </p:nvSpPr>
          <p:spPr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30"/>
            <p:cNvSpPr/>
            <p:nvPr/>
          </p:nvSpPr>
          <p:spPr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30"/>
            <p:cNvSpPr/>
            <p:nvPr/>
          </p:nvSpPr>
          <p:spPr>
            <a:xfrm>
              <a:off x="7138987" y="3609628"/>
              <a:ext cx="4565333" cy="284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protocols that maintain “state” are complex!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0188" lvl="0" marL="2301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past history (state) must be maintained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0188" lvl="0" marL="2301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server/client crashes, their views of “state” may be inconsistent, must be reconciled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13359" lvl="0" marL="342900" marR="0" rtl="0" algn="l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30"/>
            <p:cNvSpPr txBox="1"/>
            <p:nvPr/>
          </p:nvSpPr>
          <p:spPr>
            <a:xfrm>
              <a:off x="9716532" y="3209500"/>
              <a:ext cx="9460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aside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31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1981" name="Google Shape;1981;p31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31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32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cxnSp>
        <p:nvCxnSpPr>
          <p:cNvPr id="1989" name="Google Shape;1989;p32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0" name="Google Shape;1990;p32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32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32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32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32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32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6" name="Google Shape;1996;p32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97" name="Google Shape;1997;p32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8" name="Google Shape;1998;p32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9" name="Google Shape;1999;p32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0" name="Google Shape;2000;p32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1" name="Google Shape;2001;p32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2" name="Google Shape;2002;p32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3" name="Google Shape;2003;p32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2004" name="Google Shape;200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5" name="Google Shape;2005;p3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6" name="Google Shape;2006;p32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007" name="Google Shape;2007;p3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2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2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2" name="Google Shape;2012;p32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2013" name="Google Shape;2013;p32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4" name="Google Shape;2014;p32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5" name="Google Shape;2015;p32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6" name="Google Shape;2016;p32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2017" name="Google Shape;2017;p32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8" name="Google Shape;2018;p32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9" name="Google Shape;2019;p32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2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21" name="Google Shape;2021;p32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22" name="Google Shape;2022;p3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3" name="Google Shape;2023;p32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4" name="Google Shape;2024;p3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25" name="Google Shape;2025;p32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026" name="Google Shape;2026;p32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7" name="Google Shape;2027;p32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8" name="Google Shape;2028;p32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2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2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2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2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2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2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2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33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2045" name="Google Shape;2045;p33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6" name="Google Shape;2046;p33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33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8" name="Google Shape;2048;p33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2049" name="Google Shape;2049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0" name="Google Shape;2050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1" name="Google Shape;2051;p33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052" name="Google Shape;2052;p3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3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3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57" name="Google Shape;2057;p33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2058" name="Google Shape;2058;p33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9" name="Google Shape;2059;p33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60" name="Google Shape;2060;p33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1" name="Google Shape;2061;p33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2062" name="Google Shape;2062;p33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p33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64" name="Google Shape;2064;p33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3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66" name="Google Shape;2066;p33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67" name="Google Shape;2067;p33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8" name="Google Shape;2068;p33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69" name="Google Shape;2069;p3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0" name="Google Shape;2070;p33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071" name="Google Shape;2071;p33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2" name="Google Shape;2072;p33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73" name="Google Shape;2073;p33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3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3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3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3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3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33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33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4" name="Google Shape;2084;p33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33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33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7" name="Google Shape;2087;p33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8" name="Google Shape;2088;p33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9" name="Google Shape;2089;p33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33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3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2097" name="Google Shape;2097;p34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object/file transmission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8" name="Google Shape;2098;p34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099" name="Google Shape;2099;p34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100" name="Google Shape;2100;p34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1" name="Google Shape;2101;p34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2" name="Google Shape;2102;p34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3" name="Google Shape;2103;p34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34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5" name="Google Shape;2105;p34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6" name="Google Shape;2106;p34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34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34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9" name="Google Shape;2109;p34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0" name="Google Shape;2110;p34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34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34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3" name="Google Shape;2113;p34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4" name="Google Shape;2114;p34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34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34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7" name="Google Shape;2117;p34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2118" name="Google Shape;2118;p3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4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4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23" name="Google Shape;2123;p34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124" name="Google Shape;2124;p3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34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26" name="Google Shape;2126;p34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27" name="Google Shape;2127;p34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128" name="Google Shape;2128;p34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34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0" name="Google Shape;2130;p34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2" name="Google Shape;2132;p34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133" name="Google Shape;2133;p34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34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5" name="Google Shape;2135;p3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6" name="Google Shape;2136;p34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137" name="Google Shape;2137;p34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34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9" name="Google Shape;2139;p34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3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3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34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3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34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4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34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34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34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34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0" name="Google Shape;2150;p34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2151" name="Google Shape;215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2" name="Google Shape;2152;p3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3" name="Google Shape;2153;p34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34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34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3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2162" name="Google Shape;2162;p35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3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Pipelining</a:t>
            </a:r>
            <a:endParaRPr/>
          </a:p>
        </p:txBody>
      </p:sp>
      <p:sp>
        <p:nvSpPr>
          <p:cNvPr id="2170" name="Google Shape;2170;p3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Issue multiple requests at a time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Don’t have to wait for previous 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More efficient use of link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Use carefully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POST requests should not be pipelined (changes server state)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GET/HEAD requests are usually okay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37"/>
          <p:cNvSpPr txBox="1"/>
          <p:nvPr>
            <p:ph type="title"/>
          </p:nvPr>
        </p:nvSpPr>
        <p:spPr>
          <a:xfrm>
            <a:off x="1003169" y="112894"/>
            <a:ext cx="777240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Persistent HTTP</a:t>
            </a:r>
            <a:endParaRPr/>
          </a:p>
        </p:txBody>
      </p:sp>
      <p:sp>
        <p:nvSpPr>
          <p:cNvPr id="2177" name="Google Shape;2177;p37"/>
          <p:cNvSpPr txBox="1"/>
          <p:nvPr>
            <p:ph idx="1" type="body"/>
          </p:nvPr>
        </p:nvSpPr>
        <p:spPr>
          <a:xfrm>
            <a:off x="1003169" y="1234030"/>
            <a:ext cx="3933825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Non-persistent HTTP issues:</a:t>
            </a:r>
            <a:endParaRPr sz="24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Connection setup for each request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But browsers often open parallel connections</a:t>
            </a:r>
            <a:endParaRPr/>
          </a:p>
          <a:p>
            <a:pPr indent="-107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HTTP:</a:t>
            </a:r>
            <a:endParaRPr sz="24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Server leaves connection open after sending response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Subsequent HTTP messages  between same client/server are sent over connection</a:t>
            </a:r>
            <a:endParaRPr/>
          </a:p>
          <a:p>
            <a:pPr indent="-95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178" name="Google Shape;2178;p37"/>
          <p:cNvSpPr txBox="1"/>
          <p:nvPr>
            <p:ph idx="2" type="body"/>
          </p:nvPr>
        </p:nvSpPr>
        <p:spPr>
          <a:xfrm>
            <a:off x="5352953" y="1234030"/>
            <a:ext cx="4181475" cy="560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without pipelining: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Client issues new request only when previous response has been received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One RTT for each object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with pipelining: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Default in HTTP/1.1 spec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Client sends multiple requests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As little as one RTT for all the referenced objects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Server must handle responses in same order as requests</a:t>
            </a:r>
            <a:endParaRPr/>
          </a:p>
          <a:p>
            <a:pPr indent="-95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38"/>
          <p:cNvSpPr txBox="1"/>
          <p:nvPr>
            <p:ph type="title"/>
          </p:nvPr>
        </p:nvSpPr>
        <p:spPr>
          <a:xfrm>
            <a:off x="914400" y="4061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200"/>
              <a:t>“Persistent without pipelining” most common</a:t>
            </a:r>
            <a:endParaRPr sz="4200"/>
          </a:p>
        </p:txBody>
      </p:sp>
      <p:sp>
        <p:nvSpPr>
          <p:cNvPr id="2185" name="Google Shape;2185;p38"/>
          <p:cNvSpPr txBox="1"/>
          <p:nvPr>
            <p:ph idx="1" type="body"/>
          </p:nvPr>
        </p:nvSpPr>
        <p:spPr>
          <a:xfrm>
            <a:off x="991375" y="1872001"/>
            <a:ext cx="8534400" cy="45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225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When does pipelining work best?</a:t>
            </a:r>
            <a:endParaRPr/>
          </a:p>
          <a:p>
            <a:pPr indent="-231775" lvl="1" marL="695325" rtl="0" algn="l">
              <a:lnSpc>
                <a:spcPct val="119291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Small objects, equal time to serve each object</a:t>
            </a:r>
            <a:endParaRPr/>
          </a:p>
          <a:p>
            <a:pPr indent="-231775" lvl="1" marL="695325" rtl="0" algn="l">
              <a:lnSpc>
                <a:spcPct val="119291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Small because pipelining simply removes additional RTT delay to request new content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2192" name="Google Shape;2192;p39"/>
          <p:cNvSpPr txBox="1"/>
          <p:nvPr>
            <p:ph idx="1" type="body"/>
          </p:nvPr>
        </p:nvSpPr>
        <p:spPr>
          <a:xfrm>
            <a:off x="1728788" y="1371601"/>
            <a:ext cx="857885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two types of messages: </a:t>
            </a:r>
            <a:r>
              <a:rPr lang="en-US" u="sng">
                <a:solidFill>
                  <a:srgbClr val="3333CC"/>
                </a:solidFill>
              </a:rPr>
              <a:t>request</a:t>
            </a:r>
            <a:r>
              <a:rPr lang="en-US"/>
              <a:t> &amp; </a:t>
            </a:r>
            <a:r>
              <a:rPr i="1" lang="en-US" u="sng">
                <a:solidFill>
                  <a:srgbClr val="3333CC"/>
                </a:solidFill>
              </a:rPr>
              <a:t>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ASCII (human-readable format)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2193" name="Google Shape;21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437" y="2494129"/>
            <a:ext cx="6240605" cy="400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4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2200" name="Google Shape;2200;p40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HTTP request message</a:t>
            </a:r>
            <a:endParaRPr/>
          </a:p>
        </p:txBody>
      </p:sp>
      <p:pic>
        <p:nvPicPr>
          <p:cNvPr id="2201" name="Google Shape;220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1" y="2743201"/>
            <a:ext cx="2982913" cy="3084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2" name="Google Shape;2202;p40"/>
          <p:cNvGrpSpPr/>
          <p:nvPr/>
        </p:nvGrpSpPr>
        <p:grpSpPr>
          <a:xfrm>
            <a:off x="5029200" y="2209800"/>
            <a:ext cx="5099050" cy="1295400"/>
            <a:chOff x="2208" y="1392"/>
            <a:chExt cx="3212" cy="816"/>
          </a:xfrm>
        </p:grpSpPr>
        <p:pic>
          <p:nvPicPr>
            <p:cNvPr id="2203" name="Google Shape;2203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36" y="1392"/>
              <a:ext cx="2684" cy="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04" name="Google Shape;2204;p40"/>
            <p:cNvCxnSpPr/>
            <p:nvPr/>
          </p:nvCxnSpPr>
          <p:spPr>
            <a:xfrm flipH="1" rot="10800000">
              <a:off x="2208" y="1536"/>
              <a:ext cx="576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5" name="Google Shape;2205;p40"/>
            <p:cNvCxnSpPr/>
            <p:nvPr/>
          </p:nvCxnSpPr>
          <p:spPr>
            <a:xfrm>
              <a:off x="2208" y="2016"/>
              <a:ext cx="624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06" name="Google Shape;2206;p40"/>
          <p:cNvGrpSpPr/>
          <p:nvPr/>
        </p:nvGrpSpPr>
        <p:grpSpPr>
          <a:xfrm>
            <a:off x="6019800" y="3200400"/>
            <a:ext cx="4343400" cy="1341438"/>
            <a:chOff x="2832" y="2016"/>
            <a:chExt cx="2736" cy="845"/>
          </a:xfrm>
        </p:grpSpPr>
        <p:pic>
          <p:nvPicPr>
            <p:cNvPr id="2207" name="Google Shape;2207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2352"/>
              <a:ext cx="2545" cy="50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08" name="Google Shape;2208;p40"/>
            <p:cNvCxnSpPr/>
            <p:nvPr/>
          </p:nvCxnSpPr>
          <p:spPr>
            <a:xfrm flipH="1">
              <a:off x="2832" y="2016"/>
              <a:ext cx="864" cy="5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9" name="Google Shape;2209;p40"/>
            <p:cNvCxnSpPr/>
            <p:nvPr/>
          </p:nvCxnSpPr>
          <p:spPr>
            <a:xfrm>
              <a:off x="4464" y="2016"/>
              <a:ext cx="1104" cy="5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10" name="Google Shape;2210;p40"/>
          <p:cNvSpPr txBox="1"/>
          <p:nvPr/>
        </p:nvSpPr>
        <p:spPr>
          <a:xfrm>
            <a:off x="9144000" y="1981200"/>
            <a:ext cx="114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0.9 HTTP 1.0 HTTP 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40"/>
          <p:cNvSpPr txBox="1"/>
          <p:nvPr/>
        </p:nvSpPr>
        <p:spPr>
          <a:xfrm>
            <a:off x="5638800" y="4876800"/>
            <a:ext cx="441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when the client wants to retrieve a document              from the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0"/>
          <p:cNvSpPr txBox="1"/>
          <p:nvPr/>
        </p:nvSpPr>
        <p:spPr>
          <a:xfrm>
            <a:off x="5562600" y="5334000"/>
            <a:ext cx="441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286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when the client wants some info about a  document but not document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40"/>
          <p:cNvSpPr txBox="1"/>
          <p:nvPr/>
        </p:nvSpPr>
        <p:spPr>
          <a:xfrm>
            <a:off x="5638800" y="5791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28650" lvl="0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copies the file to another location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4" name="Google Shape;2214;p40"/>
          <p:cNvCxnSpPr/>
          <p:nvPr/>
        </p:nvCxnSpPr>
        <p:spPr>
          <a:xfrm>
            <a:off x="5943600" y="3352800"/>
            <a:ext cx="0" cy="14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41"/>
          <p:cNvSpPr txBox="1"/>
          <p:nvPr>
            <p:ph idx="1" type="body"/>
          </p:nvPr>
        </p:nvSpPr>
        <p:spPr>
          <a:xfrm>
            <a:off x="2057400" y="1611313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HTTP/1.0: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POST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HEAD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asks server to leave requested object out of 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i.e. request info about a doc</a:t>
            </a:r>
            <a:endParaRPr/>
          </a:p>
        </p:txBody>
      </p:sp>
      <p:sp>
        <p:nvSpPr>
          <p:cNvPr id="2221" name="Google Shape;2221;p41"/>
          <p:cNvSpPr txBox="1"/>
          <p:nvPr>
            <p:ph idx="2" type="body"/>
          </p:nvPr>
        </p:nvSpPr>
        <p:spPr>
          <a:xfrm>
            <a:off x="6019800" y="1611313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HTTP/1.1: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GET, POST, HEAD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PUT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uploads file in entity body to path specified in URL field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DELETE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deletes file specified in the URL field</a:t>
            </a:r>
            <a:endParaRPr/>
          </a:p>
        </p:txBody>
      </p:sp>
      <p:sp>
        <p:nvSpPr>
          <p:cNvPr id="2222" name="Google Shape;2222;p4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Method Types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4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2229" name="Google Shape;2229;p42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HTTP response message</a:t>
            </a:r>
            <a:endParaRPr/>
          </a:p>
        </p:txBody>
      </p:sp>
      <p:pic>
        <p:nvPicPr>
          <p:cNvPr id="2230" name="Google Shape;22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1" y="2433854"/>
            <a:ext cx="3211513" cy="330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1" name="Google Shape;2231;p42"/>
          <p:cNvGrpSpPr/>
          <p:nvPr/>
        </p:nvGrpSpPr>
        <p:grpSpPr>
          <a:xfrm>
            <a:off x="5334000" y="2129053"/>
            <a:ext cx="4718050" cy="1295400"/>
            <a:chOff x="2400" y="1152"/>
            <a:chExt cx="2972" cy="816"/>
          </a:xfrm>
        </p:grpSpPr>
        <p:pic>
          <p:nvPicPr>
            <p:cNvPr id="2232" name="Google Shape;2232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0" y="1200"/>
              <a:ext cx="2492" cy="5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33" name="Google Shape;2233;p42"/>
            <p:cNvCxnSpPr/>
            <p:nvPr/>
          </p:nvCxnSpPr>
          <p:spPr>
            <a:xfrm flipH="1" rot="10800000">
              <a:off x="2400" y="1152"/>
              <a:ext cx="720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4" name="Google Shape;2234;p42"/>
            <p:cNvCxnSpPr/>
            <p:nvPr/>
          </p:nvCxnSpPr>
          <p:spPr>
            <a:xfrm>
              <a:off x="2400" y="1632"/>
              <a:ext cx="816" cy="3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35" name="Google Shape;2235;p42"/>
          <p:cNvSpPr/>
          <p:nvPr/>
        </p:nvSpPr>
        <p:spPr>
          <a:xfrm>
            <a:off x="5746585" y="1709159"/>
            <a:ext cx="42935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http://www.w3.org/Protocols/HTTP/HTRESP.html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6" name="Google Shape;2236;p42"/>
          <p:cNvCxnSpPr/>
          <p:nvPr/>
        </p:nvCxnSpPr>
        <p:spPr>
          <a:xfrm flipH="1">
            <a:off x="6096000" y="3119653"/>
            <a:ext cx="1752600" cy="14827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7" name="Google Shape;2237;p42"/>
          <p:cNvCxnSpPr/>
          <p:nvPr/>
        </p:nvCxnSpPr>
        <p:spPr>
          <a:xfrm>
            <a:off x="9296400" y="3195853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38" name="Google Shape;2238;p42"/>
          <p:cNvSpPr/>
          <p:nvPr/>
        </p:nvSpPr>
        <p:spPr>
          <a:xfrm>
            <a:off x="8304213" y="3881654"/>
            <a:ext cx="21768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explains the status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text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42"/>
          <p:cNvSpPr txBox="1"/>
          <p:nvPr/>
        </p:nvSpPr>
        <p:spPr>
          <a:xfrm>
            <a:off x="5867400" y="4572001"/>
            <a:ext cx="4572000" cy="16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request succeeded </a:t>
            </a:r>
            <a:endParaRPr b="0" i="0" sz="18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object moved</a:t>
            </a:r>
            <a:endParaRPr b="0" i="0" sz="18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400 Bad Request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understood by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req. document not found</a:t>
            </a:r>
            <a:endParaRPr b="0" i="0" sz="16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0" name="Google Shape;2240;p42"/>
          <p:cNvCxnSpPr/>
          <p:nvPr/>
        </p:nvCxnSpPr>
        <p:spPr>
          <a:xfrm flipH="1">
            <a:off x="6715126" y="4415054"/>
            <a:ext cx="1971674" cy="187325"/>
          </a:xfrm>
          <a:prstGeom prst="straightConnector1">
            <a:avLst/>
          </a:prstGeom>
          <a:noFill/>
          <a:ln cap="flat" cmpd="sng" w="127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1" name="Google Shape;2241;p42"/>
          <p:cNvCxnSpPr/>
          <p:nvPr/>
        </p:nvCxnSpPr>
        <p:spPr>
          <a:xfrm flipH="1">
            <a:off x="7146878" y="4415054"/>
            <a:ext cx="1539922" cy="620971"/>
          </a:xfrm>
          <a:prstGeom prst="straightConnector1">
            <a:avLst/>
          </a:prstGeom>
          <a:noFill/>
          <a:ln cap="flat" cmpd="sng" w="127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4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messages – an example</a:t>
            </a:r>
            <a:endParaRPr/>
          </a:p>
        </p:txBody>
      </p:sp>
      <p:pic>
        <p:nvPicPr>
          <p:cNvPr id="2248" name="Google Shape;2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951" y="1295401"/>
            <a:ext cx="5070475" cy="302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9" name="Google Shape;224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143000"/>
            <a:ext cx="2889250" cy="700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0" name="Google Shape;225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2971801"/>
            <a:ext cx="22669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43"/>
          <p:cNvSpPr/>
          <p:nvPr/>
        </p:nvSpPr>
        <p:spPr>
          <a:xfrm>
            <a:off x="1728788" y="4419600"/>
            <a:ext cx="87963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example retrieves a document.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the GET method to retrieve an image with the path/usr/bin/image1.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request line shows the method (GET), the URL, and the HTTP version (1.1).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header has two lines that show that the client can accept images in GIF and JPEG format.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44"/>
          <p:cNvSpPr txBox="1"/>
          <p:nvPr>
            <p:ph type="title"/>
          </p:nvPr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HTTP response status codes</a:t>
            </a:r>
            <a:endParaRPr/>
          </a:p>
        </p:txBody>
      </p:sp>
      <p:sp>
        <p:nvSpPr>
          <p:cNvPr id="2258" name="Google Shape;2258;p44"/>
          <p:cNvSpPr/>
          <p:nvPr/>
        </p:nvSpPr>
        <p:spPr>
          <a:xfrm>
            <a:off x="2012951" y="1190625"/>
            <a:ext cx="8112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code appears in 1st line in server-to-client response message.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sample codes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9" name="Google Shape;2259;p44"/>
          <p:cNvGrpSpPr/>
          <p:nvPr/>
        </p:nvGrpSpPr>
        <p:grpSpPr>
          <a:xfrm>
            <a:off x="2220914" y="2622550"/>
            <a:ext cx="7891462" cy="3629025"/>
            <a:chOff x="439" y="1652"/>
            <a:chExt cx="4971" cy="2286"/>
          </a:xfrm>
        </p:grpSpPr>
        <p:sp>
          <p:nvSpPr>
            <p:cNvPr id="2260" name="Google Shape;2260;p44"/>
            <p:cNvSpPr/>
            <p:nvPr/>
          </p:nvSpPr>
          <p:spPr>
            <a:xfrm>
              <a:off x="439" y="1652"/>
              <a:ext cx="4969" cy="2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61" name="Google Shape;2261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9" y="1652"/>
              <a:ext cx="4971" cy="2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45"/>
          <p:cNvSpPr txBox="1"/>
          <p:nvPr/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HTTP response status codes</a:t>
            </a:r>
            <a:endParaRPr b="0" i="0" sz="4400" u="none" cap="none" strike="noStrik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68" name="Google Shape;2268;p45"/>
          <p:cNvGrpSpPr/>
          <p:nvPr/>
        </p:nvGrpSpPr>
        <p:grpSpPr>
          <a:xfrm>
            <a:off x="2465388" y="1127126"/>
            <a:ext cx="7132637" cy="5208588"/>
            <a:chOff x="593" y="710"/>
            <a:chExt cx="4493" cy="3281"/>
          </a:xfrm>
        </p:grpSpPr>
        <p:sp>
          <p:nvSpPr>
            <p:cNvPr id="2269" name="Google Shape;2269;p45"/>
            <p:cNvSpPr/>
            <p:nvPr/>
          </p:nvSpPr>
          <p:spPr>
            <a:xfrm>
              <a:off x="593" y="710"/>
              <a:ext cx="4491" cy="3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70" name="Google Shape;2270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" y="710"/>
              <a:ext cx="4493" cy="328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5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4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2277" name="Google Shape;2277;p46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46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46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46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46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4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2288" name="Google Shape;2288;p47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47"/>
          <p:cNvSpPr txBox="1"/>
          <p:nvPr/>
        </p:nvSpPr>
        <p:spPr>
          <a:xfrm>
            <a:off x="6101461" y="1932221"/>
            <a:ext cx="5852372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8125" lvl="0" marL="238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gaia.cs.umass.edu.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125" lvl="0" marL="238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0" name="Google Shape;2290;p47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2291" name="Google Shape;2291;p47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47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3" name="Google Shape;2293;p47"/>
          <p:cNvGrpSpPr/>
          <p:nvPr/>
        </p:nvGrpSpPr>
        <p:grpSpPr>
          <a:xfrm>
            <a:off x="727530" y="3145663"/>
            <a:ext cx="10979788" cy="2045073"/>
            <a:chOff x="727530" y="3145663"/>
            <a:chExt cx="10979788" cy="2045073"/>
          </a:xfrm>
        </p:grpSpPr>
        <p:sp>
          <p:nvSpPr>
            <p:cNvPr id="2294" name="Google Shape;2294;p47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2" marL="1143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295" name="Google Shape;2295;p47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47"/>
            <p:cNvSpPr txBox="1"/>
            <p:nvPr/>
          </p:nvSpPr>
          <p:spPr>
            <a:xfrm>
              <a:off x="6163577" y="4175073"/>
              <a:ext cx="554374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8125" lvl="0" marL="2381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7" name="Google Shape;2297;p47"/>
          <p:cNvSpPr txBox="1"/>
          <p:nvPr/>
        </p:nvSpPr>
        <p:spPr>
          <a:xfrm>
            <a:off x="1258273" y="2039943"/>
            <a:ext cx="48876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nc -c -v gaia.cs.umass.edu 80 (for Mac)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&gt;ncat –C gaia.cs.umass.edu 80 (for Windows)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4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304" name="Google Shape;2304;p48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48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6" name="Google Shape;2306;p48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307" name="Google Shape;2307;p48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308" name="Google Shape;2308;p48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48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0" name="Google Shape;2310;p48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2311" name="Google Shape;2311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48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16" name="Google Shape;2316;p48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2317" name="Google Shape;2317;p48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8" name="Google Shape;2318;p48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19" name="Google Shape;2319;p48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0" name="Google Shape;2320;p48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2321" name="Google Shape;2321;p48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2" name="Google Shape;2322;p48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23" name="Google Shape;2323;p48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5" name="Google Shape;2325;p48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2326" name="Google Shape;2326;p48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48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28" name="Google Shape;2328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29" name="Google Shape;2329;p48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2330" name="Google Shape;2330;p48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1" name="Google Shape;2331;p48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32" name="Google Shape;2332;p48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5" name="Google Shape;2335;p48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9" name="Google Shape;2339;p48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0" name="Google Shape;2340;p48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1" name="Google Shape;2341;p48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48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3" name="Google Shape;2343;p48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2344" name="Google Shape;2344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5" name="Google Shape;2345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6" name="Google Shape;2346;p48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2347" name="Google Shape;2347;p48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48" name="Google Shape;2348;p48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9" name="Google Shape;2349;p48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2350" name="Google Shape;2350;p48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51" name="Google Shape;2351;p48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2" name="Google Shape;2352;p48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2353" name="Google Shape;2353;p48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54" name="Google Shape;2354;p48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5" name="Google Shape;2355;p48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2356" name="Google Shape;2356;p48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57" name="Google Shape;2357;p48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8" name="Google Shape;2358;p48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2359" name="Google Shape;2359;p48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60" name="Google Shape;2360;p48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1" name="Google Shape;2361;p48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362" name="Google Shape;2362;p48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2363" name="Google Shape;2363;p48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64" name="Google Shape;2364;p48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5" name="Google Shape;2365;p48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366" name="Google Shape;2366;p48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2367" name="Google Shape;2367;p48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8" name="Google Shape;2368;p48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2369" name="Google Shape;2369;p48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2370" name="Google Shape;2370;p48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71" name="Google Shape;2371;p48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2" name="Google Shape;2372;p48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2373" name="Google Shape;2373;p48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4" name="Google Shape;2374;p48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75" name="Google Shape;2375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6" name="Google Shape;2376;p48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7" name="Google Shape;2377;p48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8" name="Google Shape;2378;p48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2379" name="Google Shape;2379;p48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0" name="Google Shape;2380;p48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1" name="Google Shape;2381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2" name="Google Shape;2382;p48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2383" name="Google Shape;2383;p48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4" name="Google Shape;2384;p48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85" name="Google Shape;2385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48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2387" name="Google Shape;2387;p48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8" name="Google Shape;2388;p48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9" name="Google Shape;2389;p48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b="0" i="1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48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4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397" name="Google Shape;2397;p49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49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5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2405" name="Google Shape;2405;p50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50"/>
          <p:cNvSpPr txBox="1"/>
          <p:nvPr/>
        </p:nvSpPr>
        <p:spPr>
          <a:xfrm>
            <a:off x="7045557" y="1520844"/>
            <a:ext cx="20521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Amazon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7" name="Google Shape;2407;p50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2408" name="Google Shape;2408;p50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409" name="Google Shape;2409;p50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2410" name="Google Shape;2410;p50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50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12" name="Google Shape;2412;p50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2413" name="Google Shape;2413;p50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14" name="Google Shape;2414;p50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5" name="Google Shape;2415;p50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6" name="Google Shape;2416;p50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7" name="Google Shape;2417;p50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2418" name="Google Shape;2418;p50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19" name="Google Shape;2419;p50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50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1" name="Google Shape;2421;p50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422" name="Google Shape;2422;p50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2423" name="Google Shape;2423;p50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50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25" name="Google Shape;2425;p50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2426" name="Google Shape;2426;p50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7" name="Google Shape;2427;p50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8" name="Google Shape;2428;p50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2429" name="Google Shape;2429;p50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30" name="Google Shape;2430;p50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50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2" name="Google Shape;2432;p50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2433" name="Google Shape;2433;p50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2434" name="Google Shape;2434;p50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5" name="Google Shape;2435;p50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36" name="Google Shape;2436;p50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2437" name="Google Shape;2437;p50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38" name="Google Shape;2438;p50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9" name="Google Shape;2439;p50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2440" name="Google Shape;2440;p50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50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42" name="Google Shape;2442;p50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2443" name="Google Shape;2443;p50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44" name="Google Shape;2444;p50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50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46" name="Google Shape;2446;p50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47" name="Google Shape;2447;p50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8" name="Google Shape;2448;p50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2449" name="Google Shape;2449;p50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50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1" name="Google Shape;2451;p50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50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3" name="Google Shape;2453;p50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2454" name="Google Shape;2454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9" name="Google Shape;2459;p50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2460" name="Google Shape;2460;p50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1" name="Google Shape;2461;p50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2" name="Google Shape;2462;p50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3" name="Google Shape;2463;p50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2464" name="Google Shape;2464;p50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5" name="Google Shape;2465;p50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6" name="Google Shape;2466;p50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7" name="Google Shape;2467;p50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8" name="Google Shape;2468;p50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2469" name="Google Shape;2469;p50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0" name="Google Shape;2470;p50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1" name="Google Shape;2471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2" name="Google Shape;2472;p50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2473" name="Google Shape;2473;p50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50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5" name="Google Shape;2475;p50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6" name="Google Shape;2476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50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5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50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50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50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50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50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6" name="Google Shape;2486;p50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2487" name="Google Shape;248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8" name="Google Shape;2488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89" name="Google Shape;2489;p50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490" name="Google Shape;2490;p50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1" name="Google Shape;2491;p50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492" name="Google Shape;2492;p50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7" name="Shape 2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" name="Google Shape;2498;p5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2499" name="Google Shape;2499;p51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51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51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51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 HTTP messages carry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7" name="Shape 2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52"/>
          <p:cNvSpPr txBox="1"/>
          <p:nvPr/>
        </p:nvSpPr>
        <p:spPr>
          <a:xfrm>
            <a:off x="360491" y="261258"/>
            <a:ext cx="98060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Example:  displaying a NY Times web page</a:t>
            </a:r>
            <a:endParaRPr b="0" i="0" sz="36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9" name="Google Shape;2509;p52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2510" name="Google Shape;2510;p5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52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15" name="Google Shape;2515;p52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516" name="Google Shape;2516;p52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7" name="Google Shape;2517;p52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8" name="Google Shape;2518;p52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19" name="Google Shape;2519;p52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520" name="Google Shape;2520;p52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1" name="Google Shape;2521;p52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22" name="Google Shape;2522;p52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24" name="Google Shape;2524;p52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525" name="Google Shape;2525;p52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52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27" name="Google Shape;2527;p5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28" name="Google Shape;2528;p52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529" name="Google Shape;2529;p52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0" name="Google Shape;2530;p52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1" name="Google Shape;2531;p52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42" name="Google Shape;254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3" name="Google Shape;254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4" name="Google Shape;2544;p52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2545" name="Google Shape;2545;p5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0" name="Google Shape;2550;p52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551" name="Google Shape;2551;p52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52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3" name="Google Shape;2553;p52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4" name="Google Shape;2554;p52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555" name="Google Shape;2555;p52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52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7" name="Google Shape;2557;p52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9" name="Google Shape;2559;p52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560" name="Google Shape;2560;p52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52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62" name="Google Shape;2562;p5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3" name="Google Shape;2563;p52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564" name="Google Shape;2564;p52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52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66" name="Google Shape;2566;p52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52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7" name="Google Shape;2577;p52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2578" name="Google Shape;2578;p52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2579" name="Google Shape;2579;p5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80" name="Google Shape;2580;p5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2581" name="Google Shape;2581;p5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2" name="Google Shape;2582;p52"/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3" name="Google Shape;2583;p52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4" name="Google Shape;25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9242" y="1223204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1457" y="4524829"/>
            <a:ext cx="1788365" cy="250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6" name="Google Shape;2586;p52"/>
          <p:cNvGrpSpPr/>
          <p:nvPr/>
        </p:nvGrpSpPr>
        <p:grpSpPr>
          <a:xfrm>
            <a:off x="4051300" y="2946400"/>
            <a:ext cx="965200" cy="1308100"/>
            <a:chOff x="4051300" y="2946400"/>
            <a:chExt cx="965200" cy="1308100"/>
          </a:xfrm>
        </p:grpSpPr>
        <p:grpSp>
          <p:nvGrpSpPr>
            <p:cNvPr id="2587" name="Google Shape;2587;p52"/>
            <p:cNvGrpSpPr/>
            <p:nvPr/>
          </p:nvGrpSpPr>
          <p:grpSpPr>
            <a:xfrm>
              <a:off x="4673600" y="2946400"/>
              <a:ext cx="342900" cy="1308100"/>
              <a:chOff x="4673600" y="2946400"/>
              <a:chExt cx="342900" cy="1308100"/>
            </a:xfrm>
          </p:grpSpPr>
          <p:cxnSp>
            <p:nvCxnSpPr>
              <p:cNvPr id="2588" name="Google Shape;2588;p52"/>
              <p:cNvCxnSpPr/>
              <p:nvPr/>
            </p:nvCxnSpPr>
            <p:spPr>
              <a:xfrm rot="10800000">
                <a:off x="4851400" y="29464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589" name="Google Shape;2589;p52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52"/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1" name="Google Shape;2591;p52"/>
            <p:cNvSpPr txBox="1"/>
            <p:nvPr/>
          </p:nvSpPr>
          <p:spPr>
            <a:xfrm>
              <a:off x="4051300" y="3378200"/>
              <a:ext cx="7366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GET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2" name="Google Shape;2592;p52"/>
          <p:cNvGrpSpPr/>
          <p:nvPr/>
        </p:nvGrpSpPr>
        <p:grpSpPr>
          <a:xfrm>
            <a:off x="5143500" y="2959100"/>
            <a:ext cx="990600" cy="1308100"/>
            <a:chOff x="5143500" y="2959100"/>
            <a:chExt cx="990600" cy="1308100"/>
          </a:xfrm>
        </p:grpSpPr>
        <p:grpSp>
          <p:nvGrpSpPr>
            <p:cNvPr id="2593" name="Google Shape;2593;p52"/>
            <p:cNvGrpSpPr/>
            <p:nvPr/>
          </p:nvGrpSpPr>
          <p:grpSpPr>
            <a:xfrm>
              <a:off x="5143500" y="2959100"/>
              <a:ext cx="342900" cy="1308100"/>
              <a:chOff x="4673600" y="2946400"/>
              <a:chExt cx="342900" cy="1308100"/>
            </a:xfrm>
          </p:grpSpPr>
          <p:cxnSp>
            <p:nvCxnSpPr>
              <p:cNvPr id="2594" name="Google Shape;2594;p52"/>
              <p:cNvCxnSpPr/>
              <p:nvPr/>
            </p:nvCxnSpPr>
            <p:spPr>
              <a:xfrm rot="10800000">
                <a:off x="4851400" y="29464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2595" name="Google Shape;2595;p52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52"/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7" name="Google Shape;2597;p52"/>
            <p:cNvSpPr txBox="1"/>
            <p:nvPr/>
          </p:nvSpPr>
          <p:spPr>
            <a:xfrm>
              <a:off x="5397500" y="3403600"/>
              <a:ext cx="7366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reply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8" name="Google Shape;2598;p52"/>
          <p:cNvGrpSpPr/>
          <p:nvPr/>
        </p:nvGrpSpPr>
        <p:grpSpPr>
          <a:xfrm>
            <a:off x="6261100" y="4914900"/>
            <a:ext cx="1854200" cy="369332"/>
            <a:chOff x="3721100" y="3429000"/>
            <a:chExt cx="1854200" cy="369332"/>
          </a:xfrm>
        </p:grpSpPr>
        <p:cxnSp>
          <p:nvCxnSpPr>
            <p:cNvPr id="2599" name="Google Shape;2599;p52"/>
            <p:cNvCxnSpPr/>
            <p:nvPr/>
          </p:nvCxnSpPr>
          <p:spPr>
            <a:xfrm>
              <a:off x="3721100" y="3594100"/>
              <a:ext cx="1854200" cy="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600" name="Google Shape;2600;p52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52"/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2" name="Google Shape;2602;p52"/>
          <p:cNvGrpSpPr/>
          <p:nvPr/>
        </p:nvGrpSpPr>
        <p:grpSpPr>
          <a:xfrm>
            <a:off x="4749800" y="4826000"/>
            <a:ext cx="342900" cy="369332"/>
            <a:chOff x="2857500" y="6540500"/>
            <a:chExt cx="342900" cy="369332"/>
          </a:xfrm>
        </p:grpSpPr>
        <p:sp>
          <p:nvSpPr>
            <p:cNvPr id="2603" name="Google Shape;2603;p52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52"/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5" name="Google Shape;2605;p52"/>
          <p:cNvGrpSpPr/>
          <p:nvPr/>
        </p:nvGrpSpPr>
        <p:grpSpPr>
          <a:xfrm>
            <a:off x="6273800" y="5308600"/>
            <a:ext cx="1841500" cy="369332"/>
            <a:chOff x="3721100" y="3429000"/>
            <a:chExt cx="1841500" cy="369332"/>
          </a:xfrm>
        </p:grpSpPr>
        <p:cxnSp>
          <p:nvCxnSpPr>
            <p:cNvPr id="2606" name="Google Shape;2606;p52"/>
            <p:cNvCxnSpPr/>
            <p:nvPr/>
          </p:nvCxnSpPr>
          <p:spPr>
            <a:xfrm>
              <a:off x="3721100" y="3594100"/>
              <a:ext cx="1841500" cy="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2607" name="Google Shape;2607;p52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52"/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9" name="Google Shape;2609;p52"/>
          <p:cNvGrpSpPr/>
          <p:nvPr/>
        </p:nvGrpSpPr>
        <p:grpSpPr>
          <a:xfrm>
            <a:off x="4775200" y="5207000"/>
            <a:ext cx="342900" cy="369332"/>
            <a:chOff x="2857500" y="6540500"/>
            <a:chExt cx="342900" cy="369332"/>
          </a:xfrm>
        </p:grpSpPr>
        <p:sp>
          <p:nvSpPr>
            <p:cNvPr id="2610" name="Google Shape;2610;p52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52"/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12" name="Google Shape;2612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6500" y="4394023"/>
            <a:ext cx="1790700" cy="129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613" name="Google Shape;2613;p52"/>
          <p:cNvSpPr txBox="1"/>
          <p:nvPr/>
        </p:nvSpPr>
        <p:spPr>
          <a:xfrm>
            <a:off x="1917701" y="5803900"/>
            <a:ext cx="24257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 page with embedded ad displayed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4" name="Google Shape;2614;p52"/>
          <p:cNvGrpSpPr/>
          <p:nvPr/>
        </p:nvGrpSpPr>
        <p:grpSpPr>
          <a:xfrm>
            <a:off x="584200" y="1511300"/>
            <a:ext cx="3403600" cy="830997"/>
            <a:chOff x="584200" y="1511300"/>
            <a:chExt cx="3403600" cy="830997"/>
          </a:xfrm>
        </p:grpSpPr>
        <p:sp>
          <p:nvSpPr>
            <p:cNvPr id="2615" name="Google Shape;2615;p52"/>
            <p:cNvSpPr txBox="1"/>
            <p:nvPr/>
          </p:nvSpPr>
          <p:spPr>
            <a:xfrm>
              <a:off x="1016000" y="1511300"/>
              <a:ext cx="29718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2700" lvl="0" marL="50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base html file from nytimes.com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6" name="Google Shape;2616;p52"/>
            <p:cNvGrpSpPr/>
            <p:nvPr/>
          </p:nvGrpSpPr>
          <p:grpSpPr>
            <a:xfrm>
              <a:off x="584200" y="1574800"/>
              <a:ext cx="304800" cy="369332"/>
              <a:chOff x="8953500" y="1841500"/>
              <a:chExt cx="304800" cy="369332"/>
            </a:xfrm>
          </p:grpSpPr>
          <p:sp>
            <p:nvSpPr>
              <p:cNvPr id="2617" name="Google Shape;2617;p52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8" name="Google Shape;2618;p52"/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9" name="Google Shape;2619;p52"/>
            <p:cNvGrpSpPr/>
            <p:nvPr/>
          </p:nvGrpSpPr>
          <p:grpSpPr>
            <a:xfrm>
              <a:off x="736600" y="1778000"/>
              <a:ext cx="314386" cy="369332"/>
              <a:chOff x="8953500" y="1841500"/>
              <a:chExt cx="314386" cy="369332"/>
            </a:xfrm>
          </p:grpSpPr>
          <p:sp>
            <p:nvSpPr>
              <p:cNvPr id="2620" name="Google Shape;2620;p52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1" name="Google Shape;2621;p52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22" name="Google Shape;2622;p52"/>
          <p:cNvGrpSpPr/>
          <p:nvPr/>
        </p:nvGrpSpPr>
        <p:grpSpPr>
          <a:xfrm>
            <a:off x="546100" y="2527300"/>
            <a:ext cx="3162300" cy="830997"/>
            <a:chOff x="546100" y="2527300"/>
            <a:chExt cx="3162300" cy="830997"/>
          </a:xfrm>
        </p:grpSpPr>
        <p:sp>
          <p:nvSpPr>
            <p:cNvPr id="2623" name="Google Shape;2623;p52"/>
            <p:cNvSpPr txBox="1"/>
            <p:nvPr/>
          </p:nvSpPr>
          <p:spPr>
            <a:xfrm>
              <a:off x="1041400" y="2527300"/>
              <a:ext cx="2667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fetch ad from AdX.com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4" name="Google Shape;2624;p52"/>
            <p:cNvGrpSpPr/>
            <p:nvPr/>
          </p:nvGrpSpPr>
          <p:grpSpPr>
            <a:xfrm>
              <a:off x="546100" y="2590800"/>
              <a:ext cx="304800" cy="369332"/>
              <a:chOff x="8953500" y="1841500"/>
              <a:chExt cx="304800" cy="369332"/>
            </a:xfrm>
          </p:grpSpPr>
          <p:sp>
            <p:nvSpPr>
              <p:cNvPr id="2625" name="Google Shape;2625;p52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6" name="Google Shape;2626;p52"/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27" name="Google Shape;2627;p52"/>
            <p:cNvGrpSpPr/>
            <p:nvPr/>
          </p:nvGrpSpPr>
          <p:grpSpPr>
            <a:xfrm>
              <a:off x="698500" y="2794000"/>
              <a:ext cx="314386" cy="369332"/>
              <a:chOff x="8953500" y="1841500"/>
              <a:chExt cx="314386" cy="369332"/>
            </a:xfrm>
          </p:grpSpPr>
          <p:sp>
            <p:nvSpPr>
              <p:cNvPr id="2628" name="Google Shape;2628;p52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52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30" name="Google Shape;2630;p52"/>
          <p:cNvGrpSpPr/>
          <p:nvPr/>
        </p:nvGrpSpPr>
        <p:grpSpPr>
          <a:xfrm>
            <a:off x="635000" y="3556000"/>
            <a:ext cx="3060700" cy="830997"/>
            <a:chOff x="635000" y="3556000"/>
            <a:chExt cx="3060700" cy="830997"/>
          </a:xfrm>
        </p:grpSpPr>
        <p:sp>
          <p:nvSpPr>
            <p:cNvPr id="2631" name="Google Shape;2631;p52"/>
            <p:cNvSpPr txBox="1"/>
            <p:nvPr/>
          </p:nvSpPr>
          <p:spPr>
            <a:xfrm>
              <a:off x="1028700" y="3556000"/>
              <a:ext cx="2667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display composed page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2" name="Google Shape;2632;p52"/>
            <p:cNvGrpSpPr/>
            <p:nvPr/>
          </p:nvGrpSpPr>
          <p:grpSpPr>
            <a:xfrm>
              <a:off x="635000" y="3619500"/>
              <a:ext cx="314386" cy="369332"/>
              <a:chOff x="8953500" y="1841500"/>
              <a:chExt cx="314386" cy="369332"/>
            </a:xfrm>
          </p:grpSpPr>
          <p:sp>
            <p:nvSpPr>
              <p:cNvPr id="2633" name="Google Shape;2633;p52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52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0" name="Google Shape;2640;p53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2641" name="Google Shape;2641;p53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53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53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4" name="Google Shape;2644;p53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2645" name="Google Shape;2645;p53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53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53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8" name="Google Shape;2648;p53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2649" name="Google Shape;2649;p5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5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5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5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5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4" name="Google Shape;2654;p5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655" name="Google Shape;2655;p5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5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57" name="Google Shape;2657;p5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8" name="Google Shape;2658;p5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659" name="Google Shape;2659;p5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0" name="Google Shape;2660;p5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61" name="Google Shape;2661;p5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5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63" name="Google Shape;2663;p5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664" name="Google Shape;2664;p5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5" name="Google Shape;2665;p5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66" name="Google Shape;2666;p5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67" name="Google Shape;2667;p5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668" name="Google Shape;2668;p5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9" name="Google Shape;2669;p5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70" name="Google Shape;2670;p5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5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5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5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5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5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5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5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5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5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5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81" name="Google Shape;268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2" name="Google Shape;268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83" name="Google Shape;2683;p53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2684" name="Google Shape;2684;p5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5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5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5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5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89" name="Google Shape;2689;p5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690" name="Google Shape;2690;p5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1" name="Google Shape;2691;p5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2" name="Google Shape;2692;p5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3" name="Google Shape;2693;p5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694" name="Google Shape;2694;p5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5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6" name="Google Shape;2696;p5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5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8" name="Google Shape;2698;p5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699" name="Google Shape;2699;p5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0" name="Google Shape;2700;p5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1" name="Google Shape;2701;p5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2" name="Google Shape;2702;p5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703" name="Google Shape;2703;p5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5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5" name="Google Shape;2705;p5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5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5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5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5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5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5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5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5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5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5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6" name="Google Shape;2716;p53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2717" name="Google Shape;2717;p53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2718" name="Google Shape;2718;p5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9" name="Google Shape;2719;p5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2720" name="Google Shape;2720;p5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21" name="Google Shape;2721;p53"/>
          <p:cNvSpPr txBox="1"/>
          <p:nvPr/>
        </p:nvSpPr>
        <p:spPr>
          <a:xfrm>
            <a:off x="4352471" y="2398486"/>
            <a:ext cx="25726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(sports)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53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53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4" name="Google Shape;2724;p53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2725" name="Google Shape;2725;p53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53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53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8" name="Google Shape;2728;p53"/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53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30" name="Google Shape;2730;p53"/>
          <p:cNvGrpSpPr/>
          <p:nvPr/>
        </p:nvGrpSpPr>
        <p:grpSpPr>
          <a:xfrm>
            <a:off x="5029200" y="2971800"/>
            <a:ext cx="1866900" cy="1308100"/>
            <a:chOff x="5232400" y="2959100"/>
            <a:chExt cx="1866900" cy="1308100"/>
          </a:xfrm>
        </p:grpSpPr>
        <p:cxnSp>
          <p:nvCxnSpPr>
            <p:cNvPr id="2731" name="Google Shape;2731;p53"/>
            <p:cNvCxnSpPr/>
            <p:nvPr/>
          </p:nvCxnSpPr>
          <p:spPr>
            <a:xfrm rot="10800000">
              <a:off x="5321300" y="2959100"/>
              <a:ext cx="0" cy="130810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2732" name="Google Shape;2732;p53"/>
            <p:cNvGrpSpPr/>
            <p:nvPr/>
          </p:nvGrpSpPr>
          <p:grpSpPr>
            <a:xfrm>
              <a:off x="5232400" y="3289300"/>
              <a:ext cx="1866900" cy="763946"/>
              <a:chOff x="6464300" y="3225800"/>
              <a:chExt cx="1866900" cy="763946"/>
            </a:xfrm>
          </p:grpSpPr>
          <p:sp>
            <p:nvSpPr>
              <p:cNvPr id="2733" name="Google Shape;2733;p53"/>
              <p:cNvSpPr txBox="1"/>
              <p:nvPr/>
            </p:nvSpPr>
            <p:spPr>
              <a:xfrm>
                <a:off x="6540500" y="3225800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53"/>
              <p:cNvSpPr txBox="1"/>
              <p:nvPr/>
            </p:nvSpPr>
            <p:spPr>
              <a:xfrm>
                <a:off x="6464300" y="3670300"/>
                <a:ext cx="18669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735" name="Google Shape;2735;p53"/>
          <p:cNvGrpSpPr/>
          <p:nvPr/>
        </p:nvGrpSpPr>
        <p:grpSpPr>
          <a:xfrm>
            <a:off x="5829300" y="4457700"/>
            <a:ext cx="2565400" cy="826532"/>
            <a:chOff x="5829300" y="4457700"/>
            <a:chExt cx="2565400" cy="826532"/>
          </a:xfrm>
        </p:grpSpPr>
        <p:grpSp>
          <p:nvGrpSpPr>
            <p:cNvPr id="2736" name="Google Shape;2736;p53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737" name="Google Shape;2737;p53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738" name="Google Shape;2738;p53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9" name="Google Shape;2739;p53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0" name="Google Shape;2740;p53"/>
            <p:cNvGrpSpPr/>
            <p:nvPr/>
          </p:nvGrpSpPr>
          <p:grpSpPr>
            <a:xfrm>
              <a:off x="5829300" y="4457700"/>
              <a:ext cx="2565400" cy="522848"/>
              <a:chOff x="6667500" y="3098800"/>
              <a:chExt cx="2565400" cy="522848"/>
            </a:xfrm>
          </p:grpSpPr>
          <p:sp>
            <p:nvSpPr>
              <p:cNvPr id="2741" name="Google Shape;2741;p53"/>
              <p:cNvSpPr txBox="1"/>
              <p:nvPr/>
            </p:nvSpPr>
            <p:spPr>
              <a:xfrm>
                <a:off x="6667500" y="30988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2" name="Google Shape;2742;p53"/>
              <p:cNvSpPr txBox="1"/>
              <p:nvPr/>
            </p:nvSpPr>
            <p:spPr>
              <a:xfrm>
                <a:off x="6718300" y="33274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 Times Sports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43" name="Google Shape;2743;p53"/>
          <p:cNvGrpSpPr/>
          <p:nvPr/>
        </p:nvGrpSpPr>
        <p:grpSpPr>
          <a:xfrm>
            <a:off x="6032500" y="5308600"/>
            <a:ext cx="2641600" cy="840348"/>
            <a:chOff x="6032500" y="5308600"/>
            <a:chExt cx="2641600" cy="840348"/>
          </a:xfrm>
        </p:grpSpPr>
        <p:grpSp>
          <p:nvGrpSpPr>
            <p:cNvPr id="2744" name="Google Shape;2744;p53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745" name="Google Shape;2745;p53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2746" name="Google Shape;2746;p53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7" name="Google Shape;2747;p53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8" name="Google Shape;2748;p53"/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2749" name="Google Shape;2749;p53"/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53"/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6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1" name="Google Shape;2751;p53"/>
          <p:cNvGrpSpPr/>
          <p:nvPr/>
        </p:nvGrpSpPr>
        <p:grpSpPr>
          <a:xfrm>
            <a:off x="3771900" y="2946400"/>
            <a:ext cx="1473200" cy="1308100"/>
            <a:chOff x="3771900" y="2946400"/>
            <a:chExt cx="1473200" cy="1308100"/>
          </a:xfrm>
        </p:grpSpPr>
        <p:cxnSp>
          <p:nvCxnSpPr>
            <p:cNvPr id="2752" name="Google Shape;2752;p53"/>
            <p:cNvCxnSpPr/>
            <p:nvPr/>
          </p:nvCxnSpPr>
          <p:spPr>
            <a:xfrm rot="10800000">
              <a:off x="4851400" y="2946400"/>
              <a:ext cx="0" cy="130810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753" name="Google Shape;2753;p53"/>
            <p:cNvSpPr txBox="1"/>
            <p:nvPr/>
          </p:nvSpPr>
          <p:spPr>
            <a:xfrm>
              <a:off x="3771900" y="3276600"/>
              <a:ext cx="14732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4" name="Google Shape;2754;p53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5" name="Google Shape;2755;p53"/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6" name="Google Shape;2756;p53"/>
          <p:cNvGrpSpPr/>
          <p:nvPr/>
        </p:nvGrpSpPr>
        <p:grpSpPr>
          <a:xfrm>
            <a:off x="5670332" y="2112579"/>
            <a:ext cx="5759667" cy="3920359"/>
            <a:chOff x="5670332" y="2112579"/>
            <a:chExt cx="5759667" cy="3920359"/>
          </a:xfrm>
        </p:grpSpPr>
        <p:sp>
          <p:nvSpPr>
            <p:cNvPr id="2757" name="Google Shape;2757;p53"/>
            <p:cNvSpPr txBox="1"/>
            <p:nvPr/>
          </p:nvSpPr>
          <p:spPr>
            <a:xfrm>
              <a:off x="8623738" y="2427890"/>
              <a:ext cx="2806261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“first party” cookie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chose to visit (provides base html file)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58" name="Google Shape;2758;p53"/>
            <p:cNvCxnSpPr/>
            <p:nvPr/>
          </p:nvCxnSpPr>
          <p:spPr>
            <a:xfrm rot="10800000">
              <a:off x="7425559" y="2112579"/>
              <a:ext cx="1213944" cy="457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9" name="Google Shape;2759;p53"/>
            <p:cNvCxnSpPr/>
            <p:nvPr/>
          </p:nvCxnSpPr>
          <p:spPr>
            <a:xfrm flipH="1">
              <a:off x="5670332" y="2585545"/>
              <a:ext cx="2969171" cy="3447393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60" name="Google Shape;2760;p53"/>
          <p:cNvGrpSpPr/>
          <p:nvPr/>
        </p:nvGrpSpPr>
        <p:grpSpPr>
          <a:xfrm>
            <a:off x="814558" y="5481147"/>
            <a:ext cx="3877874" cy="1015663"/>
            <a:chOff x="9112474" y="3373822"/>
            <a:chExt cx="3877874" cy="1015663"/>
          </a:xfrm>
        </p:grpSpPr>
        <p:sp>
          <p:nvSpPr>
            <p:cNvPr id="2761" name="Google Shape;2761;p53"/>
            <p:cNvSpPr txBox="1"/>
            <p:nvPr/>
          </p:nvSpPr>
          <p:spPr>
            <a:xfrm>
              <a:off x="9112474" y="3373822"/>
              <a:ext cx="280626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“third party” cookie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did </a:t>
              </a:r>
              <a:r>
                <a:rPr b="0" i="1" lang="en-US" sz="2000" u="sng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choose to visit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62" name="Google Shape;2762;p53"/>
            <p:cNvCxnSpPr/>
            <p:nvPr/>
          </p:nvCxnSpPr>
          <p:spPr>
            <a:xfrm flipH="1">
              <a:off x="10804635" y="4198741"/>
              <a:ext cx="2185713" cy="10651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7" name="Shape 2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8" name="Google Shape;2768;p54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2769" name="Google Shape;2769;p54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0" name="Google Shape;2770;p54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1" name="Google Shape;2771;p54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2" name="Google Shape;2772;p54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2773" name="Google Shape;2773;p54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4" name="Google Shape;2774;p54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5" name="Google Shape;2775;p54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6" name="Google Shape;2776;p54"/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7" name="Google Shape;2777;p54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2778" name="Google Shape;2778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54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54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3" name="Google Shape;2783;p54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784" name="Google Shape;2784;p54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5" name="Google Shape;2785;p54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6" name="Google Shape;2786;p54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7" name="Google Shape;2787;p54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788" name="Google Shape;2788;p54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54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0" name="Google Shape;2790;p54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54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2" name="Google Shape;2792;p54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793" name="Google Shape;2793;p54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4" name="Google Shape;2794;p54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5" name="Google Shape;2795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6" name="Google Shape;2796;p54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797" name="Google Shape;2797;p54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54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9" name="Google Shape;2799;p54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0" name="Google Shape;2800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54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54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54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54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54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54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54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10" name="Google Shape;281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11" name="Google Shape;2811;p54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2812" name="Google Shape;2812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54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5" name="Google Shape;2815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6" name="Google Shape;2816;p54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17" name="Google Shape;2817;p54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818" name="Google Shape;2818;p54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9" name="Google Shape;2819;p54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0" name="Google Shape;2820;p54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1" name="Google Shape;2821;p54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822" name="Google Shape;2822;p54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54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4" name="Google Shape;2824;p54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p54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6" name="Google Shape;2826;p54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827" name="Google Shape;2827;p54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8" name="Google Shape;2828;p54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29" name="Google Shape;2829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30" name="Google Shape;2830;p54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831" name="Google Shape;2831;p54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54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3" name="Google Shape;2833;p54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6" name="Google Shape;2836;p54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54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9" name="Google Shape;2839;p54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54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54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2" name="Google Shape;2842;p54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3" name="Google Shape;2843;p54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4" name="Google Shape;2844;p54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2845" name="Google Shape;2845;p54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2846" name="Google Shape;284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47" name="Google Shape;2847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2848" name="Google Shape;2848;p5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49" name="Google Shape;2849;p54"/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54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1" name="Google Shape;2851;p54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2" name="Google Shape;2852;p54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2853" name="Google Shape;2853;p54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54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54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6" name="Google Shape;2856;p54"/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7" name="Google Shape;2857;p54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54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9" name="Google Shape;2859;p54"/>
          <p:cNvGrpSpPr/>
          <p:nvPr/>
        </p:nvGrpSpPr>
        <p:grpSpPr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2860" name="Google Shape;2860;p5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54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5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5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54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5" name="Google Shape;2865;p54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866" name="Google Shape;2866;p54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54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8" name="Google Shape;2868;p54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9" name="Google Shape;2869;p54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870" name="Google Shape;2870;p54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54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2" name="Google Shape;2872;p54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54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4" name="Google Shape;2874;p54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875" name="Google Shape;2875;p54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54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7" name="Google Shape;2877;p5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8" name="Google Shape;2878;p54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879" name="Google Shape;2879;p54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54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1" name="Google Shape;2881;p54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5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5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54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5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54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54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54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54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54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54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2" name="Google Shape;2892;p54"/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3" name="Google Shape;289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4" name="Google Shape;2894;p54"/>
          <p:cNvGrpSpPr/>
          <p:nvPr/>
        </p:nvGrpSpPr>
        <p:grpSpPr>
          <a:xfrm>
            <a:off x="2369457" y="2590528"/>
            <a:ext cx="2337975" cy="2389851"/>
            <a:chOff x="2369457" y="2590528"/>
            <a:chExt cx="2337975" cy="2389851"/>
          </a:xfrm>
        </p:grpSpPr>
        <p:grpSp>
          <p:nvGrpSpPr>
            <p:cNvPr id="2895" name="Google Shape;2895;p54"/>
            <p:cNvGrpSpPr/>
            <p:nvPr/>
          </p:nvGrpSpPr>
          <p:grpSpPr>
            <a:xfrm rot="-3246747">
              <a:off x="2719236" y="3449532"/>
              <a:ext cx="1044264" cy="1396841"/>
              <a:chOff x="4056314" y="2857659"/>
              <a:chExt cx="1044264" cy="1396841"/>
            </a:xfrm>
          </p:grpSpPr>
          <p:grpSp>
            <p:nvGrpSpPr>
              <p:cNvPr id="2896" name="Google Shape;2896;p54"/>
              <p:cNvGrpSpPr/>
              <p:nvPr/>
            </p:nvGrpSpPr>
            <p:grpSpPr>
              <a:xfrm>
                <a:off x="4624509" y="2946400"/>
                <a:ext cx="476069" cy="1308100"/>
                <a:chOff x="4624509" y="2946400"/>
                <a:chExt cx="476069" cy="1308100"/>
              </a:xfrm>
            </p:grpSpPr>
            <p:cxnSp>
              <p:nvCxnSpPr>
                <p:cNvPr id="2897" name="Google Shape;2897;p54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sp>
              <p:nvSpPr>
                <p:cNvPr id="2898" name="Google Shape;2898;p54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9" name="Google Shape;2899;p54"/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00" name="Google Shape;2900;p54"/>
              <p:cNvSpPr txBox="1"/>
              <p:nvPr/>
            </p:nvSpPr>
            <p:spPr>
              <a:xfrm rot="3246747">
                <a:off x="4123079" y="3044101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1" name="Google Shape;2901;p54"/>
            <p:cNvGrpSpPr/>
            <p:nvPr/>
          </p:nvGrpSpPr>
          <p:grpSpPr>
            <a:xfrm rot="-3246747">
              <a:off x="3370046" y="2698487"/>
              <a:ext cx="976395" cy="1389855"/>
              <a:chOff x="5094409" y="2877345"/>
              <a:chExt cx="976395" cy="1389855"/>
            </a:xfrm>
          </p:grpSpPr>
          <p:grpSp>
            <p:nvGrpSpPr>
              <p:cNvPr id="2902" name="Google Shape;2902;p54"/>
              <p:cNvGrpSpPr/>
              <p:nvPr/>
            </p:nvGrpSpPr>
            <p:grpSpPr>
              <a:xfrm>
                <a:off x="5094409" y="2959100"/>
                <a:ext cx="476069" cy="1308100"/>
                <a:chOff x="4624509" y="2946400"/>
                <a:chExt cx="476069" cy="1308100"/>
              </a:xfrm>
            </p:grpSpPr>
            <p:cxnSp>
              <p:nvCxnSpPr>
                <p:cNvPr id="2903" name="Google Shape;2903;p54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med" w="med" type="triangle"/>
                  <a:tailEnd len="sm" w="sm" type="none"/>
                </a:ln>
              </p:spPr>
            </p:cxnSp>
            <p:sp>
              <p:nvSpPr>
                <p:cNvPr id="2904" name="Google Shape;2904;p54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5" name="Google Shape;2905;p54"/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06" name="Google Shape;2906;p54"/>
              <p:cNvSpPr txBox="1"/>
              <p:nvPr/>
            </p:nvSpPr>
            <p:spPr>
              <a:xfrm rot="3077103">
                <a:off x="5261072" y="3063392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07" name="Google Shape;2907;p54"/>
          <p:cNvGrpSpPr/>
          <p:nvPr/>
        </p:nvGrpSpPr>
        <p:grpSpPr>
          <a:xfrm>
            <a:off x="5130800" y="4368800"/>
            <a:ext cx="3136900" cy="890032"/>
            <a:chOff x="5461000" y="4394200"/>
            <a:chExt cx="3136900" cy="890032"/>
          </a:xfrm>
        </p:grpSpPr>
        <p:grpSp>
          <p:nvGrpSpPr>
            <p:cNvPr id="2908" name="Google Shape;2908;p54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2909" name="Google Shape;2909;p54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910" name="Google Shape;2910;p54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1" name="Google Shape;2911;p54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2" name="Google Shape;2912;p54"/>
            <p:cNvGrpSpPr/>
            <p:nvPr/>
          </p:nvGrpSpPr>
          <p:grpSpPr>
            <a:xfrm>
              <a:off x="5461000" y="4394200"/>
              <a:ext cx="3136900" cy="535548"/>
              <a:chOff x="6299200" y="3035300"/>
              <a:chExt cx="3136900" cy="535548"/>
            </a:xfrm>
          </p:grpSpPr>
          <p:sp>
            <p:nvSpPr>
              <p:cNvPr id="2913" name="Google Shape;2913;p54"/>
              <p:cNvSpPr txBox="1"/>
              <p:nvPr/>
            </p:nvSpPr>
            <p:spPr>
              <a:xfrm>
                <a:off x="6299200" y="30353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4" name="Google Shape;2914;p54"/>
              <p:cNvSpPr txBox="1"/>
              <p:nvPr/>
            </p:nvSpPr>
            <p:spPr>
              <a:xfrm>
                <a:off x="6413500" y="3276600"/>
                <a:ext cx="3022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socks.com, cookie: 7493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15" name="Google Shape;2915;p54"/>
          <p:cNvGrpSpPr/>
          <p:nvPr/>
        </p:nvGrpSpPr>
        <p:grpSpPr>
          <a:xfrm>
            <a:off x="5651500" y="5346700"/>
            <a:ext cx="2641600" cy="840348"/>
            <a:chOff x="6032500" y="5308600"/>
            <a:chExt cx="2641600" cy="840348"/>
          </a:xfrm>
        </p:grpSpPr>
        <p:grpSp>
          <p:nvGrpSpPr>
            <p:cNvPr id="2916" name="Google Shape;2916;p54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2917" name="Google Shape;2917;p54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2918" name="Google Shape;2918;p54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9" name="Google Shape;2919;p54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0" name="Google Shape;2920;p54"/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2921" name="Google Shape;2921;p54"/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2" name="Google Shape;2922;p54"/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6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23" name="Google Shape;2923;p54"/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54"/>
          <p:cNvSpPr/>
          <p:nvPr/>
        </p:nvSpPr>
        <p:spPr>
          <a:xfrm>
            <a:off x="4216838" y="1104901"/>
            <a:ext cx="4737100" cy="1828800"/>
          </a:xfrm>
          <a:prstGeom prst="rect">
            <a:avLst/>
          </a:prstGeom>
          <a:solidFill>
            <a:schemeClr val="lt1">
              <a:alpha val="6666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54"/>
          <p:cNvSpPr txBox="1"/>
          <p:nvPr/>
        </p:nvSpPr>
        <p:spPr>
          <a:xfrm>
            <a:off x="7973060" y="2425700"/>
            <a:ext cx="3886201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tracks my web browsing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sites with AdX 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return targeted ads based on browsing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1" name="Google Shape;2931;p55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2932" name="Google Shape;2932;p55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55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55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5" name="Google Shape;2935;p55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2936" name="Google Shape;2936;p55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55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55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9" name="Google Shape;2939;p55"/>
          <p:cNvSpPr txBox="1"/>
          <p:nvPr/>
        </p:nvSpPr>
        <p:spPr>
          <a:xfrm>
            <a:off x="360491" y="261258"/>
            <a:ext cx="110684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 </a:t>
            </a:r>
            <a:r>
              <a:rPr b="0" i="0" lang="en-US" sz="2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(one day later)</a:t>
            </a:r>
            <a:endParaRPr b="0" i="0" sz="36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0" name="Google Shape;2940;p55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2941" name="Google Shape;2941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55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55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46" name="Google Shape;2946;p55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947" name="Google Shape;2947;p55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8" name="Google Shape;2948;p55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9" name="Google Shape;2949;p55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50" name="Google Shape;2950;p55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951" name="Google Shape;2951;p55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2" name="Google Shape;2952;p55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3" name="Google Shape;2953;p55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55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55" name="Google Shape;2955;p55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956" name="Google Shape;2956;p55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7" name="Google Shape;2957;p55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8" name="Google Shape;2958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59" name="Google Shape;2959;p55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960" name="Google Shape;2960;p55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1" name="Google Shape;2961;p55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62" name="Google Shape;2962;p55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55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55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55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55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55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55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55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73" name="Google Shape;297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4" name="Google Shape;2974;p55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2975" name="Google Shape;2975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55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55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80" name="Google Shape;2980;p55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2981" name="Google Shape;2981;p55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2" name="Google Shape;2982;p55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3" name="Google Shape;2983;p55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84" name="Google Shape;2984;p55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2985" name="Google Shape;2985;p55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55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7" name="Google Shape;2987;p55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55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89" name="Google Shape;2989;p55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2990" name="Google Shape;2990;p55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1" name="Google Shape;2991;p55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2" name="Google Shape;2992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93" name="Google Shape;2993;p55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2994" name="Google Shape;2994;p55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5" name="Google Shape;2995;p55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6" name="Google Shape;2996;p55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55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55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55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55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55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55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55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7" name="Google Shape;3007;p55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3008" name="Google Shape;3008;p55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3009" name="Google Shape;3009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10" name="Google Shape;3010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3011" name="Google Shape;3011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12" name="Google Shape;3012;p55"/>
          <p:cNvSpPr txBox="1"/>
          <p:nvPr/>
        </p:nvSpPr>
        <p:spPr>
          <a:xfrm>
            <a:off x="4352471" y="2398486"/>
            <a:ext cx="23498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(arts)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p55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55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5" name="Google Shape;3015;p55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3016" name="Google Shape;3016;p55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55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55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9" name="Google Shape;3019;p55"/>
          <p:cNvSpPr txBox="1"/>
          <p:nvPr/>
        </p:nvSpPr>
        <p:spPr>
          <a:xfrm>
            <a:off x="4229100" y="5867400"/>
            <a:ext cx="1636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55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1" name="Google Shape;3021;p55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2" name="Google Shape;3022;p55"/>
          <p:cNvGrpSpPr/>
          <p:nvPr/>
        </p:nvGrpSpPr>
        <p:grpSpPr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3023" name="Google Shape;3023;p5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55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5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5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55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8" name="Google Shape;3028;p55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3029" name="Google Shape;3029;p55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0" name="Google Shape;3030;p55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1" name="Google Shape;3031;p55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2" name="Google Shape;3032;p55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3033" name="Google Shape;3033;p55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4" name="Google Shape;3034;p55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35" name="Google Shape;3035;p55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6" name="Google Shape;3036;p55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7" name="Google Shape;3037;p55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3038" name="Google Shape;3038;p55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9" name="Google Shape;3039;p55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0" name="Google Shape;3040;p5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41" name="Google Shape;3041;p55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3042" name="Google Shape;3042;p55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3" name="Google Shape;3043;p55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44" name="Google Shape;3044;p55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5" name="Google Shape;3045;p5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6" name="Google Shape;3046;p5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7" name="Google Shape;3047;p55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8" name="Google Shape;3048;p5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55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55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55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55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55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55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5" name="Google Shape;3055;p55"/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6" name="Google Shape;3056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7" name="Google Shape;3057;p55"/>
          <p:cNvGrpSpPr/>
          <p:nvPr/>
        </p:nvGrpSpPr>
        <p:grpSpPr>
          <a:xfrm>
            <a:off x="4978400" y="4381500"/>
            <a:ext cx="3536404" cy="877332"/>
            <a:chOff x="5308600" y="4406900"/>
            <a:chExt cx="3536404" cy="877332"/>
          </a:xfrm>
        </p:grpSpPr>
        <p:grpSp>
          <p:nvGrpSpPr>
            <p:cNvPr id="3058" name="Google Shape;3058;p55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3059" name="Google Shape;3059;p55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060" name="Google Shape;3060;p55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1" name="Google Shape;3061;p55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2" name="Google Shape;3062;p55"/>
            <p:cNvGrpSpPr/>
            <p:nvPr/>
          </p:nvGrpSpPr>
          <p:grpSpPr>
            <a:xfrm>
              <a:off x="5308600" y="4406900"/>
              <a:ext cx="3536404" cy="548045"/>
              <a:chOff x="6146800" y="3048000"/>
              <a:chExt cx="3536404" cy="548045"/>
            </a:xfrm>
          </p:grpSpPr>
          <p:sp>
            <p:nvSpPr>
              <p:cNvPr id="3063" name="Google Shape;3063;p55"/>
              <p:cNvSpPr txBox="1"/>
              <p:nvPr/>
            </p:nvSpPr>
            <p:spPr>
              <a:xfrm>
                <a:off x="6146800" y="30480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4" name="Google Shape;3064;p55"/>
              <p:cNvSpPr txBox="1"/>
              <p:nvPr/>
            </p:nvSpPr>
            <p:spPr>
              <a:xfrm>
                <a:off x="6273800" y="3276599"/>
                <a:ext cx="3409404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nytimes.com, cookie: </a:t>
                </a:r>
                <a:r>
                  <a:rPr b="0" i="0" lang="en-US" sz="18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65" name="Google Shape;3065;p55"/>
          <p:cNvGrpSpPr/>
          <p:nvPr/>
        </p:nvGrpSpPr>
        <p:grpSpPr>
          <a:xfrm>
            <a:off x="5626100" y="5346700"/>
            <a:ext cx="2641600" cy="865546"/>
            <a:chOff x="6007100" y="5308600"/>
            <a:chExt cx="2641600" cy="865546"/>
          </a:xfrm>
        </p:grpSpPr>
        <p:grpSp>
          <p:nvGrpSpPr>
            <p:cNvPr id="3066" name="Google Shape;3066;p55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3067" name="Google Shape;3067;p55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3068" name="Google Shape;3068;p55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9" name="Google Shape;3069;p55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0" name="Google Shape;3070;p55"/>
            <p:cNvGrpSpPr/>
            <p:nvPr/>
          </p:nvGrpSpPr>
          <p:grpSpPr>
            <a:xfrm>
              <a:off x="6007100" y="5600700"/>
              <a:ext cx="2641600" cy="573446"/>
              <a:chOff x="6654800" y="3187700"/>
              <a:chExt cx="2641600" cy="573446"/>
            </a:xfrm>
          </p:grpSpPr>
          <p:sp>
            <p:nvSpPr>
              <p:cNvPr id="3071" name="Google Shape;3071;p55"/>
              <p:cNvSpPr txBox="1"/>
              <p:nvPr/>
            </p:nvSpPr>
            <p:spPr>
              <a:xfrm>
                <a:off x="66548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2" name="Google Shape;3072;p55"/>
              <p:cNvSpPr txBox="1"/>
              <p:nvPr/>
            </p:nvSpPr>
            <p:spPr>
              <a:xfrm>
                <a:off x="6781800" y="3441700"/>
                <a:ext cx="25146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73" name="Google Shape;3073;p55"/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55"/>
          <p:cNvSpPr/>
          <p:nvPr/>
        </p:nvSpPr>
        <p:spPr>
          <a:xfrm>
            <a:off x="152400" y="1257300"/>
            <a:ext cx="3035300" cy="2273300"/>
          </a:xfrm>
          <a:prstGeom prst="rect">
            <a:avLst/>
          </a:prstGeom>
          <a:solidFill>
            <a:schemeClr val="lt1">
              <a:alpha val="6666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55"/>
          <p:cNvSpPr/>
          <p:nvPr/>
        </p:nvSpPr>
        <p:spPr>
          <a:xfrm>
            <a:off x="5041900" y="1663700"/>
            <a:ext cx="1676400" cy="82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6" name="Google Shape;3076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8900" y="1705046"/>
            <a:ext cx="1447800" cy="777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7" name="Google Shape;3077;p55"/>
          <p:cNvGrpSpPr/>
          <p:nvPr/>
        </p:nvGrpSpPr>
        <p:grpSpPr>
          <a:xfrm>
            <a:off x="2946400" y="2946400"/>
            <a:ext cx="3797300" cy="1333500"/>
            <a:chOff x="2946400" y="2946400"/>
            <a:chExt cx="3797300" cy="1333500"/>
          </a:xfrm>
        </p:grpSpPr>
        <p:sp>
          <p:nvSpPr>
            <p:cNvPr id="3078" name="Google Shape;3078;p55"/>
            <p:cNvSpPr txBox="1"/>
            <p:nvPr/>
          </p:nvSpPr>
          <p:spPr>
            <a:xfrm>
              <a:off x="2946400" y="3733800"/>
              <a:ext cx="186690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1634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9" name="Google Shape;3079;p55"/>
            <p:cNvGrpSpPr/>
            <p:nvPr/>
          </p:nvGrpSpPr>
          <p:grpSpPr>
            <a:xfrm>
              <a:off x="3771900" y="2946400"/>
              <a:ext cx="2971800" cy="1333500"/>
              <a:chOff x="3771900" y="2946400"/>
              <a:chExt cx="2971800" cy="1333500"/>
            </a:xfrm>
          </p:grpSpPr>
          <p:cxnSp>
            <p:nvCxnSpPr>
              <p:cNvPr id="3080" name="Google Shape;3080;p55"/>
              <p:cNvCxnSpPr/>
              <p:nvPr/>
            </p:nvCxnSpPr>
            <p:spPr>
              <a:xfrm rot="10800000">
                <a:off x="5118100" y="29718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3081" name="Google Shape;3081;p55"/>
              <p:cNvSpPr txBox="1"/>
              <p:nvPr/>
            </p:nvSpPr>
            <p:spPr>
              <a:xfrm>
                <a:off x="5105400" y="3302000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082" name="Google Shape;3082;p55"/>
              <p:cNvGrpSpPr/>
              <p:nvPr/>
            </p:nvGrpSpPr>
            <p:grpSpPr>
              <a:xfrm>
                <a:off x="3771900" y="2946400"/>
                <a:ext cx="1473200" cy="1308100"/>
                <a:chOff x="3771900" y="2946400"/>
                <a:chExt cx="1473200" cy="1308100"/>
              </a:xfrm>
            </p:grpSpPr>
            <p:cxnSp>
              <p:nvCxnSpPr>
                <p:cNvPr id="3083" name="Google Shape;3083;p55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sp>
              <p:nvSpPr>
                <p:cNvPr id="3084" name="Google Shape;3084;p55"/>
                <p:cNvSpPr txBox="1"/>
                <p:nvPr/>
              </p:nvSpPr>
              <p:spPr>
                <a:xfrm>
                  <a:off x="3771900" y="3276600"/>
                  <a:ext cx="1473200" cy="541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HTTP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GET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085" name="Google Shape;3085;p55"/>
              <p:cNvSpPr txBox="1"/>
              <p:nvPr/>
            </p:nvSpPr>
            <p:spPr>
              <a:xfrm>
                <a:off x="4876800" y="3746500"/>
                <a:ext cx="18669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86" name="Google Shape;3086;p55"/>
          <p:cNvSpPr txBox="1"/>
          <p:nvPr/>
        </p:nvSpPr>
        <p:spPr>
          <a:xfrm>
            <a:off x="7010400" y="2019300"/>
            <a:ext cx="18485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arts, 2/17/22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55"/>
          <p:cNvSpPr txBox="1"/>
          <p:nvPr/>
        </p:nvSpPr>
        <p:spPr>
          <a:xfrm>
            <a:off x="9251409" y="5626100"/>
            <a:ext cx="2666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arts,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p55"/>
          <p:cNvSpPr txBox="1"/>
          <p:nvPr/>
        </p:nvSpPr>
        <p:spPr>
          <a:xfrm>
            <a:off x="5753100" y="6108700"/>
            <a:ext cx="22695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Returned ad for socks!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p56"/>
          <p:cNvSpPr txBox="1"/>
          <p:nvPr/>
        </p:nvSpPr>
        <p:spPr>
          <a:xfrm>
            <a:off x="360491" y="261258"/>
            <a:ext cx="107901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5" name="Google Shape;3095;p56"/>
          <p:cNvSpPr txBox="1"/>
          <p:nvPr>
            <p:ph idx="1" type="body"/>
          </p:nvPr>
        </p:nvSpPr>
        <p:spPr>
          <a:xfrm>
            <a:off x="613541" y="1386556"/>
            <a:ext cx="10515600" cy="5071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Cookies can be used to: 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 user behavior on a given website (</a:t>
            </a:r>
            <a:r>
              <a:rPr lang="en-US">
                <a:solidFill>
                  <a:srgbClr val="C00000"/>
                </a:solidFill>
              </a:rPr>
              <a:t>first party cookies</a:t>
            </a:r>
            <a:r>
              <a:rPr lang="en-US"/>
              <a:t>)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 user behavior across multiple websites (</a:t>
            </a:r>
            <a:r>
              <a:rPr lang="en-US">
                <a:solidFill>
                  <a:srgbClr val="C00000"/>
                </a:solidFill>
              </a:rPr>
              <a:t>third party cookies</a:t>
            </a:r>
            <a:r>
              <a:rPr lang="en-US"/>
              <a:t>) without user ever choosing to visit tracker site (!)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tracking may be </a:t>
            </a:r>
            <a:r>
              <a:rPr i="1" lang="en-US"/>
              <a:t>invisible</a:t>
            </a:r>
            <a:r>
              <a:rPr lang="en-US"/>
              <a:t> to user:</a:t>
            </a:r>
            <a:endParaRPr/>
          </a:p>
          <a:p>
            <a:pPr indent="-168275" lvl="1" marL="8604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Char char="•"/>
            </a:pPr>
            <a:r>
              <a:rPr lang="en-US"/>
              <a:t>rather than displayed ad triggering HTTP GET to tracker, could be an invisible link</a:t>
            </a:r>
            <a:endParaRPr/>
          </a:p>
          <a:p>
            <a:pPr indent="-74612" lvl="1" marL="920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236536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None/>
            </a:pPr>
            <a:r>
              <a:rPr lang="en-US"/>
              <a:t>third party tracking via cookies:</a:t>
            </a:r>
            <a:endParaRPr/>
          </a:p>
          <a:p>
            <a:pPr indent="-341313" lvl="0" marL="692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disabled by default in Firefox, Safari browsers</a:t>
            </a:r>
            <a:endParaRPr/>
          </a:p>
          <a:p>
            <a:pPr indent="-341313" lvl="0" marL="692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to be disabled in Chrome browser in 2023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p57"/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44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2" name="Google Shape;3102;p57"/>
          <p:cNvSpPr txBox="1"/>
          <p:nvPr>
            <p:ph idx="1" type="body"/>
          </p:nvPr>
        </p:nvSpPr>
        <p:spPr>
          <a:xfrm>
            <a:off x="613541" y="1386556"/>
            <a:ext cx="10515600" cy="5071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Computer Networking: A Top-Down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Chapter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TCP/IP Protocol Suite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Chapter 22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6" name="Shape 3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7" name="Google Shape;3107;p58"/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0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