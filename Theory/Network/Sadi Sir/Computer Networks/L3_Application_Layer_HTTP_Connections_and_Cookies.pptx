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3" r:id="rId6"/>
    <p:sldMasterId id="214748365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y="6858000" cx="12192000"/>
  <p:notesSz cx="6858000" cy="9144000"/>
  <p:embeddedFontLst>
    <p:embeddedFont>
      <p:font typeface="Gill Sans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hjxpQBmJQ/aTQCuWl1p2aIDXog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faiyaz sad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4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GillSans-bold.fntdata"/><Relationship Id="rId50" Type="http://schemas.openxmlformats.org/officeDocument/2006/relationships/font" Target="fonts/GillSans-regular.fntdata"/><Relationship Id="rId52" Type="http://customschemas.google.com/relationships/presentationmetadata" Target="meta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03-28T22:37:23.343">
    <p:pos x="10" y="10"/>
    <p:text/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qteh1N8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8.1. Updates throughout, including a lot more animations.  These are the ppt files used to make Chapter 2 online lectures in Sept. 2020.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8.0  (April 2020)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</p:txBody>
      </p:sp>
      <p:sp>
        <p:nvSpPr>
          <p:cNvPr id="131" name="Google Shape;13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Can put several requests in a single packet</a:t>
            </a:r>
            <a:endParaRPr/>
          </a:p>
        </p:txBody>
      </p:sp>
      <p:sp>
        <p:nvSpPr>
          <p:cNvPr id="415" name="Google Shape;41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Head-of-line blocking: if big item is the first, smaller requests are stuck waiting behind it to finish when they could be issued as a parallel connection</a:t>
            </a:r>
            <a:endParaRPr/>
          </a:p>
        </p:txBody>
      </p:sp>
      <p:sp>
        <p:nvSpPr>
          <p:cNvPr id="430" name="Google Shape;43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" name="Google Shape;4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3" name="Google Shape;47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2" name="Google Shape;49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" name="Google Shape;51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3" name="Google Shape;53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549" name="Google Shape;54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642" name="Google Shape;64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650" name="Google Shape;65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744" name="Google Shape;74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3" name="Google Shape;75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4" name="Google Shape;75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6" name="Google Shape;88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3" name="Google Shape;101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4" name="Google Shape;101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6" name="Google Shape;117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7" name="Google Shape;117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9" name="Google Shape;133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0" name="Google Shape;134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6" name="Google Shape;134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7" name="Google Shape;134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3" name="Google Shape;135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4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2" name="Google Shape;52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2" name="Google Shape;6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9" name="Google Shape;79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5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2" name="Google Shape;92;p5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5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4" name="Google Shape;94;p5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5" name="Google Shape;105;p6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6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3" name="Google Shape;113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6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8.png"/><Relationship Id="rId5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scaler.com/topics/persistent-connection-http/" TargetMode="External"/><Relationship Id="rId4" Type="http://schemas.openxmlformats.org/officeDocument/2006/relationships/hyperlink" Target="https://www.scaler.com/topics/persistent-connection-http/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2384201"/>
            <a:ext cx="12192000" cy="20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2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i="0" sz="5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HTTP Connections and Cookies</a:t>
            </a:r>
            <a:endParaRPr b="1" sz="5400">
              <a:solidFill>
                <a:srgbClr val="DD7E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Round Trip Time (RTT)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Round Trip Time is defined as the time taken by a packet of information to travel from client to server and then come back (i.e. server to client).</a:t>
            </a:r>
            <a:endParaRPr sz="2000"/>
          </a:p>
        </p:txBody>
      </p:sp>
      <p:sp>
        <p:nvSpPr>
          <p:cNvPr id="148" name="Google Shape;148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</a:t>
            </a:r>
            <a:r>
              <a:rPr lang="en-US"/>
              <a:t>Prerequisite</a:t>
            </a:r>
            <a:endParaRPr sz="4400"/>
          </a:p>
        </p:txBody>
      </p:sp>
      <p:sp>
        <p:nvSpPr>
          <p:cNvPr descr="Program to Calculate the Round Trip Time (RTT)- Scaler Topics" id="149" name="Google Shape;149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024" y="2926776"/>
            <a:ext cx="5534025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TCP 3-Way Handshake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/>
              <a:t>The establishment of a TCP connection takes place in 3 steps which are referred to as 3-Way Handshake.</a:t>
            </a:r>
            <a:endParaRPr sz="2000"/>
          </a:p>
        </p:txBody>
      </p:sp>
      <p:sp>
        <p:nvSpPr>
          <p:cNvPr id="157" name="Google Shape;157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</a:t>
            </a:r>
            <a:r>
              <a:rPr lang="en-US"/>
              <a:t>Prerequisite</a:t>
            </a:r>
            <a:endParaRPr sz="4400"/>
          </a:p>
        </p:txBody>
      </p:sp>
      <p:sp>
        <p:nvSpPr>
          <p:cNvPr descr="Program to Calculate the Round Trip Time (RTT)- Scaler Topics" id="158" name="Google Shape;158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2531" y="2888578"/>
            <a:ext cx="5686425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Non-persistent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Without Parallel Connection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With Parallel Connection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Persistent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Non-pipelined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Pipelined</a:t>
            </a:r>
            <a:endParaRPr sz="2800"/>
          </a:p>
        </p:txBody>
      </p:sp>
      <p:sp>
        <p:nvSpPr>
          <p:cNvPr id="166" name="Google Shape;166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two types</a:t>
            </a:r>
            <a:endParaRPr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87375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400"/>
              <a:t>In non-persistent HTTP connections, at most one object can be sent over a single TCP connection.</a:t>
            </a:r>
            <a:endParaRPr/>
          </a:p>
          <a:p>
            <a:pPr indent="-457200" lvl="0" marL="587375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400"/>
              <a:t>For each object to be sent from source to destination, a new TCP connection is created.</a:t>
            </a:r>
            <a:endParaRPr/>
          </a:p>
          <a:p>
            <a:pPr indent="-457200" lvl="0" marL="587375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400"/>
              <a:t>HTTP/1.0 uses non-persistent connections.</a:t>
            </a:r>
            <a:endParaRPr/>
          </a:p>
          <a:p>
            <a:pPr indent="-457200" lvl="0" marL="587375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AutoNum type="arabicPeriod"/>
            </a:pPr>
            <a:r>
              <a:rPr lang="en-US" sz="2400"/>
              <a:t>Non-persistent connection HTTP requires 2 RTT (round trip time) for each object that is to be transmitted (1 RTT to open the connection and 1 RTT for transmission of data).</a:t>
            </a:r>
            <a:endParaRPr/>
          </a:p>
        </p:txBody>
      </p:sp>
      <p:sp>
        <p:nvSpPr>
          <p:cNvPr id="173" name="Google Shape;173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Non-persistent</a:t>
            </a:r>
            <a:endParaRPr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4133" y="1752600"/>
            <a:ext cx="4970223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Non-persistent</a:t>
            </a:r>
            <a:endParaRPr sz="4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Non-persistent</a:t>
            </a:r>
            <a:endParaRPr sz="4400"/>
          </a:p>
        </p:txBody>
      </p:sp>
      <p:pic>
        <p:nvPicPr>
          <p:cNvPr id="187" name="Google Shape;1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0166" y="1346443"/>
            <a:ext cx="5640749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b="1" lang="en-US"/>
              <a:t>Advantages of Non-Persistent HTTP: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Uses resources efficiently; connection opens only when needed.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More secure; connection closes after data transfer.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b="1" lang="en-US"/>
              <a:t>Disadvantages of Non-Persistent HTTP: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Extra overhead to open a TCP connection each time.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Slower start due to repeated connection setup.</a:t>
            </a:r>
            <a:endParaRPr/>
          </a:p>
        </p:txBody>
      </p:sp>
      <p:sp>
        <p:nvSpPr>
          <p:cNvPr id="194" name="Google Shape;194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Non-persistent</a:t>
            </a:r>
            <a:endParaRPr sz="4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Persistent</a:t>
            </a:r>
            <a:endParaRPr sz="4400"/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838200" y="1724026"/>
            <a:ext cx="10515600" cy="5133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Multiple objects can be sent over a single TCP connection.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Allows multiple objects to be transmitted from source to destination without opening a new connection for each object.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HTTP/1.1 is the version of HTTP that uses persistent connections by default.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All modern web browsers (e.g., Mozilla Firefox, Google Chrome) use persistent HTTP connections.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Persistent HTTP does not require 2 RTTs per object.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After the TCP connection is successfully opened (via 3-way handshake, which takes 1 RTT), each object requires only 1 RTT to be transmitted.</a:t>
            </a:r>
            <a:endParaRPr/>
          </a:p>
          <a:p>
            <a:pPr indent="-698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</a:t>
            </a:r>
            <a:r>
              <a:rPr lang="en-US"/>
              <a:t>P</a:t>
            </a:r>
            <a:r>
              <a:rPr lang="en-US" sz="4400"/>
              <a:t>ersistent</a:t>
            </a:r>
            <a:endParaRPr sz="4400"/>
          </a:p>
        </p:txBody>
      </p:sp>
      <p:pic>
        <p:nvPicPr>
          <p:cNvPr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8124" y="1235574"/>
            <a:ext cx="4035752" cy="5547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</a:t>
            </a:r>
            <a:r>
              <a:rPr lang="en-US"/>
              <a:t>P</a:t>
            </a:r>
            <a:r>
              <a:rPr lang="en-US" sz="4400"/>
              <a:t>ersistent</a:t>
            </a:r>
            <a:endParaRPr sz="4400"/>
          </a:p>
        </p:txBody>
      </p:sp>
      <p:pic>
        <p:nvPicPr>
          <p:cNvPr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8458" y="1346443"/>
            <a:ext cx="3955084" cy="5471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Persistent</a:t>
            </a:r>
            <a:endParaRPr sz="4400"/>
          </a:p>
        </p:txBody>
      </p:sp>
      <p:sp>
        <p:nvSpPr>
          <p:cNvPr id="222" name="Google Shape;222;p13"/>
          <p:cNvSpPr txBox="1"/>
          <p:nvPr>
            <p:ph idx="1" type="body"/>
          </p:nvPr>
        </p:nvSpPr>
        <p:spPr>
          <a:xfrm>
            <a:off x="838200" y="1724027"/>
            <a:ext cx="10515600" cy="43468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b="1" lang="en-US"/>
              <a:t>Advantages of Persistent HTTP: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Saves CPU and time by opening the connection only once.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Faster transmission of objects.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Reduces network congestion and latency on subsequent requests.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b="1" lang="en-US"/>
              <a:t>Disadvantages of Persistent HTTP: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Wastes network resources when idle.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Less secure, as the connection remains open.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connections: two types</a:t>
            </a:r>
            <a:endParaRPr sz="4400"/>
          </a:p>
        </p:txBody>
      </p:sp>
      <p:sp>
        <p:nvSpPr>
          <p:cNvPr id="229" name="Google Shape;229;p14"/>
          <p:cNvSpPr txBox="1"/>
          <p:nvPr/>
        </p:nvSpPr>
        <p:spPr>
          <a:xfrm>
            <a:off x="798690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most one object sent over 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6445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downloading multiple objects required multiple connections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opened to a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 objects can be sent over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 between client, and that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closed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</a:t>
            </a:r>
            <a:endParaRPr sz="4400"/>
          </a:p>
        </p:txBody>
      </p:sp>
      <p:cxnSp>
        <p:nvCxnSpPr>
          <p:cNvPr id="237" name="Google Shape;237;p15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" name="Google Shape;238;p15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944384" y="2447251"/>
            <a:ext cx="485024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initiates TCP connection to HTTP server (process) at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port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sends HTTP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request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(containing URL) into TCP connection socket. Message indicates that client wants object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someDepartment/home.index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1b</a:t>
            </a:r>
            <a:r>
              <a:rPr b="0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at host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www.someSchool.edu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waiting for TCP connection at port 80  “accepts” connection, notifying 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server receives request message, forms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response message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containing requested object, and sends message into its socket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5"/>
          <p:cNvCxnSpPr/>
          <p:nvPr/>
        </p:nvCxnSpPr>
        <p:spPr>
          <a:xfrm>
            <a:off x="5102530" y="4961816"/>
            <a:ext cx="1800180" cy="60195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p15"/>
          <p:cNvCxnSpPr/>
          <p:nvPr/>
        </p:nvCxnSpPr>
        <p:spPr>
          <a:xfrm flipH="1">
            <a:off x="5389517" y="5671992"/>
            <a:ext cx="1410287" cy="891868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p15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15"/>
          <p:cNvCxnSpPr/>
          <p:nvPr/>
        </p:nvCxnSpPr>
        <p:spPr>
          <a:xfrm>
            <a:off x="5156851" y="2779258"/>
            <a:ext cx="155102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" name="Google Shape;248;p15"/>
          <p:cNvCxnSpPr/>
          <p:nvPr/>
        </p:nvCxnSpPr>
        <p:spPr>
          <a:xfrm flipH="1">
            <a:off x="5102530" y="3366635"/>
            <a:ext cx="1551026" cy="1006986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9" name="Google Shape;249;p15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15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252" name="Google Shape;25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15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55" name="Google Shape;255;p1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0" name="Google Shape;260;p15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261" name="Google Shape;261;p15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15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15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4" name="Google Shape;264;p15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265" name="Google Shape;265;p15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15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" name="Google Shape;267;p15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" name="Google Shape;269;p15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70" name="Google Shape;270;p15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5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2" name="Google Shape;272;p1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3" name="Google Shape;273;p15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74" name="Google Shape;274;p15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5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6" name="Google Shape;276;p15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example (cont.)</a:t>
            </a:r>
            <a:endParaRPr sz="4400"/>
          </a:p>
        </p:txBody>
      </p:sp>
      <p:sp>
        <p:nvSpPr>
          <p:cNvPr id="293" name="Google Shape;293;p16"/>
          <p:cNvSpPr txBox="1"/>
          <p:nvPr/>
        </p:nvSpPr>
        <p:spPr>
          <a:xfrm>
            <a:off x="809349" y="1351435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enters URL: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6"/>
          <p:cNvSpPr txBox="1"/>
          <p:nvPr/>
        </p:nvSpPr>
        <p:spPr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text, references to 10 jpeg images)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p16"/>
          <p:cNvGrpSpPr/>
          <p:nvPr/>
        </p:nvGrpSpPr>
        <p:grpSpPr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descr="desktop_computer_stylized_medium" id="297" name="Google Shape;29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16"/>
          <p:cNvGrpSpPr/>
          <p:nvPr/>
        </p:nvGrpSpPr>
        <p:grpSpPr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300" name="Google Shape;300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4205" y="429"/>
              <a:ext cx="1048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5" name="Google Shape;305;p16"/>
            <p:cNvGrpSpPr/>
            <p:nvPr/>
          </p:nvGrpSpPr>
          <p:grpSpPr>
            <a:xfrm>
              <a:off x="4748" y="669"/>
              <a:ext cx="583" cy="140"/>
              <a:chOff x="613" y="2569"/>
              <a:chExt cx="727" cy="134"/>
            </a:xfrm>
          </p:grpSpPr>
          <p:sp>
            <p:nvSpPr>
              <p:cNvPr id="306" name="Google Shape;306;p16"/>
              <p:cNvSpPr/>
              <p:nvPr/>
            </p:nvSpPr>
            <p:spPr>
              <a:xfrm>
                <a:off x="613" y="2569"/>
                <a:ext cx="727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629" y="2586"/>
                <a:ext cx="694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8" name="Google Shape;308;p16"/>
            <p:cNvSpPr/>
            <p:nvPr/>
          </p:nvSpPr>
          <p:spPr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9" name="Google Shape;309;p16"/>
            <p:cNvGrpSpPr/>
            <p:nvPr/>
          </p:nvGrpSpPr>
          <p:grpSpPr>
            <a:xfrm>
              <a:off x="4749" y="995"/>
              <a:ext cx="579" cy="133"/>
              <a:chOff x="616" y="2569"/>
              <a:chExt cx="723" cy="138"/>
            </a:xfrm>
          </p:grpSpPr>
          <p:sp>
            <p:nvSpPr>
              <p:cNvPr id="310" name="Google Shape;310;p16"/>
              <p:cNvSpPr/>
              <p:nvPr/>
            </p:nvSpPr>
            <p:spPr>
              <a:xfrm>
                <a:off x="616" y="2569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632" y="2588"/>
                <a:ext cx="690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2" name="Google Shape;312;p16"/>
            <p:cNvSpPr/>
            <p:nvPr/>
          </p:nvSpPr>
          <p:spPr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" name="Google Shape;314;p16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5" name="Google Shape;315;p16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631" y="2584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7" name="Google Shape;317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" name="Google Shape;318;p16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9" name="Google Shape;319;p16"/>
              <p:cNvSpPr/>
              <p:nvPr/>
            </p:nvSpPr>
            <p:spPr>
              <a:xfrm>
                <a:off x="614" y="2568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630" y="2583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1" name="Google Shape;321;p16"/>
            <p:cNvSpPr/>
            <p:nvPr/>
          </p:nvSpPr>
          <p:spPr>
            <a:xfrm>
              <a:off x="5249" y="432"/>
              <a:ext cx="68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4140" y="2677"/>
              <a:ext cx="1201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4205" y="2712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16"/>
          <p:cNvSpPr txBox="1"/>
          <p:nvPr/>
        </p:nvSpPr>
        <p:spPr>
          <a:xfrm>
            <a:off x="798691" y="3200188"/>
            <a:ext cx="5085273" cy="201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client receives response message containing html file, displays html.  Parsing html file, finds 10 referenced jpeg  objects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Steps 1-5 repeated for each of 10 jpeg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 server closes TCP connection.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16"/>
          <p:cNvCxnSpPr/>
          <p:nvPr/>
        </p:nvCxnSpPr>
        <p:spPr>
          <a:xfrm flipH="1">
            <a:off x="5587465" y="3200187"/>
            <a:ext cx="109537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" name="Google Shape;336;p16"/>
          <p:cNvCxnSpPr/>
          <p:nvPr/>
        </p:nvCxnSpPr>
        <p:spPr>
          <a:xfrm>
            <a:off x="798691" y="2868166"/>
            <a:ext cx="10658" cy="3480471"/>
          </a:xfrm>
          <a:prstGeom prst="straightConnector1">
            <a:avLst/>
          </a:prstGeom>
          <a:noFill/>
          <a:ln cap="flat" cmpd="sng" w="19050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p16"/>
          <p:cNvSpPr/>
          <p:nvPr/>
        </p:nvSpPr>
        <p:spPr>
          <a:xfrm>
            <a:off x="490358" y="5641558"/>
            <a:ext cx="657225" cy="2952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499883" y="5563771"/>
            <a:ext cx="673100" cy="406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7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Non-persistent HTTP: response time</a:t>
            </a:r>
            <a:endParaRPr sz="4400"/>
          </a:p>
        </p:txBody>
      </p:sp>
      <p:sp>
        <p:nvSpPr>
          <p:cNvPr id="345" name="Google Shape;345;p17"/>
          <p:cNvSpPr txBox="1"/>
          <p:nvPr/>
        </p:nvSpPr>
        <p:spPr>
          <a:xfrm>
            <a:off x="736393" y="1919178"/>
            <a:ext cx="5683502" cy="333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RTT (definition):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time for a small packet to travel from client to server and 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HTTP response time (per object):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to initiate 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RTT for HTTP request and first few bytes of HTTP response to return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4603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object/file transmission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17"/>
          <p:cNvCxnSpPr/>
          <p:nvPr/>
        </p:nvCxnSpPr>
        <p:spPr>
          <a:xfrm>
            <a:off x="8197229" y="2671284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17"/>
          <p:cNvCxnSpPr/>
          <p:nvPr/>
        </p:nvCxnSpPr>
        <p:spPr>
          <a:xfrm>
            <a:off x="9887916" y="2664934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348" name="Google Shape;348;p17"/>
          <p:cNvCxnSpPr/>
          <p:nvPr/>
        </p:nvCxnSpPr>
        <p:spPr>
          <a:xfrm>
            <a:off x="8211516" y="290305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9" name="Google Shape;349;p17"/>
          <p:cNvCxnSpPr/>
          <p:nvPr/>
        </p:nvCxnSpPr>
        <p:spPr>
          <a:xfrm flipH="1">
            <a:off x="8197229" y="3341209"/>
            <a:ext cx="1673225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p17"/>
          <p:cNvCxnSpPr/>
          <p:nvPr/>
        </p:nvCxnSpPr>
        <p:spPr>
          <a:xfrm>
            <a:off x="8205166" y="3849209"/>
            <a:ext cx="1684338" cy="390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" name="Google Shape;351;p17"/>
          <p:cNvSpPr/>
          <p:nvPr/>
        </p:nvSpPr>
        <p:spPr>
          <a:xfrm>
            <a:off x="9903942" y="4249143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time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transmit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7"/>
          <p:cNvCxnSpPr/>
          <p:nvPr/>
        </p:nvCxnSpPr>
        <p:spPr>
          <a:xfrm>
            <a:off x="7806704" y="2877659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17"/>
          <p:cNvSpPr txBox="1"/>
          <p:nvPr/>
        </p:nvSpPr>
        <p:spPr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initiate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7941641" y="2928459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17"/>
          <p:cNvCxnSpPr/>
          <p:nvPr/>
        </p:nvCxnSpPr>
        <p:spPr>
          <a:xfrm>
            <a:off x="7855916" y="3782534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17"/>
          <p:cNvSpPr txBox="1"/>
          <p:nvPr/>
        </p:nvSpPr>
        <p:spPr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request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7947991" y="3838096"/>
            <a:ext cx="128588" cy="8032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17"/>
          <p:cNvCxnSpPr/>
          <p:nvPr/>
        </p:nvCxnSpPr>
        <p:spPr>
          <a:xfrm flipH="1">
            <a:off x="7818988" y="4805006"/>
            <a:ext cx="361323" cy="22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/>
        </p:nvSpPr>
        <p:spPr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file received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17"/>
          <p:cNvGrpSpPr/>
          <p:nvPr/>
        </p:nvGrpSpPr>
        <p:grpSpPr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366" name="Google Shape;366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1" name="Google Shape;371;p17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372" name="Google Shape;372;p17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7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4" name="Google Shape;374;p17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7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376" name="Google Shape;376;p17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7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8" name="Google Shape;378;p17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0" name="Google Shape;380;p17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381" name="Google Shape;381;p17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7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3" name="Google Shape;383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4" name="Google Shape;384;p17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385" name="Google Shape;385;p17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7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7" name="Google Shape;387;p17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17"/>
          <p:cNvGrpSpPr/>
          <p:nvPr/>
        </p:nvGrpSpPr>
        <p:grpSpPr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descr="desktop_computer_stylized_medium" id="399" name="Google Shape;39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0" name="Google Shape;400;p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" name="Google Shape;401;p17"/>
          <p:cNvSpPr/>
          <p:nvPr/>
        </p:nvSpPr>
        <p:spPr>
          <a:xfrm>
            <a:off x="8188984" y="4246818"/>
            <a:ext cx="1700270" cy="558188"/>
          </a:xfrm>
          <a:custGeom>
            <a:rect b="b" l="l" r="r" t="t"/>
            <a:pathLst>
              <a:path extrusionOk="0" h="558188" w="1700270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 rot="10800000">
            <a:off x="8069711" y="4643267"/>
            <a:ext cx="99857" cy="161739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Non-persistent HTTP response time =  2RTT+ file transmission 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Persistent HTTP </a:t>
            </a:r>
            <a:r>
              <a:rPr lang="en-US" sz="3200"/>
              <a:t>(HTTP 1.1)</a:t>
            </a:r>
            <a:endParaRPr sz="4400"/>
          </a:p>
        </p:txBody>
      </p:sp>
      <p:sp>
        <p:nvSpPr>
          <p:cNvPr id="410" name="Google Shape;410;p18"/>
          <p:cNvSpPr txBox="1"/>
          <p:nvPr/>
        </p:nvSpPr>
        <p:spPr>
          <a:xfrm>
            <a:off x="798691" y="1401764"/>
            <a:ext cx="516554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Non-persistent HTTP issues: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requires 2 RTTs per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 overhead for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TCP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browsers often open multiple parallel TCP connections to fetch referenced objects in parallel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2301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Persistent  HTTP </a:t>
            </a: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(HTTP1.1):</a:t>
            </a:r>
            <a:endParaRPr b="0" i="1" sz="32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leaves connection open after sending response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messages  between same client/server sent over open connection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sends requests as soon as it encounters a referenced object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7487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little as one RTT for all the referenced objects (cutting response time in half)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Pipelining</a:t>
            </a:r>
            <a:endParaRPr/>
          </a:p>
        </p:txBody>
      </p:sp>
      <p:sp>
        <p:nvSpPr>
          <p:cNvPr id="418" name="Google Shape;418;p1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Issue multiple requests at a time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Don’t have to wait for previous response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More efficient use of link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Use carefully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POST requests should not be pipelined (changes server state)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GET/HEAD requests are usually okay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"/>
          <p:cNvSpPr txBox="1"/>
          <p:nvPr>
            <p:ph type="title"/>
          </p:nvPr>
        </p:nvSpPr>
        <p:spPr>
          <a:xfrm>
            <a:off x="1003169" y="112894"/>
            <a:ext cx="7772400" cy="1122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Persistent HTTP</a:t>
            </a:r>
            <a:endParaRPr/>
          </a:p>
        </p:txBody>
      </p:sp>
      <p:sp>
        <p:nvSpPr>
          <p:cNvPr id="425" name="Google Shape;425;p20"/>
          <p:cNvSpPr txBox="1"/>
          <p:nvPr>
            <p:ph idx="1" type="body"/>
          </p:nvPr>
        </p:nvSpPr>
        <p:spPr>
          <a:xfrm>
            <a:off x="1003169" y="1234030"/>
            <a:ext cx="3933825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 u="sng"/>
              <a:t>Non-persistent HTTP issues:</a:t>
            </a:r>
            <a:endParaRPr sz="24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Connection setup for each request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But browsers often open parallel connections</a:t>
            </a:r>
            <a:endParaRPr/>
          </a:p>
          <a:p>
            <a:pPr indent="-1079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 u="sng"/>
              <a:t>Persistent HTTP:</a:t>
            </a:r>
            <a:endParaRPr sz="24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Server leaves connection open after sending response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Subsequent HTTP messages  between same client/server are sent over connection</a:t>
            </a:r>
            <a:endParaRPr/>
          </a:p>
          <a:p>
            <a:pPr indent="-95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426" name="Google Shape;426;p20"/>
          <p:cNvSpPr txBox="1"/>
          <p:nvPr>
            <p:ph idx="2" type="body"/>
          </p:nvPr>
        </p:nvSpPr>
        <p:spPr>
          <a:xfrm>
            <a:off x="5352953" y="1234030"/>
            <a:ext cx="4181475" cy="5605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 u="sng"/>
              <a:t>Persistent without pipelining: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Client issues new request only when previous response has been received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One RTT for each object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libri"/>
              <a:buNone/>
            </a:pPr>
            <a:r>
              <a:rPr lang="en-US" sz="2400" u="sng"/>
              <a:t>Persistent with pipelining: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Default in HTTP/1.1 spec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Client sends multiple requests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As little as one RTT for all the referenced objects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Server must handle responses in same order as requests</a:t>
            </a:r>
            <a:endParaRPr/>
          </a:p>
          <a:p>
            <a:pPr indent="-95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"/>
          <p:cNvSpPr txBox="1"/>
          <p:nvPr>
            <p:ph type="title"/>
          </p:nvPr>
        </p:nvSpPr>
        <p:spPr>
          <a:xfrm>
            <a:off x="914400" y="4061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200"/>
              <a:t>“Persistent without pipelining” most common</a:t>
            </a:r>
            <a:endParaRPr sz="4200"/>
          </a:p>
        </p:txBody>
      </p:sp>
      <p:sp>
        <p:nvSpPr>
          <p:cNvPr id="433" name="Google Shape;433;p21"/>
          <p:cNvSpPr txBox="1"/>
          <p:nvPr>
            <p:ph idx="1" type="body"/>
          </p:nvPr>
        </p:nvSpPr>
        <p:spPr>
          <a:xfrm>
            <a:off x="991386" y="1872006"/>
            <a:ext cx="85344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225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When does pipelining work best?</a:t>
            </a:r>
            <a:endParaRPr/>
          </a:p>
          <a:p>
            <a:pPr indent="-231775" lvl="1" marL="695325" rtl="0" algn="l">
              <a:lnSpc>
                <a:spcPct val="119291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Small objects, equal time to serve each object</a:t>
            </a:r>
            <a:endParaRPr/>
          </a:p>
          <a:p>
            <a:pPr indent="-231775" lvl="1" marL="695325" rtl="0" algn="l">
              <a:lnSpc>
                <a:spcPct val="119291"/>
              </a:lnSpc>
              <a:spcBef>
                <a:spcPts val="11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Small because pipelining simply removes additional RTT delay to request new content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protocol – message format</a:t>
            </a:r>
            <a:endParaRPr/>
          </a:p>
        </p:txBody>
      </p:sp>
      <p:sp>
        <p:nvSpPr>
          <p:cNvPr id="440" name="Google Shape;440;p22"/>
          <p:cNvSpPr txBox="1"/>
          <p:nvPr>
            <p:ph idx="1" type="body"/>
          </p:nvPr>
        </p:nvSpPr>
        <p:spPr>
          <a:xfrm>
            <a:off x="1728788" y="1371601"/>
            <a:ext cx="857885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two types of messages: </a:t>
            </a:r>
            <a:r>
              <a:rPr lang="en-US" u="sng">
                <a:solidFill>
                  <a:srgbClr val="3333CC"/>
                </a:solidFill>
              </a:rPr>
              <a:t>request</a:t>
            </a:r>
            <a:r>
              <a:rPr lang="en-US"/>
              <a:t> &amp; </a:t>
            </a:r>
            <a:r>
              <a:rPr i="1" lang="en-US" u="sng">
                <a:solidFill>
                  <a:srgbClr val="3333CC"/>
                </a:solidFill>
              </a:rPr>
              <a:t>response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ASCII (human-readable format)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441" name="Google Shape;4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4437" y="2494129"/>
            <a:ext cx="6240605" cy="4000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protocol – message format</a:t>
            </a:r>
            <a:endParaRPr/>
          </a:p>
        </p:txBody>
      </p:sp>
      <p:sp>
        <p:nvSpPr>
          <p:cNvPr id="448" name="Google Shape;448;p23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HTTP request message</a:t>
            </a:r>
            <a:endParaRPr/>
          </a:p>
        </p:txBody>
      </p:sp>
      <p:pic>
        <p:nvPicPr>
          <p:cNvPr id="449" name="Google Shape;4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1" y="2743201"/>
            <a:ext cx="2982913" cy="30845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p23"/>
          <p:cNvGrpSpPr/>
          <p:nvPr/>
        </p:nvGrpSpPr>
        <p:grpSpPr>
          <a:xfrm>
            <a:off x="5029200" y="2209800"/>
            <a:ext cx="5099050" cy="1295400"/>
            <a:chOff x="2208" y="1392"/>
            <a:chExt cx="3212" cy="816"/>
          </a:xfrm>
        </p:grpSpPr>
        <p:pic>
          <p:nvPicPr>
            <p:cNvPr id="451" name="Google Shape;45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36" y="1392"/>
              <a:ext cx="2684" cy="6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52" name="Google Shape;452;p23"/>
            <p:cNvCxnSpPr/>
            <p:nvPr/>
          </p:nvCxnSpPr>
          <p:spPr>
            <a:xfrm flipH="1" rot="10800000">
              <a:off x="2208" y="1536"/>
              <a:ext cx="576" cy="2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3"/>
            <p:cNvCxnSpPr/>
            <p:nvPr/>
          </p:nvCxnSpPr>
          <p:spPr>
            <a:xfrm>
              <a:off x="2208" y="2016"/>
              <a:ext cx="624" cy="1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54" name="Google Shape;454;p23"/>
          <p:cNvGrpSpPr/>
          <p:nvPr/>
        </p:nvGrpSpPr>
        <p:grpSpPr>
          <a:xfrm>
            <a:off x="6019800" y="3200400"/>
            <a:ext cx="4343400" cy="1341438"/>
            <a:chOff x="2832" y="2016"/>
            <a:chExt cx="2736" cy="845"/>
          </a:xfrm>
        </p:grpSpPr>
        <p:pic>
          <p:nvPicPr>
            <p:cNvPr id="455" name="Google Shape;455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2352"/>
              <a:ext cx="2545" cy="50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56" name="Google Shape;456;p23"/>
            <p:cNvCxnSpPr/>
            <p:nvPr/>
          </p:nvCxnSpPr>
          <p:spPr>
            <a:xfrm flipH="1">
              <a:off x="2832" y="2016"/>
              <a:ext cx="864" cy="52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7" name="Google Shape;457;p23"/>
            <p:cNvCxnSpPr/>
            <p:nvPr/>
          </p:nvCxnSpPr>
          <p:spPr>
            <a:xfrm>
              <a:off x="4464" y="2016"/>
              <a:ext cx="1104" cy="57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8" name="Google Shape;458;p23"/>
          <p:cNvSpPr txBox="1"/>
          <p:nvPr/>
        </p:nvSpPr>
        <p:spPr>
          <a:xfrm>
            <a:off x="9144000" y="1981200"/>
            <a:ext cx="114300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0.9 HTTP 1.0 HTTP 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3"/>
          <p:cNvSpPr txBox="1"/>
          <p:nvPr/>
        </p:nvSpPr>
        <p:spPr>
          <a:xfrm>
            <a:off x="5638800" y="4876800"/>
            <a:ext cx="4419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0" lvl="0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when the client wants to retrieve a document              from the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3"/>
          <p:cNvSpPr txBox="1"/>
          <p:nvPr/>
        </p:nvSpPr>
        <p:spPr>
          <a:xfrm>
            <a:off x="5562600" y="5334000"/>
            <a:ext cx="4419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286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when the client wants some info about a  document but not document itself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3"/>
          <p:cNvSpPr txBox="1"/>
          <p:nvPr/>
        </p:nvSpPr>
        <p:spPr>
          <a:xfrm>
            <a:off x="5638800" y="57912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28650" lvl="0" marL="628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copies the file to another location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23"/>
          <p:cNvCxnSpPr/>
          <p:nvPr/>
        </p:nvCxnSpPr>
        <p:spPr>
          <a:xfrm>
            <a:off x="5943600" y="3352800"/>
            <a:ext cx="0" cy="144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4"/>
          <p:cNvSpPr txBox="1"/>
          <p:nvPr>
            <p:ph idx="1" type="body"/>
          </p:nvPr>
        </p:nvSpPr>
        <p:spPr>
          <a:xfrm>
            <a:off x="2057400" y="1611313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>
                <a:solidFill>
                  <a:srgbClr val="CC0000"/>
                </a:solidFill>
              </a:rPr>
              <a:t>HTTP/1.0: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POST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HEAD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asks server to leave requested object out of response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i.e. request info about a doc</a:t>
            </a:r>
            <a:endParaRPr/>
          </a:p>
        </p:txBody>
      </p:sp>
      <p:sp>
        <p:nvSpPr>
          <p:cNvPr id="469" name="Google Shape;469;p24"/>
          <p:cNvSpPr txBox="1"/>
          <p:nvPr>
            <p:ph idx="2" type="body"/>
          </p:nvPr>
        </p:nvSpPr>
        <p:spPr>
          <a:xfrm>
            <a:off x="6019800" y="1611313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>
                <a:solidFill>
                  <a:srgbClr val="CC0000"/>
                </a:solidFill>
              </a:rPr>
              <a:t>HTTP/1.1: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GET, POST, HEAD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PUT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uploads file in entity body to path specified in URL field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DELETE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deletes file specified in the URL field</a:t>
            </a:r>
            <a:endParaRPr/>
          </a:p>
        </p:txBody>
      </p:sp>
      <p:sp>
        <p:nvSpPr>
          <p:cNvPr id="470" name="Google Shape;470;p2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Method Types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protocol – message format</a:t>
            </a:r>
            <a:endParaRPr/>
          </a:p>
        </p:txBody>
      </p:sp>
      <p:sp>
        <p:nvSpPr>
          <p:cNvPr id="477" name="Google Shape;477;p2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HTTP response message</a:t>
            </a:r>
            <a:endParaRPr/>
          </a:p>
        </p:txBody>
      </p:sp>
      <p:pic>
        <p:nvPicPr>
          <p:cNvPr id="478" name="Google Shape;4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1" y="2433854"/>
            <a:ext cx="3211513" cy="3305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9" name="Google Shape;479;p25"/>
          <p:cNvGrpSpPr/>
          <p:nvPr/>
        </p:nvGrpSpPr>
        <p:grpSpPr>
          <a:xfrm>
            <a:off x="5334000" y="2129053"/>
            <a:ext cx="4718050" cy="1295400"/>
            <a:chOff x="2400" y="1152"/>
            <a:chExt cx="2972" cy="816"/>
          </a:xfrm>
        </p:grpSpPr>
        <p:pic>
          <p:nvPicPr>
            <p:cNvPr id="480" name="Google Shape;480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80" y="1200"/>
              <a:ext cx="2492" cy="54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81" name="Google Shape;481;p25"/>
            <p:cNvCxnSpPr/>
            <p:nvPr/>
          </p:nvCxnSpPr>
          <p:spPr>
            <a:xfrm flipH="1" rot="10800000">
              <a:off x="2400" y="1152"/>
              <a:ext cx="720" cy="2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2" name="Google Shape;482;p25"/>
            <p:cNvCxnSpPr/>
            <p:nvPr/>
          </p:nvCxnSpPr>
          <p:spPr>
            <a:xfrm>
              <a:off x="2400" y="1632"/>
              <a:ext cx="816" cy="3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3" name="Google Shape;483;p25"/>
          <p:cNvSpPr/>
          <p:nvPr/>
        </p:nvSpPr>
        <p:spPr>
          <a:xfrm>
            <a:off x="5746585" y="1709159"/>
            <a:ext cx="429354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http://www.w3.org/Protocols/HTTP/HTRESP.html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25"/>
          <p:cNvCxnSpPr/>
          <p:nvPr/>
        </p:nvCxnSpPr>
        <p:spPr>
          <a:xfrm flipH="1">
            <a:off x="6096000" y="3119653"/>
            <a:ext cx="1752600" cy="148272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5" name="Google Shape;485;p25"/>
          <p:cNvCxnSpPr/>
          <p:nvPr/>
        </p:nvCxnSpPr>
        <p:spPr>
          <a:xfrm>
            <a:off x="9296400" y="3195853"/>
            <a:ext cx="0" cy="60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6" name="Google Shape;486;p25"/>
          <p:cNvSpPr/>
          <p:nvPr/>
        </p:nvSpPr>
        <p:spPr>
          <a:xfrm>
            <a:off x="8304213" y="3881654"/>
            <a:ext cx="217687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explains the status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text 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5"/>
          <p:cNvSpPr txBox="1"/>
          <p:nvPr/>
        </p:nvSpPr>
        <p:spPr>
          <a:xfrm>
            <a:off x="5867400" y="4572001"/>
            <a:ext cx="4572000" cy="160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200 OK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request succeeded </a:t>
            </a:r>
            <a:endParaRPr b="0" i="0" sz="1800" u="none" cap="none" strike="noStrike">
              <a:solidFill>
                <a:srgbClr val="3333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301 Moved Permanently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 object moved</a:t>
            </a:r>
            <a:endParaRPr b="0" i="0" sz="1800" u="none" cap="none" strike="noStrike">
              <a:solidFill>
                <a:srgbClr val="3333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400 Bad Request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understood by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404 Not Found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req. document not found</a:t>
            </a:r>
            <a:endParaRPr b="0" i="0" sz="1600" u="none" cap="none" strike="noStrike">
              <a:solidFill>
                <a:srgbClr val="3333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8" name="Google Shape;488;p25"/>
          <p:cNvCxnSpPr/>
          <p:nvPr/>
        </p:nvCxnSpPr>
        <p:spPr>
          <a:xfrm flipH="1">
            <a:off x="6715126" y="4415054"/>
            <a:ext cx="1971674" cy="187325"/>
          </a:xfrm>
          <a:prstGeom prst="straightConnector1">
            <a:avLst/>
          </a:prstGeom>
          <a:noFill/>
          <a:ln cap="flat" cmpd="sng" w="12700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9" name="Google Shape;489;p25"/>
          <p:cNvCxnSpPr/>
          <p:nvPr/>
        </p:nvCxnSpPr>
        <p:spPr>
          <a:xfrm flipH="1">
            <a:off x="7146878" y="4415054"/>
            <a:ext cx="1539922" cy="620971"/>
          </a:xfrm>
          <a:prstGeom prst="straightConnector1">
            <a:avLst/>
          </a:prstGeom>
          <a:noFill/>
          <a:ln cap="flat" cmpd="sng" w="12700">
            <a:solidFill>
              <a:srgbClr val="FF33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HTTP messages – an example</a:t>
            </a:r>
            <a:endParaRPr/>
          </a:p>
        </p:txBody>
      </p:sp>
      <p:pic>
        <p:nvPicPr>
          <p:cNvPr id="496" name="Google Shape;4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0951" y="1295401"/>
            <a:ext cx="5070475" cy="302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1143000"/>
            <a:ext cx="2889250" cy="700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0" y="2971801"/>
            <a:ext cx="226695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6"/>
          <p:cNvSpPr/>
          <p:nvPr/>
        </p:nvSpPr>
        <p:spPr>
          <a:xfrm>
            <a:off x="1728788" y="4419600"/>
            <a:ext cx="8796336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example retrieves a document.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use the GET method to retrieve an image with the path/usr/bin/image1.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request line shows the method (GET), the URL, and the HTTP version (1.1).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header has two lines that show that the client can accept images in GIF and JPEG format.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7"/>
          <p:cNvSpPr txBox="1"/>
          <p:nvPr>
            <p:ph type="title"/>
          </p:nvPr>
        </p:nvSpPr>
        <p:spPr>
          <a:xfrm>
            <a:off x="2001838" y="147639"/>
            <a:ext cx="7772400" cy="979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</a:pPr>
            <a:r>
              <a:rPr lang="en-US" sz="4000"/>
              <a:t>HTTP response status codes</a:t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2012951" y="1190625"/>
            <a:ext cx="8112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status code appears in 1st line in server-to-client response message.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sample codes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" name="Google Shape;507;p27"/>
          <p:cNvGrpSpPr/>
          <p:nvPr/>
        </p:nvGrpSpPr>
        <p:grpSpPr>
          <a:xfrm>
            <a:off x="2220914" y="2622550"/>
            <a:ext cx="7891462" cy="3629025"/>
            <a:chOff x="439" y="1652"/>
            <a:chExt cx="4971" cy="2286"/>
          </a:xfrm>
        </p:grpSpPr>
        <p:sp>
          <p:nvSpPr>
            <p:cNvPr id="508" name="Google Shape;508;p27"/>
            <p:cNvSpPr/>
            <p:nvPr/>
          </p:nvSpPr>
          <p:spPr>
            <a:xfrm>
              <a:off x="439" y="1652"/>
              <a:ext cx="4969" cy="2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9" name="Google Shape;50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9" y="1652"/>
              <a:ext cx="4971" cy="22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8"/>
          <p:cNvSpPr txBox="1"/>
          <p:nvPr/>
        </p:nvSpPr>
        <p:spPr>
          <a:xfrm>
            <a:off x="2001838" y="147639"/>
            <a:ext cx="7772400" cy="979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HTTP response status codes</a:t>
            </a:r>
            <a:endParaRPr b="0" i="0" sz="4400" u="none" cap="none" strike="noStrike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16" name="Google Shape;516;p28"/>
          <p:cNvGrpSpPr/>
          <p:nvPr/>
        </p:nvGrpSpPr>
        <p:grpSpPr>
          <a:xfrm>
            <a:off x="2465388" y="1127126"/>
            <a:ext cx="7132637" cy="5208588"/>
            <a:chOff x="593" y="710"/>
            <a:chExt cx="4493" cy="3281"/>
          </a:xfrm>
        </p:grpSpPr>
        <p:sp>
          <p:nvSpPr>
            <p:cNvPr id="517" name="Google Shape;517;p28"/>
            <p:cNvSpPr/>
            <p:nvPr/>
          </p:nvSpPr>
          <p:spPr>
            <a:xfrm>
              <a:off x="593" y="710"/>
              <a:ext cx="4491" cy="3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8" name="Google Shape;518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3" y="710"/>
              <a:ext cx="4493" cy="328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 txBox="1"/>
          <p:nvPr>
            <p:ph type="title"/>
          </p:nvPr>
        </p:nvSpPr>
        <p:spPr>
          <a:xfrm>
            <a:off x="798691" y="43000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Other HTTP request </a:t>
            </a:r>
            <a:r>
              <a:rPr lang="en-US"/>
              <a:t>m</a:t>
            </a:r>
            <a:r>
              <a:rPr lang="en-US" sz="4400"/>
              <a:t>essages</a:t>
            </a:r>
            <a:endParaRPr sz="4400"/>
          </a:p>
        </p:txBody>
      </p:sp>
      <p:sp>
        <p:nvSpPr>
          <p:cNvPr id="525" name="Google Shape;525;p29"/>
          <p:cNvSpPr txBox="1"/>
          <p:nvPr/>
        </p:nvSpPr>
        <p:spPr>
          <a:xfrm>
            <a:off x="685573" y="1727394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POST method: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often includes form 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input sent from client to server in entity body of HTTP POST request 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9"/>
          <p:cNvSpPr txBox="1"/>
          <p:nvPr/>
        </p:nvSpPr>
        <p:spPr>
          <a:xfrm>
            <a:off x="685573" y="4466964"/>
            <a:ext cx="5541055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GET method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sending data to server):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include user data in URL field of HTTP GET request message (following a ‘?’):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9"/>
          <p:cNvSpPr txBox="1"/>
          <p:nvPr/>
        </p:nvSpPr>
        <p:spPr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www.somesite.com/animalsearch?monkeys&amp;banana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9"/>
          <p:cNvSpPr txBox="1"/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HEAD method: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requests headers (only) that would be returned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specified URL were requested  with an HTTP GET method.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9"/>
          <p:cNvSpPr txBox="1"/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4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PUT method: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uploads new file (object) to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completely replaces file that exists at specified URL with content in entity body of POST HTTP request 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Trying out HTTP (client side) for yourself</a:t>
            </a:r>
            <a:endParaRPr sz="4400"/>
          </a:p>
        </p:txBody>
      </p:sp>
      <p:sp>
        <p:nvSpPr>
          <p:cNvPr id="536" name="Google Shape;536;p30"/>
          <p:cNvSpPr txBox="1"/>
          <p:nvPr/>
        </p:nvSpPr>
        <p:spPr>
          <a:xfrm>
            <a:off x="579438" y="1474924"/>
            <a:ext cx="80962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netcat to your favorite Web server: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6101461" y="1932221"/>
            <a:ext cx="5852372" cy="1400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8125" lvl="0" marL="238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opens TCP connection to port 80 (default HTTP server port)  at gaia.cs.umass.edu.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8125" lvl="0" marL="2381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anything typed in will be sent  to port 80 at gaia.cs.umass.edu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8" name="Google Shape;538;p30"/>
          <p:cNvGrpSpPr/>
          <p:nvPr/>
        </p:nvGrpSpPr>
        <p:grpSpPr>
          <a:xfrm>
            <a:off x="711200" y="5286696"/>
            <a:ext cx="8289126" cy="996484"/>
            <a:chOff x="711200" y="5286696"/>
            <a:chExt cx="8289126" cy="996484"/>
          </a:xfrm>
        </p:grpSpPr>
        <p:sp>
          <p:nvSpPr>
            <p:cNvPr id="539" name="Google Shape;539;p30"/>
            <p:cNvSpPr/>
            <p:nvPr/>
          </p:nvSpPr>
          <p:spPr>
            <a:xfrm>
              <a:off x="711200" y="5286696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3. look at response message sent by HTTP server!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30"/>
            <p:cNvSpPr txBox="1"/>
            <p:nvPr/>
          </p:nvSpPr>
          <p:spPr>
            <a:xfrm>
              <a:off x="1066295" y="5821515"/>
              <a:ext cx="793403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(or use Wireshark to look at captured HTTP request/response)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1" name="Google Shape;541;p30"/>
          <p:cNvGrpSpPr/>
          <p:nvPr/>
        </p:nvGrpSpPr>
        <p:grpSpPr>
          <a:xfrm>
            <a:off x="727530" y="3145663"/>
            <a:ext cx="10979788" cy="2045073"/>
            <a:chOff x="727530" y="3145663"/>
            <a:chExt cx="10979788" cy="2045073"/>
          </a:xfrm>
        </p:grpSpPr>
        <p:sp>
          <p:nvSpPr>
            <p:cNvPr id="542" name="Google Shape;542;p30"/>
            <p:cNvSpPr/>
            <p:nvPr/>
          </p:nvSpPr>
          <p:spPr>
            <a:xfrm>
              <a:off x="727530" y="3145663"/>
              <a:ext cx="8096250" cy="466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2. type in a GET HTTP request: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2" marL="11430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43" name="Google Shape;543;p30"/>
            <p:cNvSpPr txBox="1"/>
            <p:nvPr/>
          </p:nvSpPr>
          <p:spPr>
            <a:xfrm>
              <a:off x="1258273" y="3748006"/>
              <a:ext cx="741741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/kurose_ross/interactive/index.php HTTP/1.1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ourier New"/>
                <a:buNone/>
              </a:pPr>
              <a:r>
                <a:rPr b="1" i="0" lang="en-US" sz="2000" u="none" cap="none" strike="noStrike">
                  <a:solidFill>
                    <a:srgbClr val="CC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Host: gaia.cs.umass.edu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0"/>
            <p:cNvSpPr txBox="1"/>
            <p:nvPr/>
          </p:nvSpPr>
          <p:spPr>
            <a:xfrm>
              <a:off x="6163577" y="4175073"/>
              <a:ext cx="554374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8125" lvl="0" marL="23812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Noto Sans Symbols"/>
                <a:buChar char="▪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by typing this in (hit carriage return twice), you send this minimal (but complete)  GET request to HTTP server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5" name="Google Shape;545;p30"/>
          <p:cNvSpPr txBox="1"/>
          <p:nvPr/>
        </p:nvSpPr>
        <p:spPr>
          <a:xfrm>
            <a:off x="1258273" y="2039943"/>
            <a:ext cx="488762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nc -c -v gaia.cs.umass.edu 80 (for Mac)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&gt;ncat –C gaia.cs.umass.edu 80 (for Windows)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1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552" name="Google Shape;552;p31"/>
          <p:cNvSpPr txBox="1"/>
          <p:nvPr/>
        </p:nvSpPr>
        <p:spPr>
          <a:xfrm>
            <a:off x="751523" y="1368109"/>
            <a:ext cx="5877880" cy="4836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Recall:  HTTP GET/response interaction is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stateless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notion of multi-step exchanges of HTTP messages to complete a Web “transaction”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track “state” of multi-step exchange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HTTP requests are independent of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for client/server to “recover” from a partially-completed-but-never-completely-completed transaction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1"/>
          <p:cNvSpPr txBox="1"/>
          <p:nvPr/>
        </p:nvSpPr>
        <p:spPr>
          <a:xfrm>
            <a:off x="7777183" y="1266045"/>
            <a:ext cx="33473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 stateful protocol: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makes two changes to X, or none at all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31"/>
          <p:cNvCxnSpPr/>
          <p:nvPr/>
        </p:nvCxnSpPr>
        <p:spPr>
          <a:xfrm>
            <a:off x="8211743" y="2818375"/>
            <a:ext cx="0" cy="2832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555" name="Google Shape;555;p31"/>
          <p:cNvCxnSpPr/>
          <p:nvPr/>
        </p:nvCxnSpPr>
        <p:spPr>
          <a:xfrm>
            <a:off x="9902430" y="2812025"/>
            <a:ext cx="0" cy="2881312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556" name="Google Shape;556;p31"/>
          <p:cNvSpPr txBox="1"/>
          <p:nvPr/>
        </p:nvSpPr>
        <p:spPr>
          <a:xfrm>
            <a:off x="7986318" y="5664762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1"/>
          <p:cNvSpPr txBox="1"/>
          <p:nvPr/>
        </p:nvSpPr>
        <p:spPr>
          <a:xfrm>
            <a:off x="9664305" y="5647300"/>
            <a:ext cx="51969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" name="Google Shape;558;p31"/>
          <p:cNvGrpSpPr/>
          <p:nvPr/>
        </p:nvGrpSpPr>
        <p:grpSpPr>
          <a:xfrm>
            <a:off x="9702405" y="2045262"/>
            <a:ext cx="423863" cy="684213"/>
            <a:chOff x="4140" y="429"/>
            <a:chExt cx="1425" cy="2396"/>
          </a:xfrm>
        </p:grpSpPr>
        <p:sp>
          <p:nvSpPr>
            <p:cNvPr id="559" name="Google Shape;559;p3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4" name="Google Shape;564;p31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565" name="Google Shape;565;p31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31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7" name="Google Shape;567;p31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8" name="Google Shape;568;p31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569" name="Google Shape;569;p31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31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1" name="Google Shape;571;p31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3" name="Google Shape;573;p31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574" name="Google Shape;574;p31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31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6" name="Google Shape;576;p3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77" name="Google Shape;577;p31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578" name="Google Shape;578;p31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31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0" name="Google Shape;580;p31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1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1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1" name="Google Shape;591;p31"/>
          <p:cNvGrpSpPr/>
          <p:nvPr/>
        </p:nvGrpSpPr>
        <p:grpSpPr>
          <a:xfrm>
            <a:off x="7700568" y="2067487"/>
            <a:ext cx="698500" cy="709613"/>
            <a:chOff x="-44" y="1473"/>
            <a:chExt cx="981" cy="1105"/>
          </a:xfrm>
        </p:grpSpPr>
        <p:pic>
          <p:nvPicPr>
            <p:cNvPr descr="desktop_computer_stylized_medium" id="592" name="Google Shape;592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3" name="Google Shape;593;p3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4" name="Google Shape;594;p31"/>
          <p:cNvGrpSpPr/>
          <p:nvPr/>
        </p:nvGrpSpPr>
        <p:grpSpPr>
          <a:xfrm>
            <a:off x="8211743" y="3940852"/>
            <a:ext cx="1673225" cy="370769"/>
            <a:chOff x="8211743" y="3940852"/>
            <a:chExt cx="1673225" cy="370769"/>
          </a:xfrm>
        </p:grpSpPr>
        <p:cxnSp>
          <p:nvCxnSpPr>
            <p:cNvPr id="595" name="Google Shape;595;p31"/>
            <p:cNvCxnSpPr/>
            <p:nvPr/>
          </p:nvCxnSpPr>
          <p:spPr>
            <a:xfrm flipH="1">
              <a:off x="8211743" y="3942941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96" name="Google Shape;596;p31"/>
            <p:cNvSpPr txBox="1"/>
            <p:nvPr/>
          </p:nvSpPr>
          <p:spPr>
            <a:xfrm rot="-493963">
              <a:off x="9382305" y="3972348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7" name="Google Shape;597;p31"/>
          <p:cNvGrpSpPr/>
          <p:nvPr/>
        </p:nvGrpSpPr>
        <p:grpSpPr>
          <a:xfrm>
            <a:off x="8220565" y="4622751"/>
            <a:ext cx="1673225" cy="370769"/>
            <a:chOff x="8220565" y="4622751"/>
            <a:chExt cx="1673225" cy="370769"/>
          </a:xfrm>
        </p:grpSpPr>
        <p:cxnSp>
          <p:nvCxnSpPr>
            <p:cNvPr id="598" name="Google Shape;598;p31"/>
            <p:cNvCxnSpPr/>
            <p:nvPr/>
          </p:nvCxnSpPr>
          <p:spPr>
            <a:xfrm flipH="1">
              <a:off x="8220565" y="465532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99" name="Google Shape;599;p31"/>
            <p:cNvSpPr txBox="1"/>
            <p:nvPr/>
          </p:nvSpPr>
          <p:spPr>
            <a:xfrm rot="-493963">
              <a:off x="9360647" y="465424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0" name="Google Shape;600;p31"/>
          <p:cNvGrpSpPr/>
          <p:nvPr/>
        </p:nvGrpSpPr>
        <p:grpSpPr>
          <a:xfrm>
            <a:off x="8226030" y="4807288"/>
            <a:ext cx="1684338" cy="455443"/>
            <a:chOff x="8226030" y="4807288"/>
            <a:chExt cx="1684338" cy="455443"/>
          </a:xfrm>
        </p:grpSpPr>
        <p:cxnSp>
          <p:nvCxnSpPr>
            <p:cNvPr id="601" name="Google Shape;601;p31"/>
            <p:cNvCxnSpPr/>
            <p:nvPr/>
          </p:nvCxnSpPr>
          <p:spPr>
            <a:xfrm>
              <a:off x="8226030" y="499071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02" name="Google Shape;602;p31"/>
            <p:cNvSpPr txBox="1"/>
            <p:nvPr/>
          </p:nvSpPr>
          <p:spPr>
            <a:xfrm rot="460210">
              <a:off x="8601378" y="4881121"/>
              <a:ext cx="11269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unlock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3" name="Google Shape;603;p31"/>
          <p:cNvGrpSpPr/>
          <p:nvPr/>
        </p:nvGrpSpPr>
        <p:grpSpPr>
          <a:xfrm>
            <a:off x="8211743" y="5251311"/>
            <a:ext cx="1673225" cy="370769"/>
            <a:chOff x="8211743" y="5251311"/>
            <a:chExt cx="1673225" cy="370769"/>
          </a:xfrm>
        </p:grpSpPr>
        <p:cxnSp>
          <p:nvCxnSpPr>
            <p:cNvPr id="604" name="Google Shape;604;p31"/>
            <p:cNvCxnSpPr/>
            <p:nvPr/>
          </p:nvCxnSpPr>
          <p:spPr>
            <a:xfrm flipH="1">
              <a:off x="8211743" y="525390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05" name="Google Shape;605;p31"/>
            <p:cNvSpPr txBox="1"/>
            <p:nvPr/>
          </p:nvSpPr>
          <p:spPr>
            <a:xfrm rot="-493963">
              <a:off x="9373746" y="5282807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6" name="Google Shape;606;p31"/>
          <p:cNvGrpSpPr/>
          <p:nvPr/>
        </p:nvGrpSpPr>
        <p:grpSpPr>
          <a:xfrm>
            <a:off x="8226030" y="3488161"/>
            <a:ext cx="1710811" cy="482930"/>
            <a:chOff x="8226030" y="3488161"/>
            <a:chExt cx="1710811" cy="482930"/>
          </a:xfrm>
        </p:grpSpPr>
        <p:cxnSp>
          <p:nvCxnSpPr>
            <p:cNvPr id="607" name="Google Shape;607;p31"/>
            <p:cNvCxnSpPr/>
            <p:nvPr/>
          </p:nvCxnSpPr>
          <p:spPr>
            <a:xfrm>
              <a:off x="8226030" y="3679752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08" name="Google Shape;608;p31"/>
            <p:cNvSpPr txBox="1"/>
            <p:nvPr/>
          </p:nvSpPr>
          <p:spPr>
            <a:xfrm rot="460210">
              <a:off x="8589335" y="3575737"/>
              <a:ext cx="133292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9" name="Google Shape;609;p31"/>
            <p:cNvCxnSpPr/>
            <p:nvPr/>
          </p:nvCxnSpPr>
          <p:spPr>
            <a:xfrm rot="10800000">
              <a:off x="9331367" y="3750644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10" name="Google Shape;610;p31"/>
          <p:cNvGrpSpPr/>
          <p:nvPr/>
        </p:nvGrpSpPr>
        <p:grpSpPr>
          <a:xfrm>
            <a:off x="8234852" y="4177252"/>
            <a:ext cx="1684338" cy="472801"/>
            <a:chOff x="8234852" y="4177252"/>
            <a:chExt cx="1684338" cy="472801"/>
          </a:xfrm>
        </p:grpSpPr>
        <p:cxnSp>
          <p:nvCxnSpPr>
            <p:cNvPr id="611" name="Google Shape;611;p31"/>
            <p:cNvCxnSpPr/>
            <p:nvPr/>
          </p:nvCxnSpPr>
          <p:spPr>
            <a:xfrm>
              <a:off x="8234852" y="439213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12" name="Google Shape;612;p31"/>
            <p:cNvSpPr txBox="1"/>
            <p:nvPr/>
          </p:nvSpPr>
          <p:spPr>
            <a:xfrm rot="460210">
              <a:off x="8600615" y="4259764"/>
              <a:ext cx="12570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update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      X’’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3" name="Google Shape;613;p31"/>
            <p:cNvCxnSpPr/>
            <p:nvPr/>
          </p:nvCxnSpPr>
          <p:spPr>
            <a:xfrm rot="10800000">
              <a:off x="9339955" y="4436145"/>
              <a:ext cx="221806" cy="2811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14" name="Google Shape;614;p31"/>
          <p:cNvGrpSpPr/>
          <p:nvPr/>
        </p:nvGrpSpPr>
        <p:grpSpPr>
          <a:xfrm>
            <a:off x="8226030" y="2717763"/>
            <a:ext cx="1684338" cy="513330"/>
            <a:chOff x="8226030" y="2717763"/>
            <a:chExt cx="1684338" cy="513330"/>
          </a:xfrm>
        </p:grpSpPr>
        <p:sp>
          <p:nvSpPr>
            <p:cNvPr id="615" name="Google Shape;615;p31"/>
            <p:cNvSpPr txBox="1"/>
            <p:nvPr/>
          </p:nvSpPr>
          <p:spPr>
            <a:xfrm rot="460210">
              <a:off x="8283881" y="2820539"/>
              <a:ext cx="156069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lock data record </a:t>
              </a: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6" name="Google Shape;616;p31"/>
            <p:cNvCxnSpPr/>
            <p:nvPr/>
          </p:nvCxnSpPr>
          <p:spPr>
            <a:xfrm>
              <a:off x="8226030" y="2948551"/>
              <a:ext cx="1684338" cy="2345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17" name="Google Shape;617;p31"/>
          <p:cNvGrpSpPr/>
          <p:nvPr/>
        </p:nvGrpSpPr>
        <p:grpSpPr>
          <a:xfrm>
            <a:off x="8211743" y="3198739"/>
            <a:ext cx="1673225" cy="370769"/>
            <a:chOff x="8211743" y="3198739"/>
            <a:chExt cx="1673225" cy="370769"/>
          </a:xfrm>
        </p:grpSpPr>
        <p:cxnSp>
          <p:nvCxnSpPr>
            <p:cNvPr id="618" name="Google Shape;618;p31"/>
            <p:cNvCxnSpPr/>
            <p:nvPr/>
          </p:nvCxnSpPr>
          <p:spPr>
            <a:xfrm flipH="1">
              <a:off x="8211743" y="3211740"/>
              <a:ext cx="1673225" cy="2422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19" name="Google Shape;619;p31"/>
            <p:cNvSpPr txBox="1"/>
            <p:nvPr/>
          </p:nvSpPr>
          <p:spPr>
            <a:xfrm rot="-493963">
              <a:off x="9368027" y="3230235"/>
              <a:ext cx="4620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="0" i="1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31"/>
          <p:cNvGrpSpPr/>
          <p:nvPr/>
        </p:nvGrpSpPr>
        <p:grpSpPr>
          <a:xfrm>
            <a:off x="10136156" y="2957082"/>
            <a:ext cx="522425" cy="400110"/>
            <a:chOff x="10136156" y="2957082"/>
            <a:chExt cx="522425" cy="400110"/>
          </a:xfrm>
        </p:grpSpPr>
        <p:sp>
          <p:nvSpPr>
            <p:cNvPr id="621" name="Google Shape;621;p31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2" name="Google Shape;622;p31"/>
            <p:cNvSpPr txBox="1"/>
            <p:nvPr/>
          </p:nvSpPr>
          <p:spPr>
            <a:xfrm>
              <a:off x="10364121" y="3049415"/>
              <a:ext cx="29446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3" name="Google Shape;623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4" name="Google Shape;624;p31"/>
          <p:cNvSpPr/>
          <p:nvPr/>
        </p:nvSpPr>
        <p:spPr>
          <a:xfrm>
            <a:off x="10157378" y="2195369"/>
            <a:ext cx="510086" cy="40011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2E75B5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31"/>
          <p:cNvSpPr txBox="1"/>
          <p:nvPr/>
        </p:nvSpPr>
        <p:spPr>
          <a:xfrm>
            <a:off x="10383166" y="2287702"/>
            <a:ext cx="2944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" name="Google Shape;626;p31"/>
          <p:cNvGrpSpPr/>
          <p:nvPr/>
        </p:nvGrpSpPr>
        <p:grpSpPr>
          <a:xfrm>
            <a:off x="10132163" y="3702128"/>
            <a:ext cx="592569" cy="400110"/>
            <a:chOff x="10136156" y="2957082"/>
            <a:chExt cx="592569" cy="400110"/>
          </a:xfrm>
        </p:grpSpPr>
        <p:sp>
          <p:nvSpPr>
            <p:cNvPr id="627" name="Google Shape;627;p31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8" name="Google Shape;628;p31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9" name="Google Shape;629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0" name="Google Shape;630;p31"/>
          <p:cNvGrpSpPr/>
          <p:nvPr/>
        </p:nvGrpSpPr>
        <p:grpSpPr>
          <a:xfrm>
            <a:off x="10128170" y="4447174"/>
            <a:ext cx="592569" cy="400110"/>
            <a:chOff x="10136156" y="2957082"/>
            <a:chExt cx="592569" cy="400110"/>
          </a:xfrm>
        </p:grpSpPr>
        <p:sp>
          <p:nvSpPr>
            <p:cNvPr id="631" name="Google Shape;631;p31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2" name="Google Shape;632;p31"/>
            <p:cNvSpPr txBox="1"/>
            <p:nvPr/>
          </p:nvSpPr>
          <p:spPr>
            <a:xfrm>
              <a:off x="10364121" y="3049415"/>
              <a:ext cx="36460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33" name="Google Shape;633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36156" y="2995160"/>
              <a:ext cx="307778" cy="3077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4" name="Google Shape;634;p31"/>
          <p:cNvGrpSpPr/>
          <p:nvPr/>
        </p:nvGrpSpPr>
        <p:grpSpPr>
          <a:xfrm>
            <a:off x="10126354" y="5192220"/>
            <a:ext cx="726072" cy="400110"/>
            <a:chOff x="10138333" y="2957082"/>
            <a:chExt cx="726072" cy="400110"/>
          </a:xfrm>
        </p:grpSpPr>
        <p:sp>
          <p:nvSpPr>
            <p:cNvPr id="635" name="Google Shape;635;p31"/>
            <p:cNvSpPr/>
            <p:nvPr/>
          </p:nvSpPr>
          <p:spPr>
            <a:xfrm>
              <a:off x="10138333" y="2957082"/>
              <a:ext cx="510086" cy="400110"/>
            </a:xfrm>
            <a:prstGeom prst="can">
              <a:avLst>
                <a:gd fmla="val 31004" name="adj"/>
              </a:avLst>
            </a:prstGeom>
            <a:gradFill>
              <a:gsLst>
                <a:gs pos="0">
                  <a:srgbClr val="2E75B5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6" name="Google Shape;636;p31"/>
            <p:cNvSpPr txBox="1"/>
            <p:nvPr/>
          </p:nvSpPr>
          <p:spPr>
            <a:xfrm>
              <a:off x="10364121" y="3049415"/>
              <a:ext cx="500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X’’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7" name="Google Shape;637;p31"/>
          <p:cNvSpPr txBox="1"/>
          <p:nvPr/>
        </p:nvSpPr>
        <p:spPr>
          <a:xfrm>
            <a:off x="7895870" y="4140346"/>
            <a:ext cx="414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t’</a:t>
            </a:r>
            <a:endParaRPr b="0" i="1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1"/>
          <p:cNvSpPr txBox="1"/>
          <p:nvPr/>
        </p:nvSpPr>
        <p:spPr>
          <a:xfrm>
            <a:off x="7384517" y="5969340"/>
            <a:ext cx="411550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if network connection or client crashes at </a:t>
            </a:r>
            <a:r>
              <a:rPr b="0" i="1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t’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2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645" name="Google Shape;645;p32"/>
          <p:cNvSpPr txBox="1"/>
          <p:nvPr/>
        </p:nvSpPr>
        <p:spPr>
          <a:xfrm>
            <a:off x="622608" y="1452389"/>
            <a:ext cx="6335547" cy="488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sites and client browser  use </a:t>
            </a: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cookies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maintain some state between transactions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four components: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1) cookie header line of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2) cookie header line in next HTTP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message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3) cookie file kept on user’s host, managed by user’s browser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4) back-end database at Web site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2"/>
          <p:cNvSpPr txBox="1"/>
          <p:nvPr/>
        </p:nvSpPr>
        <p:spPr>
          <a:xfrm>
            <a:off x="7599363" y="1452389"/>
            <a:ext cx="4363453" cy="5025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11113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Susan uses browser on laptop, visits specific e-commerce site for first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363" lvl="0" marL="23336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initial HTTP requests arrives at site, site creates: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unique ID (aka “cookie”)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in backend database for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subsequent HTTP requests from Susan to this site will contain cookie ID value, allowing site to “identify” Susan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Maintaining user/server state: cookies</a:t>
            </a:r>
            <a:endParaRPr sz="4400"/>
          </a:p>
        </p:txBody>
      </p:sp>
      <p:sp>
        <p:nvSpPr>
          <p:cNvPr id="653" name="Google Shape;653;p33"/>
          <p:cNvSpPr txBox="1"/>
          <p:nvPr/>
        </p:nvSpPr>
        <p:spPr>
          <a:xfrm>
            <a:off x="2092674" y="1266659"/>
            <a:ext cx="8739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3"/>
          <p:cNvSpPr txBox="1"/>
          <p:nvPr/>
        </p:nvSpPr>
        <p:spPr>
          <a:xfrm>
            <a:off x="7045557" y="1520844"/>
            <a:ext cx="20521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Amazon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p33"/>
          <p:cNvGrpSpPr/>
          <p:nvPr/>
        </p:nvGrpSpPr>
        <p:grpSpPr>
          <a:xfrm>
            <a:off x="2996806" y="4057653"/>
            <a:ext cx="3873500" cy="458788"/>
            <a:chOff x="1414" y="2657"/>
            <a:chExt cx="2440" cy="289"/>
          </a:xfrm>
        </p:grpSpPr>
        <p:cxnSp>
          <p:nvCxnSpPr>
            <p:cNvPr id="656" name="Google Shape;656;p33"/>
            <p:cNvCxnSpPr/>
            <p:nvPr/>
          </p:nvCxnSpPr>
          <p:spPr>
            <a:xfrm flipH="1">
              <a:off x="1414" y="2657"/>
              <a:ext cx="2440" cy="249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657" name="Google Shape;657;p33"/>
            <p:cNvGrpSpPr/>
            <p:nvPr/>
          </p:nvGrpSpPr>
          <p:grpSpPr>
            <a:xfrm>
              <a:off x="1553" y="2694"/>
              <a:ext cx="1897" cy="252"/>
              <a:chOff x="3268" y="2846"/>
              <a:chExt cx="1897" cy="252"/>
            </a:xfrm>
          </p:grpSpPr>
          <p:sp>
            <p:nvSpPr>
              <p:cNvPr id="658" name="Google Shape;658;p33"/>
              <p:cNvSpPr/>
              <p:nvPr/>
            </p:nvSpPr>
            <p:spPr>
              <a:xfrm>
                <a:off x="3282" y="2856"/>
                <a:ext cx="1692" cy="19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33"/>
              <p:cNvSpPr txBox="1"/>
              <p:nvPr/>
            </p:nvSpPr>
            <p:spPr>
              <a:xfrm>
                <a:off x="3268" y="2846"/>
                <a:ext cx="1897" cy="25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usual HTTP response msg</a:t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60" name="Google Shape;660;p33"/>
          <p:cNvGrpSpPr/>
          <p:nvPr/>
        </p:nvGrpSpPr>
        <p:grpSpPr>
          <a:xfrm>
            <a:off x="3002432" y="5867498"/>
            <a:ext cx="3859213" cy="463549"/>
            <a:chOff x="1392" y="3579"/>
            <a:chExt cx="2431" cy="292"/>
          </a:xfrm>
        </p:grpSpPr>
        <p:cxnSp>
          <p:nvCxnSpPr>
            <p:cNvPr id="661" name="Google Shape;661;p33"/>
            <p:cNvCxnSpPr/>
            <p:nvPr/>
          </p:nvCxnSpPr>
          <p:spPr>
            <a:xfrm flipH="1">
              <a:off x="1392" y="3579"/>
              <a:ext cx="2431" cy="26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62" name="Google Shape;662;p33"/>
            <p:cNvSpPr txBox="1"/>
            <p:nvPr/>
          </p:nvSpPr>
          <p:spPr>
            <a:xfrm>
              <a:off x="1598" y="3619"/>
              <a:ext cx="1852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msg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3" name="Google Shape;663;p33"/>
          <p:cNvSpPr txBox="1"/>
          <p:nvPr/>
        </p:nvSpPr>
        <p:spPr>
          <a:xfrm>
            <a:off x="1733156" y="2293935"/>
            <a:ext cx="17875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3"/>
          <p:cNvSpPr txBox="1"/>
          <p:nvPr/>
        </p:nvSpPr>
        <p:spPr>
          <a:xfrm>
            <a:off x="1550772" y="4672055"/>
            <a:ext cx="18101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week later: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5" name="Google Shape;665;p33"/>
          <p:cNvGrpSpPr/>
          <p:nvPr/>
        </p:nvGrpSpPr>
        <p:grpSpPr>
          <a:xfrm>
            <a:off x="2998327" y="3429000"/>
            <a:ext cx="6777024" cy="1128713"/>
            <a:chOff x="1411" y="2261"/>
            <a:chExt cx="3533" cy="711"/>
          </a:xfrm>
        </p:grpSpPr>
        <p:cxnSp>
          <p:nvCxnSpPr>
            <p:cNvPr id="666" name="Google Shape;666;p33"/>
            <p:cNvCxnSpPr/>
            <p:nvPr/>
          </p:nvCxnSpPr>
          <p:spPr>
            <a:xfrm>
              <a:off x="1411" y="2361"/>
              <a:ext cx="2016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67" name="Google Shape;667;p33"/>
            <p:cNvSpPr txBox="1"/>
            <p:nvPr/>
          </p:nvSpPr>
          <p:spPr>
            <a:xfrm>
              <a:off x="1548" y="226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33"/>
            <p:cNvSpPr txBox="1"/>
            <p:nvPr/>
          </p:nvSpPr>
          <p:spPr>
            <a:xfrm>
              <a:off x="3549" y="233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9" name="Google Shape;669;p33"/>
            <p:cNvCxnSpPr/>
            <p:nvPr/>
          </p:nvCxnSpPr>
          <p:spPr>
            <a:xfrm flipH="1" rot="10800000">
              <a:off x="4252" y="2367"/>
              <a:ext cx="692" cy="26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670" name="Google Shape;670;p33"/>
            <p:cNvGrpSpPr/>
            <p:nvPr/>
          </p:nvGrpSpPr>
          <p:grpSpPr>
            <a:xfrm>
              <a:off x="4306" y="2363"/>
              <a:ext cx="539" cy="252"/>
              <a:chOff x="4306" y="2273"/>
              <a:chExt cx="539" cy="252"/>
            </a:xfrm>
          </p:grpSpPr>
          <p:sp>
            <p:nvSpPr>
              <p:cNvPr id="671" name="Google Shape;671;p33"/>
              <p:cNvSpPr/>
              <p:nvPr/>
            </p:nvSpPr>
            <p:spPr>
              <a:xfrm>
                <a:off x="4409" y="2365"/>
                <a:ext cx="384" cy="9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33"/>
              <p:cNvSpPr txBox="1"/>
              <p:nvPr/>
            </p:nvSpPr>
            <p:spPr>
              <a:xfrm>
                <a:off x="4306" y="2273"/>
                <a:ext cx="53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access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73" name="Google Shape;673;p33"/>
          <p:cNvGrpSpPr/>
          <p:nvPr/>
        </p:nvGrpSpPr>
        <p:grpSpPr>
          <a:xfrm>
            <a:off x="1704581" y="1762123"/>
            <a:ext cx="1066800" cy="565150"/>
            <a:chOff x="527" y="1047"/>
            <a:chExt cx="855" cy="486"/>
          </a:xfrm>
        </p:grpSpPr>
        <p:sp>
          <p:nvSpPr>
            <p:cNvPr id="674" name="Google Shape;674;p33"/>
            <p:cNvSpPr/>
            <p:nvPr/>
          </p:nvSpPr>
          <p:spPr>
            <a:xfrm>
              <a:off x="527" y="1047"/>
              <a:ext cx="855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3"/>
            <p:cNvSpPr txBox="1"/>
            <p:nvPr/>
          </p:nvSpPr>
          <p:spPr>
            <a:xfrm>
              <a:off x="552" y="1193"/>
              <a:ext cx="805" cy="2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33"/>
          <p:cNvGrpSpPr/>
          <p:nvPr/>
        </p:nvGrpSpPr>
        <p:grpSpPr>
          <a:xfrm>
            <a:off x="2952356" y="1946272"/>
            <a:ext cx="6972540" cy="1301749"/>
            <a:chOff x="1386" y="1327"/>
            <a:chExt cx="3730" cy="820"/>
          </a:xfrm>
        </p:grpSpPr>
        <p:cxnSp>
          <p:nvCxnSpPr>
            <p:cNvPr id="677" name="Google Shape;677;p33"/>
            <p:cNvCxnSpPr/>
            <p:nvPr/>
          </p:nvCxnSpPr>
          <p:spPr>
            <a:xfrm>
              <a:off x="1386" y="1355"/>
              <a:ext cx="2082" cy="24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78" name="Google Shape;678;p33"/>
            <p:cNvSpPr txBox="1"/>
            <p:nvPr/>
          </p:nvSpPr>
          <p:spPr>
            <a:xfrm>
              <a:off x="1554" y="1327"/>
              <a:ext cx="1689" cy="2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33"/>
            <p:cNvSpPr txBox="1"/>
            <p:nvPr/>
          </p:nvSpPr>
          <p:spPr>
            <a:xfrm>
              <a:off x="3460" y="1390"/>
              <a:ext cx="848" cy="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Amazon server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creates ID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1678 for user</a:t>
              </a:r>
              <a:endParaRPr b="0" i="0" sz="2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0" name="Google Shape;680;p33"/>
            <p:cNvGrpSpPr/>
            <p:nvPr/>
          </p:nvGrpSpPr>
          <p:grpSpPr>
            <a:xfrm>
              <a:off x="4377" y="1730"/>
              <a:ext cx="739" cy="417"/>
              <a:chOff x="4377" y="1640"/>
              <a:chExt cx="739" cy="417"/>
            </a:xfrm>
          </p:grpSpPr>
          <p:cxnSp>
            <p:nvCxnSpPr>
              <p:cNvPr id="681" name="Google Shape;681;p33"/>
              <p:cNvCxnSpPr/>
              <p:nvPr/>
            </p:nvCxnSpPr>
            <p:spPr>
              <a:xfrm>
                <a:off x="4377" y="1640"/>
                <a:ext cx="659" cy="41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682" name="Google Shape;682;p33"/>
              <p:cNvSpPr/>
              <p:nvPr/>
            </p:nvSpPr>
            <p:spPr>
              <a:xfrm>
                <a:off x="4470" y="1729"/>
                <a:ext cx="602" cy="2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33"/>
              <p:cNvSpPr txBox="1"/>
              <p:nvPr/>
            </p:nvSpPr>
            <p:spPr>
              <a:xfrm>
                <a:off x="4381" y="1702"/>
                <a:ext cx="735" cy="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create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entry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84" name="Google Shape;684;p33"/>
          <p:cNvGrpSpPr/>
          <p:nvPr/>
        </p:nvGrpSpPr>
        <p:grpSpPr>
          <a:xfrm>
            <a:off x="1675603" y="2474086"/>
            <a:ext cx="5151555" cy="890270"/>
            <a:chOff x="462" y="1603"/>
            <a:chExt cx="3550" cy="719"/>
          </a:xfrm>
        </p:grpSpPr>
        <p:cxnSp>
          <p:nvCxnSpPr>
            <p:cNvPr id="685" name="Google Shape;685;p33"/>
            <p:cNvCxnSpPr/>
            <p:nvPr/>
          </p:nvCxnSpPr>
          <p:spPr>
            <a:xfrm flipH="1">
              <a:off x="1404" y="1603"/>
              <a:ext cx="2608" cy="274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86" name="Google Shape;686;p33"/>
            <p:cNvSpPr txBox="1"/>
            <p:nvPr/>
          </p:nvSpPr>
          <p:spPr>
            <a:xfrm>
              <a:off x="1552" y="1650"/>
              <a:ext cx="1665" cy="51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response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set-cookie: 1678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7" name="Google Shape;687;p33"/>
            <p:cNvGrpSpPr/>
            <p:nvPr/>
          </p:nvGrpSpPr>
          <p:grpSpPr>
            <a:xfrm>
              <a:off x="462" y="1836"/>
              <a:ext cx="1004" cy="486"/>
              <a:chOff x="687" y="1746"/>
              <a:chExt cx="1004" cy="486"/>
            </a:xfrm>
          </p:grpSpPr>
          <p:sp>
            <p:nvSpPr>
              <p:cNvPr id="688" name="Google Shape;688;p33"/>
              <p:cNvSpPr/>
              <p:nvPr/>
            </p:nvSpPr>
            <p:spPr>
              <a:xfrm>
                <a:off x="702" y="1746"/>
                <a:ext cx="735" cy="486"/>
              </a:xfrm>
              <a:prstGeom prst="can">
                <a:avLst>
                  <a:gd fmla="val 25000" name="adj"/>
                </a:avLst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380"/>
                  <a:buFont typeface="Arial"/>
                  <a:buNone/>
                </a:pPr>
                <a:r>
                  <a:t/>
                </a:r>
                <a:endParaRPr b="0" i="0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33"/>
              <p:cNvSpPr txBox="1"/>
              <p:nvPr/>
            </p:nvSpPr>
            <p:spPr>
              <a:xfrm>
                <a:off x="687" y="1836"/>
                <a:ext cx="100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ebay 8734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Calibri"/>
                  <a:buNone/>
                </a:pPr>
                <a:r>
                  <a:rPr b="1" i="0" lang="en-US" sz="14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amazon 1678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90" name="Google Shape;690;p33"/>
          <p:cNvGrpSpPr/>
          <p:nvPr/>
        </p:nvGrpSpPr>
        <p:grpSpPr>
          <a:xfrm>
            <a:off x="2994226" y="4365354"/>
            <a:ext cx="6781125" cy="2001838"/>
            <a:chOff x="1406" y="2641"/>
            <a:chExt cx="3562" cy="1261"/>
          </a:xfrm>
        </p:grpSpPr>
        <p:cxnSp>
          <p:nvCxnSpPr>
            <p:cNvPr id="691" name="Google Shape;691;p33"/>
            <p:cNvCxnSpPr/>
            <p:nvPr/>
          </p:nvCxnSpPr>
          <p:spPr>
            <a:xfrm>
              <a:off x="1406" y="3293"/>
              <a:ext cx="2032" cy="242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92" name="Google Shape;692;p33"/>
            <p:cNvSpPr txBox="1"/>
            <p:nvPr/>
          </p:nvSpPr>
          <p:spPr>
            <a:xfrm>
              <a:off x="1561" y="3171"/>
              <a:ext cx="1689" cy="40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usual HTTP request msg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1678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3"/>
            <p:cNvSpPr txBox="1"/>
            <p:nvPr/>
          </p:nvSpPr>
          <p:spPr>
            <a:xfrm>
              <a:off x="3579" y="3262"/>
              <a:ext cx="607" cy="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cookie-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specific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4" name="Google Shape;694;p33"/>
            <p:cNvCxnSpPr/>
            <p:nvPr/>
          </p:nvCxnSpPr>
          <p:spPr>
            <a:xfrm flipH="1" rot="10800000">
              <a:off x="4181" y="2641"/>
              <a:ext cx="787" cy="86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95" name="Google Shape;695;p33"/>
            <p:cNvSpPr txBox="1"/>
            <p:nvPr/>
          </p:nvSpPr>
          <p:spPr>
            <a:xfrm>
              <a:off x="4287" y="2939"/>
              <a:ext cx="539" cy="2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access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6" name="Google Shape;696;p33"/>
          <p:cNvGrpSpPr/>
          <p:nvPr/>
        </p:nvGrpSpPr>
        <p:grpSpPr>
          <a:xfrm>
            <a:off x="1655687" y="5113066"/>
            <a:ext cx="1389062" cy="633978"/>
            <a:chOff x="702" y="1746"/>
            <a:chExt cx="1004" cy="486"/>
          </a:xfrm>
        </p:grpSpPr>
        <p:sp>
          <p:nvSpPr>
            <p:cNvPr id="697" name="Google Shape;697;p33"/>
            <p:cNvSpPr/>
            <p:nvPr/>
          </p:nvSpPr>
          <p:spPr>
            <a:xfrm>
              <a:off x="735" y="1746"/>
              <a:ext cx="773" cy="486"/>
            </a:xfrm>
            <a:prstGeom prst="can">
              <a:avLst>
                <a:gd fmla="val 25000" name="adj"/>
              </a:avLst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38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3"/>
            <p:cNvSpPr txBox="1"/>
            <p:nvPr/>
          </p:nvSpPr>
          <p:spPr>
            <a:xfrm>
              <a:off x="702" y="1851"/>
              <a:ext cx="100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ebay 8734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amazon 1678</a:t>
              </a:r>
              <a:endPara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9" name="Google Shape;699;p33"/>
          <p:cNvSpPr txBox="1"/>
          <p:nvPr/>
        </p:nvSpPr>
        <p:spPr>
          <a:xfrm>
            <a:off x="9834963" y="2582111"/>
            <a:ext cx="114005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3"/>
          <p:cNvSpPr/>
          <p:nvPr/>
        </p:nvSpPr>
        <p:spPr>
          <a:xfrm>
            <a:off x="10104838" y="3202824"/>
            <a:ext cx="592138" cy="908050"/>
          </a:xfrm>
          <a:prstGeom prst="can">
            <a:avLst>
              <a:gd fmla="val 31004" name="adj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1" name="Google Shape;701;p33"/>
          <p:cNvGrpSpPr/>
          <p:nvPr/>
        </p:nvGrpSpPr>
        <p:grpSpPr>
          <a:xfrm>
            <a:off x="6709231" y="1274501"/>
            <a:ext cx="351110" cy="610396"/>
            <a:chOff x="4140" y="429"/>
            <a:chExt cx="1425" cy="2396"/>
          </a:xfrm>
        </p:grpSpPr>
        <p:sp>
          <p:nvSpPr>
            <p:cNvPr id="702" name="Google Shape;702;p3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3"/>
            <p:cNvSpPr/>
            <p:nvPr/>
          </p:nvSpPr>
          <p:spPr>
            <a:xfrm>
              <a:off x="4206" y="429"/>
              <a:ext cx="1045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3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4212" y="695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7" name="Google Shape;707;p33"/>
            <p:cNvGrpSpPr/>
            <p:nvPr/>
          </p:nvGrpSpPr>
          <p:grpSpPr>
            <a:xfrm>
              <a:off x="4751" y="666"/>
              <a:ext cx="578" cy="148"/>
              <a:chOff x="616" y="2566"/>
              <a:chExt cx="721" cy="142"/>
            </a:xfrm>
          </p:grpSpPr>
          <p:sp>
            <p:nvSpPr>
              <p:cNvPr id="708" name="Google Shape;708;p33"/>
              <p:cNvSpPr/>
              <p:nvPr/>
            </p:nvSpPr>
            <p:spPr>
              <a:xfrm>
                <a:off x="616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33"/>
              <p:cNvSpPr/>
              <p:nvPr/>
            </p:nvSpPr>
            <p:spPr>
              <a:xfrm>
                <a:off x="630" y="2580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33"/>
            <p:cNvSpPr/>
            <p:nvPr/>
          </p:nvSpPr>
          <p:spPr>
            <a:xfrm>
              <a:off x="4223" y="1021"/>
              <a:ext cx="600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1" name="Google Shape;711;p33"/>
            <p:cNvGrpSpPr/>
            <p:nvPr/>
          </p:nvGrpSpPr>
          <p:grpSpPr>
            <a:xfrm>
              <a:off x="4745" y="996"/>
              <a:ext cx="583" cy="133"/>
              <a:chOff x="612" y="2570"/>
              <a:chExt cx="728" cy="138"/>
            </a:xfrm>
          </p:grpSpPr>
          <p:sp>
            <p:nvSpPr>
              <p:cNvPr id="712" name="Google Shape;712;p33"/>
              <p:cNvSpPr/>
              <p:nvPr/>
            </p:nvSpPr>
            <p:spPr>
              <a:xfrm>
                <a:off x="612" y="2570"/>
                <a:ext cx="728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33"/>
              <p:cNvSpPr/>
              <p:nvPr/>
            </p:nvSpPr>
            <p:spPr>
              <a:xfrm>
                <a:off x="625" y="2585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4" name="Google Shape;714;p33"/>
            <p:cNvSpPr/>
            <p:nvPr/>
          </p:nvSpPr>
          <p:spPr>
            <a:xfrm>
              <a:off x="4217" y="1356"/>
              <a:ext cx="594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3"/>
            <p:cNvSpPr/>
            <p:nvPr/>
          </p:nvSpPr>
          <p:spPr>
            <a:xfrm>
              <a:off x="4228" y="1657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6" name="Google Shape;716;p33"/>
            <p:cNvGrpSpPr/>
            <p:nvPr/>
          </p:nvGrpSpPr>
          <p:grpSpPr>
            <a:xfrm>
              <a:off x="4734" y="1627"/>
              <a:ext cx="584" cy="153"/>
              <a:chOff x="613" y="2568"/>
              <a:chExt cx="727" cy="141"/>
            </a:xfrm>
          </p:grpSpPr>
          <p:sp>
            <p:nvSpPr>
              <p:cNvPr id="717" name="Google Shape;717;p33"/>
              <p:cNvSpPr/>
              <p:nvPr/>
            </p:nvSpPr>
            <p:spPr>
              <a:xfrm>
                <a:off x="613" y="2568"/>
                <a:ext cx="727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33"/>
              <p:cNvSpPr/>
              <p:nvPr/>
            </p:nvSpPr>
            <p:spPr>
              <a:xfrm>
                <a:off x="627" y="2586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9" name="Google Shape;719;p3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0" name="Google Shape;720;p33"/>
            <p:cNvGrpSpPr/>
            <p:nvPr/>
          </p:nvGrpSpPr>
          <p:grpSpPr>
            <a:xfrm>
              <a:off x="4740" y="1326"/>
              <a:ext cx="584" cy="138"/>
              <a:chOff x="615" y="2567"/>
              <a:chExt cx="727" cy="138"/>
            </a:xfrm>
          </p:grpSpPr>
          <p:sp>
            <p:nvSpPr>
              <p:cNvPr id="721" name="Google Shape;721;p33"/>
              <p:cNvSpPr/>
              <p:nvPr/>
            </p:nvSpPr>
            <p:spPr>
              <a:xfrm>
                <a:off x="615" y="2567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33"/>
              <p:cNvSpPr/>
              <p:nvPr/>
            </p:nvSpPr>
            <p:spPr>
              <a:xfrm>
                <a:off x="629" y="2582"/>
                <a:ext cx="692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204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3" name="Google Shape;723;p33"/>
            <p:cNvSpPr/>
            <p:nvPr/>
          </p:nvSpPr>
          <p:spPr>
            <a:xfrm>
              <a:off x="5251" y="429"/>
              <a:ext cx="66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3"/>
            <p:cNvSpPr/>
            <p:nvPr/>
          </p:nvSpPr>
          <p:spPr>
            <a:xfrm>
              <a:off x="5515" y="2613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3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3"/>
            <p:cNvSpPr/>
            <p:nvPr/>
          </p:nvSpPr>
          <p:spPr>
            <a:xfrm>
              <a:off x="4206" y="2712"/>
              <a:ext cx="1067" cy="8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3"/>
            <p:cNvSpPr/>
            <p:nvPr/>
          </p:nvSpPr>
          <p:spPr>
            <a:xfrm>
              <a:off x="4311" y="2381"/>
              <a:ext cx="154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3"/>
            <p:cNvSpPr/>
            <p:nvPr/>
          </p:nvSpPr>
          <p:spPr>
            <a:xfrm>
              <a:off x="4487" y="2386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3"/>
            <p:cNvSpPr/>
            <p:nvPr/>
          </p:nvSpPr>
          <p:spPr>
            <a:xfrm>
              <a:off x="4663" y="2381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3"/>
            <p:cNvSpPr/>
            <p:nvPr/>
          </p:nvSpPr>
          <p:spPr>
            <a:xfrm>
              <a:off x="5064" y="1834"/>
              <a:ext cx="83" cy="764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p33"/>
          <p:cNvGrpSpPr/>
          <p:nvPr/>
        </p:nvGrpSpPr>
        <p:grpSpPr>
          <a:xfrm>
            <a:off x="2734523" y="1369488"/>
            <a:ext cx="667783" cy="586047"/>
            <a:chOff x="-44" y="1473"/>
            <a:chExt cx="981" cy="1105"/>
          </a:xfrm>
        </p:grpSpPr>
        <p:pic>
          <p:nvPicPr>
            <p:cNvPr descr="desktop_computer_stylized_medium" id="735" name="Google Shape;735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3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04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37" name="Google Shape;737;p33"/>
          <p:cNvCxnSpPr/>
          <p:nvPr/>
        </p:nvCxnSpPr>
        <p:spPr>
          <a:xfrm flipH="1">
            <a:off x="2999897" y="1993139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738" name="Google Shape;738;p33"/>
          <p:cNvSpPr txBox="1"/>
          <p:nvPr/>
        </p:nvSpPr>
        <p:spPr>
          <a:xfrm>
            <a:off x="2746707" y="6459827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9" name="Google Shape;739;p33"/>
          <p:cNvCxnSpPr/>
          <p:nvPr/>
        </p:nvCxnSpPr>
        <p:spPr>
          <a:xfrm flipH="1">
            <a:off x="6867352" y="2001551"/>
            <a:ext cx="510" cy="446580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740" name="Google Shape;740;p33"/>
          <p:cNvSpPr txBox="1"/>
          <p:nvPr/>
        </p:nvSpPr>
        <p:spPr>
          <a:xfrm>
            <a:off x="6614162" y="6468239"/>
            <a:ext cx="5196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4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HTTP cookies: comments</a:t>
            </a:r>
            <a:endParaRPr sz="4400"/>
          </a:p>
        </p:txBody>
      </p:sp>
      <p:sp>
        <p:nvSpPr>
          <p:cNvPr id="747" name="Google Shape;747;p34"/>
          <p:cNvSpPr txBox="1"/>
          <p:nvPr/>
        </p:nvSpPr>
        <p:spPr>
          <a:xfrm>
            <a:off x="648049" y="1556443"/>
            <a:ext cx="6034668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What cookies can be used for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authorization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shopping carts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session state (Web e-mail)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4"/>
          <p:cNvSpPr/>
          <p:nvPr/>
        </p:nvSpPr>
        <p:spPr>
          <a:xfrm>
            <a:off x="7504291" y="1568189"/>
            <a:ext cx="3810000" cy="3553646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cookies and privacy: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permit sites to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lot about you on their site.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party persistent cookies (tracking cookies) allow common identity (cookie value) to be tracked across multiple web sites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4"/>
          <p:cNvSpPr txBox="1"/>
          <p:nvPr/>
        </p:nvSpPr>
        <p:spPr>
          <a:xfrm>
            <a:off x="10149568" y="1325611"/>
            <a:ext cx="838691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4"/>
          <p:cNvSpPr/>
          <p:nvPr/>
        </p:nvSpPr>
        <p:spPr>
          <a:xfrm>
            <a:off x="721562" y="3980757"/>
            <a:ext cx="6267067" cy="2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Challenge: How to keep state?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at protocol endpoints: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maintain state at sender/receiver over multiple transactions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 messages: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cookies in HTTP messages carry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5"/>
          <p:cNvSpPr txBox="1"/>
          <p:nvPr/>
        </p:nvSpPr>
        <p:spPr>
          <a:xfrm>
            <a:off x="360491" y="261258"/>
            <a:ext cx="9806082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Example:  displaying a NY Times web page</a:t>
            </a:r>
            <a:endParaRPr b="0" i="0" sz="36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7" name="Google Shape;757;p35"/>
          <p:cNvGrpSpPr/>
          <p:nvPr/>
        </p:nvGrpSpPr>
        <p:grpSpPr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758" name="Google Shape;758;p3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5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35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3" name="Google Shape;763;p35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764" name="Google Shape;764;p35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35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66" name="Google Shape;766;p35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7" name="Google Shape;767;p35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768" name="Google Shape;768;p35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35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0" name="Google Shape;770;p35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5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2" name="Google Shape;772;p35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773" name="Google Shape;773;p35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35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5" name="Google Shape;775;p3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6" name="Google Shape;776;p35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777" name="Google Shape;777;p35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5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9" name="Google Shape;779;p35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5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5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90" name="Google Shape;7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057" y="4524829"/>
            <a:ext cx="1783443" cy="2496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2" name="Google Shape;792;p35"/>
          <p:cNvGrpSpPr/>
          <p:nvPr/>
        </p:nvGrpSpPr>
        <p:grpSpPr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793" name="Google Shape;793;p3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5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5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8" name="Google Shape;798;p35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799" name="Google Shape;799;p35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5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1" name="Google Shape;801;p35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2" name="Google Shape;802;p35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803" name="Google Shape;803;p35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5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05" name="Google Shape;805;p35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7" name="Google Shape;807;p35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808" name="Google Shape;808;p35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5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0" name="Google Shape;810;p3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1" name="Google Shape;811;p35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812" name="Google Shape;812;p35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5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4" name="Google Shape;814;p35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5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5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5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5" name="Google Shape;825;p35"/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826" name="Google Shape;826;p35"/>
            <p:cNvGrpSpPr/>
            <p:nvPr/>
          </p:nvGrpSpPr>
          <p:grpSpPr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descr="desktop_computer_stylized_medium" id="827" name="Google Shape;827;p3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8" name="Google Shape;828;p3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Icon&#10;&#10;Description automatically generated" id="829" name="Google Shape;829;p3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0" name="Google Shape;830;p35"/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5"/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2" name="Google Shape;83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9242" y="1223204"/>
            <a:ext cx="1797957" cy="12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1457" y="4524829"/>
            <a:ext cx="1788365" cy="250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4" name="Google Shape;834;p35"/>
          <p:cNvGrpSpPr/>
          <p:nvPr/>
        </p:nvGrpSpPr>
        <p:grpSpPr>
          <a:xfrm>
            <a:off x="4051300" y="2946400"/>
            <a:ext cx="965200" cy="1308100"/>
            <a:chOff x="4051300" y="2946400"/>
            <a:chExt cx="965200" cy="1308100"/>
          </a:xfrm>
        </p:grpSpPr>
        <p:grpSp>
          <p:nvGrpSpPr>
            <p:cNvPr id="835" name="Google Shape;835;p35"/>
            <p:cNvGrpSpPr/>
            <p:nvPr/>
          </p:nvGrpSpPr>
          <p:grpSpPr>
            <a:xfrm>
              <a:off x="4673600" y="2946400"/>
              <a:ext cx="342900" cy="1308100"/>
              <a:chOff x="4673600" y="2946400"/>
              <a:chExt cx="342900" cy="1308100"/>
            </a:xfrm>
          </p:grpSpPr>
          <p:cxnSp>
            <p:nvCxnSpPr>
              <p:cNvPr id="836" name="Google Shape;836;p35"/>
              <p:cNvCxnSpPr/>
              <p:nvPr/>
            </p:nvCxnSpPr>
            <p:spPr>
              <a:xfrm rot="10800000">
                <a:off x="4851400" y="2946400"/>
                <a:ext cx="0" cy="13081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837" name="Google Shape;837;p35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5"/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9" name="Google Shape;839;p35"/>
            <p:cNvSpPr txBox="1"/>
            <p:nvPr/>
          </p:nvSpPr>
          <p:spPr>
            <a:xfrm>
              <a:off x="4051300" y="3378200"/>
              <a:ext cx="736600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GET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0" name="Google Shape;840;p35"/>
          <p:cNvGrpSpPr/>
          <p:nvPr/>
        </p:nvGrpSpPr>
        <p:grpSpPr>
          <a:xfrm>
            <a:off x="5143500" y="2959100"/>
            <a:ext cx="990600" cy="1308100"/>
            <a:chOff x="5143500" y="2959100"/>
            <a:chExt cx="990600" cy="1308100"/>
          </a:xfrm>
        </p:grpSpPr>
        <p:grpSp>
          <p:nvGrpSpPr>
            <p:cNvPr id="841" name="Google Shape;841;p35"/>
            <p:cNvGrpSpPr/>
            <p:nvPr/>
          </p:nvGrpSpPr>
          <p:grpSpPr>
            <a:xfrm>
              <a:off x="5143500" y="2959100"/>
              <a:ext cx="342900" cy="1308100"/>
              <a:chOff x="4673600" y="2946400"/>
              <a:chExt cx="342900" cy="1308100"/>
            </a:xfrm>
          </p:grpSpPr>
          <p:cxnSp>
            <p:nvCxnSpPr>
              <p:cNvPr id="842" name="Google Shape;842;p35"/>
              <p:cNvCxnSpPr/>
              <p:nvPr/>
            </p:nvCxnSpPr>
            <p:spPr>
              <a:xfrm rot="10800000">
                <a:off x="4851400" y="2946400"/>
                <a:ext cx="0" cy="13081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843" name="Google Shape;843;p35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5"/>
              <p:cNvSpPr txBox="1"/>
              <p:nvPr/>
            </p:nvSpPr>
            <p:spPr>
              <a:xfrm>
                <a:off x="47117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5" name="Google Shape;845;p35"/>
            <p:cNvSpPr txBox="1"/>
            <p:nvPr/>
          </p:nvSpPr>
          <p:spPr>
            <a:xfrm>
              <a:off x="5397500" y="3403600"/>
              <a:ext cx="736600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reply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6" name="Google Shape;846;p35"/>
          <p:cNvGrpSpPr/>
          <p:nvPr/>
        </p:nvGrpSpPr>
        <p:grpSpPr>
          <a:xfrm>
            <a:off x="6261100" y="4914900"/>
            <a:ext cx="1854200" cy="369332"/>
            <a:chOff x="3721100" y="3429000"/>
            <a:chExt cx="1854200" cy="369332"/>
          </a:xfrm>
        </p:grpSpPr>
        <p:cxnSp>
          <p:nvCxnSpPr>
            <p:cNvPr id="847" name="Google Shape;847;p35"/>
            <p:cNvCxnSpPr/>
            <p:nvPr/>
          </p:nvCxnSpPr>
          <p:spPr>
            <a:xfrm>
              <a:off x="3721100" y="3594100"/>
              <a:ext cx="1854200" cy="0"/>
            </a:xfrm>
            <a:prstGeom prst="straightConnector1">
              <a:avLst/>
            </a:prstGeom>
            <a:noFill/>
            <a:ln cap="flat" cmpd="sng" w="25400">
              <a:solidFill>
                <a:srgbClr val="0E01A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848" name="Google Shape;848;p35"/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E01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5"/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0" name="Google Shape;850;p35"/>
          <p:cNvGrpSpPr/>
          <p:nvPr/>
        </p:nvGrpSpPr>
        <p:grpSpPr>
          <a:xfrm>
            <a:off x="4749800" y="4826000"/>
            <a:ext cx="342900" cy="369332"/>
            <a:chOff x="2857500" y="6540500"/>
            <a:chExt cx="342900" cy="369332"/>
          </a:xfrm>
        </p:grpSpPr>
        <p:sp>
          <p:nvSpPr>
            <p:cNvPr id="851" name="Google Shape;851;p35"/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E01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5"/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3" name="Google Shape;853;p35"/>
          <p:cNvGrpSpPr/>
          <p:nvPr/>
        </p:nvGrpSpPr>
        <p:grpSpPr>
          <a:xfrm>
            <a:off x="6273800" y="5308600"/>
            <a:ext cx="1841500" cy="369332"/>
            <a:chOff x="3721100" y="3429000"/>
            <a:chExt cx="1841500" cy="369332"/>
          </a:xfrm>
        </p:grpSpPr>
        <p:cxnSp>
          <p:nvCxnSpPr>
            <p:cNvPr id="854" name="Google Shape;854;p35"/>
            <p:cNvCxnSpPr/>
            <p:nvPr/>
          </p:nvCxnSpPr>
          <p:spPr>
            <a:xfrm>
              <a:off x="3721100" y="3594100"/>
              <a:ext cx="1841500" cy="0"/>
            </a:xfrm>
            <a:prstGeom prst="straightConnector1">
              <a:avLst/>
            </a:prstGeom>
            <a:noFill/>
            <a:ln cap="flat" cmpd="sng" w="25400">
              <a:solidFill>
                <a:srgbClr val="0E01A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sp>
          <p:nvSpPr>
            <p:cNvPr id="855" name="Google Shape;855;p35"/>
            <p:cNvSpPr/>
            <p:nvPr/>
          </p:nvSpPr>
          <p:spPr>
            <a:xfrm>
              <a:off x="4673600" y="3441700"/>
              <a:ext cx="342900" cy="3429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E01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5"/>
            <p:cNvSpPr txBox="1"/>
            <p:nvPr/>
          </p:nvSpPr>
          <p:spPr>
            <a:xfrm>
              <a:off x="4686300" y="3429000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7" name="Google Shape;857;p35"/>
          <p:cNvGrpSpPr/>
          <p:nvPr/>
        </p:nvGrpSpPr>
        <p:grpSpPr>
          <a:xfrm>
            <a:off x="4775200" y="5207000"/>
            <a:ext cx="342900" cy="369332"/>
            <a:chOff x="2857500" y="6540500"/>
            <a:chExt cx="342900" cy="369332"/>
          </a:xfrm>
        </p:grpSpPr>
        <p:sp>
          <p:nvSpPr>
            <p:cNvPr id="858" name="Google Shape;858;p35"/>
            <p:cNvSpPr/>
            <p:nvPr/>
          </p:nvSpPr>
          <p:spPr>
            <a:xfrm>
              <a:off x="2857500" y="6553200"/>
              <a:ext cx="342900" cy="342900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E01A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5"/>
            <p:cNvSpPr txBox="1"/>
            <p:nvPr/>
          </p:nvSpPr>
          <p:spPr>
            <a:xfrm>
              <a:off x="2895600" y="6540500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60" name="Google Shape;860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6500" y="4394023"/>
            <a:ext cx="1790700" cy="1295576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35"/>
          <p:cNvSpPr txBox="1"/>
          <p:nvPr/>
        </p:nvSpPr>
        <p:spPr>
          <a:xfrm>
            <a:off x="1917701" y="5803900"/>
            <a:ext cx="24257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 page with embedded ad displayed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2" name="Google Shape;862;p35"/>
          <p:cNvGrpSpPr/>
          <p:nvPr/>
        </p:nvGrpSpPr>
        <p:grpSpPr>
          <a:xfrm>
            <a:off x="584200" y="1511300"/>
            <a:ext cx="3403600" cy="830997"/>
            <a:chOff x="584200" y="1511300"/>
            <a:chExt cx="3403600" cy="830997"/>
          </a:xfrm>
        </p:grpSpPr>
        <p:sp>
          <p:nvSpPr>
            <p:cNvPr id="863" name="Google Shape;863;p35"/>
            <p:cNvSpPr txBox="1"/>
            <p:nvPr/>
          </p:nvSpPr>
          <p:spPr>
            <a:xfrm>
              <a:off x="1016000" y="1511300"/>
              <a:ext cx="29718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2700" lvl="0" marL="508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 base html file from nytimes.com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4" name="Google Shape;864;p35"/>
            <p:cNvGrpSpPr/>
            <p:nvPr/>
          </p:nvGrpSpPr>
          <p:grpSpPr>
            <a:xfrm>
              <a:off x="584200" y="1574800"/>
              <a:ext cx="304800" cy="369332"/>
              <a:chOff x="8953500" y="1841500"/>
              <a:chExt cx="304800" cy="369332"/>
            </a:xfrm>
          </p:grpSpPr>
          <p:sp>
            <p:nvSpPr>
              <p:cNvPr id="865" name="Google Shape;865;p35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35"/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7" name="Google Shape;867;p35"/>
            <p:cNvGrpSpPr/>
            <p:nvPr/>
          </p:nvGrpSpPr>
          <p:grpSpPr>
            <a:xfrm>
              <a:off x="736600" y="1778000"/>
              <a:ext cx="314386" cy="369332"/>
              <a:chOff x="8953500" y="1841500"/>
              <a:chExt cx="314386" cy="369332"/>
            </a:xfrm>
          </p:grpSpPr>
          <p:sp>
            <p:nvSpPr>
              <p:cNvPr id="868" name="Google Shape;868;p35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35"/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70" name="Google Shape;870;p35"/>
          <p:cNvGrpSpPr/>
          <p:nvPr/>
        </p:nvGrpSpPr>
        <p:grpSpPr>
          <a:xfrm>
            <a:off x="546100" y="2527300"/>
            <a:ext cx="3162300" cy="830997"/>
            <a:chOff x="546100" y="2527300"/>
            <a:chExt cx="3162300" cy="830997"/>
          </a:xfrm>
        </p:grpSpPr>
        <p:sp>
          <p:nvSpPr>
            <p:cNvPr id="871" name="Google Shape;871;p35"/>
            <p:cNvSpPr txBox="1"/>
            <p:nvPr/>
          </p:nvSpPr>
          <p:spPr>
            <a:xfrm>
              <a:off x="1041400" y="2527300"/>
              <a:ext cx="2667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fetch ad from AdX.com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2" name="Google Shape;872;p35"/>
            <p:cNvGrpSpPr/>
            <p:nvPr/>
          </p:nvGrpSpPr>
          <p:grpSpPr>
            <a:xfrm>
              <a:off x="546100" y="2590800"/>
              <a:ext cx="304800" cy="369332"/>
              <a:chOff x="8953500" y="1841500"/>
              <a:chExt cx="304800" cy="369332"/>
            </a:xfrm>
          </p:grpSpPr>
          <p:sp>
            <p:nvSpPr>
              <p:cNvPr id="873" name="Google Shape;873;p35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5"/>
              <p:cNvSpPr txBox="1"/>
              <p:nvPr/>
            </p:nvSpPr>
            <p:spPr>
              <a:xfrm>
                <a:off x="89535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5" name="Google Shape;875;p35"/>
            <p:cNvGrpSpPr/>
            <p:nvPr/>
          </p:nvGrpSpPr>
          <p:grpSpPr>
            <a:xfrm>
              <a:off x="698500" y="2794000"/>
              <a:ext cx="314386" cy="369332"/>
              <a:chOff x="8953500" y="1841500"/>
              <a:chExt cx="314386" cy="369332"/>
            </a:xfrm>
          </p:grpSpPr>
          <p:sp>
            <p:nvSpPr>
              <p:cNvPr id="876" name="Google Shape;876;p35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35"/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78" name="Google Shape;878;p35"/>
          <p:cNvGrpSpPr/>
          <p:nvPr/>
        </p:nvGrpSpPr>
        <p:grpSpPr>
          <a:xfrm>
            <a:off x="635000" y="3556000"/>
            <a:ext cx="3060700" cy="830997"/>
            <a:chOff x="635000" y="3556000"/>
            <a:chExt cx="3060700" cy="830997"/>
          </a:xfrm>
        </p:grpSpPr>
        <p:sp>
          <p:nvSpPr>
            <p:cNvPr id="879" name="Google Shape;879;p35"/>
            <p:cNvSpPr txBox="1"/>
            <p:nvPr/>
          </p:nvSpPr>
          <p:spPr>
            <a:xfrm>
              <a:off x="1028700" y="3556000"/>
              <a:ext cx="2667000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display composed page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0" name="Google Shape;880;p35"/>
            <p:cNvGrpSpPr/>
            <p:nvPr/>
          </p:nvGrpSpPr>
          <p:grpSpPr>
            <a:xfrm>
              <a:off x="635000" y="3619500"/>
              <a:ext cx="314386" cy="369332"/>
              <a:chOff x="8953500" y="1841500"/>
              <a:chExt cx="314386" cy="369332"/>
            </a:xfrm>
          </p:grpSpPr>
          <p:sp>
            <p:nvSpPr>
              <p:cNvPr id="881" name="Google Shape;881;p35"/>
              <p:cNvSpPr/>
              <p:nvPr/>
            </p:nvSpPr>
            <p:spPr>
              <a:xfrm>
                <a:off x="8953500" y="1879600"/>
                <a:ext cx="304800" cy="2921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A14A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35"/>
              <p:cNvSpPr txBox="1"/>
              <p:nvPr/>
            </p:nvSpPr>
            <p:spPr>
              <a:xfrm>
                <a:off x="8966200" y="18415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8" name="Google Shape;888;p36"/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889" name="Google Shape;889;p36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6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6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2" name="Google Shape;892;p36"/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893" name="Google Shape;893;p36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6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6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6" name="Google Shape;896;p36"/>
          <p:cNvGrpSpPr/>
          <p:nvPr/>
        </p:nvGrpSpPr>
        <p:grpSpPr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897" name="Google Shape;897;p3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6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6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2" name="Google Shape;902;p36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903" name="Google Shape;903;p36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36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5" name="Google Shape;905;p36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6" name="Google Shape;906;p36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907" name="Google Shape;907;p36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36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9" name="Google Shape;909;p36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36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1" name="Google Shape;911;p36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912" name="Google Shape;912;p36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36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4" name="Google Shape;914;p3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5" name="Google Shape;915;p36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916" name="Google Shape;916;p36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36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8" name="Google Shape;918;p36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6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6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6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6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6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36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36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29" name="Google Shape;92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057" y="4524829"/>
            <a:ext cx="1783443" cy="2496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1" name="Google Shape;931;p36"/>
          <p:cNvGrpSpPr/>
          <p:nvPr/>
        </p:nvGrpSpPr>
        <p:grpSpPr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932" name="Google Shape;932;p3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6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6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7" name="Google Shape;937;p36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938" name="Google Shape;938;p36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36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0" name="Google Shape;940;p36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1" name="Google Shape;941;p36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942" name="Google Shape;942;p36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36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4" name="Google Shape;944;p36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6" name="Google Shape;946;p36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947" name="Google Shape;947;p36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36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9" name="Google Shape;949;p3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0" name="Google Shape;950;p36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951" name="Google Shape;951;p36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36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3" name="Google Shape;953;p36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36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36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36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36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36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6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4" name="Google Shape;964;p36"/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965" name="Google Shape;965;p36"/>
            <p:cNvGrpSpPr/>
            <p:nvPr/>
          </p:nvGrpSpPr>
          <p:grpSpPr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descr="desktop_computer_stylized_medium" id="966" name="Google Shape;966;p3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67" name="Google Shape;967;p3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Icon&#10;&#10;Description automatically generated" id="968" name="Google Shape;968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9" name="Google Shape;969;p36"/>
          <p:cNvSpPr txBox="1"/>
          <p:nvPr/>
        </p:nvSpPr>
        <p:spPr>
          <a:xfrm>
            <a:off x="4352471" y="2398486"/>
            <a:ext cx="25726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 (sports)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36"/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36"/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2" name="Google Shape;972;p36"/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973" name="Google Shape;973;p36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36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36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6" name="Google Shape;976;p36"/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Times: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endParaRPr b="0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6"/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8" name="Google Shape;978;p36"/>
          <p:cNvGrpSpPr/>
          <p:nvPr/>
        </p:nvGrpSpPr>
        <p:grpSpPr>
          <a:xfrm>
            <a:off x="5029200" y="2971800"/>
            <a:ext cx="1866900" cy="1308100"/>
            <a:chOff x="5232400" y="2959100"/>
            <a:chExt cx="1866900" cy="1308100"/>
          </a:xfrm>
        </p:grpSpPr>
        <p:cxnSp>
          <p:nvCxnSpPr>
            <p:cNvPr id="979" name="Google Shape;979;p36"/>
            <p:cNvCxnSpPr/>
            <p:nvPr/>
          </p:nvCxnSpPr>
          <p:spPr>
            <a:xfrm rot="10800000">
              <a:off x="5321300" y="2959100"/>
              <a:ext cx="0" cy="1308100"/>
            </a:xfrm>
            <a:prstGeom prst="straightConnector1">
              <a:avLst/>
            </a:prstGeom>
            <a:noFill/>
            <a:ln cap="flat" cmpd="sng" w="25400">
              <a:solidFill>
                <a:srgbClr val="0E01A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grpSp>
          <p:nvGrpSpPr>
            <p:cNvPr id="980" name="Google Shape;980;p36"/>
            <p:cNvGrpSpPr/>
            <p:nvPr/>
          </p:nvGrpSpPr>
          <p:grpSpPr>
            <a:xfrm>
              <a:off x="5232400" y="3289300"/>
              <a:ext cx="1866900" cy="763946"/>
              <a:chOff x="6464300" y="3225800"/>
              <a:chExt cx="1866900" cy="763946"/>
            </a:xfrm>
          </p:grpSpPr>
          <p:sp>
            <p:nvSpPr>
              <p:cNvPr id="981" name="Google Shape;981;p36"/>
              <p:cNvSpPr txBox="1"/>
              <p:nvPr/>
            </p:nvSpPr>
            <p:spPr>
              <a:xfrm>
                <a:off x="6540500" y="3225800"/>
                <a:ext cx="736600" cy="541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36"/>
              <p:cNvSpPr txBox="1"/>
              <p:nvPr/>
            </p:nvSpPr>
            <p:spPr>
              <a:xfrm>
                <a:off x="6464300" y="3670300"/>
                <a:ext cx="18669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1634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83" name="Google Shape;983;p36"/>
          <p:cNvGrpSpPr/>
          <p:nvPr/>
        </p:nvGrpSpPr>
        <p:grpSpPr>
          <a:xfrm>
            <a:off x="5829300" y="4457700"/>
            <a:ext cx="2565400" cy="826532"/>
            <a:chOff x="5829300" y="4457700"/>
            <a:chExt cx="2565400" cy="826532"/>
          </a:xfrm>
        </p:grpSpPr>
        <p:grpSp>
          <p:nvGrpSpPr>
            <p:cNvPr id="984" name="Google Shape;984;p36"/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985" name="Google Shape;985;p36"/>
              <p:cNvCxnSpPr/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986" name="Google Shape;986;p36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36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8" name="Google Shape;988;p36"/>
            <p:cNvGrpSpPr/>
            <p:nvPr/>
          </p:nvGrpSpPr>
          <p:grpSpPr>
            <a:xfrm>
              <a:off x="5829300" y="4457700"/>
              <a:ext cx="2565400" cy="522848"/>
              <a:chOff x="6667500" y="3098800"/>
              <a:chExt cx="2565400" cy="522848"/>
            </a:xfrm>
          </p:grpSpPr>
          <p:sp>
            <p:nvSpPr>
              <p:cNvPr id="989" name="Google Shape;989;p36"/>
              <p:cNvSpPr txBox="1"/>
              <p:nvPr/>
            </p:nvSpPr>
            <p:spPr>
              <a:xfrm>
                <a:off x="6667500" y="30988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36"/>
              <p:cNvSpPr txBox="1"/>
              <p:nvPr/>
            </p:nvSpPr>
            <p:spPr>
              <a:xfrm>
                <a:off x="6718300" y="3327400"/>
                <a:ext cx="2514600" cy="294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Referrer: NY Times Sports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91" name="Google Shape;991;p36"/>
          <p:cNvGrpSpPr/>
          <p:nvPr/>
        </p:nvGrpSpPr>
        <p:grpSpPr>
          <a:xfrm>
            <a:off x="6032500" y="5308600"/>
            <a:ext cx="2641600" cy="840348"/>
            <a:chOff x="6032500" y="5308600"/>
            <a:chExt cx="2641600" cy="840348"/>
          </a:xfrm>
        </p:grpSpPr>
        <p:grpSp>
          <p:nvGrpSpPr>
            <p:cNvPr id="992" name="Google Shape;992;p36"/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993" name="Google Shape;993;p36"/>
              <p:cNvCxnSpPr/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994" name="Google Shape;994;p36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36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6" name="Google Shape;996;p36"/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997" name="Google Shape;997;p36"/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8" name="Google Shape;998;p36"/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600" u="none" cap="none" strike="noStrik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b="0" i="0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99" name="Google Shape;999;p36"/>
          <p:cNvGrpSpPr/>
          <p:nvPr/>
        </p:nvGrpSpPr>
        <p:grpSpPr>
          <a:xfrm>
            <a:off x="3771900" y="2946400"/>
            <a:ext cx="1473200" cy="1308100"/>
            <a:chOff x="3771900" y="2946400"/>
            <a:chExt cx="1473200" cy="1308100"/>
          </a:xfrm>
        </p:grpSpPr>
        <p:cxnSp>
          <p:nvCxnSpPr>
            <p:cNvPr id="1000" name="Google Shape;1000;p36"/>
            <p:cNvCxnSpPr/>
            <p:nvPr/>
          </p:nvCxnSpPr>
          <p:spPr>
            <a:xfrm rot="10800000">
              <a:off x="4851400" y="2946400"/>
              <a:ext cx="0" cy="1308100"/>
            </a:xfrm>
            <a:prstGeom prst="straightConnector1">
              <a:avLst/>
            </a:prstGeom>
            <a:noFill/>
            <a:ln cap="flat" cmpd="sng" w="25400">
              <a:solidFill>
                <a:srgbClr val="0E01A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001" name="Google Shape;1001;p36"/>
            <p:cNvSpPr txBox="1"/>
            <p:nvPr/>
          </p:nvSpPr>
          <p:spPr>
            <a:xfrm>
              <a:off x="3771900" y="3276600"/>
              <a:ext cx="1473200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2" name="Google Shape;1002;p36"/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endParaRPr b="0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6"/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b="0" i="0" lang="en-US" sz="36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4" name="Google Shape;1004;p36"/>
          <p:cNvGrpSpPr/>
          <p:nvPr/>
        </p:nvGrpSpPr>
        <p:grpSpPr>
          <a:xfrm>
            <a:off x="5670332" y="2112579"/>
            <a:ext cx="5759667" cy="3920359"/>
            <a:chOff x="5670332" y="2112579"/>
            <a:chExt cx="5759667" cy="3920359"/>
          </a:xfrm>
        </p:grpSpPr>
        <p:sp>
          <p:nvSpPr>
            <p:cNvPr id="1005" name="Google Shape;1005;p36"/>
            <p:cNvSpPr txBox="1"/>
            <p:nvPr/>
          </p:nvSpPr>
          <p:spPr>
            <a:xfrm>
              <a:off x="8623738" y="2427890"/>
              <a:ext cx="2806261" cy="1323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“first party” cookie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– from website you chose to visit (provides base html file)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6" name="Google Shape;1006;p36"/>
            <p:cNvCxnSpPr/>
            <p:nvPr/>
          </p:nvCxnSpPr>
          <p:spPr>
            <a:xfrm rot="10800000">
              <a:off x="7425559" y="2112579"/>
              <a:ext cx="1213944" cy="457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7" name="Google Shape;1007;p36"/>
            <p:cNvCxnSpPr/>
            <p:nvPr/>
          </p:nvCxnSpPr>
          <p:spPr>
            <a:xfrm flipH="1">
              <a:off x="5670332" y="2585545"/>
              <a:ext cx="2969171" cy="3447393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08" name="Google Shape;1008;p36"/>
          <p:cNvGrpSpPr/>
          <p:nvPr/>
        </p:nvGrpSpPr>
        <p:grpSpPr>
          <a:xfrm>
            <a:off x="814558" y="5481147"/>
            <a:ext cx="3877874" cy="1015663"/>
            <a:chOff x="9112474" y="3373822"/>
            <a:chExt cx="3877874" cy="1015663"/>
          </a:xfrm>
        </p:grpSpPr>
        <p:sp>
          <p:nvSpPr>
            <p:cNvPr id="1009" name="Google Shape;1009;p36"/>
            <p:cNvSpPr txBox="1"/>
            <p:nvPr/>
          </p:nvSpPr>
          <p:spPr>
            <a:xfrm>
              <a:off x="9112474" y="3373822"/>
              <a:ext cx="280626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1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“third party” cookie 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– from website you did </a:t>
              </a:r>
              <a:r>
                <a:rPr b="0" i="1" lang="en-US" sz="2000" u="sng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b="0" i="1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choose to visit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0" name="Google Shape;1010;p36"/>
            <p:cNvCxnSpPr/>
            <p:nvPr/>
          </p:nvCxnSpPr>
          <p:spPr>
            <a:xfrm flipH="1">
              <a:off x="10804635" y="4198741"/>
              <a:ext cx="2185713" cy="10651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6" name="Google Shape;1016;p37"/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017" name="Google Shape;1017;p37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37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37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0" name="Google Shape;1020;p37"/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1021" name="Google Shape;1021;p37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37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7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4" name="Google Shape;1024;p37"/>
          <p:cNvSpPr txBox="1"/>
          <p:nvPr/>
        </p:nvSpPr>
        <p:spPr>
          <a:xfrm>
            <a:off x="360491" y="261258"/>
            <a:ext cx="885300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b="0" i="0" lang="en-US" sz="36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5" name="Google Shape;1025;p37"/>
          <p:cNvGrpSpPr/>
          <p:nvPr/>
        </p:nvGrpSpPr>
        <p:grpSpPr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026" name="Google Shape;1026;p3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7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7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1" name="Google Shape;1031;p37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032" name="Google Shape;1032;p37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37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34" name="Google Shape;1034;p37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35" name="Google Shape;1035;p37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036" name="Google Shape;1036;p37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37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38" name="Google Shape;1038;p37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37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0" name="Google Shape;1040;p37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041" name="Google Shape;1041;p37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37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43" name="Google Shape;1043;p3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4" name="Google Shape;1044;p37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045" name="Google Shape;1045;p37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37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47" name="Google Shape;1047;p37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37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58" name="Google Shape;105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9" name="Google Shape;1059;p37"/>
          <p:cNvGrpSpPr/>
          <p:nvPr/>
        </p:nvGrpSpPr>
        <p:grpSpPr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1060" name="Google Shape;1060;p3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5" name="Google Shape;1065;p37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066" name="Google Shape;1066;p37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37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8" name="Google Shape;1068;p37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9" name="Google Shape;1069;p37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070" name="Google Shape;1070;p37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37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2" name="Google Shape;1072;p37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74" name="Google Shape;1074;p37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075" name="Google Shape;1075;p37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37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7" name="Google Shape;1077;p3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78" name="Google Shape;1078;p37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079" name="Google Shape;1079;p37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37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81" name="Google Shape;1081;p37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3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3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37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37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37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37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37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37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2" name="Google Shape;1092;p37"/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1093" name="Google Shape;1093;p37"/>
            <p:cNvGrpSpPr/>
            <p:nvPr/>
          </p:nvGrpSpPr>
          <p:grpSpPr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descr="desktop_computer_stylized_medium" id="1094" name="Google Shape;1094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95" name="Google Shape;1095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Icon&#10;&#10;Description automatically generated" id="1096" name="Google Shape;1096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7" name="Google Shape;1097;p37"/>
          <p:cNvSpPr txBox="1"/>
          <p:nvPr/>
        </p:nvSpPr>
        <p:spPr>
          <a:xfrm>
            <a:off x="4352471" y="2398486"/>
            <a:ext cx="17984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37"/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37"/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0" name="Google Shape;1100;p37"/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101" name="Google Shape;1101;p37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37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37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4" name="Google Shape;1104;p37"/>
          <p:cNvSpPr txBox="1"/>
          <p:nvPr/>
        </p:nvSpPr>
        <p:spPr>
          <a:xfrm>
            <a:off x="4229100" y="5867400"/>
            <a:ext cx="1524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Times: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endParaRPr b="0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7"/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7"/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endParaRPr b="0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7" name="Google Shape;1107;p37"/>
          <p:cNvGrpSpPr/>
          <p:nvPr/>
        </p:nvGrpSpPr>
        <p:grpSpPr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1108" name="Google Shape;1108;p3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37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3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37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3" name="Google Shape;1113;p37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114" name="Google Shape;1114;p37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37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6" name="Google Shape;1116;p37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7" name="Google Shape;1117;p37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118" name="Google Shape;1118;p37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37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0" name="Google Shape;1120;p37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37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2" name="Google Shape;1122;p37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123" name="Google Shape;1123;p37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7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5" name="Google Shape;1125;p3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6" name="Google Shape;1126;p37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127" name="Google Shape;1127;p37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7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29" name="Google Shape;1129;p37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3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37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3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37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37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37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37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37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37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0" name="Google Shape;1140;p37"/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1" name="Google Shape;114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300" y="1492250"/>
            <a:ext cx="2197100" cy="1572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2" name="Google Shape;1142;p37"/>
          <p:cNvGrpSpPr/>
          <p:nvPr/>
        </p:nvGrpSpPr>
        <p:grpSpPr>
          <a:xfrm>
            <a:off x="2369457" y="2590528"/>
            <a:ext cx="2337975" cy="2389851"/>
            <a:chOff x="2369457" y="2590528"/>
            <a:chExt cx="2337975" cy="2389851"/>
          </a:xfrm>
        </p:grpSpPr>
        <p:grpSp>
          <p:nvGrpSpPr>
            <p:cNvPr id="1143" name="Google Shape;1143;p37"/>
            <p:cNvGrpSpPr/>
            <p:nvPr/>
          </p:nvGrpSpPr>
          <p:grpSpPr>
            <a:xfrm rot="-3246747">
              <a:off x="2719236" y="3449532"/>
              <a:ext cx="1044264" cy="1396841"/>
              <a:chOff x="4056314" y="2857659"/>
              <a:chExt cx="1044264" cy="1396841"/>
            </a:xfrm>
          </p:grpSpPr>
          <p:grpSp>
            <p:nvGrpSpPr>
              <p:cNvPr id="1144" name="Google Shape;1144;p37"/>
              <p:cNvGrpSpPr/>
              <p:nvPr/>
            </p:nvGrpSpPr>
            <p:grpSpPr>
              <a:xfrm>
                <a:off x="4624509" y="2946400"/>
                <a:ext cx="476069" cy="1308100"/>
                <a:chOff x="4624509" y="2946400"/>
                <a:chExt cx="476069" cy="1308100"/>
              </a:xfrm>
            </p:grpSpPr>
            <p:cxnSp>
              <p:nvCxnSpPr>
                <p:cNvPr id="1145" name="Google Shape;1145;p37"/>
                <p:cNvCxnSpPr/>
                <p:nvPr/>
              </p:nvCxnSpPr>
              <p:spPr>
                <a:xfrm rot="10800000">
                  <a:off x="4851400" y="2946400"/>
                  <a:ext cx="0" cy="13081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E01A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sp>
              <p:nvSpPr>
                <p:cNvPr id="1146" name="Google Shape;1146;p37"/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0E01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7" name="Google Shape;1147;p37"/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48" name="Google Shape;1148;p37"/>
              <p:cNvSpPr txBox="1"/>
              <p:nvPr/>
            </p:nvSpPr>
            <p:spPr>
              <a:xfrm rot="3246747">
                <a:off x="4123079" y="3044101"/>
                <a:ext cx="736600" cy="541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9" name="Google Shape;1149;p37"/>
            <p:cNvGrpSpPr/>
            <p:nvPr/>
          </p:nvGrpSpPr>
          <p:grpSpPr>
            <a:xfrm rot="-3246747">
              <a:off x="3370046" y="2698487"/>
              <a:ext cx="976395" cy="1389855"/>
              <a:chOff x="5094409" y="2877345"/>
              <a:chExt cx="976395" cy="1389855"/>
            </a:xfrm>
          </p:grpSpPr>
          <p:grpSp>
            <p:nvGrpSpPr>
              <p:cNvPr id="1150" name="Google Shape;1150;p37"/>
              <p:cNvGrpSpPr/>
              <p:nvPr/>
            </p:nvGrpSpPr>
            <p:grpSpPr>
              <a:xfrm>
                <a:off x="5094409" y="2959100"/>
                <a:ext cx="476069" cy="1308100"/>
                <a:chOff x="4624509" y="2946400"/>
                <a:chExt cx="476069" cy="1308100"/>
              </a:xfrm>
            </p:grpSpPr>
            <p:cxnSp>
              <p:nvCxnSpPr>
                <p:cNvPr id="1151" name="Google Shape;1151;p37"/>
                <p:cNvCxnSpPr/>
                <p:nvPr/>
              </p:nvCxnSpPr>
              <p:spPr>
                <a:xfrm rot="10800000">
                  <a:off x="4851400" y="2946400"/>
                  <a:ext cx="0" cy="13081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E01A0"/>
                  </a:solidFill>
                  <a:prstDash val="solid"/>
                  <a:miter lim="800000"/>
                  <a:headEnd len="med" w="med" type="triangle"/>
                  <a:tailEnd len="sm" w="sm" type="none"/>
                </a:ln>
              </p:spPr>
            </p:cxnSp>
            <p:sp>
              <p:nvSpPr>
                <p:cNvPr id="1152" name="Google Shape;1152;p37"/>
                <p:cNvSpPr/>
                <p:nvPr/>
              </p:nvSpPr>
              <p:spPr>
                <a:xfrm>
                  <a:off x="4673600" y="3441700"/>
                  <a:ext cx="342900" cy="3429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0E01A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3" name="Google Shape;1153;p37"/>
                <p:cNvSpPr txBox="1"/>
                <p:nvPr/>
              </p:nvSpPr>
              <p:spPr>
                <a:xfrm rot="3246747">
                  <a:off x="4711700" y="3429000"/>
                  <a:ext cx="30168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54" name="Google Shape;1154;p37"/>
              <p:cNvSpPr txBox="1"/>
              <p:nvPr/>
            </p:nvSpPr>
            <p:spPr>
              <a:xfrm rot="3077103">
                <a:off x="5261072" y="3063392"/>
                <a:ext cx="736600" cy="541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55" name="Google Shape;1155;p37"/>
          <p:cNvGrpSpPr/>
          <p:nvPr/>
        </p:nvGrpSpPr>
        <p:grpSpPr>
          <a:xfrm>
            <a:off x="5130800" y="4368800"/>
            <a:ext cx="3136900" cy="890032"/>
            <a:chOff x="5461000" y="4394200"/>
            <a:chExt cx="3136900" cy="890032"/>
          </a:xfrm>
        </p:grpSpPr>
        <p:grpSp>
          <p:nvGrpSpPr>
            <p:cNvPr id="1156" name="Google Shape;1156;p37"/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1157" name="Google Shape;1157;p37"/>
              <p:cNvCxnSpPr/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58" name="Google Shape;1158;p37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7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0" name="Google Shape;1160;p37"/>
            <p:cNvGrpSpPr/>
            <p:nvPr/>
          </p:nvGrpSpPr>
          <p:grpSpPr>
            <a:xfrm>
              <a:off x="5461000" y="4394200"/>
              <a:ext cx="3136900" cy="535548"/>
              <a:chOff x="6299200" y="3035300"/>
              <a:chExt cx="3136900" cy="535548"/>
            </a:xfrm>
          </p:grpSpPr>
          <p:sp>
            <p:nvSpPr>
              <p:cNvPr id="1161" name="Google Shape;1161;p37"/>
              <p:cNvSpPr txBox="1"/>
              <p:nvPr/>
            </p:nvSpPr>
            <p:spPr>
              <a:xfrm>
                <a:off x="6299200" y="30353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37"/>
              <p:cNvSpPr txBox="1"/>
              <p:nvPr/>
            </p:nvSpPr>
            <p:spPr>
              <a:xfrm>
                <a:off x="6413500" y="3276600"/>
                <a:ext cx="3022600" cy="294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Referrer: socks.com, cookie: 7493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63" name="Google Shape;1163;p37"/>
          <p:cNvGrpSpPr/>
          <p:nvPr/>
        </p:nvGrpSpPr>
        <p:grpSpPr>
          <a:xfrm>
            <a:off x="5651500" y="5346700"/>
            <a:ext cx="2641600" cy="840348"/>
            <a:chOff x="6032500" y="5308600"/>
            <a:chExt cx="2641600" cy="840348"/>
          </a:xfrm>
        </p:grpSpPr>
        <p:grpSp>
          <p:nvGrpSpPr>
            <p:cNvPr id="1164" name="Google Shape;1164;p37"/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1165" name="Google Shape;1165;p37"/>
              <p:cNvCxnSpPr/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1166" name="Google Shape;1166;p37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37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8" name="Google Shape;1168;p37"/>
            <p:cNvGrpSpPr/>
            <p:nvPr/>
          </p:nvGrpSpPr>
          <p:grpSpPr>
            <a:xfrm>
              <a:off x="6032500" y="5600700"/>
              <a:ext cx="2641600" cy="548248"/>
              <a:chOff x="6680200" y="3187700"/>
              <a:chExt cx="2641600" cy="548248"/>
            </a:xfrm>
          </p:grpSpPr>
          <p:sp>
            <p:nvSpPr>
              <p:cNvPr id="1169" name="Google Shape;1169;p37"/>
              <p:cNvSpPr txBox="1"/>
              <p:nvPr/>
            </p:nvSpPr>
            <p:spPr>
              <a:xfrm>
                <a:off x="6680200" y="31877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37"/>
              <p:cNvSpPr txBox="1"/>
              <p:nvPr/>
            </p:nvSpPr>
            <p:spPr>
              <a:xfrm>
                <a:off x="6807200" y="3441700"/>
                <a:ext cx="2514600" cy="294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600" u="none" cap="none" strike="noStrik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b="0" i="0" sz="1800" u="none" cap="none" strike="noStrike">
                  <a:solidFill>
                    <a:srgbClr val="7030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71" name="Google Shape;1171;p37"/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socks.com, 2/16/22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37"/>
          <p:cNvSpPr/>
          <p:nvPr/>
        </p:nvSpPr>
        <p:spPr>
          <a:xfrm>
            <a:off x="4216838" y="1104901"/>
            <a:ext cx="4737100" cy="1828800"/>
          </a:xfrm>
          <a:prstGeom prst="rect">
            <a:avLst/>
          </a:prstGeom>
          <a:solidFill>
            <a:schemeClr val="lt1">
              <a:alpha val="6666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37"/>
          <p:cNvSpPr txBox="1"/>
          <p:nvPr/>
        </p:nvSpPr>
        <p:spPr>
          <a:xfrm>
            <a:off x="7973060" y="2425700"/>
            <a:ext cx="3886201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tracks my web browsing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 sites with AdX 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return targeted ads based on browsing history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9" name="Google Shape;1179;p38"/>
          <p:cNvGrpSpPr/>
          <p:nvPr/>
        </p:nvGrpSpPr>
        <p:grpSpPr>
          <a:xfrm>
            <a:off x="6946900" y="1524000"/>
            <a:ext cx="711200" cy="1016000"/>
            <a:chOff x="1282700" y="2006600"/>
            <a:chExt cx="2603500" cy="3263900"/>
          </a:xfrm>
        </p:grpSpPr>
        <p:sp>
          <p:nvSpPr>
            <p:cNvPr id="1180" name="Google Shape;1180;p38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38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38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3" name="Google Shape;1183;p38"/>
          <p:cNvGrpSpPr/>
          <p:nvPr/>
        </p:nvGrpSpPr>
        <p:grpSpPr>
          <a:xfrm>
            <a:off x="4622800" y="5626100"/>
            <a:ext cx="711200" cy="1016000"/>
            <a:chOff x="1282700" y="2006600"/>
            <a:chExt cx="2603500" cy="3263900"/>
          </a:xfrm>
        </p:grpSpPr>
        <p:sp>
          <p:nvSpPr>
            <p:cNvPr id="1184" name="Google Shape;1184;p38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38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38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7" name="Google Shape;1187;p38"/>
          <p:cNvSpPr txBox="1"/>
          <p:nvPr/>
        </p:nvSpPr>
        <p:spPr>
          <a:xfrm>
            <a:off x="360491" y="261258"/>
            <a:ext cx="1106841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b="0" i="0" lang="en-US" sz="36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 </a:t>
            </a:r>
            <a:r>
              <a:rPr b="0" i="0" lang="en-US" sz="2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(one day later)</a:t>
            </a:r>
            <a:endParaRPr b="0" i="0" sz="36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8" name="Google Shape;1188;p38"/>
          <p:cNvGrpSpPr/>
          <p:nvPr/>
        </p:nvGrpSpPr>
        <p:grpSpPr>
          <a:xfrm>
            <a:off x="4421414" y="1364343"/>
            <a:ext cx="519313" cy="1096646"/>
            <a:chOff x="4140" y="429"/>
            <a:chExt cx="1425" cy="2396"/>
          </a:xfrm>
        </p:grpSpPr>
        <p:sp>
          <p:nvSpPr>
            <p:cNvPr id="1189" name="Google Shape;1189;p3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38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3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3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38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4" name="Google Shape;1194;p38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195" name="Google Shape;1195;p38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6" name="Google Shape;1196;p38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7" name="Google Shape;1197;p38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8" name="Google Shape;1198;p38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199" name="Google Shape;1199;p38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0" name="Google Shape;1200;p38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1" name="Google Shape;1201;p38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38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3" name="Google Shape;1203;p38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204" name="Google Shape;1204;p38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38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6" name="Google Shape;1206;p3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7" name="Google Shape;1207;p38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208" name="Google Shape;1208;p38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38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0" name="Google Shape;1210;p38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3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3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38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3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38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38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38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38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38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38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21" name="Google Shape;12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471" y="1230461"/>
            <a:ext cx="1797957" cy="1299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2" name="Google Shape;1222;p38"/>
          <p:cNvGrpSpPr/>
          <p:nvPr/>
        </p:nvGrpSpPr>
        <p:grpSpPr>
          <a:xfrm>
            <a:off x="8178799" y="4820558"/>
            <a:ext cx="519313" cy="1096646"/>
            <a:chOff x="4140" y="429"/>
            <a:chExt cx="1425" cy="2396"/>
          </a:xfrm>
        </p:grpSpPr>
        <p:sp>
          <p:nvSpPr>
            <p:cNvPr id="1223" name="Google Shape;1223;p3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38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3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3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38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8" name="Google Shape;1228;p38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229" name="Google Shape;1229;p38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38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1" name="Google Shape;1231;p38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2" name="Google Shape;1232;p38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233" name="Google Shape;1233;p38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38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5" name="Google Shape;1235;p38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38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7" name="Google Shape;1237;p38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238" name="Google Shape;1238;p38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38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0" name="Google Shape;1240;p3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1" name="Google Shape;1241;p38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242" name="Google Shape;1242;p38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38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4" name="Google Shape;1244;p38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8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8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8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8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5" name="Google Shape;1255;p38"/>
          <p:cNvGrpSpPr/>
          <p:nvPr/>
        </p:nvGrpSpPr>
        <p:grpSpPr>
          <a:xfrm>
            <a:off x="3586046" y="4406221"/>
            <a:ext cx="1432267" cy="1301523"/>
            <a:chOff x="2718817" y="3255963"/>
            <a:chExt cx="1432267" cy="1301523"/>
          </a:xfrm>
        </p:grpSpPr>
        <p:grpSp>
          <p:nvGrpSpPr>
            <p:cNvPr id="1256" name="Google Shape;1256;p38"/>
            <p:cNvGrpSpPr/>
            <p:nvPr/>
          </p:nvGrpSpPr>
          <p:grpSpPr>
            <a:xfrm>
              <a:off x="2718817" y="3255963"/>
              <a:ext cx="1432267" cy="1301523"/>
              <a:chOff x="-44" y="1473"/>
              <a:chExt cx="981" cy="1105"/>
            </a:xfrm>
          </p:grpSpPr>
          <p:pic>
            <p:nvPicPr>
              <p:cNvPr descr="desktop_computer_stylized_medium" id="1257" name="Google Shape;1257;p3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8" name="Google Shape;1258;p3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Icon&#10;&#10;Description automatically generated" id="1259" name="Google Shape;1259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51200" y="3436256"/>
              <a:ext cx="870857" cy="4898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0" name="Google Shape;1260;p38"/>
          <p:cNvSpPr txBox="1"/>
          <p:nvPr/>
        </p:nvSpPr>
        <p:spPr>
          <a:xfrm>
            <a:off x="4352471" y="2398486"/>
            <a:ext cx="23498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nytimes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 (arts)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38"/>
          <p:cNvSpPr txBox="1"/>
          <p:nvPr/>
        </p:nvSpPr>
        <p:spPr>
          <a:xfrm>
            <a:off x="8095344" y="5878285"/>
            <a:ext cx="12279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38"/>
          <p:cNvSpPr txBox="1"/>
          <p:nvPr/>
        </p:nvSpPr>
        <p:spPr>
          <a:xfrm>
            <a:off x="6997700" y="1778000"/>
            <a:ext cx="20473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3" name="Google Shape;1263;p38"/>
          <p:cNvGrpSpPr/>
          <p:nvPr/>
        </p:nvGrpSpPr>
        <p:grpSpPr>
          <a:xfrm>
            <a:off x="9182100" y="4902200"/>
            <a:ext cx="711200" cy="1016000"/>
            <a:chOff x="1282700" y="2006600"/>
            <a:chExt cx="2603500" cy="3263900"/>
          </a:xfrm>
        </p:grpSpPr>
        <p:sp>
          <p:nvSpPr>
            <p:cNvPr id="1264" name="Google Shape;1264;p38"/>
            <p:cNvSpPr/>
            <p:nvPr/>
          </p:nvSpPr>
          <p:spPr>
            <a:xfrm>
              <a:off x="1282700" y="2755900"/>
              <a:ext cx="2603500" cy="2514600"/>
            </a:xfrm>
            <a:prstGeom prst="roundRect">
              <a:avLst>
                <a:gd fmla="val 16667" name="adj"/>
              </a:avLst>
            </a:prstGeom>
            <a:solidFill>
              <a:srgbClr val="DDEAF6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8"/>
            <p:cNvSpPr/>
            <p:nvPr/>
          </p:nvSpPr>
          <p:spPr>
            <a:xfrm>
              <a:off x="1727200" y="2552700"/>
              <a:ext cx="1765300" cy="177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8"/>
            <p:cNvSpPr/>
            <p:nvPr/>
          </p:nvSpPr>
          <p:spPr>
            <a:xfrm>
              <a:off x="1524000" y="2006600"/>
              <a:ext cx="2209800" cy="520700"/>
            </a:xfrm>
            <a:prstGeom prst="roundRect">
              <a:avLst>
                <a:gd fmla="val 16667" name="adj"/>
              </a:avLst>
            </a:prstGeom>
            <a:solidFill>
              <a:srgbClr val="EDEDED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7" name="Google Shape;1267;p38"/>
          <p:cNvSpPr txBox="1"/>
          <p:nvPr/>
        </p:nvSpPr>
        <p:spPr>
          <a:xfrm>
            <a:off x="4229100" y="5867400"/>
            <a:ext cx="16369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NY Times: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38"/>
          <p:cNvSpPr txBox="1"/>
          <p:nvPr/>
        </p:nvSpPr>
        <p:spPr>
          <a:xfrm>
            <a:off x="9226009" y="5181600"/>
            <a:ext cx="28648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sports,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38"/>
          <p:cNvSpPr txBox="1"/>
          <p:nvPr/>
        </p:nvSpPr>
        <p:spPr>
          <a:xfrm>
            <a:off x="4660900" y="6121400"/>
            <a:ext cx="10855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AdX: </a:t>
            </a: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endParaRPr b="0" i="0" sz="1600" u="none" cap="none" strike="noStrik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0" name="Google Shape;1270;p38"/>
          <p:cNvGrpSpPr/>
          <p:nvPr/>
        </p:nvGrpSpPr>
        <p:grpSpPr>
          <a:xfrm>
            <a:off x="2478314" y="1935843"/>
            <a:ext cx="519313" cy="1096646"/>
            <a:chOff x="4140" y="429"/>
            <a:chExt cx="1425" cy="2396"/>
          </a:xfrm>
        </p:grpSpPr>
        <p:sp>
          <p:nvSpPr>
            <p:cNvPr id="1271" name="Google Shape;1271;p3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38"/>
            <p:cNvSpPr/>
            <p:nvPr/>
          </p:nvSpPr>
          <p:spPr>
            <a:xfrm>
              <a:off x="4208" y="429"/>
              <a:ext cx="1043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3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3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38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6" name="Google Shape;1276;p38"/>
            <p:cNvGrpSpPr/>
            <p:nvPr/>
          </p:nvGrpSpPr>
          <p:grpSpPr>
            <a:xfrm>
              <a:off x="4747" y="666"/>
              <a:ext cx="582" cy="146"/>
              <a:chOff x="612" y="2566"/>
              <a:chExt cx="726" cy="140"/>
            </a:xfrm>
          </p:grpSpPr>
          <p:sp>
            <p:nvSpPr>
              <p:cNvPr id="1277" name="Google Shape;1277;p38"/>
              <p:cNvSpPr/>
              <p:nvPr/>
            </p:nvSpPr>
            <p:spPr>
              <a:xfrm>
                <a:off x="612" y="2566"/>
                <a:ext cx="726" cy="14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38"/>
              <p:cNvSpPr/>
              <p:nvPr/>
            </p:nvSpPr>
            <p:spPr>
              <a:xfrm>
                <a:off x="625" y="2580"/>
                <a:ext cx="69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9" name="Google Shape;1279;p38"/>
            <p:cNvSpPr/>
            <p:nvPr/>
          </p:nvSpPr>
          <p:spPr>
            <a:xfrm>
              <a:off x="4224" y="1018"/>
              <a:ext cx="597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80" name="Google Shape;1280;p38"/>
            <p:cNvGrpSpPr/>
            <p:nvPr/>
          </p:nvGrpSpPr>
          <p:grpSpPr>
            <a:xfrm>
              <a:off x="4748" y="993"/>
              <a:ext cx="582" cy="136"/>
              <a:chOff x="615" y="2567"/>
              <a:chExt cx="726" cy="141"/>
            </a:xfrm>
          </p:grpSpPr>
          <p:sp>
            <p:nvSpPr>
              <p:cNvPr id="1281" name="Google Shape;1281;p38"/>
              <p:cNvSpPr/>
              <p:nvPr/>
            </p:nvSpPr>
            <p:spPr>
              <a:xfrm>
                <a:off x="615" y="2567"/>
                <a:ext cx="726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38"/>
              <p:cNvSpPr/>
              <p:nvPr/>
            </p:nvSpPr>
            <p:spPr>
              <a:xfrm>
                <a:off x="628" y="2582"/>
                <a:ext cx="693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83" name="Google Shape;1283;p38"/>
            <p:cNvSpPr/>
            <p:nvPr/>
          </p:nvSpPr>
          <p:spPr>
            <a:xfrm>
              <a:off x="4219" y="1360"/>
              <a:ext cx="592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4229" y="1657"/>
              <a:ext cx="597" cy="45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85" name="Google Shape;1285;p38"/>
            <p:cNvGrpSpPr/>
            <p:nvPr/>
          </p:nvGrpSpPr>
          <p:grpSpPr>
            <a:xfrm>
              <a:off x="4737" y="1627"/>
              <a:ext cx="581" cy="151"/>
              <a:chOff x="617" y="2568"/>
              <a:chExt cx="724" cy="139"/>
            </a:xfrm>
          </p:grpSpPr>
          <p:sp>
            <p:nvSpPr>
              <p:cNvPr id="1286" name="Google Shape;1286;p38"/>
              <p:cNvSpPr/>
              <p:nvPr/>
            </p:nvSpPr>
            <p:spPr>
              <a:xfrm>
                <a:off x="617" y="2568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38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88" name="Google Shape;1288;p3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89" name="Google Shape;1289;p38"/>
            <p:cNvGrpSpPr/>
            <p:nvPr/>
          </p:nvGrpSpPr>
          <p:grpSpPr>
            <a:xfrm>
              <a:off x="4737" y="1325"/>
              <a:ext cx="581" cy="141"/>
              <a:chOff x="612" y="2566"/>
              <a:chExt cx="724" cy="141"/>
            </a:xfrm>
          </p:grpSpPr>
          <p:sp>
            <p:nvSpPr>
              <p:cNvPr id="1290" name="Google Shape;1290;p38"/>
              <p:cNvSpPr/>
              <p:nvPr/>
            </p:nvSpPr>
            <p:spPr>
              <a:xfrm>
                <a:off x="612" y="2566"/>
                <a:ext cx="724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38"/>
              <p:cNvSpPr/>
              <p:nvPr/>
            </p:nvSpPr>
            <p:spPr>
              <a:xfrm>
                <a:off x="625" y="2581"/>
                <a:ext cx="692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92" name="Google Shape;1292;p38"/>
            <p:cNvSpPr/>
            <p:nvPr/>
          </p:nvSpPr>
          <p:spPr>
            <a:xfrm>
              <a:off x="5251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38"/>
            <p:cNvSpPr/>
            <p:nvPr/>
          </p:nvSpPr>
          <p:spPr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3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8"/>
            <p:cNvSpPr/>
            <p:nvPr/>
          </p:nvSpPr>
          <p:spPr>
            <a:xfrm>
              <a:off x="4140" y="2679"/>
              <a:ext cx="1200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8"/>
            <p:cNvSpPr/>
            <p:nvPr/>
          </p:nvSpPr>
          <p:spPr>
            <a:xfrm>
              <a:off x="4208" y="2709"/>
              <a:ext cx="1069" cy="86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8"/>
            <p:cNvSpPr/>
            <p:nvPr/>
          </p:nvSpPr>
          <p:spPr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8"/>
            <p:cNvSpPr/>
            <p:nvPr/>
          </p:nvSpPr>
          <p:spPr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8"/>
            <p:cNvSpPr/>
            <p:nvPr/>
          </p:nvSpPr>
          <p:spPr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8"/>
            <p:cNvSpPr/>
            <p:nvPr/>
          </p:nvSpPr>
          <p:spPr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3" name="Google Shape;1303;p38"/>
          <p:cNvSpPr txBox="1"/>
          <p:nvPr/>
        </p:nvSpPr>
        <p:spPr>
          <a:xfrm>
            <a:off x="1482271" y="2995386"/>
            <a:ext cx="1428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socks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4" name="Google Shape;1304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300" y="1492250"/>
            <a:ext cx="2197100" cy="1572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5" name="Google Shape;1305;p38"/>
          <p:cNvGrpSpPr/>
          <p:nvPr/>
        </p:nvGrpSpPr>
        <p:grpSpPr>
          <a:xfrm>
            <a:off x="4978400" y="4381500"/>
            <a:ext cx="3536404" cy="877332"/>
            <a:chOff x="5308600" y="4406900"/>
            <a:chExt cx="3536404" cy="877332"/>
          </a:xfrm>
        </p:grpSpPr>
        <p:grpSp>
          <p:nvGrpSpPr>
            <p:cNvPr id="1306" name="Google Shape;1306;p38"/>
            <p:cNvGrpSpPr/>
            <p:nvPr/>
          </p:nvGrpSpPr>
          <p:grpSpPr>
            <a:xfrm>
              <a:off x="6261100" y="4914900"/>
              <a:ext cx="1854200" cy="369332"/>
              <a:chOff x="3721100" y="3429000"/>
              <a:chExt cx="1854200" cy="369332"/>
            </a:xfrm>
          </p:grpSpPr>
          <p:cxnSp>
            <p:nvCxnSpPr>
              <p:cNvPr id="1307" name="Google Shape;1307;p38"/>
              <p:cNvCxnSpPr/>
              <p:nvPr/>
            </p:nvCxnSpPr>
            <p:spPr>
              <a:xfrm>
                <a:off x="3721100" y="3594100"/>
                <a:ext cx="18542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308" name="Google Shape;1308;p38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38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0" name="Google Shape;1310;p38"/>
            <p:cNvGrpSpPr/>
            <p:nvPr/>
          </p:nvGrpSpPr>
          <p:grpSpPr>
            <a:xfrm>
              <a:off x="5308600" y="4406900"/>
              <a:ext cx="3536404" cy="548045"/>
              <a:chOff x="6146800" y="3048000"/>
              <a:chExt cx="3536404" cy="548045"/>
            </a:xfrm>
          </p:grpSpPr>
          <p:sp>
            <p:nvSpPr>
              <p:cNvPr id="1311" name="Google Shape;1311;p38"/>
              <p:cNvSpPr txBox="1"/>
              <p:nvPr/>
            </p:nvSpPr>
            <p:spPr>
              <a:xfrm>
                <a:off x="6146800" y="30480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GET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38"/>
              <p:cNvSpPr txBox="1"/>
              <p:nvPr/>
            </p:nvSpPr>
            <p:spPr>
              <a:xfrm>
                <a:off x="6273800" y="3276599"/>
                <a:ext cx="3409404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Referrer: nytimes.com, cookie: </a:t>
                </a:r>
                <a:r>
                  <a:rPr b="0" i="0" lang="en-US" sz="1800" u="none" cap="none" strike="noStrik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13" name="Google Shape;1313;p38"/>
          <p:cNvGrpSpPr/>
          <p:nvPr/>
        </p:nvGrpSpPr>
        <p:grpSpPr>
          <a:xfrm>
            <a:off x="5626100" y="5346700"/>
            <a:ext cx="2641600" cy="865546"/>
            <a:chOff x="6007100" y="5308600"/>
            <a:chExt cx="2641600" cy="865546"/>
          </a:xfrm>
        </p:grpSpPr>
        <p:grpSp>
          <p:nvGrpSpPr>
            <p:cNvPr id="1314" name="Google Shape;1314;p38"/>
            <p:cNvGrpSpPr/>
            <p:nvPr/>
          </p:nvGrpSpPr>
          <p:grpSpPr>
            <a:xfrm>
              <a:off x="6273800" y="5308600"/>
              <a:ext cx="1841500" cy="369332"/>
              <a:chOff x="3721100" y="3429000"/>
              <a:chExt cx="1841500" cy="369332"/>
            </a:xfrm>
          </p:grpSpPr>
          <p:cxnSp>
            <p:nvCxnSpPr>
              <p:cNvPr id="1315" name="Google Shape;1315;p38"/>
              <p:cNvCxnSpPr/>
              <p:nvPr/>
            </p:nvCxnSpPr>
            <p:spPr>
              <a:xfrm>
                <a:off x="3721100" y="3594100"/>
                <a:ext cx="1841500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1316" name="Google Shape;1316;p38"/>
              <p:cNvSpPr/>
              <p:nvPr/>
            </p:nvSpPr>
            <p:spPr>
              <a:xfrm>
                <a:off x="4673600" y="3441700"/>
                <a:ext cx="342900" cy="342900"/>
              </a:xfrm>
              <a:prstGeom prst="ellipse">
                <a:avLst/>
              </a:prstGeom>
              <a:solidFill>
                <a:schemeClr val="lt1"/>
              </a:solidFill>
              <a:ln cap="flat" cmpd="sng" w="19050">
                <a:solidFill>
                  <a:srgbClr val="0E01A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38"/>
              <p:cNvSpPr txBox="1"/>
              <p:nvPr/>
            </p:nvSpPr>
            <p:spPr>
              <a:xfrm>
                <a:off x="4686300" y="3429000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8" name="Google Shape;1318;p38"/>
            <p:cNvGrpSpPr/>
            <p:nvPr/>
          </p:nvGrpSpPr>
          <p:grpSpPr>
            <a:xfrm>
              <a:off x="6007100" y="5600700"/>
              <a:ext cx="2641600" cy="573446"/>
              <a:chOff x="6654800" y="3187700"/>
              <a:chExt cx="2641600" cy="573446"/>
            </a:xfrm>
          </p:grpSpPr>
          <p:sp>
            <p:nvSpPr>
              <p:cNvPr id="1319" name="Google Shape;1319;p38"/>
              <p:cNvSpPr txBox="1"/>
              <p:nvPr/>
            </p:nvSpPr>
            <p:spPr>
              <a:xfrm>
                <a:off x="6654800" y="3187700"/>
                <a:ext cx="14732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38"/>
              <p:cNvSpPr txBox="1"/>
              <p:nvPr/>
            </p:nvSpPr>
            <p:spPr>
              <a:xfrm>
                <a:off x="6781800" y="3441700"/>
                <a:ext cx="25146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800" u="none" cap="none" strike="noStrike">
                    <a:solidFill>
                      <a:srgbClr val="703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7493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21" name="Google Shape;1321;p38"/>
          <p:cNvSpPr txBox="1"/>
          <p:nvPr/>
        </p:nvSpPr>
        <p:spPr>
          <a:xfrm>
            <a:off x="9238709" y="5397500"/>
            <a:ext cx="23851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socks.com, 2/16/22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38"/>
          <p:cNvSpPr/>
          <p:nvPr/>
        </p:nvSpPr>
        <p:spPr>
          <a:xfrm>
            <a:off x="152400" y="1257300"/>
            <a:ext cx="3035300" cy="2273300"/>
          </a:xfrm>
          <a:prstGeom prst="rect">
            <a:avLst/>
          </a:prstGeom>
          <a:solidFill>
            <a:schemeClr val="lt1">
              <a:alpha val="6666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38"/>
          <p:cNvSpPr/>
          <p:nvPr/>
        </p:nvSpPr>
        <p:spPr>
          <a:xfrm>
            <a:off x="5041900" y="1663700"/>
            <a:ext cx="1676400" cy="82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4" name="Google Shape;1324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68900" y="1705046"/>
            <a:ext cx="1447800" cy="7770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5" name="Google Shape;1325;p38"/>
          <p:cNvGrpSpPr/>
          <p:nvPr/>
        </p:nvGrpSpPr>
        <p:grpSpPr>
          <a:xfrm>
            <a:off x="2946400" y="2946400"/>
            <a:ext cx="3797300" cy="1333500"/>
            <a:chOff x="2946400" y="2946400"/>
            <a:chExt cx="3797300" cy="1333500"/>
          </a:xfrm>
        </p:grpSpPr>
        <p:sp>
          <p:nvSpPr>
            <p:cNvPr id="1326" name="Google Shape;1326;p38"/>
            <p:cNvSpPr txBox="1"/>
            <p:nvPr/>
          </p:nvSpPr>
          <p:spPr>
            <a:xfrm>
              <a:off x="2946400" y="3733800"/>
              <a:ext cx="186690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cookie: </a:t>
              </a: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1634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7" name="Google Shape;1327;p38"/>
            <p:cNvGrpSpPr/>
            <p:nvPr/>
          </p:nvGrpSpPr>
          <p:grpSpPr>
            <a:xfrm>
              <a:off x="3771900" y="2946400"/>
              <a:ext cx="2971800" cy="1333500"/>
              <a:chOff x="3771900" y="2946400"/>
              <a:chExt cx="2971800" cy="1333500"/>
            </a:xfrm>
          </p:grpSpPr>
          <p:cxnSp>
            <p:nvCxnSpPr>
              <p:cNvPr id="1328" name="Google Shape;1328;p38"/>
              <p:cNvCxnSpPr/>
              <p:nvPr/>
            </p:nvCxnSpPr>
            <p:spPr>
              <a:xfrm rot="10800000">
                <a:off x="5118100" y="2971800"/>
                <a:ext cx="0" cy="13081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E01A0"/>
                </a:solidFill>
                <a:prstDash val="solid"/>
                <a:miter lim="800000"/>
                <a:headEnd len="med" w="med" type="triangle"/>
                <a:tailEnd len="sm" w="sm" type="none"/>
              </a:ln>
            </p:spPr>
          </p:cxnSp>
          <p:sp>
            <p:nvSpPr>
              <p:cNvPr id="1329" name="Google Shape;1329;p38"/>
              <p:cNvSpPr txBox="1"/>
              <p:nvPr/>
            </p:nvSpPr>
            <p:spPr>
              <a:xfrm>
                <a:off x="5105400" y="3302000"/>
                <a:ext cx="736600" cy="5410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 reply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30" name="Google Shape;1330;p38"/>
              <p:cNvGrpSpPr/>
              <p:nvPr/>
            </p:nvGrpSpPr>
            <p:grpSpPr>
              <a:xfrm>
                <a:off x="3771900" y="2946400"/>
                <a:ext cx="1473200" cy="1308100"/>
                <a:chOff x="3771900" y="2946400"/>
                <a:chExt cx="1473200" cy="1308100"/>
              </a:xfrm>
            </p:grpSpPr>
            <p:cxnSp>
              <p:nvCxnSpPr>
                <p:cNvPr id="1331" name="Google Shape;1331;p38"/>
                <p:cNvCxnSpPr/>
                <p:nvPr/>
              </p:nvCxnSpPr>
              <p:spPr>
                <a:xfrm rot="10800000">
                  <a:off x="4851400" y="2946400"/>
                  <a:ext cx="0" cy="130810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0E01A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sp>
              <p:nvSpPr>
                <p:cNvPr id="1332" name="Google Shape;1332;p38"/>
                <p:cNvSpPr txBox="1"/>
                <p:nvPr/>
              </p:nvSpPr>
              <p:spPr>
                <a:xfrm>
                  <a:off x="3771900" y="3276600"/>
                  <a:ext cx="1473200" cy="5410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HTTP 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GET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33" name="Google Shape;1333;p38"/>
              <p:cNvSpPr txBox="1"/>
              <p:nvPr/>
            </p:nvSpPr>
            <p:spPr>
              <a:xfrm>
                <a:off x="4876800" y="3746500"/>
                <a:ext cx="1866900" cy="319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Set cookie: </a:t>
                </a: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1634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34" name="Google Shape;1334;p38"/>
          <p:cNvSpPr txBox="1"/>
          <p:nvPr/>
        </p:nvSpPr>
        <p:spPr>
          <a:xfrm>
            <a:off x="7010400" y="2019300"/>
            <a:ext cx="18485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1634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arts, 2/17/22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38"/>
          <p:cNvSpPr txBox="1"/>
          <p:nvPr/>
        </p:nvSpPr>
        <p:spPr>
          <a:xfrm>
            <a:off x="9251409" y="5626100"/>
            <a:ext cx="26661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7493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NY Times arts, 2/15/22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38"/>
          <p:cNvSpPr txBox="1"/>
          <p:nvPr/>
        </p:nvSpPr>
        <p:spPr>
          <a:xfrm>
            <a:off x="5753100" y="6108700"/>
            <a:ext cx="22695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Returned ad for socks!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39"/>
          <p:cNvSpPr txBox="1"/>
          <p:nvPr/>
        </p:nvSpPr>
        <p:spPr>
          <a:xfrm>
            <a:off x="360491" y="261258"/>
            <a:ext cx="1079013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Cookies: </a:t>
            </a: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tracking a user’s browsing behavior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39"/>
          <p:cNvSpPr txBox="1"/>
          <p:nvPr>
            <p:ph idx="1" type="body"/>
          </p:nvPr>
        </p:nvSpPr>
        <p:spPr>
          <a:xfrm>
            <a:off x="613541" y="1386556"/>
            <a:ext cx="10515600" cy="5071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Cookies can be used to: </a:t>
            </a:r>
            <a:endParaRPr/>
          </a:p>
          <a:p>
            <a:pPr indent="-227012" lvl="0" marL="4635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track user behavior on a given website (</a:t>
            </a:r>
            <a:r>
              <a:rPr lang="en-US">
                <a:solidFill>
                  <a:srgbClr val="C00000"/>
                </a:solidFill>
              </a:rPr>
              <a:t>first party cookies</a:t>
            </a:r>
            <a:r>
              <a:rPr lang="en-US"/>
              <a:t>)</a:t>
            </a:r>
            <a:endParaRPr/>
          </a:p>
          <a:p>
            <a:pPr indent="-227012" lvl="0" marL="4635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track user behavior across multiple websites (</a:t>
            </a:r>
            <a:r>
              <a:rPr lang="en-US">
                <a:solidFill>
                  <a:srgbClr val="C00000"/>
                </a:solidFill>
              </a:rPr>
              <a:t>third party cookies</a:t>
            </a:r>
            <a:r>
              <a:rPr lang="en-US"/>
              <a:t>) without user ever choosing to visit tracker site (!)</a:t>
            </a:r>
            <a:endParaRPr/>
          </a:p>
          <a:p>
            <a:pPr indent="-227012" lvl="0" marL="4635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tracking may be </a:t>
            </a:r>
            <a:r>
              <a:rPr i="1" lang="en-US"/>
              <a:t>invisible</a:t>
            </a:r>
            <a:r>
              <a:rPr lang="en-US"/>
              <a:t> to user:</a:t>
            </a:r>
            <a:endParaRPr/>
          </a:p>
          <a:p>
            <a:pPr indent="-168275" lvl="1" marL="8604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14A3"/>
              </a:buClr>
              <a:buSzPts val="2400"/>
              <a:buChar char="•"/>
            </a:pPr>
            <a:r>
              <a:rPr lang="en-US"/>
              <a:t>rather than displayed ad triggering HTTP GET to tracker, could be an invisible link</a:t>
            </a:r>
            <a:endParaRPr/>
          </a:p>
          <a:p>
            <a:pPr indent="-74612" lvl="1" marL="920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A14A3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236536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None/>
            </a:pPr>
            <a:r>
              <a:rPr lang="en-US"/>
              <a:t>third party tracking via cookies:</a:t>
            </a:r>
            <a:endParaRPr/>
          </a:p>
          <a:p>
            <a:pPr indent="-341313" lvl="0" marL="6921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disabled by default in Firefox, Safari browsers</a:t>
            </a:r>
            <a:endParaRPr/>
          </a:p>
          <a:p>
            <a:pPr indent="-341313" lvl="0" marL="6921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14A3"/>
              </a:buClr>
              <a:buSzPts val="2800"/>
              <a:buFont typeface="Noto Sans Symbols"/>
              <a:buChar char="▪"/>
            </a:pPr>
            <a:r>
              <a:rPr lang="en-US"/>
              <a:t>to be disabled in Chrome browser in 2023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40"/>
          <p:cNvSpPr txBox="1"/>
          <p:nvPr/>
        </p:nvSpPr>
        <p:spPr>
          <a:xfrm>
            <a:off x="360491" y="261258"/>
            <a:ext cx="270189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44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40"/>
          <p:cNvSpPr txBox="1"/>
          <p:nvPr>
            <p:ph idx="1" type="body"/>
          </p:nvPr>
        </p:nvSpPr>
        <p:spPr>
          <a:xfrm>
            <a:off x="613541" y="1386556"/>
            <a:ext cx="10515600" cy="5071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Computer Networking: A Top-Down Approach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Chapter 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TCP/IP Protocol Suite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Chapter 22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https://www.youtube.com/watch?v=h2kdEvquRY4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https://www.scaler.com/topics/persistent-connection-http/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41"/>
          <p:cNvSpPr txBox="1"/>
          <p:nvPr/>
        </p:nvSpPr>
        <p:spPr>
          <a:xfrm>
            <a:off x="4206625" y="2841511"/>
            <a:ext cx="41832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0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2020-01-18T07:24:59Z</dcterms:created>
  <dc:creator>James Kurose</dc:creator>
</cp:coreProperties>
</file>