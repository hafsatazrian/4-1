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6858000" cy="9144000"/>
  <p:embeddedFontLst>
    <p:embeddedFont>
      <p:font typeface="Arimo"/>
      <p:regular r:id="rId46"/>
      <p:bold r:id="rId47"/>
      <p:italic r:id="rId48"/>
      <p:boldItalic r:id="rId49"/>
    </p:embeddedFont>
    <p:embeddedFont>
      <p:font typeface="Arial Narrow"/>
      <p:regular r:id="rId50"/>
      <p:bold r:id="rId51"/>
      <p:italic r:id="rId52"/>
      <p:boldItalic r:id="rId53"/>
    </p:embeddedFont>
    <p:embeddedFont>
      <p:font typeface="Tahoma"/>
      <p:regular r:id="rId54"/>
      <p:bold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Arimo-regular.fntdata"/><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Arimo-italic.fntdata"/><Relationship Id="rId47" Type="http://schemas.openxmlformats.org/officeDocument/2006/relationships/font" Target="fonts/Arimo-bold.fntdata"/><Relationship Id="rId49" Type="http://schemas.openxmlformats.org/officeDocument/2006/relationships/font" Target="fonts/Arim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ArialNarrow-bold.fntdata"/><Relationship Id="rId50" Type="http://schemas.openxmlformats.org/officeDocument/2006/relationships/font" Target="fonts/ArialNarrow-regular.fntdata"/><Relationship Id="rId53" Type="http://schemas.openxmlformats.org/officeDocument/2006/relationships/font" Target="fonts/ArialNarrow-boldItalic.fntdata"/><Relationship Id="rId52" Type="http://schemas.openxmlformats.org/officeDocument/2006/relationships/font" Target="fonts/ArialNarrow-italic.fntdata"/><Relationship Id="rId11" Type="http://schemas.openxmlformats.org/officeDocument/2006/relationships/slide" Target="slides/slide6.xml"/><Relationship Id="rId55" Type="http://schemas.openxmlformats.org/officeDocument/2006/relationships/font" Target="fonts/Tahoma-bold.fntdata"/><Relationship Id="rId10" Type="http://schemas.openxmlformats.org/officeDocument/2006/relationships/slide" Target="slides/slide5.xml"/><Relationship Id="rId54" Type="http://schemas.openxmlformats.org/officeDocument/2006/relationships/font" Target="fonts/Tahoma-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89a97452f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89a97452f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389a97452f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Typical MSS is 1460 bytes</a:t>
            </a:r>
            <a:endParaRPr/>
          </a:p>
        </p:txBody>
      </p:sp>
      <p:sp>
        <p:nvSpPr>
          <p:cNvPr id="118" name="Google Shape;118;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thing to note here is that the ACK number (43) on the B-to-A segment is one more than the sequence number (42) on the A-to-B segment that triggered that ACK</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Similarly, the ACK number (80) on the last A-to-B segment is one more than the sequence number (79) on the B-to-A segment that triggered that ACK</a:t>
            </a:r>
            <a:endParaRPr/>
          </a:p>
          <a:p>
            <a:pPr indent="0" lvl="0" marL="0" rtl="0" algn="l">
              <a:spcBef>
                <a:spcPts val="0"/>
              </a:spcBef>
              <a:spcAft>
                <a:spcPts val="0"/>
              </a:spcAft>
              <a:buNone/>
            </a:pPr>
            <a:r>
              <a:t/>
            </a:r>
            <a:endParaRPr/>
          </a:p>
        </p:txBody>
      </p:sp>
      <p:sp>
        <p:nvSpPr>
          <p:cNvPr id="322" name="Google Shape;322;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Rather than immediately Acknowledging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endParaRPr/>
          </a:p>
        </p:txBody>
      </p:sp>
      <p:sp>
        <p:nvSpPr>
          <p:cNvPr id="363" name="Google Shape;363;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cement our understanding of TCP reliability, let’s look a a few retransmission scenarios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first case a TCP segments is transmitted and the ACK is lost, and the TCP timeout mechanism results in another copy of being transmitted and then re-ACKed a the sender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second example two segments are sent and acknowledged, but there is a premature timeout e for the first segment, which is retransmitted.  Note that when this retransmitted segment is received, the receiver has already received the first two segments, and so resends a cumulative ACK for both segments received so far, rather than an ACK for just this fist segment.</a:t>
            </a:r>
            <a:endParaRPr/>
          </a:p>
        </p:txBody>
      </p:sp>
      <p:sp>
        <p:nvSpPr>
          <p:cNvPr id="381" name="Google Shape;381;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endParaRPr/>
          </a:p>
        </p:txBody>
      </p:sp>
      <p:sp>
        <p:nvSpPr>
          <p:cNvPr id="474" name="Google Shape;474;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Here’s an example of a two way handshake.  Alice reaches out to Bob and say’s “let’s talk” and Bob says OK, and they start their conversation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a network protocol, the equivalent protocol would be a client sending a “request connection” message saying ”let’s talk, the initial sequence number is x”</a:t>
            </a:r>
            <a:endParaRPr/>
          </a:p>
          <a:p>
            <a:pPr indent="0" lvl="0" marL="0" rtl="0" algn="l">
              <a:spcBef>
                <a:spcPts val="0"/>
              </a:spcBef>
              <a:spcAft>
                <a:spcPts val="0"/>
              </a:spcAft>
              <a:buNone/>
            </a:pPr>
            <a:r>
              <a:rPr lang="en-US"/>
              <a:t>And the server would respond with a message ”I accept your connect 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the question we want to ask ourselves is &lt;talk through&gt;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Will this work?  Let’s look at a few scenarios…</a:t>
            </a:r>
            <a:endParaRPr/>
          </a:p>
        </p:txBody>
      </p:sp>
      <p:sp>
        <p:nvSpPr>
          <p:cNvPr id="514" name="Google Shape;514;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5" name="Google Shape;835;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TCP’s three way handshake, that operates as follows</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Let’s say the client and server both create a TCP socket as we learned about in Chapter 2 and enter the LISTEN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client then connects to the server sending a SYN message with a sequence number x (SYN Message is an TCP Segment with SYN but set in the header – you might want to go back and review the TCP segment format!)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server is waiting for a connection, and receives the SYN message enters the SYN received state (NOT the established state and sends a SYN ACK message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the client sends an ACK message to the server, and when the server receiver this enters the Established state.  This is when the application process would see the return from the wait on the  socket accept() call </a:t>
            </a:r>
            <a:endParaRPr/>
          </a:p>
        </p:txBody>
      </p:sp>
      <p:sp>
        <p:nvSpPr>
          <p:cNvPr id="836" name="Google Shape;836;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4" name="Google Shape;914;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good things must come to an end, and that’s true for a TCP connection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of course there’s a protocol for one side to gracefully close of a TCP connection using a FIN message, to which the other side sends a FINACK message and waits around a bit to respond to any retransmitted FIN messages before timing out.</a:t>
            </a:r>
            <a:endParaRPr/>
          </a:p>
          <a:p>
            <a:pPr indent="0" lvl="0" marL="0" rtl="0" algn="l">
              <a:spcBef>
                <a:spcPts val="0"/>
              </a:spcBef>
              <a:spcAft>
                <a:spcPts val="0"/>
              </a:spcAft>
              <a:buNone/>
            </a:pPr>
            <a:r>
              <a:t/>
            </a:r>
            <a:endParaRPr/>
          </a:p>
        </p:txBody>
      </p:sp>
      <p:sp>
        <p:nvSpPr>
          <p:cNvPr id="915" name="Google Shape;915;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89a97452f8_0_37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22" name="Google Shape;922;g389a97452f8_0_3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3" name="Google Shape;923;g389a97452f8_0_3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89a97452f8_0_38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38" name="Google Shape;938;g389a97452f8_0_3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9" name="Google Shape;939;g389a97452f8_0_3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89a97452f8_0_40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54" name="Google Shape;954;g389a97452f8_0_4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5" name="Google Shape;955;g389a97452f8_0_4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89a97452f8_0_4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72" name="Google Shape;972;g389a97452f8_0_4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3" name="Google Shape;973;g389a97452f8_0_4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89a97452f8_0_4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90" name="Google Shape;990;g389a97452f8_0_4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1" name="Google Shape;991;g389a97452f8_0_4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89a97452f8_2_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00" name="Google Shape;1000;g389a97452f8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1" name="Google Shape;1001;g389a97452f8_2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89a97452f8_2_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20" name="Google Shape;1020;g389a97452f8_2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1" name="Google Shape;1021;g389a97452f8_2_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389a97452f8_2_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32" name="Google Shape;1032;g389a97452f8_2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3" name="Google Shape;1033;g389a97452f8_2_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389a97452f8_2_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52" name="Google Shape;1052;g389a97452f8_2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3" name="Google Shape;1053;g389a97452f8_2_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389a97452f8_2_6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72" name="Google Shape;1072;g389a97452f8_2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3" name="Google Shape;1073;g389a97452f8_2_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89a97452f8_2_7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83" name="Google Shape;1083;g389a97452f8_2_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4" name="Google Shape;1084;g389a97452f8_2_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89a97452f8_2_8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93" name="Google Shape;1093;g389a97452f8_2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4" name="Google Shape;1094;g389a97452f8_2_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89a97452f8_2_10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10" name="Google Shape;1110;g389a97452f8_2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1" name="Google Shape;1111;g389a97452f8_2_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89a97452f8_2_1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26" name="Google Shape;1126;g389a97452f8_2_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7" name="Google Shape;1127;g389a97452f8_2_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89a97452f8_2_1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44" name="Google Shape;1144;g389a97452f8_2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5" name="Google Shape;1145;g389a97452f8_2_1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89a97452f8_2_1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64" name="Google Shape;1164;g389a97452f8_2_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5" name="Google Shape;1165;g389a97452f8_2_1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389a97452f8_2_2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83" name="Google Shape;1183;g389a97452f8_2_2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4" name="Google Shape;1184;g389a97452f8_2_2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389a97452f8_2_2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93" name="Google Shape;1193;g389a97452f8_2_2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4" name="Google Shape;1194;g389a97452f8_2_2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389a97452f8_2_27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20" name="Google Shape;1220;g389a97452f8_2_2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1" name="Google Shape;1221;g389a97452f8_2_2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389a97452f8_2_29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40" name="Google Shape;1240;g389a97452f8_2_2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1" name="Google Shape;1241;g389a97452f8_2_2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389a97452f8_2_3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60" name="Google Shape;1260;g389a97452f8_2_3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1" name="Google Shape;1261;g389a97452f8_2_3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89a97452f8_2_3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80" name="Google Shape;1280;g389a97452f8_2_3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1" name="Google Shape;1281;g389a97452f8_2_3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389a97452f8_2_3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00" name="Google Shape;1300;g389a97452f8_2_3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1" name="Google Shape;1301;g389a97452f8_2_3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389a97452f8_2_36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16" name="Google Shape;1316;g389a97452f8_2_3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7" name="Google Shape;1317;g389a97452f8_2_3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g389a97452f8_2_38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36" name="Google Shape;1336;g389a97452f8_2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7" name="Google Shape;1337;g389a97452f8_2_3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5"/>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36" name="Shape 36"/>
        <p:cNvGrpSpPr/>
        <p:nvPr/>
      </p:nvGrpSpPr>
      <p:grpSpPr>
        <a:xfrm>
          <a:off x="0" y="0"/>
          <a:ext cx="0" cy="0"/>
          <a:chOff x="0" y="0"/>
          <a:chExt cx="0" cy="0"/>
        </a:xfrm>
      </p:grpSpPr>
      <p:sp>
        <p:nvSpPr>
          <p:cNvPr id="37" name="Google Shape;37;p8"/>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表格" type="tbl">
  <p:cSld name="TABLE">
    <p:spTree>
      <p:nvGrpSpPr>
        <p:cNvPr id="39" name="Shape 39"/>
        <p:cNvGrpSpPr/>
        <p:nvPr/>
      </p:nvGrpSpPr>
      <p:grpSpPr>
        <a:xfrm>
          <a:off x="0" y="0"/>
          <a:ext cx="0" cy="0"/>
          <a:chOff x="0" y="0"/>
          <a:chExt cx="0" cy="0"/>
        </a:xfrm>
      </p:grpSpPr>
      <p:sp>
        <p:nvSpPr>
          <p:cNvPr id="40" name="Google Shape;40;p9"/>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1" name="Google Shape;41;p9"/>
          <p:cNvSpPr/>
          <p:nvPr>
            <p:ph idx="2" type="tbl"/>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chemeClr val="dk1"/>
                </a:solidFill>
                <a:latin typeface="Tahoma"/>
                <a:ea typeface="Tahoma"/>
                <a:cs typeface="Tahoma"/>
                <a:sym typeface="Tahoma"/>
              </a:defRPr>
            </a:lvl1pPr>
            <a:lvl2pPr lvl="1" marR="0" algn="l">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algn="l">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algn="l">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algn="l">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algn="l">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algn="l">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algn="l">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algn="l">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42" name="Google Shape;42;p9"/>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圖表或組織圖" type="dgm">
  <p:cSld name="DIAGRAM">
    <p:spTree>
      <p:nvGrpSpPr>
        <p:cNvPr id="44" name="Shape 44"/>
        <p:cNvGrpSpPr/>
        <p:nvPr/>
      </p:nvGrpSpPr>
      <p:grpSpPr>
        <a:xfrm>
          <a:off x="0" y="0"/>
          <a:ext cx="0" cy="0"/>
          <a:chOff x="0" y="0"/>
          <a:chExt cx="0" cy="0"/>
        </a:xfrm>
      </p:grpSpPr>
      <p:sp>
        <p:nvSpPr>
          <p:cNvPr id="45" name="Google Shape;45;p10"/>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6" name="Google Shape;46;p10"/>
          <p:cNvSpPr/>
          <p:nvPr>
            <p:ph idx="2" type="dgm"/>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lvl="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lvl="1"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lvl="2"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lvl="3"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lvl="4"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lvl="5"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lvl="6"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lvl="7"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lvl="8"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7" name="Google Shape;47;p10"/>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49" name="Shape 49"/>
        <p:cNvGrpSpPr/>
        <p:nvPr/>
      </p:nvGrpSpPr>
      <p:grpSpPr>
        <a:xfrm>
          <a:off x="0" y="0"/>
          <a:ext cx="0" cy="0"/>
          <a:chOff x="0" y="0"/>
          <a:chExt cx="0" cy="0"/>
        </a:xfrm>
      </p:grpSpPr>
      <p:sp>
        <p:nvSpPr>
          <p:cNvPr id="50" name="Google Shape;50;p11"/>
          <p:cNvSpPr txBox="1"/>
          <p:nvPr>
            <p:ph type="title"/>
          </p:nvPr>
        </p:nvSpPr>
        <p:spPr>
          <a:xfrm rot="5400000">
            <a:off x="7133400" y="1956625"/>
            <a:ext cx="5811900" cy="2628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1" name="Google Shape;51;p11"/>
          <p:cNvSpPr txBox="1"/>
          <p:nvPr>
            <p:ph idx="1" type="body"/>
          </p:nvPr>
        </p:nvSpPr>
        <p:spPr>
          <a:xfrm rot="5400000">
            <a:off x="1773950" y="-570725"/>
            <a:ext cx="5811900" cy="76836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2" name="Google Shape;52;p11"/>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54" name="Shape 54"/>
        <p:cNvGrpSpPr/>
        <p:nvPr/>
      </p:nvGrpSpPr>
      <p:grpSpPr>
        <a:xfrm>
          <a:off x="0" y="0"/>
          <a:ext cx="0" cy="0"/>
          <a:chOff x="0" y="0"/>
          <a:chExt cx="0" cy="0"/>
        </a:xfrm>
      </p:grpSpPr>
      <p:sp>
        <p:nvSpPr>
          <p:cNvPr id="55" name="Google Shape;55;p12"/>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6" name="Google Shape;56;p12"/>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7" name="Google Shape;57;p12"/>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2"/>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圖片" type="picTx">
  <p:cSld name="PICTURE_WITH_CAPTION_TEXT">
    <p:spTree>
      <p:nvGrpSpPr>
        <p:cNvPr id="59" name="Shape 59"/>
        <p:cNvGrpSpPr/>
        <p:nvPr/>
      </p:nvGrpSpPr>
      <p:grpSpPr>
        <a:xfrm>
          <a:off x="0" y="0"/>
          <a:ext cx="0" cy="0"/>
          <a:chOff x="0" y="0"/>
          <a:chExt cx="0" cy="0"/>
        </a:xfrm>
      </p:grpSpPr>
      <p:sp>
        <p:nvSpPr>
          <p:cNvPr id="60" name="Google Shape;60;p13"/>
          <p:cNvSpPr txBox="1"/>
          <p:nvPr>
            <p:ph type="title"/>
          </p:nvPr>
        </p:nvSpPr>
        <p:spPr>
          <a:xfrm>
            <a:off x="840317" y="457200"/>
            <a:ext cx="3932700" cy="1600200"/>
          </a:xfrm>
          <a:prstGeom prst="rect">
            <a:avLst/>
          </a:prstGeom>
          <a:noFill/>
          <a:ln>
            <a:noFill/>
          </a:ln>
        </p:spPr>
        <p:txBody>
          <a:bodyPr anchorCtr="0" anchor="b" bIns="45700" lIns="91425" spcFirstLastPara="1" rIns="91425" wrap="square" tIns="45700">
            <a:noAutofit/>
          </a:bodyPr>
          <a:lstStyle>
            <a:lvl1pPr lvl="0" marR="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61" name="Google Shape;61;p13"/>
          <p:cNvSpPr/>
          <p:nvPr>
            <p:ph idx="2" type="pic"/>
          </p:nvPr>
        </p:nvSpPr>
        <p:spPr>
          <a:xfrm>
            <a:off x="5183717" y="987425"/>
            <a:ext cx="6172500" cy="4873500"/>
          </a:xfrm>
          <a:prstGeom prst="rect">
            <a:avLst/>
          </a:prstGeom>
          <a:noFill/>
          <a:ln>
            <a:noFill/>
          </a:ln>
        </p:spPr>
      </p:sp>
      <p:sp>
        <p:nvSpPr>
          <p:cNvPr id="62" name="Google Shape;62;p13"/>
          <p:cNvSpPr txBox="1"/>
          <p:nvPr>
            <p:ph idx="1" type="body"/>
          </p:nvPr>
        </p:nvSpPr>
        <p:spPr>
          <a:xfrm>
            <a:off x="840317" y="2057400"/>
            <a:ext cx="3932700" cy="3811500"/>
          </a:xfrm>
          <a:prstGeom prst="rect">
            <a:avLst/>
          </a:prstGeom>
          <a:noFill/>
          <a:ln>
            <a:noFill/>
          </a:ln>
        </p:spPr>
        <p:txBody>
          <a:bodyPr anchorCtr="0" anchor="t" bIns="45700" lIns="91425" spcFirstLastPara="1" rIns="91425" wrap="square" tIns="45700">
            <a:noAutofit/>
          </a:bodyPr>
          <a:lstStyle>
            <a:lvl1pPr indent="-228600" lvl="0" marL="457200" marR="0" algn="l">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algn="l">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algn="l">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algn="l">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algn="l">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63" name="Google Shape;63;p13"/>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3"/>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內容" type="objTx">
  <p:cSld name="OBJECT_WITH_CAPTION_TEXT">
    <p:spTree>
      <p:nvGrpSpPr>
        <p:cNvPr id="65" name="Shape 65"/>
        <p:cNvGrpSpPr/>
        <p:nvPr/>
      </p:nvGrpSpPr>
      <p:grpSpPr>
        <a:xfrm>
          <a:off x="0" y="0"/>
          <a:ext cx="0" cy="0"/>
          <a:chOff x="0" y="0"/>
          <a:chExt cx="0" cy="0"/>
        </a:xfrm>
      </p:grpSpPr>
      <p:sp>
        <p:nvSpPr>
          <p:cNvPr id="66" name="Google Shape;66;p14"/>
          <p:cNvSpPr txBox="1"/>
          <p:nvPr>
            <p:ph type="title"/>
          </p:nvPr>
        </p:nvSpPr>
        <p:spPr>
          <a:xfrm>
            <a:off x="840317" y="457200"/>
            <a:ext cx="3932700" cy="1600200"/>
          </a:xfrm>
          <a:prstGeom prst="rect">
            <a:avLst/>
          </a:prstGeom>
          <a:noFill/>
          <a:ln>
            <a:noFill/>
          </a:ln>
        </p:spPr>
        <p:txBody>
          <a:bodyPr anchorCtr="0" anchor="b" bIns="45700" lIns="91425" spcFirstLastPara="1" rIns="91425" wrap="square" tIns="45700">
            <a:noAutofit/>
          </a:bodyPr>
          <a:lstStyle>
            <a:lvl1pPr lvl="0" marR="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67" name="Google Shape;67;p14"/>
          <p:cNvSpPr txBox="1"/>
          <p:nvPr>
            <p:ph idx="1" type="body"/>
          </p:nvPr>
        </p:nvSpPr>
        <p:spPr>
          <a:xfrm>
            <a:off x="5183717" y="987425"/>
            <a:ext cx="6172500" cy="48735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68" name="Google Shape;68;p14"/>
          <p:cNvSpPr txBox="1"/>
          <p:nvPr>
            <p:ph idx="2" type="body"/>
          </p:nvPr>
        </p:nvSpPr>
        <p:spPr>
          <a:xfrm>
            <a:off x="840317" y="2057400"/>
            <a:ext cx="3932700" cy="3811500"/>
          </a:xfrm>
          <a:prstGeom prst="rect">
            <a:avLst/>
          </a:prstGeom>
          <a:noFill/>
          <a:ln>
            <a:noFill/>
          </a:ln>
        </p:spPr>
        <p:txBody>
          <a:bodyPr anchorCtr="0" anchor="t" bIns="45700" lIns="91425" spcFirstLastPara="1" rIns="91425" wrap="square" tIns="45700">
            <a:noAutofit/>
          </a:bodyPr>
          <a:lstStyle>
            <a:lvl1pPr indent="-228600" lvl="0" marL="457200" marR="0" algn="l">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algn="l">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algn="l">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algn="l">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algn="l">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69" name="Google Shape;69;p14"/>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71" name="Shape 71"/>
        <p:cNvGrpSpPr/>
        <p:nvPr/>
      </p:nvGrpSpPr>
      <p:grpSpPr>
        <a:xfrm>
          <a:off x="0" y="0"/>
          <a:ext cx="0" cy="0"/>
          <a:chOff x="0" y="0"/>
          <a:chExt cx="0" cy="0"/>
        </a:xfrm>
      </p:grpSpPr>
      <p:sp>
        <p:nvSpPr>
          <p:cNvPr id="72" name="Google Shape;72;p15"/>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3" name="Google Shape;73;p15"/>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5"/>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對" type="twoTxTwoObj">
  <p:cSld name="TWO_OBJECTS_WITH_TEXT">
    <p:spTree>
      <p:nvGrpSpPr>
        <p:cNvPr id="75" name="Shape 75"/>
        <p:cNvGrpSpPr/>
        <p:nvPr/>
      </p:nvGrpSpPr>
      <p:grpSpPr>
        <a:xfrm>
          <a:off x="0" y="0"/>
          <a:ext cx="0" cy="0"/>
          <a:chOff x="0" y="0"/>
          <a:chExt cx="0" cy="0"/>
        </a:xfrm>
      </p:grpSpPr>
      <p:sp>
        <p:nvSpPr>
          <p:cNvPr id="76" name="Google Shape;76;p16"/>
          <p:cNvSpPr txBox="1"/>
          <p:nvPr>
            <p:ph type="title"/>
          </p:nvPr>
        </p:nvSpPr>
        <p:spPr>
          <a:xfrm>
            <a:off x="840317"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7" name="Google Shape;77;p16"/>
          <p:cNvSpPr txBox="1"/>
          <p:nvPr>
            <p:ph idx="1" type="body"/>
          </p:nvPr>
        </p:nvSpPr>
        <p:spPr>
          <a:xfrm>
            <a:off x="840317" y="1681163"/>
            <a:ext cx="5158500" cy="823800"/>
          </a:xfrm>
          <a:prstGeom prst="rect">
            <a:avLst/>
          </a:prstGeom>
          <a:noFill/>
          <a:ln>
            <a:noFill/>
          </a:ln>
        </p:spPr>
        <p:txBody>
          <a:bodyPr anchorCtr="0" anchor="b" bIns="45700" lIns="91425" spcFirstLastPara="1" rIns="91425" wrap="square" tIns="45700">
            <a:noAutofit/>
          </a:bodyPr>
          <a:lstStyle>
            <a:lvl1pPr indent="-228600" lvl="0" marL="457200" marR="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78" name="Google Shape;78;p16"/>
          <p:cNvSpPr txBox="1"/>
          <p:nvPr>
            <p:ph idx="2" type="body"/>
          </p:nvPr>
        </p:nvSpPr>
        <p:spPr>
          <a:xfrm>
            <a:off x="840317" y="2505075"/>
            <a:ext cx="5158500" cy="36846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79" name="Google Shape;79;p16"/>
          <p:cNvSpPr txBox="1"/>
          <p:nvPr>
            <p:ph idx="3" type="body"/>
          </p:nvPr>
        </p:nvSpPr>
        <p:spPr>
          <a:xfrm>
            <a:off x="6172200" y="1681163"/>
            <a:ext cx="5183700" cy="823800"/>
          </a:xfrm>
          <a:prstGeom prst="rect">
            <a:avLst/>
          </a:prstGeom>
          <a:noFill/>
          <a:ln>
            <a:noFill/>
          </a:ln>
        </p:spPr>
        <p:txBody>
          <a:bodyPr anchorCtr="0" anchor="b" bIns="45700" lIns="91425" spcFirstLastPara="1" rIns="91425" wrap="square" tIns="45700">
            <a:noAutofit/>
          </a:bodyPr>
          <a:lstStyle>
            <a:lvl1pPr indent="-228600" lvl="0" marL="457200" marR="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80" name="Google Shape;80;p16"/>
          <p:cNvSpPr txBox="1"/>
          <p:nvPr>
            <p:ph idx="4" type="body"/>
          </p:nvPr>
        </p:nvSpPr>
        <p:spPr>
          <a:xfrm>
            <a:off x="6172200" y="2505075"/>
            <a:ext cx="5183700" cy="36846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81" name="Google Shape;81;p16"/>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6"/>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項物件" type="twoObj">
  <p:cSld name="TWO_OBJECTS">
    <p:spTree>
      <p:nvGrpSpPr>
        <p:cNvPr id="83" name="Shape 83"/>
        <p:cNvGrpSpPr/>
        <p:nvPr/>
      </p:nvGrpSpPr>
      <p:grpSpPr>
        <a:xfrm>
          <a:off x="0" y="0"/>
          <a:ext cx="0" cy="0"/>
          <a:chOff x="0" y="0"/>
          <a:chExt cx="0" cy="0"/>
        </a:xfrm>
      </p:grpSpPr>
      <p:sp>
        <p:nvSpPr>
          <p:cNvPr id="84" name="Google Shape;84;p17"/>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85" name="Google Shape;85;p17"/>
          <p:cNvSpPr txBox="1"/>
          <p:nvPr>
            <p:ph idx="1" type="body"/>
          </p:nvPr>
        </p:nvSpPr>
        <p:spPr>
          <a:xfrm>
            <a:off x="838200" y="1825625"/>
            <a:ext cx="5156400" cy="43512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86" name="Google Shape;86;p17"/>
          <p:cNvSpPr txBox="1"/>
          <p:nvPr>
            <p:ph idx="2" type="body"/>
          </p:nvPr>
        </p:nvSpPr>
        <p:spPr>
          <a:xfrm>
            <a:off x="6197600" y="1825625"/>
            <a:ext cx="5156400" cy="43512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87" name="Google Shape;87;p17"/>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7"/>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89" name="Shape 89"/>
        <p:cNvGrpSpPr/>
        <p:nvPr/>
      </p:nvGrpSpPr>
      <p:grpSpPr>
        <a:xfrm>
          <a:off x="0" y="0"/>
          <a:ext cx="0" cy="0"/>
          <a:chOff x="0" y="0"/>
          <a:chExt cx="0" cy="0"/>
        </a:xfrm>
      </p:grpSpPr>
      <p:sp>
        <p:nvSpPr>
          <p:cNvPr id="90" name="Google Shape;90;p18"/>
          <p:cNvSpPr txBox="1"/>
          <p:nvPr>
            <p:ph type="title"/>
          </p:nvPr>
        </p:nvSpPr>
        <p:spPr>
          <a:xfrm>
            <a:off x="831851" y="1709738"/>
            <a:ext cx="10515600" cy="2852700"/>
          </a:xfrm>
          <a:prstGeom prst="rect">
            <a:avLst/>
          </a:prstGeom>
          <a:noFill/>
          <a:ln>
            <a:noFill/>
          </a:ln>
        </p:spPr>
        <p:txBody>
          <a:bodyPr anchorCtr="0" anchor="b" bIns="45700" lIns="91425" spcFirstLastPara="1" rIns="91425" wrap="square" tIns="45700">
            <a:noAutofit/>
          </a:bodyPr>
          <a:lstStyle>
            <a:lvl1pPr lvl="0" marR="0" algn="l">
              <a:spcBef>
                <a:spcPts val="0"/>
              </a:spcBef>
              <a:spcAft>
                <a:spcPts val="0"/>
              </a:spcAft>
              <a:buSzPts val="1400"/>
              <a:buNone/>
              <a:defRPr b="0" i="0" sz="60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91" name="Google Shape;91;p18"/>
          <p:cNvSpPr txBox="1"/>
          <p:nvPr>
            <p:ph idx="1" type="body"/>
          </p:nvPr>
        </p:nvSpPr>
        <p:spPr>
          <a:xfrm>
            <a:off x="831851" y="4589463"/>
            <a:ext cx="10515600" cy="1500300"/>
          </a:xfrm>
          <a:prstGeom prst="rect">
            <a:avLst/>
          </a:prstGeom>
          <a:noFill/>
          <a:ln>
            <a:noFill/>
          </a:ln>
        </p:spPr>
        <p:txBody>
          <a:bodyPr anchorCtr="0" anchor="t" bIns="45700" lIns="91425" spcFirstLastPara="1" rIns="91425" wrap="square" tIns="45700">
            <a:noAutofit/>
          </a:bodyPr>
          <a:lstStyle>
            <a:lvl1pPr indent="-228600" lvl="0" marL="457200" marR="0" algn="l">
              <a:spcBef>
                <a:spcPts val="480"/>
              </a:spcBef>
              <a:spcAft>
                <a:spcPts val="0"/>
              </a:spcAft>
              <a:buClr>
                <a:schemeClr val="folHlink"/>
              </a:buClr>
              <a:buSzPts val="1440"/>
              <a:buFont typeface="Noto Sans Symbols"/>
              <a:buNone/>
              <a:defRPr b="0" i="0" sz="2400" u="none" cap="none" strike="noStrike">
                <a:solidFill>
                  <a:schemeClr val="dk1"/>
                </a:solidFill>
                <a:latin typeface="Tahoma"/>
                <a:ea typeface="Tahoma"/>
                <a:cs typeface="Tahoma"/>
                <a:sym typeface="Tahoma"/>
              </a:defRPr>
            </a:lvl1pPr>
            <a:lvl2pPr indent="-228600" lvl="1" marL="914400" marR="0" algn="l">
              <a:spcBef>
                <a:spcPts val="400"/>
              </a:spcBef>
              <a:spcAft>
                <a:spcPts val="0"/>
              </a:spcAft>
              <a:buClr>
                <a:schemeClr val="hlink"/>
              </a:buClr>
              <a:buSzPts val="1100"/>
              <a:buFont typeface="Noto Sans Symbols"/>
              <a:buNone/>
              <a:defRPr b="0" i="0" sz="2000" u="none" cap="none" strike="noStrike">
                <a:solidFill>
                  <a:schemeClr val="dk1"/>
                </a:solidFill>
                <a:latin typeface="Tahoma"/>
                <a:ea typeface="Tahoma"/>
                <a:cs typeface="Tahoma"/>
                <a:sym typeface="Tahoma"/>
              </a:defRPr>
            </a:lvl2pPr>
            <a:lvl3pPr indent="-228600" lvl="2" marL="1371600" marR="0" algn="l">
              <a:spcBef>
                <a:spcPts val="360"/>
              </a:spcBef>
              <a:spcAft>
                <a:spcPts val="0"/>
              </a:spcAft>
              <a:buClr>
                <a:schemeClr val="folHlink"/>
              </a:buClr>
              <a:buSzPts val="900"/>
              <a:buFont typeface="Noto Sans Symbols"/>
              <a:buNone/>
              <a:defRPr b="0" i="0" sz="1800" u="none" cap="none" strike="noStrike">
                <a:solidFill>
                  <a:schemeClr val="dk1"/>
                </a:solidFill>
                <a:latin typeface="Tahoma"/>
                <a:ea typeface="Tahoma"/>
                <a:cs typeface="Tahoma"/>
                <a:sym typeface="Tahoma"/>
              </a:defRPr>
            </a:lvl3pPr>
            <a:lvl4pPr indent="-228600" lvl="3" marL="1828800" marR="0" algn="l">
              <a:spcBef>
                <a:spcPts val="320"/>
              </a:spcBef>
              <a:spcAft>
                <a:spcPts val="0"/>
              </a:spcAft>
              <a:buClr>
                <a:schemeClr val="accent2"/>
              </a:buClr>
              <a:buSzPts val="880"/>
              <a:buFont typeface="Noto Sans Symbols"/>
              <a:buNone/>
              <a:defRPr b="0" i="0" sz="1600" u="none" cap="none" strike="noStrike">
                <a:solidFill>
                  <a:schemeClr val="dk1"/>
                </a:solidFill>
                <a:latin typeface="Tahoma"/>
                <a:ea typeface="Tahoma"/>
                <a:cs typeface="Tahoma"/>
                <a:sym typeface="Tahoma"/>
              </a:defRPr>
            </a:lvl4pPr>
            <a:lvl5pPr indent="-228600" lvl="4" marL="2286000" marR="0" algn="l">
              <a:spcBef>
                <a:spcPts val="320"/>
              </a:spcBef>
              <a:spcAft>
                <a:spcPts val="0"/>
              </a:spcAft>
              <a:buClr>
                <a:schemeClr val="accent1"/>
              </a:buClr>
              <a:buSzPts val="800"/>
              <a:buFont typeface="Noto Sans Symbols"/>
              <a:buNone/>
              <a:defRPr b="0" i="0" sz="16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
        <p:nvSpPr>
          <p:cNvPr id="92" name="Google Shape;92;p18"/>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8"/>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94" name="Shape 94"/>
        <p:cNvGrpSpPr/>
        <p:nvPr/>
      </p:nvGrpSpPr>
      <p:grpSpPr>
        <a:xfrm>
          <a:off x="0" y="0"/>
          <a:ext cx="0" cy="0"/>
          <a:chOff x="0" y="0"/>
          <a:chExt cx="0" cy="0"/>
        </a:xfrm>
      </p:grpSpPr>
      <p:sp>
        <p:nvSpPr>
          <p:cNvPr id="95" name="Google Shape;95;p19"/>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96" name="Google Shape;96;p1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97" name="Google Shape;97;p19"/>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9"/>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6.xml"/><Relationship Id="rId10" Type="http://schemas.openxmlformats.org/officeDocument/2006/relationships/slideLayout" Target="../slideLayouts/slideLayout15.xml"/><Relationship Id="rId13" Type="http://schemas.openxmlformats.org/officeDocument/2006/relationships/theme" Target="../theme/theme3.xml"/><Relationship Id="rId12" Type="http://schemas.openxmlformats.org/officeDocument/2006/relationships/slideLayout" Target="../slideLayouts/slideLayout17.xml"/><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9" Type="http://schemas.openxmlformats.org/officeDocument/2006/relationships/slideLayout" Target="../slideLayouts/slideLayout1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 name="Shape 33"/>
        <p:cNvGrpSpPr/>
        <p:nvPr/>
      </p:nvGrpSpPr>
      <p:grpSpPr>
        <a:xfrm>
          <a:off x="0" y="0"/>
          <a:ext cx="0" cy="0"/>
          <a:chOff x="0" y="0"/>
          <a:chExt cx="0" cy="0"/>
        </a:xfrm>
      </p:grpSpPr>
      <p:sp>
        <p:nvSpPr>
          <p:cNvPr id="34" name="Google Shape;34;p7"/>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marR="0" algn="l">
              <a:lnSpc>
                <a:spcPct val="100000"/>
              </a:lnSpc>
              <a:spcBef>
                <a:spcPts val="0"/>
              </a:spcBef>
              <a:spcAft>
                <a:spcPts val="0"/>
              </a:spcAft>
              <a:buSzPts val="1400"/>
              <a:buNone/>
              <a:defRPr b="1" i="0" sz="1200" u="none" cap="none" strike="noStrike">
                <a:solidFill>
                  <a:schemeClr val="dk1"/>
                </a:solidFill>
                <a:latin typeface="Tahoma"/>
                <a:ea typeface="Tahoma"/>
                <a:cs typeface="Tahoma"/>
                <a:sym typeface="Tahoma"/>
              </a:defRPr>
            </a:lvl1pPr>
            <a:lvl2pPr lvl="1"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35" name="Google Shape;35;p7"/>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25.png"/><Relationship Id="rId5"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39.png"/><Relationship Id="rId4" Type="http://schemas.openxmlformats.org/officeDocument/2006/relationships/image" Target="../media/image24.png"/><Relationship Id="rId5" Type="http://schemas.openxmlformats.org/officeDocument/2006/relationships/image" Target="../media/image31.png"/><Relationship Id="rId6"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0" Type="http://schemas.openxmlformats.org/officeDocument/2006/relationships/image" Target="../media/image32.png"/><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26.png"/><Relationship Id="rId4" Type="http://schemas.openxmlformats.org/officeDocument/2006/relationships/image" Target="../media/image27.png"/><Relationship Id="rId9" Type="http://schemas.openxmlformats.org/officeDocument/2006/relationships/image" Target="../media/image30.png"/><Relationship Id="rId5" Type="http://schemas.openxmlformats.org/officeDocument/2006/relationships/image" Target="../media/image28.png"/><Relationship Id="rId6" Type="http://schemas.openxmlformats.org/officeDocument/2006/relationships/image" Target="../media/image40.png"/><Relationship Id="rId7" Type="http://schemas.openxmlformats.org/officeDocument/2006/relationships/image" Target="../media/image34.png"/><Relationship Id="rId8"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41.png"/><Relationship Id="rId6"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05" name="Google Shape;105;p20"/>
          <p:cNvSpPr txBox="1"/>
          <p:nvPr/>
        </p:nvSpPr>
        <p:spPr>
          <a:xfrm>
            <a:off x="433350" y="1923600"/>
            <a:ext cx="11325300" cy="3362400"/>
          </a:xfrm>
          <a:prstGeom prst="rect">
            <a:avLst/>
          </a:prstGeom>
          <a:noFill/>
          <a:ln>
            <a:noFill/>
          </a:ln>
        </p:spPr>
        <p:txBody>
          <a:bodyPr anchorCtr="0" anchor="ctr" bIns="91425" lIns="91425" spcFirstLastPara="1" rIns="91425" wrap="square" tIns="91425">
            <a:noAutofit/>
          </a:bodyPr>
          <a:lstStyle/>
          <a:p>
            <a:pPr indent="0" lvl="0" marL="0" rtl="0" algn="ctr">
              <a:lnSpc>
                <a:spcPct val="85000"/>
              </a:lnSpc>
              <a:spcBef>
                <a:spcPts val="0"/>
              </a:spcBef>
              <a:spcAft>
                <a:spcPts val="0"/>
              </a:spcAft>
              <a:buNone/>
            </a:pPr>
            <a:r>
              <a:rPr b="1" lang="en-US" sz="5400">
                <a:solidFill>
                  <a:srgbClr val="000099"/>
                </a:solidFill>
                <a:latin typeface="Calibri"/>
                <a:ea typeface="Calibri"/>
                <a:cs typeface="Calibri"/>
                <a:sym typeface="Calibri"/>
              </a:rPr>
              <a:t>Chapter 3</a:t>
            </a:r>
            <a:br>
              <a:rPr b="1" lang="en-US" sz="6000">
                <a:solidFill>
                  <a:srgbClr val="000099"/>
                </a:solidFill>
                <a:latin typeface="Calibri"/>
                <a:ea typeface="Calibri"/>
                <a:cs typeface="Calibri"/>
                <a:sym typeface="Calibri"/>
              </a:rPr>
            </a:br>
            <a:r>
              <a:rPr b="1" lang="en-US" sz="5400">
                <a:solidFill>
                  <a:srgbClr val="000099"/>
                </a:solidFill>
                <a:latin typeface="Calibri"/>
                <a:ea typeface="Calibri"/>
                <a:cs typeface="Calibri"/>
                <a:sym typeface="Calibri"/>
              </a:rPr>
              <a:t>Transport Layer</a:t>
            </a:r>
            <a:endParaRPr b="1" sz="5400">
              <a:solidFill>
                <a:srgbClr val="000099"/>
              </a:solidFill>
              <a:latin typeface="Calibri"/>
              <a:ea typeface="Calibri"/>
              <a:cs typeface="Calibri"/>
              <a:sym typeface="Calibri"/>
            </a:endParaRPr>
          </a:p>
          <a:p>
            <a:pPr indent="0" lvl="0" marL="0" rtl="0" algn="ctr">
              <a:lnSpc>
                <a:spcPct val="85000"/>
              </a:lnSpc>
              <a:spcBef>
                <a:spcPts val="0"/>
              </a:spcBef>
              <a:spcAft>
                <a:spcPts val="0"/>
              </a:spcAft>
              <a:buNone/>
            </a:pPr>
            <a:r>
              <a:rPr b="1" lang="en-US" sz="5400">
                <a:solidFill>
                  <a:srgbClr val="DD7E6B"/>
                </a:solidFill>
                <a:latin typeface="Calibri"/>
                <a:ea typeface="Calibri"/>
                <a:cs typeface="Calibri"/>
                <a:sym typeface="Calibri"/>
              </a:rPr>
              <a:t>TCP - Connection Management</a:t>
            </a:r>
            <a:endParaRPr b="1" sz="5400">
              <a:solidFill>
                <a:srgbClr val="000099"/>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112" name="Google Shape;112;p21"/>
          <p:cNvSpPr txBox="1"/>
          <p:nvPr>
            <p:ph idx="2" type="body"/>
          </p:nvPr>
        </p:nvSpPr>
        <p:spPr>
          <a:xfrm>
            <a:off x="798700" y="1183950"/>
            <a:ext cx="6618000" cy="5259000"/>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8925" lvl="1" marL="746125" rtl="0" algn="l">
              <a:lnSpc>
                <a:spcPct val="90000"/>
              </a:lnSpc>
              <a:spcBef>
                <a:spcPts val="500"/>
              </a:spcBef>
              <a:spcAft>
                <a:spcPts val="0"/>
              </a:spcAft>
              <a:buSzPts val="2400"/>
              <a:buFont typeface="Arial"/>
              <a:buChar char="•"/>
            </a:pPr>
            <a:r>
              <a:rPr lang="en-US"/>
              <a:t>segment structure</a:t>
            </a:r>
            <a:endParaRPr/>
          </a:p>
          <a:p>
            <a:pPr indent="-288925" lvl="1" marL="746125" rtl="0" algn="l">
              <a:lnSpc>
                <a:spcPct val="90000"/>
              </a:lnSpc>
              <a:spcBef>
                <a:spcPts val="500"/>
              </a:spcBef>
              <a:spcAft>
                <a:spcPts val="0"/>
              </a:spcAft>
              <a:buSzPts val="2400"/>
              <a:buFont typeface="Arial"/>
              <a:buChar char="•"/>
            </a:pPr>
            <a:r>
              <a:rPr lang="en-US"/>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sz="3200"/>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13" name="Google Shape;113;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114" name="Google Shape;114;p21"/>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overview  </a:t>
            </a:r>
            <a:r>
              <a:rPr b="0" lang="en-US" sz="3200"/>
              <a:t>RFCs: 793,1122, 2018, 5681, 7323</a:t>
            </a:r>
            <a:endParaRPr b="0" sz="4400"/>
          </a:p>
        </p:txBody>
      </p:sp>
      <p:sp>
        <p:nvSpPr>
          <p:cNvPr id="121" name="Google Shape;121;p22"/>
          <p:cNvSpPr txBox="1"/>
          <p:nvPr/>
        </p:nvSpPr>
        <p:spPr>
          <a:xfrm>
            <a:off x="5949863" y="1322613"/>
            <a:ext cx="6012953" cy="5535387"/>
          </a:xfrm>
          <a:prstGeom prst="rect">
            <a:avLst/>
          </a:prstGeom>
          <a:noFill/>
          <a:ln>
            <a:noFill/>
          </a:ln>
        </p:spPr>
        <p:txBody>
          <a:bodyPr anchorCtr="0" anchor="t" bIns="45700" lIns="91425" spcFirstLastPara="1" rIns="91425" wrap="square" tIns="45700">
            <a:normAutofit/>
          </a:bodyPr>
          <a:lstStyle/>
          <a:p>
            <a:pPr indent="-293688"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cumulative ACKs</a:t>
            </a:r>
            <a:endParaRPr/>
          </a:p>
          <a:p>
            <a:pPr indent="-293688"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pipelining:</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TCP congestion and flow control set window size</a:t>
            </a:r>
            <a:endParaRPr b="0" i="1" sz="2800" u="none" cap="none" strike="noStrike">
              <a:solidFill>
                <a:srgbClr val="000000"/>
              </a:solidFill>
              <a:latin typeface="Calibri"/>
              <a:ea typeface="Calibri"/>
              <a:cs typeface="Calibri"/>
              <a:sym typeface="Calibri"/>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connection-oriented: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handshaking (exchange of control messages) initializes sender, receiver state before data exchange</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flow controlled:</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will not overwhelm receiver</a:t>
            </a:r>
            <a:endParaRPr/>
          </a:p>
        </p:txBody>
      </p:sp>
      <p:sp>
        <p:nvSpPr>
          <p:cNvPr id="122" name="Google Shape;122;p22"/>
          <p:cNvSpPr txBox="1"/>
          <p:nvPr/>
        </p:nvSpPr>
        <p:spPr>
          <a:xfrm>
            <a:off x="687960" y="1322613"/>
            <a:ext cx="5382987" cy="4648200"/>
          </a:xfrm>
          <a:prstGeom prst="rect">
            <a:avLst/>
          </a:prstGeom>
          <a:noFill/>
          <a:ln>
            <a:noFill/>
          </a:ln>
        </p:spPr>
        <p:txBody>
          <a:bodyPr anchorCtr="0" anchor="t" bIns="45700" lIns="91425" spcFirstLastPara="1" rIns="91425" wrap="square" tIns="45700">
            <a:normAutofit/>
          </a:bodyPr>
          <a:lstStyle/>
          <a:p>
            <a:pPr indent="-293688"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point-to-point</a:t>
            </a:r>
            <a:r>
              <a:rPr b="0" i="0" lang="en-US" sz="3200" u="none" cap="none" strike="noStrike">
                <a:solidFill>
                  <a:srgbClr val="CC0000"/>
                </a:solidFill>
                <a:latin typeface="Calibri"/>
                <a:ea typeface="Calibri"/>
                <a:cs typeface="Calibri"/>
                <a:sym typeface="Calibri"/>
              </a:rPr>
              <a:t>:</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one sender, one receiver</a:t>
            </a:r>
            <a:r>
              <a:rPr b="0" i="0" lang="en-US" sz="2800" u="none" cap="none" strike="noStrike">
                <a:solidFill>
                  <a:srgbClr val="FF0000"/>
                </a:solidFill>
                <a:latin typeface="Calibri"/>
                <a:ea typeface="Calibri"/>
                <a:cs typeface="Calibri"/>
                <a:sym typeface="Calibri"/>
              </a:rPr>
              <a:t> </a:t>
            </a:r>
            <a:endParaRPr/>
          </a:p>
          <a:p>
            <a:pPr indent="-293688"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reliable, in-order </a:t>
            </a:r>
            <a:r>
              <a:rPr b="0" i="1" lang="en-US" sz="3200" u="none" cap="none" strike="noStrike">
                <a:solidFill>
                  <a:srgbClr val="C00000"/>
                </a:solidFill>
                <a:latin typeface="Calibri"/>
                <a:ea typeface="Calibri"/>
                <a:cs typeface="Calibri"/>
                <a:sym typeface="Calibri"/>
              </a:rPr>
              <a:t>byte steam:</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no “message boundaries"</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full duplex data:</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bi-directional data flow in same connection</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MSS: maximum segment size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123" name="Google Shape;123;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segment structure</a:t>
            </a:r>
            <a:endParaRPr b="0" sz="4400"/>
          </a:p>
        </p:txBody>
      </p:sp>
      <p:sp>
        <p:nvSpPr>
          <p:cNvPr id="130" name="Google Shape;130;p23"/>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1" name="Google Shape;131;p23"/>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132" name="Google Shape;132;p23"/>
          <p:cNvGrpSpPr/>
          <p:nvPr/>
        </p:nvGrpSpPr>
        <p:grpSpPr>
          <a:xfrm>
            <a:off x="4495527" y="1661300"/>
            <a:ext cx="3808446" cy="405325"/>
            <a:chOff x="4495575" y="1661300"/>
            <a:chExt cx="3450617" cy="405325"/>
          </a:xfrm>
        </p:grpSpPr>
        <p:sp>
          <p:nvSpPr>
            <p:cNvPr id="133" name="Google Shape;133;p23"/>
            <p:cNvSpPr txBox="1"/>
            <p:nvPr/>
          </p:nvSpPr>
          <p:spPr>
            <a:xfrm>
              <a:off x="4495575" y="1661300"/>
              <a:ext cx="18081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 #</a:t>
              </a:r>
              <a:endParaRPr b="0" i="0" sz="2400" u="none" cap="none" strike="noStrike">
                <a:solidFill>
                  <a:srgbClr val="000000"/>
                </a:solidFill>
                <a:latin typeface="Arial"/>
                <a:ea typeface="Arial"/>
                <a:cs typeface="Arial"/>
                <a:sym typeface="Arial"/>
              </a:endParaRPr>
            </a:p>
          </p:txBody>
        </p:sp>
        <p:sp>
          <p:nvSpPr>
            <p:cNvPr id="134" name="Google Shape;134;p23"/>
            <p:cNvSpPr txBox="1"/>
            <p:nvPr/>
          </p:nvSpPr>
          <p:spPr>
            <a:xfrm>
              <a:off x="6564992" y="1666425"/>
              <a:ext cx="13812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 port #</a:t>
              </a:r>
              <a:endParaRPr b="0" i="0" sz="1800" u="none" cap="none" strike="noStrike">
                <a:solidFill>
                  <a:srgbClr val="000000"/>
                </a:solidFill>
                <a:latin typeface="Arial"/>
                <a:ea typeface="Arial"/>
                <a:cs typeface="Arial"/>
                <a:sym typeface="Arial"/>
              </a:endParaRPr>
            </a:p>
          </p:txBody>
        </p:sp>
      </p:grpSp>
      <p:cxnSp>
        <p:nvCxnSpPr>
          <p:cNvPr id="135" name="Google Shape;135;p23"/>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136" name="Google Shape;136;p23"/>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grpSp>
        <p:nvGrpSpPr>
          <p:cNvPr id="137" name="Google Shape;137;p23"/>
          <p:cNvGrpSpPr/>
          <p:nvPr/>
        </p:nvGrpSpPr>
        <p:grpSpPr>
          <a:xfrm>
            <a:off x="4324123" y="1145724"/>
            <a:ext cx="3935412" cy="366713"/>
            <a:chOff x="4324123" y="1145724"/>
            <a:chExt cx="3935412" cy="366713"/>
          </a:xfrm>
        </p:grpSpPr>
        <p:sp>
          <p:nvSpPr>
            <p:cNvPr id="138" name="Google Shape;138;p23"/>
            <p:cNvSpPr txBox="1"/>
            <p:nvPr/>
          </p:nvSpPr>
          <p:spPr>
            <a:xfrm>
              <a:off x="5832248" y="1145724"/>
              <a:ext cx="857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b="0" i="0" sz="2400" u="none" cap="none" strike="noStrike">
                <a:solidFill>
                  <a:srgbClr val="000000"/>
                </a:solidFill>
                <a:latin typeface="Arial"/>
                <a:ea typeface="Arial"/>
                <a:cs typeface="Arial"/>
                <a:sym typeface="Arial"/>
              </a:endParaRPr>
            </a:p>
          </p:txBody>
        </p:sp>
        <p:cxnSp>
          <p:nvCxnSpPr>
            <p:cNvPr id="139" name="Google Shape;139;p23"/>
            <p:cNvCxnSpPr/>
            <p:nvPr/>
          </p:nvCxnSpPr>
          <p:spPr>
            <a:xfrm>
              <a:off x="6832373" y="1391787"/>
              <a:ext cx="1427162" cy="4762"/>
            </a:xfrm>
            <a:prstGeom prst="straightConnector1">
              <a:avLst/>
            </a:prstGeom>
            <a:noFill/>
            <a:ln cap="flat" cmpd="sng" w="19050">
              <a:solidFill>
                <a:srgbClr val="000000"/>
              </a:solidFill>
              <a:prstDash val="solid"/>
              <a:round/>
              <a:headEnd len="med" w="med" type="none"/>
              <a:tailEnd len="med" w="med" type="triangle"/>
            </a:ln>
          </p:spPr>
        </p:cxnSp>
        <p:cxnSp>
          <p:nvCxnSpPr>
            <p:cNvPr id="140" name="Google Shape;140;p23"/>
            <p:cNvCxnSpPr/>
            <p:nvPr/>
          </p:nvCxnSpPr>
          <p:spPr>
            <a:xfrm rot="10800000">
              <a:off x="4324123" y="1402899"/>
              <a:ext cx="1341437" cy="0"/>
            </a:xfrm>
            <a:prstGeom prst="straightConnector1">
              <a:avLst/>
            </a:prstGeom>
            <a:noFill/>
            <a:ln cap="flat" cmpd="sng" w="19050">
              <a:solidFill>
                <a:srgbClr val="000000"/>
              </a:solidFill>
              <a:prstDash val="solid"/>
              <a:round/>
              <a:headEnd len="med" w="med" type="none"/>
              <a:tailEnd len="med" w="med" type="triangle"/>
            </a:ln>
          </p:spPr>
        </p:cxnSp>
      </p:grpSp>
      <p:cxnSp>
        <p:nvCxnSpPr>
          <p:cNvPr id="141" name="Google Shape;141;p23"/>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42" name="Google Shape;142;p23"/>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143" name="Google Shape;143;p23"/>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44" name="Google Shape;144;p23"/>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45" name="Google Shape;145;p23"/>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cxnSp>
        <p:nvCxnSpPr>
          <p:cNvPr id="146" name="Google Shape;146;p23"/>
          <p:cNvCxnSpPr/>
          <p:nvPr/>
        </p:nvCxnSpPr>
        <p:spPr>
          <a:xfrm rot="10800000">
            <a:off x="5668735" y="2814187"/>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147" name="Google Shape;147;p23"/>
          <p:cNvCxnSpPr/>
          <p:nvPr/>
        </p:nvCxnSpPr>
        <p:spPr>
          <a:xfrm rot="10800000">
            <a:off x="5514748"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148" name="Google Shape;148;p23"/>
          <p:cNvCxnSpPr/>
          <p:nvPr/>
        </p:nvCxnSpPr>
        <p:spPr>
          <a:xfrm rot="10800000">
            <a:off x="5355998" y="2818949"/>
            <a:ext cx="0" cy="392113"/>
          </a:xfrm>
          <a:prstGeom prst="straightConnector1">
            <a:avLst/>
          </a:prstGeom>
          <a:noFill/>
          <a:ln cap="flat" cmpd="sng" w="12700">
            <a:solidFill>
              <a:srgbClr val="000000"/>
            </a:solidFill>
            <a:prstDash val="solid"/>
            <a:round/>
            <a:headEnd len="med" w="med" type="none"/>
            <a:tailEnd len="med" w="med" type="none"/>
          </a:ln>
        </p:spPr>
      </p:cxnSp>
      <p:sp>
        <p:nvSpPr>
          <p:cNvPr id="149" name="Google Shape;149;p23"/>
          <p:cNvSpPr txBox="1"/>
          <p:nvPr/>
        </p:nvSpPr>
        <p:spPr>
          <a:xfrm>
            <a:off x="4636966" y="2822952"/>
            <a:ext cx="482824"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not</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used</a:t>
            </a:r>
            <a:endParaRPr b="0" i="0" sz="1600" u="none" cap="none" strike="noStrike">
              <a:solidFill>
                <a:srgbClr val="000000"/>
              </a:solidFill>
              <a:latin typeface="Calibri"/>
              <a:ea typeface="Calibri"/>
              <a:cs typeface="Calibri"/>
              <a:sym typeface="Calibri"/>
            </a:endParaRPr>
          </a:p>
        </p:txBody>
      </p:sp>
      <p:cxnSp>
        <p:nvCxnSpPr>
          <p:cNvPr id="150" name="Google Shape;150;p23"/>
          <p:cNvCxnSpPr/>
          <p:nvPr/>
        </p:nvCxnSpPr>
        <p:spPr>
          <a:xfrm rot="10800000">
            <a:off x="4713766"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151" name="Google Shape;151;p23"/>
          <p:cNvGrpSpPr/>
          <p:nvPr/>
        </p:nvGrpSpPr>
        <p:grpSpPr>
          <a:xfrm>
            <a:off x="6405335" y="2817362"/>
            <a:ext cx="5252586" cy="731484"/>
            <a:chOff x="6405335" y="2817362"/>
            <a:chExt cx="5252586" cy="731484"/>
          </a:xfrm>
        </p:grpSpPr>
        <p:sp>
          <p:nvSpPr>
            <p:cNvPr id="152" name="Google Shape;152;p23"/>
            <p:cNvSpPr txBox="1"/>
            <p:nvPr/>
          </p:nvSpPr>
          <p:spPr>
            <a:xfrm>
              <a:off x="6405335" y="2817362"/>
              <a:ext cx="17462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 window</a:t>
              </a:r>
              <a:endParaRPr/>
            </a:p>
          </p:txBody>
        </p:sp>
        <p:sp>
          <p:nvSpPr>
            <p:cNvPr id="153" name="Google Shape;153;p23"/>
            <p:cNvSpPr txBox="1"/>
            <p:nvPr/>
          </p:nvSpPr>
          <p:spPr>
            <a:xfrm>
              <a:off x="8724900" y="2847115"/>
              <a:ext cx="2933021" cy="701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flow control: </a:t>
              </a:r>
              <a:r>
                <a:rPr b="0" i="0" lang="en-US" sz="2000" u="none" cap="none" strike="noStrike">
                  <a:solidFill>
                    <a:srgbClr val="000000"/>
                  </a:solidFill>
                  <a:latin typeface="Calibri"/>
                  <a:ea typeface="Calibri"/>
                  <a:cs typeface="Calibri"/>
                  <a:sym typeface="Calibri"/>
                </a:rPr>
                <a:t># bytes receiver willing to accept</a:t>
              </a:r>
              <a:endParaRPr b="0" i="0" sz="2400" u="none" cap="none" strike="noStrike">
                <a:solidFill>
                  <a:srgbClr val="000000"/>
                </a:solidFill>
                <a:latin typeface="Calibri"/>
                <a:ea typeface="Calibri"/>
                <a:cs typeface="Calibri"/>
                <a:sym typeface="Calibri"/>
              </a:endParaRPr>
            </a:p>
          </p:txBody>
        </p:sp>
        <p:cxnSp>
          <p:nvCxnSpPr>
            <p:cNvPr id="154" name="Google Shape;154;p23"/>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grpSp>
        <p:nvGrpSpPr>
          <p:cNvPr id="155" name="Google Shape;155;p23"/>
          <p:cNvGrpSpPr/>
          <p:nvPr/>
        </p:nvGrpSpPr>
        <p:grpSpPr>
          <a:xfrm>
            <a:off x="4979760" y="1674436"/>
            <a:ext cx="7040433" cy="1034129"/>
            <a:chOff x="4979760" y="1674436"/>
            <a:chExt cx="7040433" cy="1034129"/>
          </a:xfrm>
        </p:grpSpPr>
        <p:sp>
          <p:nvSpPr>
            <p:cNvPr id="156" name="Google Shape;156;p23"/>
            <p:cNvSpPr txBox="1"/>
            <p:nvPr/>
          </p:nvSpPr>
          <p:spPr>
            <a:xfrm>
              <a:off x="4979760" y="2029962"/>
              <a:ext cx="24860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2400" u="none" cap="none" strike="noStrike">
                <a:solidFill>
                  <a:srgbClr val="000000"/>
                </a:solidFill>
                <a:latin typeface="Arial"/>
                <a:ea typeface="Arial"/>
                <a:cs typeface="Arial"/>
                <a:sym typeface="Arial"/>
              </a:endParaRPr>
            </a:p>
          </p:txBody>
        </p:sp>
        <p:sp>
          <p:nvSpPr>
            <p:cNvPr id="157" name="Google Shape;157;p23"/>
            <p:cNvSpPr txBox="1"/>
            <p:nvPr/>
          </p:nvSpPr>
          <p:spPr>
            <a:xfrm>
              <a:off x="8724900" y="1674436"/>
              <a:ext cx="3295293" cy="10341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segment seq  #: </a:t>
              </a:r>
              <a:r>
                <a:rPr b="0" i="0" lang="en-US" sz="2000" u="none" cap="none" strike="noStrike">
                  <a:solidFill>
                    <a:srgbClr val="000000"/>
                  </a:solidFill>
                  <a:latin typeface="Calibri"/>
                  <a:ea typeface="Calibri"/>
                  <a:cs typeface="Calibri"/>
                  <a:sym typeface="Calibri"/>
                </a:rPr>
                <a:t>counting bytes of data</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into bytestream</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(not segments!)</a:t>
              </a:r>
              <a:endParaRPr b="0" i="0" sz="2400" u="none" cap="none" strike="noStrike">
                <a:solidFill>
                  <a:srgbClr val="000000"/>
                </a:solidFill>
                <a:latin typeface="Calibri"/>
                <a:ea typeface="Calibri"/>
                <a:cs typeface="Calibri"/>
                <a:sym typeface="Calibri"/>
              </a:endParaRPr>
            </a:p>
          </p:txBody>
        </p:sp>
        <p:cxnSp>
          <p:nvCxnSpPr>
            <p:cNvPr id="158" name="Google Shape;158;p23"/>
            <p:cNvCxnSpPr/>
            <p:nvPr/>
          </p:nvCxnSpPr>
          <p:spPr>
            <a:xfrm rot="10800000">
              <a:off x="7924797" y="2244436"/>
              <a:ext cx="800102" cy="0"/>
            </a:xfrm>
            <a:prstGeom prst="straightConnector1">
              <a:avLst/>
            </a:prstGeom>
            <a:noFill/>
            <a:ln cap="flat" cmpd="sng" w="19050">
              <a:solidFill>
                <a:srgbClr val="C00000"/>
              </a:solidFill>
              <a:prstDash val="solid"/>
              <a:round/>
              <a:headEnd len="med" w="med" type="none"/>
              <a:tailEnd len="med" w="med" type="none"/>
            </a:ln>
          </p:spPr>
        </p:cxnSp>
      </p:grpSp>
      <p:grpSp>
        <p:nvGrpSpPr>
          <p:cNvPr id="159" name="Google Shape;159;p23"/>
          <p:cNvGrpSpPr/>
          <p:nvPr/>
        </p:nvGrpSpPr>
        <p:grpSpPr>
          <a:xfrm>
            <a:off x="5398860" y="4614412"/>
            <a:ext cx="5770816" cy="1113459"/>
            <a:chOff x="5398860" y="4614412"/>
            <a:chExt cx="5770816" cy="1113459"/>
          </a:xfrm>
        </p:grpSpPr>
        <p:sp>
          <p:nvSpPr>
            <p:cNvPr id="160" name="Google Shape;160;p23"/>
            <p:cNvSpPr txBox="1"/>
            <p:nvPr/>
          </p:nvSpPr>
          <p:spPr>
            <a:xfrm>
              <a:off x="5398860" y="4614412"/>
              <a:ext cx="2005013"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data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(variable length)</a:t>
              </a:r>
              <a:endParaRPr b="0" i="0" sz="2400" u="none" cap="none" strike="noStrike">
                <a:solidFill>
                  <a:srgbClr val="000000"/>
                </a:solidFill>
                <a:latin typeface="Arial"/>
                <a:ea typeface="Arial"/>
                <a:cs typeface="Arial"/>
                <a:sym typeface="Arial"/>
              </a:endParaRPr>
            </a:p>
          </p:txBody>
        </p:sp>
        <p:sp>
          <p:nvSpPr>
            <p:cNvPr id="161" name="Google Shape;161;p23"/>
            <p:cNvSpPr txBox="1"/>
            <p:nvPr/>
          </p:nvSpPr>
          <p:spPr>
            <a:xfrm>
              <a:off x="8980285" y="4638342"/>
              <a:ext cx="2189391" cy="10895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data sent by application into TCP socket</a:t>
              </a:r>
              <a:endParaRPr/>
            </a:p>
          </p:txBody>
        </p:sp>
        <p:cxnSp>
          <p:nvCxnSpPr>
            <p:cNvPr id="162" name="Google Shape;162;p23"/>
            <p:cNvCxnSpPr/>
            <p:nvPr/>
          </p:nvCxnSpPr>
          <p:spPr>
            <a:xfrm>
              <a:off x="6727821" y="5150307"/>
              <a:ext cx="2149479" cy="0"/>
            </a:xfrm>
            <a:prstGeom prst="straightConnector1">
              <a:avLst/>
            </a:prstGeom>
            <a:noFill/>
            <a:ln cap="flat" cmpd="sng" w="25400">
              <a:solidFill>
                <a:srgbClr val="C00000"/>
              </a:solidFill>
              <a:prstDash val="solid"/>
              <a:miter lim="800000"/>
              <a:headEnd len="sm" w="sm" type="none"/>
              <a:tailEnd len="sm" w="sm" type="none"/>
            </a:ln>
          </p:spPr>
        </p:cxnSp>
      </p:grpSp>
      <p:grpSp>
        <p:nvGrpSpPr>
          <p:cNvPr id="163" name="Google Shape;163;p23"/>
          <p:cNvGrpSpPr/>
          <p:nvPr/>
        </p:nvGrpSpPr>
        <p:grpSpPr>
          <a:xfrm>
            <a:off x="230393" y="1952743"/>
            <a:ext cx="7771793" cy="1241280"/>
            <a:chOff x="230393" y="1952743"/>
            <a:chExt cx="7771793" cy="1241280"/>
          </a:xfrm>
        </p:grpSpPr>
        <p:sp>
          <p:nvSpPr>
            <p:cNvPr id="164" name="Google Shape;164;p23"/>
            <p:cNvSpPr txBox="1"/>
            <p:nvPr/>
          </p:nvSpPr>
          <p:spPr>
            <a:xfrm>
              <a:off x="5447297" y="2855469"/>
              <a:ext cx="303288"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a:t>
              </a:r>
              <a:endParaRPr b="0" i="0" sz="2400" u="none" cap="none" strike="noStrike">
                <a:solidFill>
                  <a:srgbClr val="000000"/>
                </a:solidFill>
                <a:latin typeface="Calibri"/>
                <a:ea typeface="Calibri"/>
                <a:cs typeface="Calibri"/>
                <a:sym typeface="Calibri"/>
              </a:endParaRPr>
            </a:p>
          </p:txBody>
        </p:sp>
        <p:grpSp>
          <p:nvGrpSpPr>
            <p:cNvPr id="165" name="Google Shape;165;p23"/>
            <p:cNvGrpSpPr/>
            <p:nvPr/>
          </p:nvGrpSpPr>
          <p:grpSpPr>
            <a:xfrm>
              <a:off x="230393" y="1952743"/>
              <a:ext cx="7771793" cy="971860"/>
              <a:chOff x="217867" y="1965269"/>
              <a:chExt cx="7771793" cy="971860"/>
            </a:xfrm>
          </p:grpSpPr>
          <p:sp>
            <p:nvSpPr>
              <p:cNvPr id="166" name="Google Shape;166;p23"/>
              <p:cNvSpPr txBox="1"/>
              <p:nvPr/>
            </p:nvSpPr>
            <p:spPr>
              <a:xfrm>
                <a:off x="4579710" y="2430012"/>
                <a:ext cx="340995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acknowledgement number</a:t>
                </a:r>
                <a:endParaRPr/>
              </a:p>
            </p:txBody>
          </p:sp>
          <p:sp>
            <p:nvSpPr>
              <p:cNvPr id="167" name="Google Shape;167;p23"/>
              <p:cNvSpPr txBox="1"/>
              <p:nvPr/>
            </p:nvSpPr>
            <p:spPr>
              <a:xfrm>
                <a:off x="217867" y="1965269"/>
                <a:ext cx="3287333"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ACK: </a:t>
                </a:r>
                <a:r>
                  <a:rPr b="0" i="0" lang="en-US" sz="2000" u="none" cap="none" strike="noStrike">
                    <a:solidFill>
                      <a:srgbClr val="000000"/>
                    </a:solidFill>
                    <a:latin typeface="Calibri"/>
                    <a:ea typeface="Calibri"/>
                    <a:cs typeface="Calibri"/>
                    <a:sym typeface="Calibri"/>
                  </a:rPr>
                  <a:t>seq # of next expected byte; A bit: this is an ACK</a:t>
                </a:r>
                <a:endParaRPr b="0" i="0" sz="1100" u="none" cap="none" strike="noStrike">
                  <a:solidFill>
                    <a:srgbClr val="000000"/>
                  </a:solidFill>
                  <a:latin typeface="Calibri"/>
                  <a:ea typeface="Calibri"/>
                  <a:cs typeface="Calibri"/>
                  <a:sym typeface="Calibri"/>
                </a:endParaRPr>
              </a:p>
            </p:txBody>
          </p:sp>
          <p:sp>
            <p:nvSpPr>
              <p:cNvPr id="168" name="Google Shape;168;p23"/>
              <p:cNvSpPr/>
              <p:nvPr/>
            </p:nvSpPr>
            <p:spPr>
              <a:xfrm>
                <a:off x="3505200" y="2417523"/>
                <a:ext cx="2076276" cy="519606"/>
              </a:xfrm>
              <a:custGeom>
                <a:rect b="b" l="l" r="r" t="t"/>
                <a:pathLst>
                  <a:path extrusionOk="0" h="519606" w="2076276">
                    <a:moveTo>
                      <a:pt x="0" y="0"/>
                    </a:moveTo>
                    <a:cubicBezTo>
                      <a:pt x="694209" y="186960"/>
                      <a:pt x="1382067" y="332646"/>
                      <a:pt x="2076276" y="519606"/>
                    </a:cubicBez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69" name="Google Shape;169;p23"/>
              <p:cNvCxnSpPr/>
              <p:nvPr/>
            </p:nvCxnSpPr>
            <p:spPr>
              <a:xfrm>
                <a:off x="3505200" y="2404996"/>
                <a:ext cx="1263476" cy="215853"/>
              </a:xfrm>
              <a:prstGeom prst="straightConnector1">
                <a:avLst/>
              </a:prstGeom>
              <a:noFill/>
              <a:ln cap="flat" cmpd="sng" w="19050">
                <a:solidFill>
                  <a:srgbClr val="C00000"/>
                </a:solidFill>
                <a:prstDash val="solid"/>
                <a:round/>
                <a:headEnd len="med" w="med" type="none"/>
                <a:tailEnd len="med" w="med" type="none"/>
              </a:ln>
            </p:spPr>
          </p:cxnSp>
        </p:grpSp>
      </p:grpSp>
      <p:grpSp>
        <p:nvGrpSpPr>
          <p:cNvPr id="170" name="Google Shape;170;p23"/>
          <p:cNvGrpSpPr/>
          <p:nvPr/>
        </p:nvGrpSpPr>
        <p:grpSpPr>
          <a:xfrm>
            <a:off x="1895418" y="3659802"/>
            <a:ext cx="5828956" cy="1090980"/>
            <a:chOff x="1895418" y="3659802"/>
            <a:chExt cx="5828956" cy="1090980"/>
          </a:xfrm>
        </p:grpSpPr>
        <p:sp>
          <p:nvSpPr>
            <p:cNvPr id="171" name="Google Shape;171;p23"/>
            <p:cNvSpPr txBox="1"/>
            <p:nvPr/>
          </p:nvSpPr>
          <p:spPr>
            <a:xfrm>
              <a:off x="4830361" y="3659802"/>
              <a:ext cx="289401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 length)</a:t>
              </a:r>
              <a:endParaRPr b="0" i="0" sz="2400" u="none" cap="none" strike="noStrike">
                <a:solidFill>
                  <a:srgbClr val="000000"/>
                </a:solidFill>
                <a:latin typeface="Arial"/>
                <a:ea typeface="Arial"/>
                <a:cs typeface="Arial"/>
                <a:sym typeface="Arial"/>
              </a:endParaRPr>
            </a:p>
          </p:txBody>
        </p:sp>
        <p:sp>
          <p:nvSpPr>
            <p:cNvPr id="172" name="Google Shape;172;p23"/>
            <p:cNvSpPr txBox="1"/>
            <p:nvPr/>
          </p:nvSpPr>
          <p:spPr>
            <a:xfrm>
              <a:off x="1895418" y="4326050"/>
              <a:ext cx="1688926"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a:t>
              </a:r>
              <a:r>
                <a:rPr b="0" i="0" lang="en-US" sz="2400" u="none" cap="none" strike="noStrike">
                  <a:solidFill>
                    <a:srgbClr val="000000"/>
                  </a:solidFill>
                  <a:latin typeface="Calibri"/>
                  <a:ea typeface="Calibri"/>
                  <a:cs typeface="Calibri"/>
                  <a:sym typeface="Calibri"/>
                </a:rPr>
                <a:t> options</a:t>
              </a:r>
              <a:endParaRPr b="0" i="0" sz="2000" u="none" cap="none" strike="noStrike">
                <a:solidFill>
                  <a:srgbClr val="000000"/>
                </a:solidFill>
                <a:latin typeface="Calibri"/>
                <a:ea typeface="Calibri"/>
                <a:cs typeface="Calibri"/>
                <a:sym typeface="Calibri"/>
              </a:endParaRPr>
            </a:p>
          </p:txBody>
        </p:sp>
        <p:cxnSp>
          <p:nvCxnSpPr>
            <p:cNvPr id="173" name="Google Shape;173;p23"/>
            <p:cNvCxnSpPr>
              <a:stCxn id="172" idx="3"/>
              <a:endCxn id="171" idx="1"/>
            </p:cNvCxnSpPr>
            <p:nvPr/>
          </p:nvCxnSpPr>
          <p:spPr>
            <a:xfrm flipH="1" rot="10800000">
              <a:off x="3584344" y="3859816"/>
              <a:ext cx="1245900" cy="678600"/>
            </a:xfrm>
            <a:prstGeom prst="straightConnector1">
              <a:avLst/>
            </a:prstGeom>
            <a:noFill/>
            <a:ln cap="flat" cmpd="sng" w="19050">
              <a:solidFill>
                <a:srgbClr val="C00000"/>
              </a:solidFill>
              <a:prstDash val="solid"/>
              <a:miter lim="800000"/>
              <a:headEnd len="sm" w="sm" type="none"/>
              <a:tailEnd len="sm" w="sm" type="none"/>
            </a:ln>
          </p:spPr>
        </p:cxnSp>
      </p:grpSp>
      <p:grpSp>
        <p:nvGrpSpPr>
          <p:cNvPr id="174" name="Google Shape;174;p23"/>
          <p:cNvGrpSpPr/>
          <p:nvPr/>
        </p:nvGrpSpPr>
        <p:grpSpPr>
          <a:xfrm>
            <a:off x="318075" y="2819126"/>
            <a:ext cx="4456458" cy="424732"/>
            <a:chOff x="318075" y="2819126"/>
            <a:chExt cx="4456458" cy="424732"/>
          </a:xfrm>
        </p:grpSpPr>
        <p:sp>
          <p:nvSpPr>
            <p:cNvPr id="175" name="Google Shape;175;p23"/>
            <p:cNvSpPr txBox="1"/>
            <p:nvPr/>
          </p:nvSpPr>
          <p:spPr>
            <a:xfrm>
              <a:off x="4278884" y="2826980"/>
              <a:ext cx="495649"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head</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len</a:t>
              </a:r>
              <a:endParaRPr b="0" i="0" sz="1600" u="none" cap="none" strike="noStrike">
                <a:solidFill>
                  <a:srgbClr val="000000"/>
                </a:solidFill>
                <a:latin typeface="Calibri"/>
                <a:ea typeface="Calibri"/>
                <a:cs typeface="Calibri"/>
                <a:sym typeface="Calibri"/>
              </a:endParaRPr>
            </a:p>
          </p:txBody>
        </p:sp>
        <p:sp>
          <p:nvSpPr>
            <p:cNvPr id="176" name="Google Shape;176;p23"/>
            <p:cNvSpPr txBox="1"/>
            <p:nvPr/>
          </p:nvSpPr>
          <p:spPr>
            <a:xfrm>
              <a:off x="318075" y="2819126"/>
              <a:ext cx="3287333"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length </a:t>
              </a:r>
              <a:r>
                <a:rPr b="0" i="0" lang="en-US" sz="2000" u="none" cap="none" strike="noStrike">
                  <a:solidFill>
                    <a:srgbClr val="000000"/>
                  </a:solidFill>
                  <a:latin typeface="Calibri"/>
                  <a:ea typeface="Calibri"/>
                  <a:cs typeface="Calibri"/>
                  <a:sym typeface="Calibri"/>
                </a:rPr>
                <a:t>(of TCP header)</a:t>
              </a:r>
              <a:endParaRPr/>
            </a:p>
          </p:txBody>
        </p:sp>
        <p:cxnSp>
          <p:nvCxnSpPr>
            <p:cNvPr id="177" name="Google Shape;177;p23"/>
            <p:cNvCxnSpPr/>
            <p:nvPr/>
          </p:nvCxnSpPr>
          <p:spPr>
            <a:xfrm>
              <a:off x="3544867" y="3031480"/>
              <a:ext cx="783888"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178" name="Google Shape;178;p23"/>
          <p:cNvGrpSpPr/>
          <p:nvPr/>
        </p:nvGrpSpPr>
        <p:grpSpPr>
          <a:xfrm>
            <a:off x="-24878" y="3174115"/>
            <a:ext cx="6031751" cy="424732"/>
            <a:chOff x="-24878" y="3174115"/>
            <a:chExt cx="6031751" cy="424732"/>
          </a:xfrm>
        </p:grpSpPr>
        <p:sp>
          <p:nvSpPr>
            <p:cNvPr id="179" name="Google Shape;179;p23"/>
            <p:cNvSpPr txBox="1"/>
            <p:nvPr/>
          </p:nvSpPr>
          <p:spPr>
            <a:xfrm>
              <a:off x="4794023" y="3203124"/>
              <a:ext cx="12128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checksum</a:t>
              </a:r>
              <a:endParaRPr/>
            </a:p>
          </p:txBody>
        </p:sp>
        <p:sp>
          <p:nvSpPr>
            <p:cNvPr id="180" name="Google Shape;180;p23"/>
            <p:cNvSpPr txBox="1"/>
            <p:nvPr/>
          </p:nvSpPr>
          <p:spPr>
            <a:xfrm>
              <a:off x="-24878" y="3174115"/>
              <a:ext cx="3595495"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Internet</a:t>
              </a:r>
              <a:r>
                <a:rPr b="0" i="0" lang="en-US" sz="2400" u="none" cap="none" strike="noStrike">
                  <a:solidFill>
                    <a:srgbClr val="000000"/>
                  </a:solidFill>
                  <a:latin typeface="Calibri"/>
                  <a:ea typeface="Calibri"/>
                  <a:cs typeface="Calibri"/>
                  <a:sym typeface="Calibri"/>
                </a:rPr>
                <a:t> checksum</a:t>
              </a:r>
              <a:endParaRPr/>
            </a:p>
          </p:txBody>
        </p:sp>
        <p:cxnSp>
          <p:nvCxnSpPr>
            <p:cNvPr id="181" name="Google Shape;181;p23"/>
            <p:cNvCxnSpPr>
              <a:stCxn id="180" idx="3"/>
              <a:endCxn id="179" idx="1"/>
            </p:cNvCxnSpPr>
            <p:nvPr/>
          </p:nvCxnSpPr>
          <p:spPr>
            <a:xfrm>
              <a:off x="3570617" y="3386481"/>
              <a:ext cx="1223400" cy="0"/>
            </a:xfrm>
            <a:prstGeom prst="straightConnector1">
              <a:avLst/>
            </a:prstGeom>
            <a:noFill/>
            <a:ln cap="flat" cmpd="sng" w="19050">
              <a:solidFill>
                <a:srgbClr val="C00000"/>
              </a:solidFill>
              <a:prstDash val="solid"/>
              <a:miter lim="800000"/>
              <a:headEnd len="sm" w="sm" type="none"/>
              <a:tailEnd len="sm" w="sm" type="none"/>
            </a:ln>
          </p:spPr>
        </p:cxnSp>
      </p:grpSp>
      <p:cxnSp>
        <p:nvCxnSpPr>
          <p:cNvPr id="182" name="Google Shape;182;p23"/>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cxnSp>
        <p:nvCxnSpPr>
          <p:cNvPr id="183" name="Google Shape;183;p23"/>
          <p:cNvCxnSpPr/>
          <p:nvPr/>
        </p:nvCxnSpPr>
        <p:spPr>
          <a:xfrm rot="10800000">
            <a:off x="6150711" y="2804662"/>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184" name="Google Shape;184;p23"/>
          <p:cNvCxnSpPr/>
          <p:nvPr/>
        </p:nvCxnSpPr>
        <p:spPr>
          <a:xfrm rot="10800000">
            <a:off x="5992924"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185" name="Google Shape;185;p23"/>
          <p:cNvCxnSpPr/>
          <p:nvPr/>
        </p:nvCxnSpPr>
        <p:spPr>
          <a:xfrm rot="10800000">
            <a:off x="5830374"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186" name="Google Shape;186;p23"/>
          <p:cNvGrpSpPr/>
          <p:nvPr/>
        </p:nvGrpSpPr>
        <p:grpSpPr>
          <a:xfrm>
            <a:off x="172543" y="2863949"/>
            <a:ext cx="6190466" cy="2660551"/>
            <a:chOff x="172543" y="2863949"/>
            <a:chExt cx="6190466" cy="2660551"/>
          </a:xfrm>
        </p:grpSpPr>
        <p:sp>
          <p:nvSpPr>
            <p:cNvPr id="187" name="Google Shape;187;p23"/>
            <p:cNvSpPr txBox="1"/>
            <p:nvPr/>
          </p:nvSpPr>
          <p:spPr>
            <a:xfrm>
              <a:off x="172543" y="4822769"/>
              <a:ext cx="3419248"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RST, SYN, FIN: </a:t>
              </a:r>
              <a:r>
                <a:rPr b="0" i="0" lang="en-US" sz="2000" u="none" cap="none" strike="noStrike">
                  <a:solidFill>
                    <a:srgbClr val="000000"/>
                  </a:solidFill>
                  <a:latin typeface="Calibri"/>
                  <a:ea typeface="Calibri"/>
                  <a:cs typeface="Calibri"/>
                  <a:sym typeface="Calibri"/>
                </a:rPr>
                <a:t>connection management</a:t>
              </a:r>
              <a:endParaRPr b="0" i="0" sz="2400" u="none" cap="none" strike="noStrike">
                <a:solidFill>
                  <a:srgbClr val="000000"/>
                </a:solidFill>
                <a:latin typeface="Calibri"/>
                <a:ea typeface="Calibri"/>
                <a:cs typeface="Calibri"/>
                <a:sym typeface="Calibri"/>
              </a:endParaRPr>
            </a:p>
          </p:txBody>
        </p:sp>
        <p:sp>
          <p:nvSpPr>
            <p:cNvPr id="188" name="Google Shape;188;p23"/>
            <p:cNvSpPr/>
            <p:nvPr/>
          </p:nvSpPr>
          <p:spPr>
            <a:xfrm>
              <a:off x="3558336" y="3152325"/>
              <a:ext cx="2678659" cy="2026938"/>
            </a:xfrm>
            <a:custGeom>
              <a:rect b="b" l="l" r="r" t="t"/>
              <a:pathLst>
                <a:path extrusionOk="0" h="28757" w="11573">
                  <a:moveTo>
                    <a:pt x="0" y="28757"/>
                  </a:moveTo>
                  <a:lnTo>
                    <a:pt x="10147" y="0"/>
                  </a:lnTo>
                  <a:lnTo>
                    <a:pt x="11573"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89" name="Google Shape;189;p23"/>
            <p:cNvGrpSpPr/>
            <p:nvPr/>
          </p:nvGrpSpPr>
          <p:grpSpPr>
            <a:xfrm>
              <a:off x="5775299" y="2863949"/>
              <a:ext cx="587710" cy="339181"/>
              <a:chOff x="5775299" y="2863949"/>
              <a:chExt cx="587710" cy="339181"/>
            </a:xfrm>
          </p:grpSpPr>
          <p:sp>
            <p:nvSpPr>
              <p:cNvPr id="190" name="Google Shape;190;p23"/>
              <p:cNvSpPr txBox="1"/>
              <p:nvPr/>
            </p:nvSpPr>
            <p:spPr>
              <a:xfrm>
                <a:off x="6083766" y="2864576"/>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F</a:t>
                </a:r>
                <a:endParaRPr b="0" i="0" sz="2400" u="none" cap="none" strike="noStrike">
                  <a:solidFill>
                    <a:srgbClr val="000000"/>
                  </a:solidFill>
                  <a:latin typeface="Calibri"/>
                  <a:ea typeface="Calibri"/>
                  <a:cs typeface="Calibri"/>
                  <a:sym typeface="Calibri"/>
                </a:endParaRPr>
              </a:p>
            </p:txBody>
          </p:sp>
          <p:sp>
            <p:nvSpPr>
              <p:cNvPr id="191" name="Google Shape;191;p23"/>
              <p:cNvSpPr txBox="1"/>
              <p:nvPr/>
            </p:nvSpPr>
            <p:spPr>
              <a:xfrm>
                <a:off x="5939184" y="2863949"/>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a:t>
                </a:r>
                <a:endParaRPr b="0" i="0" sz="2400" u="none" cap="none" strike="noStrike">
                  <a:solidFill>
                    <a:srgbClr val="000000"/>
                  </a:solidFill>
                  <a:latin typeface="Calibri"/>
                  <a:ea typeface="Calibri"/>
                  <a:cs typeface="Calibri"/>
                  <a:sym typeface="Calibri"/>
                </a:endParaRPr>
              </a:p>
            </p:txBody>
          </p:sp>
          <p:sp>
            <p:nvSpPr>
              <p:cNvPr id="192" name="Google Shape;192;p23"/>
              <p:cNvSpPr txBox="1"/>
              <p:nvPr/>
            </p:nvSpPr>
            <p:spPr>
              <a:xfrm>
                <a:off x="57752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a:t>
                </a:r>
                <a:endParaRPr b="0" i="0" sz="2400" u="none" cap="none" strike="noStrike">
                  <a:solidFill>
                    <a:srgbClr val="000000"/>
                  </a:solidFill>
                  <a:latin typeface="Calibri"/>
                  <a:ea typeface="Calibri"/>
                  <a:cs typeface="Calibri"/>
                  <a:sym typeface="Calibri"/>
                </a:endParaRPr>
              </a:p>
            </p:txBody>
          </p:sp>
        </p:grpSp>
      </p:grpSp>
      <p:grpSp>
        <p:nvGrpSpPr>
          <p:cNvPr id="193" name="Google Shape;193;p23"/>
          <p:cNvGrpSpPr/>
          <p:nvPr/>
        </p:nvGrpSpPr>
        <p:grpSpPr>
          <a:xfrm>
            <a:off x="5277007" y="2859957"/>
            <a:ext cx="2976178" cy="719405"/>
            <a:chOff x="5277007" y="2859957"/>
            <a:chExt cx="2976178" cy="719405"/>
          </a:xfrm>
        </p:grpSpPr>
        <p:sp>
          <p:nvSpPr>
            <p:cNvPr id="194" name="Google Shape;194;p23"/>
            <p:cNvSpPr txBox="1"/>
            <p:nvPr/>
          </p:nvSpPr>
          <p:spPr>
            <a:xfrm>
              <a:off x="6430735" y="3212649"/>
              <a:ext cx="18224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BFBFBF"/>
                </a:buClr>
                <a:buSzPts val="1800"/>
                <a:buFont typeface="Arial"/>
                <a:buNone/>
              </a:pPr>
              <a:r>
                <a:rPr b="0" i="0" lang="en-US" sz="1800" u="none" cap="none" strike="noStrike">
                  <a:solidFill>
                    <a:srgbClr val="BFBFBF"/>
                  </a:solidFill>
                  <a:latin typeface="Arial"/>
                  <a:ea typeface="Arial"/>
                  <a:cs typeface="Arial"/>
                  <a:sym typeface="Arial"/>
                </a:rPr>
                <a:t>Urg data pointer</a:t>
              </a:r>
              <a:endParaRPr/>
            </a:p>
          </p:txBody>
        </p:sp>
        <p:grpSp>
          <p:nvGrpSpPr>
            <p:cNvPr id="195" name="Google Shape;195;p23"/>
            <p:cNvGrpSpPr/>
            <p:nvPr/>
          </p:nvGrpSpPr>
          <p:grpSpPr>
            <a:xfrm>
              <a:off x="5277007" y="2859957"/>
              <a:ext cx="627836" cy="345695"/>
              <a:chOff x="5527528" y="3067992"/>
              <a:chExt cx="627836" cy="345695"/>
            </a:xfrm>
          </p:grpSpPr>
          <p:sp>
            <p:nvSpPr>
              <p:cNvPr id="196" name="Google Shape;196;p23"/>
              <p:cNvSpPr txBox="1"/>
              <p:nvPr/>
            </p:nvSpPr>
            <p:spPr>
              <a:xfrm>
                <a:off x="5864900" y="3067992"/>
                <a:ext cx="29046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P</a:t>
                </a:r>
                <a:endParaRPr b="0" i="0" sz="2400" u="none" cap="none" strike="noStrike">
                  <a:solidFill>
                    <a:srgbClr val="A5A5A5"/>
                  </a:solidFill>
                  <a:latin typeface="Calibri"/>
                  <a:ea typeface="Calibri"/>
                  <a:cs typeface="Calibri"/>
                  <a:sym typeface="Calibri"/>
                </a:endParaRPr>
              </a:p>
            </p:txBody>
          </p:sp>
          <p:sp>
            <p:nvSpPr>
              <p:cNvPr id="197" name="Google Shape;197;p23"/>
              <p:cNvSpPr txBox="1"/>
              <p:nvPr/>
            </p:nvSpPr>
            <p:spPr>
              <a:xfrm>
                <a:off x="5527528" y="3075133"/>
                <a:ext cx="31611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U</a:t>
                </a:r>
                <a:endParaRPr b="0" i="0" sz="2400" u="none" cap="none" strike="noStrike">
                  <a:solidFill>
                    <a:srgbClr val="A5A5A5"/>
                  </a:solidFill>
                  <a:latin typeface="Calibri"/>
                  <a:ea typeface="Calibri"/>
                  <a:cs typeface="Calibri"/>
                  <a:sym typeface="Calibri"/>
                </a:endParaRPr>
              </a:p>
            </p:txBody>
          </p:sp>
        </p:grpSp>
      </p:grpSp>
      <p:cxnSp>
        <p:nvCxnSpPr>
          <p:cNvPr id="198" name="Google Shape;198;p23"/>
          <p:cNvCxnSpPr/>
          <p:nvPr/>
        </p:nvCxnSpPr>
        <p:spPr>
          <a:xfrm rot="10800000">
            <a:off x="5038305" y="2821148"/>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199" name="Google Shape;199;p23"/>
          <p:cNvCxnSpPr/>
          <p:nvPr/>
        </p:nvCxnSpPr>
        <p:spPr>
          <a:xfrm rot="10800000">
            <a:off x="5198693" y="2812182"/>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200" name="Google Shape;200;p23"/>
          <p:cNvGrpSpPr/>
          <p:nvPr/>
        </p:nvGrpSpPr>
        <p:grpSpPr>
          <a:xfrm>
            <a:off x="182880" y="2863950"/>
            <a:ext cx="5235245" cy="1390074"/>
            <a:chOff x="182880" y="2863950"/>
            <a:chExt cx="5235245" cy="1390074"/>
          </a:xfrm>
        </p:grpSpPr>
        <p:grpSp>
          <p:nvGrpSpPr>
            <p:cNvPr id="201" name="Google Shape;201;p23"/>
            <p:cNvGrpSpPr/>
            <p:nvPr/>
          </p:nvGrpSpPr>
          <p:grpSpPr>
            <a:xfrm>
              <a:off x="4962499" y="2863950"/>
              <a:ext cx="455626" cy="338554"/>
              <a:chOff x="4962499" y="2863950"/>
              <a:chExt cx="455626" cy="338554"/>
            </a:xfrm>
          </p:grpSpPr>
          <p:sp>
            <p:nvSpPr>
              <p:cNvPr id="202" name="Google Shape;202;p23"/>
              <p:cNvSpPr txBox="1"/>
              <p:nvPr/>
            </p:nvSpPr>
            <p:spPr>
              <a:xfrm>
                <a:off x="49624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t>
                </a:r>
                <a:endParaRPr b="0" i="0" sz="2400" u="none" cap="none" strike="noStrike">
                  <a:solidFill>
                    <a:srgbClr val="000000"/>
                  </a:solidFill>
                  <a:latin typeface="Calibri"/>
                  <a:ea typeface="Calibri"/>
                  <a:cs typeface="Calibri"/>
                  <a:sym typeface="Calibri"/>
                </a:endParaRPr>
              </a:p>
            </p:txBody>
          </p:sp>
          <p:sp>
            <p:nvSpPr>
              <p:cNvPr id="203" name="Google Shape;203;p23"/>
              <p:cNvSpPr txBox="1"/>
              <p:nvPr/>
            </p:nvSpPr>
            <p:spPr>
              <a:xfrm>
                <a:off x="512124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a:t>
                </a:r>
                <a:endParaRPr b="0" i="0" sz="2400" u="none" cap="none" strike="noStrike">
                  <a:solidFill>
                    <a:srgbClr val="000000"/>
                  </a:solidFill>
                  <a:latin typeface="Calibri"/>
                  <a:ea typeface="Calibri"/>
                  <a:cs typeface="Calibri"/>
                  <a:sym typeface="Calibri"/>
                </a:endParaRPr>
              </a:p>
            </p:txBody>
          </p:sp>
        </p:grpSp>
        <p:sp>
          <p:nvSpPr>
            <p:cNvPr id="204" name="Google Shape;204;p23"/>
            <p:cNvSpPr txBox="1"/>
            <p:nvPr/>
          </p:nvSpPr>
          <p:spPr>
            <a:xfrm>
              <a:off x="182880" y="3829292"/>
              <a:ext cx="3384479"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 E: </a:t>
              </a:r>
              <a:r>
                <a:rPr b="0" i="0" lang="en-US" sz="2000" u="none" cap="none" strike="noStrike">
                  <a:solidFill>
                    <a:srgbClr val="000000"/>
                  </a:solidFill>
                  <a:latin typeface="Calibri"/>
                  <a:ea typeface="Calibri"/>
                  <a:cs typeface="Calibri"/>
                  <a:sym typeface="Calibri"/>
                </a:rPr>
                <a:t>congestion notification</a:t>
              </a:r>
              <a:endParaRPr b="0" i="0" sz="2400" u="none" cap="none" strike="noStrike">
                <a:solidFill>
                  <a:srgbClr val="000000"/>
                </a:solidFill>
                <a:latin typeface="Calibri"/>
                <a:ea typeface="Calibri"/>
                <a:cs typeface="Calibri"/>
                <a:sym typeface="Calibri"/>
              </a:endParaRPr>
            </a:p>
          </p:txBody>
        </p:sp>
        <p:sp>
          <p:nvSpPr>
            <p:cNvPr id="205" name="Google Shape;205;p23"/>
            <p:cNvSpPr/>
            <p:nvPr/>
          </p:nvSpPr>
          <p:spPr>
            <a:xfrm>
              <a:off x="3573195" y="3136684"/>
              <a:ext cx="1749482" cy="914811"/>
            </a:xfrm>
            <a:custGeom>
              <a:rect b="b" l="l" r="r" t="t"/>
              <a:pathLst>
                <a:path extrusionOk="0" h="10017" w="10062">
                  <a:moveTo>
                    <a:pt x="0" y="10017"/>
                  </a:moveTo>
                  <a:lnTo>
                    <a:pt x="8853" y="17"/>
                  </a:lnTo>
                  <a:lnTo>
                    <a:pt x="10062"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6" name="Google Shape;206;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213" name="Google Shape;213;p24"/>
          <p:cNvSpPr txBox="1"/>
          <p:nvPr/>
        </p:nvSpPr>
        <p:spPr>
          <a:xfrm>
            <a:off x="715171" y="1355712"/>
            <a:ext cx="5096669" cy="13112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Sequence numbers:</a:t>
            </a:r>
            <a:endParaRPr/>
          </a:p>
          <a:p>
            <a:pPr indent="-277813"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byte stream “number” of first byte in segment’s data</a:t>
            </a:r>
            <a:endParaRPr b="0" i="0" sz="2400" u="none" cap="none" strike="noStrike">
              <a:solidFill>
                <a:srgbClr val="000000"/>
              </a:solidFill>
              <a:latin typeface="Calibri"/>
              <a:ea typeface="Calibri"/>
              <a:cs typeface="Calibri"/>
              <a:sym typeface="Calibri"/>
            </a:endParaRPr>
          </a:p>
        </p:txBody>
      </p:sp>
      <p:grpSp>
        <p:nvGrpSpPr>
          <p:cNvPr id="214" name="Google Shape;214;p24"/>
          <p:cNvGrpSpPr/>
          <p:nvPr/>
        </p:nvGrpSpPr>
        <p:grpSpPr>
          <a:xfrm>
            <a:off x="7783528" y="3989281"/>
            <a:ext cx="3086106" cy="2541588"/>
            <a:chOff x="3520" y="2404"/>
            <a:chExt cx="1944" cy="1601"/>
          </a:xfrm>
        </p:grpSpPr>
        <p:sp>
          <p:nvSpPr>
            <p:cNvPr id="215" name="Google Shape;215;p24"/>
            <p:cNvSpPr/>
            <p:nvPr/>
          </p:nvSpPr>
          <p:spPr>
            <a:xfrm>
              <a:off x="3755" y="3589"/>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6" name="Google Shape;216;p24"/>
            <p:cNvGrpSpPr/>
            <p:nvPr/>
          </p:nvGrpSpPr>
          <p:grpSpPr>
            <a:xfrm>
              <a:off x="3731" y="3291"/>
              <a:ext cx="1252" cy="714"/>
              <a:chOff x="1974" y="2984"/>
              <a:chExt cx="1252" cy="714"/>
            </a:xfrm>
          </p:grpSpPr>
          <p:sp>
            <p:nvSpPr>
              <p:cNvPr id="217" name="Google Shape;217;p24"/>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 name="Google Shape;218;p24"/>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219" name="Google Shape;219;p24"/>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220" name="Google Shape;220;p24"/>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sequence number</a:t>
                </a:r>
                <a:endParaRPr/>
              </a:p>
            </p:txBody>
          </p:sp>
          <p:sp>
            <p:nvSpPr>
              <p:cNvPr id="221" name="Google Shape;221;p24"/>
              <p:cNvSpPr txBox="1"/>
              <p:nvPr/>
            </p:nvSpPr>
            <p:spPr>
              <a:xfrm>
                <a:off x="1974"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acknowledgement number</a:t>
                </a:r>
                <a:endParaRPr/>
              </a:p>
            </p:txBody>
          </p:sp>
          <p:sp>
            <p:nvSpPr>
              <p:cNvPr id="222" name="Google Shape;222;p24"/>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223" name="Google Shape;223;p24"/>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224" name="Google Shape;224;p24"/>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225" name="Google Shape;225;p24"/>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226" name="Google Shape;226;p24"/>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227" name="Google Shape;227;p24"/>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228" name="Google Shape;228;p24"/>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229" name="Google Shape;229;p24"/>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230" name="Google Shape;230;p24"/>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231" name="Google Shape;231;p24"/>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232" name="Google Shape;232;p24"/>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233" name="Google Shape;233;p24"/>
            <p:cNvSpPr txBox="1"/>
            <p:nvPr/>
          </p:nvSpPr>
          <p:spPr>
            <a:xfrm>
              <a:off x="3520" y="3092"/>
              <a:ext cx="1944" cy="2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receiver</a:t>
              </a:r>
              <a:endParaRPr/>
            </a:p>
          </p:txBody>
        </p:sp>
        <p:sp>
          <p:nvSpPr>
            <p:cNvPr id="234" name="Google Shape;234;p24"/>
            <p:cNvSpPr/>
            <p:nvPr/>
          </p:nvSpPr>
          <p:spPr>
            <a:xfrm rot="10800000">
              <a:off x="3599" y="2404"/>
              <a:ext cx="107" cy="119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35" name="Google Shape;235;p24"/>
          <p:cNvGrpSpPr/>
          <p:nvPr/>
        </p:nvGrpSpPr>
        <p:grpSpPr>
          <a:xfrm>
            <a:off x="8685214" y="6022869"/>
            <a:ext cx="358775" cy="304800"/>
            <a:chOff x="5144" y="3677"/>
            <a:chExt cx="226" cy="192"/>
          </a:xfrm>
        </p:grpSpPr>
        <p:sp>
          <p:nvSpPr>
            <p:cNvPr id="236" name="Google Shape;236;p24"/>
            <p:cNvSpPr/>
            <p:nvPr/>
          </p:nvSpPr>
          <p:spPr>
            <a:xfrm>
              <a:off x="5212" y="3716"/>
              <a:ext cx="88"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7" name="Google Shape;237;p24"/>
            <p:cNvSpPr txBox="1"/>
            <p:nvPr/>
          </p:nvSpPr>
          <p:spPr>
            <a:xfrm>
              <a:off x="5144" y="3677"/>
              <a:ext cx="22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Narrow"/>
                <a:buNone/>
              </a:pPr>
              <a:r>
                <a:rPr b="0" i="0" lang="en-US" sz="1400" u="none" cap="none" strike="noStrike">
                  <a:solidFill>
                    <a:srgbClr val="FFFFFF"/>
                  </a:solidFill>
                  <a:latin typeface="Arial Narrow"/>
                  <a:ea typeface="Arial Narrow"/>
                  <a:cs typeface="Arial Narrow"/>
                  <a:sym typeface="Arial Narrow"/>
                </a:rPr>
                <a:t>A</a:t>
              </a:r>
              <a:endParaRPr/>
            </a:p>
          </p:txBody>
        </p:sp>
      </p:grpSp>
      <p:sp>
        <p:nvSpPr>
          <p:cNvPr id="238" name="Google Shape;238;p24"/>
          <p:cNvSpPr/>
          <p:nvPr/>
        </p:nvSpPr>
        <p:spPr>
          <a:xfrm>
            <a:off x="6835777" y="3123626"/>
            <a:ext cx="65087" cy="622300"/>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9" name="Google Shape;239;p24"/>
          <p:cNvSpPr/>
          <p:nvPr/>
        </p:nvSpPr>
        <p:spPr>
          <a:xfrm>
            <a:off x="6932614" y="3125214"/>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0" name="Google Shape;240;p24"/>
          <p:cNvSpPr/>
          <p:nvPr/>
        </p:nvSpPr>
        <p:spPr>
          <a:xfrm>
            <a:off x="7031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1" name="Google Shape;241;p24"/>
          <p:cNvSpPr/>
          <p:nvPr/>
        </p:nvSpPr>
        <p:spPr>
          <a:xfrm>
            <a:off x="712787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 name="Google Shape;242;p24"/>
          <p:cNvSpPr/>
          <p:nvPr/>
        </p:nvSpPr>
        <p:spPr>
          <a:xfrm>
            <a:off x="722312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3" name="Google Shape;243;p24"/>
          <p:cNvSpPr/>
          <p:nvPr/>
        </p:nvSpPr>
        <p:spPr>
          <a:xfrm>
            <a:off x="7319964"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4" name="Google Shape;244;p24"/>
          <p:cNvSpPr/>
          <p:nvPr/>
        </p:nvSpPr>
        <p:spPr>
          <a:xfrm>
            <a:off x="7412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5" name="Google Shape;245;p24"/>
          <p:cNvSpPr/>
          <p:nvPr/>
        </p:nvSpPr>
        <p:spPr>
          <a:xfrm>
            <a:off x="750728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6" name="Google Shape;246;p24"/>
          <p:cNvSpPr/>
          <p:nvPr/>
        </p:nvSpPr>
        <p:spPr>
          <a:xfrm>
            <a:off x="76025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7" name="Google Shape;247;p24"/>
          <p:cNvSpPr/>
          <p:nvPr/>
        </p:nvSpPr>
        <p:spPr>
          <a:xfrm>
            <a:off x="7708902"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8" name="Google Shape;248;p24"/>
          <p:cNvSpPr/>
          <p:nvPr/>
        </p:nvSpPr>
        <p:spPr>
          <a:xfrm>
            <a:off x="7807327" y="3125214"/>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9" name="Google Shape;249;p24"/>
          <p:cNvSpPr/>
          <p:nvPr/>
        </p:nvSpPr>
        <p:spPr>
          <a:xfrm>
            <a:off x="7904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0" name="Google Shape;250;p24"/>
          <p:cNvSpPr/>
          <p:nvPr/>
        </p:nvSpPr>
        <p:spPr>
          <a:xfrm>
            <a:off x="80010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 name="Google Shape;251;p24"/>
          <p:cNvSpPr/>
          <p:nvPr/>
        </p:nvSpPr>
        <p:spPr>
          <a:xfrm>
            <a:off x="809783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2" name="Google Shape;252;p24"/>
          <p:cNvSpPr/>
          <p:nvPr/>
        </p:nvSpPr>
        <p:spPr>
          <a:xfrm>
            <a:off x="819308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3" name="Google Shape;253;p24"/>
          <p:cNvSpPr/>
          <p:nvPr/>
        </p:nvSpPr>
        <p:spPr>
          <a:xfrm>
            <a:off x="8285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4" name="Google Shape;254;p24"/>
          <p:cNvSpPr/>
          <p:nvPr/>
        </p:nvSpPr>
        <p:spPr>
          <a:xfrm>
            <a:off x="838041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5" name="Google Shape;255;p24"/>
          <p:cNvSpPr/>
          <p:nvPr/>
        </p:nvSpPr>
        <p:spPr>
          <a:xfrm>
            <a:off x="84772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6" name="Google Shape;256;p24"/>
          <p:cNvSpPr/>
          <p:nvPr/>
        </p:nvSpPr>
        <p:spPr>
          <a:xfrm>
            <a:off x="85661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7" name="Google Shape;257;p24"/>
          <p:cNvSpPr/>
          <p:nvPr/>
        </p:nvSpPr>
        <p:spPr>
          <a:xfrm>
            <a:off x="86614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8" name="Google Shape;258;p24"/>
          <p:cNvSpPr/>
          <p:nvPr/>
        </p:nvSpPr>
        <p:spPr>
          <a:xfrm>
            <a:off x="8755064"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9" name="Google Shape;259;p24"/>
          <p:cNvSpPr/>
          <p:nvPr/>
        </p:nvSpPr>
        <p:spPr>
          <a:xfrm>
            <a:off x="8847139"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 name="Google Shape;260;p24"/>
          <p:cNvSpPr/>
          <p:nvPr/>
        </p:nvSpPr>
        <p:spPr>
          <a:xfrm>
            <a:off x="89439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 name="Google Shape;261;p24"/>
          <p:cNvSpPr/>
          <p:nvPr/>
        </p:nvSpPr>
        <p:spPr>
          <a:xfrm>
            <a:off x="90392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2" name="Google Shape;262;p24"/>
          <p:cNvSpPr/>
          <p:nvPr/>
        </p:nvSpPr>
        <p:spPr>
          <a:xfrm>
            <a:off x="91281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3" name="Google Shape;263;p24"/>
          <p:cNvSpPr/>
          <p:nvPr/>
        </p:nvSpPr>
        <p:spPr>
          <a:xfrm>
            <a:off x="92233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4" name="Google Shape;264;p24"/>
          <p:cNvSpPr/>
          <p:nvPr/>
        </p:nvSpPr>
        <p:spPr>
          <a:xfrm>
            <a:off x="93202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5" name="Google Shape;265;p24"/>
          <p:cNvSpPr/>
          <p:nvPr/>
        </p:nvSpPr>
        <p:spPr>
          <a:xfrm>
            <a:off x="9417052" y="3125214"/>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6" name="Google Shape;266;p24"/>
          <p:cNvSpPr/>
          <p:nvPr/>
        </p:nvSpPr>
        <p:spPr>
          <a:xfrm>
            <a:off x="9513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7" name="Google Shape;267;p24"/>
          <p:cNvSpPr/>
          <p:nvPr/>
        </p:nvSpPr>
        <p:spPr>
          <a:xfrm>
            <a:off x="96123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8" name="Google Shape;268;p24"/>
          <p:cNvSpPr/>
          <p:nvPr/>
        </p:nvSpPr>
        <p:spPr>
          <a:xfrm>
            <a:off x="970756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9" name="Google Shape;269;p24"/>
          <p:cNvSpPr/>
          <p:nvPr/>
        </p:nvSpPr>
        <p:spPr>
          <a:xfrm>
            <a:off x="98028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0" name="Google Shape;270;p24"/>
          <p:cNvSpPr/>
          <p:nvPr/>
        </p:nvSpPr>
        <p:spPr>
          <a:xfrm>
            <a:off x="9894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1" name="Google Shape;271;p24"/>
          <p:cNvSpPr/>
          <p:nvPr/>
        </p:nvSpPr>
        <p:spPr>
          <a:xfrm>
            <a:off x="9991727" y="3123626"/>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2" name="Google Shape;272;p24"/>
          <p:cNvSpPr/>
          <p:nvPr/>
        </p:nvSpPr>
        <p:spPr>
          <a:xfrm>
            <a:off x="10086977" y="3123626"/>
            <a:ext cx="65087" cy="622300"/>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3" name="Google Shape;273;p24"/>
          <p:cNvSpPr/>
          <p:nvPr/>
        </p:nvSpPr>
        <p:spPr>
          <a:xfrm>
            <a:off x="6792914" y="3861814"/>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4" name="Google Shape;274;p24"/>
          <p:cNvSpPr/>
          <p:nvPr/>
        </p:nvSpPr>
        <p:spPr>
          <a:xfrm>
            <a:off x="6878639" y="3014089"/>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75" name="Google Shape;275;p24"/>
          <p:cNvCxnSpPr/>
          <p:nvPr/>
        </p:nvCxnSpPr>
        <p:spPr>
          <a:xfrm>
            <a:off x="6900864" y="3976114"/>
            <a:ext cx="868363" cy="0"/>
          </a:xfrm>
          <a:prstGeom prst="straightConnector1">
            <a:avLst/>
          </a:prstGeom>
          <a:noFill/>
          <a:ln cap="flat" cmpd="sng" w="28575">
            <a:solidFill>
              <a:srgbClr val="CC0000"/>
            </a:solidFill>
            <a:prstDash val="solid"/>
            <a:round/>
            <a:headEnd len="med" w="med" type="none"/>
            <a:tailEnd len="med" w="med" type="none"/>
          </a:ln>
        </p:spPr>
      </p:cxnSp>
      <p:cxnSp>
        <p:nvCxnSpPr>
          <p:cNvPr id="276" name="Google Shape;276;p24"/>
          <p:cNvCxnSpPr/>
          <p:nvPr/>
        </p:nvCxnSpPr>
        <p:spPr>
          <a:xfrm>
            <a:off x="7835902" y="3977701"/>
            <a:ext cx="868362" cy="0"/>
          </a:xfrm>
          <a:prstGeom prst="straightConnector1">
            <a:avLst/>
          </a:prstGeom>
          <a:noFill/>
          <a:ln cap="flat" cmpd="sng" w="28575">
            <a:solidFill>
              <a:srgbClr val="CC0000"/>
            </a:solidFill>
            <a:prstDash val="solid"/>
            <a:round/>
            <a:headEnd len="med" w="med" type="none"/>
            <a:tailEnd len="med" w="med" type="none"/>
          </a:ln>
        </p:spPr>
      </p:cxnSp>
      <p:cxnSp>
        <p:nvCxnSpPr>
          <p:cNvPr id="277" name="Google Shape;277;p24"/>
          <p:cNvCxnSpPr/>
          <p:nvPr/>
        </p:nvCxnSpPr>
        <p:spPr>
          <a:xfrm>
            <a:off x="9329739" y="3976114"/>
            <a:ext cx="801688" cy="0"/>
          </a:xfrm>
          <a:prstGeom prst="straightConnector1">
            <a:avLst/>
          </a:prstGeom>
          <a:noFill/>
          <a:ln cap="flat" cmpd="sng" w="28575">
            <a:solidFill>
              <a:srgbClr val="CC0000"/>
            </a:solidFill>
            <a:prstDash val="solid"/>
            <a:round/>
            <a:headEnd len="med" w="med" type="none"/>
            <a:tailEnd len="med" w="med" type="none"/>
          </a:ln>
        </p:spPr>
      </p:cxnSp>
      <p:cxnSp>
        <p:nvCxnSpPr>
          <p:cNvPr id="278" name="Google Shape;278;p24"/>
          <p:cNvCxnSpPr/>
          <p:nvPr/>
        </p:nvCxnSpPr>
        <p:spPr>
          <a:xfrm>
            <a:off x="8759827" y="3977701"/>
            <a:ext cx="528637" cy="0"/>
          </a:xfrm>
          <a:prstGeom prst="straightConnector1">
            <a:avLst/>
          </a:prstGeom>
          <a:noFill/>
          <a:ln cap="flat" cmpd="sng" w="28575">
            <a:solidFill>
              <a:srgbClr val="CC0000"/>
            </a:solidFill>
            <a:prstDash val="solid"/>
            <a:round/>
            <a:headEnd len="med" w="med" type="none"/>
            <a:tailEnd len="med" w="med" type="none"/>
          </a:ln>
        </p:spPr>
      </p:cxnSp>
      <p:cxnSp>
        <p:nvCxnSpPr>
          <p:cNvPr id="279" name="Google Shape;279;p24"/>
          <p:cNvCxnSpPr/>
          <p:nvPr/>
        </p:nvCxnSpPr>
        <p:spPr>
          <a:xfrm>
            <a:off x="6992939" y="3999926"/>
            <a:ext cx="0" cy="233363"/>
          </a:xfrm>
          <a:prstGeom prst="straightConnector1">
            <a:avLst/>
          </a:prstGeom>
          <a:noFill/>
          <a:ln cap="flat" cmpd="sng" w="9525">
            <a:solidFill>
              <a:srgbClr val="CC0000"/>
            </a:solidFill>
            <a:prstDash val="solid"/>
            <a:round/>
            <a:headEnd len="med" w="med" type="none"/>
            <a:tailEnd len="med" w="med" type="none"/>
          </a:ln>
        </p:spPr>
      </p:cxnSp>
      <p:cxnSp>
        <p:nvCxnSpPr>
          <p:cNvPr id="280" name="Google Shape;280;p24"/>
          <p:cNvCxnSpPr/>
          <p:nvPr/>
        </p:nvCxnSpPr>
        <p:spPr>
          <a:xfrm>
            <a:off x="822166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281" name="Google Shape;281;p24"/>
          <p:cNvCxnSpPr/>
          <p:nvPr/>
        </p:nvCxnSpPr>
        <p:spPr>
          <a:xfrm>
            <a:off x="904081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282" name="Google Shape;282;p24"/>
          <p:cNvCxnSpPr/>
          <p:nvPr/>
        </p:nvCxnSpPr>
        <p:spPr>
          <a:xfrm>
            <a:off x="9698039" y="3995164"/>
            <a:ext cx="0" cy="233362"/>
          </a:xfrm>
          <a:prstGeom prst="straightConnector1">
            <a:avLst/>
          </a:prstGeom>
          <a:noFill/>
          <a:ln cap="flat" cmpd="sng" w="9525">
            <a:solidFill>
              <a:srgbClr val="CC0000"/>
            </a:solidFill>
            <a:prstDash val="solid"/>
            <a:round/>
            <a:headEnd len="med" w="med" type="none"/>
            <a:tailEnd len="med" w="med" type="none"/>
          </a:ln>
        </p:spPr>
      </p:cxnSp>
      <p:sp>
        <p:nvSpPr>
          <p:cNvPr id="283" name="Google Shape;283;p24"/>
          <p:cNvSpPr txBox="1"/>
          <p:nvPr/>
        </p:nvSpPr>
        <p:spPr>
          <a:xfrm>
            <a:off x="6869114" y="4223764"/>
            <a:ext cx="693738"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ACKed</a:t>
            </a:r>
            <a:endParaRPr/>
          </a:p>
        </p:txBody>
      </p:sp>
      <p:sp>
        <p:nvSpPr>
          <p:cNvPr id="284" name="Google Shape;284;p24"/>
          <p:cNvSpPr txBox="1"/>
          <p:nvPr/>
        </p:nvSpPr>
        <p:spPr>
          <a:xfrm>
            <a:off x="7850188" y="4230114"/>
            <a:ext cx="1139821" cy="68480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not-yet ACKed</a:t>
            </a:r>
            <a:endParaRPr/>
          </a:p>
          <a:p>
            <a:pPr indent="0" lvl="0" marL="0" marR="0" rtl="0" algn="l">
              <a:lnSpc>
                <a:spcPct val="90000"/>
              </a:lnSpc>
              <a:spcBef>
                <a:spcPts val="30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(“in-flight”)</a:t>
            </a:r>
            <a:endParaRPr b="0" i="0" sz="1200" u="none" cap="none" strike="noStrike">
              <a:solidFill>
                <a:srgbClr val="000000"/>
              </a:solidFill>
              <a:latin typeface="Tahoma"/>
              <a:ea typeface="Tahoma"/>
              <a:cs typeface="Tahoma"/>
              <a:sym typeface="Tahoma"/>
            </a:endParaRPr>
          </a:p>
        </p:txBody>
      </p:sp>
      <p:sp>
        <p:nvSpPr>
          <p:cNvPr id="285" name="Google Shape;285;p24"/>
          <p:cNvSpPr txBox="1"/>
          <p:nvPr/>
        </p:nvSpPr>
        <p:spPr>
          <a:xfrm>
            <a:off x="8829677" y="4225351"/>
            <a:ext cx="1066800" cy="66833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but 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yet sent</a:t>
            </a:r>
            <a:endParaRPr/>
          </a:p>
        </p:txBody>
      </p:sp>
      <p:sp>
        <p:nvSpPr>
          <p:cNvPr id="286" name="Google Shape;286;p24"/>
          <p:cNvSpPr txBox="1"/>
          <p:nvPr/>
        </p:nvSpPr>
        <p:spPr>
          <a:xfrm>
            <a:off x="9586914" y="4230114"/>
            <a:ext cx="819150"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p:txBody>
      </p:sp>
      <p:sp>
        <p:nvSpPr>
          <p:cNvPr id="287" name="Google Shape;287;p24"/>
          <p:cNvSpPr txBox="1"/>
          <p:nvPr/>
        </p:nvSpPr>
        <p:spPr>
          <a:xfrm>
            <a:off x="7929564" y="2658489"/>
            <a:ext cx="1131888" cy="4762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window size</a:t>
            </a:r>
            <a:endParaRPr/>
          </a:p>
          <a:p>
            <a:pPr indent="0" lvl="0" marL="0" marR="0" rtl="0" algn="ctr">
              <a:lnSpc>
                <a:spcPct val="9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 N</a:t>
            </a:r>
            <a:endParaRPr/>
          </a:p>
        </p:txBody>
      </p:sp>
      <p:grpSp>
        <p:nvGrpSpPr>
          <p:cNvPr id="288" name="Google Shape;288;p24"/>
          <p:cNvGrpSpPr/>
          <p:nvPr/>
        </p:nvGrpSpPr>
        <p:grpSpPr>
          <a:xfrm>
            <a:off x="8696327" y="2882326"/>
            <a:ext cx="593725" cy="136525"/>
            <a:chOff x="4250" y="1692"/>
            <a:chExt cx="374" cy="86"/>
          </a:xfrm>
        </p:grpSpPr>
        <p:cxnSp>
          <p:nvCxnSpPr>
            <p:cNvPr id="289" name="Google Shape;289;p24"/>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290" name="Google Shape;290;p24"/>
            <p:cNvCxnSpPr/>
            <p:nvPr/>
          </p:nvCxnSpPr>
          <p:spPr>
            <a:xfrm>
              <a:off x="4622"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291" name="Google Shape;291;p24"/>
          <p:cNvGrpSpPr/>
          <p:nvPr/>
        </p:nvGrpSpPr>
        <p:grpSpPr>
          <a:xfrm rot="10800000">
            <a:off x="7793040" y="2896614"/>
            <a:ext cx="593725" cy="136525"/>
            <a:chOff x="4257" y="1699"/>
            <a:chExt cx="374" cy="86"/>
          </a:xfrm>
        </p:grpSpPr>
        <p:cxnSp>
          <p:nvCxnSpPr>
            <p:cNvPr id="292" name="Google Shape;292;p24"/>
            <p:cNvCxnSpPr/>
            <p:nvPr/>
          </p:nvCxnSpPr>
          <p:spPr>
            <a:xfrm>
              <a:off x="4257" y="1745"/>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293" name="Google Shape;293;p24"/>
            <p:cNvCxnSpPr/>
            <p:nvPr/>
          </p:nvCxnSpPr>
          <p:spPr>
            <a:xfrm>
              <a:off x="4629" y="1699"/>
              <a:ext cx="0" cy="86"/>
            </a:xfrm>
            <a:prstGeom prst="straightConnector1">
              <a:avLst/>
            </a:prstGeom>
            <a:noFill/>
            <a:ln cap="flat" cmpd="sng" w="9525">
              <a:solidFill>
                <a:srgbClr val="CC0000"/>
              </a:solidFill>
              <a:prstDash val="solid"/>
              <a:round/>
              <a:headEnd len="med" w="med" type="none"/>
              <a:tailEnd len="med" w="med" type="none"/>
            </a:ln>
          </p:spPr>
        </p:cxnSp>
      </p:grpSp>
      <p:sp>
        <p:nvSpPr>
          <p:cNvPr id="294" name="Google Shape;294;p24"/>
          <p:cNvSpPr txBox="1"/>
          <p:nvPr/>
        </p:nvSpPr>
        <p:spPr>
          <a:xfrm>
            <a:off x="7085014" y="3677664"/>
            <a:ext cx="3178175" cy="304800"/>
          </a:xfrm>
          <a:prstGeom prst="rect">
            <a:avLst/>
          </a:prstGeom>
          <a:noFill/>
          <a:ln>
            <a:noFill/>
          </a:ln>
        </p:spPr>
        <p:txBody>
          <a:bodyPr anchorCtr="0" anchor="t" bIns="45700" lIns="91425" spcFirstLastPara="1" rIns="91425" wrap="square" tIns="45700">
            <a:spAutoFit/>
          </a:bodyPr>
          <a:lstStyle/>
          <a:p>
            <a:pPr indent="0" lvl="1" marL="0" marR="0" rtl="0" algn="ctr">
              <a:lnSpc>
                <a:spcPct val="10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sender sequence number space </a:t>
            </a:r>
            <a:endParaRPr/>
          </a:p>
        </p:txBody>
      </p:sp>
      <p:grpSp>
        <p:nvGrpSpPr>
          <p:cNvPr id="295" name="Google Shape;295;p24"/>
          <p:cNvGrpSpPr/>
          <p:nvPr/>
        </p:nvGrpSpPr>
        <p:grpSpPr>
          <a:xfrm>
            <a:off x="6321427" y="1140839"/>
            <a:ext cx="2857500" cy="1966912"/>
            <a:chOff x="2600" y="665"/>
            <a:chExt cx="1800" cy="1239"/>
          </a:xfrm>
        </p:grpSpPr>
        <p:sp>
          <p:nvSpPr>
            <p:cNvPr id="296" name="Google Shape;296;p24"/>
            <p:cNvSpPr/>
            <p:nvPr/>
          </p:nvSpPr>
          <p:spPr>
            <a:xfrm>
              <a:off x="2840" y="1028"/>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7" name="Google Shape;297;p24"/>
            <p:cNvGrpSpPr/>
            <p:nvPr/>
          </p:nvGrpSpPr>
          <p:grpSpPr>
            <a:xfrm>
              <a:off x="2820" y="872"/>
              <a:ext cx="1275" cy="860"/>
              <a:chOff x="1976" y="2984"/>
              <a:chExt cx="1275" cy="860"/>
            </a:xfrm>
          </p:grpSpPr>
          <p:sp>
            <p:nvSpPr>
              <p:cNvPr id="298" name="Google Shape;298;p24"/>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9" name="Google Shape;299;p24"/>
              <p:cNvSpPr txBox="1"/>
              <p:nvPr/>
            </p:nvSpPr>
            <p:spPr>
              <a:xfrm>
                <a:off x="2001" y="2984"/>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300" name="Google Shape;300;p24"/>
              <p:cNvSpPr txBox="1"/>
              <p:nvPr/>
            </p:nvSpPr>
            <p:spPr>
              <a:xfrm>
                <a:off x="2648" y="2987"/>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301" name="Google Shape;301;p24"/>
              <p:cNvSpPr txBox="1"/>
              <p:nvPr/>
            </p:nvSpPr>
            <p:spPr>
              <a:xfrm>
                <a:off x="2154" y="3117"/>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sequence number</a:t>
                </a:r>
                <a:endParaRPr/>
              </a:p>
            </p:txBody>
          </p:sp>
          <p:sp>
            <p:nvSpPr>
              <p:cNvPr id="302" name="Google Shape;302;p24"/>
              <p:cNvSpPr txBox="1"/>
              <p:nvPr/>
            </p:nvSpPr>
            <p:spPr>
              <a:xfrm>
                <a:off x="1976" y="3257"/>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acknowledgement number</a:t>
                </a:r>
                <a:endParaRPr/>
              </a:p>
            </p:txBody>
          </p:sp>
          <p:sp>
            <p:nvSpPr>
              <p:cNvPr id="303" name="Google Shape;303;p24"/>
              <p:cNvSpPr txBox="1"/>
              <p:nvPr/>
            </p:nvSpPr>
            <p:spPr>
              <a:xfrm>
                <a:off x="2053" y="3544"/>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304" name="Google Shape;304;p24"/>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305" name="Google Shape;305;p24"/>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306" name="Google Shape;306;p24"/>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307" name="Google Shape;307;p24"/>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308" name="Google Shape;308;p24"/>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309" name="Google Shape;309;p24"/>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310" name="Google Shape;310;p24"/>
              <p:cNvSpPr txBox="1"/>
              <p:nvPr/>
            </p:nvSpPr>
            <p:spPr>
              <a:xfrm>
                <a:off x="2708" y="3390"/>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311" name="Google Shape;311;p24"/>
              <p:cNvSpPr txBox="1"/>
              <p:nvPr/>
            </p:nvSpPr>
            <p:spPr>
              <a:xfrm>
                <a:off x="2651" y="3544"/>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312" name="Google Shape;312;p24"/>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313" name="Google Shape;313;p24"/>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314" name="Google Shape;314;p24"/>
            <p:cNvSpPr txBox="1"/>
            <p:nvPr/>
          </p:nvSpPr>
          <p:spPr>
            <a:xfrm>
              <a:off x="2600" y="665"/>
              <a:ext cx="18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sender</a:t>
              </a:r>
              <a:endParaRPr/>
            </a:p>
          </p:txBody>
        </p:sp>
        <p:sp>
          <p:nvSpPr>
            <p:cNvPr id="315" name="Google Shape;315;p24"/>
            <p:cNvSpPr/>
            <p:nvPr/>
          </p:nvSpPr>
          <p:spPr>
            <a:xfrm>
              <a:off x="4050" y="1080"/>
              <a:ext cx="107" cy="82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6" name="Google Shape;316;p24"/>
          <p:cNvSpPr txBox="1"/>
          <p:nvPr/>
        </p:nvSpPr>
        <p:spPr>
          <a:xfrm>
            <a:off x="740571" y="2803512"/>
            <a:ext cx="5096669" cy="17684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Acknowledgements</a:t>
            </a:r>
            <a:r>
              <a:rPr b="0" i="0" lang="en-US" sz="2800" u="sng" cap="none" strike="noStrike">
                <a:solidFill>
                  <a:srgbClr val="CC0000"/>
                </a:solidFill>
                <a:latin typeface="Calibri"/>
                <a:ea typeface="Calibri"/>
                <a:cs typeface="Calibri"/>
                <a:sym typeface="Calibri"/>
              </a:rPr>
              <a:t>:</a:t>
            </a:r>
            <a:endParaRPr b="0" i="0" sz="2800" u="none" cap="none" strike="noStrike">
              <a:solidFill>
                <a:srgbClr val="CC0000"/>
              </a:solidFill>
              <a:latin typeface="Calibri"/>
              <a:ea typeface="Calibri"/>
              <a:cs typeface="Calibri"/>
              <a:sym typeface="Calibri"/>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seq # of next byte expected from other side</a:t>
            </a:r>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cumulative ACK</a:t>
            </a:r>
            <a:endParaRPr/>
          </a:p>
        </p:txBody>
      </p:sp>
      <p:sp>
        <p:nvSpPr>
          <p:cNvPr id="317" name="Google Shape;317;p24"/>
          <p:cNvSpPr txBox="1"/>
          <p:nvPr/>
        </p:nvSpPr>
        <p:spPr>
          <a:xfrm>
            <a:off x="651671" y="4633906"/>
            <a:ext cx="5096669" cy="17303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sng" cap="none" strike="noStrike">
                <a:solidFill>
                  <a:srgbClr val="CC0000"/>
                </a:solidFill>
                <a:latin typeface="Calibri"/>
                <a:ea typeface="Calibri"/>
                <a:cs typeface="Calibri"/>
                <a:sym typeface="Calibri"/>
              </a:rPr>
              <a:t>Q</a:t>
            </a:r>
            <a:r>
              <a:rPr b="0" i="0" lang="en-US" sz="2800" u="none" cap="none" strike="noStrike">
                <a:solidFill>
                  <a:srgbClr val="CC0000"/>
                </a:solidFill>
                <a:latin typeface="Calibri"/>
                <a:ea typeface="Calibri"/>
                <a:cs typeface="Calibri"/>
                <a:sym typeface="Calibri"/>
              </a:rPr>
              <a:t>:</a:t>
            </a:r>
            <a:r>
              <a:rPr b="0" i="0" lang="en-US" sz="2800" u="none" cap="none" strike="noStrike">
                <a:solidFill>
                  <a:srgbClr val="000000"/>
                </a:solidFill>
                <a:latin typeface="Calibri"/>
                <a:ea typeface="Calibri"/>
                <a:cs typeface="Calibri"/>
                <a:sym typeface="Calibri"/>
              </a:rPr>
              <a:t> how receiver handles out-of-order segments</a:t>
            </a:r>
            <a:endParaRPr/>
          </a:p>
          <a:p>
            <a:pPr indent="-285750" lvl="1" marL="635000" marR="0" rtl="0" algn="l">
              <a:lnSpc>
                <a:spcPct val="85000"/>
              </a:lnSpc>
              <a:spcBef>
                <a:spcPts val="560"/>
              </a:spcBef>
              <a:spcAft>
                <a:spcPts val="0"/>
              </a:spcAft>
              <a:buClr>
                <a:srgbClr val="000099"/>
              </a:buClr>
              <a:buSzPts val="2800"/>
              <a:buFont typeface="Arial"/>
              <a:buChar char="•"/>
            </a:pPr>
            <a:r>
              <a:rPr b="0" i="1" lang="en-US" sz="2800" u="sng"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TCP spec doesn’t say, - up to implementor</a:t>
            </a:r>
            <a:endParaRPr b="0" i="0" sz="2800" u="none" cap="none" strike="noStrike">
              <a:solidFill>
                <a:srgbClr val="000000"/>
              </a:solidFill>
              <a:latin typeface="Calibri"/>
              <a:ea typeface="Calibri"/>
              <a:cs typeface="Calibri"/>
              <a:sym typeface="Calibri"/>
            </a:endParaRPr>
          </a:p>
        </p:txBody>
      </p:sp>
      <p:sp>
        <p:nvSpPr>
          <p:cNvPr id="318" name="Google Shape;318;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325" name="Google Shape;325;p25"/>
          <p:cNvSpPr txBox="1"/>
          <p:nvPr/>
        </p:nvSpPr>
        <p:spPr>
          <a:xfrm>
            <a:off x="1661117" y="4011734"/>
            <a:ext cx="2519185" cy="7571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 echoed ‘C’</a:t>
            </a:r>
            <a:endParaRPr b="0" i="0" sz="1200" u="none" cap="none" strike="noStrike">
              <a:solidFill>
                <a:srgbClr val="000000"/>
              </a:solidFill>
              <a:latin typeface="Calibri"/>
              <a:ea typeface="Calibri"/>
              <a:cs typeface="Calibri"/>
              <a:sym typeface="Calibri"/>
            </a:endParaRPr>
          </a:p>
        </p:txBody>
      </p:sp>
      <p:sp>
        <p:nvSpPr>
          <p:cNvPr id="326" name="Google Shape;326;p25"/>
          <p:cNvSpPr txBox="1"/>
          <p:nvPr/>
        </p:nvSpPr>
        <p:spPr>
          <a:xfrm>
            <a:off x="7229477" y="3001865"/>
            <a:ext cx="318721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of‘C’, echoes back ‘C’</a:t>
            </a:r>
            <a:endParaRPr b="0" i="0" sz="2400" u="none" cap="none" strike="noStrike">
              <a:solidFill>
                <a:srgbClr val="000000"/>
              </a:solidFill>
              <a:latin typeface="Calibri"/>
              <a:ea typeface="Calibri"/>
              <a:cs typeface="Calibri"/>
              <a:sym typeface="Calibri"/>
            </a:endParaRPr>
          </a:p>
        </p:txBody>
      </p:sp>
      <p:sp>
        <p:nvSpPr>
          <p:cNvPr id="327" name="Google Shape;327;p25"/>
          <p:cNvSpPr txBox="1"/>
          <p:nvPr/>
        </p:nvSpPr>
        <p:spPr>
          <a:xfrm>
            <a:off x="3961011" y="5644479"/>
            <a:ext cx="340189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simple telnet scenario</a:t>
            </a:r>
            <a:endParaRPr b="0" i="0" sz="1200" u="none" cap="none" strike="noStrike">
              <a:solidFill>
                <a:srgbClr val="000099"/>
              </a:solidFill>
              <a:latin typeface="Calibri"/>
              <a:ea typeface="Calibri"/>
              <a:cs typeface="Calibri"/>
              <a:sym typeface="Calibri"/>
            </a:endParaRPr>
          </a:p>
        </p:txBody>
      </p:sp>
      <p:sp>
        <p:nvSpPr>
          <p:cNvPr id="328" name="Google Shape;328;p25"/>
          <p:cNvSpPr txBox="1"/>
          <p:nvPr/>
        </p:nvSpPr>
        <p:spPr>
          <a:xfrm>
            <a:off x="7129672" y="1492971"/>
            <a:ext cx="9973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B</a:t>
            </a:r>
            <a:endParaRPr/>
          </a:p>
        </p:txBody>
      </p:sp>
      <p:sp>
        <p:nvSpPr>
          <p:cNvPr id="329" name="Google Shape;329;p25"/>
          <p:cNvSpPr txBox="1"/>
          <p:nvPr/>
        </p:nvSpPr>
        <p:spPr>
          <a:xfrm>
            <a:off x="3204390" y="1459336"/>
            <a:ext cx="100861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a:t>
            </a:r>
            <a:endParaRPr/>
          </a:p>
        </p:txBody>
      </p:sp>
      <p:grpSp>
        <p:nvGrpSpPr>
          <p:cNvPr id="330" name="Google Shape;330;p25"/>
          <p:cNvGrpSpPr/>
          <p:nvPr/>
        </p:nvGrpSpPr>
        <p:grpSpPr>
          <a:xfrm>
            <a:off x="1499000" y="2541021"/>
            <a:ext cx="5581275" cy="780392"/>
            <a:chOff x="1499000" y="2541021"/>
            <a:chExt cx="5581275" cy="780392"/>
          </a:xfrm>
        </p:grpSpPr>
        <p:cxnSp>
          <p:nvCxnSpPr>
            <p:cNvPr id="331" name="Google Shape;331;p25"/>
            <p:cNvCxnSpPr/>
            <p:nvPr/>
          </p:nvCxnSpPr>
          <p:spPr>
            <a:xfrm>
              <a:off x="4354237" y="2749913"/>
              <a:ext cx="2586037" cy="571500"/>
            </a:xfrm>
            <a:prstGeom prst="straightConnector1">
              <a:avLst/>
            </a:prstGeom>
            <a:noFill/>
            <a:ln cap="flat" cmpd="sng" w="28575">
              <a:solidFill>
                <a:srgbClr val="3333CC"/>
              </a:solidFill>
              <a:prstDash val="solid"/>
              <a:round/>
              <a:headEnd len="med" w="med" type="none"/>
              <a:tailEnd len="med" w="med" type="triangle"/>
            </a:ln>
          </p:spPr>
        </p:cxnSp>
        <p:sp>
          <p:nvSpPr>
            <p:cNvPr id="332" name="Google Shape;332;p25"/>
            <p:cNvSpPr txBox="1"/>
            <p:nvPr/>
          </p:nvSpPr>
          <p:spPr>
            <a:xfrm>
              <a:off x="1499000" y="2541021"/>
              <a:ext cx="2725007"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User types‘C’</a:t>
              </a:r>
              <a:endParaRPr b="0" i="0" sz="1200" u="none" cap="none" strike="noStrike">
                <a:solidFill>
                  <a:srgbClr val="000000"/>
                </a:solidFill>
                <a:latin typeface="Calibri"/>
                <a:ea typeface="Calibri"/>
                <a:cs typeface="Calibri"/>
                <a:sym typeface="Calibri"/>
              </a:endParaRPr>
            </a:p>
          </p:txBody>
        </p:sp>
        <p:sp>
          <p:nvSpPr>
            <p:cNvPr id="333" name="Google Shape;333;p25"/>
            <p:cNvSpPr/>
            <p:nvPr/>
          </p:nvSpPr>
          <p:spPr>
            <a:xfrm>
              <a:off x="5167037" y="2841988"/>
              <a:ext cx="814387" cy="3794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334" name="Google Shape;334;p25"/>
            <p:cNvSpPr txBox="1"/>
            <p:nvPr/>
          </p:nvSpPr>
          <p:spPr>
            <a:xfrm>
              <a:off x="4260272" y="2854620"/>
              <a:ext cx="282000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Seq=42, ACK=79, data = ‘C’</a:t>
              </a:r>
              <a:endParaRPr b="0" i="0" sz="1800" u="none" cap="none" strike="noStrike">
                <a:solidFill>
                  <a:srgbClr val="000000"/>
                </a:solidFill>
                <a:latin typeface="Calibri"/>
                <a:ea typeface="Calibri"/>
                <a:cs typeface="Calibri"/>
                <a:sym typeface="Calibri"/>
              </a:endParaRPr>
            </a:p>
          </p:txBody>
        </p:sp>
      </p:grpSp>
      <p:grpSp>
        <p:nvGrpSpPr>
          <p:cNvPr id="335" name="Google Shape;335;p25"/>
          <p:cNvGrpSpPr/>
          <p:nvPr/>
        </p:nvGrpSpPr>
        <p:grpSpPr>
          <a:xfrm>
            <a:off x="4264368" y="3523026"/>
            <a:ext cx="2813399" cy="800100"/>
            <a:chOff x="4264368" y="3523026"/>
            <a:chExt cx="2813399" cy="800100"/>
          </a:xfrm>
        </p:grpSpPr>
        <p:cxnSp>
          <p:nvCxnSpPr>
            <p:cNvPr id="336" name="Google Shape;336;p25"/>
            <p:cNvCxnSpPr/>
            <p:nvPr/>
          </p:nvCxnSpPr>
          <p:spPr>
            <a:xfrm flipH="1">
              <a:off x="4344712" y="3523026"/>
              <a:ext cx="2554287" cy="800100"/>
            </a:xfrm>
            <a:prstGeom prst="straightConnector1">
              <a:avLst/>
            </a:prstGeom>
            <a:noFill/>
            <a:ln cap="flat" cmpd="sng" w="28575">
              <a:solidFill>
                <a:srgbClr val="3333CC"/>
              </a:solidFill>
              <a:prstDash val="solid"/>
              <a:round/>
              <a:headEnd len="med" w="med" type="none"/>
              <a:tailEnd len="med" w="med" type="triangle"/>
            </a:ln>
          </p:spPr>
        </p:cxnSp>
        <p:sp>
          <p:nvSpPr>
            <p:cNvPr id="337" name="Google Shape;337;p25"/>
            <p:cNvSpPr/>
            <p:nvPr/>
          </p:nvSpPr>
          <p:spPr>
            <a:xfrm>
              <a:off x="5201962" y="3800838"/>
              <a:ext cx="823912" cy="2460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338" name="Google Shape;338;p25"/>
            <p:cNvSpPr txBox="1"/>
            <p:nvPr/>
          </p:nvSpPr>
          <p:spPr>
            <a:xfrm>
              <a:off x="4264368" y="3736718"/>
              <a:ext cx="281339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Seq=79, ACK=43, data = ‘C’</a:t>
              </a:r>
              <a:endParaRPr b="0" i="0" sz="1100" u="none" cap="none" strike="noStrike">
                <a:solidFill>
                  <a:srgbClr val="000000"/>
                </a:solidFill>
                <a:latin typeface="Calibri"/>
                <a:ea typeface="Calibri"/>
                <a:cs typeface="Calibri"/>
                <a:sym typeface="Calibri"/>
              </a:endParaRPr>
            </a:p>
          </p:txBody>
        </p:sp>
      </p:grpSp>
      <p:grpSp>
        <p:nvGrpSpPr>
          <p:cNvPr id="339" name="Google Shape;339;p25"/>
          <p:cNvGrpSpPr/>
          <p:nvPr/>
        </p:nvGrpSpPr>
        <p:grpSpPr>
          <a:xfrm>
            <a:off x="4339949" y="4518388"/>
            <a:ext cx="2590800" cy="506413"/>
            <a:chOff x="4339949" y="4518388"/>
            <a:chExt cx="2590800" cy="506413"/>
          </a:xfrm>
        </p:grpSpPr>
        <p:cxnSp>
          <p:nvCxnSpPr>
            <p:cNvPr id="340" name="Google Shape;340;p25"/>
            <p:cNvCxnSpPr/>
            <p:nvPr/>
          </p:nvCxnSpPr>
          <p:spPr>
            <a:xfrm>
              <a:off x="4339949" y="4518388"/>
              <a:ext cx="2590800" cy="506413"/>
            </a:xfrm>
            <a:prstGeom prst="straightConnector1">
              <a:avLst/>
            </a:prstGeom>
            <a:noFill/>
            <a:ln cap="flat" cmpd="sng" w="28575">
              <a:solidFill>
                <a:srgbClr val="3333CC"/>
              </a:solidFill>
              <a:prstDash val="solid"/>
              <a:round/>
              <a:headEnd len="med" w="med" type="none"/>
              <a:tailEnd len="med" w="med" type="triangle"/>
            </a:ln>
          </p:spPr>
        </p:cxnSp>
        <p:sp>
          <p:nvSpPr>
            <p:cNvPr id="341" name="Google Shape;341;p25"/>
            <p:cNvSpPr/>
            <p:nvPr/>
          </p:nvSpPr>
          <p:spPr>
            <a:xfrm>
              <a:off x="5268637" y="4648563"/>
              <a:ext cx="958850" cy="3571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342" name="Google Shape;342;p25"/>
            <p:cNvSpPr txBox="1"/>
            <p:nvPr/>
          </p:nvSpPr>
          <p:spPr>
            <a:xfrm>
              <a:off x="4934710" y="4609843"/>
              <a:ext cx="1712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Seq=43, ACK=80</a:t>
              </a:r>
              <a:endParaRPr b="0" i="0" sz="1100" u="none" cap="none" strike="noStrike">
                <a:solidFill>
                  <a:srgbClr val="000000"/>
                </a:solidFill>
                <a:latin typeface="Calibri"/>
                <a:ea typeface="Calibri"/>
                <a:cs typeface="Calibri"/>
                <a:sym typeface="Calibri"/>
              </a:endParaRPr>
            </a:p>
          </p:txBody>
        </p:sp>
      </p:grpSp>
      <p:cxnSp>
        <p:nvCxnSpPr>
          <p:cNvPr id="343" name="Google Shape;343;p25"/>
          <p:cNvCxnSpPr/>
          <p:nvPr/>
        </p:nvCxnSpPr>
        <p:spPr>
          <a:xfrm>
            <a:off x="4332012" y="2508613"/>
            <a:ext cx="0" cy="2587625"/>
          </a:xfrm>
          <a:prstGeom prst="straightConnector1">
            <a:avLst/>
          </a:prstGeom>
          <a:noFill/>
          <a:ln cap="flat" cmpd="sng" w="9525">
            <a:solidFill>
              <a:srgbClr val="808080"/>
            </a:solidFill>
            <a:prstDash val="solid"/>
            <a:round/>
            <a:headEnd len="med" w="med" type="none"/>
            <a:tailEnd len="med" w="med" type="none"/>
          </a:ln>
        </p:spPr>
      </p:cxnSp>
      <p:cxnSp>
        <p:nvCxnSpPr>
          <p:cNvPr id="344" name="Google Shape;344;p25"/>
          <p:cNvCxnSpPr/>
          <p:nvPr/>
        </p:nvCxnSpPr>
        <p:spPr>
          <a:xfrm>
            <a:off x="6994249" y="2561001"/>
            <a:ext cx="0" cy="2587625"/>
          </a:xfrm>
          <a:prstGeom prst="straightConnector1">
            <a:avLst/>
          </a:prstGeom>
          <a:noFill/>
          <a:ln cap="flat" cmpd="sng" w="9525">
            <a:solidFill>
              <a:srgbClr val="808080"/>
            </a:solidFill>
            <a:prstDash val="solid"/>
            <a:round/>
            <a:headEnd len="med" w="med" type="none"/>
            <a:tailEnd len="med" w="med" type="none"/>
          </a:ln>
        </p:spPr>
      </p:cxnSp>
      <p:grpSp>
        <p:nvGrpSpPr>
          <p:cNvPr id="345" name="Google Shape;345;p25"/>
          <p:cNvGrpSpPr/>
          <p:nvPr/>
        </p:nvGrpSpPr>
        <p:grpSpPr>
          <a:xfrm>
            <a:off x="3824012" y="1687876"/>
            <a:ext cx="755650" cy="782637"/>
            <a:chOff x="-44" y="1473"/>
            <a:chExt cx="981" cy="1105"/>
          </a:xfrm>
        </p:grpSpPr>
        <p:pic>
          <p:nvPicPr>
            <p:cNvPr descr="desktop_computer_stylized_medium" id="346" name="Google Shape;346;p2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 name="Google Shape;347;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348" name="Google Shape;348;p25"/>
          <p:cNvGrpSpPr/>
          <p:nvPr/>
        </p:nvGrpSpPr>
        <p:grpSpPr>
          <a:xfrm flipH="1">
            <a:off x="6686274" y="1727563"/>
            <a:ext cx="788988" cy="862013"/>
            <a:chOff x="-44" y="1473"/>
            <a:chExt cx="981" cy="1105"/>
          </a:xfrm>
        </p:grpSpPr>
        <p:pic>
          <p:nvPicPr>
            <p:cNvPr descr="desktop_computer_stylized_medium" id="349" name="Google Shape;349;p2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50" name="Google Shape;350;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351" name="Google Shape;351;p25"/>
          <p:cNvGrpSpPr/>
          <p:nvPr/>
        </p:nvGrpSpPr>
        <p:grpSpPr>
          <a:xfrm>
            <a:off x="4692316" y="2815389"/>
            <a:ext cx="1388485" cy="1371600"/>
            <a:chOff x="4692316" y="2815389"/>
            <a:chExt cx="1388485" cy="1371600"/>
          </a:xfrm>
        </p:grpSpPr>
        <p:sp>
          <p:nvSpPr>
            <p:cNvPr id="352" name="Google Shape;352;p25"/>
            <p:cNvSpPr/>
            <p:nvPr/>
          </p:nvSpPr>
          <p:spPr>
            <a:xfrm>
              <a:off x="5566610" y="3721768"/>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3" name="Google Shape;353;p25"/>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54" name="Google Shape;354;p25"/>
            <p:cNvCxnSpPr/>
            <p:nvPr/>
          </p:nvCxnSpPr>
          <p:spPr>
            <a:xfrm rot="10800000">
              <a:off x="5117431" y="3224463"/>
              <a:ext cx="513348" cy="513348"/>
            </a:xfrm>
            <a:prstGeom prst="straightConnector1">
              <a:avLst/>
            </a:prstGeom>
            <a:noFill/>
            <a:ln cap="flat" cmpd="sng" w="22225">
              <a:solidFill>
                <a:srgbClr val="C00000"/>
              </a:solidFill>
              <a:prstDash val="solid"/>
              <a:miter lim="800000"/>
              <a:headEnd len="sm" w="sm" type="none"/>
              <a:tailEnd len="med" w="med" type="triangle"/>
            </a:ln>
          </p:spPr>
        </p:cxnSp>
      </p:grpSp>
      <p:grpSp>
        <p:nvGrpSpPr>
          <p:cNvPr id="355" name="Google Shape;355;p25"/>
          <p:cNvGrpSpPr/>
          <p:nvPr/>
        </p:nvGrpSpPr>
        <p:grpSpPr>
          <a:xfrm>
            <a:off x="4684295" y="3737810"/>
            <a:ext cx="1982043" cy="1307432"/>
            <a:chOff x="4692316" y="2815389"/>
            <a:chExt cx="1982043" cy="1307432"/>
          </a:xfrm>
        </p:grpSpPr>
        <p:sp>
          <p:nvSpPr>
            <p:cNvPr id="356" name="Google Shape;356;p25"/>
            <p:cNvSpPr/>
            <p:nvPr/>
          </p:nvSpPr>
          <p:spPr>
            <a:xfrm>
              <a:off x="6160168" y="3657600"/>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7" name="Google Shape;357;p25"/>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58" name="Google Shape;358;p25"/>
            <p:cNvCxnSpPr/>
            <p:nvPr/>
          </p:nvCxnSpPr>
          <p:spPr>
            <a:xfrm rot="10800000">
              <a:off x="5165557" y="3224463"/>
              <a:ext cx="970548" cy="521369"/>
            </a:xfrm>
            <a:prstGeom prst="straightConnector1">
              <a:avLst/>
            </a:prstGeom>
            <a:noFill/>
            <a:ln cap="flat" cmpd="sng" w="22225">
              <a:solidFill>
                <a:srgbClr val="C00000"/>
              </a:solidFill>
              <a:prstDash val="solid"/>
              <a:miter lim="800000"/>
              <a:headEnd len="sm" w="sm" type="none"/>
              <a:tailEnd len="med" w="med" type="triangle"/>
            </a:ln>
          </p:spPr>
        </p:cxnSp>
      </p:grpSp>
      <p:sp>
        <p:nvSpPr>
          <p:cNvPr id="359" name="Google Shape;359;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500"/>
                                        <p:tgtEl>
                                          <p:spTgt spid="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1"/>
                                        </p:tgtEl>
                                      </p:cBhvr>
                                    </p:animEffect>
                                    <p:set>
                                      <p:cBhvr>
                                        <p:cTn dur="1" fill="hold">
                                          <p:stCondLst>
                                            <p:cond delay="500"/>
                                          </p:stCondLst>
                                        </p:cTn>
                                        <p:tgtEl>
                                          <p:spTgt spid="35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Receiver: ACK generation </a:t>
            </a:r>
            <a:r>
              <a:rPr b="0" lang="en-US" sz="2400"/>
              <a:t>[RFC 5681]</a:t>
            </a:r>
            <a:endParaRPr b="0" sz="4400"/>
          </a:p>
        </p:txBody>
      </p:sp>
      <p:sp>
        <p:nvSpPr>
          <p:cNvPr id="366" name="Google Shape;366;p26"/>
          <p:cNvSpPr txBox="1"/>
          <p:nvPr/>
        </p:nvSpPr>
        <p:spPr>
          <a:xfrm>
            <a:off x="2143953" y="1439289"/>
            <a:ext cx="3496406"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Event at receiver</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All data up to</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already ACKed</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One other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has ACK pending</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out-of-order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higher-than-expect seq. #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Gap detected</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segment that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partially or completely fills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sp>
        <p:nvSpPr>
          <p:cNvPr id="367" name="Google Shape;367;p26"/>
          <p:cNvSpPr txBox="1"/>
          <p:nvPr/>
        </p:nvSpPr>
        <p:spPr>
          <a:xfrm>
            <a:off x="5906328" y="1429764"/>
            <a:ext cx="4189545"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TCP receiver action</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delayed ACK. Wait up to 500ms</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for next segment. If no next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 ACK</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single cumulative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ACK, ACKing both in-order segments </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a:t>
            </a:r>
            <a:r>
              <a:rPr b="0" i="1" lang="en-US" sz="2000" u="none" cap="none" strike="noStrike">
                <a:solidFill>
                  <a:srgbClr val="CC0000"/>
                </a:solidFill>
                <a:latin typeface="Calibri"/>
                <a:ea typeface="Calibri"/>
                <a:cs typeface="Calibri"/>
                <a:sym typeface="Calibri"/>
              </a:rPr>
              <a:t>duplicate ACK</a:t>
            </a:r>
            <a:r>
              <a:rPr b="0" i="0" lang="en-US" sz="2000" u="none" cap="none" strike="noStrike">
                <a:solidFill>
                  <a:srgbClr val="CC0000"/>
                </a:solidFill>
                <a:latin typeface="Calibri"/>
                <a:ea typeface="Calibri"/>
                <a:cs typeface="Calibri"/>
                <a:sym typeface="Calibri"/>
              </a:rPr>
              <a:t>,</a:t>
            </a:r>
            <a:r>
              <a:rPr b="0" i="0" lang="en-US" sz="2000" u="none" cap="none" strike="noStrike">
                <a:solidFill>
                  <a:srgbClr val="000000"/>
                </a:solidFill>
                <a:latin typeface="Calibri"/>
                <a:ea typeface="Calibri"/>
                <a:cs typeface="Calibri"/>
                <a:sym typeface="Calibri"/>
              </a:rPr>
              <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indicating seq. # of next expected byte</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 send ACK, provided that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starts at lower end of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cxnSp>
        <p:nvCxnSpPr>
          <p:cNvPr id="368" name="Google Shape;368;p26"/>
          <p:cNvCxnSpPr/>
          <p:nvPr/>
        </p:nvCxnSpPr>
        <p:spPr>
          <a:xfrm>
            <a:off x="5715828" y="1590101"/>
            <a:ext cx="0" cy="4352925"/>
          </a:xfrm>
          <a:prstGeom prst="straightConnector1">
            <a:avLst/>
          </a:prstGeom>
          <a:noFill/>
          <a:ln cap="flat" cmpd="sng" w="28575">
            <a:solidFill>
              <a:srgbClr val="000099"/>
            </a:solidFill>
            <a:prstDash val="solid"/>
            <a:round/>
            <a:headEnd len="med" w="med" type="none"/>
            <a:tailEnd len="med" w="med" type="none"/>
          </a:ln>
        </p:spPr>
      </p:cxnSp>
      <p:cxnSp>
        <p:nvCxnSpPr>
          <p:cNvPr id="369" name="Google Shape;369;p26"/>
          <p:cNvCxnSpPr/>
          <p:nvPr/>
        </p:nvCxnSpPr>
        <p:spPr>
          <a:xfrm>
            <a:off x="2159828" y="20298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370" name="Google Shape;370;p26"/>
          <p:cNvCxnSpPr/>
          <p:nvPr/>
        </p:nvCxnSpPr>
        <p:spPr>
          <a:xfrm>
            <a:off x="2143953" y="30839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371" name="Google Shape;371;p26"/>
          <p:cNvCxnSpPr/>
          <p:nvPr/>
        </p:nvCxnSpPr>
        <p:spPr>
          <a:xfrm>
            <a:off x="2161416" y="4182489"/>
            <a:ext cx="7494587" cy="0"/>
          </a:xfrm>
          <a:prstGeom prst="straightConnector1">
            <a:avLst/>
          </a:prstGeom>
          <a:noFill/>
          <a:ln cap="flat" cmpd="sng" w="28575">
            <a:solidFill>
              <a:srgbClr val="000099"/>
            </a:solidFill>
            <a:prstDash val="solid"/>
            <a:round/>
            <a:headEnd len="med" w="med" type="none"/>
            <a:tailEnd len="med" w="med" type="none"/>
          </a:ln>
        </p:spPr>
      </p:cxnSp>
      <p:cxnSp>
        <p:nvCxnSpPr>
          <p:cNvPr id="372" name="Google Shape;372;p26"/>
          <p:cNvCxnSpPr/>
          <p:nvPr/>
        </p:nvCxnSpPr>
        <p:spPr>
          <a:xfrm>
            <a:off x="2155066" y="5271514"/>
            <a:ext cx="7494587" cy="0"/>
          </a:xfrm>
          <a:prstGeom prst="straightConnector1">
            <a:avLst/>
          </a:prstGeom>
          <a:noFill/>
          <a:ln cap="flat" cmpd="sng" w="28575">
            <a:solidFill>
              <a:srgbClr val="000099"/>
            </a:solidFill>
            <a:prstDash val="solid"/>
            <a:round/>
            <a:headEnd len="med" w="med" type="none"/>
            <a:tailEnd len="med" w="med" type="none"/>
          </a:ln>
        </p:spPr>
      </p:cxnSp>
      <p:sp>
        <p:nvSpPr>
          <p:cNvPr id="373" name="Google Shape;373;p26"/>
          <p:cNvSpPr/>
          <p:nvPr/>
        </p:nvSpPr>
        <p:spPr>
          <a:xfrm>
            <a:off x="2141951" y="2079321"/>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4" name="Google Shape;374;p26"/>
          <p:cNvSpPr/>
          <p:nvPr/>
        </p:nvSpPr>
        <p:spPr>
          <a:xfrm>
            <a:off x="2006253" y="3158647"/>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5" name="Google Shape;375;p26"/>
          <p:cNvSpPr/>
          <p:nvPr/>
        </p:nvSpPr>
        <p:spPr>
          <a:xfrm>
            <a:off x="2196231" y="4237973"/>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6" name="Google Shape;376;p26"/>
          <p:cNvSpPr/>
          <p:nvPr/>
        </p:nvSpPr>
        <p:spPr>
          <a:xfrm>
            <a:off x="2246335" y="5340264"/>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7" name="Google Shape;377;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3"/>
                                        </p:tgtEl>
                                      </p:cBhvr>
                                    </p:animEffect>
                                    <p:set>
                                      <p:cBhvr>
                                        <p:cTn dur="1" fill="hold">
                                          <p:stCondLst>
                                            <p:cond delay="500"/>
                                          </p:stCondLst>
                                        </p:cTn>
                                        <p:tgtEl>
                                          <p:spTgt spid="3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4"/>
                                        </p:tgtEl>
                                      </p:cBhvr>
                                    </p:animEffect>
                                    <p:set>
                                      <p:cBhvr>
                                        <p:cTn dur="1" fill="hold">
                                          <p:stCondLst>
                                            <p:cond delay="500"/>
                                          </p:stCondLst>
                                        </p:cTn>
                                        <p:tgtEl>
                                          <p:spTgt spid="3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5"/>
                                        </p:tgtEl>
                                      </p:cBhvr>
                                    </p:animEffect>
                                    <p:set>
                                      <p:cBhvr>
                                        <p:cTn dur="1" fill="hold">
                                          <p:stCondLst>
                                            <p:cond delay="500"/>
                                          </p:stCondLst>
                                        </p:cTn>
                                        <p:tgtEl>
                                          <p:spTgt spid="3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6"/>
                                        </p:tgtEl>
                                      </p:cBhvr>
                                    </p:animEffect>
                                    <p:set>
                                      <p:cBhvr>
                                        <p:cTn dur="1" fill="hold">
                                          <p:stCondLst>
                                            <p:cond delay="500"/>
                                          </p:stCondLst>
                                        </p:cTn>
                                        <p:tgtEl>
                                          <p:spTgt spid="37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retransmission scenarios</a:t>
            </a:r>
            <a:endParaRPr b="0" sz="4400"/>
          </a:p>
        </p:txBody>
      </p:sp>
      <p:sp>
        <p:nvSpPr>
          <p:cNvPr id="384" name="Google Shape;384;p27"/>
          <p:cNvSpPr txBox="1"/>
          <p:nvPr/>
        </p:nvSpPr>
        <p:spPr>
          <a:xfrm>
            <a:off x="2236856" y="5873422"/>
            <a:ext cx="1922463"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lost ACK scenario</a:t>
            </a:r>
            <a:endParaRPr b="0" i="0" sz="1000" u="none" cap="none" strike="noStrike">
              <a:solidFill>
                <a:srgbClr val="000000"/>
              </a:solidFill>
              <a:latin typeface="Tahoma"/>
              <a:ea typeface="Tahoma"/>
              <a:cs typeface="Tahoma"/>
              <a:sym typeface="Tahoma"/>
            </a:endParaRPr>
          </a:p>
        </p:txBody>
      </p:sp>
      <p:sp>
        <p:nvSpPr>
          <p:cNvPr id="385" name="Google Shape;385;p27"/>
          <p:cNvSpPr txBox="1"/>
          <p:nvPr/>
        </p:nvSpPr>
        <p:spPr>
          <a:xfrm>
            <a:off x="3970406" y="1183947"/>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386" name="Google Shape;386;p27"/>
          <p:cNvSpPr txBox="1"/>
          <p:nvPr/>
        </p:nvSpPr>
        <p:spPr>
          <a:xfrm>
            <a:off x="1636781" y="1201410"/>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grpSp>
        <p:nvGrpSpPr>
          <p:cNvPr id="387" name="Google Shape;387;p27"/>
          <p:cNvGrpSpPr/>
          <p:nvPr/>
        </p:nvGrpSpPr>
        <p:grpSpPr>
          <a:xfrm>
            <a:off x="2032069" y="2342822"/>
            <a:ext cx="2346325" cy="571500"/>
            <a:chOff x="2032069" y="2342822"/>
            <a:chExt cx="2346325" cy="571500"/>
          </a:xfrm>
        </p:grpSpPr>
        <p:cxnSp>
          <p:nvCxnSpPr>
            <p:cNvPr id="388" name="Google Shape;388;p27"/>
            <p:cNvCxnSpPr/>
            <p:nvPr/>
          </p:nvCxnSpPr>
          <p:spPr>
            <a:xfrm>
              <a:off x="2032069" y="2342822"/>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389" name="Google Shape;389;p27"/>
            <p:cNvSpPr/>
            <p:nvPr/>
          </p:nvSpPr>
          <p:spPr>
            <a:xfrm>
              <a:off x="2735331" y="2423785"/>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0" name="Google Shape;390;p27"/>
            <p:cNvSpPr txBox="1"/>
            <p:nvPr/>
          </p:nvSpPr>
          <p:spPr>
            <a:xfrm>
              <a:off x="2176531" y="2476172"/>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cxnSp>
        <p:nvCxnSpPr>
          <p:cNvPr id="391" name="Google Shape;391;p27"/>
          <p:cNvCxnSpPr/>
          <p:nvPr/>
        </p:nvCxnSpPr>
        <p:spPr>
          <a:xfrm>
            <a:off x="2011431" y="2101522"/>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392" name="Google Shape;392;p27"/>
          <p:cNvCxnSpPr/>
          <p:nvPr/>
        </p:nvCxnSpPr>
        <p:spPr>
          <a:xfrm>
            <a:off x="4438719" y="2096760"/>
            <a:ext cx="0" cy="3538537"/>
          </a:xfrm>
          <a:prstGeom prst="straightConnector1">
            <a:avLst/>
          </a:prstGeom>
          <a:noFill/>
          <a:ln cap="flat" cmpd="sng" w="9525">
            <a:solidFill>
              <a:srgbClr val="808080"/>
            </a:solidFill>
            <a:prstDash val="solid"/>
            <a:round/>
            <a:headEnd len="med" w="med" type="none"/>
            <a:tailEnd len="med" w="med" type="none"/>
          </a:ln>
        </p:spPr>
      </p:cxnSp>
      <p:grpSp>
        <p:nvGrpSpPr>
          <p:cNvPr id="393" name="Google Shape;393;p27"/>
          <p:cNvGrpSpPr/>
          <p:nvPr/>
        </p:nvGrpSpPr>
        <p:grpSpPr>
          <a:xfrm>
            <a:off x="2019369" y="4104947"/>
            <a:ext cx="2351087" cy="512763"/>
            <a:chOff x="2019369" y="4104947"/>
            <a:chExt cx="2351087" cy="512763"/>
          </a:xfrm>
        </p:grpSpPr>
        <p:cxnSp>
          <p:nvCxnSpPr>
            <p:cNvPr id="394" name="Google Shape;394;p27"/>
            <p:cNvCxnSpPr/>
            <p:nvPr/>
          </p:nvCxnSpPr>
          <p:spPr>
            <a:xfrm>
              <a:off x="2019369" y="4111297"/>
              <a:ext cx="2351087" cy="506413"/>
            </a:xfrm>
            <a:prstGeom prst="straightConnector1">
              <a:avLst/>
            </a:prstGeom>
            <a:noFill/>
            <a:ln cap="flat" cmpd="sng" w="28575">
              <a:solidFill>
                <a:srgbClr val="3333CC"/>
              </a:solidFill>
              <a:prstDash val="solid"/>
              <a:round/>
              <a:headEnd len="med" w="med" type="none"/>
              <a:tailEnd len="med" w="med" type="triangle"/>
            </a:ln>
          </p:spPr>
        </p:cxnSp>
        <p:sp>
          <p:nvSpPr>
            <p:cNvPr id="395" name="Google Shape;395;p27"/>
            <p:cNvSpPr/>
            <p:nvPr/>
          </p:nvSpPr>
          <p:spPr>
            <a:xfrm>
              <a:off x="2628969" y="4104947"/>
              <a:ext cx="989012" cy="4302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6" name="Google Shape;396;p27"/>
            <p:cNvSpPr txBox="1"/>
            <p:nvPr/>
          </p:nvSpPr>
          <p:spPr>
            <a:xfrm>
              <a:off x="2165419" y="4185910"/>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grpSp>
        <p:nvGrpSpPr>
          <p:cNvPr id="397" name="Google Shape;397;p27"/>
          <p:cNvGrpSpPr/>
          <p:nvPr/>
        </p:nvGrpSpPr>
        <p:grpSpPr>
          <a:xfrm>
            <a:off x="2857569" y="3004810"/>
            <a:ext cx="1484312" cy="628650"/>
            <a:chOff x="2857569" y="3004810"/>
            <a:chExt cx="1484312" cy="628650"/>
          </a:xfrm>
        </p:grpSpPr>
        <p:cxnSp>
          <p:nvCxnSpPr>
            <p:cNvPr id="398" name="Google Shape;398;p27"/>
            <p:cNvCxnSpPr/>
            <p:nvPr/>
          </p:nvCxnSpPr>
          <p:spPr>
            <a:xfrm flipH="1">
              <a:off x="3068706" y="3004810"/>
              <a:ext cx="1273175" cy="427037"/>
            </a:xfrm>
            <a:prstGeom prst="straightConnector1">
              <a:avLst/>
            </a:prstGeom>
            <a:noFill/>
            <a:ln cap="flat" cmpd="sng" w="28575">
              <a:solidFill>
                <a:srgbClr val="3333CC"/>
              </a:solidFill>
              <a:prstDash val="solid"/>
              <a:round/>
              <a:headEnd len="med" w="med" type="none"/>
              <a:tailEnd len="med" w="med" type="triangle"/>
            </a:ln>
          </p:spPr>
        </p:cxnSp>
        <p:sp>
          <p:nvSpPr>
            <p:cNvPr id="399" name="Google Shape;399;p27"/>
            <p:cNvSpPr/>
            <p:nvPr/>
          </p:nvSpPr>
          <p:spPr>
            <a:xfrm>
              <a:off x="3303656" y="3090535"/>
              <a:ext cx="747713"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00" name="Google Shape;400;p27"/>
            <p:cNvSpPr txBox="1"/>
            <p:nvPr/>
          </p:nvSpPr>
          <p:spPr>
            <a:xfrm>
              <a:off x="3224281" y="3046085"/>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401" name="Google Shape;401;p27"/>
            <p:cNvSpPr txBox="1"/>
            <p:nvPr/>
          </p:nvSpPr>
          <p:spPr>
            <a:xfrm>
              <a:off x="2857569" y="3236585"/>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Tahoma"/>
                <a:buNone/>
              </a:pPr>
              <a:r>
                <a:rPr b="1" i="0" lang="en-US" sz="2000" u="none" cap="none" strike="noStrike">
                  <a:solidFill>
                    <a:srgbClr val="FF0000"/>
                  </a:solidFill>
                  <a:latin typeface="Tahoma"/>
                  <a:ea typeface="Tahoma"/>
                  <a:cs typeface="Tahoma"/>
                  <a:sym typeface="Tahoma"/>
                </a:rPr>
                <a:t>X</a:t>
              </a:r>
              <a:endParaRPr/>
            </a:p>
          </p:txBody>
        </p:sp>
      </p:grpSp>
      <p:grpSp>
        <p:nvGrpSpPr>
          <p:cNvPr id="402" name="Google Shape;402;p27"/>
          <p:cNvGrpSpPr/>
          <p:nvPr/>
        </p:nvGrpSpPr>
        <p:grpSpPr>
          <a:xfrm>
            <a:off x="2008256" y="4703435"/>
            <a:ext cx="2338388" cy="782637"/>
            <a:chOff x="2008256" y="4703435"/>
            <a:chExt cx="2338388" cy="782637"/>
          </a:xfrm>
        </p:grpSpPr>
        <p:cxnSp>
          <p:nvCxnSpPr>
            <p:cNvPr id="403" name="Google Shape;403;p27"/>
            <p:cNvCxnSpPr/>
            <p:nvPr/>
          </p:nvCxnSpPr>
          <p:spPr>
            <a:xfrm flipH="1">
              <a:off x="2008256" y="4703435"/>
              <a:ext cx="2338388" cy="782637"/>
            </a:xfrm>
            <a:prstGeom prst="straightConnector1">
              <a:avLst/>
            </a:prstGeom>
            <a:noFill/>
            <a:ln cap="flat" cmpd="sng" w="28575">
              <a:solidFill>
                <a:srgbClr val="3333CC"/>
              </a:solidFill>
              <a:prstDash val="solid"/>
              <a:round/>
              <a:headEnd len="med" w="med" type="none"/>
              <a:tailEnd len="med" w="med" type="triangle"/>
            </a:ln>
          </p:spPr>
        </p:cxnSp>
        <p:sp>
          <p:nvSpPr>
            <p:cNvPr id="404" name="Google Shape;404;p27"/>
            <p:cNvSpPr/>
            <p:nvPr/>
          </p:nvSpPr>
          <p:spPr>
            <a:xfrm>
              <a:off x="2841694" y="4960610"/>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05" name="Google Shape;405;p27"/>
            <p:cNvSpPr txBox="1"/>
            <p:nvPr/>
          </p:nvSpPr>
          <p:spPr>
            <a:xfrm>
              <a:off x="2762319" y="4916160"/>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grpSp>
        <p:nvGrpSpPr>
          <p:cNvPr id="406" name="Google Shape;406;p27"/>
          <p:cNvGrpSpPr/>
          <p:nvPr/>
        </p:nvGrpSpPr>
        <p:grpSpPr>
          <a:xfrm>
            <a:off x="1638375" y="2058745"/>
            <a:ext cx="307800" cy="2028897"/>
            <a:chOff x="1638369" y="2347585"/>
            <a:chExt cx="307800" cy="1739900"/>
          </a:xfrm>
        </p:grpSpPr>
        <p:sp>
          <p:nvSpPr>
            <p:cNvPr id="407" name="Google Shape;407;p27"/>
            <p:cNvSpPr txBox="1"/>
            <p:nvPr/>
          </p:nvSpPr>
          <p:spPr>
            <a:xfrm rot="-5400000">
              <a:off x="1447719" y="3081035"/>
              <a:ext cx="6891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408" name="Google Shape;408;p27"/>
            <p:cNvGrpSpPr/>
            <p:nvPr/>
          </p:nvGrpSpPr>
          <p:grpSpPr>
            <a:xfrm>
              <a:off x="1779656" y="2347585"/>
              <a:ext cx="104775" cy="508000"/>
              <a:chOff x="3099" y="1749"/>
              <a:chExt cx="66" cy="320"/>
            </a:xfrm>
          </p:grpSpPr>
          <p:cxnSp>
            <p:nvCxnSpPr>
              <p:cNvPr id="409" name="Google Shape;409;p27"/>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410" name="Google Shape;410;p27"/>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411" name="Google Shape;411;p27"/>
            <p:cNvGrpSpPr/>
            <p:nvPr/>
          </p:nvGrpSpPr>
          <p:grpSpPr>
            <a:xfrm rot="10800000">
              <a:off x="1763782" y="3579485"/>
              <a:ext cx="104775" cy="508000"/>
              <a:chOff x="3106" y="1756"/>
              <a:chExt cx="66" cy="320"/>
            </a:xfrm>
          </p:grpSpPr>
          <p:cxnSp>
            <p:nvCxnSpPr>
              <p:cNvPr id="412" name="Google Shape;412;p27"/>
              <p:cNvCxnSpPr/>
              <p:nvPr/>
            </p:nvCxnSpPr>
            <p:spPr>
              <a:xfrm rot="10800000">
                <a:off x="3136" y="1756"/>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413" name="Google Shape;413;p27"/>
              <p:cNvCxnSpPr/>
              <p:nvPr/>
            </p:nvCxnSpPr>
            <p:spPr>
              <a:xfrm>
                <a:off x="3106" y="1759"/>
                <a:ext cx="66" cy="0"/>
              </a:xfrm>
              <a:prstGeom prst="straightConnector1">
                <a:avLst/>
              </a:prstGeom>
              <a:noFill/>
              <a:ln cap="flat" cmpd="sng" w="9525">
                <a:solidFill>
                  <a:srgbClr val="000000"/>
                </a:solidFill>
                <a:prstDash val="solid"/>
                <a:round/>
                <a:headEnd len="med" w="med" type="none"/>
                <a:tailEnd len="med" w="med" type="none"/>
              </a:ln>
            </p:spPr>
          </p:cxnSp>
        </p:grpSp>
      </p:grpSp>
      <p:sp>
        <p:nvSpPr>
          <p:cNvPr id="414" name="Google Shape;414;p27"/>
          <p:cNvSpPr txBox="1"/>
          <p:nvPr/>
        </p:nvSpPr>
        <p:spPr>
          <a:xfrm>
            <a:off x="7759116" y="5873422"/>
            <a:ext cx="20732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premature timeout</a:t>
            </a:r>
            <a:endParaRPr b="0" i="0" sz="1000" u="none" cap="none" strike="noStrike">
              <a:solidFill>
                <a:srgbClr val="000000"/>
              </a:solidFill>
              <a:latin typeface="Tahoma"/>
              <a:ea typeface="Tahoma"/>
              <a:cs typeface="Tahoma"/>
              <a:sym typeface="Tahoma"/>
            </a:endParaRPr>
          </a:p>
        </p:txBody>
      </p:sp>
      <p:sp>
        <p:nvSpPr>
          <p:cNvPr id="415" name="Google Shape;415;p27"/>
          <p:cNvSpPr txBox="1"/>
          <p:nvPr/>
        </p:nvSpPr>
        <p:spPr>
          <a:xfrm>
            <a:off x="9567278" y="1183947"/>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416" name="Google Shape;416;p27"/>
          <p:cNvSpPr txBox="1"/>
          <p:nvPr/>
        </p:nvSpPr>
        <p:spPr>
          <a:xfrm>
            <a:off x="7233653" y="1201410"/>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cxnSp>
        <p:nvCxnSpPr>
          <p:cNvPr id="417" name="Google Shape;417;p27"/>
          <p:cNvCxnSpPr/>
          <p:nvPr/>
        </p:nvCxnSpPr>
        <p:spPr>
          <a:xfrm>
            <a:off x="7608303" y="2101522"/>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418" name="Google Shape;418;p27"/>
          <p:cNvCxnSpPr/>
          <p:nvPr/>
        </p:nvCxnSpPr>
        <p:spPr>
          <a:xfrm>
            <a:off x="10013366" y="2096760"/>
            <a:ext cx="0" cy="3538537"/>
          </a:xfrm>
          <a:prstGeom prst="straightConnector1">
            <a:avLst/>
          </a:prstGeom>
          <a:noFill/>
          <a:ln cap="flat" cmpd="sng" w="9525">
            <a:solidFill>
              <a:srgbClr val="808080"/>
            </a:solidFill>
            <a:prstDash val="solid"/>
            <a:round/>
            <a:headEnd len="med" w="med" type="none"/>
            <a:tailEnd len="med" w="med" type="none"/>
          </a:ln>
        </p:spPr>
      </p:cxnSp>
      <p:sp>
        <p:nvSpPr>
          <p:cNvPr id="419" name="Google Shape;419;p27"/>
          <p:cNvSpPr/>
          <p:nvPr/>
        </p:nvSpPr>
        <p:spPr>
          <a:xfrm>
            <a:off x="8621128" y="4228772"/>
            <a:ext cx="1057275" cy="50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20" name="Google Shape;420;p27"/>
          <p:cNvGrpSpPr/>
          <p:nvPr/>
        </p:nvGrpSpPr>
        <p:grpSpPr>
          <a:xfrm>
            <a:off x="7595603" y="4111297"/>
            <a:ext cx="2441575" cy="668313"/>
            <a:chOff x="7595603" y="4111297"/>
            <a:chExt cx="2441575" cy="668313"/>
          </a:xfrm>
        </p:grpSpPr>
        <p:cxnSp>
          <p:nvCxnSpPr>
            <p:cNvPr id="421" name="Google Shape;421;p27"/>
            <p:cNvCxnSpPr/>
            <p:nvPr/>
          </p:nvCxnSpPr>
          <p:spPr>
            <a:xfrm>
              <a:off x="7595603" y="4111297"/>
              <a:ext cx="2441575" cy="665163"/>
            </a:xfrm>
            <a:prstGeom prst="straightConnector1">
              <a:avLst/>
            </a:prstGeom>
            <a:noFill/>
            <a:ln cap="flat" cmpd="sng" w="28575">
              <a:solidFill>
                <a:srgbClr val="3333CC"/>
              </a:solidFill>
              <a:prstDash val="solid"/>
              <a:round/>
              <a:headEnd len="med" w="med" type="none"/>
              <a:tailEnd len="med" w="med" type="triangle"/>
            </a:ln>
          </p:spPr>
        </p:cxnSp>
        <p:sp>
          <p:nvSpPr>
            <p:cNvPr id="422" name="Google Shape;422;p27"/>
            <p:cNvSpPr txBox="1"/>
            <p:nvPr/>
          </p:nvSpPr>
          <p:spPr>
            <a:xfrm>
              <a:off x="8541753" y="4262110"/>
              <a:ext cx="1212900" cy="51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bytes of data</a:t>
              </a:r>
              <a:endParaRPr/>
            </a:p>
          </p:txBody>
        </p:sp>
      </p:grpSp>
      <p:sp>
        <p:nvSpPr>
          <p:cNvPr id="423" name="Google Shape;423;p27"/>
          <p:cNvSpPr/>
          <p:nvPr/>
        </p:nvSpPr>
        <p:spPr>
          <a:xfrm>
            <a:off x="8460791" y="5071735"/>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24" name="Google Shape;424;p27"/>
          <p:cNvGrpSpPr/>
          <p:nvPr/>
        </p:nvGrpSpPr>
        <p:grpSpPr>
          <a:xfrm>
            <a:off x="7627353" y="4814560"/>
            <a:ext cx="2338388" cy="782637"/>
            <a:chOff x="7627353" y="4814560"/>
            <a:chExt cx="2338388" cy="782637"/>
          </a:xfrm>
        </p:grpSpPr>
        <p:cxnSp>
          <p:nvCxnSpPr>
            <p:cNvPr id="425" name="Google Shape;425;p27"/>
            <p:cNvCxnSpPr/>
            <p:nvPr/>
          </p:nvCxnSpPr>
          <p:spPr>
            <a:xfrm flipH="1">
              <a:off x="7627353" y="4814560"/>
              <a:ext cx="2338388" cy="782637"/>
            </a:xfrm>
            <a:prstGeom prst="straightConnector1">
              <a:avLst/>
            </a:prstGeom>
            <a:noFill/>
            <a:ln cap="flat" cmpd="sng" w="28575">
              <a:solidFill>
                <a:srgbClr val="3333CC"/>
              </a:solidFill>
              <a:prstDash val="solid"/>
              <a:round/>
              <a:headEnd len="med" w="med" type="none"/>
              <a:tailEnd len="med" w="med" type="triangle"/>
            </a:ln>
          </p:spPr>
        </p:cxnSp>
        <p:sp>
          <p:nvSpPr>
            <p:cNvPr id="426" name="Google Shape;426;p27"/>
            <p:cNvSpPr txBox="1"/>
            <p:nvPr/>
          </p:nvSpPr>
          <p:spPr>
            <a:xfrm>
              <a:off x="8381416" y="5027285"/>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nvGrpSpPr>
          <p:cNvPr id="427" name="Google Shape;427;p27"/>
          <p:cNvGrpSpPr/>
          <p:nvPr/>
        </p:nvGrpSpPr>
        <p:grpSpPr>
          <a:xfrm>
            <a:off x="7235250" y="2058569"/>
            <a:ext cx="307800" cy="2028897"/>
            <a:chOff x="7235241" y="2347585"/>
            <a:chExt cx="307800" cy="1739900"/>
          </a:xfrm>
        </p:grpSpPr>
        <p:sp>
          <p:nvSpPr>
            <p:cNvPr id="428" name="Google Shape;428;p27"/>
            <p:cNvSpPr txBox="1"/>
            <p:nvPr/>
          </p:nvSpPr>
          <p:spPr>
            <a:xfrm rot="-5400000">
              <a:off x="7044591" y="3081035"/>
              <a:ext cx="6891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429" name="Google Shape;429;p27"/>
            <p:cNvGrpSpPr/>
            <p:nvPr/>
          </p:nvGrpSpPr>
          <p:grpSpPr>
            <a:xfrm>
              <a:off x="7376528" y="2347585"/>
              <a:ext cx="104775" cy="508000"/>
              <a:chOff x="3099" y="1749"/>
              <a:chExt cx="66" cy="320"/>
            </a:xfrm>
          </p:grpSpPr>
          <p:cxnSp>
            <p:nvCxnSpPr>
              <p:cNvPr id="430" name="Google Shape;430;p27"/>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431" name="Google Shape;431;p27"/>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432" name="Google Shape;432;p27"/>
            <p:cNvGrpSpPr/>
            <p:nvPr/>
          </p:nvGrpSpPr>
          <p:grpSpPr>
            <a:xfrm rot="10800000">
              <a:off x="7359066" y="3579485"/>
              <a:ext cx="104775" cy="508000"/>
              <a:chOff x="3107" y="1756"/>
              <a:chExt cx="66" cy="320"/>
            </a:xfrm>
          </p:grpSpPr>
          <p:cxnSp>
            <p:nvCxnSpPr>
              <p:cNvPr id="433" name="Google Shape;433;p27"/>
              <p:cNvCxnSpPr/>
              <p:nvPr/>
            </p:nvCxnSpPr>
            <p:spPr>
              <a:xfrm rot="10800000">
                <a:off x="3137" y="1756"/>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434" name="Google Shape;434;p27"/>
              <p:cNvCxnSpPr/>
              <p:nvPr/>
            </p:nvCxnSpPr>
            <p:spPr>
              <a:xfrm>
                <a:off x="3107" y="1759"/>
                <a:ext cx="66"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435" name="Google Shape;435;p27"/>
          <p:cNvGrpSpPr/>
          <p:nvPr/>
        </p:nvGrpSpPr>
        <p:grpSpPr>
          <a:xfrm>
            <a:off x="7603541" y="3004810"/>
            <a:ext cx="2339975" cy="1944687"/>
            <a:chOff x="7603541" y="3004810"/>
            <a:chExt cx="2339975" cy="1944687"/>
          </a:xfrm>
        </p:grpSpPr>
        <p:cxnSp>
          <p:nvCxnSpPr>
            <p:cNvPr id="436" name="Google Shape;436;p27"/>
            <p:cNvCxnSpPr/>
            <p:nvPr/>
          </p:nvCxnSpPr>
          <p:spPr>
            <a:xfrm flipH="1">
              <a:off x="7603541" y="3004810"/>
              <a:ext cx="2335212" cy="1589087"/>
            </a:xfrm>
            <a:prstGeom prst="straightConnector1">
              <a:avLst/>
            </a:prstGeom>
            <a:noFill/>
            <a:ln cap="flat" cmpd="sng" w="28575">
              <a:solidFill>
                <a:srgbClr val="3333CC"/>
              </a:solidFill>
              <a:prstDash val="solid"/>
              <a:round/>
              <a:headEnd len="med" w="med" type="none"/>
              <a:tailEnd len="med" w="med" type="triangle"/>
            </a:ln>
          </p:spPr>
        </p:cxnSp>
        <p:grpSp>
          <p:nvGrpSpPr>
            <p:cNvPr id="437" name="Google Shape;437;p27"/>
            <p:cNvGrpSpPr/>
            <p:nvPr/>
          </p:nvGrpSpPr>
          <p:grpSpPr>
            <a:xfrm>
              <a:off x="8505241" y="3496935"/>
              <a:ext cx="949325" cy="304800"/>
              <a:chOff x="4215" y="2253"/>
              <a:chExt cx="598" cy="192"/>
            </a:xfrm>
          </p:grpSpPr>
          <p:sp>
            <p:nvSpPr>
              <p:cNvPr id="438" name="Google Shape;438;p27"/>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39" name="Google Shape;439;p27"/>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cxnSp>
          <p:nvCxnSpPr>
            <p:cNvPr id="440" name="Google Shape;440;p27"/>
            <p:cNvCxnSpPr/>
            <p:nvPr/>
          </p:nvCxnSpPr>
          <p:spPr>
            <a:xfrm flipH="1">
              <a:off x="7608303" y="3360410"/>
              <a:ext cx="2335213" cy="1589087"/>
            </a:xfrm>
            <a:prstGeom prst="straightConnector1">
              <a:avLst/>
            </a:prstGeom>
            <a:noFill/>
            <a:ln cap="flat" cmpd="sng" w="28575">
              <a:solidFill>
                <a:srgbClr val="3333CC"/>
              </a:solidFill>
              <a:prstDash val="solid"/>
              <a:round/>
              <a:headEnd len="med" w="med" type="none"/>
              <a:tailEnd len="med" w="med" type="triangle"/>
            </a:ln>
          </p:spPr>
        </p:cxnSp>
        <p:grpSp>
          <p:nvGrpSpPr>
            <p:cNvPr id="441" name="Google Shape;441;p27"/>
            <p:cNvGrpSpPr/>
            <p:nvPr/>
          </p:nvGrpSpPr>
          <p:grpSpPr>
            <a:xfrm>
              <a:off x="8744953" y="3773160"/>
              <a:ext cx="949325" cy="304800"/>
              <a:chOff x="4215" y="2253"/>
              <a:chExt cx="598" cy="192"/>
            </a:xfrm>
          </p:grpSpPr>
          <p:sp>
            <p:nvSpPr>
              <p:cNvPr id="442" name="Google Shape;442;p27"/>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43" name="Google Shape;443;p27"/>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grpSp>
        <p:nvGrpSpPr>
          <p:cNvPr id="444" name="Google Shape;444;p27"/>
          <p:cNvGrpSpPr/>
          <p:nvPr/>
        </p:nvGrpSpPr>
        <p:grpSpPr>
          <a:xfrm>
            <a:off x="6241474" y="4416168"/>
            <a:ext cx="1768475" cy="649110"/>
            <a:chOff x="6241476" y="4416100"/>
            <a:chExt cx="1591500" cy="649110"/>
          </a:xfrm>
        </p:grpSpPr>
        <p:sp>
          <p:nvSpPr>
            <p:cNvPr id="445" name="Google Shape;445;p27"/>
            <p:cNvSpPr txBox="1"/>
            <p:nvPr/>
          </p:nvSpPr>
          <p:spPr>
            <a:xfrm>
              <a:off x="6241476" y="4416100"/>
              <a:ext cx="1591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SendBase=100</a:t>
              </a:r>
              <a:endParaRPr/>
            </a:p>
          </p:txBody>
        </p:sp>
        <p:sp>
          <p:nvSpPr>
            <p:cNvPr id="446" name="Google Shape;446;p27"/>
            <p:cNvSpPr txBox="1"/>
            <p:nvPr/>
          </p:nvSpPr>
          <p:spPr>
            <a:xfrm>
              <a:off x="6260516" y="4757410"/>
              <a:ext cx="1363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SendBase=120</a:t>
              </a:r>
              <a:endParaRPr/>
            </a:p>
          </p:txBody>
        </p:sp>
      </p:grpSp>
      <p:sp>
        <p:nvSpPr>
          <p:cNvPr id="447" name="Google Shape;447;p27"/>
          <p:cNvSpPr txBox="1"/>
          <p:nvPr/>
        </p:nvSpPr>
        <p:spPr>
          <a:xfrm>
            <a:off x="6279576" y="5432100"/>
            <a:ext cx="1591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SendBase=120</a:t>
            </a:r>
            <a:endParaRPr/>
          </a:p>
        </p:txBody>
      </p:sp>
      <p:grpSp>
        <p:nvGrpSpPr>
          <p:cNvPr id="448" name="Google Shape;448;p27"/>
          <p:cNvGrpSpPr/>
          <p:nvPr/>
        </p:nvGrpSpPr>
        <p:grpSpPr>
          <a:xfrm>
            <a:off x="6306549" y="2187250"/>
            <a:ext cx="3668717" cy="1112835"/>
            <a:chOff x="6306549" y="2187250"/>
            <a:chExt cx="3668717" cy="1112835"/>
          </a:xfrm>
        </p:grpSpPr>
        <p:cxnSp>
          <p:nvCxnSpPr>
            <p:cNvPr id="449" name="Google Shape;449;p27"/>
            <p:cNvCxnSpPr/>
            <p:nvPr/>
          </p:nvCxnSpPr>
          <p:spPr>
            <a:xfrm>
              <a:off x="7628941" y="2342822"/>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450" name="Google Shape;450;p27"/>
            <p:cNvSpPr/>
            <p:nvPr/>
          </p:nvSpPr>
          <p:spPr>
            <a:xfrm>
              <a:off x="8332203" y="2423785"/>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1" name="Google Shape;451;p27"/>
            <p:cNvSpPr txBox="1"/>
            <p:nvPr/>
          </p:nvSpPr>
          <p:spPr>
            <a:xfrm>
              <a:off x="7773403" y="2476172"/>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nvGrpSpPr>
            <p:cNvPr id="452" name="Google Shape;452;p27"/>
            <p:cNvGrpSpPr/>
            <p:nvPr/>
          </p:nvGrpSpPr>
          <p:grpSpPr>
            <a:xfrm>
              <a:off x="7614653" y="2728585"/>
              <a:ext cx="2346325" cy="571500"/>
              <a:chOff x="3759" y="1622"/>
              <a:chExt cx="1478" cy="360"/>
            </a:xfrm>
          </p:grpSpPr>
          <p:cxnSp>
            <p:nvCxnSpPr>
              <p:cNvPr id="453" name="Google Shape;453;p27"/>
              <p:cNvCxnSpPr/>
              <p:nvPr/>
            </p:nvCxnSpPr>
            <p:spPr>
              <a:xfrm>
                <a:off x="3759" y="1622"/>
                <a:ext cx="1478" cy="360"/>
              </a:xfrm>
              <a:prstGeom prst="straightConnector1">
                <a:avLst/>
              </a:prstGeom>
              <a:noFill/>
              <a:ln cap="flat" cmpd="sng" w="28575">
                <a:solidFill>
                  <a:srgbClr val="3333CC"/>
                </a:solidFill>
                <a:prstDash val="solid"/>
                <a:round/>
                <a:headEnd len="med" w="med" type="none"/>
                <a:tailEnd len="med" w="med" type="triangle"/>
              </a:ln>
            </p:spPr>
          </p:cxnSp>
          <p:sp>
            <p:nvSpPr>
              <p:cNvPr id="454" name="Google Shape;454;p27"/>
              <p:cNvSpPr/>
              <p:nvPr/>
            </p:nvSpPr>
            <p:spPr>
              <a:xfrm>
                <a:off x="4202" y="1673"/>
                <a:ext cx="548" cy="25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5" name="Google Shape;455;p27"/>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sp>
          <p:nvSpPr>
            <p:cNvPr id="456" name="Google Shape;456;p27"/>
            <p:cNvSpPr txBox="1"/>
            <p:nvPr/>
          </p:nvSpPr>
          <p:spPr>
            <a:xfrm>
              <a:off x="6306549" y="2187250"/>
              <a:ext cx="1484400" cy="3078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SendBase=92</a:t>
              </a:r>
              <a:endParaRPr/>
            </a:p>
          </p:txBody>
        </p:sp>
      </p:grpSp>
      <p:grpSp>
        <p:nvGrpSpPr>
          <p:cNvPr id="457" name="Google Shape;457;p27"/>
          <p:cNvGrpSpPr/>
          <p:nvPr/>
        </p:nvGrpSpPr>
        <p:grpSpPr>
          <a:xfrm>
            <a:off x="7186028" y="1463347"/>
            <a:ext cx="630238" cy="533400"/>
            <a:chOff x="-44" y="1473"/>
            <a:chExt cx="981" cy="1105"/>
          </a:xfrm>
        </p:grpSpPr>
        <p:pic>
          <p:nvPicPr>
            <p:cNvPr descr="desktop_computer_stylized_medium" id="458" name="Google Shape;458;p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59" name="Google Shape;459;p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60" name="Google Shape;460;p27"/>
          <p:cNvGrpSpPr/>
          <p:nvPr/>
        </p:nvGrpSpPr>
        <p:grpSpPr>
          <a:xfrm flipH="1">
            <a:off x="9753016" y="1469697"/>
            <a:ext cx="631825" cy="622300"/>
            <a:chOff x="-44" y="1473"/>
            <a:chExt cx="981" cy="1105"/>
          </a:xfrm>
        </p:grpSpPr>
        <p:pic>
          <p:nvPicPr>
            <p:cNvPr descr="desktop_computer_stylized_medium" id="461" name="Google Shape;461;p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62" name="Google Shape;462;p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63" name="Google Shape;463;p27"/>
          <p:cNvGrpSpPr/>
          <p:nvPr/>
        </p:nvGrpSpPr>
        <p:grpSpPr>
          <a:xfrm>
            <a:off x="1601856" y="1474460"/>
            <a:ext cx="630238" cy="533400"/>
            <a:chOff x="-44" y="1473"/>
            <a:chExt cx="981" cy="1105"/>
          </a:xfrm>
        </p:grpSpPr>
        <p:pic>
          <p:nvPicPr>
            <p:cNvPr descr="desktop_computer_stylized_medium" id="464" name="Google Shape;464;p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65" name="Google Shape;465;p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66" name="Google Shape;466;p27"/>
          <p:cNvGrpSpPr/>
          <p:nvPr/>
        </p:nvGrpSpPr>
        <p:grpSpPr>
          <a:xfrm flipH="1">
            <a:off x="4179956" y="1458585"/>
            <a:ext cx="709613" cy="600075"/>
            <a:chOff x="-44" y="1473"/>
            <a:chExt cx="981" cy="1105"/>
          </a:xfrm>
        </p:grpSpPr>
        <p:pic>
          <p:nvPicPr>
            <p:cNvPr descr="desktop_computer_stylized_medium" id="467" name="Google Shape;467;p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68" name="Google Shape;468;p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469" name="Google Shape;469;p27"/>
          <p:cNvSpPr txBox="1"/>
          <p:nvPr/>
        </p:nvSpPr>
        <p:spPr>
          <a:xfrm>
            <a:off x="9973410" y="4508500"/>
            <a:ext cx="1591398" cy="5355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send cumulative </a:t>
            </a:r>
            <a:endParaRPr/>
          </a:p>
          <a:p>
            <a:pPr indent="0" lvl="0" marL="0" marR="0" rtl="0" algn="l">
              <a:lnSpc>
                <a:spcPct val="9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ACK for 120</a:t>
            </a:r>
            <a:endParaRPr/>
          </a:p>
        </p:txBody>
      </p:sp>
      <p:sp>
        <p:nvSpPr>
          <p:cNvPr id="470" name="Google Shape;470;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500"/>
                                        <p:tgtEl>
                                          <p:spTgt spid="4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500"/>
                                        <p:tgtEl>
                                          <p:spTgt spid="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500"/>
                                        <p:tgtEl>
                                          <p:spTgt spid="42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500"/>
                                        <p:tgtEl>
                                          <p:spTgt spid="46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2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retransmission scenarios</a:t>
            </a:r>
            <a:endParaRPr b="0" sz="4400"/>
          </a:p>
        </p:txBody>
      </p:sp>
      <p:sp>
        <p:nvSpPr>
          <p:cNvPr id="477" name="Google Shape;477;p28"/>
          <p:cNvSpPr txBox="1"/>
          <p:nvPr/>
        </p:nvSpPr>
        <p:spPr>
          <a:xfrm>
            <a:off x="1902139" y="5486400"/>
            <a:ext cx="2542862"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cumulative ACK covers for earlier lost ACK</a:t>
            </a:r>
            <a:endParaRPr b="0" i="0" sz="1000" u="none" cap="none" strike="noStrike">
              <a:solidFill>
                <a:srgbClr val="000000"/>
              </a:solidFill>
              <a:latin typeface="Tahoma"/>
              <a:ea typeface="Tahoma"/>
              <a:cs typeface="Tahoma"/>
              <a:sym typeface="Tahoma"/>
            </a:endParaRPr>
          </a:p>
        </p:txBody>
      </p:sp>
      <p:cxnSp>
        <p:nvCxnSpPr>
          <p:cNvPr id="478" name="Google Shape;478;p28"/>
          <p:cNvCxnSpPr/>
          <p:nvPr/>
        </p:nvCxnSpPr>
        <p:spPr>
          <a:xfrm>
            <a:off x="2039800" y="2349049"/>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479" name="Google Shape;479;p28"/>
          <p:cNvSpPr txBox="1"/>
          <p:nvPr/>
        </p:nvSpPr>
        <p:spPr>
          <a:xfrm>
            <a:off x="3965437" y="1177474"/>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480" name="Google Shape;480;p28"/>
          <p:cNvSpPr txBox="1"/>
          <p:nvPr/>
        </p:nvSpPr>
        <p:spPr>
          <a:xfrm>
            <a:off x="1644512" y="1207637"/>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sp>
        <p:nvSpPr>
          <p:cNvPr id="481" name="Google Shape;481;p28"/>
          <p:cNvSpPr/>
          <p:nvPr/>
        </p:nvSpPr>
        <p:spPr>
          <a:xfrm>
            <a:off x="2743062" y="2430012"/>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2" name="Google Shape;482;p28"/>
          <p:cNvSpPr txBox="1"/>
          <p:nvPr/>
        </p:nvSpPr>
        <p:spPr>
          <a:xfrm>
            <a:off x="2184249" y="2482400"/>
            <a:ext cx="22020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cxnSp>
        <p:nvCxnSpPr>
          <p:cNvPr id="483" name="Google Shape;483;p28"/>
          <p:cNvCxnSpPr/>
          <p:nvPr/>
        </p:nvCxnSpPr>
        <p:spPr>
          <a:xfrm>
            <a:off x="2019162" y="2107749"/>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484" name="Google Shape;484;p28"/>
          <p:cNvCxnSpPr/>
          <p:nvPr/>
        </p:nvCxnSpPr>
        <p:spPr>
          <a:xfrm>
            <a:off x="4424225" y="2102987"/>
            <a:ext cx="0" cy="3538537"/>
          </a:xfrm>
          <a:prstGeom prst="straightConnector1">
            <a:avLst/>
          </a:prstGeom>
          <a:noFill/>
          <a:ln cap="flat" cmpd="sng" w="9525">
            <a:solidFill>
              <a:srgbClr val="808080"/>
            </a:solidFill>
            <a:prstDash val="solid"/>
            <a:round/>
            <a:headEnd len="med" w="med" type="none"/>
            <a:tailEnd len="med" w="med" type="none"/>
          </a:ln>
        </p:spPr>
      </p:cxnSp>
      <p:grpSp>
        <p:nvGrpSpPr>
          <p:cNvPr id="485" name="Google Shape;485;p28"/>
          <p:cNvGrpSpPr/>
          <p:nvPr/>
        </p:nvGrpSpPr>
        <p:grpSpPr>
          <a:xfrm>
            <a:off x="2009637" y="4431849"/>
            <a:ext cx="2652713" cy="879475"/>
            <a:chOff x="2035037" y="4444549"/>
            <a:chExt cx="2652713" cy="879475"/>
          </a:xfrm>
        </p:grpSpPr>
        <p:cxnSp>
          <p:nvCxnSpPr>
            <p:cNvPr id="486" name="Google Shape;486;p28"/>
            <p:cNvCxnSpPr/>
            <p:nvPr/>
          </p:nvCxnSpPr>
          <p:spPr>
            <a:xfrm>
              <a:off x="2063612" y="4444549"/>
              <a:ext cx="2441575" cy="665163"/>
            </a:xfrm>
            <a:prstGeom prst="straightConnector1">
              <a:avLst/>
            </a:prstGeom>
            <a:noFill/>
            <a:ln cap="flat" cmpd="sng" w="28575">
              <a:solidFill>
                <a:srgbClr val="3333CC"/>
              </a:solidFill>
              <a:prstDash val="solid"/>
              <a:round/>
              <a:headEnd len="med" w="med" type="none"/>
              <a:tailEnd len="med" w="med" type="triangle"/>
            </a:ln>
          </p:spPr>
        </p:cxnSp>
        <p:sp>
          <p:nvSpPr>
            <p:cNvPr id="487" name="Google Shape;487;p28"/>
            <p:cNvSpPr/>
            <p:nvPr/>
          </p:nvSpPr>
          <p:spPr>
            <a:xfrm>
              <a:off x="2760525" y="4517574"/>
              <a:ext cx="933450" cy="50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8" name="Google Shape;488;p28"/>
            <p:cNvSpPr txBox="1"/>
            <p:nvPr/>
          </p:nvSpPr>
          <p:spPr>
            <a:xfrm>
              <a:off x="2035037" y="4604887"/>
              <a:ext cx="26527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Seq=120,  15 bytes of data</a:t>
              </a:r>
              <a:endParaRPr/>
            </a:p>
          </p:txBody>
        </p:sp>
        <p:sp>
          <p:nvSpPr>
            <p:cNvPr id="489" name="Google Shape;489;p28"/>
            <p:cNvSpPr/>
            <p:nvPr/>
          </p:nvSpPr>
          <p:spPr>
            <a:xfrm>
              <a:off x="2871650" y="5077962"/>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90" name="Google Shape;490;p28"/>
          <p:cNvGrpSpPr/>
          <p:nvPr/>
        </p:nvGrpSpPr>
        <p:grpSpPr>
          <a:xfrm>
            <a:off x="2025512" y="2734812"/>
            <a:ext cx="2430462" cy="609588"/>
            <a:chOff x="3759" y="1622"/>
            <a:chExt cx="1531" cy="384"/>
          </a:xfrm>
        </p:grpSpPr>
        <p:cxnSp>
          <p:nvCxnSpPr>
            <p:cNvPr id="491" name="Google Shape;491;p28"/>
            <p:cNvCxnSpPr/>
            <p:nvPr/>
          </p:nvCxnSpPr>
          <p:spPr>
            <a:xfrm>
              <a:off x="3759" y="1622"/>
              <a:ext cx="1478" cy="360"/>
            </a:xfrm>
            <a:prstGeom prst="straightConnector1">
              <a:avLst/>
            </a:prstGeom>
            <a:noFill/>
            <a:ln cap="flat" cmpd="sng" w="28575">
              <a:solidFill>
                <a:srgbClr val="3333CC"/>
              </a:solidFill>
              <a:prstDash val="solid"/>
              <a:round/>
              <a:headEnd len="med" w="med" type="none"/>
              <a:tailEnd len="med" w="med" type="triangle"/>
            </a:ln>
          </p:spPr>
        </p:cxnSp>
        <p:sp>
          <p:nvSpPr>
            <p:cNvPr id="492" name="Google Shape;492;p28"/>
            <p:cNvSpPr/>
            <p:nvPr/>
          </p:nvSpPr>
          <p:spPr>
            <a:xfrm>
              <a:off x="4202" y="1673"/>
              <a:ext cx="548" cy="25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3" name="Google Shape;493;p28"/>
            <p:cNvSpPr txBox="1"/>
            <p:nvPr/>
          </p:nvSpPr>
          <p:spPr>
            <a:xfrm>
              <a:off x="3790" y="1706"/>
              <a:ext cx="15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494" name="Google Shape;494;p28"/>
          <p:cNvGrpSpPr/>
          <p:nvPr/>
        </p:nvGrpSpPr>
        <p:grpSpPr>
          <a:xfrm>
            <a:off x="2030275" y="3011037"/>
            <a:ext cx="2324100" cy="1381125"/>
            <a:chOff x="2030275" y="3011037"/>
            <a:chExt cx="2324100" cy="1381125"/>
          </a:xfrm>
        </p:grpSpPr>
        <p:sp>
          <p:nvSpPr>
            <p:cNvPr id="495" name="Google Shape;495;p28"/>
            <p:cNvSpPr txBox="1"/>
            <p:nvPr/>
          </p:nvSpPr>
          <p:spPr>
            <a:xfrm>
              <a:off x="2654162" y="3372987"/>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Tahoma"/>
                <a:buNone/>
              </a:pPr>
              <a:r>
                <a:rPr b="1" i="0" lang="en-US" sz="2000" u="none" cap="none" strike="noStrike">
                  <a:solidFill>
                    <a:srgbClr val="FF0000"/>
                  </a:solidFill>
                  <a:latin typeface="Tahoma"/>
                  <a:ea typeface="Tahoma"/>
                  <a:cs typeface="Tahoma"/>
                  <a:sym typeface="Tahoma"/>
                </a:rPr>
                <a:t>X</a:t>
              </a:r>
              <a:endParaRPr/>
            </a:p>
          </p:txBody>
        </p:sp>
        <p:cxnSp>
          <p:nvCxnSpPr>
            <p:cNvPr id="496" name="Google Shape;496;p28"/>
            <p:cNvCxnSpPr/>
            <p:nvPr/>
          </p:nvCxnSpPr>
          <p:spPr>
            <a:xfrm flipH="1">
              <a:off x="2917687" y="3011037"/>
              <a:ext cx="1431925" cy="573087"/>
            </a:xfrm>
            <a:prstGeom prst="straightConnector1">
              <a:avLst/>
            </a:prstGeom>
            <a:noFill/>
            <a:ln cap="flat" cmpd="sng" w="28575">
              <a:solidFill>
                <a:srgbClr val="3333CC"/>
              </a:solidFill>
              <a:prstDash val="solid"/>
              <a:round/>
              <a:headEnd len="med" w="med" type="none"/>
              <a:tailEnd len="med" w="med" type="triangle"/>
            </a:ln>
          </p:spPr>
        </p:cxnSp>
        <p:grpSp>
          <p:nvGrpSpPr>
            <p:cNvPr id="497" name="Google Shape;497;p28"/>
            <p:cNvGrpSpPr/>
            <p:nvPr/>
          </p:nvGrpSpPr>
          <p:grpSpPr>
            <a:xfrm>
              <a:off x="2939912" y="3211062"/>
              <a:ext cx="949325" cy="304800"/>
              <a:chOff x="4215" y="2253"/>
              <a:chExt cx="598" cy="192"/>
            </a:xfrm>
          </p:grpSpPr>
          <p:sp>
            <p:nvSpPr>
              <p:cNvPr id="498" name="Google Shape;498;p28"/>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 name="Google Shape;499;p28"/>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cxnSp>
          <p:nvCxnSpPr>
            <p:cNvPr id="500" name="Google Shape;500;p28"/>
            <p:cNvCxnSpPr/>
            <p:nvPr/>
          </p:nvCxnSpPr>
          <p:spPr>
            <a:xfrm flipH="1">
              <a:off x="2030275" y="3366637"/>
              <a:ext cx="2324100" cy="1025525"/>
            </a:xfrm>
            <a:prstGeom prst="straightConnector1">
              <a:avLst/>
            </a:prstGeom>
            <a:noFill/>
            <a:ln cap="flat" cmpd="sng" w="28575">
              <a:solidFill>
                <a:srgbClr val="3333CC"/>
              </a:solidFill>
              <a:prstDash val="solid"/>
              <a:round/>
              <a:headEnd len="med" w="med" type="none"/>
              <a:tailEnd len="med" w="med" type="triangle"/>
            </a:ln>
          </p:spPr>
        </p:cxnSp>
        <p:grpSp>
          <p:nvGrpSpPr>
            <p:cNvPr id="501" name="Google Shape;501;p28"/>
            <p:cNvGrpSpPr/>
            <p:nvPr/>
          </p:nvGrpSpPr>
          <p:grpSpPr>
            <a:xfrm>
              <a:off x="2673212" y="3768274"/>
              <a:ext cx="949325" cy="304800"/>
              <a:chOff x="4215" y="2253"/>
              <a:chExt cx="598" cy="192"/>
            </a:xfrm>
          </p:grpSpPr>
          <p:sp>
            <p:nvSpPr>
              <p:cNvPr id="502" name="Google Shape;502;p28"/>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3" name="Google Shape;503;p28"/>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grpSp>
        <p:nvGrpSpPr>
          <p:cNvPr id="504" name="Google Shape;504;p28"/>
          <p:cNvGrpSpPr/>
          <p:nvPr/>
        </p:nvGrpSpPr>
        <p:grpSpPr>
          <a:xfrm>
            <a:off x="1598475" y="1469574"/>
            <a:ext cx="630237" cy="533400"/>
            <a:chOff x="-44" y="1473"/>
            <a:chExt cx="981" cy="1105"/>
          </a:xfrm>
        </p:grpSpPr>
        <p:pic>
          <p:nvPicPr>
            <p:cNvPr descr="desktop_computer_stylized_medium" id="505" name="Google Shape;505;p2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6" name="Google Shape;506;p2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07" name="Google Shape;507;p28"/>
          <p:cNvGrpSpPr/>
          <p:nvPr/>
        </p:nvGrpSpPr>
        <p:grpSpPr>
          <a:xfrm flipH="1">
            <a:off x="4176575" y="1464812"/>
            <a:ext cx="674687" cy="590550"/>
            <a:chOff x="-44" y="1473"/>
            <a:chExt cx="981" cy="1105"/>
          </a:xfrm>
        </p:grpSpPr>
        <p:pic>
          <p:nvPicPr>
            <p:cNvPr descr="desktop_computer_stylized_medium" id="508" name="Google Shape;508;p2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9" name="Google Shape;509;p2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10" name="Google Shape;510;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par>
                                <p:cTn fill="hold" nodeType="with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par>
                                <p:cTn fill="hold" nodeType="with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500"/>
                                        <p:tgtEl>
                                          <p:spTgt spid="4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2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Agreeing to establish a connection</a:t>
            </a:r>
            <a:endParaRPr b="0" sz="4400"/>
          </a:p>
        </p:txBody>
      </p:sp>
      <p:sp>
        <p:nvSpPr>
          <p:cNvPr id="517" name="Google Shape;517;p29"/>
          <p:cNvSpPr txBox="1"/>
          <p:nvPr/>
        </p:nvSpPr>
        <p:spPr>
          <a:xfrm>
            <a:off x="5960737" y="2295084"/>
            <a:ext cx="5523920" cy="357686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1" lang="en-US" sz="3200" u="sng"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will 2-way handshake always work in network?</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variable delays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retransmitted messages (e.g. req_conn(x)) due to message loss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message reordering</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can’t “see” other side</a:t>
            </a:r>
            <a:endParaRPr b="0" i="0" sz="2800" u="none" cap="none" strike="noStrike">
              <a:solidFill>
                <a:srgbClr val="000000"/>
              </a:solidFill>
              <a:latin typeface="Calibri"/>
              <a:ea typeface="Calibri"/>
              <a:cs typeface="Calibri"/>
              <a:sym typeface="Calibri"/>
            </a:endParaRPr>
          </a:p>
        </p:txBody>
      </p:sp>
      <p:pic>
        <p:nvPicPr>
          <p:cNvPr descr="Alice" id="518" name="Google Shape;518;p29"/>
          <p:cNvPicPr preferRelativeResize="0"/>
          <p:nvPr/>
        </p:nvPicPr>
        <p:blipFill rotWithShape="1">
          <a:blip r:embed="rId3">
            <a:alphaModFix/>
          </a:blip>
          <a:srcRect b="0" l="0" r="0" t="0"/>
          <a:stretch/>
        </p:blipFill>
        <p:spPr>
          <a:xfrm>
            <a:off x="1792408" y="2031271"/>
            <a:ext cx="685440" cy="681828"/>
          </a:xfrm>
          <a:prstGeom prst="rect">
            <a:avLst/>
          </a:prstGeom>
          <a:noFill/>
          <a:ln>
            <a:noFill/>
          </a:ln>
        </p:spPr>
      </p:pic>
      <p:pic>
        <p:nvPicPr>
          <p:cNvPr descr="Bob" id="519" name="Google Shape;519;p29"/>
          <p:cNvPicPr preferRelativeResize="0"/>
          <p:nvPr/>
        </p:nvPicPr>
        <p:blipFill rotWithShape="1">
          <a:blip r:embed="rId4">
            <a:alphaModFix/>
          </a:blip>
          <a:srcRect b="0" l="0" r="0" t="0"/>
          <a:stretch/>
        </p:blipFill>
        <p:spPr>
          <a:xfrm>
            <a:off x="3842300" y="2069246"/>
            <a:ext cx="839663" cy="690459"/>
          </a:xfrm>
          <a:prstGeom prst="rect">
            <a:avLst/>
          </a:prstGeom>
          <a:noFill/>
          <a:ln>
            <a:noFill/>
          </a:ln>
        </p:spPr>
      </p:pic>
      <p:sp>
        <p:nvSpPr>
          <p:cNvPr id="520" name="Google Shape;520;p29"/>
          <p:cNvSpPr txBox="1"/>
          <p:nvPr/>
        </p:nvSpPr>
        <p:spPr>
          <a:xfrm>
            <a:off x="979913" y="1354621"/>
            <a:ext cx="3207929"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2-way handshake:</a:t>
            </a:r>
            <a:endParaRPr/>
          </a:p>
        </p:txBody>
      </p:sp>
      <p:cxnSp>
        <p:nvCxnSpPr>
          <p:cNvPr id="521" name="Google Shape;521;p29"/>
          <p:cNvCxnSpPr/>
          <p:nvPr/>
        </p:nvCxnSpPr>
        <p:spPr>
          <a:xfrm>
            <a:off x="2210097" y="2827024"/>
            <a:ext cx="1996343" cy="343504"/>
          </a:xfrm>
          <a:prstGeom prst="straightConnector1">
            <a:avLst/>
          </a:prstGeom>
          <a:noFill/>
          <a:ln cap="flat" cmpd="sng" w="28575">
            <a:solidFill>
              <a:srgbClr val="000099"/>
            </a:solidFill>
            <a:prstDash val="solid"/>
            <a:round/>
            <a:headEnd len="med" w="med" type="none"/>
            <a:tailEnd len="med" w="med" type="triangle"/>
          </a:ln>
        </p:spPr>
      </p:cxnSp>
      <p:cxnSp>
        <p:nvCxnSpPr>
          <p:cNvPr id="522" name="Google Shape;522;p29"/>
          <p:cNvCxnSpPr/>
          <p:nvPr/>
        </p:nvCxnSpPr>
        <p:spPr>
          <a:xfrm>
            <a:off x="2150121" y="2737265"/>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23" name="Google Shape;523;p29"/>
          <p:cNvCxnSpPr/>
          <p:nvPr/>
        </p:nvCxnSpPr>
        <p:spPr>
          <a:xfrm>
            <a:off x="4215008" y="2766610"/>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24" name="Google Shape;524;p29"/>
          <p:cNvCxnSpPr/>
          <p:nvPr/>
        </p:nvCxnSpPr>
        <p:spPr>
          <a:xfrm flipH="1">
            <a:off x="2145837" y="3258561"/>
            <a:ext cx="1996343" cy="343504"/>
          </a:xfrm>
          <a:prstGeom prst="straightConnector1">
            <a:avLst/>
          </a:prstGeom>
          <a:noFill/>
          <a:ln cap="flat" cmpd="sng" w="28575">
            <a:solidFill>
              <a:srgbClr val="000099"/>
            </a:solidFill>
            <a:prstDash val="solid"/>
            <a:round/>
            <a:headEnd len="med" w="med" type="none"/>
            <a:tailEnd len="med" w="med" type="triangle"/>
          </a:ln>
        </p:spPr>
      </p:cxnSp>
      <p:sp>
        <p:nvSpPr>
          <p:cNvPr id="525" name="Google Shape;525;p29"/>
          <p:cNvSpPr/>
          <p:nvPr/>
        </p:nvSpPr>
        <p:spPr>
          <a:xfrm>
            <a:off x="2531397" y="2811490"/>
            <a:ext cx="1201662"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26" name="Google Shape;526;p29"/>
          <p:cNvSpPr txBox="1"/>
          <p:nvPr/>
        </p:nvSpPr>
        <p:spPr>
          <a:xfrm>
            <a:off x="2589217" y="2787324"/>
            <a:ext cx="1116010"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Let’s talk</a:t>
            </a:r>
            <a:endParaRPr b="0" i="0" sz="2000" u="none" cap="none" strike="noStrike">
              <a:solidFill>
                <a:srgbClr val="000000"/>
              </a:solidFill>
              <a:latin typeface="Calibri"/>
              <a:ea typeface="Calibri"/>
              <a:cs typeface="Calibri"/>
              <a:sym typeface="Calibri"/>
            </a:endParaRPr>
          </a:p>
        </p:txBody>
      </p:sp>
      <p:sp>
        <p:nvSpPr>
          <p:cNvPr id="527" name="Google Shape;527;p29"/>
          <p:cNvSpPr/>
          <p:nvPr/>
        </p:nvSpPr>
        <p:spPr>
          <a:xfrm>
            <a:off x="2878401" y="3272370"/>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28" name="Google Shape;528;p29"/>
          <p:cNvSpPr txBox="1"/>
          <p:nvPr/>
        </p:nvSpPr>
        <p:spPr>
          <a:xfrm>
            <a:off x="2915186" y="3248204"/>
            <a:ext cx="487634"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OK</a:t>
            </a:r>
            <a:endParaRPr/>
          </a:p>
        </p:txBody>
      </p:sp>
      <p:sp>
        <p:nvSpPr>
          <p:cNvPr id="529" name="Google Shape;529;p29"/>
          <p:cNvSpPr txBox="1"/>
          <p:nvPr/>
        </p:nvSpPr>
        <p:spPr>
          <a:xfrm>
            <a:off x="4320992" y="3066959"/>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30" name="Google Shape;530;p29"/>
          <p:cNvSpPr txBox="1"/>
          <p:nvPr/>
        </p:nvSpPr>
        <p:spPr>
          <a:xfrm>
            <a:off x="1092998" y="3429450"/>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31" name="Google Shape;531;p29"/>
          <p:cNvSpPr/>
          <p:nvPr/>
        </p:nvSpPr>
        <p:spPr>
          <a:xfrm>
            <a:off x="2088004" y="3557185"/>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32" name="Google Shape;532;p29"/>
          <p:cNvSpPr/>
          <p:nvPr/>
        </p:nvSpPr>
        <p:spPr>
          <a:xfrm>
            <a:off x="4150748" y="3184337"/>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33" name="Google Shape;533;p29"/>
          <p:cNvSpPr txBox="1"/>
          <p:nvPr/>
        </p:nvSpPr>
        <p:spPr>
          <a:xfrm>
            <a:off x="973490" y="4953638"/>
            <a:ext cx="1095235"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choose x</a:t>
            </a:r>
            <a:endParaRPr/>
          </a:p>
          <a:p>
            <a:pPr indent="0" lvl="0" marL="0" marR="0" rtl="0" algn="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p:txBody>
      </p:sp>
      <p:cxnSp>
        <p:nvCxnSpPr>
          <p:cNvPr id="534" name="Google Shape;534;p29"/>
          <p:cNvCxnSpPr/>
          <p:nvPr/>
        </p:nvCxnSpPr>
        <p:spPr>
          <a:xfrm>
            <a:off x="2248653" y="5141789"/>
            <a:ext cx="1996343" cy="343503"/>
          </a:xfrm>
          <a:prstGeom prst="straightConnector1">
            <a:avLst/>
          </a:prstGeom>
          <a:noFill/>
          <a:ln cap="flat" cmpd="sng" w="28575">
            <a:solidFill>
              <a:srgbClr val="000099"/>
            </a:solidFill>
            <a:prstDash val="solid"/>
            <a:round/>
            <a:headEnd len="med" w="med" type="none"/>
            <a:tailEnd len="med" w="med" type="triangle"/>
          </a:ln>
        </p:spPr>
      </p:cxnSp>
      <p:cxnSp>
        <p:nvCxnSpPr>
          <p:cNvPr id="535" name="Google Shape;535;p29"/>
          <p:cNvCxnSpPr/>
          <p:nvPr/>
        </p:nvCxnSpPr>
        <p:spPr>
          <a:xfrm>
            <a:off x="2188677" y="5052029"/>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36" name="Google Shape;536;p29"/>
          <p:cNvCxnSpPr/>
          <p:nvPr/>
        </p:nvCxnSpPr>
        <p:spPr>
          <a:xfrm>
            <a:off x="4253564" y="5081373"/>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37" name="Google Shape;537;p29"/>
          <p:cNvCxnSpPr/>
          <p:nvPr/>
        </p:nvCxnSpPr>
        <p:spPr>
          <a:xfrm flipH="1">
            <a:off x="2184393" y="5573326"/>
            <a:ext cx="1996343" cy="343503"/>
          </a:xfrm>
          <a:prstGeom prst="straightConnector1">
            <a:avLst/>
          </a:prstGeom>
          <a:noFill/>
          <a:ln cap="flat" cmpd="sng" w="28575">
            <a:solidFill>
              <a:srgbClr val="000099"/>
            </a:solidFill>
            <a:prstDash val="solid"/>
            <a:round/>
            <a:headEnd len="med" w="med" type="none"/>
            <a:tailEnd len="med" w="med" type="triangle"/>
          </a:ln>
        </p:spPr>
      </p:cxnSp>
      <p:sp>
        <p:nvSpPr>
          <p:cNvPr id="538" name="Google Shape;538;p29"/>
          <p:cNvSpPr/>
          <p:nvPr/>
        </p:nvSpPr>
        <p:spPr>
          <a:xfrm>
            <a:off x="2677053" y="5126253"/>
            <a:ext cx="1049579"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39" name="Google Shape;539;p29"/>
          <p:cNvSpPr txBox="1"/>
          <p:nvPr/>
        </p:nvSpPr>
        <p:spPr>
          <a:xfrm>
            <a:off x="2502290" y="5090004"/>
            <a:ext cx="144623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req_conn(x)</a:t>
            </a:r>
            <a:endParaRPr/>
          </a:p>
        </p:txBody>
      </p:sp>
      <p:sp>
        <p:nvSpPr>
          <p:cNvPr id="540" name="Google Shape;540;p29"/>
          <p:cNvSpPr/>
          <p:nvPr/>
        </p:nvSpPr>
        <p:spPr>
          <a:xfrm>
            <a:off x="2916957" y="5587135"/>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41" name="Google Shape;541;p29"/>
          <p:cNvSpPr txBox="1"/>
          <p:nvPr/>
        </p:nvSpPr>
        <p:spPr>
          <a:xfrm>
            <a:off x="4359546" y="5381723"/>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42" name="Google Shape;542;p29"/>
          <p:cNvSpPr txBox="1"/>
          <p:nvPr/>
        </p:nvSpPr>
        <p:spPr>
          <a:xfrm>
            <a:off x="1131555" y="5744214"/>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43" name="Google Shape;543;p29"/>
          <p:cNvSpPr/>
          <p:nvPr/>
        </p:nvSpPr>
        <p:spPr>
          <a:xfrm>
            <a:off x="2126560" y="5871949"/>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44" name="Google Shape;544;p29"/>
          <p:cNvSpPr/>
          <p:nvPr/>
        </p:nvSpPr>
        <p:spPr>
          <a:xfrm>
            <a:off x="4189304" y="5499101"/>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45" name="Google Shape;545;p29"/>
          <p:cNvSpPr/>
          <p:nvPr/>
        </p:nvSpPr>
        <p:spPr>
          <a:xfrm>
            <a:off x="2514261" y="5594040"/>
            <a:ext cx="1445850" cy="2830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46" name="Google Shape;546;p29"/>
          <p:cNvSpPr txBox="1"/>
          <p:nvPr/>
        </p:nvSpPr>
        <p:spPr>
          <a:xfrm>
            <a:off x="2500404" y="5552612"/>
            <a:ext cx="143500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acc_conn(x)</a:t>
            </a:r>
            <a:endParaRPr/>
          </a:p>
        </p:txBody>
      </p:sp>
      <p:grpSp>
        <p:nvGrpSpPr>
          <p:cNvPr id="547" name="Google Shape;547;p29"/>
          <p:cNvGrpSpPr/>
          <p:nvPr/>
        </p:nvGrpSpPr>
        <p:grpSpPr>
          <a:xfrm>
            <a:off x="1696017" y="4472044"/>
            <a:ext cx="775403" cy="566176"/>
            <a:chOff x="-44" y="1473"/>
            <a:chExt cx="981" cy="1105"/>
          </a:xfrm>
        </p:grpSpPr>
        <p:pic>
          <p:nvPicPr>
            <p:cNvPr descr="desktop_computer_stylized_medium" id="548" name="Google Shape;548;p29"/>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549" name="Google Shape;549;p2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550" name="Google Shape;550;p29"/>
          <p:cNvGrpSpPr/>
          <p:nvPr/>
        </p:nvGrpSpPr>
        <p:grpSpPr>
          <a:xfrm>
            <a:off x="4073636" y="4451330"/>
            <a:ext cx="318750" cy="557545"/>
            <a:chOff x="4140" y="429"/>
            <a:chExt cx="1425" cy="2396"/>
          </a:xfrm>
        </p:grpSpPr>
        <p:sp>
          <p:nvSpPr>
            <p:cNvPr id="551" name="Google Shape;551;p2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52" name="Google Shape;552;p29"/>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53" name="Google Shape;553;p2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54" name="Google Shape;554;p2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55" name="Google Shape;555;p29"/>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56" name="Google Shape;556;p29"/>
            <p:cNvGrpSpPr/>
            <p:nvPr/>
          </p:nvGrpSpPr>
          <p:grpSpPr>
            <a:xfrm>
              <a:off x="4751" y="666"/>
              <a:ext cx="578" cy="148"/>
              <a:chOff x="617" y="2566"/>
              <a:chExt cx="721" cy="142"/>
            </a:xfrm>
          </p:grpSpPr>
          <p:sp>
            <p:nvSpPr>
              <p:cNvPr id="557" name="Google Shape;557;p29"/>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58" name="Google Shape;558;p29"/>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59" name="Google Shape;559;p29"/>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60" name="Google Shape;560;p29"/>
            <p:cNvGrpSpPr/>
            <p:nvPr/>
          </p:nvGrpSpPr>
          <p:grpSpPr>
            <a:xfrm>
              <a:off x="4745" y="993"/>
              <a:ext cx="585" cy="134"/>
              <a:chOff x="611" y="2567"/>
              <a:chExt cx="730" cy="139"/>
            </a:xfrm>
          </p:grpSpPr>
          <p:sp>
            <p:nvSpPr>
              <p:cNvPr id="561" name="Google Shape;561;p29"/>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62" name="Google Shape;562;p29"/>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63" name="Google Shape;563;p29"/>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64" name="Google Shape;564;p29"/>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65" name="Google Shape;565;p29"/>
            <p:cNvGrpSpPr/>
            <p:nvPr/>
          </p:nvGrpSpPr>
          <p:grpSpPr>
            <a:xfrm>
              <a:off x="4738" y="1630"/>
              <a:ext cx="578" cy="149"/>
              <a:chOff x="618" y="2571"/>
              <a:chExt cx="720" cy="137"/>
            </a:xfrm>
          </p:grpSpPr>
          <p:sp>
            <p:nvSpPr>
              <p:cNvPr id="566" name="Google Shape;566;p29"/>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67" name="Google Shape;567;p29"/>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68" name="Google Shape;568;p2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69" name="Google Shape;569;p29"/>
            <p:cNvGrpSpPr/>
            <p:nvPr/>
          </p:nvGrpSpPr>
          <p:grpSpPr>
            <a:xfrm>
              <a:off x="4738" y="1327"/>
              <a:ext cx="584" cy="141"/>
              <a:chOff x="613" y="2568"/>
              <a:chExt cx="728" cy="141"/>
            </a:xfrm>
          </p:grpSpPr>
          <p:sp>
            <p:nvSpPr>
              <p:cNvPr id="570" name="Google Shape;570;p29"/>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1" name="Google Shape;571;p29"/>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2" name="Google Shape;572;p29"/>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3" name="Google Shape;573;p2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4" name="Google Shape;574;p2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5" name="Google Shape;575;p29"/>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6" name="Google Shape;576;p2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 name="Google Shape;577;p29"/>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 name="Google Shape;578;p29"/>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 name="Google Shape;579;p29"/>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 name="Google Shape;580;p29"/>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0000"/>
                </a:solidFill>
                <a:latin typeface="Calibri"/>
                <a:ea typeface="Calibri"/>
                <a:cs typeface="Calibri"/>
                <a:sym typeface="Calibri"/>
              </a:endParaRPr>
            </a:p>
          </p:txBody>
        </p:sp>
        <p:sp>
          <p:nvSpPr>
            <p:cNvPr id="581" name="Google Shape;581;p29"/>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2" name="Google Shape;582;p29"/>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83" name="Google Shape;583;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590" name="Google Shape;590;p30"/>
          <p:cNvGrpSpPr/>
          <p:nvPr/>
        </p:nvGrpSpPr>
        <p:grpSpPr>
          <a:xfrm>
            <a:off x="435655" y="1435139"/>
            <a:ext cx="3855401" cy="3186116"/>
            <a:chOff x="435655" y="1990325"/>
            <a:chExt cx="3855401" cy="3186116"/>
          </a:xfrm>
        </p:grpSpPr>
        <p:cxnSp>
          <p:nvCxnSpPr>
            <p:cNvPr id="591" name="Google Shape;591;p30"/>
            <p:cNvCxnSpPr/>
            <p:nvPr/>
          </p:nvCxnSpPr>
          <p:spPr>
            <a:xfrm flipH="1">
              <a:off x="1461180" y="2545950"/>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592" name="Google Shape;592;p30"/>
            <p:cNvCxnSpPr/>
            <p:nvPr/>
          </p:nvCxnSpPr>
          <p:spPr>
            <a:xfrm>
              <a:off x="2991529" y="2618975"/>
              <a:ext cx="0" cy="2524525"/>
            </a:xfrm>
            <a:prstGeom prst="straightConnector1">
              <a:avLst/>
            </a:prstGeom>
            <a:noFill/>
            <a:ln cap="flat" cmpd="sng" w="9525">
              <a:solidFill>
                <a:srgbClr val="777777"/>
              </a:solidFill>
              <a:prstDash val="solid"/>
              <a:round/>
              <a:headEnd len="med" w="med" type="none"/>
              <a:tailEnd len="med" w="med" type="none"/>
            </a:ln>
          </p:spPr>
        </p:cxnSp>
        <p:grpSp>
          <p:nvGrpSpPr>
            <p:cNvPr id="593" name="Google Shape;593;p30"/>
            <p:cNvGrpSpPr/>
            <p:nvPr/>
          </p:nvGrpSpPr>
          <p:grpSpPr>
            <a:xfrm>
              <a:off x="1386567" y="4700191"/>
              <a:ext cx="2405063" cy="476250"/>
              <a:chOff x="1097" y="2807"/>
              <a:chExt cx="1515" cy="300"/>
            </a:xfrm>
          </p:grpSpPr>
          <p:cxnSp>
            <p:nvCxnSpPr>
              <p:cNvPr id="594" name="Google Shape;594;p30"/>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595" name="Google Shape;595;p30"/>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596" name="Google Shape;596;p30"/>
            <p:cNvGrpSpPr/>
            <p:nvPr/>
          </p:nvGrpSpPr>
          <p:grpSpPr>
            <a:xfrm>
              <a:off x="435655" y="1990325"/>
              <a:ext cx="3389313" cy="2136775"/>
              <a:chOff x="484" y="1100"/>
              <a:chExt cx="2135" cy="1346"/>
            </a:xfrm>
          </p:grpSpPr>
          <p:sp>
            <p:nvSpPr>
              <p:cNvPr id="597" name="Google Shape;597;p30"/>
              <p:cNvSpPr txBox="1"/>
              <p:nvPr/>
            </p:nvSpPr>
            <p:spPr>
              <a:xfrm>
                <a:off x="484" y="1393"/>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598" name="Google Shape;598;p30"/>
              <p:cNvCxnSpPr/>
              <p:nvPr/>
            </p:nvCxnSpPr>
            <p:spPr>
              <a:xfrm>
                <a:off x="1159" y="1516"/>
                <a:ext cx="932" cy="199"/>
              </a:xfrm>
              <a:prstGeom prst="straightConnector1">
                <a:avLst/>
              </a:prstGeom>
              <a:noFill/>
              <a:ln cap="flat" cmpd="sng" w="28575">
                <a:solidFill>
                  <a:srgbClr val="000099"/>
                </a:solidFill>
                <a:prstDash val="solid"/>
                <a:round/>
                <a:headEnd len="med" w="med" type="none"/>
                <a:tailEnd len="med" w="med" type="triangle"/>
              </a:ln>
            </p:spPr>
          </p:cxnSp>
          <p:cxnSp>
            <p:nvCxnSpPr>
              <p:cNvPr id="599" name="Google Shape;599;p30"/>
              <p:cNvCxnSpPr/>
              <p:nvPr/>
            </p:nvCxnSpPr>
            <p:spPr>
              <a:xfrm flipH="1">
                <a:off x="1121" y="1739"/>
                <a:ext cx="990" cy="602"/>
              </a:xfrm>
              <a:prstGeom prst="straightConnector1">
                <a:avLst/>
              </a:prstGeom>
              <a:noFill/>
              <a:ln cap="flat" cmpd="sng" w="28575">
                <a:solidFill>
                  <a:srgbClr val="000099"/>
                </a:solidFill>
                <a:prstDash val="solid"/>
                <a:round/>
                <a:headEnd len="med" w="med" type="none"/>
                <a:tailEnd len="med" w="med" type="triangle"/>
              </a:ln>
            </p:spPr>
          </p:cxnSp>
          <p:sp>
            <p:nvSpPr>
              <p:cNvPr id="600" name="Google Shape;600;p30"/>
              <p:cNvSpPr/>
              <p:nvPr/>
            </p:nvSpPr>
            <p:spPr>
              <a:xfrm>
                <a:off x="1359" y="1507"/>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 name="Google Shape;601;p30"/>
              <p:cNvSpPr txBox="1"/>
              <p:nvPr/>
            </p:nvSpPr>
            <p:spPr>
              <a:xfrm>
                <a:off x="1214" y="1486"/>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602" name="Google Shape;602;p30"/>
              <p:cNvSpPr/>
              <p:nvPr/>
            </p:nvSpPr>
            <p:spPr>
              <a:xfrm>
                <a:off x="1471" y="1774"/>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 name="Google Shape;603;p30"/>
              <p:cNvSpPr txBox="1"/>
              <p:nvPr/>
            </p:nvSpPr>
            <p:spPr>
              <a:xfrm>
                <a:off x="2133" y="1649"/>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04" name="Google Shape;604;p30"/>
              <p:cNvSpPr txBox="1"/>
              <p:nvPr/>
            </p:nvSpPr>
            <p:spPr>
              <a:xfrm>
                <a:off x="583" y="2234"/>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05" name="Google Shape;605;p30"/>
              <p:cNvSpPr/>
              <p:nvPr/>
            </p:nvSpPr>
            <p:spPr>
              <a:xfrm>
                <a:off x="1095" y="2298"/>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06" name="Google Shape;606;p30"/>
              <p:cNvSpPr/>
              <p:nvPr/>
            </p:nvSpPr>
            <p:spPr>
              <a:xfrm>
                <a:off x="2065" y="1723"/>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607" name="Google Shape;607;p30"/>
              <p:cNvGrpSpPr/>
              <p:nvPr/>
            </p:nvGrpSpPr>
            <p:grpSpPr>
              <a:xfrm>
                <a:off x="1277" y="1861"/>
                <a:ext cx="803" cy="212"/>
                <a:chOff x="1065" y="2085"/>
                <a:chExt cx="803" cy="212"/>
              </a:xfrm>
            </p:grpSpPr>
            <p:sp>
              <p:nvSpPr>
                <p:cNvPr id="608" name="Google Shape;608;p30"/>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9" name="Google Shape;609;p30"/>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nvGrpSpPr>
              <p:cNvPr id="610" name="Google Shape;610;p30"/>
              <p:cNvGrpSpPr/>
              <p:nvPr/>
            </p:nvGrpSpPr>
            <p:grpSpPr>
              <a:xfrm>
                <a:off x="834" y="1112"/>
                <a:ext cx="391" cy="307"/>
                <a:chOff x="-44" y="1473"/>
                <a:chExt cx="981" cy="1105"/>
              </a:xfrm>
            </p:grpSpPr>
            <p:pic>
              <p:nvPicPr>
                <p:cNvPr descr="desktop_computer_stylized_medium" id="611" name="Google Shape;611;p3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12" name="Google Shape;612;p3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13" name="Google Shape;613;p30"/>
              <p:cNvGrpSpPr/>
              <p:nvPr/>
            </p:nvGrpSpPr>
            <p:grpSpPr>
              <a:xfrm>
                <a:off x="1973" y="1100"/>
                <a:ext cx="212" cy="323"/>
                <a:chOff x="4140" y="429"/>
                <a:chExt cx="1425" cy="2396"/>
              </a:xfrm>
            </p:grpSpPr>
            <p:sp>
              <p:nvSpPr>
                <p:cNvPr id="614" name="Google Shape;614;p3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5" name="Google Shape;615;p30"/>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6" name="Google Shape;616;p3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7" name="Google Shape;617;p3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8" name="Google Shape;618;p30"/>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9" name="Google Shape;619;p30"/>
                <p:cNvGrpSpPr/>
                <p:nvPr/>
              </p:nvGrpSpPr>
              <p:grpSpPr>
                <a:xfrm>
                  <a:off x="4751" y="666"/>
                  <a:ext cx="578" cy="148"/>
                  <a:chOff x="617" y="2566"/>
                  <a:chExt cx="721" cy="142"/>
                </a:xfrm>
              </p:grpSpPr>
              <p:sp>
                <p:nvSpPr>
                  <p:cNvPr id="620" name="Google Shape;620;p30"/>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1" name="Google Shape;621;p30"/>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2" name="Google Shape;622;p30"/>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3" name="Google Shape;623;p30"/>
                <p:cNvGrpSpPr/>
                <p:nvPr/>
              </p:nvGrpSpPr>
              <p:grpSpPr>
                <a:xfrm>
                  <a:off x="4745" y="993"/>
                  <a:ext cx="585" cy="134"/>
                  <a:chOff x="611" y="2567"/>
                  <a:chExt cx="730" cy="139"/>
                </a:xfrm>
              </p:grpSpPr>
              <p:sp>
                <p:nvSpPr>
                  <p:cNvPr id="624" name="Google Shape;624;p30"/>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 name="Google Shape;625;p30"/>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6" name="Google Shape;626;p30"/>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 name="Google Shape;627;p30"/>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8" name="Google Shape;628;p30"/>
                <p:cNvGrpSpPr/>
                <p:nvPr/>
              </p:nvGrpSpPr>
              <p:grpSpPr>
                <a:xfrm>
                  <a:off x="4738" y="1630"/>
                  <a:ext cx="578" cy="149"/>
                  <a:chOff x="618" y="2571"/>
                  <a:chExt cx="720" cy="137"/>
                </a:xfrm>
              </p:grpSpPr>
              <p:sp>
                <p:nvSpPr>
                  <p:cNvPr id="629" name="Google Shape;629;p30"/>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 name="Google Shape;630;p30"/>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1" name="Google Shape;631;p3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2" name="Google Shape;632;p30"/>
                <p:cNvGrpSpPr/>
                <p:nvPr/>
              </p:nvGrpSpPr>
              <p:grpSpPr>
                <a:xfrm>
                  <a:off x="4738" y="1327"/>
                  <a:ext cx="584" cy="141"/>
                  <a:chOff x="613" y="2568"/>
                  <a:chExt cx="728" cy="141"/>
                </a:xfrm>
              </p:grpSpPr>
              <p:sp>
                <p:nvSpPr>
                  <p:cNvPr id="633" name="Google Shape;633;p30"/>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4" name="Google Shape;634;p30"/>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5" name="Google Shape;635;p30"/>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6" name="Google Shape;636;p3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7" name="Google Shape;637;p3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8" name="Google Shape;638;p30"/>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9" name="Google Shape;639;p3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0" name="Google Shape;640;p30"/>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1" name="Google Shape;641;p30"/>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2" name="Google Shape;642;p30"/>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3" name="Google Shape;643;p30"/>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44" name="Google Shape;644;p30"/>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 name="Google Shape;645;p30"/>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sp>
          <p:nvSpPr>
            <p:cNvPr id="646" name="Google Shape;646;p30"/>
            <p:cNvSpPr/>
            <p:nvPr/>
          </p:nvSpPr>
          <p:spPr>
            <a:xfrm>
              <a:off x="1416094" y="3893738"/>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cxnSp>
          <p:nvCxnSpPr>
            <p:cNvPr id="647" name="Google Shape;647;p30"/>
            <p:cNvCxnSpPr/>
            <p:nvPr/>
          </p:nvCxnSpPr>
          <p:spPr>
            <a:xfrm>
              <a:off x="1511344" y="396676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648" name="Google Shape;648;p30"/>
            <p:cNvSpPr/>
            <p:nvPr/>
          </p:nvSpPr>
          <p:spPr>
            <a:xfrm>
              <a:off x="1828844" y="3952476"/>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 name="Google Shape;649;p30"/>
            <p:cNvSpPr txBox="1"/>
            <p:nvPr/>
          </p:nvSpPr>
          <p:spPr>
            <a:xfrm>
              <a:off x="1689144" y="3919138"/>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650" name="Google Shape;650;p30"/>
            <p:cNvSpPr/>
            <p:nvPr/>
          </p:nvSpPr>
          <p:spPr>
            <a:xfrm>
              <a:off x="2960731" y="4250926"/>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51" name="Google Shape;651;p30"/>
            <p:cNvSpPr txBox="1"/>
            <p:nvPr/>
          </p:nvSpPr>
          <p:spPr>
            <a:xfrm>
              <a:off x="3119481" y="4011213"/>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652" name="Google Shape;652;p30"/>
            <p:cNvGrpSpPr/>
            <p:nvPr/>
          </p:nvGrpSpPr>
          <p:grpSpPr>
            <a:xfrm flipH="1">
              <a:off x="1449388" y="4279047"/>
              <a:ext cx="1539875" cy="390924"/>
              <a:chOff x="796245" y="5993547"/>
              <a:chExt cx="1539875" cy="390924"/>
            </a:xfrm>
          </p:grpSpPr>
          <p:cxnSp>
            <p:nvCxnSpPr>
              <p:cNvPr id="653" name="Google Shape;653;p30"/>
              <p:cNvCxnSpPr/>
              <p:nvPr/>
            </p:nvCxnSpPr>
            <p:spPr>
              <a:xfrm>
                <a:off x="796245" y="6007834"/>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654" name="Google Shape;654;p30"/>
              <p:cNvSpPr/>
              <p:nvPr/>
            </p:nvSpPr>
            <p:spPr>
              <a:xfrm>
                <a:off x="1113745" y="5993547"/>
                <a:ext cx="859292" cy="3909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5" name="Google Shape;655;p30"/>
              <p:cNvSpPr/>
              <p:nvPr/>
            </p:nvSpPr>
            <p:spPr>
              <a:xfrm>
                <a:off x="2245632" y="6291997"/>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656" name="Google Shape;656;p30"/>
            <p:cNvSpPr txBox="1"/>
            <p:nvPr/>
          </p:nvSpPr>
          <p:spPr>
            <a:xfrm>
              <a:off x="1735694" y="4283529"/>
              <a:ext cx="107112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ACK(x+1)</a:t>
              </a:r>
              <a:endParaRPr/>
            </a:p>
          </p:txBody>
        </p:sp>
      </p:grpSp>
      <p:grpSp>
        <p:nvGrpSpPr>
          <p:cNvPr id="657" name="Google Shape;657;p30"/>
          <p:cNvGrpSpPr/>
          <p:nvPr/>
        </p:nvGrpSpPr>
        <p:grpSpPr>
          <a:xfrm>
            <a:off x="1273629" y="5146706"/>
            <a:ext cx="1773114" cy="1003723"/>
            <a:chOff x="1273629" y="5146706"/>
            <a:chExt cx="1773114" cy="1003723"/>
          </a:xfrm>
        </p:grpSpPr>
        <p:sp>
          <p:nvSpPr>
            <p:cNvPr id="658" name="Google Shape;658;p30"/>
            <p:cNvSpPr txBox="1"/>
            <p:nvPr/>
          </p:nvSpPr>
          <p:spPr>
            <a:xfrm>
              <a:off x="1273629" y="5146706"/>
              <a:ext cx="17731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No problem!</a:t>
              </a:r>
              <a:endParaRPr/>
            </a:p>
          </p:txBody>
        </p:sp>
        <p:pic>
          <p:nvPicPr>
            <p:cNvPr descr="A picture containing drawing&#10;&#10;Description automatically generated" id="659" name="Google Shape;659;p30"/>
            <p:cNvPicPr preferRelativeResize="0"/>
            <p:nvPr/>
          </p:nvPicPr>
          <p:blipFill rotWithShape="1">
            <a:blip r:embed="rId4">
              <a:alphaModFix/>
            </a:blip>
            <a:srcRect b="0" l="0" r="0" t="0"/>
            <a:stretch/>
          </p:blipFill>
          <p:spPr>
            <a:xfrm>
              <a:off x="1812470" y="5524500"/>
              <a:ext cx="625929" cy="625929"/>
            </a:xfrm>
            <a:prstGeom prst="rect">
              <a:avLst/>
            </a:prstGeom>
            <a:noFill/>
            <a:ln>
              <a:noFill/>
            </a:ln>
          </p:spPr>
        </p:pic>
      </p:grpSp>
      <p:sp>
        <p:nvSpPr>
          <p:cNvPr id="660" name="Google Shape;660;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par>
                                <p:cTn fill="hold" nodeType="withEffect" presetClass="exit" presetID="10" presetSubtype="0">
                                  <p:stCondLst>
                                    <p:cond delay="0"/>
                                  </p:stCondLst>
                                  <p:childTnLst>
                                    <p:animEffect filter="fade" transition="out">
                                      <p:cBhvr>
                                        <p:cTn dur="500"/>
                                        <p:tgtEl>
                                          <p:spTgt spid="590"/>
                                        </p:tgtEl>
                                      </p:cBhvr>
                                    </p:animEffect>
                                    <p:set>
                                      <p:cBhvr>
                                        <p:cTn dur="1" fill="hold">
                                          <p:stCondLst>
                                            <p:cond delay="500"/>
                                          </p:stCondLst>
                                        </p:cTn>
                                        <p:tgtEl>
                                          <p:spTgt spid="59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57"/>
                                        </p:tgtEl>
                                      </p:cBhvr>
                                    </p:animEffect>
                                    <p:set>
                                      <p:cBhvr>
                                        <p:cTn dur="1" fill="hold">
                                          <p:stCondLst>
                                            <p:cond delay="500"/>
                                          </p:stCondLst>
                                        </p:cTn>
                                        <p:tgtEl>
                                          <p:spTgt spid="6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3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667" name="Google Shape;667;p31"/>
          <p:cNvGrpSpPr/>
          <p:nvPr/>
        </p:nvGrpSpPr>
        <p:grpSpPr>
          <a:xfrm>
            <a:off x="5262108" y="1983508"/>
            <a:ext cx="1530350" cy="4033838"/>
            <a:chOff x="5276623" y="2475192"/>
            <a:chExt cx="1530350" cy="4033838"/>
          </a:xfrm>
        </p:grpSpPr>
        <p:cxnSp>
          <p:nvCxnSpPr>
            <p:cNvPr id="668" name="Google Shape;668;p31"/>
            <p:cNvCxnSpPr/>
            <p:nvPr/>
          </p:nvCxnSpPr>
          <p:spPr>
            <a:xfrm flipH="1">
              <a:off x="5276623" y="2475192"/>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669" name="Google Shape;669;p31"/>
            <p:cNvCxnSpPr/>
            <p:nvPr/>
          </p:nvCxnSpPr>
          <p:spPr>
            <a:xfrm flipH="1">
              <a:off x="6805386" y="2548217"/>
              <a:ext cx="1587" cy="3960813"/>
            </a:xfrm>
            <a:prstGeom prst="straightConnector1">
              <a:avLst/>
            </a:prstGeom>
            <a:noFill/>
            <a:ln cap="flat" cmpd="sng" w="9525">
              <a:solidFill>
                <a:srgbClr val="777777"/>
              </a:solidFill>
              <a:prstDash val="solid"/>
              <a:round/>
              <a:headEnd len="med" w="med" type="none"/>
              <a:tailEnd len="med" w="med" type="none"/>
            </a:ln>
          </p:spPr>
        </p:cxnSp>
      </p:grpSp>
      <p:grpSp>
        <p:nvGrpSpPr>
          <p:cNvPr id="670" name="Google Shape;670;p31"/>
          <p:cNvGrpSpPr/>
          <p:nvPr/>
        </p:nvGrpSpPr>
        <p:grpSpPr>
          <a:xfrm>
            <a:off x="6768421" y="5356225"/>
            <a:ext cx="847724" cy="336550"/>
            <a:chOff x="11151735" y="5148718"/>
            <a:chExt cx="847724" cy="336550"/>
          </a:xfrm>
        </p:grpSpPr>
        <p:sp>
          <p:nvSpPr>
            <p:cNvPr id="671" name="Google Shape;671;p31"/>
            <p:cNvSpPr txBox="1"/>
            <p:nvPr/>
          </p:nvSpPr>
          <p:spPr>
            <a:xfrm>
              <a:off x="11227935" y="5148718"/>
              <a:ext cx="771524"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72" name="Google Shape;672;p31"/>
            <p:cNvSpPr/>
            <p:nvPr/>
          </p:nvSpPr>
          <p:spPr>
            <a:xfrm>
              <a:off x="11151735" y="5275718"/>
              <a:ext cx="90487"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grpSp>
        <p:nvGrpSpPr>
          <p:cNvPr id="673" name="Google Shape;673;p31"/>
          <p:cNvGrpSpPr/>
          <p:nvPr/>
        </p:nvGrpSpPr>
        <p:grpSpPr>
          <a:xfrm>
            <a:off x="3998688" y="2674935"/>
            <a:ext cx="2841623" cy="2849565"/>
            <a:chOff x="8352974" y="2492829"/>
            <a:chExt cx="2841623" cy="2849565"/>
          </a:xfrm>
        </p:grpSpPr>
        <p:sp>
          <p:nvSpPr>
            <p:cNvPr id="674" name="Google Shape;674;p31"/>
            <p:cNvSpPr txBox="1"/>
            <p:nvPr/>
          </p:nvSpPr>
          <p:spPr>
            <a:xfrm>
              <a:off x="8352974" y="2492829"/>
              <a:ext cx="1273174"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75" name="Google Shape;675;p31"/>
            <p:cNvSpPr/>
            <p:nvPr/>
          </p:nvSpPr>
          <p:spPr>
            <a:xfrm>
              <a:off x="9667423" y="2783342"/>
              <a:ext cx="1527174" cy="2559052"/>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6" name="Google Shape;676;p31"/>
            <p:cNvGrpSpPr/>
            <p:nvPr/>
          </p:nvGrpSpPr>
          <p:grpSpPr>
            <a:xfrm>
              <a:off x="9764261" y="3386592"/>
              <a:ext cx="1273174" cy="336550"/>
              <a:chOff x="1065" y="2085"/>
              <a:chExt cx="802" cy="212"/>
            </a:xfrm>
          </p:grpSpPr>
          <p:sp>
            <p:nvSpPr>
              <p:cNvPr id="677" name="Google Shape;677;p31"/>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 name="Google Shape;678;p31"/>
              <p:cNvSpPr txBox="1"/>
              <p:nvPr/>
            </p:nvSpPr>
            <p:spPr>
              <a:xfrm>
                <a:off x="1065" y="2085"/>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grpSp>
      <p:grpSp>
        <p:nvGrpSpPr>
          <p:cNvPr id="679" name="Google Shape;679;p31"/>
          <p:cNvGrpSpPr/>
          <p:nvPr/>
        </p:nvGrpSpPr>
        <p:grpSpPr>
          <a:xfrm>
            <a:off x="4105048" y="4123231"/>
            <a:ext cx="3830638" cy="715962"/>
            <a:chOff x="406" y="2807"/>
            <a:chExt cx="2413" cy="451"/>
          </a:xfrm>
        </p:grpSpPr>
        <p:cxnSp>
          <p:nvCxnSpPr>
            <p:cNvPr id="680" name="Google Shape;680;p31"/>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681" name="Google Shape;681;p31"/>
            <p:cNvSpPr txBox="1"/>
            <p:nvPr/>
          </p:nvSpPr>
          <p:spPr>
            <a:xfrm>
              <a:off x="406" y="2937"/>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sp>
          <p:nvSpPr>
            <p:cNvPr id="682" name="Google Shape;682;p31"/>
            <p:cNvSpPr txBox="1"/>
            <p:nvPr/>
          </p:nvSpPr>
          <p:spPr>
            <a:xfrm>
              <a:off x="2081" y="2938"/>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sp>
          <p:nvSpPr>
            <p:cNvPr id="683" name="Google Shape;683;p31"/>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684" name="Google Shape;684;p31"/>
          <p:cNvGrpSpPr/>
          <p:nvPr/>
        </p:nvGrpSpPr>
        <p:grpSpPr>
          <a:xfrm>
            <a:off x="4222070" y="1980106"/>
            <a:ext cx="3389313" cy="1671637"/>
            <a:chOff x="7865155" y="1602735"/>
            <a:chExt cx="3389313" cy="1671637"/>
          </a:xfrm>
        </p:grpSpPr>
        <p:sp>
          <p:nvSpPr>
            <p:cNvPr id="685" name="Google Shape;685;p31"/>
            <p:cNvSpPr txBox="1"/>
            <p:nvPr/>
          </p:nvSpPr>
          <p:spPr>
            <a:xfrm>
              <a:off x="7865155" y="1602735"/>
              <a:ext cx="973138" cy="5810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86" name="Google Shape;686;p31"/>
            <p:cNvCxnSpPr/>
            <p:nvPr/>
          </p:nvCxnSpPr>
          <p:spPr>
            <a:xfrm>
              <a:off x="8936718" y="179799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687" name="Google Shape;687;p31"/>
            <p:cNvCxnSpPr/>
            <p:nvPr/>
          </p:nvCxnSpPr>
          <p:spPr>
            <a:xfrm flipH="1">
              <a:off x="8876393" y="2152010"/>
              <a:ext cx="1571625" cy="955675"/>
            </a:xfrm>
            <a:prstGeom prst="straightConnector1">
              <a:avLst/>
            </a:prstGeom>
            <a:noFill/>
            <a:ln cap="flat" cmpd="sng" w="28575">
              <a:solidFill>
                <a:srgbClr val="000099"/>
              </a:solidFill>
              <a:prstDash val="solid"/>
              <a:round/>
              <a:headEnd len="med" w="med" type="none"/>
              <a:tailEnd len="med" w="med" type="triangle"/>
            </a:ln>
          </p:spPr>
        </p:cxnSp>
        <p:sp>
          <p:nvSpPr>
            <p:cNvPr id="688" name="Google Shape;688;p31"/>
            <p:cNvSpPr/>
            <p:nvPr/>
          </p:nvSpPr>
          <p:spPr>
            <a:xfrm>
              <a:off x="9254218" y="1783710"/>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9" name="Google Shape;689;p31"/>
            <p:cNvSpPr txBox="1"/>
            <p:nvPr/>
          </p:nvSpPr>
          <p:spPr>
            <a:xfrm>
              <a:off x="9024030" y="1750372"/>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690" name="Google Shape;690;p31"/>
            <p:cNvSpPr/>
            <p:nvPr/>
          </p:nvSpPr>
          <p:spPr>
            <a:xfrm>
              <a:off x="9432018" y="2207572"/>
              <a:ext cx="439738"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1" name="Google Shape;691;p31"/>
            <p:cNvSpPr txBox="1"/>
            <p:nvPr/>
          </p:nvSpPr>
          <p:spPr>
            <a:xfrm>
              <a:off x="10482943" y="200913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92" name="Google Shape;692;p31"/>
            <p:cNvSpPr txBox="1"/>
            <p:nvPr/>
          </p:nvSpPr>
          <p:spPr>
            <a:xfrm>
              <a:off x="8022318" y="2937822"/>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93" name="Google Shape;693;p31"/>
            <p:cNvSpPr/>
            <p:nvPr/>
          </p:nvSpPr>
          <p:spPr>
            <a:xfrm>
              <a:off x="8835118" y="3039422"/>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94" name="Google Shape;694;p31"/>
            <p:cNvSpPr/>
            <p:nvPr/>
          </p:nvSpPr>
          <p:spPr>
            <a:xfrm>
              <a:off x="10374993" y="2126610"/>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695" name="Google Shape;695;p31"/>
            <p:cNvGrpSpPr/>
            <p:nvPr/>
          </p:nvGrpSpPr>
          <p:grpSpPr>
            <a:xfrm>
              <a:off x="9124043" y="2345685"/>
              <a:ext cx="1274763" cy="336550"/>
              <a:chOff x="1065" y="2085"/>
              <a:chExt cx="803" cy="212"/>
            </a:xfrm>
          </p:grpSpPr>
          <p:sp>
            <p:nvSpPr>
              <p:cNvPr id="696" name="Google Shape;696;p31"/>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 name="Google Shape;697;p31"/>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698" name="Google Shape;698;p31"/>
          <p:cNvGrpSpPr/>
          <p:nvPr/>
        </p:nvGrpSpPr>
        <p:grpSpPr>
          <a:xfrm>
            <a:off x="4879295" y="1432418"/>
            <a:ext cx="620713" cy="487363"/>
            <a:chOff x="-44" y="1473"/>
            <a:chExt cx="981" cy="1105"/>
          </a:xfrm>
        </p:grpSpPr>
        <p:pic>
          <p:nvPicPr>
            <p:cNvPr descr="desktop_computer_stylized_medium" id="699" name="Google Shape;699;p3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00" name="Google Shape;700;p3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01" name="Google Shape;701;p31"/>
          <p:cNvGrpSpPr/>
          <p:nvPr/>
        </p:nvGrpSpPr>
        <p:grpSpPr>
          <a:xfrm>
            <a:off x="6687458" y="1413368"/>
            <a:ext cx="336550" cy="512763"/>
            <a:chOff x="4140" y="429"/>
            <a:chExt cx="1425" cy="2396"/>
          </a:xfrm>
        </p:grpSpPr>
        <p:sp>
          <p:nvSpPr>
            <p:cNvPr id="702" name="Google Shape;702;p3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3" name="Google Shape;703;p31"/>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4" name="Google Shape;704;p3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5" name="Google Shape;705;p3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6" name="Google Shape;706;p31"/>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7" name="Google Shape;707;p31"/>
            <p:cNvGrpSpPr/>
            <p:nvPr/>
          </p:nvGrpSpPr>
          <p:grpSpPr>
            <a:xfrm>
              <a:off x="4751" y="666"/>
              <a:ext cx="578" cy="148"/>
              <a:chOff x="617" y="2566"/>
              <a:chExt cx="721" cy="142"/>
            </a:xfrm>
          </p:grpSpPr>
          <p:sp>
            <p:nvSpPr>
              <p:cNvPr id="708" name="Google Shape;708;p31"/>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9" name="Google Shape;709;p31"/>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0" name="Google Shape;710;p31"/>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1" name="Google Shape;711;p31"/>
            <p:cNvGrpSpPr/>
            <p:nvPr/>
          </p:nvGrpSpPr>
          <p:grpSpPr>
            <a:xfrm>
              <a:off x="4745" y="993"/>
              <a:ext cx="585" cy="134"/>
              <a:chOff x="611" y="2567"/>
              <a:chExt cx="730" cy="139"/>
            </a:xfrm>
          </p:grpSpPr>
          <p:sp>
            <p:nvSpPr>
              <p:cNvPr id="712" name="Google Shape;712;p31"/>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 name="Google Shape;713;p31"/>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4" name="Google Shape;714;p31"/>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 name="Google Shape;715;p31"/>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6" name="Google Shape;716;p31"/>
            <p:cNvGrpSpPr/>
            <p:nvPr/>
          </p:nvGrpSpPr>
          <p:grpSpPr>
            <a:xfrm>
              <a:off x="4738" y="1630"/>
              <a:ext cx="578" cy="149"/>
              <a:chOff x="618" y="2571"/>
              <a:chExt cx="720" cy="137"/>
            </a:xfrm>
          </p:grpSpPr>
          <p:sp>
            <p:nvSpPr>
              <p:cNvPr id="717" name="Google Shape;717;p31"/>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 name="Google Shape;718;p31"/>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9" name="Google Shape;719;p3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0" name="Google Shape;720;p31"/>
            <p:cNvGrpSpPr/>
            <p:nvPr/>
          </p:nvGrpSpPr>
          <p:grpSpPr>
            <a:xfrm>
              <a:off x="4738" y="1327"/>
              <a:ext cx="584" cy="141"/>
              <a:chOff x="613" y="2568"/>
              <a:chExt cx="728" cy="141"/>
            </a:xfrm>
          </p:grpSpPr>
          <p:sp>
            <p:nvSpPr>
              <p:cNvPr id="721" name="Google Shape;721;p31"/>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 name="Google Shape;722;p31"/>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3" name="Google Shape;723;p31"/>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 name="Google Shape;724;p3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5" name="Google Shape;725;p3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6" name="Google Shape;726;p31"/>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7" name="Google Shape;727;p3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8" name="Google Shape;728;p31"/>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9" name="Google Shape;729;p31"/>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0" name="Google Shape;730;p31"/>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1" name="Google Shape;731;p31"/>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32" name="Google Shape;732;p31"/>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3" name="Google Shape;733;p31"/>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34" name="Google Shape;734;p31"/>
          <p:cNvGrpSpPr/>
          <p:nvPr/>
        </p:nvGrpSpPr>
        <p:grpSpPr>
          <a:xfrm>
            <a:off x="4917394" y="5539014"/>
            <a:ext cx="1889805" cy="662028"/>
            <a:chOff x="9620023" y="2667000"/>
            <a:chExt cx="1889805" cy="662028"/>
          </a:xfrm>
        </p:grpSpPr>
        <p:cxnSp>
          <p:nvCxnSpPr>
            <p:cNvPr id="735" name="Google Shape;735;p31"/>
            <p:cNvCxnSpPr/>
            <p:nvPr/>
          </p:nvCxnSpPr>
          <p:spPr>
            <a:xfrm flipH="1">
              <a:off x="9620023" y="2667000"/>
              <a:ext cx="1889805" cy="662028"/>
            </a:xfrm>
            <a:prstGeom prst="straightConnector1">
              <a:avLst/>
            </a:prstGeom>
            <a:noFill/>
            <a:ln cap="flat" cmpd="sng" w="28575">
              <a:solidFill>
                <a:srgbClr val="000099"/>
              </a:solidFill>
              <a:prstDash val="solid"/>
              <a:round/>
              <a:headEnd len="med" w="med" type="none"/>
              <a:tailEnd len="med" w="med" type="triangle"/>
            </a:ln>
          </p:spPr>
        </p:cxnSp>
        <p:sp>
          <p:nvSpPr>
            <p:cNvPr id="736" name="Google Shape;736;p31"/>
            <p:cNvSpPr/>
            <p:nvPr/>
          </p:nvSpPr>
          <p:spPr>
            <a:xfrm>
              <a:off x="10132106" y="2824428"/>
              <a:ext cx="855208" cy="39774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7" name="Google Shape;737;p31"/>
            <p:cNvGrpSpPr/>
            <p:nvPr/>
          </p:nvGrpSpPr>
          <p:grpSpPr>
            <a:xfrm>
              <a:off x="9998301" y="2802885"/>
              <a:ext cx="1274763" cy="336550"/>
              <a:chOff x="1065" y="2085"/>
              <a:chExt cx="803" cy="212"/>
            </a:xfrm>
          </p:grpSpPr>
          <p:sp>
            <p:nvSpPr>
              <p:cNvPr id="738" name="Google Shape;738;p31"/>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 name="Google Shape;739;p31"/>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740" name="Google Shape;740;p31"/>
          <p:cNvGrpSpPr/>
          <p:nvPr/>
        </p:nvGrpSpPr>
        <p:grpSpPr>
          <a:xfrm>
            <a:off x="4080329" y="5732236"/>
            <a:ext cx="4134756" cy="1082222"/>
            <a:chOff x="3673928" y="5775778"/>
            <a:chExt cx="4134756" cy="1082222"/>
          </a:xfrm>
        </p:grpSpPr>
        <p:sp>
          <p:nvSpPr>
            <p:cNvPr id="741" name="Google Shape;741;p31"/>
            <p:cNvSpPr/>
            <p:nvPr/>
          </p:nvSpPr>
          <p:spPr>
            <a:xfrm>
              <a:off x="4020455" y="5775778"/>
              <a:ext cx="3788229" cy="1082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42" name="Google Shape;742;p31"/>
            <p:cNvGrpSpPr/>
            <p:nvPr/>
          </p:nvGrpSpPr>
          <p:grpSpPr>
            <a:xfrm>
              <a:off x="3673928" y="5804239"/>
              <a:ext cx="3829958" cy="830263"/>
              <a:chOff x="4588327" y="5819777"/>
              <a:chExt cx="3829958" cy="830263"/>
            </a:xfrm>
          </p:grpSpPr>
          <p:sp>
            <p:nvSpPr>
              <p:cNvPr id="743" name="Google Shape;743;p31"/>
              <p:cNvSpPr txBox="1"/>
              <p:nvPr/>
            </p:nvSpPr>
            <p:spPr>
              <a:xfrm>
                <a:off x="5202012" y="5819777"/>
                <a:ext cx="3216273" cy="83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half open connection! (no client)</a:t>
                </a:r>
                <a:endParaRPr/>
              </a:p>
            </p:txBody>
          </p:sp>
          <p:pic>
            <p:nvPicPr>
              <p:cNvPr descr="A picture containing drawing&#10;&#10;Description automatically generated" id="744" name="Google Shape;744;p31"/>
              <p:cNvPicPr preferRelativeResize="0"/>
              <p:nvPr/>
            </p:nvPicPr>
            <p:blipFill rotWithShape="1">
              <a:blip r:embed="rId4">
                <a:alphaModFix/>
              </a:blip>
              <a:srcRect b="0" l="0" r="0" t="0"/>
              <a:stretch/>
            </p:blipFill>
            <p:spPr>
              <a:xfrm>
                <a:off x="4588327" y="5916386"/>
                <a:ext cx="636815" cy="636815"/>
              </a:xfrm>
              <a:prstGeom prst="rect">
                <a:avLst/>
              </a:prstGeom>
              <a:noFill/>
              <a:ln>
                <a:noFill/>
              </a:ln>
            </p:spPr>
          </p:pic>
        </p:grpSp>
      </p:grpSp>
      <p:sp>
        <p:nvSpPr>
          <p:cNvPr id="745" name="Google Shape;745;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2000"/>
                                        <p:tgtEl>
                                          <p:spTgt spid="6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500"/>
                                        <p:tgtEl>
                                          <p:spTgt spid="6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500"/>
                                        <p:tgtEl>
                                          <p:spTgt spid="6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500"/>
                                        <p:tgtEl>
                                          <p:spTgt spid="6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500"/>
                                        <p:tgtEl>
                                          <p:spTgt spid="7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500"/>
                                        <p:tgtEl>
                                          <p:spTgt spid="7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3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752" name="Google Shape;752;p32"/>
          <p:cNvGrpSpPr/>
          <p:nvPr/>
        </p:nvGrpSpPr>
        <p:grpSpPr>
          <a:xfrm>
            <a:off x="8173174" y="1342839"/>
            <a:ext cx="3933825" cy="4568825"/>
            <a:chOff x="3150" y="1107"/>
            <a:chExt cx="2478" cy="2878"/>
          </a:xfrm>
        </p:grpSpPr>
        <p:cxnSp>
          <p:nvCxnSpPr>
            <p:cNvPr id="753" name="Google Shape;753;p32"/>
            <p:cNvCxnSpPr/>
            <p:nvPr/>
          </p:nvCxnSpPr>
          <p:spPr>
            <a:xfrm flipH="1">
              <a:off x="4822" y="1490"/>
              <a:ext cx="1" cy="2495"/>
            </a:xfrm>
            <a:prstGeom prst="straightConnector1">
              <a:avLst/>
            </a:prstGeom>
            <a:noFill/>
            <a:ln cap="flat" cmpd="sng" w="9525">
              <a:solidFill>
                <a:srgbClr val="777777"/>
              </a:solidFill>
              <a:prstDash val="solid"/>
              <a:round/>
              <a:headEnd len="med" w="med" type="none"/>
              <a:tailEnd len="med" w="med" type="none"/>
            </a:ln>
          </p:spPr>
        </p:cxnSp>
        <p:sp>
          <p:nvSpPr>
            <p:cNvPr id="754" name="Google Shape;754;p32"/>
            <p:cNvSpPr txBox="1"/>
            <p:nvPr/>
          </p:nvSpPr>
          <p:spPr>
            <a:xfrm>
              <a:off x="3150" y="2983"/>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cxnSp>
          <p:nvCxnSpPr>
            <p:cNvPr id="755" name="Google Shape;755;p32"/>
            <p:cNvCxnSpPr/>
            <p:nvPr/>
          </p:nvCxnSpPr>
          <p:spPr>
            <a:xfrm flipH="1">
              <a:off x="3845" y="1451"/>
              <a:ext cx="15" cy="1549"/>
            </a:xfrm>
            <a:prstGeom prst="straightConnector1">
              <a:avLst/>
            </a:prstGeom>
            <a:noFill/>
            <a:ln cap="flat" cmpd="sng" w="9525">
              <a:solidFill>
                <a:srgbClr val="777777"/>
              </a:solidFill>
              <a:prstDash val="solid"/>
              <a:round/>
              <a:headEnd len="med" w="med" type="none"/>
              <a:tailEnd len="med" w="med" type="none"/>
            </a:ln>
          </p:spPr>
        </p:cxnSp>
        <p:cxnSp>
          <p:nvCxnSpPr>
            <p:cNvPr id="756" name="Google Shape;756;p32"/>
            <p:cNvCxnSpPr/>
            <p:nvPr/>
          </p:nvCxnSpPr>
          <p:spPr>
            <a:xfrm flipH="1">
              <a:off x="3850" y="1726"/>
              <a:ext cx="990" cy="602"/>
            </a:xfrm>
            <a:prstGeom prst="straightConnector1">
              <a:avLst/>
            </a:prstGeom>
            <a:noFill/>
            <a:ln cap="flat" cmpd="sng" w="28575">
              <a:solidFill>
                <a:srgbClr val="000099"/>
              </a:solidFill>
              <a:prstDash val="solid"/>
              <a:round/>
              <a:headEnd len="med" w="med" type="none"/>
              <a:tailEnd len="med" w="med" type="triangle"/>
            </a:ln>
          </p:spPr>
        </p:cxnSp>
        <p:sp>
          <p:nvSpPr>
            <p:cNvPr id="757" name="Google Shape;757;p32"/>
            <p:cNvSpPr/>
            <p:nvPr/>
          </p:nvSpPr>
          <p:spPr>
            <a:xfrm>
              <a:off x="4200" y="1761"/>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8" name="Google Shape;758;p32"/>
            <p:cNvSpPr txBox="1"/>
            <p:nvPr/>
          </p:nvSpPr>
          <p:spPr>
            <a:xfrm>
              <a:off x="3312" y="2221"/>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759" name="Google Shape;759;p32"/>
            <p:cNvSpPr/>
            <p:nvPr/>
          </p:nvSpPr>
          <p:spPr>
            <a:xfrm>
              <a:off x="3817" y="2299"/>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760" name="Google Shape;760;p32"/>
            <p:cNvSpPr txBox="1"/>
            <p:nvPr/>
          </p:nvSpPr>
          <p:spPr>
            <a:xfrm>
              <a:off x="3213" y="1380"/>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1" name="Google Shape;761;p32"/>
            <p:cNvCxnSpPr/>
            <p:nvPr/>
          </p:nvCxnSpPr>
          <p:spPr>
            <a:xfrm>
              <a:off x="3888" y="1503"/>
              <a:ext cx="932" cy="199"/>
            </a:xfrm>
            <a:prstGeom prst="straightConnector1">
              <a:avLst/>
            </a:prstGeom>
            <a:noFill/>
            <a:ln cap="flat" cmpd="sng" w="28575">
              <a:solidFill>
                <a:srgbClr val="000099"/>
              </a:solidFill>
              <a:prstDash val="solid"/>
              <a:round/>
              <a:headEnd len="med" w="med" type="none"/>
              <a:tailEnd len="med" w="med" type="triangle"/>
            </a:ln>
          </p:spPr>
        </p:cxnSp>
        <p:sp>
          <p:nvSpPr>
            <p:cNvPr id="762" name="Google Shape;762;p32"/>
            <p:cNvSpPr/>
            <p:nvPr/>
          </p:nvSpPr>
          <p:spPr>
            <a:xfrm>
              <a:off x="4088" y="1494"/>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3" name="Google Shape;763;p32"/>
            <p:cNvSpPr txBox="1"/>
            <p:nvPr/>
          </p:nvSpPr>
          <p:spPr>
            <a:xfrm>
              <a:off x="3943" y="1473"/>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764" name="Google Shape;764;p32"/>
            <p:cNvSpPr txBox="1"/>
            <p:nvPr/>
          </p:nvSpPr>
          <p:spPr>
            <a:xfrm>
              <a:off x="4862" y="1636"/>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765" name="Google Shape;765;p32"/>
            <p:cNvSpPr/>
            <p:nvPr/>
          </p:nvSpPr>
          <p:spPr>
            <a:xfrm>
              <a:off x="4794" y="1710"/>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766" name="Google Shape;766;p32"/>
            <p:cNvGrpSpPr/>
            <p:nvPr/>
          </p:nvGrpSpPr>
          <p:grpSpPr>
            <a:xfrm>
              <a:off x="4006" y="1848"/>
              <a:ext cx="803" cy="212"/>
              <a:chOff x="1065" y="2085"/>
              <a:chExt cx="803" cy="212"/>
            </a:xfrm>
          </p:grpSpPr>
          <p:sp>
            <p:nvSpPr>
              <p:cNvPr id="767" name="Google Shape;767;p32"/>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8" name="Google Shape;768;p32"/>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cxnSp>
          <p:nvCxnSpPr>
            <p:cNvPr id="769" name="Google Shape;769;p32"/>
            <p:cNvCxnSpPr/>
            <p:nvPr/>
          </p:nvCxnSpPr>
          <p:spPr>
            <a:xfrm>
              <a:off x="3877" y="2345"/>
              <a:ext cx="932" cy="199"/>
            </a:xfrm>
            <a:prstGeom prst="straightConnector1">
              <a:avLst/>
            </a:prstGeom>
            <a:noFill/>
            <a:ln cap="flat" cmpd="sng" w="28575">
              <a:solidFill>
                <a:srgbClr val="000099"/>
              </a:solidFill>
              <a:prstDash val="solid"/>
              <a:round/>
              <a:headEnd len="med" w="med" type="none"/>
              <a:tailEnd len="med" w="med" type="triangle"/>
            </a:ln>
          </p:spPr>
        </p:cxnSp>
        <p:sp>
          <p:nvSpPr>
            <p:cNvPr id="770" name="Google Shape;770;p32"/>
            <p:cNvSpPr/>
            <p:nvPr/>
          </p:nvSpPr>
          <p:spPr>
            <a:xfrm>
              <a:off x="4077" y="2336"/>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71" name="Google Shape;771;p32"/>
            <p:cNvSpPr txBox="1"/>
            <p:nvPr/>
          </p:nvSpPr>
          <p:spPr>
            <a:xfrm>
              <a:off x="3989" y="2315"/>
              <a:ext cx="68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772" name="Google Shape;772;p32"/>
            <p:cNvSpPr/>
            <p:nvPr/>
          </p:nvSpPr>
          <p:spPr>
            <a:xfrm>
              <a:off x="4790" y="2524"/>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773" name="Google Shape;773;p32"/>
            <p:cNvSpPr txBox="1"/>
            <p:nvPr/>
          </p:nvSpPr>
          <p:spPr>
            <a:xfrm>
              <a:off x="4890" y="2373"/>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774" name="Google Shape;774;p32"/>
            <p:cNvGrpSpPr/>
            <p:nvPr/>
          </p:nvGrpSpPr>
          <p:grpSpPr>
            <a:xfrm>
              <a:off x="3826" y="2803"/>
              <a:ext cx="1515" cy="300"/>
              <a:chOff x="3818" y="2796"/>
              <a:chExt cx="1515" cy="300"/>
            </a:xfrm>
          </p:grpSpPr>
          <p:cxnSp>
            <p:nvCxnSpPr>
              <p:cNvPr id="775" name="Google Shape;775;p32"/>
              <p:cNvCxnSpPr/>
              <p:nvPr/>
            </p:nvCxnSpPr>
            <p:spPr>
              <a:xfrm>
                <a:off x="3818" y="2951"/>
                <a:ext cx="1515" cy="0"/>
              </a:xfrm>
              <a:prstGeom prst="straightConnector1">
                <a:avLst/>
              </a:prstGeom>
              <a:noFill/>
              <a:ln cap="flat" cmpd="sng" w="28575">
                <a:solidFill>
                  <a:srgbClr val="CC0000"/>
                </a:solidFill>
                <a:prstDash val="dash"/>
                <a:round/>
                <a:headEnd len="med" w="med" type="none"/>
                <a:tailEnd len="med" w="med" type="none"/>
              </a:ln>
            </p:spPr>
          </p:cxnSp>
          <p:sp>
            <p:nvSpPr>
              <p:cNvPr id="776" name="Google Shape;776;p32"/>
              <p:cNvSpPr txBox="1"/>
              <p:nvPr/>
            </p:nvSpPr>
            <p:spPr>
              <a:xfrm>
                <a:off x="3989" y="2796"/>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sp>
          <p:nvSpPr>
            <p:cNvPr id="777" name="Google Shape;777;p32"/>
            <p:cNvSpPr txBox="1"/>
            <p:nvPr/>
          </p:nvSpPr>
          <p:spPr>
            <a:xfrm>
              <a:off x="4830" y="2962"/>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grpSp>
          <p:nvGrpSpPr>
            <p:cNvPr id="778" name="Google Shape;778;p32"/>
            <p:cNvGrpSpPr/>
            <p:nvPr/>
          </p:nvGrpSpPr>
          <p:grpSpPr>
            <a:xfrm>
              <a:off x="3570" y="1119"/>
              <a:ext cx="391" cy="307"/>
              <a:chOff x="-44" y="1473"/>
              <a:chExt cx="981" cy="1105"/>
            </a:xfrm>
          </p:grpSpPr>
          <p:pic>
            <p:nvPicPr>
              <p:cNvPr descr="desktop_computer_stylized_medium" id="779" name="Google Shape;779;p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80" name="Google Shape;780;p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81" name="Google Shape;781;p32"/>
            <p:cNvGrpSpPr/>
            <p:nvPr/>
          </p:nvGrpSpPr>
          <p:grpSpPr>
            <a:xfrm>
              <a:off x="4709" y="1107"/>
              <a:ext cx="212" cy="323"/>
              <a:chOff x="4140" y="429"/>
              <a:chExt cx="1425" cy="2396"/>
            </a:xfrm>
          </p:grpSpPr>
          <p:sp>
            <p:nvSpPr>
              <p:cNvPr id="782" name="Google Shape;782;p3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 name="Google Shape;783;p3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 name="Google Shape;784;p3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 name="Google Shape;785;p3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 name="Google Shape;786;p3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7" name="Google Shape;787;p32"/>
              <p:cNvGrpSpPr/>
              <p:nvPr/>
            </p:nvGrpSpPr>
            <p:grpSpPr>
              <a:xfrm>
                <a:off x="4751" y="666"/>
                <a:ext cx="578" cy="148"/>
                <a:chOff x="617" y="2566"/>
                <a:chExt cx="721" cy="142"/>
              </a:xfrm>
            </p:grpSpPr>
            <p:sp>
              <p:nvSpPr>
                <p:cNvPr id="788" name="Google Shape;788;p3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9" name="Google Shape;789;p3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0" name="Google Shape;790;p3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1" name="Google Shape;791;p32"/>
              <p:cNvGrpSpPr/>
              <p:nvPr/>
            </p:nvGrpSpPr>
            <p:grpSpPr>
              <a:xfrm>
                <a:off x="4745" y="993"/>
                <a:ext cx="585" cy="134"/>
                <a:chOff x="611" y="2567"/>
                <a:chExt cx="730" cy="139"/>
              </a:xfrm>
            </p:grpSpPr>
            <p:sp>
              <p:nvSpPr>
                <p:cNvPr id="792" name="Google Shape;792;p3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 name="Google Shape;793;p3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4" name="Google Shape;794;p3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 name="Google Shape;795;p3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6" name="Google Shape;796;p32"/>
              <p:cNvGrpSpPr/>
              <p:nvPr/>
            </p:nvGrpSpPr>
            <p:grpSpPr>
              <a:xfrm>
                <a:off x="4738" y="1630"/>
                <a:ext cx="578" cy="149"/>
                <a:chOff x="618" y="2571"/>
                <a:chExt cx="720" cy="137"/>
              </a:xfrm>
            </p:grpSpPr>
            <p:sp>
              <p:nvSpPr>
                <p:cNvPr id="797" name="Google Shape;797;p3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8" name="Google Shape;798;p3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9" name="Google Shape;799;p3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00" name="Google Shape;800;p32"/>
              <p:cNvGrpSpPr/>
              <p:nvPr/>
            </p:nvGrpSpPr>
            <p:grpSpPr>
              <a:xfrm>
                <a:off x="4738" y="1327"/>
                <a:ext cx="584" cy="141"/>
                <a:chOff x="613" y="2568"/>
                <a:chExt cx="728" cy="141"/>
              </a:xfrm>
            </p:grpSpPr>
            <p:sp>
              <p:nvSpPr>
                <p:cNvPr id="801" name="Google Shape;801;p3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2" name="Google Shape;802;p3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03" name="Google Shape;803;p3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4" name="Google Shape;804;p3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5" name="Google Shape;805;p3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6" name="Google Shape;806;p3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7" name="Google Shape;807;p3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8" name="Google Shape;808;p3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9" name="Google Shape;809;p3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 name="Google Shape;810;p3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 name="Google Shape;811;p3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12" name="Google Shape;812;p3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 name="Google Shape;813;p3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814" name="Google Shape;814;p32"/>
          <p:cNvGrpSpPr/>
          <p:nvPr/>
        </p:nvGrpSpPr>
        <p:grpSpPr>
          <a:xfrm>
            <a:off x="9120415" y="5983461"/>
            <a:ext cx="3548742" cy="830997"/>
            <a:chOff x="8757558" y="5903267"/>
            <a:chExt cx="3548742" cy="830997"/>
          </a:xfrm>
        </p:grpSpPr>
        <p:sp>
          <p:nvSpPr>
            <p:cNvPr id="815" name="Google Shape;815;p32"/>
            <p:cNvSpPr txBox="1"/>
            <p:nvPr/>
          </p:nvSpPr>
          <p:spPr>
            <a:xfrm>
              <a:off x="9372601" y="5903267"/>
              <a:ext cx="293369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dup data</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accepted!</a:t>
              </a:r>
              <a:endParaRPr/>
            </a:p>
          </p:txBody>
        </p:sp>
        <p:pic>
          <p:nvPicPr>
            <p:cNvPr descr="A picture containing drawing&#10;&#10;Description automatically generated" id="816" name="Google Shape;816;p32"/>
            <p:cNvPicPr preferRelativeResize="0"/>
            <p:nvPr/>
          </p:nvPicPr>
          <p:blipFill rotWithShape="1">
            <a:blip r:embed="rId4">
              <a:alphaModFix/>
            </a:blip>
            <a:srcRect b="0" l="0" r="0" t="0"/>
            <a:stretch/>
          </p:blipFill>
          <p:spPr>
            <a:xfrm>
              <a:off x="8757558" y="6003472"/>
              <a:ext cx="636815" cy="636815"/>
            </a:xfrm>
            <a:prstGeom prst="rect">
              <a:avLst/>
            </a:prstGeom>
            <a:noFill/>
            <a:ln>
              <a:noFill/>
            </a:ln>
          </p:spPr>
        </p:pic>
      </p:grpSp>
      <p:grpSp>
        <p:nvGrpSpPr>
          <p:cNvPr id="817" name="Google Shape;817;p32"/>
          <p:cNvGrpSpPr/>
          <p:nvPr/>
        </p:nvGrpSpPr>
        <p:grpSpPr>
          <a:xfrm>
            <a:off x="8091532" y="3683267"/>
            <a:ext cx="3997325" cy="2365375"/>
            <a:chOff x="3185703" y="3422010"/>
            <a:chExt cx="3997325" cy="2365375"/>
          </a:xfrm>
        </p:grpSpPr>
        <p:sp>
          <p:nvSpPr>
            <p:cNvPr id="818" name="Google Shape;818;p32"/>
            <p:cNvSpPr/>
            <p:nvPr/>
          </p:nvSpPr>
          <p:spPr>
            <a:xfrm>
              <a:off x="4431891" y="3661722"/>
              <a:ext cx="1501775" cy="1897063"/>
            </a:xfrm>
            <a:custGeom>
              <a:rect b="b" l="l" r="r" t="t"/>
              <a:pathLst>
                <a:path extrusionOk="0" h="1195" w="946">
                  <a:moveTo>
                    <a:pt x="0" y="15"/>
                  </a:moveTo>
                  <a:cubicBezTo>
                    <a:pt x="32" y="40"/>
                    <a:pt x="114" y="0"/>
                    <a:pt x="199" y="164"/>
                  </a:cubicBezTo>
                  <a:cubicBezTo>
                    <a:pt x="284" y="328"/>
                    <a:pt x="195" y="798"/>
                    <a:pt x="320" y="960"/>
                  </a:cubicBezTo>
                  <a:cubicBezTo>
                    <a:pt x="477" y="1195"/>
                    <a:pt x="816" y="1101"/>
                    <a:pt x="946" y="1138"/>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9" name="Google Shape;819;p32"/>
            <p:cNvSpPr/>
            <p:nvPr/>
          </p:nvSpPr>
          <p:spPr>
            <a:xfrm>
              <a:off x="4782728" y="5196835"/>
              <a:ext cx="711200" cy="282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0" name="Google Shape;820;p32"/>
            <p:cNvSpPr txBox="1"/>
            <p:nvPr/>
          </p:nvSpPr>
          <p:spPr>
            <a:xfrm>
              <a:off x="4468403" y="5152385"/>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821" name="Google Shape;821;p32"/>
            <p:cNvSpPr txBox="1"/>
            <p:nvPr/>
          </p:nvSpPr>
          <p:spPr>
            <a:xfrm>
              <a:off x="3185703" y="3422010"/>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22" name="Google Shape;822;p32"/>
            <p:cNvSpPr txBox="1"/>
            <p:nvPr/>
          </p:nvSpPr>
          <p:spPr>
            <a:xfrm>
              <a:off x="6011453" y="5279385"/>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grpSp>
        <p:nvGrpSpPr>
          <p:cNvPr id="823" name="Google Shape;823;p32"/>
          <p:cNvGrpSpPr/>
          <p:nvPr/>
        </p:nvGrpSpPr>
        <p:grpSpPr>
          <a:xfrm>
            <a:off x="7997186" y="2493962"/>
            <a:ext cx="3646488" cy="2992438"/>
            <a:chOff x="3134903" y="2369497"/>
            <a:chExt cx="3646488" cy="2992438"/>
          </a:xfrm>
        </p:grpSpPr>
        <p:grpSp>
          <p:nvGrpSpPr>
            <p:cNvPr id="824" name="Google Shape;824;p32"/>
            <p:cNvGrpSpPr/>
            <p:nvPr/>
          </p:nvGrpSpPr>
          <p:grpSpPr>
            <a:xfrm>
              <a:off x="3134903" y="2369497"/>
              <a:ext cx="3646488" cy="2992438"/>
              <a:chOff x="3134903" y="2369497"/>
              <a:chExt cx="3646488" cy="2992438"/>
            </a:xfrm>
          </p:grpSpPr>
          <p:grpSp>
            <p:nvGrpSpPr>
              <p:cNvPr id="825" name="Google Shape;825;p32"/>
              <p:cNvGrpSpPr/>
              <p:nvPr/>
            </p:nvGrpSpPr>
            <p:grpSpPr>
              <a:xfrm>
                <a:off x="3134903" y="2369497"/>
                <a:ext cx="3646488" cy="2992438"/>
                <a:chOff x="3134903" y="2369497"/>
                <a:chExt cx="3646488" cy="2992438"/>
              </a:xfrm>
            </p:grpSpPr>
            <p:sp>
              <p:nvSpPr>
                <p:cNvPr id="826" name="Google Shape;826;p32"/>
                <p:cNvSpPr txBox="1"/>
                <p:nvPr/>
              </p:nvSpPr>
              <p:spPr>
                <a:xfrm>
                  <a:off x="3134903" y="2369497"/>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27" name="Google Shape;827;p32"/>
                <p:cNvSpPr/>
                <p:nvPr/>
              </p:nvSpPr>
              <p:spPr>
                <a:xfrm>
                  <a:off x="4449353" y="2671122"/>
                  <a:ext cx="1527175" cy="2559050"/>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8" name="Google Shape;828;p32"/>
                <p:cNvSpPr txBox="1"/>
                <p:nvPr/>
              </p:nvSpPr>
              <p:spPr>
                <a:xfrm>
                  <a:off x="6009866" y="502538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sp>
            <p:nvSpPr>
              <p:cNvPr id="829" name="Google Shape;829;p32"/>
              <p:cNvSpPr/>
              <p:nvPr/>
            </p:nvSpPr>
            <p:spPr>
              <a:xfrm>
                <a:off x="5933666" y="5152385"/>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830" name="Google Shape;830;p32"/>
            <p:cNvSpPr/>
            <p:nvPr/>
          </p:nvSpPr>
          <p:spPr>
            <a:xfrm>
              <a:off x="4660491" y="4725570"/>
              <a:ext cx="1071563" cy="2603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1" name="Google Shape;831;p32"/>
            <p:cNvSpPr txBox="1"/>
            <p:nvPr/>
          </p:nvSpPr>
          <p:spPr>
            <a:xfrm>
              <a:off x="4768441" y="4650731"/>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sp>
        <p:nvSpPr>
          <p:cNvPr id="832" name="Google Shape;832;p32"/>
          <p:cNvSpPr/>
          <p:nvPr/>
        </p:nvSpPr>
        <p:spPr>
          <a:xfrm>
            <a:off x="7997371" y="1857830"/>
            <a:ext cx="4194629" cy="3062514"/>
          </a:xfrm>
          <a:custGeom>
            <a:rect b="b" l="l" r="r" t="t"/>
            <a:pathLst>
              <a:path extrusionOk="0" h="3062514" w="4194629">
                <a:moveTo>
                  <a:pt x="0" y="29028"/>
                </a:moveTo>
                <a:lnTo>
                  <a:pt x="1320800" y="0"/>
                </a:lnTo>
                <a:lnTo>
                  <a:pt x="1915886" y="29028"/>
                </a:lnTo>
                <a:lnTo>
                  <a:pt x="3294743" y="72571"/>
                </a:lnTo>
                <a:lnTo>
                  <a:pt x="4194629" y="58057"/>
                </a:lnTo>
                <a:lnTo>
                  <a:pt x="4165600" y="3062514"/>
                </a:lnTo>
                <a:lnTo>
                  <a:pt x="3773715" y="2510971"/>
                </a:lnTo>
                <a:lnTo>
                  <a:pt x="3570515" y="2481942"/>
                </a:lnTo>
                <a:lnTo>
                  <a:pt x="2902857" y="2496457"/>
                </a:lnTo>
                <a:lnTo>
                  <a:pt x="2540001" y="2772228"/>
                </a:lnTo>
                <a:lnTo>
                  <a:pt x="1393372" y="3004456"/>
                </a:lnTo>
                <a:lnTo>
                  <a:pt x="29028" y="3033485"/>
                </a:lnTo>
                <a:lnTo>
                  <a:pt x="0" y="29028"/>
                </a:lnTo>
                <a:close/>
              </a:path>
            </a:pathLst>
          </a:custGeom>
          <a:solidFill>
            <a:schemeClr val="lt1">
              <a:alpha val="9490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7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500"/>
                                        <p:tgtEl>
                                          <p:spTgt spid="8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gtEl>
                                        <p:attrNameLst>
                                          <p:attrName>style.visibility</p:attrName>
                                        </p:attrNameLst>
                                      </p:cBhvr>
                                      <p:to>
                                        <p:strVal val="visible"/>
                                      </p:to>
                                    </p:set>
                                    <p:animEffect filter="fade" transition="in">
                                      <p:cBhvr>
                                        <p:cTn dur="500"/>
                                        <p:tgtEl>
                                          <p:spTgt spid="8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
                                        </p:tgtEl>
                                        <p:attrNameLst>
                                          <p:attrName>style.visibility</p:attrName>
                                        </p:attrNameLst>
                                      </p:cBhvr>
                                      <p:to>
                                        <p:strVal val="visible"/>
                                      </p:to>
                                    </p:set>
                                    <p:animEffect filter="fade" transition="in">
                                      <p:cBhvr>
                                        <p:cTn dur="500"/>
                                        <p:tgtEl>
                                          <p:spTgt spid="8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
                                        </p:tgtEl>
                                        <p:attrNameLst>
                                          <p:attrName>style.visibility</p:attrName>
                                        </p:attrNameLst>
                                      </p:cBhvr>
                                      <p:to>
                                        <p:strVal val="visible"/>
                                      </p:to>
                                    </p:set>
                                    <p:animEffect filter="fade" transition="in">
                                      <p:cBhvr>
                                        <p:cTn dur="500"/>
                                        <p:tgtEl>
                                          <p:spTgt spid="8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3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a:t>
            </a:r>
            <a:endParaRPr b="0" sz="4400"/>
          </a:p>
        </p:txBody>
      </p:sp>
      <p:cxnSp>
        <p:nvCxnSpPr>
          <p:cNvPr id="839" name="Google Shape;839;p33"/>
          <p:cNvCxnSpPr/>
          <p:nvPr/>
        </p:nvCxnSpPr>
        <p:spPr>
          <a:xfrm flipH="1">
            <a:off x="4796631" y="3078661"/>
            <a:ext cx="1588" cy="2470150"/>
          </a:xfrm>
          <a:prstGeom prst="straightConnector1">
            <a:avLst/>
          </a:prstGeom>
          <a:noFill/>
          <a:ln cap="flat" cmpd="sng" w="9525">
            <a:solidFill>
              <a:srgbClr val="777777"/>
            </a:solidFill>
            <a:prstDash val="solid"/>
            <a:round/>
            <a:headEnd len="med" w="med" type="none"/>
            <a:tailEnd len="med" w="med" type="none"/>
          </a:ln>
        </p:spPr>
      </p:cxnSp>
      <p:grpSp>
        <p:nvGrpSpPr>
          <p:cNvPr id="840" name="Google Shape;840;p33"/>
          <p:cNvGrpSpPr/>
          <p:nvPr/>
        </p:nvGrpSpPr>
        <p:grpSpPr>
          <a:xfrm>
            <a:off x="2335999" y="2977025"/>
            <a:ext cx="4968882" cy="984286"/>
            <a:chOff x="511" y="1345"/>
            <a:chExt cx="3130" cy="620"/>
          </a:xfrm>
        </p:grpSpPr>
        <p:cxnSp>
          <p:nvCxnSpPr>
            <p:cNvPr id="841" name="Google Shape;841;p33"/>
            <p:cNvCxnSpPr/>
            <p:nvPr/>
          </p:nvCxnSpPr>
          <p:spPr>
            <a:xfrm>
              <a:off x="2062" y="1502"/>
              <a:ext cx="1579" cy="463"/>
            </a:xfrm>
            <a:prstGeom prst="straightConnector1">
              <a:avLst/>
            </a:prstGeom>
            <a:noFill/>
            <a:ln cap="flat" cmpd="sng" w="28575">
              <a:solidFill>
                <a:srgbClr val="000099"/>
              </a:solidFill>
              <a:prstDash val="solid"/>
              <a:round/>
              <a:headEnd len="med" w="med" type="none"/>
              <a:tailEnd len="med" w="med" type="triangle"/>
            </a:ln>
          </p:spPr>
        </p:cxnSp>
        <p:sp>
          <p:nvSpPr>
            <p:cNvPr id="842" name="Google Shape;842;p33"/>
            <p:cNvSpPr/>
            <p:nvPr/>
          </p:nvSpPr>
          <p:spPr>
            <a:xfrm>
              <a:off x="2518" y="1565"/>
              <a:ext cx="590"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3" name="Google Shape;843;p33"/>
            <p:cNvSpPr txBox="1"/>
            <p:nvPr/>
          </p:nvSpPr>
          <p:spPr>
            <a:xfrm>
              <a:off x="2310" y="1624"/>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Seq=x</a:t>
              </a:r>
              <a:endParaRPr/>
            </a:p>
          </p:txBody>
        </p:sp>
        <p:sp>
          <p:nvSpPr>
            <p:cNvPr id="844" name="Google Shape;844;p33"/>
            <p:cNvSpPr txBox="1"/>
            <p:nvPr/>
          </p:nvSpPr>
          <p:spPr>
            <a:xfrm>
              <a:off x="511" y="1345"/>
              <a:ext cx="1500"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x</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 msg</a:t>
              </a:r>
              <a:endParaRPr/>
            </a:p>
          </p:txBody>
        </p:sp>
      </p:grpSp>
      <p:cxnSp>
        <p:nvCxnSpPr>
          <p:cNvPr id="845" name="Google Shape;845;p33"/>
          <p:cNvCxnSpPr/>
          <p:nvPr/>
        </p:nvCxnSpPr>
        <p:spPr>
          <a:xfrm flipH="1">
            <a:off x="7385844" y="3148511"/>
            <a:ext cx="1587" cy="3417888"/>
          </a:xfrm>
          <a:prstGeom prst="straightConnector1">
            <a:avLst/>
          </a:prstGeom>
          <a:noFill/>
          <a:ln cap="flat" cmpd="sng" w="9525">
            <a:solidFill>
              <a:srgbClr val="777777"/>
            </a:solidFill>
            <a:prstDash val="solid"/>
            <a:round/>
            <a:headEnd len="med" w="med" type="none"/>
            <a:tailEnd len="med" w="med" type="none"/>
          </a:ln>
        </p:spPr>
      </p:cxnSp>
      <p:sp>
        <p:nvSpPr>
          <p:cNvPr id="846" name="Google Shape;846;p33"/>
          <p:cNvSpPr txBox="1"/>
          <p:nvPr/>
        </p:nvSpPr>
        <p:spPr>
          <a:xfrm>
            <a:off x="9571831" y="5986961"/>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nvGrpSpPr>
          <p:cNvPr id="847" name="Google Shape;847;p33"/>
          <p:cNvGrpSpPr/>
          <p:nvPr/>
        </p:nvGrpSpPr>
        <p:grpSpPr>
          <a:xfrm>
            <a:off x="4795044" y="3675561"/>
            <a:ext cx="4519612" cy="1425575"/>
            <a:chOff x="2060" y="1785"/>
            <a:chExt cx="2847" cy="898"/>
          </a:xfrm>
        </p:grpSpPr>
        <p:cxnSp>
          <p:nvCxnSpPr>
            <p:cNvPr id="848" name="Google Shape;848;p33"/>
            <p:cNvCxnSpPr/>
            <p:nvPr/>
          </p:nvCxnSpPr>
          <p:spPr>
            <a:xfrm flipH="1">
              <a:off x="2060" y="2031"/>
              <a:ext cx="1580" cy="652"/>
            </a:xfrm>
            <a:prstGeom prst="straightConnector1">
              <a:avLst/>
            </a:prstGeom>
            <a:noFill/>
            <a:ln cap="flat" cmpd="sng" w="28575">
              <a:solidFill>
                <a:srgbClr val="000099"/>
              </a:solidFill>
              <a:prstDash val="solid"/>
              <a:round/>
              <a:headEnd len="med" w="med" type="none"/>
              <a:tailEnd len="med" w="med" type="triangle"/>
            </a:ln>
          </p:spPr>
        </p:cxnSp>
        <p:sp>
          <p:nvSpPr>
            <p:cNvPr id="849" name="Google Shape;849;p33"/>
            <p:cNvSpPr/>
            <p:nvPr/>
          </p:nvSpPr>
          <p:spPr>
            <a:xfrm>
              <a:off x="2381" y="2206"/>
              <a:ext cx="896" cy="32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 name="Google Shape;850;p33"/>
            <p:cNvSpPr txBox="1"/>
            <p:nvPr/>
          </p:nvSpPr>
          <p:spPr>
            <a:xfrm>
              <a:off x="2159" y="2169"/>
              <a:ext cx="1534"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Seq=y</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ACKnum=x+1</a:t>
              </a:r>
              <a:endParaRPr/>
            </a:p>
          </p:txBody>
        </p:sp>
        <p:sp>
          <p:nvSpPr>
            <p:cNvPr id="851" name="Google Shape;851;p33"/>
            <p:cNvSpPr txBox="1"/>
            <p:nvPr/>
          </p:nvSpPr>
          <p:spPr>
            <a:xfrm>
              <a:off x="3676" y="1785"/>
              <a:ext cx="1231" cy="42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y</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SYNACK</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msg, acking SYN</a:t>
              </a:r>
              <a:endParaRPr/>
            </a:p>
          </p:txBody>
        </p:sp>
      </p:grpSp>
      <p:grpSp>
        <p:nvGrpSpPr>
          <p:cNvPr id="852" name="Google Shape;852;p33"/>
          <p:cNvGrpSpPr/>
          <p:nvPr/>
        </p:nvGrpSpPr>
        <p:grpSpPr>
          <a:xfrm>
            <a:off x="2512219" y="4774111"/>
            <a:ext cx="6630987" cy="1373188"/>
            <a:chOff x="622" y="2477"/>
            <a:chExt cx="4177" cy="865"/>
          </a:xfrm>
        </p:grpSpPr>
        <p:cxnSp>
          <p:nvCxnSpPr>
            <p:cNvPr id="853" name="Google Shape;853;p33"/>
            <p:cNvCxnSpPr/>
            <p:nvPr/>
          </p:nvCxnSpPr>
          <p:spPr>
            <a:xfrm>
              <a:off x="2073" y="2728"/>
              <a:ext cx="1579" cy="463"/>
            </a:xfrm>
            <a:prstGeom prst="straightConnector1">
              <a:avLst/>
            </a:prstGeom>
            <a:noFill/>
            <a:ln cap="flat" cmpd="sng" w="28575">
              <a:solidFill>
                <a:srgbClr val="000099"/>
              </a:solidFill>
              <a:prstDash val="solid"/>
              <a:round/>
              <a:headEnd len="med" w="med" type="none"/>
              <a:tailEnd len="med" w="med" type="triangle"/>
            </a:ln>
          </p:spPr>
        </p:cxnSp>
        <p:sp>
          <p:nvSpPr>
            <p:cNvPr id="854" name="Google Shape;854;p33"/>
            <p:cNvSpPr/>
            <p:nvPr/>
          </p:nvSpPr>
          <p:spPr>
            <a:xfrm>
              <a:off x="2486" y="2806"/>
              <a:ext cx="775"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5" name="Google Shape;855;p33"/>
            <p:cNvSpPr txBox="1"/>
            <p:nvPr/>
          </p:nvSpPr>
          <p:spPr>
            <a:xfrm>
              <a:off x="2092" y="2852"/>
              <a:ext cx="15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ACKnum=y+1</a:t>
              </a:r>
              <a:endParaRPr/>
            </a:p>
          </p:txBody>
        </p:sp>
        <p:sp>
          <p:nvSpPr>
            <p:cNvPr id="856" name="Google Shape;856;p33"/>
            <p:cNvSpPr txBox="1"/>
            <p:nvPr/>
          </p:nvSpPr>
          <p:spPr>
            <a:xfrm>
              <a:off x="622" y="2477"/>
              <a:ext cx="1422" cy="663"/>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SYNACK(x)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server is live;</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ACK for SYNACK;</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this segment may contain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client-to-server data</a:t>
              </a:r>
              <a:endParaRPr/>
            </a:p>
          </p:txBody>
        </p:sp>
        <p:sp>
          <p:nvSpPr>
            <p:cNvPr id="857" name="Google Shape;857;p33"/>
            <p:cNvSpPr txBox="1"/>
            <p:nvPr/>
          </p:nvSpPr>
          <p:spPr>
            <a:xfrm>
              <a:off x="3640" y="3042"/>
              <a:ext cx="1159"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ACK(y)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client is live</a:t>
              </a:r>
              <a:endParaRPr/>
            </a:p>
          </p:txBody>
        </p:sp>
      </p:grpSp>
      <p:grpSp>
        <p:nvGrpSpPr>
          <p:cNvPr id="858" name="Google Shape;858;p33"/>
          <p:cNvGrpSpPr/>
          <p:nvPr/>
        </p:nvGrpSpPr>
        <p:grpSpPr>
          <a:xfrm>
            <a:off x="1395203" y="3043736"/>
            <a:ext cx="1428749" cy="839788"/>
            <a:chOff x="-82" y="1387"/>
            <a:chExt cx="900" cy="529"/>
          </a:xfrm>
        </p:grpSpPr>
        <p:sp>
          <p:nvSpPr>
            <p:cNvPr id="859" name="Google Shape;859;p33"/>
            <p:cNvSpPr txBox="1"/>
            <p:nvPr/>
          </p:nvSpPr>
          <p:spPr>
            <a:xfrm>
              <a:off x="-82" y="1616"/>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SYNSENT</a:t>
              </a:r>
              <a:endParaRPr/>
            </a:p>
          </p:txBody>
        </p:sp>
        <p:cxnSp>
          <p:nvCxnSpPr>
            <p:cNvPr id="860" name="Google Shape;860;p33"/>
            <p:cNvCxnSpPr/>
            <p:nvPr/>
          </p:nvCxnSpPr>
          <p:spPr>
            <a:xfrm>
              <a:off x="462" y="1387"/>
              <a:ext cx="0" cy="277"/>
            </a:xfrm>
            <a:prstGeom prst="straightConnector1">
              <a:avLst/>
            </a:prstGeom>
            <a:noFill/>
            <a:ln cap="flat" cmpd="sng" w="9525">
              <a:solidFill>
                <a:srgbClr val="000000"/>
              </a:solidFill>
              <a:prstDash val="solid"/>
              <a:round/>
              <a:headEnd len="med" w="med" type="none"/>
              <a:tailEnd len="med" w="med" type="triangle"/>
            </a:ln>
          </p:spPr>
        </p:cxnSp>
      </p:grpSp>
      <p:grpSp>
        <p:nvGrpSpPr>
          <p:cNvPr id="861" name="Google Shape;861;p33"/>
          <p:cNvGrpSpPr/>
          <p:nvPr/>
        </p:nvGrpSpPr>
        <p:grpSpPr>
          <a:xfrm>
            <a:off x="1815306" y="3704136"/>
            <a:ext cx="771525" cy="1622425"/>
            <a:chOff x="183" y="1803"/>
            <a:chExt cx="486" cy="1022"/>
          </a:xfrm>
        </p:grpSpPr>
        <p:sp>
          <p:nvSpPr>
            <p:cNvPr id="862" name="Google Shape;862;p33"/>
            <p:cNvSpPr txBox="1"/>
            <p:nvPr/>
          </p:nvSpPr>
          <p:spPr>
            <a:xfrm>
              <a:off x="183" y="2613"/>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cxnSp>
          <p:nvCxnSpPr>
            <p:cNvPr id="863" name="Google Shape;863;p33"/>
            <p:cNvCxnSpPr/>
            <p:nvPr/>
          </p:nvCxnSpPr>
          <p:spPr>
            <a:xfrm>
              <a:off x="465" y="1803"/>
              <a:ext cx="0" cy="797"/>
            </a:xfrm>
            <a:prstGeom prst="straightConnector1">
              <a:avLst/>
            </a:prstGeom>
            <a:noFill/>
            <a:ln cap="flat" cmpd="sng" w="9525">
              <a:solidFill>
                <a:srgbClr val="000000"/>
              </a:solidFill>
              <a:prstDash val="solid"/>
              <a:round/>
              <a:headEnd len="med" w="med" type="none"/>
              <a:tailEnd len="med" w="med" type="triangle"/>
            </a:ln>
          </p:spPr>
        </p:cxnSp>
      </p:grpSp>
      <p:grpSp>
        <p:nvGrpSpPr>
          <p:cNvPr id="864" name="Google Shape;864;p33"/>
          <p:cNvGrpSpPr/>
          <p:nvPr/>
        </p:nvGrpSpPr>
        <p:grpSpPr>
          <a:xfrm>
            <a:off x="9268619" y="3099299"/>
            <a:ext cx="1119187" cy="1192212"/>
            <a:chOff x="4878" y="1422"/>
            <a:chExt cx="705" cy="751"/>
          </a:xfrm>
        </p:grpSpPr>
        <p:sp>
          <p:nvSpPr>
            <p:cNvPr id="865" name="Google Shape;865;p33"/>
            <p:cNvSpPr txBox="1"/>
            <p:nvPr/>
          </p:nvSpPr>
          <p:spPr>
            <a:xfrm>
              <a:off x="4878" y="1961"/>
              <a:ext cx="705"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 RCVD</a:t>
              </a:r>
              <a:endParaRPr/>
            </a:p>
          </p:txBody>
        </p:sp>
        <p:cxnSp>
          <p:nvCxnSpPr>
            <p:cNvPr id="866" name="Google Shape;866;p33"/>
            <p:cNvCxnSpPr/>
            <p:nvPr/>
          </p:nvCxnSpPr>
          <p:spPr>
            <a:xfrm>
              <a:off x="5339" y="1422"/>
              <a:ext cx="0" cy="569"/>
            </a:xfrm>
            <a:prstGeom prst="straightConnector1">
              <a:avLst/>
            </a:prstGeom>
            <a:noFill/>
            <a:ln cap="flat" cmpd="sng" w="9525">
              <a:solidFill>
                <a:srgbClr val="000000"/>
              </a:solidFill>
              <a:prstDash val="solid"/>
              <a:round/>
              <a:headEnd len="med" w="med" type="none"/>
              <a:tailEnd len="med" w="med" type="triangle"/>
            </a:ln>
          </p:spPr>
        </p:cxnSp>
      </p:grpSp>
      <p:cxnSp>
        <p:nvCxnSpPr>
          <p:cNvPr id="867" name="Google Shape;867;p33"/>
          <p:cNvCxnSpPr/>
          <p:nvPr/>
        </p:nvCxnSpPr>
        <p:spPr>
          <a:xfrm>
            <a:off x="9982994" y="4301036"/>
            <a:ext cx="0" cy="1704975"/>
          </a:xfrm>
          <a:prstGeom prst="straightConnector1">
            <a:avLst/>
          </a:prstGeom>
          <a:noFill/>
          <a:ln cap="flat" cmpd="sng" w="9525">
            <a:solidFill>
              <a:srgbClr val="000000"/>
            </a:solidFill>
            <a:prstDash val="solid"/>
            <a:round/>
            <a:headEnd len="med" w="med" type="none"/>
            <a:tailEnd len="med" w="med" type="triangle"/>
          </a:ln>
        </p:spPr>
      </p:cxnSp>
      <p:sp>
        <p:nvSpPr>
          <p:cNvPr id="868" name="Google Shape;868;p33"/>
          <p:cNvSpPr txBox="1"/>
          <p:nvPr/>
        </p:nvSpPr>
        <p:spPr>
          <a:xfrm>
            <a:off x="1395197" y="1675748"/>
            <a:ext cx="183903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Client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869" name="Google Shape;869;p33"/>
          <p:cNvSpPr txBox="1"/>
          <p:nvPr/>
        </p:nvSpPr>
        <p:spPr>
          <a:xfrm>
            <a:off x="1807368" y="2389622"/>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sp>
        <p:nvSpPr>
          <p:cNvPr id="870" name="Google Shape;870;p33"/>
          <p:cNvSpPr txBox="1"/>
          <p:nvPr/>
        </p:nvSpPr>
        <p:spPr>
          <a:xfrm>
            <a:off x="8905645" y="1081958"/>
            <a:ext cx="193040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Server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871" name="Google Shape;871;p33"/>
          <p:cNvSpPr txBox="1"/>
          <p:nvPr/>
        </p:nvSpPr>
        <p:spPr>
          <a:xfrm>
            <a:off x="9511504" y="2632510"/>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grpSp>
        <p:nvGrpSpPr>
          <p:cNvPr id="872" name="Google Shape;872;p33"/>
          <p:cNvGrpSpPr/>
          <p:nvPr/>
        </p:nvGrpSpPr>
        <p:grpSpPr>
          <a:xfrm>
            <a:off x="4464473" y="2492809"/>
            <a:ext cx="642937" cy="600075"/>
            <a:chOff x="-44" y="1473"/>
            <a:chExt cx="981" cy="1105"/>
          </a:xfrm>
        </p:grpSpPr>
        <p:pic>
          <p:nvPicPr>
            <p:cNvPr descr="desktop_computer_stylized_medium" id="873" name="Google Shape;873;p3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74" name="Google Shape;874;p3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75" name="Google Shape;875;p33"/>
          <p:cNvGrpSpPr/>
          <p:nvPr/>
        </p:nvGrpSpPr>
        <p:grpSpPr>
          <a:xfrm>
            <a:off x="7221809" y="2580121"/>
            <a:ext cx="336550" cy="512763"/>
            <a:chOff x="4140" y="429"/>
            <a:chExt cx="1425" cy="2396"/>
          </a:xfrm>
        </p:grpSpPr>
        <p:sp>
          <p:nvSpPr>
            <p:cNvPr id="876" name="Google Shape;876;p3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7" name="Google Shape;877;p33"/>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8" name="Google Shape;878;p3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9" name="Google Shape;879;p3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0" name="Google Shape;880;p33"/>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81" name="Google Shape;881;p33"/>
            <p:cNvGrpSpPr/>
            <p:nvPr/>
          </p:nvGrpSpPr>
          <p:grpSpPr>
            <a:xfrm>
              <a:off x="4751" y="666"/>
              <a:ext cx="578" cy="148"/>
              <a:chOff x="617" y="2566"/>
              <a:chExt cx="721" cy="142"/>
            </a:xfrm>
          </p:grpSpPr>
          <p:sp>
            <p:nvSpPr>
              <p:cNvPr id="882" name="Google Shape;882;p33"/>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 name="Google Shape;883;p33"/>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84" name="Google Shape;884;p33"/>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85" name="Google Shape;885;p33"/>
            <p:cNvGrpSpPr/>
            <p:nvPr/>
          </p:nvGrpSpPr>
          <p:grpSpPr>
            <a:xfrm>
              <a:off x="4745" y="993"/>
              <a:ext cx="585" cy="134"/>
              <a:chOff x="611" y="2567"/>
              <a:chExt cx="730" cy="139"/>
            </a:xfrm>
          </p:grpSpPr>
          <p:sp>
            <p:nvSpPr>
              <p:cNvPr id="886" name="Google Shape;886;p33"/>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7" name="Google Shape;887;p33"/>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88" name="Google Shape;888;p33"/>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9" name="Google Shape;889;p33"/>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90" name="Google Shape;890;p33"/>
            <p:cNvGrpSpPr/>
            <p:nvPr/>
          </p:nvGrpSpPr>
          <p:grpSpPr>
            <a:xfrm>
              <a:off x="4738" y="1630"/>
              <a:ext cx="578" cy="149"/>
              <a:chOff x="618" y="2571"/>
              <a:chExt cx="720" cy="137"/>
            </a:xfrm>
          </p:grpSpPr>
          <p:sp>
            <p:nvSpPr>
              <p:cNvPr id="891" name="Google Shape;891;p33"/>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2" name="Google Shape;892;p33"/>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93" name="Google Shape;893;p3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94" name="Google Shape;894;p33"/>
            <p:cNvGrpSpPr/>
            <p:nvPr/>
          </p:nvGrpSpPr>
          <p:grpSpPr>
            <a:xfrm>
              <a:off x="4738" y="1327"/>
              <a:ext cx="584" cy="141"/>
              <a:chOff x="613" y="2568"/>
              <a:chExt cx="728" cy="141"/>
            </a:xfrm>
          </p:grpSpPr>
          <p:sp>
            <p:nvSpPr>
              <p:cNvPr id="895" name="Google Shape;895;p33"/>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6" name="Google Shape;896;p33"/>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97" name="Google Shape;897;p33"/>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8" name="Google Shape;898;p3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9" name="Google Shape;899;p3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0" name="Google Shape;900;p33"/>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1" name="Google Shape;901;p3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2" name="Google Shape;902;p33"/>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3" name="Google Shape;903;p33"/>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 name="Google Shape;904;p33"/>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5" name="Google Shape;905;p33"/>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06" name="Google Shape;906;p33"/>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7" name="Google Shape;907;p33"/>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8" name="Google Shape;908;p33"/>
          <p:cNvSpPr txBox="1"/>
          <p:nvPr/>
        </p:nvSpPr>
        <p:spPr>
          <a:xfrm>
            <a:off x="374662" y="2181018"/>
            <a:ext cx="4209864" cy="26155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 = socket(AF_INET, SOCK_STREAM)</a:t>
            </a:r>
            <a:endParaRPr/>
          </a:p>
        </p:txBody>
      </p:sp>
      <p:sp>
        <p:nvSpPr>
          <p:cNvPr id="909" name="Google Shape;909;p33"/>
          <p:cNvSpPr txBox="1"/>
          <p:nvPr/>
        </p:nvSpPr>
        <p:spPr>
          <a:xfrm>
            <a:off x="7821898" y="1651172"/>
            <a:ext cx="4461478" cy="10464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 = socket(AF_INET,SOCK_STREAM)</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serverSocket.bind((‘’,serverPort))</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serverSocket.listen(1)</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connectionSocket, addr = serverSocket.accept()</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33"/>
          <p:cNvSpPr txBox="1"/>
          <p:nvPr/>
        </p:nvSpPr>
        <p:spPr>
          <a:xfrm>
            <a:off x="276543" y="2694832"/>
            <a:ext cx="4433100" cy="263100"/>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clientSocket.connect((serverName,serverPort))</a:t>
            </a:r>
            <a:endParaRPr/>
          </a:p>
        </p:txBody>
      </p:sp>
      <p:sp>
        <p:nvSpPr>
          <p:cNvPr id="911" name="Google Shape;911;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500"/>
                                        <p:tgtEl>
                                          <p:spTgt spid="840"/>
                                        </p:tgtEl>
                                      </p:cBhvr>
                                    </p:animEffect>
                                  </p:childTnLst>
                                </p:cTn>
                              </p:par>
                              <p:par>
                                <p:cTn fill="hold" nodeType="with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500"/>
                                        <p:tgtEl>
                                          <p:spTgt spid="858"/>
                                        </p:tgtEl>
                                      </p:cBhvr>
                                    </p:animEffect>
                                  </p:childTnLst>
                                </p:cTn>
                              </p:par>
                              <p:par>
                                <p:cTn fill="hold" nodeType="withEffect" presetClass="entr" presetID="10" presetSubtype="0">
                                  <p:stCondLst>
                                    <p:cond delay="0"/>
                                  </p:stCondLst>
                                  <p:childTnLst>
                                    <p:set>
                                      <p:cBhvr>
                                        <p:cTn dur="1" fill="hold">
                                          <p:stCondLst>
                                            <p:cond delay="0"/>
                                          </p:stCondLst>
                                        </p:cTn>
                                        <p:tgtEl>
                                          <p:spTgt spid="910"/>
                                        </p:tgtEl>
                                        <p:attrNameLst>
                                          <p:attrName>style.visibility</p:attrName>
                                        </p:attrNameLst>
                                      </p:cBhvr>
                                      <p:to>
                                        <p:strVal val="visible"/>
                                      </p:to>
                                    </p:set>
                                    <p:animEffect filter="fade" transition="in">
                                      <p:cBhvr>
                                        <p:cTn dur="500"/>
                                        <p:tgtEl>
                                          <p:spTgt spid="9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4"/>
                                        </p:tgtEl>
                                        <p:attrNameLst>
                                          <p:attrName>style.visibility</p:attrName>
                                        </p:attrNameLst>
                                      </p:cBhvr>
                                      <p:to>
                                        <p:strVal val="visible"/>
                                      </p:to>
                                    </p:set>
                                    <p:animEffect filter="fade" transition="in">
                                      <p:cBhvr>
                                        <p:cTn dur="500"/>
                                        <p:tgtEl>
                                          <p:spTgt spid="864"/>
                                        </p:tgtEl>
                                      </p:cBhvr>
                                    </p:animEffect>
                                  </p:childTnLst>
                                </p:cTn>
                              </p:par>
                              <p:par>
                                <p:cTn fill="hold" nodeType="with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500"/>
                                        <p:tgtEl>
                                          <p:spTgt spid="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2"/>
                                        </p:tgtEl>
                                        <p:attrNameLst>
                                          <p:attrName>style.visibility</p:attrName>
                                        </p:attrNameLst>
                                      </p:cBhvr>
                                      <p:to>
                                        <p:strVal val="visible"/>
                                      </p:to>
                                    </p:set>
                                    <p:animEffect filter="fade" transition="in">
                                      <p:cBhvr>
                                        <p:cTn dur="500"/>
                                        <p:tgtEl>
                                          <p:spTgt spid="852"/>
                                        </p:tgtEl>
                                      </p:cBhvr>
                                    </p:animEffect>
                                  </p:childTnLst>
                                </p:cTn>
                              </p:par>
                              <p:par>
                                <p:cTn fill="hold" nodeType="with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500"/>
                                        <p:tgtEl>
                                          <p:spTgt spid="86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46"/>
                                        </p:tgtEl>
                                        <p:attrNameLst>
                                          <p:attrName>style.visibility</p:attrName>
                                        </p:attrNameLst>
                                      </p:cBhvr>
                                      <p:to>
                                        <p:strVal val="visible"/>
                                      </p:to>
                                    </p:set>
                                    <p:animEffect filter="fade" transition="in">
                                      <p:cBhvr>
                                        <p:cTn dur="500"/>
                                        <p:tgtEl>
                                          <p:spTgt spid="846"/>
                                        </p:tgtEl>
                                      </p:cBhvr>
                                    </p:animEffect>
                                  </p:childTnLst>
                                </p:cTn>
                              </p:par>
                              <p:par>
                                <p:cTn fill="hold" nodeType="with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500"/>
                                        <p:tgtEl>
                                          <p:spTgt spid="8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3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Closing a TCP connection</a:t>
            </a:r>
            <a:endParaRPr b="0" sz="4400"/>
          </a:p>
        </p:txBody>
      </p:sp>
      <p:sp>
        <p:nvSpPr>
          <p:cNvPr id="918" name="Google Shape;918;p34"/>
          <p:cNvSpPr txBox="1"/>
          <p:nvPr/>
        </p:nvSpPr>
        <p:spPr>
          <a:xfrm>
            <a:off x="798690" y="1441263"/>
            <a:ext cx="9698318" cy="418623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client, server each close their side of connection</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TCP segment with FIN bit = 1</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respond to received FIN with ACK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on receiving FIN, ACK can be combined with own FIN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simultaneous FIN exchanges can be handled</a:t>
            </a:r>
            <a:endParaRPr/>
          </a:p>
        </p:txBody>
      </p:sp>
      <p:sp>
        <p:nvSpPr>
          <p:cNvPr id="919" name="Google Shape;919;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35"/>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26" name="Google Shape;926;p35"/>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27" name="Google Shape;927;p35"/>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TCP/IP protocol suite</a:t>
            </a:r>
            <a:endParaRPr/>
          </a:p>
        </p:txBody>
      </p:sp>
      <p:sp>
        <p:nvSpPr>
          <p:cNvPr id="928" name="Google Shape;928;p35"/>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29" name="Google Shape;929;p35"/>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30" name="Google Shape;930;p35"/>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31" name="Google Shape;931;p35"/>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32" name="Google Shape;932;p35"/>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33" name="Google Shape;933;p35"/>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34" name="Google Shape;934;p35"/>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935" name="Google Shape;935;p35"/>
          <p:cNvPicPr preferRelativeResize="0"/>
          <p:nvPr/>
        </p:nvPicPr>
        <p:blipFill rotWithShape="1">
          <a:blip r:embed="rId3">
            <a:alphaModFix/>
          </a:blip>
          <a:srcRect b="0" l="0" r="0" t="0"/>
          <a:stretch/>
        </p:blipFill>
        <p:spPr>
          <a:xfrm>
            <a:off x="2006600" y="1244600"/>
            <a:ext cx="8437564" cy="44704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36"/>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42" name="Google Shape;942;p36"/>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43" name="Google Shape;943;p36"/>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Stream delivery</a:t>
            </a:r>
            <a:endParaRPr/>
          </a:p>
        </p:txBody>
      </p:sp>
      <p:sp>
        <p:nvSpPr>
          <p:cNvPr id="944" name="Google Shape;944;p36"/>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5" name="Google Shape;945;p36"/>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6" name="Google Shape;946;p36"/>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7" name="Google Shape;947;p36"/>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8" name="Google Shape;948;p36"/>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9" name="Google Shape;949;p36"/>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50" name="Google Shape;950;p36"/>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951" name="Google Shape;951;p36"/>
          <p:cNvPicPr preferRelativeResize="0"/>
          <p:nvPr/>
        </p:nvPicPr>
        <p:blipFill rotWithShape="1">
          <a:blip r:embed="rId3">
            <a:alphaModFix/>
          </a:blip>
          <a:srcRect b="0" l="0" r="0" t="0"/>
          <a:stretch/>
        </p:blipFill>
        <p:spPr>
          <a:xfrm>
            <a:off x="1655233" y="1954212"/>
            <a:ext cx="8499474" cy="272256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37"/>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58" name="Google Shape;958;p37"/>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59" name="Google Shape;959;p37"/>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Sending and receiving buffers</a:t>
            </a:r>
            <a:endParaRPr/>
          </a:p>
        </p:txBody>
      </p:sp>
      <p:sp>
        <p:nvSpPr>
          <p:cNvPr id="960" name="Google Shape;960;p37"/>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1" name="Google Shape;961;p37"/>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2" name="Google Shape;962;p37"/>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3" name="Google Shape;963;p37"/>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4" name="Google Shape;964;p37"/>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5" name="Google Shape;965;p37"/>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6" name="Google Shape;966;p37"/>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967" name="Google Shape;967;p37"/>
          <p:cNvPicPr preferRelativeResize="0"/>
          <p:nvPr/>
        </p:nvPicPr>
        <p:blipFill rotWithShape="1">
          <a:blip r:embed="rId3">
            <a:alphaModFix/>
          </a:blip>
          <a:srcRect b="0" l="0" r="0" t="0"/>
          <a:stretch/>
        </p:blipFill>
        <p:spPr>
          <a:xfrm>
            <a:off x="2279649" y="2300287"/>
            <a:ext cx="2614612" cy="2820987"/>
          </a:xfrm>
          <a:prstGeom prst="rect">
            <a:avLst/>
          </a:prstGeom>
          <a:noFill/>
          <a:ln>
            <a:noFill/>
          </a:ln>
        </p:spPr>
      </p:pic>
      <p:pic>
        <p:nvPicPr>
          <p:cNvPr id="968" name="Google Shape;968;p37"/>
          <p:cNvPicPr preferRelativeResize="0"/>
          <p:nvPr/>
        </p:nvPicPr>
        <p:blipFill rotWithShape="1">
          <a:blip r:embed="rId4">
            <a:alphaModFix/>
          </a:blip>
          <a:srcRect b="0" l="0" r="0" t="0"/>
          <a:stretch/>
        </p:blipFill>
        <p:spPr>
          <a:xfrm>
            <a:off x="7393516" y="2309812"/>
            <a:ext cx="2514600" cy="2803525"/>
          </a:xfrm>
          <a:prstGeom prst="rect">
            <a:avLst/>
          </a:prstGeom>
          <a:noFill/>
          <a:ln>
            <a:noFill/>
          </a:ln>
        </p:spPr>
      </p:pic>
      <p:pic>
        <p:nvPicPr>
          <p:cNvPr id="969" name="Google Shape;969;p37"/>
          <p:cNvPicPr preferRelativeResize="0"/>
          <p:nvPr/>
        </p:nvPicPr>
        <p:blipFill rotWithShape="1">
          <a:blip r:embed="rId5">
            <a:alphaModFix/>
          </a:blip>
          <a:srcRect b="0" l="0" r="0" t="0"/>
          <a:stretch/>
        </p:blipFill>
        <p:spPr>
          <a:xfrm>
            <a:off x="4760383" y="4414837"/>
            <a:ext cx="3025773" cy="4905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gtEl>
                                        <p:attrNameLst>
                                          <p:attrName>style.visibility</p:attrName>
                                        </p:attrNameLst>
                                      </p:cBhvr>
                                      <p:to>
                                        <p:strVal val="visible"/>
                                      </p:to>
                                    </p:set>
                                    <p:animEffect filter="fade" transition="in">
                                      <p:cBhvr>
                                        <p:cTn dur="2000"/>
                                        <p:tgtEl>
                                          <p:spTgt spid="9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9"/>
                                        </p:tgtEl>
                                        <p:attrNameLst>
                                          <p:attrName>style.visibility</p:attrName>
                                        </p:attrNameLst>
                                      </p:cBhvr>
                                      <p:to>
                                        <p:strVal val="visible"/>
                                      </p:to>
                                    </p:set>
                                    <p:animEffect filter="fade" transition="in">
                                      <p:cBhvr>
                                        <p:cTn dur="2000"/>
                                        <p:tgtEl>
                                          <p:spTgt spid="9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gtEl>
                                        <p:attrNameLst>
                                          <p:attrName>style.visibility</p:attrName>
                                        </p:attrNameLst>
                                      </p:cBhvr>
                                      <p:to>
                                        <p:strVal val="visible"/>
                                      </p:to>
                                    </p:set>
                                    <p:animEffect filter="fade" transition="in">
                                      <p:cBhvr>
                                        <p:cTn dur="2000"/>
                                        <p:tgtEl>
                                          <p:spTgt spid="9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38"/>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76" name="Google Shape;976;p38"/>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77" name="Google Shape;977;p38"/>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 segments</a:t>
            </a:r>
            <a:endParaRPr/>
          </a:p>
        </p:txBody>
      </p:sp>
      <p:sp>
        <p:nvSpPr>
          <p:cNvPr id="978" name="Google Shape;978;p38"/>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79" name="Google Shape;979;p38"/>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0" name="Google Shape;980;p38"/>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1" name="Google Shape;981;p38"/>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2" name="Google Shape;982;p38"/>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3" name="Google Shape;983;p38"/>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4" name="Google Shape;984;p38"/>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985" name="Google Shape;985;p38"/>
          <p:cNvPicPr preferRelativeResize="0"/>
          <p:nvPr/>
        </p:nvPicPr>
        <p:blipFill rotWithShape="1">
          <a:blip r:embed="rId3">
            <a:alphaModFix/>
          </a:blip>
          <a:srcRect b="0" l="0" r="0" t="0"/>
          <a:stretch/>
        </p:blipFill>
        <p:spPr>
          <a:xfrm>
            <a:off x="2233083" y="2300287"/>
            <a:ext cx="2614612" cy="2820987"/>
          </a:xfrm>
          <a:prstGeom prst="rect">
            <a:avLst/>
          </a:prstGeom>
          <a:noFill/>
          <a:ln>
            <a:noFill/>
          </a:ln>
        </p:spPr>
      </p:pic>
      <p:pic>
        <p:nvPicPr>
          <p:cNvPr id="986" name="Google Shape;986;p38"/>
          <p:cNvPicPr preferRelativeResize="0"/>
          <p:nvPr/>
        </p:nvPicPr>
        <p:blipFill rotWithShape="1">
          <a:blip r:embed="rId4">
            <a:alphaModFix/>
          </a:blip>
          <a:srcRect b="0" l="0" r="0" t="0"/>
          <a:stretch/>
        </p:blipFill>
        <p:spPr>
          <a:xfrm>
            <a:off x="7266516" y="2309812"/>
            <a:ext cx="2514600" cy="2803525"/>
          </a:xfrm>
          <a:prstGeom prst="rect">
            <a:avLst/>
          </a:prstGeom>
          <a:noFill/>
          <a:ln>
            <a:noFill/>
          </a:ln>
        </p:spPr>
      </p:pic>
      <p:pic>
        <p:nvPicPr>
          <p:cNvPr id="987" name="Google Shape;987;p38"/>
          <p:cNvPicPr preferRelativeResize="0"/>
          <p:nvPr/>
        </p:nvPicPr>
        <p:blipFill rotWithShape="1">
          <a:blip r:embed="rId5">
            <a:alphaModFix/>
          </a:blip>
          <a:srcRect b="0" l="0" r="0" t="0"/>
          <a:stretch/>
        </p:blipFill>
        <p:spPr>
          <a:xfrm>
            <a:off x="5010149" y="4379912"/>
            <a:ext cx="2293938" cy="5540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2000"/>
                                        <p:tgtEl>
                                          <p:spTgt spid="9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2000"/>
                                        <p:tgtEl>
                                          <p:spTgt spid="9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992" name="Shape 992"/>
        <p:cNvGrpSpPr/>
        <p:nvPr/>
      </p:nvGrpSpPr>
      <p:grpSpPr>
        <a:xfrm>
          <a:off x="0" y="0"/>
          <a:ext cx="0" cy="0"/>
          <a:chOff x="0" y="0"/>
          <a:chExt cx="0" cy="0"/>
        </a:xfrm>
      </p:grpSpPr>
      <p:sp>
        <p:nvSpPr>
          <p:cNvPr id="993" name="Google Shape;993;p39"/>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94" name="Google Shape;994;p39"/>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95" name="Google Shape;995;p39"/>
          <p:cNvSpPr txBox="1"/>
          <p:nvPr/>
        </p:nvSpPr>
        <p:spPr>
          <a:xfrm>
            <a:off x="609600" y="152400"/>
            <a:ext cx="7292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996" name="Google Shape;996;p39"/>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97" name="Google Shape;997;p39"/>
          <p:cNvSpPr txBox="1"/>
          <p:nvPr/>
        </p:nvSpPr>
        <p:spPr>
          <a:xfrm>
            <a:off x="635000" y="1065212"/>
            <a:ext cx="11175900" cy="23247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Numbering System</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Flow Control</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Error Control</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Congestion Control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5000"/>
                                        <p:tgtEl>
                                          <p:spTgt spid="9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40"/>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04" name="Google Shape;1004;p40"/>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05" name="Google Shape;1005;p40"/>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06" name="Google Shape;1006;p40"/>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07" name="Google Shape;1007;p40"/>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08" name="Google Shape;1008;p40"/>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09" name="Google Shape;1009;p40"/>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10" name="Google Shape;1010;p40"/>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11" name="Google Shape;1011;p40"/>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012" name="Google Shape;1012;p40"/>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013" name="Google Shape;1013;p40"/>
          <p:cNvCxnSpPr/>
          <p:nvPr/>
        </p:nvCxnSpPr>
        <p:spPr>
          <a:xfrm>
            <a:off x="812800" y="53340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014" name="Google Shape;1014;p40"/>
          <p:cNvSpPr txBox="1"/>
          <p:nvPr/>
        </p:nvSpPr>
        <p:spPr>
          <a:xfrm>
            <a:off x="863600" y="2716212"/>
            <a:ext cx="10769700" cy="25551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bytes of data being transferred in each connection are numbered by TCP.</a:t>
            </a:r>
            <a:endParaRPr/>
          </a:p>
          <a:p>
            <a:pPr indent="0" lvl="0" marL="0" marR="0" rtl="0" algn="ctr">
              <a:lnSpc>
                <a:spcPct val="100000"/>
              </a:lnSpc>
              <a:spcBef>
                <a:spcPts val="0"/>
              </a:spcBef>
              <a:spcAft>
                <a:spcPts val="0"/>
              </a:spcAft>
              <a:buClr>
                <a:schemeClr val="dk1"/>
              </a:buClr>
              <a:buSzPts val="3200"/>
              <a:buFont typeface="Tahoma"/>
              <a:buNone/>
            </a:pPr>
            <a:r>
              <a:t/>
            </a:r>
            <a:endParaRPr b="1" i="1" sz="3200" u="non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numbering starts with an  arbitrarily generated number.</a:t>
            </a:r>
            <a:endParaRPr/>
          </a:p>
        </p:txBody>
      </p:sp>
      <p:grpSp>
        <p:nvGrpSpPr>
          <p:cNvPr id="1015" name="Google Shape;1015;p40"/>
          <p:cNvGrpSpPr/>
          <p:nvPr/>
        </p:nvGrpSpPr>
        <p:grpSpPr>
          <a:xfrm>
            <a:off x="812800" y="1981200"/>
            <a:ext cx="1523899" cy="566741"/>
            <a:chOff x="1200" y="1248"/>
            <a:chExt cx="720" cy="357"/>
          </a:xfrm>
        </p:grpSpPr>
        <p:pic>
          <p:nvPicPr>
            <p:cNvPr id="1016" name="Google Shape;1016;p40"/>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017" name="Google Shape;1017;p40"/>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12"/>
                                        </p:tgtEl>
                                        <p:attrNameLst>
                                          <p:attrName>style.visibility</p:attrName>
                                        </p:attrNameLst>
                                      </p:cBhvr>
                                      <p:to>
                                        <p:strVal val="visible"/>
                                      </p:to>
                                    </p:set>
                                    <p:animEffect filter="fade" transition="in">
                                      <p:cBhvr>
                                        <p:cTn dur="500"/>
                                        <p:tgtEl>
                                          <p:spTgt spid="10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13"/>
                                        </p:tgtEl>
                                        <p:attrNameLst>
                                          <p:attrName>style.visibility</p:attrName>
                                        </p:attrNameLst>
                                      </p:cBhvr>
                                      <p:to>
                                        <p:strVal val="visible"/>
                                      </p:to>
                                    </p:set>
                                    <p:animEffect filter="fade" transition="in">
                                      <p:cBhvr>
                                        <p:cTn dur="500"/>
                                        <p:tgtEl>
                                          <p:spTgt spid="10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14"/>
                                        </p:tgtEl>
                                        <p:attrNameLst>
                                          <p:attrName>style.visibility</p:attrName>
                                        </p:attrNameLst>
                                      </p:cBhvr>
                                      <p:to>
                                        <p:strVal val="visible"/>
                                      </p:to>
                                    </p:set>
                                    <p:animEffect filter="fade" transition="in">
                                      <p:cBhvr>
                                        <p:cTn dur="500"/>
                                        <p:tgtEl>
                                          <p:spTgt spid="10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41"/>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24" name="Google Shape;1024;p41"/>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25" name="Google Shape;1025;p41"/>
          <p:cNvSpPr txBox="1"/>
          <p:nvPr/>
        </p:nvSpPr>
        <p:spPr>
          <a:xfrm>
            <a:off x="101600" y="696912"/>
            <a:ext cx="11836500" cy="2308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Suppose a TCP connection is transferring a file of 5,000 bytes. The first byte is numbered 10,001. What are the sequence numbers for each segment if data are sent in five segments, each carrying 1,000 bytes?</a:t>
            </a:r>
            <a:endParaRPr/>
          </a:p>
          <a:p>
            <a:pPr indent="0" lvl="0" marL="0" marR="0" rtl="0" algn="just">
              <a:lnSpc>
                <a:spcPct val="100000"/>
              </a:lnSpc>
              <a:spcBef>
                <a:spcPts val="0"/>
              </a:spcBef>
              <a:spcAft>
                <a:spcPts val="0"/>
              </a:spcAft>
              <a:buClr>
                <a:schemeClr val="dk1"/>
              </a:buClr>
              <a:buSzPts val="2400"/>
              <a:buFont typeface="Tahoma"/>
              <a:buNone/>
            </a:pPr>
            <a:r>
              <a:t/>
            </a:r>
            <a:endParaRPr b="1" i="0" sz="2400" u="none">
              <a:solidFill>
                <a:schemeClr val="dk1"/>
              </a:solidFill>
              <a:latin typeface="Arimo"/>
              <a:ea typeface="Arimo"/>
              <a:cs typeface="Arimo"/>
              <a:sym typeface="Arimo"/>
            </a:endParaRPr>
          </a:p>
          <a:p>
            <a:pPr indent="0" lvl="0" marL="0" marR="0" rtl="0" algn="just">
              <a:lnSpc>
                <a:spcPct val="100000"/>
              </a:lnSpc>
              <a:spcBef>
                <a:spcPts val="0"/>
              </a:spcBef>
              <a:spcAft>
                <a:spcPts val="0"/>
              </a:spcAft>
              <a:buClr>
                <a:schemeClr val="hlink"/>
              </a:buClr>
              <a:buSzPts val="2400"/>
              <a:buFont typeface="Arimo"/>
              <a:buNone/>
            </a:pPr>
            <a:r>
              <a:rPr b="1" i="1" lang="en-US" sz="2400" u="none">
                <a:solidFill>
                  <a:schemeClr val="hlink"/>
                </a:solidFill>
                <a:latin typeface="Arimo"/>
                <a:ea typeface="Arimo"/>
                <a:cs typeface="Arimo"/>
                <a:sym typeface="Arimo"/>
              </a:rPr>
              <a:t>Solution</a:t>
            </a:r>
            <a:endParaRPr/>
          </a:p>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The following shows the sequence number for each segment:</a:t>
            </a:r>
            <a:endParaRPr/>
          </a:p>
        </p:txBody>
      </p:sp>
      <p:grpSp>
        <p:nvGrpSpPr>
          <p:cNvPr id="1026" name="Google Shape;1026;p41"/>
          <p:cNvGrpSpPr/>
          <p:nvPr/>
        </p:nvGrpSpPr>
        <p:grpSpPr>
          <a:xfrm>
            <a:off x="0" y="0"/>
            <a:ext cx="12065000" cy="476250"/>
            <a:chOff x="0" y="2448"/>
            <a:chExt cx="5700" cy="300"/>
          </a:xfrm>
        </p:grpSpPr>
        <p:sp>
          <p:nvSpPr>
            <p:cNvPr id="1027" name="Google Shape;1027;p41"/>
            <p:cNvSpPr txBox="1"/>
            <p:nvPr/>
          </p:nvSpPr>
          <p:spPr>
            <a:xfrm>
              <a:off x="0" y="2448"/>
              <a:ext cx="5700" cy="300"/>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28" name="Google Shape;1028;p41"/>
            <p:cNvSpPr txBox="1"/>
            <p:nvPr/>
          </p:nvSpPr>
          <p:spPr>
            <a:xfrm>
              <a:off x="0" y="2448"/>
              <a:ext cx="1500" cy="300"/>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15.1</a:t>
              </a:r>
              <a:endParaRPr/>
            </a:p>
          </p:txBody>
        </p:sp>
      </p:grpSp>
      <p:pic>
        <p:nvPicPr>
          <p:cNvPr id="1029" name="Google Shape;1029;p41"/>
          <p:cNvPicPr preferRelativeResize="0"/>
          <p:nvPr/>
        </p:nvPicPr>
        <p:blipFill rotWithShape="1">
          <a:blip r:embed="rId3">
            <a:alphaModFix/>
          </a:blip>
          <a:srcRect b="0" l="0" r="0" t="0"/>
          <a:stretch/>
        </p:blipFill>
        <p:spPr>
          <a:xfrm>
            <a:off x="279400" y="3895725"/>
            <a:ext cx="11308998" cy="2308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42"/>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36" name="Google Shape;1036;p42"/>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37" name="Google Shape;1037;p42"/>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38" name="Google Shape;1038;p42"/>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39" name="Google Shape;1039;p42"/>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0" name="Google Shape;1040;p42"/>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1" name="Google Shape;1041;p42"/>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2" name="Google Shape;1042;p42"/>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3" name="Google Shape;1043;p42"/>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044" name="Google Shape;1044;p42"/>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045" name="Google Shape;1045;p42"/>
          <p:cNvCxnSpPr/>
          <p:nvPr/>
        </p:nvCxnSpPr>
        <p:spPr>
          <a:xfrm>
            <a:off x="812800" y="48768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046" name="Google Shape;1046;p42"/>
          <p:cNvSpPr txBox="1"/>
          <p:nvPr/>
        </p:nvSpPr>
        <p:spPr>
          <a:xfrm>
            <a:off x="863600" y="2716212"/>
            <a:ext cx="10769700" cy="20625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value in the sequence number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field of a segment defines the number assigned to the first data byte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contained in that segment.</a:t>
            </a:r>
            <a:endParaRPr/>
          </a:p>
        </p:txBody>
      </p:sp>
      <p:grpSp>
        <p:nvGrpSpPr>
          <p:cNvPr id="1047" name="Google Shape;1047;p42"/>
          <p:cNvGrpSpPr/>
          <p:nvPr/>
        </p:nvGrpSpPr>
        <p:grpSpPr>
          <a:xfrm>
            <a:off x="812800" y="1981200"/>
            <a:ext cx="1523899" cy="566741"/>
            <a:chOff x="1200" y="1248"/>
            <a:chExt cx="720" cy="357"/>
          </a:xfrm>
        </p:grpSpPr>
        <p:pic>
          <p:nvPicPr>
            <p:cNvPr id="1048" name="Google Shape;1048;p4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049" name="Google Shape;1049;p42"/>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44"/>
                                        </p:tgtEl>
                                        <p:attrNameLst>
                                          <p:attrName>style.visibility</p:attrName>
                                        </p:attrNameLst>
                                      </p:cBhvr>
                                      <p:to>
                                        <p:strVal val="visible"/>
                                      </p:to>
                                    </p:set>
                                    <p:animEffect filter="fade" transition="in">
                                      <p:cBhvr>
                                        <p:cTn dur="500"/>
                                        <p:tgtEl>
                                          <p:spTgt spid="10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500"/>
                                        <p:tgtEl>
                                          <p:spTgt spid="10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500"/>
                                        <p:tgtEl>
                                          <p:spTgt spid="10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43"/>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56" name="Google Shape;1056;p43"/>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57" name="Google Shape;1057;p43"/>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58" name="Google Shape;1058;p43"/>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59" name="Google Shape;1059;p43"/>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60" name="Google Shape;1060;p43"/>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61" name="Google Shape;1061;p43"/>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62" name="Google Shape;1062;p43"/>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63" name="Google Shape;1063;p43"/>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064" name="Google Shape;1064;p43"/>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065" name="Google Shape;1065;p43"/>
          <p:cNvCxnSpPr/>
          <p:nvPr/>
        </p:nvCxnSpPr>
        <p:spPr>
          <a:xfrm>
            <a:off x="812800" y="58674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066" name="Google Shape;1066;p43"/>
          <p:cNvSpPr txBox="1"/>
          <p:nvPr/>
        </p:nvSpPr>
        <p:spPr>
          <a:xfrm>
            <a:off x="863600" y="2716212"/>
            <a:ext cx="10769700" cy="25551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value of the acknowledgment field in a segment defines the number of the next byte a party expects to receive. </a:t>
            </a:r>
            <a:endParaRPr/>
          </a:p>
          <a:p>
            <a:pPr indent="0" lvl="0" marL="0" marR="0" rtl="0" algn="ctr">
              <a:lnSpc>
                <a:spcPct val="100000"/>
              </a:lnSpc>
              <a:spcBef>
                <a:spcPts val="0"/>
              </a:spcBef>
              <a:spcAft>
                <a:spcPts val="0"/>
              </a:spcAft>
              <a:buClr>
                <a:schemeClr val="dk1"/>
              </a:buClr>
              <a:buSzPts val="3200"/>
              <a:buFont typeface="Tahoma"/>
              <a:buNone/>
            </a:pPr>
            <a:r>
              <a:t/>
            </a:r>
            <a:endParaRPr b="1" i="1" sz="3200" u="non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acknowledgment number is cumulative.</a:t>
            </a:r>
            <a:endParaRPr/>
          </a:p>
        </p:txBody>
      </p:sp>
      <p:grpSp>
        <p:nvGrpSpPr>
          <p:cNvPr id="1067" name="Google Shape;1067;p43"/>
          <p:cNvGrpSpPr/>
          <p:nvPr/>
        </p:nvGrpSpPr>
        <p:grpSpPr>
          <a:xfrm>
            <a:off x="812800" y="1981200"/>
            <a:ext cx="1523899" cy="566741"/>
            <a:chOff x="1200" y="1248"/>
            <a:chExt cx="720" cy="357"/>
          </a:xfrm>
        </p:grpSpPr>
        <p:pic>
          <p:nvPicPr>
            <p:cNvPr id="1068" name="Google Shape;1068;p43"/>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069" name="Google Shape;1069;p43"/>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64"/>
                                        </p:tgtEl>
                                        <p:attrNameLst>
                                          <p:attrName>style.visibility</p:attrName>
                                        </p:attrNameLst>
                                      </p:cBhvr>
                                      <p:to>
                                        <p:strVal val="visible"/>
                                      </p:to>
                                    </p:set>
                                    <p:animEffect filter="fade" transition="in">
                                      <p:cBhvr>
                                        <p:cTn dur="500"/>
                                        <p:tgtEl>
                                          <p:spTgt spid="106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5"/>
                                        </p:tgtEl>
                                        <p:attrNameLst>
                                          <p:attrName>style.visibility</p:attrName>
                                        </p:attrNameLst>
                                      </p:cBhvr>
                                      <p:to>
                                        <p:strVal val="visible"/>
                                      </p:to>
                                    </p:set>
                                    <p:animEffect filter="fade" transition="in">
                                      <p:cBhvr>
                                        <p:cTn dur="500"/>
                                        <p:tgtEl>
                                          <p:spTgt spid="10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66"/>
                                        </p:tgtEl>
                                        <p:attrNameLst>
                                          <p:attrName>style.visibility</p:attrName>
                                        </p:attrNameLst>
                                      </p:cBhvr>
                                      <p:to>
                                        <p:strVal val="visible"/>
                                      </p:to>
                                    </p:set>
                                    <p:animEffect filter="fade" transition="in">
                                      <p:cBhvr>
                                        <p:cTn dur="500"/>
                                        <p:tgtEl>
                                          <p:spTgt spid="10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44"/>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76" name="Google Shape;1076;p44"/>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77" name="Google Shape;1077;p44"/>
          <p:cNvSpPr txBox="1"/>
          <p:nvPr/>
        </p:nvSpPr>
        <p:spPr>
          <a:xfrm>
            <a:off x="0" y="0"/>
            <a:ext cx="12192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78" name="Google Shape;1078;p44"/>
          <p:cNvSpPr txBox="1"/>
          <p:nvPr/>
        </p:nvSpPr>
        <p:spPr>
          <a:xfrm>
            <a:off x="304800" y="355600"/>
            <a:ext cx="4728900" cy="646500"/>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15-3  SEGMENT</a:t>
            </a:r>
            <a:endParaRPr/>
          </a:p>
        </p:txBody>
      </p:sp>
      <p:sp>
        <p:nvSpPr>
          <p:cNvPr id="1079" name="Google Shape;1079;p44"/>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80" name="Google Shape;1080;p44"/>
          <p:cNvSpPr txBox="1"/>
          <p:nvPr/>
        </p:nvSpPr>
        <p:spPr>
          <a:xfrm>
            <a:off x="508000" y="1524000"/>
            <a:ext cx="11379300" cy="9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Before discussing TCP in more detail, let us discuss the TCP packets themselves. A packet in TCP is called a segment.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085" name="Shape 1085"/>
        <p:cNvGrpSpPr/>
        <p:nvPr/>
      </p:nvGrpSpPr>
      <p:grpSpPr>
        <a:xfrm>
          <a:off x="0" y="0"/>
          <a:ext cx="0" cy="0"/>
          <a:chOff x="0" y="0"/>
          <a:chExt cx="0" cy="0"/>
        </a:xfrm>
      </p:grpSpPr>
      <p:sp>
        <p:nvSpPr>
          <p:cNvPr id="1086" name="Google Shape;1086;p45"/>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87" name="Google Shape;1087;p45"/>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88" name="Google Shape;1088;p45"/>
          <p:cNvSpPr txBox="1"/>
          <p:nvPr/>
        </p:nvSpPr>
        <p:spPr>
          <a:xfrm>
            <a:off x="304800" y="152400"/>
            <a:ext cx="7292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089" name="Google Shape;1089;p45"/>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90" name="Google Shape;1090;p45"/>
          <p:cNvSpPr txBox="1"/>
          <p:nvPr/>
        </p:nvSpPr>
        <p:spPr>
          <a:xfrm>
            <a:off x="406400" y="989012"/>
            <a:ext cx="11175900" cy="11727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Format </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Encapsulation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0"/>
                                        </p:tgtEl>
                                        <p:attrNameLst>
                                          <p:attrName>style.visibility</p:attrName>
                                        </p:attrNameLst>
                                      </p:cBhvr>
                                      <p:to>
                                        <p:strVal val="visible"/>
                                      </p:to>
                                    </p:set>
                                    <p:animEffect filter="fade" transition="in">
                                      <p:cBhvr>
                                        <p:cTn dur="5000"/>
                                        <p:tgtEl>
                                          <p:spTgt spid="10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46"/>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97" name="Google Shape;1097;p46"/>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98" name="Google Shape;1098;p46"/>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15.5</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  segment format</a:t>
            </a:r>
            <a:endParaRPr/>
          </a:p>
        </p:txBody>
      </p:sp>
      <p:sp>
        <p:nvSpPr>
          <p:cNvPr id="1099" name="Google Shape;1099;p46"/>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0" name="Google Shape;1100;p46"/>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1" name="Google Shape;1101;p46"/>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2" name="Google Shape;1102;p46"/>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3" name="Google Shape;1103;p46"/>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4" name="Google Shape;1104;p46"/>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5" name="Google Shape;1105;p46"/>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106" name="Google Shape;1106;p46"/>
          <p:cNvPicPr preferRelativeResize="0"/>
          <p:nvPr/>
        </p:nvPicPr>
        <p:blipFill rotWithShape="1">
          <a:blip r:embed="rId3">
            <a:alphaModFix/>
          </a:blip>
          <a:srcRect b="0" l="0" r="0" t="0"/>
          <a:stretch/>
        </p:blipFill>
        <p:spPr>
          <a:xfrm>
            <a:off x="3468501" y="942324"/>
            <a:ext cx="5376001" cy="1227775"/>
          </a:xfrm>
          <a:prstGeom prst="rect">
            <a:avLst/>
          </a:prstGeom>
          <a:noFill/>
          <a:ln>
            <a:noFill/>
          </a:ln>
        </p:spPr>
      </p:pic>
      <p:pic>
        <p:nvPicPr>
          <p:cNvPr id="1107" name="Google Shape;1107;p46"/>
          <p:cNvPicPr preferRelativeResize="0"/>
          <p:nvPr/>
        </p:nvPicPr>
        <p:blipFill rotWithShape="1">
          <a:blip r:embed="rId4">
            <a:alphaModFix/>
          </a:blip>
          <a:srcRect b="0" l="0" r="0" t="0"/>
          <a:stretch/>
        </p:blipFill>
        <p:spPr>
          <a:xfrm>
            <a:off x="2027451" y="2250725"/>
            <a:ext cx="8293951" cy="4273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gtEl>
                                        <p:attrNameLst>
                                          <p:attrName>style.visibility</p:attrName>
                                        </p:attrNameLst>
                                      </p:cBhvr>
                                      <p:to>
                                        <p:strVal val="visible"/>
                                      </p:to>
                                    </p:set>
                                    <p:animEffect filter="fade" transition="in">
                                      <p:cBhvr>
                                        <p:cTn dur="3000"/>
                                        <p:tgtEl>
                                          <p:spTgt spid="1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47"/>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14" name="Google Shape;1114;p47"/>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15" name="Google Shape;1115;p47"/>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15.6</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Control field</a:t>
            </a:r>
            <a:endParaRPr/>
          </a:p>
        </p:txBody>
      </p:sp>
      <p:sp>
        <p:nvSpPr>
          <p:cNvPr id="1116" name="Google Shape;1116;p47"/>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17" name="Google Shape;1117;p47"/>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18" name="Google Shape;1118;p47"/>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19" name="Google Shape;1119;p47"/>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20" name="Google Shape;1120;p47"/>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21" name="Google Shape;1121;p47"/>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22" name="Google Shape;1122;p47"/>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123" name="Google Shape;1123;p47"/>
          <p:cNvPicPr preferRelativeResize="0"/>
          <p:nvPr/>
        </p:nvPicPr>
        <p:blipFill rotWithShape="1">
          <a:blip r:embed="rId3">
            <a:alphaModFix/>
          </a:blip>
          <a:srcRect b="0" l="0" r="0" t="0"/>
          <a:stretch/>
        </p:blipFill>
        <p:spPr>
          <a:xfrm>
            <a:off x="1917700" y="2289175"/>
            <a:ext cx="8410575" cy="2816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48"/>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30" name="Google Shape;1130;p48"/>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31" name="Google Shape;1131;p48"/>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15.7</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Pseudoheader added to the TCP segment</a:t>
            </a:r>
            <a:endParaRPr/>
          </a:p>
        </p:txBody>
      </p:sp>
      <p:sp>
        <p:nvSpPr>
          <p:cNvPr id="1132" name="Google Shape;1132;p48"/>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3" name="Google Shape;1133;p48"/>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4" name="Google Shape;1134;p48"/>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5" name="Google Shape;1135;p48"/>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6" name="Google Shape;1136;p48"/>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7" name="Google Shape;1137;p48"/>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8" name="Google Shape;1138;p48"/>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139" name="Google Shape;1139;p48"/>
          <p:cNvPicPr preferRelativeResize="0"/>
          <p:nvPr/>
        </p:nvPicPr>
        <p:blipFill rotWithShape="1">
          <a:blip r:embed="rId3">
            <a:alphaModFix/>
          </a:blip>
          <a:srcRect b="0" l="0" r="0" t="0"/>
          <a:stretch/>
        </p:blipFill>
        <p:spPr>
          <a:xfrm>
            <a:off x="2446876" y="2536369"/>
            <a:ext cx="7389800" cy="2165975"/>
          </a:xfrm>
          <a:prstGeom prst="rect">
            <a:avLst/>
          </a:prstGeom>
          <a:noFill/>
          <a:ln>
            <a:noFill/>
          </a:ln>
        </p:spPr>
      </p:pic>
      <p:pic>
        <p:nvPicPr>
          <p:cNvPr id="1140" name="Google Shape;1140;p48"/>
          <p:cNvPicPr preferRelativeResize="0"/>
          <p:nvPr/>
        </p:nvPicPr>
        <p:blipFill rotWithShape="1">
          <a:blip r:embed="rId4">
            <a:alphaModFix/>
          </a:blip>
          <a:srcRect b="0" l="0" r="0" t="0"/>
          <a:stretch/>
        </p:blipFill>
        <p:spPr>
          <a:xfrm>
            <a:off x="3101778" y="4824225"/>
            <a:ext cx="6965099" cy="1050673"/>
          </a:xfrm>
          <a:prstGeom prst="rect">
            <a:avLst/>
          </a:prstGeom>
          <a:noFill/>
          <a:ln>
            <a:noFill/>
          </a:ln>
        </p:spPr>
      </p:pic>
      <p:pic>
        <p:nvPicPr>
          <p:cNvPr id="1141" name="Google Shape;1141;p48"/>
          <p:cNvPicPr preferRelativeResize="0"/>
          <p:nvPr/>
        </p:nvPicPr>
        <p:blipFill rotWithShape="1">
          <a:blip r:embed="rId5">
            <a:alphaModFix/>
          </a:blip>
          <a:srcRect b="0" l="0" r="0" t="0"/>
          <a:stretch/>
        </p:blipFill>
        <p:spPr>
          <a:xfrm>
            <a:off x="2493654" y="1068373"/>
            <a:ext cx="7325171" cy="13128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41"/>
                                        </p:tgtEl>
                                        <p:attrNameLst>
                                          <p:attrName>style.visibility</p:attrName>
                                        </p:attrNameLst>
                                      </p:cBhvr>
                                      <p:to>
                                        <p:strVal val="visible"/>
                                      </p:to>
                                    </p:set>
                                    <p:anim calcmode="lin" valueType="num">
                                      <p:cBhvr additive="base">
                                        <p:cTn dur="500"/>
                                        <p:tgtEl>
                                          <p:spTgt spid="1141"/>
                                        </p:tgtEl>
                                        <p:attrNameLst>
                                          <p:attrName>ppt_w</p:attrName>
                                        </p:attrNameLst>
                                      </p:cBhvr>
                                      <p:tavLst>
                                        <p:tav fmla="" tm="0">
                                          <p:val>
                                            <p:strVal val="0"/>
                                          </p:val>
                                        </p:tav>
                                        <p:tav fmla="" tm="100000">
                                          <p:val>
                                            <p:strVal val="#ppt_w"/>
                                          </p:val>
                                        </p:tav>
                                      </p:tavLst>
                                    </p:anim>
                                    <p:anim calcmode="lin" valueType="num">
                                      <p:cBhvr additive="base">
                                        <p:cTn dur="500"/>
                                        <p:tgtEl>
                                          <p:spTgt spid="114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49"/>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48" name="Google Shape;1148;p49"/>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49" name="Google Shape;1149;p49"/>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0" name="Google Shape;1150;p49"/>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1" name="Google Shape;1151;p49"/>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2" name="Google Shape;1152;p49"/>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3" name="Google Shape;1153;p49"/>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4" name="Google Shape;1154;p49"/>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5" name="Google Shape;1155;p49"/>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156" name="Google Shape;1156;p49"/>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157" name="Google Shape;1157;p49"/>
          <p:cNvCxnSpPr/>
          <p:nvPr/>
        </p:nvCxnSpPr>
        <p:spPr>
          <a:xfrm>
            <a:off x="812800" y="38862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158" name="Google Shape;1158;p49"/>
          <p:cNvSpPr txBox="1"/>
          <p:nvPr/>
        </p:nvSpPr>
        <p:spPr>
          <a:xfrm>
            <a:off x="863600" y="2716212"/>
            <a:ext cx="10769700" cy="5850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use of the checksum in TCP is mandatory.</a:t>
            </a:r>
            <a:endParaRPr/>
          </a:p>
        </p:txBody>
      </p:sp>
      <p:grpSp>
        <p:nvGrpSpPr>
          <p:cNvPr id="1159" name="Google Shape;1159;p49"/>
          <p:cNvGrpSpPr/>
          <p:nvPr/>
        </p:nvGrpSpPr>
        <p:grpSpPr>
          <a:xfrm>
            <a:off x="812800" y="1981200"/>
            <a:ext cx="1523899" cy="566741"/>
            <a:chOff x="1200" y="1248"/>
            <a:chExt cx="720" cy="357"/>
          </a:xfrm>
        </p:grpSpPr>
        <p:pic>
          <p:nvPicPr>
            <p:cNvPr id="1160" name="Google Shape;1160;p49"/>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161" name="Google Shape;1161;p49"/>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56"/>
                                        </p:tgtEl>
                                        <p:attrNameLst>
                                          <p:attrName>style.visibility</p:attrName>
                                        </p:attrNameLst>
                                      </p:cBhvr>
                                      <p:to>
                                        <p:strVal val="visible"/>
                                      </p:to>
                                    </p:set>
                                    <p:animEffect filter="fade" transition="in">
                                      <p:cBhvr>
                                        <p:cTn dur="500"/>
                                        <p:tgtEl>
                                          <p:spTgt spid="11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57"/>
                                        </p:tgtEl>
                                        <p:attrNameLst>
                                          <p:attrName>style.visibility</p:attrName>
                                        </p:attrNameLst>
                                      </p:cBhvr>
                                      <p:to>
                                        <p:strVal val="visible"/>
                                      </p:to>
                                    </p:set>
                                    <p:animEffect filter="fade" transition="in">
                                      <p:cBhvr>
                                        <p:cTn dur="500"/>
                                        <p:tgtEl>
                                          <p:spTgt spid="115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58"/>
                                        </p:tgtEl>
                                        <p:attrNameLst>
                                          <p:attrName>style.visibility</p:attrName>
                                        </p:attrNameLst>
                                      </p:cBhvr>
                                      <p:to>
                                        <p:strVal val="visible"/>
                                      </p:to>
                                    </p:set>
                                    <p:animEffect filter="fade" transition="in">
                                      <p:cBhvr>
                                        <p:cTn dur="500"/>
                                        <p:tgtEl>
                                          <p:spTgt spid="1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50"/>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68" name="Google Shape;1168;p50"/>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pic>
        <p:nvPicPr>
          <p:cNvPr id="1169" name="Google Shape;1169;p50"/>
          <p:cNvPicPr preferRelativeResize="0"/>
          <p:nvPr/>
        </p:nvPicPr>
        <p:blipFill rotWithShape="1">
          <a:blip r:embed="rId3">
            <a:alphaModFix/>
          </a:blip>
          <a:srcRect b="0" l="0" r="0" t="0"/>
          <a:stretch/>
        </p:blipFill>
        <p:spPr>
          <a:xfrm>
            <a:off x="1824575" y="3422650"/>
            <a:ext cx="6587597" cy="1197141"/>
          </a:xfrm>
          <a:prstGeom prst="rect">
            <a:avLst/>
          </a:prstGeom>
          <a:noFill/>
          <a:ln>
            <a:noFill/>
          </a:ln>
        </p:spPr>
      </p:pic>
      <p:pic>
        <p:nvPicPr>
          <p:cNvPr id="1170" name="Google Shape;1170;p50"/>
          <p:cNvPicPr preferRelativeResize="0"/>
          <p:nvPr/>
        </p:nvPicPr>
        <p:blipFill rotWithShape="1">
          <a:blip r:embed="rId4">
            <a:alphaModFix/>
          </a:blip>
          <a:srcRect b="0" l="0" r="0" t="0"/>
          <a:stretch/>
        </p:blipFill>
        <p:spPr>
          <a:xfrm>
            <a:off x="3115725" y="2203450"/>
            <a:ext cx="5319722" cy="938500"/>
          </a:xfrm>
          <a:prstGeom prst="rect">
            <a:avLst/>
          </a:prstGeom>
          <a:noFill/>
          <a:ln>
            <a:noFill/>
          </a:ln>
        </p:spPr>
      </p:pic>
      <p:sp>
        <p:nvSpPr>
          <p:cNvPr id="1171" name="Google Shape;1171;p50"/>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15.8</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Encapsulation</a:t>
            </a:r>
            <a:endParaRPr/>
          </a:p>
        </p:txBody>
      </p:sp>
      <p:sp>
        <p:nvSpPr>
          <p:cNvPr id="1172" name="Google Shape;1172;p50"/>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3" name="Google Shape;1173;p50"/>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4" name="Google Shape;1174;p50"/>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5" name="Google Shape;1175;p50"/>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6" name="Google Shape;1176;p50"/>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7" name="Google Shape;1177;p50"/>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8" name="Google Shape;1178;p50"/>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179" name="Google Shape;1179;p50"/>
          <p:cNvPicPr preferRelativeResize="0"/>
          <p:nvPr/>
        </p:nvPicPr>
        <p:blipFill rotWithShape="1">
          <a:blip r:embed="rId5">
            <a:alphaModFix/>
          </a:blip>
          <a:srcRect b="0" l="0" r="0" t="0"/>
          <a:stretch/>
        </p:blipFill>
        <p:spPr>
          <a:xfrm>
            <a:off x="4523316" y="1125537"/>
            <a:ext cx="3959222" cy="674687"/>
          </a:xfrm>
          <a:prstGeom prst="rect">
            <a:avLst/>
          </a:prstGeom>
          <a:noFill/>
          <a:ln>
            <a:noFill/>
          </a:ln>
        </p:spPr>
      </p:pic>
      <p:pic>
        <p:nvPicPr>
          <p:cNvPr id="1180" name="Google Shape;1180;p50"/>
          <p:cNvPicPr preferRelativeResize="0"/>
          <p:nvPr/>
        </p:nvPicPr>
        <p:blipFill rotWithShape="1">
          <a:blip r:embed="rId6">
            <a:alphaModFix/>
          </a:blip>
          <a:srcRect b="0" l="0" r="0" t="0"/>
          <a:stretch/>
        </p:blipFill>
        <p:spPr>
          <a:xfrm>
            <a:off x="2965449" y="4684712"/>
            <a:ext cx="5319714" cy="1368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185" name="Shape 1185"/>
        <p:cNvGrpSpPr/>
        <p:nvPr/>
      </p:nvGrpSpPr>
      <p:grpSpPr>
        <a:xfrm>
          <a:off x="0" y="0"/>
          <a:ext cx="0" cy="0"/>
          <a:chOff x="0" y="0"/>
          <a:chExt cx="0" cy="0"/>
        </a:xfrm>
      </p:grpSpPr>
      <p:sp>
        <p:nvSpPr>
          <p:cNvPr id="1186" name="Google Shape;1186;p51"/>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87" name="Google Shape;1187;p51"/>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88" name="Google Shape;1188;p51"/>
          <p:cNvSpPr txBox="1"/>
          <p:nvPr/>
        </p:nvSpPr>
        <p:spPr>
          <a:xfrm>
            <a:off x="304800" y="152400"/>
            <a:ext cx="7292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189" name="Google Shape;1189;p51"/>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90" name="Google Shape;1190;p51"/>
          <p:cNvSpPr txBox="1"/>
          <p:nvPr/>
        </p:nvSpPr>
        <p:spPr>
          <a:xfrm>
            <a:off x="406400" y="989012"/>
            <a:ext cx="11175900" cy="23247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Connection Establishment </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Data Transfer</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Connection Termination</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Connection Reset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0"/>
                                        </p:tgtEl>
                                        <p:attrNameLst>
                                          <p:attrName>style.visibility</p:attrName>
                                        </p:attrNameLst>
                                      </p:cBhvr>
                                      <p:to>
                                        <p:strVal val="visible"/>
                                      </p:to>
                                    </p:set>
                                    <p:animEffect filter="fade" transition="in">
                                      <p:cBhvr>
                                        <p:cTn dur="5000"/>
                                        <p:tgtEl>
                                          <p:spTgt spid="1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52"/>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97" name="Google Shape;1197;p52"/>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98" name="Google Shape;1198;p52"/>
          <p:cNvSpPr txBox="1"/>
          <p:nvPr/>
        </p:nvSpPr>
        <p:spPr>
          <a:xfrm>
            <a:off x="1320800" y="90487"/>
            <a:ext cx="10363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Connection establishment using three-way handshake</a:t>
            </a:r>
            <a:endParaRPr/>
          </a:p>
        </p:txBody>
      </p:sp>
      <p:sp>
        <p:nvSpPr>
          <p:cNvPr id="1199" name="Google Shape;1199;p52"/>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0" name="Google Shape;1200;p52"/>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1" name="Google Shape;1201;p52"/>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2" name="Google Shape;1202;p52"/>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3" name="Google Shape;1203;p52"/>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4" name="Google Shape;1204;p52"/>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205" name="Google Shape;1205;p52"/>
          <p:cNvPicPr preferRelativeResize="0"/>
          <p:nvPr/>
        </p:nvPicPr>
        <p:blipFill rotWithShape="1">
          <a:blip r:embed="rId3">
            <a:alphaModFix/>
          </a:blip>
          <a:srcRect b="0" l="0" r="0" t="0"/>
          <a:stretch/>
        </p:blipFill>
        <p:spPr>
          <a:xfrm>
            <a:off x="381000" y="1292225"/>
            <a:ext cx="8262937" cy="4591050"/>
          </a:xfrm>
          <a:prstGeom prst="rect">
            <a:avLst/>
          </a:prstGeom>
          <a:noFill/>
          <a:ln>
            <a:noFill/>
          </a:ln>
        </p:spPr>
      </p:pic>
      <p:sp>
        <p:nvSpPr>
          <p:cNvPr id="1206" name="Google Shape;1206;p52"/>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207" name="Google Shape;1207;p52"/>
          <p:cNvPicPr preferRelativeResize="0"/>
          <p:nvPr/>
        </p:nvPicPr>
        <p:blipFill rotWithShape="1">
          <a:blip r:embed="rId4">
            <a:alphaModFix/>
          </a:blip>
          <a:srcRect b="0" l="0" r="0" t="0"/>
          <a:stretch/>
        </p:blipFill>
        <p:spPr>
          <a:xfrm>
            <a:off x="1403349" y="4240212"/>
            <a:ext cx="960437" cy="474662"/>
          </a:xfrm>
          <a:prstGeom prst="rect">
            <a:avLst/>
          </a:prstGeom>
          <a:noFill/>
          <a:ln>
            <a:noFill/>
          </a:ln>
        </p:spPr>
      </p:pic>
      <p:pic>
        <p:nvPicPr>
          <p:cNvPr id="1208" name="Google Shape;1208;p52"/>
          <p:cNvPicPr preferRelativeResize="0"/>
          <p:nvPr/>
        </p:nvPicPr>
        <p:blipFill rotWithShape="1">
          <a:blip r:embed="rId5">
            <a:alphaModFix/>
          </a:blip>
          <a:srcRect b="0" l="0" r="0" t="0"/>
          <a:stretch/>
        </p:blipFill>
        <p:spPr>
          <a:xfrm>
            <a:off x="9313333" y="5108575"/>
            <a:ext cx="968375" cy="479425"/>
          </a:xfrm>
          <a:prstGeom prst="rect">
            <a:avLst/>
          </a:prstGeom>
          <a:noFill/>
          <a:ln>
            <a:noFill/>
          </a:ln>
        </p:spPr>
      </p:pic>
      <p:pic>
        <p:nvPicPr>
          <p:cNvPr id="1209" name="Google Shape;1209;p52"/>
          <p:cNvPicPr preferRelativeResize="0"/>
          <p:nvPr/>
        </p:nvPicPr>
        <p:blipFill rotWithShape="1">
          <a:blip r:embed="rId6">
            <a:alphaModFix/>
          </a:blip>
          <a:srcRect b="0" l="0" r="0" t="0"/>
          <a:stretch/>
        </p:blipFill>
        <p:spPr>
          <a:xfrm>
            <a:off x="9334500" y="2809875"/>
            <a:ext cx="941388" cy="490538"/>
          </a:xfrm>
          <a:prstGeom prst="rect">
            <a:avLst/>
          </a:prstGeom>
          <a:noFill/>
          <a:ln>
            <a:noFill/>
          </a:ln>
        </p:spPr>
      </p:pic>
      <p:pic>
        <p:nvPicPr>
          <p:cNvPr id="1210" name="Google Shape;1210;p52"/>
          <p:cNvPicPr preferRelativeResize="0"/>
          <p:nvPr/>
        </p:nvPicPr>
        <p:blipFill rotWithShape="1">
          <a:blip r:embed="rId7">
            <a:alphaModFix/>
          </a:blip>
          <a:srcRect b="0" l="0" r="0" t="0"/>
          <a:stretch/>
        </p:blipFill>
        <p:spPr>
          <a:xfrm>
            <a:off x="1409700" y="2906712"/>
            <a:ext cx="941388" cy="490538"/>
          </a:xfrm>
          <a:prstGeom prst="rect">
            <a:avLst/>
          </a:prstGeom>
          <a:noFill/>
          <a:ln>
            <a:noFill/>
          </a:ln>
        </p:spPr>
      </p:pic>
      <p:pic>
        <p:nvPicPr>
          <p:cNvPr id="1211" name="Google Shape;1211;p52"/>
          <p:cNvPicPr preferRelativeResize="0"/>
          <p:nvPr/>
        </p:nvPicPr>
        <p:blipFill rotWithShape="1">
          <a:blip r:embed="rId8">
            <a:alphaModFix/>
          </a:blip>
          <a:srcRect b="0" l="0" r="0" t="0"/>
          <a:stretch/>
        </p:blipFill>
        <p:spPr>
          <a:xfrm>
            <a:off x="2755900" y="2992437"/>
            <a:ext cx="4881561" cy="1081087"/>
          </a:xfrm>
          <a:prstGeom prst="rect">
            <a:avLst/>
          </a:prstGeom>
          <a:noFill/>
          <a:ln>
            <a:noFill/>
          </a:ln>
        </p:spPr>
      </p:pic>
      <p:pic>
        <p:nvPicPr>
          <p:cNvPr id="1212" name="Google Shape;1212;p52"/>
          <p:cNvPicPr preferRelativeResize="0"/>
          <p:nvPr/>
        </p:nvPicPr>
        <p:blipFill rotWithShape="1">
          <a:blip r:embed="rId9">
            <a:alphaModFix/>
          </a:blip>
          <a:srcRect b="0" l="0" r="0" t="0"/>
          <a:stretch/>
        </p:blipFill>
        <p:spPr>
          <a:xfrm>
            <a:off x="2688167" y="3848100"/>
            <a:ext cx="4918076" cy="1087437"/>
          </a:xfrm>
          <a:prstGeom prst="rect">
            <a:avLst/>
          </a:prstGeom>
          <a:noFill/>
          <a:ln>
            <a:noFill/>
          </a:ln>
        </p:spPr>
      </p:pic>
      <p:pic>
        <p:nvPicPr>
          <p:cNvPr id="1213" name="Google Shape;1213;p52"/>
          <p:cNvPicPr preferRelativeResize="0"/>
          <p:nvPr/>
        </p:nvPicPr>
        <p:blipFill rotWithShape="1">
          <a:blip r:embed="rId10">
            <a:alphaModFix/>
          </a:blip>
          <a:srcRect b="0" l="0" r="0" t="0"/>
          <a:stretch/>
        </p:blipFill>
        <p:spPr>
          <a:xfrm>
            <a:off x="2692400" y="4730750"/>
            <a:ext cx="4918077" cy="1066800"/>
          </a:xfrm>
          <a:prstGeom prst="rect">
            <a:avLst/>
          </a:prstGeom>
          <a:noFill/>
          <a:ln>
            <a:noFill/>
          </a:ln>
        </p:spPr>
      </p:pic>
      <p:sp>
        <p:nvSpPr>
          <p:cNvPr id="1214" name="Google Shape;1214;p52"/>
          <p:cNvSpPr/>
          <p:nvPr/>
        </p:nvSpPr>
        <p:spPr>
          <a:xfrm rot="135255">
            <a:off x="3975679" y="4719487"/>
            <a:ext cx="1624557" cy="381315"/>
          </a:xfrm>
          <a:prstGeom prst="ellipse">
            <a:avLst/>
          </a:prstGeom>
          <a:noFill/>
          <a:ln cap="flat" cmpd="sng" w="2857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215" name="Google Shape;1215;p52"/>
          <p:cNvCxnSpPr/>
          <p:nvPr/>
        </p:nvCxnSpPr>
        <p:spPr>
          <a:xfrm rot="10800000">
            <a:off x="5397600" y="4948237"/>
            <a:ext cx="507900" cy="914400"/>
          </a:xfrm>
          <a:prstGeom prst="straightConnector1">
            <a:avLst/>
          </a:prstGeom>
          <a:noFill/>
          <a:ln cap="flat" cmpd="sng" w="28575">
            <a:solidFill>
              <a:schemeClr val="folHlink"/>
            </a:solidFill>
            <a:prstDash val="solid"/>
            <a:miter lim="800000"/>
            <a:headEnd len="med" w="med" type="none"/>
            <a:tailEnd len="med" w="med" type="triangle"/>
          </a:ln>
        </p:spPr>
      </p:cxnSp>
      <p:sp>
        <p:nvSpPr>
          <p:cNvPr id="1216" name="Google Shape;1216;p52"/>
          <p:cNvSpPr txBox="1"/>
          <p:nvPr/>
        </p:nvSpPr>
        <p:spPr>
          <a:xfrm>
            <a:off x="4889500" y="5805487"/>
            <a:ext cx="2853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1800"/>
              <a:buFont typeface="Arial"/>
              <a:buNone/>
            </a:pPr>
            <a:r>
              <a:rPr b="1" i="1" lang="en-US" sz="1800" u="none">
                <a:solidFill>
                  <a:schemeClr val="folHlink"/>
                </a:solidFill>
                <a:latin typeface="Arial"/>
                <a:ea typeface="Arial"/>
                <a:cs typeface="Arial"/>
                <a:sym typeface="Arial"/>
              </a:rPr>
              <a:t>Means “no data” !</a:t>
            </a:r>
            <a:endParaRPr/>
          </a:p>
        </p:txBody>
      </p:sp>
      <p:sp>
        <p:nvSpPr>
          <p:cNvPr id="1217" name="Google Shape;1217;p52"/>
          <p:cNvSpPr txBox="1"/>
          <p:nvPr/>
        </p:nvSpPr>
        <p:spPr>
          <a:xfrm>
            <a:off x="4868333" y="6105525"/>
            <a:ext cx="418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1800"/>
              <a:buFont typeface="Tahoma"/>
              <a:buNone/>
            </a:pPr>
            <a:r>
              <a:rPr b="1" i="0" lang="en-US" sz="1800" u="none">
                <a:solidFill>
                  <a:schemeClr val="hlink"/>
                </a:solidFill>
                <a:latin typeface="Tahoma"/>
                <a:ea typeface="Tahoma"/>
                <a:cs typeface="Tahoma"/>
                <a:sym typeface="Tahoma"/>
              </a:rPr>
              <a:t>seq: 8001 if piggybacking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9"/>
                                        </p:tgtEl>
                                        <p:attrNameLst>
                                          <p:attrName>style.visibility</p:attrName>
                                        </p:attrNameLst>
                                      </p:cBhvr>
                                      <p:to>
                                        <p:strVal val="visible"/>
                                      </p:to>
                                    </p:set>
                                    <p:animEffect filter="fade" transition="in">
                                      <p:cBhvr>
                                        <p:cTn dur="2000"/>
                                        <p:tgtEl>
                                          <p:spTgt spid="1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gtEl>
                                        <p:attrNameLst>
                                          <p:attrName>style.visibility</p:attrName>
                                        </p:attrNameLst>
                                      </p:cBhvr>
                                      <p:to>
                                        <p:strVal val="visible"/>
                                      </p:to>
                                    </p:set>
                                    <p:animEffect filter="fade" transition="in">
                                      <p:cBhvr>
                                        <p:cTn dur="2000"/>
                                        <p:tgtEl>
                                          <p:spTgt spid="1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1"/>
                                        </p:tgtEl>
                                        <p:attrNameLst>
                                          <p:attrName>style.visibility</p:attrName>
                                        </p:attrNameLst>
                                      </p:cBhvr>
                                      <p:to>
                                        <p:strVal val="visible"/>
                                      </p:to>
                                    </p:set>
                                    <p:animEffect filter="fade" transition="in">
                                      <p:cBhvr>
                                        <p:cTn dur="2000"/>
                                        <p:tgtEl>
                                          <p:spTgt spid="1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gtEl>
                                        <p:attrNameLst>
                                          <p:attrName>style.visibility</p:attrName>
                                        </p:attrNameLst>
                                      </p:cBhvr>
                                      <p:to>
                                        <p:strVal val="visible"/>
                                      </p:to>
                                    </p:set>
                                    <p:animEffect filter="fade" transition="in">
                                      <p:cBhvr>
                                        <p:cTn dur="2000"/>
                                        <p:tgtEl>
                                          <p:spTgt spid="1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7"/>
                                        </p:tgtEl>
                                        <p:attrNameLst>
                                          <p:attrName>style.visibility</p:attrName>
                                        </p:attrNameLst>
                                      </p:cBhvr>
                                      <p:to>
                                        <p:strVal val="visible"/>
                                      </p:to>
                                    </p:set>
                                    <p:animEffect filter="fade" transition="in">
                                      <p:cBhvr>
                                        <p:cTn dur="2000"/>
                                        <p:tgtEl>
                                          <p:spTgt spid="1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gtEl>
                                        <p:attrNameLst>
                                          <p:attrName>style.visibility</p:attrName>
                                        </p:attrNameLst>
                                      </p:cBhvr>
                                      <p:to>
                                        <p:strVal val="visible"/>
                                      </p:to>
                                    </p:set>
                                    <p:animEffect filter="fade" transition="in">
                                      <p:cBhvr>
                                        <p:cTn dur="2000"/>
                                        <p:tgtEl>
                                          <p:spTgt spid="1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8"/>
                                        </p:tgtEl>
                                        <p:attrNameLst>
                                          <p:attrName>style.visibility</p:attrName>
                                        </p:attrNameLst>
                                      </p:cBhvr>
                                      <p:to>
                                        <p:strVal val="visible"/>
                                      </p:to>
                                    </p:set>
                                    <p:animEffect filter="fade" transition="in">
                                      <p:cBhvr>
                                        <p:cTn dur="2000"/>
                                        <p:tgtEl>
                                          <p:spTgt spid="1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53"/>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24" name="Google Shape;1224;p53"/>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25" name="Google Shape;1225;p53"/>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26" name="Google Shape;1226;p53"/>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27" name="Google Shape;1227;p53"/>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28" name="Google Shape;1228;p53"/>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29" name="Google Shape;1229;p53"/>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30" name="Google Shape;1230;p53"/>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31" name="Google Shape;1231;p53"/>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232" name="Google Shape;1232;p53"/>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233" name="Google Shape;1233;p53"/>
          <p:cNvCxnSpPr/>
          <p:nvPr/>
        </p:nvCxnSpPr>
        <p:spPr>
          <a:xfrm>
            <a:off x="812800" y="38862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234" name="Google Shape;1234;p53"/>
          <p:cNvSpPr txBox="1"/>
          <p:nvPr/>
        </p:nvSpPr>
        <p:spPr>
          <a:xfrm>
            <a:off x="863600" y="2716212"/>
            <a:ext cx="10769700" cy="10773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A SYN segment cannot carry data, but it consumes one sequence number.</a:t>
            </a:r>
            <a:endParaRPr/>
          </a:p>
        </p:txBody>
      </p:sp>
      <p:grpSp>
        <p:nvGrpSpPr>
          <p:cNvPr id="1235" name="Google Shape;1235;p53"/>
          <p:cNvGrpSpPr/>
          <p:nvPr/>
        </p:nvGrpSpPr>
        <p:grpSpPr>
          <a:xfrm>
            <a:off x="812800" y="1981200"/>
            <a:ext cx="1523899" cy="566741"/>
            <a:chOff x="1200" y="1248"/>
            <a:chExt cx="720" cy="357"/>
          </a:xfrm>
        </p:grpSpPr>
        <p:pic>
          <p:nvPicPr>
            <p:cNvPr id="1236" name="Google Shape;1236;p53"/>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237" name="Google Shape;1237;p53"/>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32"/>
                                        </p:tgtEl>
                                        <p:attrNameLst>
                                          <p:attrName>style.visibility</p:attrName>
                                        </p:attrNameLst>
                                      </p:cBhvr>
                                      <p:to>
                                        <p:strVal val="visible"/>
                                      </p:to>
                                    </p:set>
                                    <p:animEffect filter="fade" transition="in">
                                      <p:cBhvr>
                                        <p:cTn dur="500"/>
                                        <p:tgtEl>
                                          <p:spTgt spid="123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33"/>
                                        </p:tgtEl>
                                        <p:attrNameLst>
                                          <p:attrName>style.visibility</p:attrName>
                                        </p:attrNameLst>
                                      </p:cBhvr>
                                      <p:to>
                                        <p:strVal val="visible"/>
                                      </p:to>
                                    </p:set>
                                    <p:animEffect filter="fade" transition="in">
                                      <p:cBhvr>
                                        <p:cTn dur="500"/>
                                        <p:tgtEl>
                                          <p:spTgt spid="12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34"/>
                                        </p:tgtEl>
                                        <p:attrNameLst>
                                          <p:attrName>style.visibility</p:attrName>
                                        </p:attrNameLst>
                                      </p:cBhvr>
                                      <p:to>
                                        <p:strVal val="visible"/>
                                      </p:to>
                                    </p:set>
                                    <p:animEffect filter="fade" transition="in">
                                      <p:cBhvr>
                                        <p:cTn dur="500"/>
                                        <p:tgtEl>
                                          <p:spTgt spid="1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54"/>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44" name="Google Shape;1244;p54"/>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45" name="Google Shape;1245;p54"/>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46" name="Google Shape;1246;p54"/>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47" name="Google Shape;1247;p54"/>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48" name="Google Shape;1248;p54"/>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49" name="Google Shape;1249;p54"/>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50" name="Google Shape;1250;p54"/>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51" name="Google Shape;1251;p54"/>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252" name="Google Shape;1252;p54"/>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253" name="Google Shape;1253;p54"/>
          <p:cNvCxnSpPr/>
          <p:nvPr/>
        </p:nvCxnSpPr>
        <p:spPr>
          <a:xfrm>
            <a:off x="812800" y="43434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254" name="Google Shape;1254;p54"/>
          <p:cNvSpPr txBox="1"/>
          <p:nvPr/>
        </p:nvSpPr>
        <p:spPr>
          <a:xfrm>
            <a:off x="863600" y="2716212"/>
            <a:ext cx="10769700" cy="15699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A SYN + ACK segment cannot carry data, but does consume one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sequence number.</a:t>
            </a:r>
            <a:endParaRPr/>
          </a:p>
        </p:txBody>
      </p:sp>
      <p:grpSp>
        <p:nvGrpSpPr>
          <p:cNvPr id="1255" name="Google Shape;1255;p54"/>
          <p:cNvGrpSpPr/>
          <p:nvPr/>
        </p:nvGrpSpPr>
        <p:grpSpPr>
          <a:xfrm>
            <a:off x="812800" y="1981200"/>
            <a:ext cx="1523899" cy="566741"/>
            <a:chOff x="1200" y="1248"/>
            <a:chExt cx="720" cy="357"/>
          </a:xfrm>
        </p:grpSpPr>
        <p:pic>
          <p:nvPicPr>
            <p:cNvPr id="1256" name="Google Shape;1256;p5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257" name="Google Shape;1257;p54"/>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52"/>
                                        </p:tgtEl>
                                        <p:attrNameLst>
                                          <p:attrName>style.visibility</p:attrName>
                                        </p:attrNameLst>
                                      </p:cBhvr>
                                      <p:to>
                                        <p:strVal val="visible"/>
                                      </p:to>
                                    </p:set>
                                    <p:animEffect filter="fade" transition="in">
                                      <p:cBhvr>
                                        <p:cTn dur="500"/>
                                        <p:tgtEl>
                                          <p:spTgt spid="125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53"/>
                                        </p:tgtEl>
                                        <p:attrNameLst>
                                          <p:attrName>style.visibility</p:attrName>
                                        </p:attrNameLst>
                                      </p:cBhvr>
                                      <p:to>
                                        <p:strVal val="visible"/>
                                      </p:to>
                                    </p:set>
                                    <p:animEffect filter="fade" transition="in">
                                      <p:cBhvr>
                                        <p:cTn dur="500"/>
                                        <p:tgtEl>
                                          <p:spTgt spid="12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54"/>
                                        </p:tgtEl>
                                        <p:attrNameLst>
                                          <p:attrName>style.visibility</p:attrName>
                                        </p:attrNameLst>
                                      </p:cBhvr>
                                      <p:to>
                                        <p:strVal val="visible"/>
                                      </p:to>
                                    </p:set>
                                    <p:animEffect filter="fade" transition="in">
                                      <p:cBhvr>
                                        <p:cTn dur="500"/>
                                        <p:tgtEl>
                                          <p:spTgt spid="1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55"/>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64" name="Google Shape;1264;p55"/>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65" name="Google Shape;1265;p55"/>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66" name="Google Shape;1266;p55"/>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67" name="Google Shape;1267;p55"/>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68" name="Google Shape;1268;p55"/>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69" name="Google Shape;1269;p55"/>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70" name="Google Shape;1270;p55"/>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71" name="Google Shape;1271;p55"/>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272" name="Google Shape;1272;p55"/>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273" name="Google Shape;1273;p55"/>
          <p:cNvCxnSpPr/>
          <p:nvPr/>
        </p:nvCxnSpPr>
        <p:spPr>
          <a:xfrm>
            <a:off x="812800" y="38862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274" name="Google Shape;1274;p55"/>
          <p:cNvSpPr txBox="1"/>
          <p:nvPr/>
        </p:nvSpPr>
        <p:spPr>
          <a:xfrm>
            <a:off x="863600" y="2716212"/>
            <a:ext cx="10769700" cy="10773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An ACK segment, if carrying no data, consumes no sequence number.</a:t>
            </a:r>
            <a:endParaRPr/>
          </a:p>
        </p:txBody>
      </p:sp>
      <p:grpSp>
        <p:nvGrpSpPr>
          <p:cNvPr id="1275" name="Google Shape;1275;p55"/>
          <p:cNvGrpSpPr/>
          <p:nvPr/>
        </p:nvGrpSpPr>
        <p:grpSpPr>
          <a:xfrm>
            <a:off x="812800" y="1981200"/>
            <a:ext cx="1523899" cy="566741"/>
            <a:chOff x="1200" y="1248"/>
            <a:chExt cx="720" cy="357"/>
          </a:xfrm>
        </p:grpSpPr>
        <p:pic>
          <p:nvPicPr>
            <p:cNvPr id="1276" name="Google Shape;1276;p55"/>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277" name="Google Shape;1277;p55"/>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72"/>
                                        </p:tgtEl>
                                        <p:attrNameLst>
                                          <p:attrName>style.visibility</p:attrName>
                                        </p:attrNameLst>
                                      </p:cBhvr>
                                      <p:to>
                                        <p:strVal val="visible"/>
                                      </p:to>
                                    </p:set>
                                    <p:animEffect filter="fade" transition="in">
                                      <p:cBhvr>
                                        <p:cTn dur="500"/>
                                        <p:tgtEl>
                                          <p:spTgt spid="127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73"/>
                                        </p:tgtEl>
                                        <p:attrNameLst>
                                          <p:attrName>style.visibility</p:attrName>
                                        </p:attrNameLst>
                                      </p:cBhvr>
                                      <p:to>
                                        <p:strVal val="visible"/>
                                      </p:to>
                                    </p:set>
                                    <p:animEffect filter="fade" transition="in">
                                      <p:cBhvr>
                                        <p:cTn dur="500"/>
                                        <p:tgtEl>
                                          <p:spTgt spid="12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74"/>
                                        </p:tgtEl>
                                        <p:attrNameLst>
                                          <p:attrName>style.visibility</p:attrName>
                                        </p:attrNameLst>
                                      </p:cBhvr>
                                      <p:to>
                                        <p:strVal val="visible"/>
                                      </p:to>
                                    </p:set>
                                    <p:animEffect filter="fade" transition="in">
                                      <p:cBhvr>
                                        <p:cTn dur="500"/>
                                        <p:tgtEl>
                                          <p:spTgt spid="12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p56"/>
          <p:cNvSpPr txBox="1"/>
          <p:nvPr/>
        </p:nvSpPr>
        <p:spPr>
          <a:xfrm>
            <a:off x="1778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84" name="Google Shape;1284;p56"/>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85" name="Google Shape;1285;p56"/>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15.10</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Data Transfer</a:t>
            </a:r>
            <a:endParaRPr/>
          </a:p>
        </p:txBody>
      </p:sp>
      <p:sp>
        <p:nvSpPr>
          <p:cNvPr id="1286" name="Google Shape;1286;p56"/>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87" name="Google Shape;1287;p56"/>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88" name="Google Shape;1288;p56"/>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89" name="Google Shape;1289;p56"/>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90" name="Google Shape;1290;p56"/>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91" name="Google Shape;1291;p56"/>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92" name="Google Shape;1292;p56"/>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293" name="Google Shape;1293;p56"/>
          <p:cNvPicPr preferRelativeResize="0"/>
          <p:nvPr/>
        </p:nvPicPr>
        <p:blipFill rotWithShape="1">
          <a:blip r:embed="rId3">
            <a:alphaModFix/>
          </a:blip>
          <a:srcRect b="0" l="0" r="0" t="0"/>
          <a:stretch/>
        </p:blipFill>
        <p:spPr>
          <a:xfrm>
            <a:off x="3731683" y="850900"/>
            <a:ext cx="5465761" cy="5380038"/>
          </a:xfrm>
          <a:prstGeom prst="rect">
            <a:avLst/>
          </a:prstGeom>
          <a:noFill/>
          <a:ln>
            <a:noFill/>
          </a:ln>
        </p:spPr>
      </p:pic>
      <p:pic>
        <p:nvPicPr>
          <p:cNvPr id="1294" name="Google Shape;1294;p56"/>
          <p:cNvPicPr preferRelativeResize="0"/>
          <p:nvPr/>
        </p:nvPicPr>
        <p:blipFill rotWithShape="1">
          <a:blip r:embed="rId4">
            <a:alphaModFix/>
          </a:blip>
          <a:srcRect b="0" l="0" r="0" t="0"/>
          <a:stretch/>
        </p:blipFill>
        <p:spPr>
          <a:xfrm>
            <a:off x="4311649" y="2309812"/>
            <a:ext cx="4652963" cy="3271837"/>
          </a:xfrm>
          <a:prstGeom prst="rect">
            <a:avLst/>
          </a:prstGeom>
          <a:noFill/>
          <a:ln>
            <a:noFill/>
          </a:ln>
        </p:spPr>
      </p:pic>
      <p:pic>
        <p:nvPicPr>
          <p:cNvPr id="1295" name="Google Shape;1295;p56"/>
          <p:cNvPicPr preferRelativeResize="0"/>
          <p:nvPr/>
        </p:nvPicPr>
        <p:blipFill rotWithShape="1">
          <a:blip r:embed="rId5">
            <a:alphaModFix/>
          </a:blip>
          <a:srcRect b="0" l="0" r="0" t="0"/>
          <a:stretch/>
        </p:blipFill>
        <p:spPr>
          <a:xfrm>
            <a:off x="5281083" y="5680075"/>
            <a:ext cx="3235323" cy="328612"/>
          </a:xfrm>
          <a:prstGeom prst="rect">
            <a:avLst/>
          </a:prstGeom>
          <a:noFill/>
          <a:ln>
            <a:noFill/>
          </a:ln>
        </p:spPr>
      </p:pic>
      <p:pic>
        <p:nvPicPr>
          <p:cNvPr id="1296" name="Google Shape;1296;p56"/>
          <p:cNvPicPr preferRelativeResize="0"/>
          <p:nvPr/>
        </p:nvPicPr>
        <p:blipFill rotWithShape="1">
          <a:blip r:embed="rId6">
            <a:alphaModFix/>
          </a:blip>
          <a:srcRect b="0" l="0" r="0" t="0"/>
          <a:stretch/>
        </p:blipFill>
        <p:spPr>
          <a:xfrm>
            <a:off x="5278967" y="1935162"/>
            <a:ext cx="3217861" cy="312737"/>
          </a:xfrm>
          <a:prstGeom prst="rect">
            <a:avLst/>
          </a:prstGeom>
          <a:noFill/>
          <a:ln>
            <a:noFill/>
          </a:ln>
        </p:spPr>
      </p:pic>
      <p:sp>
        <p:nvSpPr>
          <p:cNvPr id="1297" name="Google Shape;1297;p56"/>
          <p:cNvSpPr txBox="1"/>
          <p:nvPr/>
        </p:nvSpPr>
        <p:spPr>
          <a:xfrm>
            <a:off x="1631949" y="4402137"/>
            <a:ext cx="22647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ahoma"/>
              <a:buNone/>
            </a:pPr>
            <a:r>
              <a:rPr b="1" i="0" lang="en-US" sz="1800" u="none">
                <a:solidFill>
                  <a:srgbClr val="0000FF"/>
                </a:solidFill>
                <a:latin typeface="Tahoma"/>
                <a:ea typeface="Tahoma"/>
                <a:cs typeface="Tahoma"/>
                <a:sym typeface="Tahoma"/>
              </a:rPr>
              <a:t>Pushing data</a:t>
            </a:r>
            <a:endParaRPr/>
          </a:p>
          <a:p>
            <a:pPr indent="0" lvl="0" marL="0" marR="0" rtl="0" algn="l">
              <a:lnSpc>
                <a:spcPct val="100000"/>
              </a:lnSpc>
              <a:spcBef>
                <a:spcPts val="600"/>
              </a:spcBef>
              <a:spcAft>
                <a:spcPts val="0"/>
              </a:spcAft>
              <a:buClr>
                <a:srgbClr val="0000FF"/>
              </a:buClr>
              <a:buSzPts val="1800"/>
              <a:buFont typeface="Tahoma"/>
              <a:buNone/>
            </a:pPr>
            <a:r>
              <a:rPr b="1" i="0" lang="en-US" sz="1800" u="none">
                <a:solidFill>
                  <a:srgbClr val="0000FF"/>
                </a:solidFill>
                <a:latin typeface="Tahoma"/>
                <a:ea typeface="Tahoma"/>
                <a:cs typeface="Tahoma"/>
                <a:sym typeface="Tahoma"/>
              </a:rPr>
              <a:t>Urgent data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96"/>
                                        </p:tgtEl>
                                        <p:attrNameLst>
                                          <p:attrName>style.visibility</p:attrName>
                                        </p:attrNameLst>
                                      </p:cBhvr>
                                      <p:to>
                                        <p:strVal val="visible"/>
                                      </p:to>
                                    </p:set>
                                    <p:anim calcmode="lin" valueType="num">
                                      <p:cBhvr additive="base">
                                        <p:cTn dur="500"/>
                                        <p:tgtEl>
                                          <p:spTgt spid="1296"/>
                                        </p:tgtEl>
                                        <p:attrNameLst>
                                          <p:attrName>ppt_w</p:attrName>
                                        </p:attrNameLst>
                                      </p:cBhvr>
                                      <p:tavLst>
                                        <p:tav fmla="" tm="0">
                                          <p:val>
                                            <p:strVal val="0"/>
                                          </p:val>
                                        </p:tav>
                                        <p:tav fmla="" tm="100000">
                                          <p:val>
                                            <p:strVal val="#ppt_w"/>
                                          </p:val>
                                        </p:tav>
                                      </p:tavLst>
                                    </p:anim>
                                    <p:anim calcmode="lin" valueType="num">
                                      <p:cBhvr additive="base">
                                        <p:cTn dur="500"/>
                                        <p:tgtEl>
                                          <p:spTgt spid="129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4"/>
                                        </p:tgtEl>
                                        <p:attrNameLst>
                                          <p:attrName>style.visibility</p:attrName>
                                        </p:attrNameLst>
                                      </p:cBhvr>
                                      <p:to>
                                        <p:strVal val="visible"/>
                                      </p:to>
                                    </p:set>
                                    <p:animEffect filter="fade" transition="in">
                                      <p:cBhvr>
                                        <p:cTn dur="2000"/>
                                        <p:tgtEl>
                                          <p:spTgt spid="1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95"/>
                                        </p:tgtEl>
                                        <p:attrNameLst>
                                          <p:attrName>style.visibility</p:attrName>
                                        </p:attrNameLst>
                                      </p:cBhvr>
                                      <p:to>
                                        <p:strVal val="visible"/>
                                      </p:to>
                                    </p:set>
                                    <p:anim calcmode="lin" valueType="num">
                                      <p:cBhvr additive="base">
                                        <p:cTn dur="500"/>
                                        <p:tgtEl>
                                          <p:spTgt spid="1295"/>
                                        </p:tgtEl>
                                        <p:attrNameLst>
                                          <p:attrName>ppt_w</p:attrName>
                                        </p:attrNameLst>
                                      </p:cBhvr>
                                      <p:tavLst>
                                        <p:tav fmla="" tm="0">
                                          <p:val>
                                            <p:strVal val="0"/>
                                          </p:val>
                                        </p:tav>
                                        <p:tav fmla="" tm="100000">
                                          <p:val>
                                            <p:strVal val="#ppt_w"/>
                                          </p:val>
                                        </p:tav>
                                      </p:tavLst>
                                    </p:anim>
                                    <p:anim calcmode="lin" valueType="num">
                                      <p:cBhvr additive="base">
                                        <p:cTn dur="500"/>
                                        <p:tgtEl>
                                          <p:spTgt spid="129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57"/>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304" name="Google Shape;1304;p57"/>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305" name="Google Shape;1305;p57"/>
          <p:cNvSpPr txBox="1"/>
          <p:nvPr/>
        </p:nvSpPr>
        <p:spPr>
          <a:xfrm>
            <a:off x="1320800" y="90487"/>
            <a:ext cx="10363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15.11</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Connection termination using three-way handshake</a:t>
            </a:r>
            <a:endParaRPr/>
          </a:p>
        </p:txBody>
      </p:sp>
      <p:sp>
        <p:nvSpPr>
          <p:cNvPr id="1306" name="Google Shape;1306;p57"/>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07" name="Google Shape;1307;p57"/>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08" name="Google Shape;1308;p57"/>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09" name="Google Shape;1309;p57"/>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10" name="Google Shape;1310;p57"/>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11" name="Google Shape;1311;p57"/>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12" name="Google Shape;1312;p57"/>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313" name="Google Shape;1313;p57"/>
          <p:cNvPicPr preferRelativeResize="0"/>
          <p:nvPr/>
        </p:nvPicPr>
        <p:blipFill rotWithShape="1">
          <a:blip r:embed="rId3">
            <a:alphaModFix/>
          </a:blip>
          <a:srcRect b="0" l="0" r="0" t="0"/>
          <a:stretch/>
        </p:blipFill>
        <p:spPr>
          <a:xfrm>
            <a:off x="1981200" y="838200"/>
            <a:ext cx="8897510" cy="50006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58"/>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320" name="Google Shape;1320;p58"/>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321" name="Google Shape;1321;p58"/>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2" name="Google Shape;1322;p58"/>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3" name="Google Shape;1323;p58"/>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4" name="Google Shape;1324;p58"/>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5" name="Google Shape;1325;p58"/>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6" name="Google Shape;1326;p58"/>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7" name="Google Shape;1327;p58"/>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328" name="Google Shape;1328;p58"/>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329" name="Google Shape;1329;p58"/>
          <p:cNvCxnSpPr/>
          <p:nvPr/>
        </p:nvCxnSpPr>
        <p:spPr>
          <a:xfrm>
            <a:off x="812800" y="43434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330" name="Google Shape;1330;p58"/>
          <p:cNvSpPr txBox="1"/>
          <p:nvPr/>
        </p:nvSpPr>
        <p:spPr>
          <a:xfrm>
            <a:off x="863600" y="2716212"/>
            <a:ext cx="10769700" cy="15699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FIN segment consumes one sequence number if it does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not carry data.</a:t>
            </a:r>
            <a:endParaRPr/>
          </a:p>
        </p:txBody>
      </p:sp>
      <p:grpSp>
        <p:nvGrpSpPr>
          <p:cNvPr id="1331" name="Google Shape;1331;p58"/>
          <p:cNvGrpSpPr/>
          <p:nvPr/>
        </p:nvGrpSpPr>
        <p:grpSpPr>
          <a:xfrm>
            <a:off x="812800" y="1981200"/>
            <a:ext cx="1523899" cy="566741"/>
            <a:chOff x="1200" y="1248"/>
            <a:chExt cx="720" cy="357"/>
          </a:xfrm>
        </p:grpSpPr>
        <p:pic>
          <p:nvPicPr>
            <p:cNvPr id="1332" name="Google Shape;1332;p58"/>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333" name="Google Shape;1333;p58"/>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328"/>
                                        </p:tgtEl>
                                        <p:attrNameLst>
                                          <p:attrName>style.visibility</p:attrName>
                                        </p:attrNameLst>
                                      </p:cBhvr>
                                      <p:to>
                                        <p:strVal val="visible"/>
                                      </p:to>
                                    </p:set>
                                    <p:animEffect filter="fade" transition="in">
                                      <p:cBhvr>
                                        <p:cTn dur="500"/>
                                        <p:tgtEl>
                                          <p:spTgt spid="132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29"/>
                                        </p:tgtEl>
                                        <p:attrNameLst>
                                          <p:attrName>style.visibility</p:attrName>
                                        </p:attrNameLst>
                                      </p:cBhvr>
                                      <p:to>
                                        <p:strVal val="visible"/>
                                      </p:to>
                                    </p:set>
                                    <p:animEffect filter="fade" transition="in">
                                      <p:cBhvr>
                                        <p:cTn dur="500"/>
                                        <p:tgtEl>
                                          <p:spTgt spid="13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30"/>
                                        </p:tgtEl>
                                        <p:attrNameLst>
                                          <p:attrName>style.visibility</p:attrName>
                                        </p:attrNameLst>
                                      </p:cBhvr>
                                      <p:to>
                                        <p:strVal val="visible"/>
                                      </p:to>
                                    </p:set>
                                    <p:animEffect filter="fade" transition="in">
                                      <p:cBhvr>
                                        <p:cTn dur="500"/>
                                        <p:tgtEl>
                                          <p:spTgt spid="1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59"/>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340" name="Google Shape;1340;p59"/>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341" name="Google Shape;1341;p59"/>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2" name="Google Shape;1342;p59"/>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3" name="Google Shape;1343;p59"/>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4" name="Google Shape;1344;p59"/>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5" name="Google Shape;1345;p59"/>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6" name="Google Shape;1346;p59"/>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7" name="Google Shape;1347;p59"/>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348" name="Google Shape;1348;p59"/>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349" name="Google Shape;1349;p59"/>
          <p:cNvCxnSpPr/>
          <p:nvPr/>
        </p:nvCxnSpPr>
        <p:spPr>
          <a:xfrm>
            <a:off x="812800" y="43434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350" name="Google Shape;1350;p59"/>
          <p:cNvSpPr txBox="1"/>
          <p:nvPr/>
        </p:nvSpPr>
        <p:spPr>
          <a:xfrm>
            <a:off x="863600" y="2716212"/>
            <a:ext cx="10769700" cy="15699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FIN + ACK segment consumes one sequence number if it does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not carry data.</a:t>
            </a:r>
            <a:endParaRPr/>
          </a:p>
        </p:txBody>
      </p:sp>
      <p:grpSp>
        <p:nvGrpSpPr>
          <p:cNvPr id="1351" name="Google Shape;1351;p59"/>
          <p:cNvGrpSpPr/>
          <p:nvPr/>
        </p:nvGrpSpPr>
        <p:grpSpPr>
          <a:xfrm>
            <a:off x="812800" y="1981200"/>
            <a:ext cx="1523899" cy="566741"/>
            <a:chOff x="1200" y="1248"/>
            <a:chExt cx="720" cy="357"/>
          </a:xfrm>
        </p:grpSpPr>
        <p:pic>
          <p:nvPicPr>
            <p:cNvPr id="1352" name="Google Shape;1352;p59"/>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353" name="Google Shape;1353;p59"/>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348"/>
                                        </p:tgtEl>
                                        <p:attrNameLst>
                                          <p:attrName>style.visibility</p:attrName>
                                        </p:attrNameLst>
                                      </p:cBhvr>
                                      <p:to>
                                        <p:strVal val="visible"/>
                                      </p:to>
                                    </p:set>
                                    <p:animEffect filter="fade" transition="in">
                                      <p:cBhvr>
                                        <p:cTn dur="500"/>
                                        <p:tgtEl>
                                          <p:spTgt spid="13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49"/>
                                        </p:tgtEl>
                                        <p:attrNameLst>
                                          <p:attrName>style.visibility</p:attrName>
                                        </p:attrNameLst>
                                      </p:cBhvr>
                                      <p:to>
                                        <p:strVal val="visible"/>
                                      </p:to>
                                    </p:set>
                                    <p:animEffect filter="fade" transition="in">
                                      <p:cBhvr>
                                        <p:cTn dur="500"/>
                                        <p:tgtEl>
                                          <p:spTgt spid="134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50"/>
                                        </p:tgtEl>
                                        <p:attrNameLst>
                                          <p:attrName>style.visibility</p:attrName>
                                        </p:attrNameLst>
                                      </p:cBhvr>
                                      <p:to>
                                        <p:strVal val="visible"/>
                                      </p:to>
                                    </p:set>
                                    <p:animEffect filter="fade" transition="in">
                                      <p:cBhvr>
                                        <p:cTn dur="500"/>
                                        <p:tgtEl>
                                          <p:spTgt spid="13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