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8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57" r:id="rId16"/>
    <p:sldId id="258" r:id="rId17"/>
    <p:sldId id="259" r:id="rId18"/>
    <p:sldId id="260" r:id="rId19"/>
    <p:sldId id="261" r:id="rId20"/>
    <p:sldId id="276" r:id="rId21"/>
    <p:sldId id="279" r:id="rId22"/>
    <p:sldId id="280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E363A-93EB-47FE-8BC0-CAB7CD5DB4D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DD800-865D-43D3-97AD-2862FA712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29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c38211b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8c38211b2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g38c38211b2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563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966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05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989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RFC – it’s only 2.5 pages!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077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018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865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7839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432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41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706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306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9933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344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17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2301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0789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664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0036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2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7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3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2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5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3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1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4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5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0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7646C-B393-493C-BDE5-9B99283D10C5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3DD13-D804-4AF5-B704-CF040E385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6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cdn/glossary/reverse-proxy/" TargetMode="External"/><Relationship Id="rId2" Type="http://schemas.openxmlformats.org/officeDocument/2006/relationships/hyperlink" Target="Explaining%20QUIC:%20the%20protocol%20that%20is%20both%20very%20similar%20to%20and%20very%20different%20from%20TCP%20By%20Peter%20Doo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hostwinds.com/blog/loopback-addres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5" name="Google Shape;45;p8"/>
          <p:cNvSpPr txBox="1"/>
          <p:nvPr/>
        </p:nvSpPr>
        <p:spPr>
          <a:xfrm>
            <a:off x="433350" y="1542600"/>
            <a:ext cx="11325300" cy="3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3</a:t>
            </a:r>
            <a:r>
              <a:rPr lang="en-US" sz="6000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6000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Transport Layer</a:t>
            </a:r>
            <a:endParaRPr sz="5400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 smtClean="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UDP &amp; QUIC</a:t>
            </a:r>
            <a:endParaRPr sz="5400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524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</a:p>
          <a:p>
            <a:pPr marL="117475" indent="0">
              <a:spcBef>
                <a:spcPts val="800"/>
              </a:spcBef>
              <a:buClr>
                <a:schemeClr val="bg1">
                  <a:lumMod val="75000"/>
                </a:schemeClr>
              </a:buClr>
              <a:buNone/>
            </a:pP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5CF63D-A871-3249-B853-1FF5A26EE5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781611-3074-A58E-B52E-37A36826D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199" y="1791867"/>
            <a:ext cx="3752851" cy="28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2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User Datagram Protocol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770DED9-87F6-FB46-A967-6223B68A3E96}"/>
              </a:ext>
            </a:extLst>
          </p:cNvPr>
          <p:cNvSpPr txBox="1">
            <a:spLocks noChangeArrowheads="1"/>
          </p:cNvSpPr>
          <p:nvPr/>
        </p:nvSpPr>
        <p:spPr>
          <a:xfrm>
            <a:off x="618385" y="1528553"/>
            <a:ext cx="5550595" cy="29275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“no frills,” “bare bones” Internet transport protocol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“best effort” service, UDP segments may be:</a:t>
            </a:r>
          </a:p>
          <a:p>
            <a:pPr marL="808038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lost</a:t>
            </a:r>
          </a:p>
          <a:p>
            <a:pPr marL="808038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delivered out-of-order to app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E8D3DA-F7E2-3144-9365-F468AE5A3F1F}"/>
              </a:ext>
            </a:extLst>
          </p:cNvPr>
          <p:cNvGrpSpPr/>
          <p:nvPr/>
        </p:nvGrpSpPr>
        <p:grpSpPr>
          <a:xfrm>
            <a:off x="6568225" y="1335368"/>
            <a:ext cx="5029004" cy="5014363"/>
            <a:chOff x="4979987" y="2821302"/>
            <a:chExt cx="6630121" cy="3829830"/>
          </a:xfrm>
        </p:grpSpPr>
        <p:sp>
          <p:nvSpPr>
            <p:cNvPr id="9" name="Rectangle 26">
              <a:extLst>
                <a:ext uri="{FF2B5EF4-FFF2-40B4-BE49-F238E27FC236}">
                  <a16:creationId xmlns:a16="http://schemas.microsoft.com/office/drawing/2014/main" id="{F9D9BC33-5F55-F54A-B992-1DDB07422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8112" y="3235273"/>
              <a:ext cx="6059488" cy="3044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no connection establishment (which can add RTT delay)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simple: no connection state at sender, receiver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small header size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no congestion control</a:t>
              </a:r>
            </a:p>
            <a:p>
              <a:pPr marL="687388" marR="0" lvl="1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UDP can blast away as fast as desired!</a:t>
              </a:r>
            </a:p>
            <a:p>
              <a:pPr marL="687388" marR="0" lvl="1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can function in the face of congestion</a:t>
              </a:r>
            </a:p>
          </p:txBody>
        </p: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E3B96135-5F05-0D44-B7B9-9BD478D4E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7" y="2988017"/>
              <a:ext cx="6630121" cy="366311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3BFEAB49-E79F-FF40-AAAE-C9820F502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4449" y="2821302"/>
              <a:ext cx="5102112" cy="378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charset="0"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Why is there a UDP?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B958CE44-F1A4-924D-8CEA-640B52DBA4DF}"/>
              </a:ext>
            </a:extLst>
          </p:cNvPr>
          <p:cNvSpPr txBox="1">
            <a:spLocks noChangeArrowheads="1"/>
          </p:cNvSpPr>
          <p:nvPr/>
        </p:nvSpPr>
        <p:spPr>
          <a:xfrm>
            <a:off x="641997" y="4404835"/>
            <a:ext cx="5550595" cy="20603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33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connectionless: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handshaking between UDP sender, receiver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UDP segment handled independently of others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469890C8-B9BA-F74B-84CA-6B1BAB0F6B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1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User Datagram Protocol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EFE9DD4-40BF-D54C-B457-743C8EAA5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543058"/>
            <a:ext cx="11100625" cy="4888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UDP use: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streaming multimedia apps (loss tolerant, rate sensitive)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DNS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SNMP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HTTP/3</a:t>
            </a: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if reliable transfer needed over UDP (e.g., HTTP/3): 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add needed reliability at application layer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add congestion control at application layer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160F1B7-DEB2-9342-B89A-69E5B663950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5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User Datagram Protocol </a:t>
            </a:r>
            <a:r>
              <a:rPr lang="en-US" sz="3600" dirty="0"/>
              <a:t>[RFC 768]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B0D4F-D972-B342-BA50-EC030780A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243" y="1232551"/>
            <a:ext cx="6509995" cy="5467403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2BA1565-8605-154A-895B-C65D5D0B1E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98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Transport Layer Actions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E97DC1-5C01-E843-A657-ADC5FEA14075}"/>
              </a:ext>
            </a:extLst>
          </p:cNvPr>
          <p:cNvCxnSpPr>
            <a:cxnSpLocks/>
            <a:stCxn id="151" idx="2"/>
          </p:cNvCxnSpPr>
          <p:nvPr/>
        </p:nvCxnSpPr>
        <p:spPr>
          <a:xfrm flipH="1">
            <a:off x="7972023" y="4973372"/>
            <a:ext cx="1473513" cy="4743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C57AC1A-9B60-DC47-A97D-E9C39D845828}"/>
              </a:ext>
            </a:extLst>
          </p:cNvPr>
          <p:cNvCxnSpPr>
            <a:cxnSpLocks/>
          </p:cNvCxnSpPr>
          <p:nvPr/>
        </p:nvCxnSpPr>
        <p:spPr>
          <a:xfrm>
            <a:off x="2578811" y="5062556"/>
            <a:ext cx="1582832" cy="302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062521" y="4965666"/>
            <a:ext cx="4036903" cy="1028731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3" name="Freeform 70">
            <a:extLst>
              <a:ext uri="{FF2B5EF4-FFF2-40B4-BE49-F238E27FC236}">
                <a16:creationId xmlns:a16="http://schemas.microsoft.com/office/drawing/2014/main" id="{93CF945F-B7C1-9B4F-9438-D2DF7708E687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A415DCF-A2D2-344B-9A45-F3F58006C5EE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165" name="Rectangle 23">
              <a:extLst>
                <a:ext uri="{FF2B5EF4-FFF2-40B4-BE49-F238E27FC236}">
                  <a16:creationId xmlns:a16="http://schemas.microsoft.com/office/drawing/2014/main" id="{20790EF2-7EC4-BF46-AE61-5F193F089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Rectangle 24">
              <a:extLst>
                <a:ext uri="{FF2B5EF4-FFF2-40B4-BE49-F238E27FC236}">
                  <a16:creationId xmlns:a16="http://schemas.microsoft.com/office/drawing/2014/main" id="{DF6E9285-B785-804B-BB24-0405637B9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Line 25">
              <a:extLst>
                <a:ext uri="{FF2B5EF4-FFF2-40B4-BE49-F238E27FC236}">
                  <a16:creationId xmlns:a16="http://schemas.microsoft.com/office/drawing/2014/main" id="{C2F7FFF2-43B5-A648-8DB9-1244002B1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Text Box 26">
              <a:extLst>
                <a:ext uri="{FF2B5EF4-FFF2-40B4-BE49-F238E27FC236}">
                  <a16:creationId xmlns:a16="http://schemas.microsoft.com/office/drawing/2014/main" id="{38AC5752-2E10-AE4C-AE2E-F2F12589A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69" name="Line 27">
              <a:extLst>
                <a:ext uri="{FF2B5EF4-FFF2-40B4-BE49-F238E27FC236}">
                  <a16:creationId xmlns:a16="http://schemas.microsoft.com/office/drawing/2014/main" id="{E6411346-D908-6048-94E9-4C9C6A9C9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Text Box 26">
              <a:extLst>
                <a:ext uri="{FF2B5EF4-FFF2-40B4-BE49-F238E27FC236}">
                  <a16:creationId xmlns:a16="http://schemas.microsoft.com/office/drawing/2014/main" id="{2BD45E5F-4032-7A44-91A7-D2ED37DE3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1" name="Text Box 26">
              <a:extLst>
                <a:ext uri="{FF2B5EF4-FFF2-40B4-BE49-F238E27FC236}">
                  <a16:creationId xmlns:a16="http://schemas.microsoft.com/office/drawing/2014/main" id="{067129BD-4E72-804E-9941-0CFB2ABB0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72" name="Text Box 26">
              <a:extLst>
                <a:ext uri="{FF2B5EF4-FFF2-40B4-BE49-F238E27FC236}">
                  <a16:creationId xmlns:a16="http://schemas.microsoft.com/office/drawing/2014/main" id="{586097BE-C9CD-2B44-A610-13D1A1572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73" name="Line 27">
              <a:extLst>
                <a:ext uri="{FF2B5EF4-FFF2-40B4-BE49-F238E27FC236}">
                  <a16:creationId xmlns:a16="http://schemas.microsoft.com/office/drawing/2014/main" id="{9A1DE5DC-7E6A-4747-9541-02B87C77A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9B2D570F-120B-6D41-8FE2-002A2DC12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Text Box 26">
              <a:extLst>
                <a:ext uri="{FF2B5EF4-FFF2-40B4-BE49-F238E27FC236}">
                  <a16:creationId xmlns:a16="http://schemas.microsoft.com/office/drawing/2014/main" id="{3C035217-7FD4-6C48-AB72-7561321B3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C64A43A-1B07-3348-A5EB-9B76F69646C0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0DB8B5ED-7F25-B645-878C-116DE6CD5EA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AFB4D1D4-1D5D-7C46-A31B-48B19CA0A81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8D1FB4E3-A216-1446-87E1-A06F139F800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B930530-1BA2-8049-A625-480A1F84B91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C5B65EDD-F107-4D4D-8254-28F27CB3355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052D8468-97DE-CD48-9220-0D7B5D1582B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CD0FBE04-ADDE-184C-8DFE-2575EA709AD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7" name="Group 149">
            <a:extLst>
              <a:ext uri="{FF2B5EF4-FFF2-40B4-BE49-F238E27FC236}">
                <a16:creationId xmlns:a16="http://schemas.microsoft.com/office/drawing/2014/main" id="{1F890155-D0B7-364C-891D-EC128001048E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98" name="Rectangle 73">
              <a:extLst>
                <a:ext uri="{FF2B5EF4-FFF2-40B4-BE49-F238E27FC236}">
                  <a16:creationId xmlns:a16="http://schemas.microsoft.com/office/drawing/2014/main" id="{590049C7-843C-1B4A-89F9-80D6028F7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Rectangle 74">
              <a:extLst>
                <a:ext uri="{FF2B5EF4-FFF2-40B4-BE49-F238E27FC236}">
                  <a16:creationId xmlns:a16="http://schemas.microsoft.com/office/drawing/2014/main" id="{060ED392-F3E2-5445-9D40-5D86C1A7E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75">
              <a:extLst>
                <a:ext uri="{FF2B5EF4-FFF2-40B4-BE49-F238E27FC236}">
                  <a16:creationId xmlns:a16="http://schemas.microsoft.com/office/drawing/2014/main" id="{33BE5C08-8C7C-7149-875A-3BD200DF7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Rectangle 129">
              <a:extLst>
                <a:ext uri="{FF2B5EF4-FFF2-40B4-BE49-F238E27FC236}">
                  <a16:creationId xmlns:a16="http://schemas.microsoft.com/office/drawing/2014/main" id="{0140B062-405E-0A48-ABA2-65AE09DF9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85" name="Group 149">
            <a:extLst>
              <a:ext uri="{FF2B5EF4-FFF2-40B4-BE49-F238E27FC236}">
                <a16:creationId xmlns:a16="http://schemas.microsoft.com/office/drawing/2014/main" id="{2BE2291A-54C4-114A-8062-D743A8CDF9EC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86" name="Rectangle 73">
              <a:extLst>
                <a:ext uri="{FF2B5EF4-FFF2-40B4-BE49-F238E27FC236}">
                  <a16:creationId xmlns:a16="http://schemas.microsoft.com/office/drawing/2014/main" id="{A98E76A7-87AD-8242-988E-0E4DFC278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" name="Rectangle 74">
              <a:extLst>
                <a:ext uri="{FF2B5EF4-FFF2-40B4-BE49-F238E27FC236}">
                  <a16:creationId xmlns:a16="http://schemas.microsoft.com/office/drawing/2014/main" id="{05A0AED4-CB55-8B44-A573-91C3CC519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" name="Rectangle 75">
              <a:extLst>
                <a:ext uri="{FF2B5EF4-FFF2-40B4-BE49-F238E27FC236}">
                  <a16:creationId xmlns:a16="http://schemas.microsoft.com/office/drawing/2014/main" id="{E473A3B0-4DB9-E148-95E3-5518DB468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" name="Rectangle 129">
              <a:extLst>
                <a:ext uri="{FF2B5EF4-FFF2-40B4-BE49-F238E27FC236}">
                  <a16:creationId xmlns:a16="http://schemas.microsoft.com/office/drawing/2014/main" id="{E9ED0EE1-76D9-D04D-8893-5E36E5A75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0" name="Slide Number Placeholder 2">
            <a:extLst>
              <a:ext uri="{FF2B5EF4-FFF2-40B4-BE49-F238E27FC236}">
                <a16:creationId xmlns:a16="http://schemas.microsoft.com/office/drawing/2014/main" id="{1B520EE5-2EFC-4746-B182-97170136E2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5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09388CA4-5912-3745-991A-9A3E60719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 sender actions: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8502120" y="2078245"/>
            <a:ext cx="1986815" cy="29383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9130164" y="2303106"/>
            <a:ext cx="1259074" cy="369332"/>
            <a:chOff x="8934916" y="2775692"/>
            <a:chExt cx="1259074" cy="36933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SNMP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4391544" y="2325099"/>
            <a:ext cx="382545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passed an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4388186" y="2990916"/>
            <a:ext cx="382545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determines UDP segment header fields values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FD6C411-175C-8D4E-9A66-3E03AAA9F0F9}"/>
              </a:ext>
            </a:extLst>
          </p:cNvPr>
          <p:cNvSpPr txBox="1"/>
          <p:nvPr/>
        </p:nvSpPr>
        <p:spPr>
          <a:xfrm>
            <a:off x="4376692" y="35928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creates UDP segment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4381369" y="40251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passes segment to IP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169333" y="1343378"/>
            <a:ext cx="3723445" cy="4402666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3FB16D4-A4BA-C046-940D-43D50465EB6F}"/>
              </a:ext>
            </a:extLst>
          </p:cNvPr>
          <p:cNvGrpSpPr/>
          <p:nvPr/>
        </p:nvGrpSpPr>
        <p:grpSpPr>
          <a:xfrm>
            <a:off x="8473556" y="2992506"/>
            <a:ext cx="1259074" cy="338554"/>
            <a:chOff x="8964789" y="2639236"/>
            <a:chExt cx="1259074" cy="33855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A58A03E-5455-0E40-8FB9-71E1E5E2CADE}"/>
                </a:ext>
              </a:extLst>
            </p:cNvPr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7A208B0-D27E-5D40-B156-11CB7075B098}"/>
                </a:ext>
              </a:extLst>
            </p:cNvPr>
            <p:cNvSpPr txBox="1"/>
            <p:nvPr/>
          </p:nvSpPr>
          <p:spPr>
            <a:xfrm>
              <a:off x="8964789" y="2639236"/>
              <a:ext cx="1259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UDP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8545052" y="3003638"/>
            <a:ext cx="1818022" cy="369332"/>
            <a:chOff x="7863122" y="5632673"/>
            <a:chExt cx="1818022" cy="3693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UDP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SNMP msg</a:t>
                </a:r>
              </a:p>
            </p:txBody>
          </p:sp>
        </p:grpSp>
      </p:grpSp>
      <p:sp>
        <p:nvSpPr>
          <p:cNvPr id="129" name="Slide Number Placeholder 2">
            <a:extLst>
              <a:ext uri="{FF2B5EF4-FFF2-40B4-BE49-F238E27FC236}">
                <a16:creationId xmlns:a16="http://schemas.microsoft.com/office/drawing/2014/main" id="{D1B0B0FD-EB4E-1D48-A59A-E323764428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86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0.00065 0.10139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506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81481E-6 L 0.00052 0.0930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653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.09098 L -0.00221 0.25996 L -0.11419 0.32385 L -0.4332 0.31806 L -0.55885 0.275 L -0.55885 0.275 " pathEditMode="relative" ptsTypes="AAAA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4" grpId="0"/>
      <p:bldP spid="95" grpId="0"/>
      <p:bldP spid="9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09388CA4-5912-3745-991A-9A3E60719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 receiver actions: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1655121" y="2160335"/>
            <a:ext cx="2199790" cy="29383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2355694" y="3088859"/>
            <a:ext cx="1259074" cy="369332"/>
            <a:chOff x="8934916" y="2775692"/>
            <a:chExt cx="1259074" cy="36933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SNMP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4380155" y="3324883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extracts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4378217" y="2693557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checks UDP checksum header value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4388103" y="2278130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receives segment from IP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1795827" y="3762839"/>
            <a:ext cx="1818022" cy="369332"/>
            <a:chOff x="7863122" y="5632673"/>
            <a:chExt cx="1818022" cy="3693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UDP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SNMP msg</a:t>
                </a:r>
              </a:p>
            </p:txBody>
          </p:sp>
        </p:grp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F6FF1BE-CC44-0642-B5BA-79CC246557BD}"/>
              </a:ext>
            </a:extLst>
          </p:cNvPr>
          <p:cNvSpPr txBox="1"/>
          <p:nvPr/>
        </p:nvSpPr>
        <p:spPr>
          <a:xfrm>
            <a:off x="4379533" y="3932414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demultiplexes message up to application via socket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79B4C12-D49E-4A40-9C38-F2E92ECDF43A}"/>
              </a:ext>
            </a:extLst>
          </p:cNvPr>
          <p:cNvSpPr/>
          <p:nvPr/>
        </p:nvSpPr>
        <p:spPr>
          <a:xfrm>
            <a:off x="8348341" y="2027305"/>
            <a:ext cx="3416536" cy="330284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F72514-945E-EB40-9BEE-202BF670272C}"/>
              </a:ext>
            </a:extLst>
          </p:cNvPr>
          <p:cNvSpPr/>
          <p:nvPr/>
        </p:nvSpPr>
        <p:spPr>
          <a:xfrm>
            <a:off x="1741367" y="2989161"/>
            <a:ext cx="763166" cy="541031"/>
          </a:xfrm>
          <a:prstGeom prst="ellipse">
            <a:avLst/>
          </a:prstGeom>
          <a:noFill/>
          <a:ln w="2540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5A91E20-BDA5-C441-B395-6979D211F34E}"/>
              </a:ext>
            </a:extLst>
          </p:cNvPr>
          <p:cNvCxnSpPr>
            <a:cxnSpLocks/>
          </p:cNvCxnSpPr>
          <p:nvPr/>
        </p:nvCxnSpPr>
        <p:spPr>
          <a:xfrm flipH="1">
            <a:off x="7972023" y="4973372"/>
            <a:ext cx="1473513" cy="4743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8285317-4714-1541-BC02-BED132E59B23}"/>
              </a:ext>
            </a:extLst>
          </p:cNvPr>
          <p:cNvCxnSpPr>
            <a:cxnSpLocks/>
          </p:cNvCxnSpPr>
          <p:nvPr/>
        </p:nvCxnSpPr>
        <p:spPr>
          <a:xfrm>
            <a:off x="2578811" y="5062556"/>
            <a:ext cx="1582832" cy="302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062521" y="4965666"/>
            <a:ext cx="4036903" cy="1028731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6" name="Slide Number Placeholder 2">
            <a:extLst>
              <a:ext uri="{FF2B5EF4-FFF2-40B4-BE49-F238E27FC236}">
                <a16:creationId xmlns:a16="http://schemas.microsoft.com/office/drawing/2014/main" id="{427E91C8-0248-584A-817F-DE7D57562F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38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4 -0.00208 L 0.00014 -0.0967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745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1481E-6 L 0.00013 -0.10763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4" grpId="0"/>
      <p:bldP spid="97" grpId="0"/>
      <p:bldP spid="127" grpId="0"/>
      <p:bldP spid="4" grpId="0" animBg="1"/>
      <p:bldP spid="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 segment </a:t>
            </a:r>
            <a:r>
              <a:rPr lang="en-US" dirty="0"/>
              <a:t>h</a:t>
            </a:r>
            <a:r>
              <a:rPr lang="en-US" sz="4400" dirty="0"/>
              <a:t>eader</a:t>
            </a: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F52AC6CB-EA5F-E34E-A84B-F6174293B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299" y="2017713"/>
            <a:ext cx="3324225" cy="3200400"/>
          </a:xfrm>
          <a:prstGeom prst="rect">
            <a:avLst/>
          </a:prstGeom>
          <a:solidFill>
            <a:srgbClr val="FFFFFF"/>
          </a:solidFill>
          <a:ln w="349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30" name="Text Box 9">
            <a:extLst>
              <a:ext uri="{FF2B5EF4-FFF2-40B4-BE49-F238E27FC236}">
                <a16:creationId xmlns:a16="http://schemas.microsoft.com/office/drawing/2014/main" id="{C8E7AF66-85A4-6B43-AFFD-45ABC0217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987" y="2030413"/>
            <a:ext cx="1563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source port #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2F2912E8-AD40-5541-9C73-5856C97AF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924" y="2030413"/>
            <a:ext cx="1328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dest port #</a:t>
            </a:r>
          </a:p>
        </p:txBody>
      </p:sp>
      <p:sp>
        <p:nvSpPr>
          <p:cNvPr id="32" name="Line 11">
            <a:extLst>
              <a:ext uri="{FF2B5EF4-FFF2-40B4-BE49-F238E27FC236}">
                <a16:creationId xmlns:a16="http://schemas.microsoft.com/office/drawing/2014/main" id="{D9BFD291-F38C-E245-812B-D4A7B44A29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2774" y="2417763"/>
            <a:ext cx="33289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" name="Line 12">
            <a:extLst>
              <a:ext uri="{FF2B5EF4-FFF2-40B4-BE49-F238E27FC236}">
                <a16:creationId xmlns:a16="http://schemas.microsoft.com/office/drawing/2014/main" id="{3CE7F4CE-E33B-FD4E-B07F-F5A9DE9885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3249" y="2817813"/>
            <a:ext cx="3324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4" name="Line 13">
            <a:extLst>
              <a:ext uri="{FF2B5EF4-FFF2-40B4-BE49-F238E27FC236}">
                <a16:creationId xmlns:a16="http://schemas.microsoft.com/office/drawing/2014/main" id="{F55DFF34-EECA-F046-9F88-B6CF84CB8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0599" y="2017713"/>
            <a:ext cx="0" cy="3952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99267DCE-8159-FC45-B743-B474F3D45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474" y="155257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32 bits</a:t>
            </a: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8D62C2C2-8FA0-A54C-8811-9A937D96C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7799" y="1784350"/>
            <a:ext cx="1200150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Line 16">
            <a:extLst>
              <a:ext uri="{FF2B5EF4-FFF2-40B4-BE49-F238E27FC236}">
                <a16:creationId xmlns:a16="http://schemas.microsoft.com/office/drawing/2014/main" id="{DE702B00-23E1-474A-9072-DDEE50F76714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888012" y="1793875"/>
            <a:ext cx="11287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7A899027-0169-0E41-A632-97B068C6D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262" y="3376613"/>
            <a:ext cx="13890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data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(payload)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Text Box 19">
            <a:extLst>
              <a:ext uri="{FF2B5EF4-FFF2-40B4-BE49-F238E27FC236}">
                <a16:creationId xmlns:a16="http://schemas.microsoft.com/office/drawing/2014/main" id="{CD850B08-5706-0344-961A-224002B37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862" y="5292725"/>
            <a:ext cx="2524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UDP segment format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23E18502-A4AB-B441-8247-C60D9AD14D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0599" y="2427288"/>
            <a:ext cx="0" cy="3952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7C44E6B5-339B-1741-B9C3-A1E3E3726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887" y="2420938"/>
            <a:ext cx="814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length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2" name="Text Box 23">
            <a:extLst>
              <a:ext uri="{FF2B5EF4-FFF2-40B4-BE49-F238E27FC236}">
                <a16:creationId xmlns:a16="http://schemas.microsoft.com/office/drawing/2014/main" id="{47FFCC22-7372-6744-AEF8-0A8B78529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1112" y="2411413"/>
            <a:ext cx="1176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checksum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3" name="Text Box 24">
            <a:extLst>
              <a:ext uri="{FF2B5EF4-FFF2-40B4-BE49-F238E27FC236}">
                <a16:creationId xmlns:a16="http://schemas.microsoft.com/office/drawing/2014/main" id="{485622D4-EF6A-C34A-A27B-A6B8F83BC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398" y="3421856"/>
            <a:ext cx="24066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length, in bytes of UDP segment, including header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:a16="http://schemas.microsoft.com/office/drawing/2014/main" id="{1D6A5808-0448-DB49-AF97-08E63607B4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42136" y="2597149"/>
            <a:ext cx="3113157" cy="12853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55F1E7-7CEF-EC4F-9C9D-C612D6BAA462}"/>
              </a:ext>
            </a:extLst>
          </p:cNvPr>
          <p:cNvSpPr/>
          <p:nvPr/>
        </p:nvSpPr>
        <p:spPr>
          <a:xfrm>
            <a:off x="3695142" y="1957213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69DAA7-4CE3-5A48-B429-6D40B6035291}"/>
              </a:ext>
            </a:extLst>
          </p:cNvPr>
          <p:cNvSpPr/>
          <p:nvPr/>
        </p:nvSpPr>
        <p:spPr>
          <a:xfrm>
            <a:off x="5331049" y="1955208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F8B7A60-8E66-CD4B-B67F-657454C69C5D}"/>
              </a:ext>
            </a:extLst>
          </p:cNvPr>
          <p:cNvSpPr/>
          <p:nvPr/>
        </p:nvSpPr>
        <p:spPr>
          <a:xfrm>
            <a:off x="3657042" y="2362801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E79E99F-83A4-EE4E-9BAB-1946BFD0A4A1}"/>
              </a:ext>
            </a:extLst>
          </p:cNvPr>
          <p:cNvSpPr/>
          <p:nvPr/>
        </p:nvSpPr>
        <p:spPr>
          <a:xfrm>
            <a:off x="5290176" y="2341229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AA4BE2E-C7FD-E34F-9626-C89B0B4F43FB}"/>
              </a:ext>
            </a:extLst>
          </p:cNvPr>
          <p:cNvSpPr/>
          <p:nvPr/>
        </p:nvSpPr>
        <p:spPr>
          <a:xfrm>
            <a:off x="4386800" y="3148706"/>
            <a:ext cx="2097870" cy="1560711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Line 25">
            <a:extLst>
              <a:ext uri="{FF2B5EF4-FFF2-40B4-BE49-F238E27FC236}">
                <a16:creationId xmlns:a16="http://schemas.microsoft.com/office/drawing/2014/main" id="{F10F9304-7E0A-6542-A023-9D119B25A0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15202" y="3972404"/>
            <a:ext cx="3113157" cy="12853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1" name="Text Box 24">
            <a:extLst>
              <a:ext uri="{FF2B5EF4-FFF2-40B4-BE49-F238E27FC236}">
                <a16:creationId xmlns:a16="http://schemas.microsoft.com/office/drawing/2014/main" id="{E81BCD01-79B1-A943-81E4-83B20B558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927" y="4969559"/>
            <a:ext cx="24066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data to/from application layer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43CF0894-FFF1-6D45-9D05-752E85B0BF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  <p:bldP spid="5" grpId="0" animBg="1"/>
      <p:bldP spid="26" grpId="0" animBg="1"/>
      <p:bldP spid="27" grpId="0" animBg="1"/>
      <p:bldP spid="48" grpId="0" animBg="1"/>
      <p:bldP spid="49" grpId="0" animBg="1"/>
      <p:bldP spid="50" grpId="0" animBg="1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 checksum</a:t>
            </a: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1270863" y="2652793"/>
            <a:ext cx="10241312" cy="57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Transmitted:            5               6                11</a:t>
            </a: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detect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errors (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i.e.,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flipped bits) in transmitted segment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6366BE9-1119-E949-B583-83377BE7B2FA}"/>
              </a:ext>
            </a:extLst>
          </p:cNvPr>
          <p:cNvSpPr txBox="1">
            <a:spLocks noChangeArrowheads="1"/>
          </p:cNvSpPr>
          <p:nvPr/>
        </p:nvSpPr>
        <p:spPr>
          <a:xfrm>
            <a:off x="1717730" y="4429929"/>
            <a:ext cx="10241312" cy="57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Received:            4               6                11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3263DD-30EB-3A47-BB43-1008E7B8EB3B}"/>
              </a:ext>
            </a:extLst>
          </p:cNvPr>
          <p:cNvGrpSpPr/>
          <p:nvPr/>
        </p:nvGrpSpPr>
        <p:grpSpPr>
          <a:xfrm>
            <a:off x="3781587" y="2118101"/>
            <a:ext cx="3789990" cy="374499"/>
            <a:chOff x="3781587" y="2118101"/>
            <a:chExt cx="3789990" cy="37449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75CCDE0-7CCA-374E-AAE6-7714B8510863}"/>
                </a:ext>
              </a:extLst>
            </p:cNvPr>
            <p:cNvSpPr txBox="1"/>
            <p:nvPr/>
          </p:nvSpPr>
          <p:spPr>
            <a:xfrm>
              <a:off x="3781587" y="2123268"/>
              <a:ext cx="1210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number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036BB1-E12C-9F45-B7AC-A46C43550AB8}"/>
                </a:ext>
              </a:extLst>
            </p:cNvPr>
            <p:cNvSpPr txBox="1"/>
            <p:nvPr/>
          </p:nvSpPr>
          <p:spPr>
            <a:xfrm>
              <a:off x="5173851" y="2120685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nd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number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F766B9-0BC5-B243-8C87-21D6B656B474}"/>
                </a:ext>
              </a:extLst>
            </p:cNvPr>
            <p:cNvSpPr txBox="1"/>
            <p:nvPr/>
          </p:nvSpPr>
          <p:spPr>
            <a:xfrm>
              <a:off x="6938070" y="211810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sum</a:t>
              </a:r>
            </a:p>
          </p:txBody>
        </p:sp>
      </p:grpSp>
      <p:sp>
        <p:nvSpPr>
          <p:cNvPr id="5" name="Down Arrow 4">
            <a:extLst>
              <a:ext uri="{FF2B5EF4-FFF2-40B4-BE49-F238E27FC236}">
                <a16:creationId xmlns:a16="http://schemas.microsoft.com/office/drawing/2014/main" id="{25D45AF0-1848-CC41-9B94-776A4F00467D}"/>
              </a:ext>
            </a:extLst>
          </p:cNvPr>
          <p:cNvSpPr/>
          <p:nvPr/>
        </p:nvSpPr>
        <p:spPr>
          <a:xfrm>
            <a:off x="5269424" y="3316637"/>
            <a:ext cx="1131376" cy="978408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rgbClr val="E47E9F"/>
              </a:gs>
              <a:gs pos="83000">
                <a:srgbClr val="CD0004"/>
              </a:gs>
              <a:gs pos="100000">
                <a:srgbClr val="C0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D0B8C6-3F4F-D744-B0D5-012F7CCC8026}"/>
              </a:ext>
            </a:extLst>
          </p:cNvPr>
          <p:cNvGrpSpPr/>
          <p:nvPr/>
        </p:nvGrpSpPr>
        <p:grpSpPr>
          <a:xfrm>
            <a:off x="4005390" y="4866468"/>
            <a:ext cx="2218236" cy="1079841"/>
            <a:chOff x="4005390" y="4866468"/>
            <a:chExt cx="2218236" cy="10798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290089-A408-1F4D-AD89-57B6FA475BD4}"/>
                </a:ext>
              </a:extLst>
            </p:cNvPr>
            <p:cNvSpPr txBox="1"/>
            <p:nvPr/>
          </p:nvSpPr>
          <p:spPr>
            <a:xfrm>
              <a:off x="4005390" y="5238423"/>
              <a:ext cx="22182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receiver-computed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checksum</a:t>
              </a:r>
            </a:p>
          </p:txBody>
        </p:sp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70805D62-6F2B-1F49-A297-2C93A181F097}"/>
                </a:ext>
              </a:extLst>
            </p:cNvPr>
            <p:cNvSpPr/>
            <p:nvPr/>
          </p:nvSpPr>
          <p:spPr>
            <a:xfrm rot="5400000">
              <a:off x="5005953" y="4107051"/>
              <a:ext cx="302449" cy="1821283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99C2F8-4129-1B44-8C70-BBDF08BD1536}"/>
              </a:ext>
            </a:extLst>
          </p:cNvPr>
          <p:cNvGrpSpPr/>
          <p:nvPr/>
        </p:nvGrpSpPr>
        <p:grpSpPr>
          <a:xfrm>
            <a:off x="6880470" y="4879385"/>
            <a:ext cx="2604945" cy="1064342"/>
            <a:chOff x="6880470" y="4879385"/>
            <a:chExt cx="2604945" cy="106434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DCA310-B7D2-5B47-90B9-563B10E091FB}"/>
                </a:ext>
              </a:extLst>
            </p:cNvPr>
            <p:cNvSpPr txBox="1"/>
            <p:nvPr/>
          </p:nvSpPr>
          <p:spPr>
            <a:xfrm>
              <a:off x="6880470" y="5235841"/>
              <a:ext cx="260494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sender-computed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checksum (as received)</a:t>
              </a:r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DA615DF0-68E8-EC4F-807E-D486A3197601}"/>
                </a:ext>
              </a:extLst>
            </p:cNvPr>
            <p:cNvSpPr/>
            <p:nvPr/>
          </p:nvSpPr>
          <p:spPr>
            <a:xfrm rot="5400000">
              <a:off x="7219627" y="4631412"/>
              <a:ext cx="266054" cy="761999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01925F-F602-844A-BEF4-A6395DF560AD}"/>
              </a:ext>
            </a:extLst>
          </p:cNvPr>
          <p:cNvGrpSpPr/>
          <p:nvPr/>
        </p:nvGrpSpPr>
        <p:grpSpPr>
          <a:xfrm>
            <a:off x="6121831" y="5201334"/>
            <a:ext cx="821411" cy="1346699"/>
            <a:chOff x="6121831" y="5201334"/>
            <a:chExt cx="821411" cy="1346699"/>
          </a:xfrm>
        </p:grpSpPr>
        <p:pic>
          <p:nvPicPr>
            <p:cNvPr id="1026" name="Picture 2" descr="Image result for error">
              <a:extLst>
                <a:ext uri="{FF2B5EF4-FFF2-40B4-BE49-F238E27FC236}">
                  <a16:creationId xmlns:a16="http://schemas.microsoft.com/office/drawing/2014/main" id="{0F8C0CDD-8B63-9A4B-B799-33D82D530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1831" y="5782776"/>
              <a:ext cx="821411" cy="765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916598-558E-9245-AD24-594E54348A33}"/>
                </a:ext>
              </a:extLst>
            </p:cNvPr>
            <p:cNvSpPr txBox="1"/>
            <p:nvPr/>
          </p:nvSpPr>
          <p:spPr>
            <a:xfrm>
              <a:off x="6307811" y="5201334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CD000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=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E17EE6-50CC-C042-BC48-5E6E3B972272}"/>
                </a:ext>
              </a:extLst>
            </p:cNvPr>
            <p:cNvCxnSpPr/>
            <p:nvPr/>
          </p:nvCxnSpPr>
          <p:spPr>
            <a:xfrm flipH="1">
              <a:off x="6460174" y="5418195"/>
              <a:ext cx="108488" cy="247973"/>
            </a:xfrm>
            <a:prstGeom prst="line">
              <a:avLst/>
            </a:prstGeom>
            <a:ln w="31750">
              <a:solidFill>
                <a:srgbClr val="CD000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D5723390-FF65-C242-9B32-1814D9E35B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47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Internet checksum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698387-9861-714A-B5A0-B2C8BE36CD3A}"/>
              </a:ext>
            </a:extLst>
          </p:cNvPr>
          <p:cNvSpPr txBox="1">
            <a:spLocks noChangeArrowheads="1"/>
          </p:cNvSpPr>
          <p:nvPr/>
        </p:nvSpPr>
        <p:spPr>
          <a:xfrm>
            <a:off x="990599" y="2218943"/>
            <a:ext cx="4662055" cy="4478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sender: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treat contents of UDP segment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(including UDP header fields and IP addresses)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 sequence of 16-bit integers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checksum: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addition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(one’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complement sum)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segment content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checksum value put into UDP checksum field</a:t>
            </a: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5767820" y="2132890"/>
            <a:ext cx="5728855" cy="408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receiver</a:t>
            </a:r>
            <a:r>
              <a:rPr kumimoji="0" lang="en-US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compute checksum of received segment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 if computed checksum equals checksum field value: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 equal - error detected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equal - no error detected.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But maybe errors nonetheless?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More later ….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detect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errors (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i.e.,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flipped bits) in transmitted segment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9262EE8-BA51-1D4E-A36D-BDC09C45FA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6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Internet checksum: an example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C7658E3-6D58-8445-A9E1-703A91A67575}"/>
              </a:ext>
            </a:extLst>
          </p:cNvPr>
          <p:cNvSpPr txBox="1">
            <a:spLocks noChangeArrowheads="1"/>
          </p:cNvSpPr>
          <p:nvPr/>
        </p:nvSpPr>
        <p:spPr>
          <a:xfrm>
            <a:off x="1215441" y="1452111"/>
            <a:ext cx="77724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add two 16-bit integers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763B3A78-1E2C-5A4B-AA3C-267B38DDCC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6391" y="3069774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EB760DD-5067-0241-ACCB-6E4282E94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296" y="3862762"/>
            <a:ext cx="636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sum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58D347C-3618-AD46-999E-771E7BB4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843" y="4300504"/>
            <a:ext cx="12210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checksum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228BD91C-645B-7B49-B807-EF571877C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0" y="5071610"/>
            <a:ext cx="10367961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Note: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when adding numbers, a carryout from the most significant bit needs to be added to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898A9607-38BF-9544-B70F-067CC64A3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466" y="6260898"/>
            <a:ext cx="98572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ttp://gaia.cs.umass.edu/kurose_ross/interactive/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FACF2-9C75-D845-963C-B6B5F2FFE843}"/>
              </a:ext>
            </a:extLst>
          </p:cNvPr>
          <p:cNvSpPr txBox="1"/>
          <p:nvPr/>
        </p:nvSpPr>
        <p:spPr>
          <a:xfrm>
            <a:off x="2863959" y="2205031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1 1 1 0 0 1 1 0 0 1 1 0 0 1 1 0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34F71-DAF2-4A4A-8007-D61D5E84A131}"/>
              </a:ext>
            </a:extLst>
          </p:cNvPr>
          <p:cNvSpPr txBox="1"/>
          <p:nvPr/>
        </p:nvSpPr>
        <p:spPr>
          <a:xfrm>
            <a:off x="2868710" y="2580910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1 1 0 1 0 1 0 1 0 1 0 1 0 1 0 1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C7D96-F575-4046-84E4-2FDF9898E9B2}"/>
              </a:ext>
            </a:extLst>
          </p:cNvPr>
          <p:cNvSpPr txBox="1"/>
          <p:nvPr/>
        </p:nvSpPr>
        <p:spPr>
          <a:xfrm>
            <a:off x="2501968" y="3194702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1 1 0 1 1 1 0 1 1 1 0 1 1 1 0 1 1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23B7D25F-DD2D-6943-A612-1B140865E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833" y="3264149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02C19D06-A871-3D4E-A141-88A98E4A3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33" y="3201536"/>
            <a:ext cx="14577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wraparound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D9BAD80C-425E-F145-9700-2D1823022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0633" y="3788911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5AD71209-A9E2-794D-88A1-4B84AF2607D1}"/>
              </a:ext>
            </a:extLst>
          </p:cNvPr>
          <p:cNvSpPr>
            <a:spLocks/>
          </p:cNvSpPr>
          <p:nvPr/>
        </p:nvSpPr>
        <p:spPr bwMode="auto">
          <a:xfrm>
            <a:off x="2669233" y="3576532"/>
            <a:ext cx="5795540" cy="95077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7 h 58"/>
              <a:gd name="T4" fmla="*/ 2147483647 w 3788"/>
              <a:gd name="T5" fmla="*/ 2147483647 h 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sm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94788-E9D3-5D40-89C2-5666242ECA9E}"/>
              </a:ext>
            </a:extLst>
          </p:cNvPr>
          <p:cNvSpPr txBox="1"/>
          <p:nvPr/>
        </p:nvSpPr>
        <p:spPr>
          <a:xfrm>
            <a:off x="2475478" y="3863610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1 0 1 1 1 0 1 1 1 0 1 1 1 1 0 0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D65BC-0FF7-354F-9157-61D155DA77EA}"/>
              </a:ext>
            </a:extLst>
          </p:cNvPr>
          <p:cNvSpPr txBox="1"/>
          <p:nvPr/>
        </p:nvSpPr>
        <p:spPr>
          <a:xfrm>
            <a:off x="2505831" y="4287924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0 1 0 0 0 1 0 0 0 1 0 0 0 0 1 1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27145B4A-DA47-BA4F-95DB-F98A913F09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63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20" grpId="0"/>
      <p:bldP spid="10" grpId="0" animBg="1"/>
      <p:bldP spid="11" grpId="0"/>
      <p:bldP spid="14" grpId="0" animBg="1"/>
      <p:bldP spid="15" grpId="0" animBg="1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Internet checksum: weak protection!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C7658E3-6D58-8445-A9E1-703A91A67575}"/>
              </a:ext>
            </a:extLst>
          </p:cNvPr>
          <p:cNvSpPr txBox="1">
            <a:spLocks noChangeArrowheads="1"/>
          </p:cNvSpPr>
          <p:nvPr/>
        </p:nvSpPr>
        <p:spPr>
          <a:xfrm>
            <a:off x="1215441" y="1452111"/>
            <a:ext cx="77724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add two 16-bit integers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763B3A78-1E2C-5A4B-AA3C-267B38DDCC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6391" y="3069774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EB760DD-5067-0241-ACCB-6E4282E94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296" y="3862762"/>
            <a:ext cx="636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sum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58D347C-3618-AD46-999E-771E7BB4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843" y="4300504"/>
            <a:ext cx="12210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checksum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FACF2-9C75-D845-963C-B6B5F2FFE843}"/>
              </a:ext>
            </a:extLst>
          </p:cNvPr>
          <p:cNvSpPr txBox="1"/>
          <p:nvPr/>
        </p:nvSpPr>
        <p:spPr>
          <a:xfrm>
            <a:off x="2863959" y="2205031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1 1 1 0 0 1 1 0 0 1 1 0 0 1 1 0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34F71-DAF2-4A4A-8007-D61D5E84A131}"/>
              </a:ext>
            </a:extLst>
          </p:cNvPr>
          <p:cNvSpPr txBox="1"/>
          <p:nvPr/>
        </p:nvSpPr>
        <p:spPr>
          <a:xfrm>
            <a:off x="2868710" y="2580910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1 1 0 1 0 1 0 1 0 1 0 1 0 1 0 1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C7D96-F575-4046-84E4-2FDF9898E9B2}"/>
              </a:ext>
            </a:extLst>
          </p:cNvPr>
          <p:cNvSpPr txBox="1"/>
          <p:nvPr/>
        </p:nvSpPr>
        <p:spPr>
          <a:xfrm>
            <a:off x="2501968" y="3194702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1 1 0 1 1 1 0 1 1 1 0 1 1 1 0 1 1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70902B-ACCE-A04E-88F8-76E3A68380F6}"/>
              </a:ext>
            </a:extLst>
          </p:cNvPr>
          <p:cNvGrpSpPr/>
          <p:nvPr/>
        </p:nvGrpSpPr>
        <p:grpSpPr>
          <a:xfrm>
            <a:off x="942391" y="3201536"/>
            <a:ext cx="8001000" cy="1123739"/>
            <a:chOff x="942391" y="3201536"/>
            <a:chExt cx="8001000" cy="1123739"/>
          </a:xfrm>
        </p:grpSpPr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23B7D25F-DD2D-6943-A612-1B140865E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591" y="3264149"/>
              <a:ext cx="304800" cy="3048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02C19D06-A871-3D4E-A141-88A98E4A3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391" y="3201536"/>
              <a:ext cx="145770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med"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wraparound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D9BAD80C-425E-F145-9700-2D1823022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6391" y="3788911"/>
              <a:ext cx="647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5AD71209-A9E2-794D-88A1-4B84AF26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991" y="3576532"/>
              <a:ext cx="5795540" cy="95077"/>
            </a:xfrm>
            <a:custGeom>
              <a:avLst/>
              <a:gdLst>
                <a:gd name="T0" fmla="*/ 0 w 3788"/>
                <a:gd name="T1" fmla="*/ 0 h 58"/>
                <a:gd name="T2" fmla="*/ 0 w 3788"/>
                <a:gd name="T3" fmla="*/ 2147483647 h 58"/>
                <a:gd name="T4" fmla="*/ 2147483647 w 3788"/>
                <a:gd name="T5" fmla="*/ 2147483647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88" h="58">
                  <a:moveTo>
                    <a:pt x="0" y="0"/>
                  </a:moveTo>
                  <a:lnTo>
                    <a:pt x="0" y="58"/>
                  </a:lnTo>
                  <a:lnTo>
                    <a:pt x="3788" y="58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994788-E9D3-5D40-89C2-5666242ECA9E}"/>
                </a:ext>
              </a:extLst>
            </p:cNvPr>
            <p:cNvSpPr txBox="1"/>
            <p:nvPr/>
          </p:nvSpPr>
          <p:spPr>
            <a:xfrm>
              <a:off x="2501236" y="3863610"/>
              <a:ext cx="62680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+mn-ea"/>
                  <a:cs typeface="+mn-cs"/>
                </a:rPr>
                <a:t>  1 0 1 1 1 0 1 1 1 0 1 1 1 1 0 0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D65BC-0FF7-354F-9157-61D155DA77EA}"/>
              </a:ext>
            </a:extLst>
          </p:cNvPr>
          <p:cNvSpPr txBox="1"/>
          <p:nvPr/>
        </p:nvSpPr>
        <p:spPr>
          <a:xfrm>
            <a:off x="2505831" y="4287924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0 1 0 0 0 1 0 0 0 1 0 0 0 0 1 1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762320-BD6D-C948-B1B7-DB283C97C3F4}"/>
              </a:ext>
            </a:extLst>
          </p:cNvPr>
          <p:cNvGrpSpPr/>
          <p:nvPr/>
        </p:nvGrpSpPr>
        <p:grpSpPr>
          <a:xfrm>
            <a:off x="7895417" y="1927511"/>
            <a:ext cx="2249559" cy="712515"/>
            <a:chOff x="9436187" y="4862446"/>
            <a:chExt cx="2249559" cy="71251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4FB029-4B65-2048-954A-3FF0EC7EB970}"/>
                </a:ext>
              </a:extLst>
            </p:cNvPr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76E060C-7039-6D4E-922A-B4F2B25FA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8282" y="5111429"/>
              <a:ext cx="546739" cy="21268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DC7E60-52B8-E24C-AD91-442CF1A81D58}"/>
                </a:ext>
              </a:extLst>
            </p:cNvPr>
            <p:cNvSpPr txBox="1"/>
            <p:nvPr/>
          </p:nvSpPr>
          <p:spPr>
            <a:xfrm>
              <a:off x="10395008" y="4862446"/>
              <a:ext cx="1290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+mn-ea"/>
                  <a:cs typeface="+mn-cs"/>
                </a:rPr>
                <a:t>  0 1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67688F-D990-804C-9C00-CC1C467BE801}"/>
              </a:ext>
            </a:extLst>
          </p:cNvPr>
          <p:cNvGrpSpPr/>
          <p:nvPr/>
        </p:nvGrpSpPr>
        <p:grpSpPr>
          <a:xfrm>
            <a:off x="7910407" y="2289202"/>
            <a:ext cx="2249559" cy="712515"/>
            <a:chOff x="9436187" y="4862446"/>
            <a:chExt cx="2249559" cy="712515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C22365B-07EC-4545-B454-E8C0FAD379FA}"/>
                </a:ext>
              </a:extLst>
            </p:cNvPr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D4A8702-0D2D-8243-9C39-DC082DD83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8282" y="5111429"/>
              <a:ext cx="546739" cy="21268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E21CCB-6730-9040-AA0C-B91C9765D0AC}"/>
                </a:ext>
              </a:extLst>
            </p:cNvPr>
            <p:cNvSpPr txBox="1"/>
            <p:nvPr/>
          </p:nvSpPr>
          <p:spPr>
            <a:xfrm>
              <a:off x="10395008" y="4862446"/>
              <a:ext cx="1290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+mn-ea"/>
                  <a:cs typeface="+mn-cs"/>
                </a:rPr>
                <a:t>  1 0 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9699F57-48BE-454E-800A-4CC5A118241E}"/>
              </a:ext>
            </a:extLst>
          </p:cNvPr>
          <p:cNvGrpSpPr/>
          <p:nvPr/>
        </p:nvGrpSpPr>
        <p:grpSpPr>
          <a:xfrm>
            <a:off x="8933167" y="3121843"/>
            <a:ext cx="2729496" cy="1754326"/>
            <a:chOff x="8933167" y="3121843"/>
            <a:chExt cx="2729496" cy="1754326"/>
          </a:xfrm>
        </p:grpSpPr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BC6D80E3-4974-474B-9338-024650CB8A51}"/>
                </a:ext>
              </a:extLst>
            </p:cNvPr>
            <p:cNvSpPr/>
            <p:nvPr/>
          </p:nvSpPr>
          <p:spPr>
            <a:xfrm>
              <a:off x="8933167" y="3244723"/>
              <a:ext cx="247697" cy="1504855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F87D51E-FE73-0B41-A199-876E1DAEB87D}"/>
                </a:ext>
              </a:extLst>
            </p:cNvPr>
            <p:cNvSpPr txBox="1"/>
            <p:nvPr/>
          </p:nvSpPr>
          <p:spPr>
            <a:xfrm>
              <a:off x="9259241" y="3121843"/>
              <a:ext cx="240342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Even though numbers have changed (bit flips),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change in checksum!</a:t>
              </a:r>
            </a:p>
          </p:txBody>
        </p:sp>
      </p:grp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D233B24E-8C39-314A-B31B-073F993E5C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15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4" y="196879"/>
            <a:ext cx="11100625" cy="1206442"/>
          </a:xfrm>
        </p:spPr>
        <p:txBody>
          <a:bodyPr>
            <a:normAutofit/>
          </a:bodyPr>
          <a:lstStyle/>
          <a:p>
            <a:r>
              <a:rPr lang="en-US" sz="5400" b="0" dirty="0"/>
              <a:t>Summary</a:t>
            </a:r>
            <a:r>
              <a:rPr lang="en-US" sz="4800" b="0" dirty="0"/>
              <a:t>: UDP</a:t>
            </a:r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525681" y="1403321"/>
            <a:ext cx="11373633" cy="52479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“no frills” protocol: 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segments may be lost, delivered out of order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effort service: “send and hope for the best”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 has its plusses: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setup/handshaking needed (no RTT incurred)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function when network service is compromised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helps with reliability (checksum)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 additional functionality on top of UDP in application layer (e.g., HTTP/3)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36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layer: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Evolution of transport-layer functionality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DA9C6-6F6E-A6D9-0745-047BFEB31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199" y="1791867"/>
            <a:ext cx="3752851" cy="28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99872-69B3-414D-97BD-8B6006EA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489243"/>
            <a:ext cx="10515600" cy="98725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TCP, UDP: principal transport protocols for 40 years</a:t>
            </a:r>
            <a:endParaRPr lang="en-US" sz="2600" dirty="0"/>
          </a:p>
          <a:p>
            <a:pPr>
              <a:spcBef>
                <a:spcPts val="600"/>
              </a:spcBef>
            </a:pPr>
            <a:r>
              <a:rPr lang="en-US" dirty="0"/>
              <a:t>different “flavors” of TCP developed, for specific scenarios:</a:t>
            </a:r>
            <a:endParaRPr lang="en-US" sz="2600" dirty="0"/>
          </a:p>
          <a:p>
            <a:pPr marL="46355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0" dirty="0"/>
              <a:t>Evolving transport-layer functionality</a:t>
            </a:r>
            <a:endParaRPr lang="en-US" sz="4400" b="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E7A73-4472-5C4F-8062-0327803AB9C7}"/>
              </a:ext>
            </a:extLst>
          </p:cNvPr>
          <p:cNvSpPr txBox="1">
            <a:spLocks/>
          </p:cNvSpPr>
          <p:nvPr/>
        </p:nvSpPr>
        <p:spPr>
          <a:xfrm>
            <a:off x="787400" y="4953000"/>
            <a:ext cx="10515600" cy="1485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moving transport–layer functions to application layer, on top of UDP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HTTP/3: QUIC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DDAA714-AEA1-4F44-A514-E68A84833FFD}"/>
              </a:ext>
            </a:extLst>
          </p:cNvPr>
          <p:cNvGraphicFramePr>
            <a:graphicFrameLocks noGrp="1"/>
          </p:cNvGraphicFramePr>
          <p:nvPr/>
        </p:nvGraphicFramePr>
        <p:xfrm>
          <a:off x="2124074" y="2591594"/>
          <a:ext cx="7921626" cy="2438400"/>
        </p:xfrm>
        <a:graphic>
          <a:graphicData uri="http://schemas.openxmlformats.org/drawingml/2006/table">
            <a:tbl>
              <a:tblPr firstRow="1" firstCol="1" bandRow="1"/>
              <a:tblGrid>
                <a:gridCol w="3451226">
                  <a:extLst>
                    <a:ext uri="{9D8B030D-6E8A-4147-A177-3AD203B41FA5}">
                      <a16:colId xmlns:a16="http://schemas.microsoft.com/office/drawing/2014/main" val="934503476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597467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Scenario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764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Long, fat pipes (large data transfers)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Many packets “in flight”; loss shuts down pipeline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949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Wireless networks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 due to noisy wireless links, mobility; TCP treat this as congestion loss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712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Long-delay links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Extremely long RTTs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24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center networks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Latency sensitive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01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Background traffic flows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 priority, “background” TCP flows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502626"/>
                  </a:ext>
                </a:extLst>
              </a:tr>
            </a:tbl>
          </a:graphicData>
        </a:graphic>
      </p:graphicFrame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2B6E534-05AF-3F4E-8ECD-9B33089B5A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82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99872-69B3-414D-97BD-8B6006EA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3"/>
            <a:ext cx="10515600" cy="1419057"/>
          </a:xfrm>
        </p:spPr>
        <p:txBody>
          <a:bodyPr>
            <a:normAutofit/>
          </a:bodyPr>
          <a:lstStyle/>
          <a:p>
            <a:r>
              <a:rPr lang="en-US" dirty="0"/>
              <a:t>application-layer protocol, on top of UDP</a:t>
            </a:r>
          </a:p>
          <a:p>
            <a:pPr lvl="1"/>
            <a:r>
              <a:rPr lang="en-US" sz="2600" dirty="0"/>
              <a:t>increase performance of HTTP</a:t>
            </a:r>
          </a:p>
          <a:p>
            <a:pPr lvl="1"/>
            <a:r>
              <a:rPr lang="en-US" sz="2600" dirty="0"/>
              <a:t>deployed on many Google servers, apps (Chrome, mobile YouTube app) 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QUIC: Quick UDP Internet Connections</a:t>
            </a:r>
            <a:endParaRPr lang="en-US" sz="4400" b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B91BD2-7430-FF40-862B-D62E51C13B78}"/>
              </a:ext>
            </a:extLst>
          </p:cNvPr>
          <p:cNvSpPr/>
          <p:nvPr/>
        </p:nvSpPr>
        <p:spPr>
          <a:xfrm>
            <a:off x="4009758" y="5111305"/>
            <a:ext cx="1905057" cy="455280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3333F-D7CB-6047-9756-0368D1C36C82}"/>
              </a:ext>
            </a:extLst>
          </p:cNvPr>
          <p:cNvSpPr txBox="1"/>
          <p:nvPr/>
        </p:nvSpPr>
        <p:spPr>
          <a:xfrm>
            <a:off x="4785245" y="515466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F710B7-CEAE-3748-A70E-8CA66C64F502}"/>
              </a:ext>
            </a:extLst>
          </p:cNvPr>
          <p:cNvSpPr/>
          <p:nvPr/>
        </p:nvSpPr>
        <p:spPr>
          <a:xfrm>
            <a:off x="4011627" y="4539909"/>
            <a:ext cx="1905057" cy="455280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E3861-D7DF-2F47-83DF-E982BA8E06C3}"/>
              </a:ext>
            </a:extLst>
          </p:cNvPr>
          <p:cNvSpPr txBox="1"/>
          <p:nvPr/>
        </p:nvSpPr>
        <p:spPr>
          <a:xfrm>
            <a:off x="4701444" y="4586345"/>
            <a:ext cx="539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7A8357-DCFE-9B48-83E4-CE95B4014FAD}"/>
              </a:ext>
            </a:extLst>
          </p:cNvPr>
          <p:cNvSpPr/>
          <p:nvPr/>
        </p:nvSpPr>
        <p:spPr>
          <a:xfrm>
            <a:off x="4012476" y="3958122"/>
            <a:ext cx="1905057" cy="455280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7A3820-7A9E-0540-A30D-999E193AA083}"/>
              </a:ext>
            </a:extLst>
          </p:cNvPr>
          <p:cNvSpPr txBox="1"/>
          <p:nvPr/>
        </p:nvSpPr>
        <p:spPr>
          <a:xfrm>
            <a:off x="4702293" y="4004558"/>
            <a:ext cx="500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39B097-1736-A841-A9F9-F4C6C666351C}"/>
              </a:ext>
            </a:extLst>
          </p:cNvPr>
          <p:cNvGrpSpPr/>
          <p:nvPr/>
        </p:nvGrpSpPr>
        <p:grpSpPr>
          <a:xfrm>
            <a:off x="4009758" y="3373625"/>
            <a:ext cx="1905057" cy="455283"/>
            <a:chOff x="975444" y="4703759"/>
            <a:chExt cx="2128813" cy="49852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480D08-6139-BE4C-8708-6738598DE58D}"/>
                </a:ext>
              </a:extLst>
            </p:cNvPr>
            <p:cNvSpPr/>
            <p:nvPr/>
          </p:nvSpPr>
          <p:spPr>
            <a:xfrm>
              <a:off x="975444" y="4703759"/>
              <a:ext cx="2128813" cy="498521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62BE277-7E2A-FE46-B0AF-38F4EEC0195F}"/>
                </a:ext>
              </a:extLst>
            </p:cNvPr>
            <p:cNvSpPr txBox="1"/>
            <p:nvPr/>
          </p:nvSpPr>
          <p:spPr>
            <a:xfrm>
              <a:off x="1576949" y="4754605"/>
              <a:ext cx="982079" cy="404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33742C-9EB1-AA42-AA29-FE8D1AAAC5E7}"/>
              </a:ext>
            </a:extLst>
          </p:cNvPr>
          <p:cNvCxnSpPr/>
          <p:nvPr/>
        </p:nvCxnSpPr>
        <p:spPr>
          <a:xfrm>
            <a:off x="3600029" y="5055713"/>
            <a:ext cx="5147262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57E849-F864-8D4E-A565-17A2DCC74B86}"/>
              </a:ext>
            </a:extLst>
          </p:cNvPr>
          <p:cNvCxnSpPr/>
          <p:nvPr/>
        </p:nvCxnSpPr>
        <p:spPr>
          <a:xfrm>
            <a:off x="3619151" y="4480558"/>
            <a:ext cx="5147262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D37B3DB-1C25-9644-805A-16F0B5732706}"/>
              </a:ext>
            </a:extLst>
          </p:cNvPr>
          <p:cNvSpPr txBox="1"/>
          <p:nvPr/>
        </p:nvSpPr>
        <p:spPr>
          <a:xfrm>
            <a:off x="2615767" y="5157137"/>
            <a:ext cx="122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FEFD46-159C-5848-865A-A466E6DF5BEF}"/>
              </a:ext>
            </a:extLst>
          </p:cNvPr>
          <p:cNvSpPr txBox="1"/>
          <p:nvPr/>
        </p:nvSpPr>
        <p:spPr>
          <a:xfrm>
            <a:off x="2621938" y="4563164"/>
            <a:ext cx="122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05840F-E8F9-1248-A8B0-64F7DE49604B}"/>
              </a:ext>
            </a:extLst>
          </p:cNvPr>
          <p:cNvSpPr txBox="1"/>
          <p:nvPr/>
        </p:nvSpPr>
        <p:spPr>
          <a:xfrm>
            <a:off x="2484036" y="3690724"/>
            <a:ext cx="137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D08199-2156-5E47-8400-89F2FF7E05B6}"/>
              </a:ext>
            </a:extLst>
          </p:cNvPr>
          <p:cNvSpPr txBox="1"/>
          <p:nvPr/>
        </p:nvSpPr>
        <p:spPr>
          <a:xfrm>
            <a:off x="4154397" y="5742409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HTTP/2 over TCP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44A4BD-7691-B2C4-36FE-CBC12635FC12}"/>
              </a:ext>
            </a:extLst>
          </p:cNvPr>
          <p:cNvGrpSpPr/>
          <p:nvPr/>
        </p:nvGrpSpPr>
        <p:grpSpPr>
          <a:xfrm>
            <a:off x="6450012" y="3362958"/>
            <a:ext cx="2891925" cy="2712422"/>
            <a:chOff x="6450012" y="3362958"/>
            <a:chExt cx="2891925" cy="271242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1151AF-C5B3-A045-AEE1-3269AA4A552C}"/>
                </a:ext>
              </a:extLst>
            </p:cNvPr>
            <p:cNvSpPr/>
            <p:nvPr/>
          </p:nvSpPr>
          <p:spPr>
            <a:xfrm>
              <a:off x="6496539" y="5113780"/>
              <a:ext cx="1905057" cy="45527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345EA0-B0B7-F44C-8F38-D5AFE6085FC8}"/>
                </a:ext>
              </a:extLst>
            </p:cNvPr>
            <p:cNvSpPr txBox="1"/>
            <p:nvPr/>
          </p:nvSpPr>
          <p:spPr>
            <a:xfrm>
              <a:off x="7272026" y="515713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61329C-3A7C-604A-9A8E-01F3C99E2079}"/>
                </a:ext>
              </a:extLst>
            </p:cNvPr>
            <p:cNvSpPr/>
            <p:nvPr/>
          </p:nvSpPr>
          <p:spPr>
            <a:xfrm>
              <a:off x="6498408" y="4629306"/>
              <a:ext cx="1905057" cy="368352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8920E0-FF76-6644-B051-4E77A3191FF8}"/>
                </a:ext>
              </a:extLst>
            </p:cNvPr>
            <p:cNvSpPr txBox="1"/>
            <p:nvPr/>
          </p:nvSpPr>
          <p:spPr>
            <a:xfrm>
              <a:off x="7175233" y="461804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5D51034-DDE5-974C-82AE-142E75CC3E19}"/>
                </a:ext>
              </a:extLst>
            </p:cNvPr>
            <p:cNvSpPr/>
            <p:nvPr/>
          </p:nvSpPr>
          <p:spPr>
            <a:xfrm>
              <a:off x="6499257" y="3834586"/>
              <a:ext cx="1905057" cy="574888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67D951-0F22-A44F-8F1F-8321B2215BAD}"/>
                </a:ext>
              </a:extLst>
            </p:cNvPr>
            <p:cNvSpPr txBox="1"/>
            <p:nvPr/>
          </p:nvSpPr>
          <p:spPr>
            <a:xfrm>
              <a:off x="7057603" y="394103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963114-2E56-3B45-9DC9-15BC9AF2AD0E}"/>
                </a:ext>
              </a:extLst>
            </p:cNvPr>
            <p:cNvSpPr/>
            <p:nvPr/>
          </p:nvSpPr>
          <p:spPr>
            <a:xfrm>
              <a:off x="6496539" y="3362961"/>
              <a:ext cx="1905057" cy="39778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7A77CA-7D7A-C746-8993-B09B1D569932}"/>
                </a:ext>
              </a:extLst>
            </p:cNvPr>
            <p:cNvSpPr txBox="1"/>
            <p:nvPr/>
          </p:nvSpPr>
          <p:spPr>
            <a:xfrm>
              <a:off x="6618172" y="3362958"/>
              <a:ext cx="1767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(slimmed)</a:t>
              </a:r>
            </a:p>
          </p:txBody>
        </p: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A2D8FD90-2BF4-CC45-9AB0-51A5BE04C10B}"/>
                </a:ext>
              </a:extLst>
            </p:cNvPr>
            <p:cNvSpPr/>
            <p:nvPr/>
          </p:nvSpPr>
          <p:spPr>
            <a:xfrm>
              <a:off x="8461369" y="3362958"/>
              <a:ext cx="155448" cy="1050444"/>
            </a:xfrm>
            <a:prstGeom prst="rightBrac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CBF145-CA1B-E44D-9B14-4357D6C18D99}"/>
                </a:ext>
              </a:extLst>
            </p:cNvPr>
            <p:cNvSpPr txBox="1"/>
            <p:nvPr/>
          </p:nvSpPr>
          <p:spPr>
            <a:xfrm>
              <a:off x="8441878" y="3706785"/>
              <a:ext cx="900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088D5D-930F-554A-8373-AC6F0FD83F5E}"/>
                </a:ext>
              </a:extLst>
            </p:cNvPr>
            <p:cNvSpPr txBox="1"/>
            <p:nvPr/>
          </p:nvSpPr>
          <p:spPr>
            <a:xfrm>
              <a:off x="6450012" y="5706048"/>
              <a:ext cx="18149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</a:t>
              </a:r>
              <a:r>
                <a:rPr lang="en-US" kern="0" dirty="0">
                  <a:solidFill>
                    <a:prstClr val="black"/>
                  </a:solidFill>
                  <a:latin typeface="Calibri" panose="020F0502020204030204"/>
                </a:rPr>
                <a:t>3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over UDP</a:t>
              </a:r>
            </a:p>
          </p:txBody>
        </p:sp>
      </p:grpSp>
      <p:sp>
        <p:nvSpPr>
          <p:cNvPr id="34" name="Slide Number Placeholder 2">
            <a:extLst>
              <a:ext uri="{FF2B5EF4-FFF2-40B4-BE49-F238E27FC236}">
                <a16:creationId xmlns:a16="http://schemas.microsoft.com/office/drawing/2014/main" id="{FD449AB4-BB35-4340-ACBD-E3F11043366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44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QUIC: Quick UDP Internet Connections</a:t>
            </a:r>
            <a:endParaRPr lang="en-US" sz="4400" b="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E9214B3-CD75-BA4B-9D47-70445519F4F9}"/>
              </a:ext>
            </a:extLst>
          </p:cNvPr>
          <p:cNvSpPr txBox="1">
            <a:spLocks/>
          </p:cNvSpPr>
          <p:nvPr/>
        </p:nvSpPr>
        <p:spPr>
          <a:xfrm>
            <a:off x="723900" y="1498601"/>
            <a:ext cx="10515600" cy="1028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adopts approaches we’ve studied in this chapter for connection establishment, error control, congestion control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7E4FE-DA5A-4E48-B610-6339C350A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93" y="4950316"/>
            <a:ext cx="10651413" cy="1675335"/>
          </a:xfrm>
        </p:spPr>
        <p:txBody>
          <a:bodyPr>
            <a:normAutofit/>
          </a:bodyPr>
          <a:lstStyle/>
          <a:p>
            <a:r>
              <a:rPr lang="en-US" dirty="0"/>
              <a:t> multiple application-level “streams” multiplexed over single QUIC connection</a:t>
            </a:r>
          </a:p>
          <a:p>
            <a:pPr lvl="1"/>
            <a:r>
              <a:rPr lang="en-US" dirty="0"/>
              <a:t>separate reliable data transfer, security</a:t>
            </a:r>
          </a:p>
          <a:p>
            <a:pPr lvl="1"/>
            <a:r>
              <a:rPr lang="en-US" dirty="0"/>
              <a:t>common congestion control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0DF9673-8E09-094A-B15C-D9EA31F6C15C}"/>
              </a:ext>
            </a:extLst>
          </p:cNvPr>
          <p:cNvSpPr txBox="1">
            <a:spLocks/>
          </p:cNvSpPr>
          <p:nvPr/>
        </p:nvSpPr>
        <p:spPr>
          <a:xfrm>
            <a:off x="673100" y="2565401"/>
            <a:ext cx="10515600" cy="2384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error and congestion control: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“Readers familiar with TCP’s loss detection and congestion control will find algorithms here that parallel well-known TCP ones.”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[from QUIC specification]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connection establishment: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reliability, congestion control, authentication, encryption, state established in one (or even zero) RTT (recall HTTP3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discussion in Chapter 2)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E07038B-ED19-5842-A33E-2BCFB116460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6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>
            <a:extLst>
              <a:ext uri="{FF2B5EF4-FFF2-40B4-BE49-F238E27FC236}">
                <a16:creationId xmlns:a16="http://schemas.microsoft.com/office/drawing/2014/main" id="{2955F75D-B0C1-5C4D-ACD5-A79B738E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QUIC: streams: parallelism, no HOL blocking</a:t>
            </a:r>
            <a:endParaRPr lang="en-US" sz="4400" b="0"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1DEB22C4-6CDE-A443-83AD-7C9A17A5F03C}"/>
              </a:ext>
            </a:extLst>
          </p:cNvPr>
          <p:cNvSpPr txBox="1"/>
          <p:nvPr/>
        </p:nvSpPr>
        <p:spPr>
          <a:xfrm>
            <a:off x="2543977" y="6035783"/>
            <a:ext cx="1447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(a) HTTP 1.1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D4653D6-BC4E-EF43-8900-840CE61D8374}"/>
              </a:ext>
            </a:extLst>
          </p:cNvPr>
          <p:cNvSpPr/>
          <p:nvPr/>
        </p:nvSpPr>
        <p:spPr>
          <a:xfrm>
            <a:off x="1054261" y="1578653"/>
            <a:ext cx="1965566" cy="2175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C795773-27B5-804B-897D-F51DCADB59B0}"/>
              </a:ext>
            </a:extLst>
          </p:cNvPr>
          <p:cNvSpPr/>
          <p:nvPr/>
        </p:nvSpPr>
        <p:spPr>
          <a:xfrm>
            <a:off x="1036173" y="4019150"/>
            <a:ext cx="1965566" cy="12785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25113ADF-5571-4349-8CD1-2C89C0BE47EC}"/>
              </a:ext>
            </a:extLst>
          </p:cNvPr>
          <p:cNvSpPr/>
          <p:nvPr/>
        </p:nvSpPr>
        <p:spPr>
          <a:xfrm>
            <a:off x="1115624" y="3255550"/>
            <a:ext cx="1829965" cy="449155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130EA656-CE8C-E146-9ADF-ED15CA2DADD3}"/>
              </a:ext>
            </a:extLst>
          </p:cNvPr>
          <p:cNvSpPr txBox="1"/>
          <p:nvPr/>
        </p:nvSpPr>
        <p:spPr>
          <a:xfrm>
            <a:off x="1249008" y="3237350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3F30BB02-5749-E946-8541-686AB05A015E}"/>
              </a:ext>
            </a:extLst>
          </p:cNvPr>
          <p:cNvGrpSpPr/>
          <p:nvPr/>
        </p:nvGrpSpPr>
        <p:grpSpPr>
          <a:xfrm>
            <a:off x="1115626" y="4169906"/>
            <a:ext cx="1829965" cy="467357"/>
            <a:chOff x="985206" y="5016160"/>
            <a:chExt cx="1509130" cy="255065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0BEF2AB-F8E8-5E41-A96C-61F14C59AD84}"/>
                </a:ext>
              </a:extLst>
            </p:cNvPr>
            <p:cNvSpPr/>
            <p:nvPr/>
          </p:nvSpPr>
          <p:spPr>
            <a:xfrm>
              <a:off x="985206" y="5016160"/>
              <a:ext cx="1509130" cy="245132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B456323E-FBE4-1A43-AA7B-F212C4B0B9F1}"/>
                </a:ext>
              </a:extLst>
            </p:cNvPr>
            <p:cNvSpPr txBox="1"/>
            <p:nvPr/>
          </p:nvSpPr>
          <p:spPr>
            <a:xfrm>
              <a:off x="1170162" y="5019266"/>
              <a:ext cx="1016851" cy="2519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RDT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52268243-BD57-944E-89DF-6418BA3B82B2}"/>
              </a:ext>
            </a:extLst>
          </p:cNvPr>
          <p:cNvGrpSpPr/>
          <p:nvPr/>
        </p:nvGrpSpPr>
        <p:grpSpPr>
          <a:xfrm>
            <a:off x="1054260" y="4684687"/>
            <a:ext cx="1925319" cy="467355"/>
            <a:chOff x="948938" y="5006227"/>
            <a:chExt cx="1587767" cy="255065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8ADB00AA-1BC5-8A46-92DB-BC78D9ACA84D}"/>
                </a:ext>
              </a:extLst>
            </p:cNvPr>
            <p:cNvSpPr/>
            <p:nvPr/>
          </p:nvSpPr>
          <p:spPr>
            <a:xfrm>
              <a:off x="985206" y="5016160"/>
              <a:ext cx="1509130" cy="245132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7086AFB-B8AA-C845-87C5-C1FC9E45CD3C}"/>
                </a:ext>
              </a:extLst>
            </p:cNvPr>
            <p:cNvSpPr txBox="1"/>
            <p:nvPr/>
          </p:nvSpPr>
          <p:spPr>
            <a:xfrm>
              <a:off x="948938" y="5006227"/>
              <a:ext cx="1587767" cy="251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Cong. Contr.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66EA7720-45BB-CE4D-9001-D63D6FEA1615}"/>
              </a:ext>
            </a:extLst>
          </p:cNvPr>
          <p:cNvSpPr/>
          <p:nvPr/>
        </p:nvSpPr>
        <p:spPr>
          <a:xfrm>
            <a:off x="3680782" y="1557642"/>
            <a:ext cx="1965566" cy="2175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887CA181-E3E1-4C41-B8A8-C1BE3C77300C}"/>
              </a:ext>
            </a:extLst>
          </p:cNvPr>
          <p:cNvSpPr txBox="1"/>
          <p:nvPr/>
        </p:nvSpPr>
        <p:spPr>
          <a:xfrm rot="16200000">
            <a:off x="-420574" y="4419208"/>
            <a:ext cx="1533142" cy="396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6D0A2F96-C1F0-0143-B197-7F9C1351C97A}"/>
              </a:ext>
            </a:extLst>
          </p:cNvPr>
          <p:cNvSpPr txBox="1"/>
          <p:nvPr/>
        </p:nvSpPr>
        <p:spPr>
          <a:xfrm rot="16200000">
            <a:off x="-463312" y="2467817"/>
            <a:ext cx="1779056" cy="396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</a:p>
        </p:txBody>
      </p: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7E58084D-96D5-6047-8E32-A0A00E0D0039}"/>
              </a:ext>
            </a:extLst>
          </p:cNvPr>
          <p:cNvCxnSpPr/>
          <p:nvPr/>
        </p:nvCxnSpPr>
        <p:spPr>
          <a:xfrm>
            <a:off x="1044294" y="3866601"/>
            <a:ext cx="4501961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</a:ln>
          <a:effectLst/>
        </p:spPr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80BD7FCB-A075-574B-8C3F-3776F31142C8}"/>
              </a:ext>
            </a:extLst>
          </p:cNvPr>
          <p:cNvSpPr txBox="1"/>
          <p:nvPr/>
        </p:nvSpPr>
        <p:spPr>
          <a:xfrm>
            <a:off x="6775422" y="6025510"/>
            <a:ext cx="4241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(b) HTTP/2 with QUIC: no HOL blocking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2CB1AA-2F3F-0244-A0D5-3981E4178EEC}"/>
              </a:ext>
            </a:extLst>
          </p:cNvPr>
          <p:cNvGrpSpPr/>
          <p:nvPr/>
        </p:nvGrpSpPr>
        <p:grpSpPr>
          <a:xfrm>
            <a:off x="3654226" y="4021737"/>
            <a:ext cx="1965566" cy="1278547"/>
            <a:chOff x="3654226" y="3933249"/>
            <a:chExt cx="1965566" cy="1278547"/>
          </a:xfrm>
        </p:grpSpPr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C366968B-E5E9-E342-8B23-F97D694251AA}"/>
                </a:ext>
              </a:extLst>
            </p:cNvPr>
            <p:cNvSpPr/>
            <p:nvPr/>
          </p:nvSpPr>
          <p:spPr>
            <a:xfrm>
              <a:off x="3654226" y="3933249"/>
              <a:ext cx="1965566" cy="12785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397F2BD3-8F29-1D46-AB35-10C73F47FB55}"/>
                </a:ext>
              </a:extLst>
            </p:cNvPr>
            <p:cNvGrpSpPr/>
            <p:nvPr/>
          </p:nvGrpSpPr>
          <p:grpSpPr>
            <a:xfrm>
              <a:off x="3733679" y="4084005"/>
              <a:ext cx="1829965" cy="467357"/>
              <a:chOff x="985206" y="5016160"/>
              <a:chExt cx="1509130" cy="255065"/>
            </a:xfrm>
          </p:grpSpPr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7386AB60-4013-8340-8460-905C3A1D4430}"/>
                  </a:ext>
                </a:extLst>
              </p:cNvPr>
              <p:cNvSpPr/>
              <p:nvPr/>
            </p:nvSpPr>
            <p:spPr>
              <a:xfrm>
                <a:off x="985206" y="5016160"/>
                <a:ext cx="1509130" cy="245132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4206B08B-27A9-BC49-A405-BD93FEF199DF}"/>
                  </a:ext>
                </a:extLst>
              </p:cNvPr>
              <p:cNvSpPr txBox="1"/>
              <p:nvPr/>
            </p:nvSpPr>
            <p:spPr>
              <a:xfrm>
                <a:off x="1170162" y="5019266"/>
                <a:ext cx="1016851" cy="2519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TCP RDT</a:t>
                </a:r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75C66236-1686-6A4E-8701-672D2E5C5D42}"/>
                </a:ext>
              </a:extLst>
            </p:cNvPr>
            <p:cNvGrpSpPr/>
            <p:nvPr/>
          </p:nvGrpSpPr>
          <p:grpSpPr>
            <a:xfrm>
              <a:off x="3672313" y="4598786"/>
              <a:ext cx="1925319" cy="467355"/>
              <a:chOff x="948938" y="5006227"/>
              <a:chExt cx="1587767" cy="255065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3F6B969C-D9C4-494A-8ECC-516C3B70E818}"/>
                  </a:ext>
                </a:extLst>
              </p:cNvPr>
              <p:cNvSpPr/>
              <p:nvPr/>
            </p:nvSpPr>
            <p:spPr>
              <a:xfrm>
                <a:off x="985206" y="5016160"/>
                <a:ext cx="1509130" cy="245132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686D42E1-A462-784D-83B5-AC6D4D4BF2CC}"/>
                  </a:ext>
                </a:extLst>
              </p:cNvPr>
              <p:cNvSpPr txBox="1"/>
              <p:nvPr/>
            </p:nvSpPr>
            <p:spPr>
              <a:xfrm>
                <a:off x="948938" y="5006227"/>
                <a:ext cx="1587767" cy="25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TCP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Cong. Contr.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5B2DE59-67EE-F44D-85CD-882FD9434387}"/>
              </a:ext>
            </a:extLst>
          </p:cNvPr>
          <p:cNvSpPr/>
          <p:nvPr/>
        </p:nvSpPr>
        <p:spPr>
          <a:xfrm>
            <a:off x="3822817" y="3261240"/>
            <a:ext cx="1829965" cy="449155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C0AE0BBE-F280-254C-B457-CB9FD30F30DA}"/>
              </a:ext>
            </a:extLst>
          </p:cNvPr>
          <p:cNvSpPr txBox="1"/>
          <p:nvPr/>
        </p:nvSpPr>
        <p:spPr>
          <a:xfrm>
            <a:off x="3948827" y="3243040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412A817-8AC0-F04B-93B0-EB9246C835BD}"/>
              </a:ext>
            </a:extLst>
          </p:cNvPr>
          <p:cNvSpPr/>
          <p:nvPr/>
        </p:nvSpPr>
        <p:spPr>
          <a:xfrm>
            <a:off x="2308647" y="2654627"/>
            <a:ext cx="1710813" cy="2824317"/>
          </a:xfrm>
          <a:custGeom>
            <a:avLst/>
            <a:gdLst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7" fmla="*/ 1482213 w 1710813"/>
              <a:gd name="connsiteY7" fmla="*/ 29497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0813" h="2824317">
                <a:moveTo>
                  <a:pt x="0" y="376084"/>
                </a:moveTo>
                <a:lnTo>
                  <a:pt x="0" y="2824317"/>
                </a:lnTo>
                <a:lnTo>
                  <a:pt x="95865" y="2824317"/>
                </a:lnTo>
                <a:lnTo>
                  <a:pt x="1710813" y="2824317"/>
                </a:lnTo>
                <a:lnTo>
                  <a:pt x="1710813" y="2676833"/>
                </a:lnTo>
                <a:lnTo>
                  <a:pt x="1710813" y="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245B157C-7205-F646-8AAF-DBD20FCCBC4C}"/>
              </a:ext>
            </a:extLst>
          </p:cNvPr>
          <p:cNvSpPr/>
          <p:nvPr/>
        </p:nvSpPr>
        <p:spPr>
          <a:xfrm>
            <a:off x="1947618" y="2410857"/>
            <a:ext cx="2329488" cy="3142699"/>
          </a:xfrm>
          <a:custGeom>
            <a:avLst/>
            <a:gdLst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6" fmla="*/ 2263877 w 2455606"/>
              <a:gd name="connsiteY6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0" fmla="*/ 0 w 2455606"/>
              <a:gd name="connsiteY0" fmla="*/ 0 h 2831690"/>
              <a:gd name="connsiteX1" fmla="*/ 0 w 2455606"/>
              <a:gd name="connsiteY1" fmla="*/ 2831690 h 2831690"/>
              <a:gd name="connsiteX2" fmla="*/ 88490 w 2455606"/>
              <a:gd name="connsiteY2" fmla="*/ 2831690 h 2831690"/>
              <a:gd name="connsiteX3" fmla="*/ 2455606 w 2455606"/>
              <a:gd name="connsiteY3" fmla="*/ 2831690 h 2831690"/>
              <a:gd name="connsiteX4" fmla="*/ 2455606 w 2455606"/>
              <a:gd name="connsiteY4" fmla="*/ 1755057 h 283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5606" h="2831690">
                <a:moveTo>
                  <a:pt x="0" y="0"/>
                </a:moveTo>
                <a:lnTo>
                  <a:pt x="0" y="2831690"/>
                </a:lnTo>
                <a:lnTo>
                  <a:pt x="88490" y="2831690"/>
                </a:lnTo>
                <a:lnTo>
                  <a:pt x="2455606" y="2831690"/>
                </a:lnTo>
                <a:lnTo>
                  <a:pt x="2455606" y="1755057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B54907B-9C97-AE47-A125-9A587644726D}"/>
              </a:ext>
            </a:extLst>
          </p:cNvPr>
          <p:cNvSpPr/>
          <p:nvPr/>
        </p:nvSpPr>
        <p:spPr>
          <a:xfrm>
            <a:off x="2120129" y="4420139"/>
            <a:ext cx="2284794" cy="1091381"/>
          </a:xfrm>
          <a:custGeom>
            <a:avLst/>
            <a:gdLst>
              <a:gd name="connsiteX0" fmla="*/ 2558845 w 2558845"/>
              <a:gd name="connsiteY0" fmla="*/ 0 h 1091381"/>
              <a:gd name="connsiteX1" fmla="*/ 2558845 w 2558845"/>
              <a:gd name="connsiteY1" fmla="*/ 1091381 h 1091381"/>
              <a:gd name="connsiteX2" fmla="*/ 2485103 w 2558845"/>
              <a:gd name="connsiteY2" fmla="*/ 1091381 h 1091381"/>
              <a:gd name="connsiteX3" fmla="*/ 0 w 2558845"/>
              <a:gd name="connsiteY3" fmla="*/ 1091381 h 1091381"/>
              <a:gd name="connsiteX4" fmla="*/ 0 w 2558845"/>
              <a:gd name="connsiteY4" fmla="*/ 582562 h 1091381"/>
              <a:gd name="connsiteX5" fmla="*/ 0 w 2558845"/>
              <a:gd name="connsiteY5" fmla="*/ 14749 h 1091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58845" h="1091381">
                <a:moveTo>
                  <a:pt x="2558845" y="0"/>
                </a:moveTo>
                <a:lnTo>
                  <a:pt x="2558845" y="1091381"/>
                </a:lnTo>
                <a:lnTo>
                  <a:pt x="2485103" y="1091381"/>
                </a:lnTo>
                <a:lnTo>
                  <a:pt x="0" y="1091381"/>
                </a:lnTo>
                <a:lnTo>
                  <a:pt x="0" y="582562"/>
                </a:lnTo>
                <a:lnTo>
                  <a:pt x="0" y="14749"/>
                </a:lnTo>
              </a:path>
            </a:pathLst>
          </a:custGeom>
          <a:noFill/>
          <a:ln w="254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366A1-45EC-1249-B0C2-FDBAC7838D9A}"/>
              </a:ext>
            </a:extLst>
          </p:cNvPr>
          <p:cNvSpPr txBox="1"/>
          <p:nvPr/>
        </p:nvSpPr>
        <p:spPr>
          <a:xfrm>
            <a:off x="4018781" y="4262676"/>
            <a:ext cx="63844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FF0A73C-FDFB-784B-8FA0-EA173D5E9471}"/>
              </a:ext>
            </a:extLst>
          </p:cNvPr>
          <p:cNvSpPr/>
          <p:nvPr/>
        </p:nvSpPr>
        <p:spPr>
          <a:xfrm>
            <a:off x="2162632" y="2535607"/>
            <a:ext cx="2345388" cy="3023419"/>
          </a:xfrm>
          <a:custGeom>
            <a:avLst/>
            <a:gdLst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5" fmla="*/ 2470355 w 2573594"/>
              <a:gd name="connsiteY5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3594" h="3023419">
                <a:moveTo>
                  <a:pt x="0" y="1976284"/>
                </a:moveTo>
                <a:lnTo>
                  <a:pt x="0" y="3023419"/>
                </a:lnTo>
                <a:lnTo>
                  <a:pt x="2573594" y="3023419"/>
                </a:lnTo>
                <a:lnTo>
                  <a:pt x="2573594" y="0"/>
                </a:lnTo>
              </a:path>
            </a:pathLst>
          </a:custGeom>
          <a:noFill/>
          <a:ln w="25400">
            <a:solidFill>
              <a:srgbClr val="0000A3"/>
            </a:solidFill>
            <a:headEnd type="none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5C7DDD7-BE3F-B143-A4C4-AF528D4540D7}"/>
              </a:ext>
            </a:extLst>
          </p:cNvPr>
          <p:cNvSpPr/>
          <p:nvPr/>
        </p:nvSpPr>
        <p:spPr>
          <a:xfrm>
            <a:off x="1714500" y="2240280"/>
            <a:ext cx="3188970" cy="3314700"/>
          </a:xfrm>
          <a:custGeom>
            <a:avLst/>
            <a:gdLst>
              <a:gd name="connsiteX0" fmla="*/ 0 w 3188970"/>
              <a:gd name="connsiteY0" fmla="*/ 0 h 3314700"/>
              <a:gd name="connsiteX1" fmla="*/ 0 w 3188970"/>
              <a:gd name="connsiteY1" fmla="*/ 3314700 h 3314700"/>
              <a:gd name="connsiteX2" fmla="*/ 3188970 w 3188970"/>
              <a:gd name="connsiteY2" fmla="*/ 3314700 h 3314700"/>
              <a:gd name="connsiteX3" fmla="*/ 3188970 w 3188970"/>
              <a:gd name="connsiteY3" fmla="*/ 11430 h 3314700"/>
              <a:gd name="connsiteX4" fmla="*/ 3188970 w 3188970"/>
              <a:gd name="connsiteY4" fmla="*/ 1143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8970" h="3314700">
                <a:moveTo>
                  <a:pt x="0" y="0"/>
                </a:moveTo>
                <a:lnTo>
                  <a:pt x="0" y="3314700"/>
                </a:lnTo>
                <a:lnTo>
                  <a:pt x="3188970" y="3314700"/>
                </a:lnTo>
                <a:lnTo>
                  <a:pt x="3188970" y="11430"/>
                </a:lnTo>
                <a:lnTo>
                  <a:pt x="3188970" y="1143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76BA7D-D912-094B-A280-BDBC4F9149F0}"/>
              </a:ext>
            </a:extLst>
          </p:cNvPr>
          <p:cNvGrpSpPr/>
          <p:nvPr/>
        </p:nvGrpSpPr>
        <p:grpSpPr>
          <a:xfrm>
            <a:off x="1247868" y="1815620"/>
            <a:ext cx="1028924" cy="463979"/>
            <a:chOff x="1247868" y="1815620"/>
            <a:chExt cx="1028924" cy="463979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A007FA27-9CF4-7743-A2DC-8BD8D1DCB92D}"/>
                </a:ext>
              </a:extLst>
            </p:cNvPr>
            <p:cNvSpPr/>
            <p:nvPr/>
          </p:nvSpPr>
          <p:spPr>
            <a:xfrm>
              <a:off x="1428787" y="1815620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DCFCC0BC-A346-6D46-A4D1-0C72F2009BF4}"/>
                </a:ext>
              </a:extLst>
            </p:cNvPr>
            <p:cNvSpPr txBox="1"/>
            <p:nvPr/>
          </p:nvSpPr>
          <p:spPr>
            <a:xfrm>
              <a:off x="1247868" y="1838324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B4F9FC-DCD7-4D4F-8B15-6589ACCBB428}"/>
              </a:ext>
            </a:extLst>
          </p:cNvPr>
          <p:cNvGrpSpPr/>
          <p:nvPr/>
        </p:nvGrpSpPr>
        <p:grpSpPr>
          <a:xfrm>
            <a:off x="1510481" y="2208954"/>
            <a:ext cx="1028924" cy="463979"/>
            <a:chOff x="1549462" y="2216434"/>
            <a:chExt cx="1028924" cy="463979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29C110D-8068-9C41-8799-25E9F5DFC0F3}"/>
                </a:ext>
              </a:extLst>
            </p:cNvPr>
            <p:cNvSpPr/>
            <p:nvPr/>
          </p:nvSpPr>
          <p:spPr>
            <a:xfrm>
              <a:off x="1709684" y="2216434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6EA9AB61-0444-624B-B17B-4BA90A2554D5}"/>
                </a:ext>
              </a:extLst>
            </p:cNvPr>
            <p:cNvSpPr txBox="1"/>
            <p:nvPr/>
          </p:nvSpPr>
          <p:spPr>
            <a:xfrm>
              <a:off x="1549462" y="2239138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337" name="Group 321">
            <a:extLst>
              <a:ext uri="{FF2B5EF4-FFF2-40B4-BE49-F238E27FC236}">
                <a16:creationId xmlns:a16="http://schemas.microsoft.com/office/drawing/2014/main" id="{CE43EBA3-78B5-3F40-8C70-2C81174FED92}"/>
              </a:ext>
            </a:extLst>
          </p:cNvPr>
          <p:cNvGrpSpPr>
            <a:grpSpLocks/>
          </p:cNvGrpSpPr>
          <p:nvPr/>
        </p:nvGrpSpPr>
        <p:grpSpPr bwMode="auto">
          <a:xfrm>
            <a:off x="5386202" y="1360556"/>
            <a:ext cx="310294" cy="628857"/>
            <a:chOff x="4140" y="429"/>
            <a:chExt cx="1425" cy="2396"/>
          </a:xfrm>
        </p:grpSpPr>
        <p:sp>
          <p:nvSpPr>
            <p:cNvPr id="338" name="Freeform 322">
              <a:extLst>
                <a:ext uri="{FF2B5EF4-FFF2-40B4-BE49-F238E27FC236}">
                  <a16:creationId xmlns:a16="http://schemas.microsoft.com/office/drawing/2014/main" id="{368EA2FA-44C8-834E-854B-7B514A744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323">
              <a:extLst>
                <a:ext uri="{FF2B5EF4-FFF2-40B4-BE49-F238E27FC236}">
                  <a16:creationId xmlns:a16="http://schemas.microsoft.com/office/drawing/2014/main" id="{70E7981D-F5CF-0F4F-95BC-59CAE7F37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Freeform 324">
              <a:extLst>
                <a:ext uri="{FF2B5EF4-FFF2-40B4-BE49-F238E27FC236}">
                  <a16:creationId xmlns:a16="http://schemas.microsoft.com/office/drawing/2014/main" id="{D34DC0AC-CA88-1949-9FF3-5446E9BDC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Freeform 325">
              <a:extLst>
                <a:ext uri="{FF2B5EF4-FFF2-40B4-BE49-F238E27FC236}">
                  <a16:creationId xmlns:a16="http://schemas.microsoft.com/office/drawing/2014/main" id="{1C01594E-61F9-E249-9FA4-5D3422C2F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Rectangle 326">
              <a:extLst>
                <a:ext uri="{FF2B5EF4-FFF2-40B4-BE49-F238E27FC236}">
                  <a16:creationId xmlns:a16="http://schemas.microsoft.com/office/drawing/2014/main" id="{D77E1E19-E42D-9746-8590-DDBDBCF2E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43" name="Group 327">
              <a:extLst>
                <a:ext uri="{FF2B5EF4-FFF2-40B4-BE49-F238E27FC236}">
                  <a16:creationId xmlns:a16="http://schemas.microsoft.com/office/drawing/2014/main" id="{D43FBF8D-840F-7746-9599-7361C09F7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68" name="AutoShape 328">
                <a:extLst>
                  <a:ext uri="{FF2B5EF4-FFF2-40B4-BE49-F238E27FC236}">
                    <a16:creationId xmlns:a16="http://schemas.microsoft.com/office/drawing/2014/main" id="{F4FD27B7-CFFA-9E41-9435-D5C0C9F83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9" name="AutoShape 329">
                <a:extLst>
                  <a:ext uri="{FF2B5EF4-FFF2-40B4-BE49-F238E27FC236}">
                    <a16:creationId xmlns:a16="http://schemas.microsoft.com/office/drawing/2014/main" id="{7507A3CD-B7D7-4949-A9FB-24247DC4C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44" name="Rectangle 330">
              <a:extLst>
                <a:ext uri="{FF2B5EF4-FFF2-40B4-BE49-F238E27FC236}">
                  <a16:creationId xmlns:a16="http://schemas.microsoft.com/office/drawing/2014/main" id="{45BD24A7-490E-6D4A-97DE-1EB910C1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45" name="Group 331">
              <a:extLst>
                <a:ext uri="{FF2B5EF4-FFF2-40B4-BE49-F238E27FC236}">
                  <a16:creationId xmlns:a16="http://schemas.microsoft.com/office/drawing/2014/main" id="{D9050BE1-1376-E14C-8B43-5415B53EC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66" name="AutoShape 332">
                <a:extLst>
                  <a:ext uri="{FF2B5EF4-FFF2-40B4-BE49-F238E27FC236}">
                    <a16:creationId xmlns:a16="http://schemas.microsoft.com/office/drawing/2014/main" id="{C382B0F1-7E6E-C347-98FD-D6E0E226F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7" name="AutoShape 333">
                <a:extLst>
                  <a:ext uri="{FF2B5EF4-FFF2-40B4-BE49-F238E27FC236}">
                    <a16:creationId xmlns:a16="http://schemas.microsoft.com/office/drawing/2014/main" id="{B9D5D5BE-21B4-5E46-BCB8-3E6E15B81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46" name="Rectangle 334">
              <a:extLst>
                <a:ext uri="{FF2B5EF4-FFF2-40B4-BE49-F238E27FC236}">
                  <a16:creationId xmlns:a16="http://schemas.microsoft.com/office/drawing/2014/main" id="{85A27DE8-FCB1-FE4C-830E-B9A186841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7" name="Rectangle 335">
              <a:extLst>
                <a:ext uri="{FF2B5EF4-FFF2-40B4-BE49-F238E27FC236}">
                  <a16:creationId xmlns:a16="http://schemas.microsoft.com/office/drawing/2014/main" id="{2D81F5BF-5571-F841-A230-C4FABFAA7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48" name="Group 336">
              <a:extLst>
                <a:ext uri="{FF2B5EF4-FFF2-40B4-BE49-F238E27FC236}">
                  <a16:creationId xmlns:a16="http://schemas.microsoft.com/office/drawing/2014/main" id="{40511408-3E7E-064B-A2B4-4DC41FFBF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64" name="AutoShape 337">
                <a:extLst>
                  <a:ext uri="{FF2B5EF4-FFF2-40B4-BE49-F238E27FC236}">
                    <a16:creationId xmlns:a16="http://schemas.microsoft.com/office/drawing/2014/main" id="{CB6BB265-1398-B84D-B055-F2380188C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5" name="AutoShape 338">
                <a:extLst>
                  <a:ext uri="{FF2B5EF4-FFF2-40B4-BE49-F238E27FC236}">
                    <a16:creationId xmlns:a16="http://schemas.microsoft.com/office/drawing/2014/main" id="{284EDDE1-D475-0D45-B8E1-D22F3BB5F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49" name="Freeform 339">
              <a:extLst>
                <a:ext uri="{FF2B5EF4-FFF2-40B4-BE49-F238E27FC236}">
                  <a16:creationId xmlns:a16="http://schemas.microsoft.com/office/drawing/2014/main" id="{2EC30120-F28B-6C44-BA86-015592330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0" name="Group 340">
              <a:extLst>
                <a:ext uri="{FF2B5EF4-FFF2-40B4-BE49-F238E27FC236}">
                  <a16:creationId xmlns:a16="http://schemas.microsoft.com/office/drawing/2014/main" id="{1D12166E-59AE-AF4F-AC68-D94AFF4969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2" name="AutoShape 341">
                <a:extLst>
                  <a:ext uri="{FF2B5EF4-FFF2-40B4-BE49-F238E27FC236}">
                    <a16:creationId xmlns:a16="http://schemas.microsoft.com/office/drawing/2014/main" id="{CEC2F114-3899-AC46-B9CD-3E7FEF7D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3" name="AutoShape 342">
                <a:extLst>
                  <a:ext uri="{FF2B5EF4-FFF2-40B4-BE49-F238E27FC236}">
                    <a16:creationId xmlns:a16="http://schemas.microsoft.com/office/drawing/2014/main" id="{8B8898E2-D667-6D4F-819E-C8360C5DC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1" name="Rectangle 343">
              <a:extLst>
                <a:ext uri="{FF2B5EF4-FFF2-40B4-BE49-F238E27FC236}">
                  <a16:creationId xmlns:a16="http://schemas.microsoft.com/office/drawing/2014/main" id="{9997B225-39F6-714E-BB10-2E332CC3F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2" name="Freeform 344">
              <a:extLst>
                <a:ext uri="{FF2B5EF4-FFF2-40B4-BE49-F238E27FC236}">
                  <a16:creationId xmlns:a16="http://schemas.microsoft.com/office/drawing/2014/main" id="{F23D691F-1D74-454D-92FD-1D49AEF21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Freeform 345">
              <a:extLst>
                <a:ext uri="{FF2B5EF4-FFF2-40B4-BE49-F238E27FC236}">
                  <a16:creationId xmlns:a16="http://schemas.microsoft.com/office/drawing/2014/main" id="{7EC049DC-B651-8A4D-B4AF-D4AE45137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Oval 346">
              <a:extLst>
                <a:ext uri="{FF2B5EF4-FFF2-40B4-BE49-F238E27FC236}">
                  <a16:creationId xmlns:a16="http://schemas.microsoft.com/office/drawing/2014/main" id="{28E19479-A7E7-F541-BCED-CA07DE986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5" name="Freeform 347">
              <a:extLst>
                <a:ext uri="{FF2B5EF4-FFF2-40B4-BE49-F238E27FC236}">
                  <a16:creationId xmlns:a16="http://schemas.microsoft.com/office/drawing/2014/main" id="{8F392652-1C5F-C245-B8EC-1CC561431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AutoShape 348">
              <a:extLst>
                <a:ext uri="{FF2B5EF4-FFF2-40B4-BE49-F238E27FC236}">
                  <a16:creationId xmlns:a16="http://schemas.microsoft.com/office/drawing/2014/main" id="{927CAF21-8E01-8A41-AFE5-3F05534A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7" name="AutoShape 349">
              <a:extLst>
                <a:ext uri="{FF2B5EF4-FFF2-40B4-BE49-F238E27FC236}">
                  <a16:creationId xmlns:a16="http://schemas.microsoft.com/office/drawing/2014/main" id="{1C72370F-4E8C-6E41-8FF7-F583D5073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8" name="Oval 350">
              <a:extLst>
                <a:ext uri="{FF2B5EF4-FFF2-40B4-BE49-F238E27FC236}">
                  <a16:creationId xmlns:a16="http://schemas.microsoft.com/office/drawing/2014/main" id="{7CAE6DBB-B7F5-6349-9D67-2B820D4A6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9" name="Oval 351">
              <a:extLst>
                <a:ext uri="{FF2B5EF4-FFF2-40B4-BE49-F238E27FC236}">
                  <a16:creationId xmlns:a16="http://schemas.microsoft.com/office/drawing/2014/main" id="{94DCCCED-456C-814C-8079-310090B0F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60" name="Oval 352">
              <a:extLst>
                <a:ext uri="{FF2B5EF4-FFF2-40B4-BE49-F238E27FC236}">
                  <a16:creationId xmlns:a16="http://schemas.microsoft.com/office/drawing/2014/main" id="{5BEE1EAA-ED04-3045-954F-747BFBBA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1" name="Rectangle 353">
              <a:extLst>
                <a:ext uri="{FF2B5EF4-FFF2-40B4-BE49-F238E27FC236}">
                  <a16:creationId xmlns:a16="http://schemas.microsoft.com/office/drawing/2014/main" id="{F2E64557-BE36-674A-9568-E85284DF3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70" name="Group 354">
            <a:extLst>
              <a:ext uri="{FF2B5EF4-FFF2-40B4-BE49-F238E27FC236}">
                <a16:creationId xmlns:a16="http://schemas.microsoft.com/office/drawing/2014/main" id="{02971CF7-0CB6-6841-96B9-CD3895F572BF}"/>
              </a:ext>
            </a:extLst>
          </p:cNvPr>
          <p:cNvGrpSpPr>
            <a:grpSpLocks/>
          </p:cNvGrpSpPr>
          <p:nvPr/>
        </p:nvGrpSpPr>
        <p:grpSpPr bwMode="auto">
          <a:xfrm>
            <a:off x="773442" y="1418426"/>
            <a:ext cx="525462" cy="434975"/>
            <a:chOff x="-44" y="1473"/>
            <a:chExt cx="981" cy="1105"/>
          </a:xfrm>
        </p:grpSpPr>
        <p:pic>
          <p:nvPicPr>
            <p:cNvPr id="371" name="Picture 355" descr="desktop_computer_stylized_medium">
              <a:extLst>
                <a:ext uri="{FF2B5EF4-FFF2-40B4-BE49-F238E27FC236}">
                  <a16:creationId xmlns:a16="http://schemas.microsoft.com/office/drawing/2014/main" id="{58DF8070-F2DF-F84A-8469-DEE030BD8B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2" name="Freeform 356">
              <a:extLst>
                <a:ext uri="{FF2B5EF4-FFF2-40B4-BE49-F238E27FC236}">
                  <a16:creationId xmlns:a16="http://schemas.microsoft.com/office/drawing/2014/main" id="{E3865153-A00D-E343-AFF8-4652E9FFF1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73A81A7-03AE-D442-A671-DC35FE97563A}"/>
              </a:ext>
            </a:extLst>
          </p:cNvPr>
          <p:cNvGrpSpPr/>
          <p:nvPr/>
        </p:nvGrpSpPr>
        <p:grpSpPr>
          <a:xfrm>
            <a:off x="1830370" y="2617249"/>
            <a:ext cx="1028924" cy="463397"/>
            <a:chOff x="1830370" y="2617249"/>
            <a:chExt cx="1028924" cy="463397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51102884-47F2-514E-81B8-C6505D1701C5}"/>
                </a:ext>
              </a:extLst>
            </p:cNvPr>
            <p:cNvSpPr/>
            <p:nvPr/>
          </p:nvSpPr>
          <p:spPr>
            <a:xfrm>
              <a:off x="1990582" y="2617249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8E8A36E-C98B-EC43-99F7-B8138B25C779}"/>
                </a:ext>
              </a:extLst>
            </p:cNvPr>
            <p:cNvSpPr txBox="1"/>
            <p:nvPr/>
          </p:nvSpPr>
          <p:spPr>
            <a:xfrm>
              <a:off x="1830370" y="2639371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4920F69-7924-354E-BEAC-09060A44F38B}"/>
              </a:ext>
            </a:extLst>
          </p:cNvPr>
          <p:cNvGrpSpPr/>
          <p:nvPr/>
        </p:nvGrpSpPr>
        <p:grpSpPr>
          <a:xfrm>
            <a:off x="6475440" y="1528391"/>
            <a:ext cx="5173835" cy="3801217"/>
            <a:chOff x="6493941" y="1557642"/>
            <a:chExt cx="5173835" cy="3801217"/>
          </a:xfrm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09B789F-6176-5B46-9E76-E4B1DC511275}"/>
                </a:ext>
              </a:extLst>
            </p:cNvPr>
            <p:cNvSpPr/>
            <p:nvPr/>
          </p:nvSpPr>
          <p:spPr>
            <a:xfrm>
              <a:off x="6573113" y="1557642"/>
              <a:ext cx="2247142" cy="27264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3581802C-ADD6-C943-9F25-55344444C714}"/>
                </a:ext>
              </a:extLst>
            </p:cNvPr>
            <p:cNvSpPr/>
            <p:nvPr/>
          </p:nvSpPr>
          <p:spPr>
            <a:xfrm>
              <a:off x="6662258" y="3758046"/>
              <a:ext cx="2070591" cy="409168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65B346D-644B-5D48-B98B-838D0B13216F}"/>
                </a:ext>
              </a:extLst>
            </p:cNvPr>
            <p:cNvSpPr txBox="1"/>
            <p:nvPr/>
          </p:nvSpPr>
          <p:spPr>
            <a:xfrm>
              <a:off x="6493941" y="3752006"/>
              <a:ext cx="2333805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 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Cong. Cont.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12481C95-56B5-814F-99E7-EC8DC1B24912}"/>
                </a:ext>
              </a:extLst>
            </p:cNvPr>
            <p:cNvGrpSpPr/>
            <p:nvPr/>
          </p:nvGrpSpPr>
          <p:grpSpPr>
            <a:xfrm>
              <a:off x="6549806" y="2804024"/>
              <a:ext cx="2147125" cy="968714"/>
              <a:chOff x="3786573" y="4781422"/>
              <a:chExt cx="1289919" cy="450478"/>
            </a:xfrm>
          </p:grpSpPr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A1B08E61-89E4-7E48-AE03-358210EB4F99}"/>
                  </a:ext>
                </a:extLst>
              </p:cNvPr>
              <p:cNvGrpSpPr/>
              <p:nvPr/>
            </p:nvGrpSpPr>
            <p:grpSpPr>
              <a:xfrm>
                <a:off x="3786573" y="4781422"/>
                <a:ext cx="535512" cy="197065"/>
                <a:chOff x="3638004" y="4844056"/>
                <a:chExt cx="535512" cy="197065"/>
              </a:xfrm>
            </p:grpSpPr>
            <p:sp>
              <p:nvSpPr>
                <p:cNvPr id="403" name="Rectangle 402">
                  <a:extLst>
                    <a:ext uri="{FF2B5EF4-FFF2-40B4-BE49-F238E27FC236}">
                      <a16:creationId xmlns:a16="http://schemas.microsoft.com/office/drawing/2014/main" id="{B23DA7CF-481E-4944-B33C-8DDD60957A5C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4" name="TextBox 403">
                  <a:extLst>
                    <a:ext uri="{FF2B5EF4-FFF2-40B4-BE49-F238E27FC236}">
                      <a16:creationId xmlns:a16="http://schemas.microsoft.com/office/drawing/2014/main" id="{E2808FFB-0C3C-7D40-8E70-70D6E0695DB5}"/>
                    </a:ext>
                  </a:extLst>
                </p:cNvPr>
                <p:cNvSpPr txBox="1"/>
                <p:nvPr/>
              </p:nvSpPr>
              <p:spPr>
                <a:xfrm>
                  <a:off x="3638004" y="4844056"/>
                  <a:ext cx="535512" cy="1970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98" name="Group 397">
                <a:extLst>
                  <a:ext uri="{FF2B5EF4-FFF2-40B4-BE49-F238E27FC236}">
                    <a16:creationId xmlns:a16="http://schemas.microsoft.com/office/drawing/2014/main" id="{0D370A69-00DF-5D4A-BA99-42A810952634}"/>
                  </a:ext>
                </a:extLst>
              </p:cNvPr>
              <p:cNvGrpSpPr/>
              <p:nvPr/>
            </p:nvGrpSpPr>
            <p:grpSpPr>
              <a:xfrm>
                <a:off x="3856579" y="4996013"/>
                <a:ext cx="1219913" cy="235887"/>
                <a:chOff x="3856579" y="4996013"/>
                <a:chExt cx="1219913" cy="235887"/>
              </a:xfrm>
            </p:grpSpPr>
            <p:sp>
              <p:nvSpPr>
                <p:cNvPr id="399" name="TextBox 398">
                  <a:extLst>
                    <a:ext uri="{FF2B5EF4-FFF2-40B4-BE49-F238E27FC236}">
                      <a16:creationId xmlns:a16="http://schemas.microsoft.com/office/drawing/2014/main" id="{A734BAD2-0E64-6740-8F0C-E8ED4C14FE9E}"/>
                    </a:ext>
                  </a:extLst>
                </p:cNvPr>
                <p:cNvSpPr txBox="1"/>
                <p:nvPr/>
              </p:nvSpPr>
              <p:spPr>
                <a:xfrm>
                  <a:off x="3856579" y="4996392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0" name="Rectangle 399">
                  <a:extLst>
                    <a:ext uri="{FF2B5EF4-FFF2-40B4-BE49-F238E27FC236}">
                      <a16:creationId xmlns:a16="http://schemas.microsoft.com/office/drawing/2014/main" id="{48E21D53-F0A6-F74E-AB97-A44AA527AEC4}"/>
                    </a:ext>
                  </a:extLst>
                </p:cNvPr>
                <p:cNvSpPr/>
                <p:nvPr/>
              </p:nvSpPr>
              <p:spPr>
                <a:xfrm>
                  <a:off x="3857961" y="49984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TextBox 400">
                  <a:extLst>
                    <a:ext uri="{FF2B5EF4-FFF2-40B4-BE49-F238E27FC236}">
                      <a16:creationId xmlns:a16="http://schemas.microsoft.com/office/drawing/2014/main" id="{FAFAFC96-FE70-B84C-8774-34DD7424DBFD}"/>
                    </a:ext>
                  </a:extLst>
                </p:cNvPr>
                <p:cNvSpPr txBox="1"/>
                <p:nvPr/>
              </p:nvSpPr>
              <p:spPr>
                <a:xfrm>
                  <a:off x="4263655" y="5002841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EC252B6A-74EB-C945-8F3A-6F35BFA13BF3}"/>
                    </a:ext>
                  </a:extLst>
                </p:cNvPr>
                <p:cNvSpPr txBox="1"/>
                <p:nvPr/>
              </p:nvSpPr>
              <p:spPr>
                <a:xfrm>
                  <a:off x="4674716" y="4996013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AB0D006E-F86B-B248-8AE9-1A8F75B5E0A6}"/>
                </a:ext>
              </a:extLst>
            </p:cNvPr>
            <p:cNvGrpSpPr/>
            <p:nvPr/>
          </p:nvGrpSpPr>
          <p:grpSpPr>
            <a:xfrm>
              <a:off x="7234288" y="2794928"/>
              <a:ext cx="891382" cy="875971"/>
              <a:chOff x="3774433" y="4781422"/>
              <a:chExt cx="535512" cy="407350"/>
            </a:xfrm>
          </p:grpSpPr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10F55B46-0C1A-A841-8F0C-E1A52028C7BF}"/>
                  </a:ext>
                </a:extLst>
              </p:cNvPr>
              <p:cNvGrpSpPr/>
              <p:nvPr/>
            </p:nvGrpSpPr>
            <p:grpSpPr>
              <a:xfrm>
                <a:off x="3774433" y="4781422"/>
                <a:ext cx="535512" cy="207083"/>
                <a:chOff x="3625864" y="4844056"/>
                <a:chExt cx="535512" cy="207083"/>
              </a:xfrm>
            </p:grpSpPr>
            <p:sp>
              <p:nvSpPr>
                <p:cNvPr id="395" name="Rectangle 394">
                  <a:extLst>
                    <a:ext uri="{FF2B5EF4-FFF2-40B4-BE49-F238E27FC236}">
                      <a16:creationId xmlns:a16="http://schemas.microsoft.com/office/drawing/2014/main" id="{EC5DB685-758D-2D46-BCEB-7AE2D960046F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TextBox 395">
                  <a:extLst>
                    <a:ext uri="{FF2B5EF4-FFF2-40B4-BE49-F238E27FC236}">
                      <a16:creationId xmlns:a16="http://schemas.microsoft.com/office/drawing/2014/main" id="{4D8A8232-D72B-B644-86B9-14BFFDCB0493}"/>
                    </a:ext>
                  </a:extLst>
                </p:cNvPr>
                <p:cNvSpPr txBox="1"/>
                <p:nvPr/>
              </p:nvSpPr>
              <p:spPr>
                <a:xfrm>
                  <a:off x="362586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7966A0B3-F834-AE43-9CAA-0714AAF94371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39F8B660-5511-2641-9DC0-5EE5608C39ED}"/>
                </a:ext>
              </a:extLst>
            </p:cNvPr>
            <p:cNvGrpSpPr/>
            <p:nvPr/>
          </p:nvGrpSpPr>
          <p:grpSpPr>
            <a:xfrm>
              <a:off x="7949081" y="2785831"/>
              <a:ext cx="891382" cy="875971"/>
              <a:chOff x="3780503" y="4781422"/>
              <a:chExt cx="535512" cy="407350"/>
            </a:xfrm>
          </p:grpSpPr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7CEE81F8-208D-9A40-9910-8B77931FE8D3}"/>
                  </a:ext>
                </a:extLst>
              </p:cNvPr>
              <p:cNvGrpSpPr/>
              <p:nvPr/>
            </p:nvGrpSpPr>
            <p:grpSpPr>
              <a:xfrm>
                <a:off x="3780503" y="4781422"/>
                <a:ext cx="535512" cy="207083"/>
                <a:chOff x="3631934" y="4844056"/>
                <a:chExt cx="535512" cy="207083"/>
              </a:xfrm>
            </p:grpSpPr>
            <p:sp>
              <p:nvSpPr>
                <p:cNvPr id="391" name="Rectangle 390">
                  <a:extLst>
                    <a:ext uri="{FF2B5EF4-FFF2-40B4-BE49-F238E27FC236}">
                      <a16:creationId xmlns:a16="http://schemas.microsoft.com/office/drawing/2014/main" id="{7231244D-97B0-954A-B18D-F5E878A750BF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2" name="TextBox 391">
                  <a:extLst>
                    <a:ext uri="{FF2B5EF4-FFF2-40B4-BE49-F238E27FC236}">
                      <a16:creationId xmlns:a16="http://schemas.microsoft.com/office/drawing/2014/main" id="{EBFFAB1E-B9DA-4141-A041-11972BDBEC57}"/>
                    </a:ext>
                  </a:extLst>
                </p:cNvPr>
                <p:cNvSpPr txBox="1"/>
                <p:nvPr/>
              </p:nvSpPr>
              <p:spPr>
                <a:xfrm>
                  <a:off x="363193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3C8AAD7-ECB7-DD42-900C-BB8AF5A4EEB5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803F822F-EB09-4841-864D-5B88EC3F0EBD}"/>
                </a:ext>
              </a:extLst>
            </p:cNvPr>
            <p:cNvGrpSpPr/>
            <p:nvPr/>
          </p:nvGrpSpPr>
          <p:grpSpPr>
            <a:xfrm>
              <a:off x="6584985" y="4775942"/>
              <a:ext cx="2224498" cy="576373"/>
              <a:chOff x="3690830" y="5656622"/>
              <a:chExt cx="1336402" cy="268029"/>
            </a:xfrm>
          </p:grpSpPr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EBD1D2BD-9277-B644-AA27-F1B0A7223E3B}"/>
                  </a:ext>
                </a:extLst>
              </p:cNvPr>
              <p:cNvSpPr/>
              <p:nvPr/>
            </p:nvSpPr>
            <p:spPr>
              <a:xfrm>
                <a:off x="3690830" y="5656622"/>
                <a:ext cx="1336402" cy="2680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55A7D0F8-839E-3B45-B426-E3EE5FBEB4D4}"/>
                  </a:ext>
                </a:extLst>
              </p:cNvPr>
              <p:cNvSpPr/>
              <p:nvPr/>
            </p:nvSpPr>
            <p:spPr>
              <a:xfrm>
                <a:off x="3728029" y="5692526"/>
                <a:ext cx="1243940" cy="190274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79E46073-594F-AC45-A63F-D0F936E28208}"/>
                  </a:ext>
                </a:extLst>
              </p:cNvPr>
              <p:cNvSpPr txBox="1"/>
              <p:nvPr/>
            </p:nvSpPr>
            <p:spPr>
              <a:xfrm>
                <a:off x="3722590" y="5683087"/>
                <a:ext cx="1258804" cy="214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UDP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64631E62-3A21-714F-9082-157DAA594C5D}"/>
                </a:ext>
              </a:extLst>
            </p:cNvPr>
            <p:cNvGrpSpPr/>
            <p:nvPr/>
          </p:nvGrpSpPr>
          <p:grpSpPr>
            <a:xfrm>
              <a:off x="9393371" y="4782486"/>
              <a:ext cx="2224498" cy="576373"/>
              <a:chOff x="3690830" y="5656622"/>
              <a:chExt cx="1336402" cy="268029"/>
            </a:xfrm>
          </p:grpSpPr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C405E8F4-991B-2443-9E2F-D9095A9F30FB}"/>
                  </a:ext>
                </a:extLst>
              </p:cNvPr>
              <p:cNvSpPr/>
              <p:nvPr/>
            </p:nvSpPr>
            <p:spPr>
              <a:xfrm>
                <a:off x="3690830" y="5656622"/>
                <a:ext cx="1336402" cy="2680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5BC25DB8-4264-1149-8D3F-62021F04E6D0}"/>
                  </a:ext>
                </a:extLst>
              </p:cNvPr>
              <p:cNvSpPr/>
              <p:nvPr/>
            </p:nvSpPr>
            <p:spPr>
              <a:xfrm>
                <a:off x="3728029" y="5692526"/>
                <a:ext cx="1243940" cy="190274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E615BC4C-981C-0149-8B66-79C13C37121F}"/>
                  </a:ext>
                </a:extLst>
              </p:cNvPr>
              <p:cNvSpPr txBox="1"/>
              <p:nvPr/>
            </p:nvSpPr>
            <p:spPr>
              <a:xfrm>
                <a:off x="3722590" y="5689783"/>
                <a:ext cx="1258804" cy="214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UDP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15DB57F-0D4B-6B48-B6BC-CF2EB3013043}"/>
                </a:ext>
              </a:extLst>
            </p:cNvPr>
            <p:cNvCxnSpPr/>
            <p:nvPr/>
          </p:nvCxnSpPr>
          <p:spPr>
            <a:xfrm>
              <a:off x="6637851" y="4424382"/>
              <a:ext cx="5029925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D8F95687-7CF8-EA4B-907F-32579687B97F}"/>
                </a:ext>
              </a:extLst>
            </p:cNvPr>
            <p:cNvSpPr/>
            <p:nvPr/>
          </p:nvSpPr>
          <p:spPr>
            <a:xfrm>
              <a:off x="9372262" y="1612419"/>
              <a:ext cx="2247142" cy="27264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2ED8D6A-7AE4-9F4A-89E2-82D67D92D2E9}"/>
                </a:ext>
              </a:extLst>
            </p:cNvPr>
            <p:cNvSpPr/>
            <p:nvPr/>
          </p:nvSpPr>
          <p:spPr>
            <a:xfrm>
              <a:off x="9461407" y="3812823"/>
              <a:ext cx="2070591" cy="409168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AFA7BA35-193B-1B4B-BFFC-BFF8A1B29D41}"/>
                </a:ext>
              </a:extLst>
            </p:cNvPr>
            <p:cNvSpPr txBox="1"/>
            <p:nvPr/>
          </p:nvSpPr>
          <p:spPr>
            <a:xfrm>
              <a:off x="9293090" y="3806783"/>
              <a:ext cx="2333805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 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Cong. Cont.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B1474ED0-3919-B64A-96AB-4FF1F7B00077}"/>
                </a:ext>
              </a:extLst>
            </p:cNvPr>
            <p:cNvGrpSpPr/>
            <p:nvPr/>
          </p:nvGrpSpPr>
          <p:grpSpPr>
            <a:xfrm>
              <a:off x="9348955" y="2858801"/>
              <a:ext cx="2147125" cy="968714"/>
              <a:chOff x="3786573" y="4781422"/>
              <a:chExt cx="1289919" cy="450478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9818E9A5-A4E4-3446-B635-CFCF5897BFDE}"/>
                  </a:ext>
                </a:extLst>
              </p:cNvPr>
              <p:cNvGrpSpPr/>
              <p:nvPr/>
            </p:nvGrpSpPr>
            <p:grpSpPr>
              <a:xfrm>
                <a:off x="3786573" y="4781422"/>
                <a:ext cx="535512" cy="197065"/>
                <a:chOff x="3638004" y="4844056"/>
                <a:chExt cx="535512" cy="197065"/>
              </a:xfrm>
            </p:grpSpPr>
            <p:sp>
              <p:nvSpPr>
                <p:cNvPr id="381" name="Rectangle 380">
                  <a:extLst>
                    <a:ext uri="{FF2B5EF4-FFF2-40B4-BE49-F238E27FC236}">
                      <a16:creationId xmlns:a16="http://schemas.microsoft.com/office/drawing/2014/main" id="{26E56F5B-0FFF-334C-BE13-DACFF2EA6ABD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2D2CE644-7608-1E4F-82E8-95BA38A3F49A}"/>
                    </a:ext>
                  </a:extLst>
                </p:cNvPr>
                <p:cNvSpPr txBox="1"/>
                <p:nvPr/>
              </p:nvSpPr>
              <p:spPr>
                <a:xfrm>
                  <a:off x="3638004" y="4844056"/>
                  <a:ext cx="535512" cy="1970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ED37937D-DD91-964F-99D2-E63CC86233DF}"/>
                  </a:ext>
                </a:extLst>
              </p:cNvPr>
              <p:cNvGrpSpPr/>
              <p:nvPr/>
            </p:nvGrpSpPr>
            <p:grpSpPr>
              <a:xfrm>
                <a:off x="3856579" y="4996013"/>
                <a:ext cx="1219913" cy="235887"/>
                <a:chOff x="3856579" y="4996013"/>
                <a:chExt cx="1219913" cy="235887"/>
              </a:xfrm>
            </p:grpSpPr>
            <p:sp>
              <p:nvSpPr>
                <p:cNvPr id="377" name="TextBox 376">
                  <a:extLst>
                    <a:ext uri="{FF2B5EF4-FFF2-40B4-BE49-F238E27FC236}">
                      <a16:creationId xmlns:a16="http://schemas.microsoft.com/office/drawing/2014/main" id="{39B46E54-EE11-C84C-8423-1A93842FE46E}"/>
                    </a:ext>
                  </a:extLst>
                </p:cNvPr>
                <p:cNvSpPr txBox="1"/>
                <p:nvPr/>
              </p:nvSpPr>
              <p:spPr>
                <a:xfrm>
                  <a:off x="3856579" y="4996392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8" name="Rectangle 377">
                  <a:extLst>
                    <a:ext uri="{FF2B5EF4-FFF2-40B4-BE49-F238E27FC236}">
                      <a16:creationId xmlns:a16="http://schemas.microsoft.com/office/drawing/2014/main" id="{FCA82C8C-53C9-894A-BCB4-76091C2ACE02}"/>
                    </a:ext>
                  </a:extLst>
                </p:cNvPr>
                <p:cNvSpPr/>
                <p:nvPr/>
              </p:nvSpPr>
              <p:spPr>
                <a:xfrm>
                  <a:off x="3857961" y="49984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9" name="TextBox 378">
                  <a:extLst>
                    <a:ext uri="{FF2B5EF4-FFF2-40B4-BE49-F238E27FC236}">
                      <a16:creationId xmlns:a16="http://schemas.microsoft.com/office/drawing/2014/main" id="{F9BE178C-7DCC-E843-B9B1-42A1763F76F4}"/>
                    </a:ext>
                  </a:extLst>
                </p:cNvPr>
                <p:cNvSpPr txBox="1"/>
                <p:nvPr/>
              </p:nvSpPr>
              <p:spPr>
                <a:xfrm>
                  <a:off x="4263655" y="5002841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87957DEE-AA74-564C-B4AA-8D3329C4C861}"/>
                    </a:ext>
                  </a:extLst>
                </p:cNvPr>
                <p:cNvSpPr txBox="1"/>
                <p:nvPr/>
              </p:nvSpPr>
              <p:spPr>
                <a:xfrm>
                  <a:off x="4674716" y="4996013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DC1DF91D-852F-CC4A-807C-18EF49FECF15}"/>
                </a:ext>
              </a:extLst>
            </p:cNvPr>
            <p:cNvGrpSpPr/>
            <p:nvPr/>
          </p:nvGrpSpPr>
          <p:grpSpPr>
            <a:xfrm>
              <a:off x="10033437" y="2849705"/>
              <a:ext cx="891382" cy="875971"/>
              <a:chOff x="3774433" y="4781422"/>
              <a:chExt cx="535512" cy="407350"/>
            </a:xfrm>
          </p:grpSpPr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60F3899C-16A5-2040-B8D3-B40BE3789B5F}"/>
                  </a:ext>
                </a:extLst>
              </p:cNvPr>
              <p:cNvGrpSpPr/>
              <p:nvPr/>
            </p:nvGrpSpPr>
            <p:grpSpPr>
              <a:xfrm>
                <a:off x="3774433" y="4781422"/>
                <a:ext cx="535512" cy="207083"/>
                <a:chOff x="3625864" y="4844056"/>
                <a:chExt cx="535512" cy="207083"/>
              </a:xfrm>
            </p:grpSpPr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23B0C62B-9CD8-C94C-880B-A38322BA5077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0F2D4651-2D4B-5D43-8F4A-74780D8D5373}"/>
                    </a:ext>
                  </a:extLst>
                </p:cNvPr>
                <p:cNvSpPr txBox="1"/>
                <p:nvPr/>
              </p:nvSpPr>
              <p:spPr>
                <a:xfrm>
                  <a:off x="362586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35FF821-5DAB-EA49-B5AD-1FFF18CFD0D6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C754F3A4-C128-D540-B52C-0C88F5DAA68B}"/>
                </a:ext>
              </a:extLst>
            </p:cNvPr>
            <p:cNvGrpSpPr/>
            <p:nvPr/>
          </p:nvGrpSpPr>
          <p:grpSpPr>
            <a:xfrm>
              <a:off x="10748230" y="2840608"/>
              <a:ext cx="891382" cy="875971"/>
              <a:chOff x="3780503" y="4781422"/>
              <a:chExt cx="535512" cy="407350"/>
            </a:xfrm>
          </p:grpSpPr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D10E593F-B966-A942-849B-BE0B9E4AEF39}"/>
                  </a:ext>
                </a:extLst>
              </p:cNvPr>
              <p:cNvGrpSpPr/>
              <p:nvPr/>
            </p:nvGrpSpPr>
            <p:grpSpPr>
              <a:xfrm>
                <a:off x="3780503" y="4781422"/>
                <a:ext cx="535512" cy="207083"/>
                <a:chOff x="3631934" y="4844056"/>
                <a:chExt cx="535512" cy="207083"/>
              </a:xfrm>
            </p:grpSpPr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3C0353BE-D06B-4A40-AA43-31B9BE3998C8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2751D3CB-9102-AC4C-A0E0-C28B7C9AFCFF}"/>
                    </a:ext>
                  </a:extLst>
                </p:cNvPr>
                <p:cNvSpPr txBox="1"/>
                <p:nvPr/>
              </p:nvSpPr>
              <p:spPr>
                <a:xfrm>
                  <a:off x="363193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2543EEC5-F35A-D442-BCBE-B3CB8C2C5909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5" name="Freeform 404">
            <a:extLst>
              <a:ext uri="{FF2B5EF4-FFF2-40B4-BE49-F238E27FC236}">
                <a16:creationId xmlns:a16="http://schemas.microsoft.com/office/drawing/2014/main" id="{40C4075A-6AA6-EA45-A9F2-2E2640C5B049}"/>
              </a:ext>
            </a:extLst>
          </p:cNvPr>
          <p:cNvSpPr/>
          <p:nvPr/>
        </p:nvSpPr>
        <p:spPr>
          <a:xfrm>
            <a:off x="8348952" y="2170481"/>
            <a:ext cx="1435304" cy="3314700"/>
          </a:xfrm>
          <a:custGeom>
            <a:avLst/>
            <a:gdLst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7" fmla="*/ 1482213 w 1710813"/>
              <a:gd name="connsiteY7" fmla="*/ 29497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0813" h="2824317">
                <a:moveTo>
                  <a:pt x="0" y="376084"/>
                </a:moveTo>
                <a:lnTo>
                  <a:pt x="0" y="2824317"/>
                </a:lnTo>
                <a:lnTo>
                  <a:pt x="95865" y="2824317"/>
                </a:lnTo>
                <a:lnTo>
                  <a:pt x="1710813" y="2824317"/>
                </a:lnTo>
                <a:lnTo>
                  <a:pt x="1710813" y="2676833"/>
                </a:lnTo>
                <a:lnTo>
                  <a:pt x="1710813" y="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6" name="Freeform 405">
            <a:extLst>
              <a:ext uri="{FF2B5EF4-FFF2-40B4-BE49-F238E27FC236}">
                <a16:creationId xmlns:a16="http://schemas.microsoft.com/office/drawing/2014/main" id="{987CB412-8308-D748-9394-292800F22809}"/>
              </a:ext>
            </a:extLst>
          </p:cNvPr>
          <p:cNvSpPr/>
          <p:nvPr/>
        </p:nvSpPr>
        <p:spPr>
          <a:xfrm>
            <a:off x="7544680" y="2246396"/>
            <a:ext cx="2790074" cy="3142699"/>
          </a:xfrm>
          <a:custGeom>
            <a:avLst/>
            <a:gdLst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6" fmla="*/ 2263877 w 2455606"/>
              <a:gd name="connsiteY6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0" fmla="*/ 0 w 2455606"/>
              <a:gd name="connsiteY0" fmla="*/ 0 h 2831690"/>
              <a:gd name="connsiteX1" fmla="*/ 0 w 2455606"/>
              <a:gd name="connsiteY1" fmla="*/ 2831690 h 2831690"/>
              <a:gd name="connsiteX2" fmla="*/ 88490 w 2455606"/>
              <a:gd name="connsiteY2" fmla="*/ 2831690 h 2831690"/>
              <a:gd name="connsiteX3" fmla="*/ 2455606 w 2455606"/>
              <a:gd name="connsiteY3" fmla="*/ 2831690 h 2831690"/>
              <a:gd name="connsiteX4" fmla="*/ 2455606 w 2455606"/>
              <a:gd name="connsiteY4" fmla="*/ 1755057 h 2831690"/>
              <a:gd name="connsiteX0" fmla="*/ 0 w 2455606"/>
              <a:gd name="connsiteY0" fmla="*/ 0 h 2831690"/>
              <a:gd name="connsiteX1" fmla="*/ 0 w 2455606"/>
              <a:gd name="connsiteY1" fmla="*/ 2831690 h 2831690"/>
              <a:gd name="connsiteX2" fmla="*/ 88490 w 2455606"/>
              <a:gd name="connsiteY2" fmla="*/ 2831690 h 2831690"/>
              <a:gd name="connsiteX3" fmla="*/ 2455606 w 2455606"/>
              <a:gd name="connsiteY3" fmla="*/ 2831690 h 2831690"/>
              <a:gd name="connsiteX4" fmla="*/ 2426633 w 2455606"/>
              <a:gd name="connsiteY4" fmla="*/ 1187695 h 2831690"/>
              <a:gd name="connsiteX0" fmla="*/ 0 w 2473320"/>
              <a:gd name="connsiteY0" fmla="*/ 0 h 2831690"/>
              <a:gd name="connsiteX1" fmla="*/ 0 w 2473320"/>
              <a:gd name="connsiteY1" fmla="*/ 2831690 h 2831690"/>
              <a:gd name="connsiteX2" fmla="*/ 88490 w 2473320"/>
              <a:gd name="connsiteY2" fmla="*/ 2831690 h 2831690"/>
              <a:gd name="connsiteX3" fmla="*/ 2455606 w 2473320"/>
              <a:gd name="connsiteY3" fmla="*/ 2831690 h 2831690"/>
              <a:gd name="connsiteX4" fmla="*/ 2473320 w 2473320"/>
              <a:gd name="connsiteY4" fmla="*/ 1192031 h 2831690"/>
              <a:gd name="connsiteX0" fmla="*/ 0 w 2460587"/>
              <a:gd name="connsiteY0" fmla="*/ 0 h 2831690"/>
              <a:gd name="connsiteX1" fmla="*/ 0 w 2460587"/>
              <a:gd name="connsiteY1" fmla="*/ 2831690 h 2831690"/>
              <a:gd name="connsiteX2" fmla="*/ 88490 w 2460587"/>
              <a:gd name="connsiteY2" fmla="*/ 2831690 h 2831690"/>
              <a:gd name="connsiteX3" fmla="*/ 2455606 w 2460587"/>
              <a:gd name="connsiteY3" fmla="*/ 2831690 h 2831690"/>
              <a:gd name="connsiteX4" fmla="*/ 2460587 w 2460587"/>
              <a:gd name="connsiteY4" fmla="*/ 1205040 h 283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0587" h="2831690">
                <a:moveTo>
                  <a:pt x="0" y="0"/>
                </a:moveTo>
                <a:lnTo>
                  <a:pt x="0" y="2831690"/>
                </a:lnTo>
                <a:lnTo>
                  <a:pt x="88490" y="2831690"/>
                </a:lnTo>
                <a:lnTo>
                  <a:pt x="2455606" y="2831690"/>
                </a:lnTo>
                <a:cubicBezTo>
                  <a:pt x="2457266" y="2289473"/>
                  <a:pt x="2458927" y="1747257"/>
                  <a:pt x="2460587" y="1205040"/>
                </a:cubicBez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7" name="Freeform 406">
            <a:extLst>
              <a:ext uri="{FF2B5EF4-FFF2-40B4-BE49-F238E27FC236}">
                <a16:creationId xmlns:a16="http://schemas.microsoft.com/office/drawing/2014/main" id="{1C1B5B0F-521F-2E45-9FAB-870C29A70C36}"/>
              </a:ext>
            </a:extLst>
          </p:cNvPr>
          <p:cNvSpPr/>
          <p:nvPr/>
        </p:nvSpPr>
        <p:spPr>
          <a:xfrm>
            <a:off x="7766311" y="3553748"/>
            <a:ext cx="2615553" cy="1938327"/>
          </a:xfrm>
          <a:custGeom>
            <a:avLst/>
            <a:gdLst>
              <a:gd name="connsiteX0" fmla="*/ 2558845 w 2558845"/>
              <a:gd name="connsiteY0" fmla="*/ 0 h 1091381"/>
              <a:gd name="connsiteX1" fmla="*/ 2558845 w 2558845"/>
              <a:gd name="connsiteY1" fmla="*/ 1091381 h 1091381"/>
              <a:gd name="connsiteX2" fmla="*/ 2485103 w 2558845"/>
              <a:gd name="connsiteY2" fmla="*/ 1091381 h 1091381"/>
              <a:gd name="connsiteX3" fmla="*/ 0 w 2558845"/>
              <a:gd name="connsiteY3" fmla="*/ 1091381 h 1091381"/>
              <a:gd name="connsiteX4" fmla="*/ 0 w 2558845"/>
              <a:gd name="connsiteY4" fmla="*/ 582562 h 1091381"/>
              <a:gd name="connsiteX5" fmla="*/ 0 w 2558845"/>
              <a:gd name="connsiteY5" fmla="*/ 14749 h 1091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58845" h="1091381">
                <a:moveTo>
                  <a:pt x="2558845" y="0"/>
                </a:moveTo>
                <a:lnTo>
                  <a:pt x="2558845" y="1091381"/>
                </a:lnTo>
                <a:lnTo>
                  <a:pt x="2485103" y="1091381"/>
                </a:lnTo>
                <a:lnTo>
                  <a:pt x="0" y="1091381"/>
                </a:lnTo>
                <a:lnTo>
                  <a:pt x="0" y="582562"/>
                </a:lnTo>
                <a:lnTo>
                  <a:pt x="0" y="14749"/>
                </a:lnTo>
              </a:path>
            </a:pathLst>
          </a:custGeom>
          <a:noFill/>
          <a:ln w="254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6382F978-AC8E-C040-99D9-CA9B8E31521E}"/>
              </a:ext>
            </a:extLst>
          </p:cNvPr>
          <p:cNvSpPr txBox="1"/>
          <p:nvPr/>
        </p:nvSpPr>
        <p:spPr>
          <a:xfrm>
            <a:off x="10145437" y="3362319"/>
            <a:ext cx="63844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9" name="Freeform 408">
            <a:extLst>
              <a:ext uri="{FF2B5EF4-FFF2-40B4-BE49-F238E27FC236}">
                <a16:creationId xmlns:a16="http://schemas.microsoft.com/office/drawing/2014/main" id="{1A908A7F-3066-AE4D-AF51-C9A804B6CE7D}"/>
              </a:ext>
            </a:extLst>
          </p:cNvPr>
          <p:cNvSpPr/>
          <p:nvPr/>
        </p:nvSpPr>
        <p:spPr>
          <a:xfrm>
            <a:off x="7650449" y="2146221"/>
            <a:ext cx="2613793" cy="3263616"/>
          </a:xfrm>
          <a:custGeom>
            <a:avLst/>
            <a:gdLst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5" fmla="*/ 2470355 w 2573594"/>
              <a:gd name="connsiteY5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0" fmla="*/ 0 w 2600836"/>
              <a:gd name="connsiteY0" fmla="*/ 1541913 h 2589048"/>
              <a:gd name="connsiteX1" fmla="*/ 0 w 2600836"/>
              <a:gd name="connsiteY1" fmla="*/ 2589048 h 2589048"/>
              <a:gd name="connsiteX2" fmla="*/ 2573594 w 2600836"/>
              <a:gd name="connsiteY2" fmla="*/ 2589048 h 2589048"/>
              <a:gd name="connsiteX3" fmla="*/ 2600836 w 2600836"/>
              <a:gd name="connsiteY3" fmla="*/ 0 h 2589048"/>
              <a:gd name="connsiteX0" fmla="*/ 23944 w 2600836"/>
              <a:gd name="connsiteY0" fmla="*/ 919596 h 2589048"/>
              <a:gd name="connsiteX1" fmla="*/ 0 w 2600836"/>
              <a:gd name="connsiteY1" fmla="*/ 2589048 h 2589048"/>
              <a:gd name="connsiteX2" fmla="*/ 2573594 w 2600836"/>
              <a:gd name="connsiteY2" fmla="*/ 2589048 h 2589048"/>
              <a:gd name="connsiteX3" fmla="*/ 2600836 w 2600836"/>
              <a:gd name="connsiteY3" fmla="*/ 0 h 2589048"/>
              <a:gd name="connsiteX0" fmla="*/ 23944 w 2600836"/>
              <a:gd name="connsiteY0" fmla="*/ 1037950 h 2589048"/>
              <a:gd name="connsiteX1" fmla="*/ 0 w 2600836"/>
              <a:gd name="connsiteY1" fmla="*/ 2589048 h 2589048"/>
              <a:gd name="connsiteX2" fmla="*/ 2573594 w 2600836"/>
              <a:gd name="connsiteY2" fmla="*/ 2589048 h 2589048"/>
              <a:gd name="connsiteX3" fmla="*/ 2600836 w 2600836"/>
              <a:gd name="connsiteY3" fmla="*/ 0 h 258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0836" h="2589048">
                <a:moveTo>
                  <a:pt x="23944" y="1037950"/>
                </a:moveTo>
                <a:lnTo>
                  <a:pt x="0" y="2589048"/>
                </a:lnTo>
                <a:lnTo>
                  <a:pt x="2573594" y="2589048"/>
                </a:lnTo>
                <a:lnTo>
                  <a:pt x="2600836" y="0"/>
                </a:lnTo>
              </a:path>
            </a:pathLst>
          </a:custGeom>
          <a:noFill/>
          <a:ln w="25400">
            <a:solidFill>
              <a:srgbClr val="0000A3"/>
            </a:solidFill>
            <a:headEnd type="none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" name="Freeform 409">
            <a:extLst>
              <a:ext uri="{FF2B5EF4-FFF2-40B4-BE49-F238E27FC236}">
                <a16:creationId xmlns:a16="http://schemas.microsoft.com/office/drawing/2014/main" id="{83931E98-1B7D-384B-BFEB-FCDFE65078EF}"/>
              </a:ext>
            </a:extLst>
          </p:cNvPr>
          <p:cNvSpPr/>
          <p:nvPr/>
        </p:nvSpPr>
        <p:spPr>
          <a:xfrm>
            <a:off x="6974900" y="2171905"/>
            <a:ext cx="4169952" cy="3314700"/>
          </a:xfrm>
          <a:custGeom>
            <a:avLst/>
            <a:gdLst>
              <a:gd name="connsiteX0" fmla="*/ 0 w 3188970"/>
              <a:gd name="connsiteY0" fmla="*/ 0 h 3314700"/>
              <a:gd name="connsiteX1" fmla="*/ 0 w 3188970"/>
              <a:gd name="connsiteY1" fmla="*/ 3314700 h 3314700"/>
              <a:gd name="connsiteX2" fmla="*/ 3188970 w 3188970"/>
              <a:gd name="connsiteY2" fmla="*/ 3314700 h 3314700"/>
              <a:gd name="connsiteX3" fmla="*/ 3188970 w 3188970"/>
              <a:gd name="connsiteY3" fmla="*/ 11430 h 3314700"/>
              <a:gd name="connsiteX4" fmla="*/ 3188970 w 3188970"/>
              <a:gd name="connsiteY4" fmla="*/ 1143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8970" h="3314700">
                <a:moveTo>
                  <a:pt x="0" y="0"/>
                </a:moveTo>
                <a:lnTo>
                  <a:pt x="0" y="3314700"/>
                </a:lnTo>
                <a:lnTo>
                  <a:pt x="3188970" y="3314700"/>
                </a:lnTo>
                <a:lnTo>
                  <a:pt x="3188970" y="11430"/>
                </a:lnTo>
                <a:lnTo>
                  <a:pt x="3188970" y="1143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36C3A314-2D9A-404F-8230-A4A467D0C32C}"/>
              </a:ext>
            </a:extLst>
          </p:cNvPr>
          <p:cNvGrpSpPr/>
          <p:nvPr/>
        </p:nvGrpSpPr>
        <p:grpSpPr>
          <a:xfrm>
            <a:off x="6503169" y="1768807"/>
            <a:ext cx="1028924" cy="463979"/>
            <a:chOff x="1247868" y="1815620"/>
            <a:chExt cx="1028924" cy="463979"/>
          </a:xfrm>
        </p:grpSpPr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5671867B-859D-D44F-97AD-9DEBB99183D8}"/>
                </a:ext>
              </a:extLst>
            </p:cNvPr>
            <p:cNvSpPr/>
            <p:nvPr/>
          </p:nvSpPr>
          <p:spPr>
            <a:xfrm>
              <a:off x="1428787" y="1815620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CE7F9D86-BEAA-3A46-901A-86C3624ABB9F}"/>
                </a:ext>
              </a:extLst>
            </p:cNvPr>
            <p:cNvSpPr txBox="1"/>
            <p:nvPr/>
          </p:nvSpPr>
          <p:spPr>
            <a:xfrm>
              <a:off x="1247868" y="1838324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E914C06D-67B1-A64E-A9BE-B28271EAC851}"/>
              </a:ext>
            </a:extLst>
          </p:cNvPr>
          <p:cNvGrpSpPr/>
          <p:nvPr/>
        </p:nvGrpSpPr>
        <p:grpSpPr>
          <a:xfrm>
            <a:off x="7197108" y="1926223"/>
            <a:ext cx="1028924" cy="463979"/>
            <a:chOff x="1549462" y="2216434"/>
            <a:chExt cx="1028924" cy="463979"/>
          </a:xfrm>
        </p:grpSpPr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B14EC4F3-1B7C-8A48-B61B-F7E8DF5936C1}"/>
                </a:ext>
              </a:extLst>
            </p:cNvPr>
            <p:cNvSpPr/>
            <p:nvPr/>
          </p:nvSpPr>
          <p:spPr>
            <a:xfrm>
              <a:off x="1709684" y="2216434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id="{F6AD70F9-6580-8941-A480-DF49A1C6870C}"/>
                </a:ext>
              </a:extLst>
            </p:cNvPr>
            <p:cNvSpPr txBox="1"/>
            <p:nvPr/>
          </p:nvSpPr>
          <p:spPr>
            <a:xfrm>
              <a:off x="1549462" y="2239138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E7FCC604-228D-1D45-BECA-84FEB1D75032}"/>
              </a:ext>
            </a:extLst>
          </p:cNvPr>
          <p:cNvGrpSpPr/>
          <p:nvPr/>
        </p:nvGrpSpPr>
        <p:grpSpPr>
          <a:xfrm>
            <a:off x="7867432" y="2206258"/>
            <a:ext cx="1028924" cy="463397"/>
            <a:chOff x="1830370" y="2617249"/>
            <a:chExt cx="1028924" cy="463397"/>
          </a:xfrm>
        </p:grpSpPr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F5BA8F89-946C-8040-B6D8-FD2E7F66B322}"/>
                </a:ext>
              </a:extLst>
            </p:cNvPr>
            <p:cNvSpPr/>
            <p:nvPr/>
          </p:nvSpPr>
          <p:spPr>
            <a:xfrm>
              <a:off x="1990582" y="2617249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E5DFF80-8F1D-7942-879B-1271422CB279}"/>
                </a:ext>
              </a:extLst>
            </p:cNvPr>
            <p:cNvSpPr txBox="1"/>
            <p:nvPr/>
          </p:nvSpPr>
          <p:spPr>
            <a:xfrm>
              <a:off x="1830370" y="2639371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420" name="Group 321">
            <a:extLst>
              <a:ext uri="{FF2B5EF4-FFF2-40B4-BE49-F238E27FC236}">
                <a16:creationId xmlns:a16="http://schemas.microsoft.com/office/drawing/2014/main" id="{5FD4065E-D520-324B-BAF7-C767ACB19696}"/>
              </a:ext>
            </a:extLst>
          </p:cNvPr>
          <p:cNvGrpSpPr>
            <a:grpSpLocks/>
          </p:cNvGrpSpPr>
          <p:nvPr/>
        </p:nvGrpSpPr>
        <p:grpSpPr bwMode="auto">
          <a:xfrm>
            <a:off x="11407734" y="1304127"/>
            <a:ext cx="310294" cy="628857"/>
            <a:chOff x="4140" y="429"/>
            <a:chExt cx="1425" cy="2396"/>
          </a:xfrm>
        </p:grpSpPr>
        <p:sp>
          <p:nvSpPr>
            <p:cNvPr id="421" name="Freeform 322">
              <a:extLst>
                <a:ext uri="{FF2B5EF4-FFF2-40B4-BE49-F238E27FC236}">
                  <a16:creationId xmlns:a16="http://schemas.microsoft.com/office/drawing/2014/main" id="{D02ABE43-5E13-B145-B94C-C58F3DCAF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2" name="Rectangle 323">
              <a:extLst>
                <a:ext uri="{FF2B5EF4-FFF2-40B4-BE49-F238E27FC236}">
                  <a16:creationId xmlns:a16="http://schemas.microsoft.com/office/drawing/2014/main" id="{F00FC15D-81DF-154E-B346-A02E5BB09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Freeform 324">
              <a:extLst>
                <a:ext uri="{FF2B5EF4-FFF2-40B4-BE49-F238E27FC236}">
                  <a16:creationId xmlns:a16="http://schemas.microsoft.com/office/drawing/2014/main" id="{9EDC6DEA-1800-2242-A41B-64290BDE5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Freeform 325">
              <a:extLst>
                <a:ext uri="{FF2B5EF4-FFF2-40B4-BE49-F238E27FC236}">
                  <a16:creationId xmlns:a16="http://schemas.microsoft.com/office/drawing/2014/main" id="{6B645393-CB08-CD45-A32C-E0CAB8B28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Rectangle 326">
              <a:extLst>
                <a:ext uri="{FF2B5EF4-FFF2-40B4-BE49-F238E27FC236}">
                  <a16:creationId xmlns:a16="http://schemas.microsoft.com/office/drawing/2014/main" id="{F7D8C71F-1046-024C-AFCA-5D7EEA3C2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6" name="Group 327">
              <a:extLst>
                <a:ext uri="{FF2B5EF4-FFF2-40B4-BE49-F238E27FC236}">
                  <a16:creationId xmlns:a16="http://schemas.microsoft.com/office/drawing/2014/main" id="{71E1A54C-6480-8348-BEDE-47CF3F7265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1" name="AutoShape 328">
                <a:extLst>
                  <a:ext uri="{FF2B5EF4-FFF2-40B4-BE49-F238E27FC236}">
                    <a16:creationId xmlns:a16="http://schemas.microsoft.com/office/drawing/2014/main" id="{499DC40C-0B22-A74B-B40C-9CA5C80CE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2" name="AutoShape 329">
                <a:extLst>
                  <a:ext uri="{FF2B5EF4-FFF2-40B4-BE49-F238E27FC236}">
                    <a16:creationId xmlns:a16="http://schemas.microsoft.com/office/drawing/2014/main" id="{E345CCF7-1B7A-214C-B2E5-1D945CD50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7" name="Rectangle 330">
              <a:extLst>
                <a:ext uri="{FF2B5EF4-FFF2-40B4-BE49-F238E27FC236}">
                  <a16:creationId xmlns:a16="http://schemas.microsoft.com/office/drawing/2014/main" id="{146B9F29-5633-F44E-82CA-96A9C1187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8" name="Group 331">
              <a:extLst>
                <a:ext uri="{FF2B5EF4-FFF2-40B4-BE49-F238E27FC236}">
                  <a16:creationId xmlns:a16="http://schemas.microsoft.com/office/drawing/2014/main" id="{B7B31D54-997E-CA40-BC79-A8CA37828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9" name="AutoShape 332">
                <a:extLst>
                  <a:ext uri="{FF2B5EF4-FFF2-40B4-BE49-F238E27FC236}">
                    <a16:creationId xmlns:a16="http://schemas.microsoft.com/office/drawing/2014/main" id="{8C8F59CE-49E8-E249-A804-53F0926B4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0" name="AutoShape 333">
                <a:extLst>
                  <a:ext uri="{FF2B5EF4-FFF2-40B4-BE49-F238E27FC236}">
                    <a16:creationId xmlns:a16="http://schemas.microsoft.com/office/drawing/2014/main" id="{BBE3D6CA-D2D7-D04E-A7C9-17034A82A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9" name="Rectangle 334">
              <a:extLst>
                <a:ext uri="{FF2B5EF4-FFF2-40B4-BE49-F238E27FC236}">
                  <a16:creationId xmlns:a16="http://schemas.microsoft.com/office/drawing/2014/main" id="{EC90A815-552D-4643-8F79-4FC5339A1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Rectangle 335">
              <a:extLst>
                <a:ext uri="{FF2B5EF4-FFF2-40B4-BE49-F238E27FC236}">
                  <a16:creationId xmlns:a16="http://schemas.microsoft.com/office/drawing/2014/main" id="{9CEC9C5F-C4BB-F140-BE33-0423C8F6D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1" name="Group 336">
              <a:extLst>
                <a:ext uri="{FF2B5EF4-FFF2-40B4-BE49-F238E27FC236}">
                  <a16:creationId xmlns:a16="http://schemas.microsoft.com/office/drawing/2014/main" id="{3461EF9B-32EC-A841-8B84-3BD9B0423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7" name="AutoShape 337">
                <a:extLst>
                  <a:ext uri="{FF2B5EF4-FFF2-40B4-BE49-F238E27FC236}">
                    <a16:creationId xmlns:a16="http://schemas.microsoft.com/office/drawing/2014/main" id="{C12DA0B9-D020-804A-AA6F-04BFE4063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8" name="AutoShape 338">
                <a:extLst>
                  <a:ext uri="{FF2B5EF4-FFF2-40B4-BE49-F238E27FC236}">
                    <a16:creationId xmlns:a16="http://schemas.microsoft.com/office/drawing/2014/main" id="{C7E49889-8F0A-DB4C-804B-5F6556205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2" name="Freeform 339">
              <a:extLst>
                <a:ext uri="{FF2B5EF4-FFF2-40B4-BE49-F238E27FC236}">
                  <a16:creationId xmlns:a16="http://schemas.microsoft.com/office/drawing/2014/main" id="{5FC72E88-8F0F-D449-8C9F-591DBC274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340">
              <a:extLst>
                <a:ext uri="{FF2B5EF4-FFF2-40B4-BE49-F238E27FC236}">
                  <a16:creationId xmlns:a16="http://schemas.microsoft.com/office/drawing/2014/main" id="{045EBA76-D01F-8941-9285-C8C91C04F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5" name="AutoShape 341">
                <a:extLst>
                  <a:ext uri="{FF2B5EF4-FFF2-40B4-BE49-F238E27FC236}">
                    <a16:creationId xmlns:a16="http://schemas.microsoft.com/office/drawing/2014/main" id="{B377F46C-FFD2-7B48-A9D2-A406500D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6" name="AutoShape 342">
                <a:extLst>
                  <a:ext uri="{FF2B5EF4-FFF2-40B4-BE49-F238E27FC236}">
                    <a16:creationId xmlns:a16="http://schemas.microsoft.com/office/drawing/2014/main" id="{4C238E3E-1AE0-DB4B-8BC0-5FE11657A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4" name="Rectangle 343">
              <a:extLst>
                <a:ext uri="{FF2B5EF4-FFF2-40B4-BE49-F238E27FC236}">
                  <a16:creationId xmlns:a16="http://schemas.microsoft.com/office/drawing/2014/main" id="{2550FBFE-80A0-0440-AA53-2A10199F3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5" name="Freeform 344">
              <a:extLst>
                <a:ext uri="{FF2B5EF4-FFF2-40B4-BE49-F238E27FC236}">
                  <a16:creationId xmlns:a16="http://schemas.microsoft.com/office/drawing/2014/main" id="{4ACF36E5-3FF3-D54D-842F-B34C0B494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Freeform 345">
              <a:extLst>
                <a:ext uri="{FF2B5EF4-FFF2-40B4-BE49-F238E27FC236}">
                  <a16:creationId xmlns:a16="http://schemas.microsoft.com/office/drawing/2014/main" id="{677DD9DB-1C50-5144-A75B-2C54D04E4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Oval 346">
              <a:extLst>
                <a:ext uri="{FF2B5EF4-FFF2-40B4-BE49-F238E27FC236}">
                  <a16:creationId xmlns:a16="http://schemas.microsoft.com/office/drawing/2014/main" id="{7A51BDE6-2CBD-634E-8BA1-3B98F2048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8" name="Freeform 347">
              <a:extLst>
                <a:ext uri="{FF2B5EF4-FFF2-40B4-BE49-F238E27FC236}">
                  <a16:creationId xmlns:a16="http://schemas.microsoft.com/office/drawing/2014/main" id="{7D5A8A37-1408-354B-AB05-01EE1797F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9" name="AutoShape 348">
              <a:extLst>
                <a:ext uri="{FF2B5EF4-FFF2-40B4-BE49-F238E27FC236}">
                  <a16:creationId xmlns:a16="http://schemas.microsoft.com/office/drawing/2014/main" id="{E5DF964A-0F54-B147-8EDB-9A8E306E9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AutoShape 349">
              <a:extLst>
                <a:ext uri="{FF2B5EF4-FFF2-40B4-BE49-F238E27FC236}">
                  <a16:creationId xmlns:a16="http://schemas.microsoft.com/office/drawing/2014/main" id="{8AC60531-C23D-0240-A9A0-DB95795EA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350">
              <a:extLst>
                <a:ext uri="{FF2B5EF4-FFF2-40B4-BE49-F238E27FC236}">
                  <a16:creationId xmlns:a16="http://schemas.microsoft.com/office/drawing/2014/main" id="{3E998E4F-8E38-A84F-90F7-8B06484DB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2" name="Oval 351">
              <a:extLst>
                <a:ext uri="{FF2B5EF4-FFF2-40B4-BE49-F238E27FC236}">
                  <a16:creationId xmlns:a16="http://schemas.microsoft.com/office/drawing/2014/main" id="{59929D9F-6548-8746-BB4A-A2AD4FB57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3" name="Oval 352">
              <a:extLst>
                <a:ext uri="{FF2B5EF4-FFF2-40B4-BE49-F238E27FC236}">
                  <a16:creationId xmlns:a16="http://schemas.microsoft.com/office/drawing/2014/main" id="{B13D434C-5D59-2048-828B-12A6C9D4C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4" name="Rectangle 353">
              <a:extLst>
                <a:ext uri="{FF2B5EF4-FFF2-40B4-BE49-F238E27FC236}">
                  <a16:creationId xmlns:a16="http://schemas.microsoft.com/office/drawing/2014/main" id="{82DE1C84-4210-9D4D-8FC7-AF51CD380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3" name="Group 354">
            <a:extLst>
              <a:ext uri="{FF2B5EF4-FFF2-40B4-BE49-F238E27FC236}">
                <a16:creationId xmlns:a16="http://schemas.microsoft.com/office/drawing/2014/main" id="{A7760296-0E60-8845-9D47-C2BE6019E53E}"/>
              </a:ext>
            </a:extLst>
          </p:cNvPr>
          <p:cNvGrpSpPr>
            <a:grpSpLocks/>
          </p:cNvGrpSpPr>
          <p:nvPr/>
        </p:nvGrpSpPr>
        <p:grpSpPr bwMode="auto">
          <a:xfrm>
            <a:off x="6313356" y="1297050"/>
            <a:ext cx="525462" cy="434975"/>
            <a:chOff x="-44" y="1473"/>
            <a:chExt cx="981" cy="1105"/>
          </a:xfrm>
        </p:grpSpPr>
        <p:pic>
          <p:nvPicPr>
            <p:cNvPr id="454" name="Picture 355" descr="desktop_computer_stylized_medium">
              <a:extLst>
                <a:ext uri="{FF2B5EF4-FFF2-40B4-BE49-F238E27FC236}">
                  <a16:creationId xmlns:a16="http://schemas.microsoft.com/office/drawing/2014/main" id="{A81B710C-1F80-EE43-B9CC-378DDAF64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5" name="Freeform 356">
              <a:extLst>
                <a:ext uri="{FF2B5EF4-FFF2-40B4-BE49-F238E27FC236}">
                  <a16:creationId xmlns:a16="http://schemas.microsoft.com/office/drawing/2014/main" id="{BAB7562D-9764-424D-A631-C35354FE35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5E2627F-105E-9C4B-8EF1-85CC04C8EABE}"/>
              </a:ext>
            </a:extLst>
          </p:cNvPr>
          <p:cNvSpPr/>
          <p:nvPr/>
        </p:nvSpPr>
        <p:spPr>
          <a:xfrm>
            <a:off x="6083300" y="1130300"/>
            <a:ext cx="5981700" cy="542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Slide Number Placeholder 2">
            <a:extLst>
              <a:ext uri="{FF2B5EF4-FFF2-40B4-BE49-F238E27FC236}">
                <a16:creationId xmlns:a16="http://schemas.microsoft.com/office/drawing/2014/main" id="{610A18A4-A347-C644-9049-7E6828F7CD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19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1 -0.00579 C -0.00378 0.12338 -0.00365 0.25231 -0.00339 0.38125 L 0.13737 0.3838 C 0.1375 0.22755 0.13789 0.12685 0.13815 -0.02894 " pathEditMode="relative" rAng="0" ptsTypes="AAAA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96" y="18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9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 0.02986 C -0.003 0.16782 -0.003 0.15208 -0.003 0.2902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000"/>
                            </p:stCondLst>
                            <p:childTnLst>
                              <p:par>
                                <p:cTn id="4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5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287 0.30555 L -0.00287 0.45555 L 0.20364 0.45555 L 0.20364 0.00162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26" y="-7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0"/>
                            </p:stCondLst>
                            <p:childTnLst>
                              <p:par>
                                <p:cTn id="50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000"/>
                            </p:stCondLst>
                            <p:childTnLst>
                              <p:par>
                                <p:cTn id="6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3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0"/>
                            </p:stCondLst>
                            <p:childTnLst>
                              <p:par>
                                <p:cTn id="6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0.00162 L -0.00182 0.50995 L 0.25794 0.50995 L 0.25794 0.03495 " pathEditMode="relative" rAng="0" ptsTypes="AAAA">
                                      <p:cBhvr>
                                        <p:cTn id="6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2" y="2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7000"/>
                            </p:stCondLst>
                            <p:childTnLst>
                              <p:par>
                                <p:cTn id="71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7500"/>
                            </p:stCondLst>
                            <p:childTnLst>
                              <p:par>
                                <p:cTn id="7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8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9500"/>
                            </p:stCondLst>
                            <p:childTnLst>
                              <p:par>
                                <p:cTn id="8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4351 C 0.00065 0.17338 0.00065 0.30277 0.00104 0.43263 L 0.11484 0.43541 C 0.11484 0.278 0.11523 0.11527 0.11563 -0.04028 " pathEditMode="relative" rAng="0" ptsTypes="AAAA">
                                      <p:cBhvr>
                                        <p:cTn id="84" dur="2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2" y="1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1500"/>
                            </p:stCondLst>
                            <p:childTnLst>
                              <p:par>
                                <p:cTn id="8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2000"/>
                            </p:stCondLst>
                            <p:childTnLst>
                              <p:par>
                                <p:cTn id="9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2500"/>
                            </p:stCondLst>
                            <p:childTnLst>
                              <p:par>
                                <p:cTn id="94" presetID="9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02986 C -0.00299 0.16783 -0.00299 0.05533 -0.00299 0.19375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4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6500"/>
                            </p:stCondLst>
                            <p:childTnLst>
                              <p:par>
                                <p:cTn id="108" presetID="9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9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80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9500"/>
                            </p:stCondLst>
                            <p:childTnLst>
                              <p:par>
                                <p:cTn id="1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-8.33333E-7 0.50833 L 0.33854 0.50833 L 0.33854 0.03333 " pathEditMode="relative" rAng="0" ptsTypes="AAAA">
                                      <p:cBhvr>
                                        <p:cTn id="117" dur="2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27" y="2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1500"/>
                            </p:stCondLst>
                            <p:childTnLst>
                              <p:par>
                                <p:cTn id="11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23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4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2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4000"/>
                            </p:stCondLst>
                            <p:childTnLst>
                              <p:par>
                                <p:cTn id="13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19375 C -0.00286 0.27801 -0.00273 0.36227 -0.0026 0.44676 L 0.22383 0.44676 L 0.22383 -0.00717 " pathEditMode="relative" rAng="0" ptsTypes="AAAA">
                                      <p:cBhvr>
                                        <p:cTn id="132" dur="20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41" y="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6000"/>
                            </p:stCondLst>
                            <p:childTnLst>
                              <p:par>
                                <p:cTn id="134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5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1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6500"/>
                            </p:stCondLst>
                            <p:childTnLst>
                              <p:par>
                                <p:cTn id="14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5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405" grpId="0" animBg="1"/>
      <p:bldP spid="405" grpId="1" animBg="1"/>
      <p:bldP spid="406" grpId="0" animBg="1"/>
      <p:bldP spid="406" grpId="1" animBg="1"/>
      <p:bldP spid="407" grpId="0" animBg="1"/>
      <p:bldP spid="407" grpId="1" animBg="1"/>
      <p:bldP spid="408" grpId="0" animBg="1"/>
      <p:bldP spid="408" grpId="1" animBg="1"/>
      <p:bldP spid="409" grpId="0" animBg="1"/>
      <p:bldP spid="409" grpId="1" animBg="1"/>
      <p:bldP spid="410" grpId="0" animBg="1"/>
      <p:bldP spid="410" grpId="1" animBg="1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Web Apps in a Single Server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6" y="1825624"/>
            <a:ext cx="10039546" cy="4910490"/>
          </a:xfrm>
        </p:spPr>
      </p:pic>
    </p:spTree>
    <p:extLst>
      <p:ext uri="{BB962C8B-B14F-4D97-AF65-F5344CB8AC3E}">
        <p14:creationId xmlns:p14="http://schemas.microsoft.com/office/powerpoint/2010/main" val="189161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Loopback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127.0.0.1, commonly </a:t>
            </a:r>
            <a:r>
              <a:rPr lang="en-US" dirty="0" smtClean="0"/>
              <a:t>known </a:t>
            </a:r>
            <a:r>
              <a:rPr lang="en-US" dirty="0"/>
              <a:t>as "</a:t>
            </a:r>
            <a:r>
              <a:rPr lang="en-US" dirty="0" smtClean="0"/>
              <a:t>localhost“.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Key </a:t>
            </a:r>
            <a:r>
              <a:rPr lang="en-US" b="1" dirty="0"/>
              <a:t>Elements of 127.0.0.1</a:t>
            </a:r>
            <a:endParaRPr lang="en-US" dirty="0"/>
          </a:p>
          <a:p>
            <a:r>
              <a:rPr lang="en-US" b="1" dirty="0"/>
              <a:t>Loopback Interface:</a:t>
            </a:r>
            <a:r>
              <a:rPr lang="en-US" dirty="0"/>
              <a:t> It allows software on the computer to communicate with itself</a:t>
            </a:r>
          </a:p>
          <a:p>
            <a:r>
              <a:rPr lang="en-US" b="1" dirty="0"/>
              <a:t>Local Communication:</a:t>
            </a:r>
            <a:r>
              <a:rPr lang="en-US" dirty="0"/>
              <a:t> Any data sent to 127.0.0.1 is looped back to the same computer, meaning it never leaves the device.</a:t>
            </a:r>
          </a:p>
          <a:p>
            <a:r>
              <a:rPr lang="en-US" b="1" dirty="0"/>
              <a:t>Universal Address: </a:t>
            </a:r>
            <a:r>
              <a:rPr lang="en-US" dirty="0"/>
              <a:t>127.0.0.1 is standard across all devices with an IPv4 address, so using it will always point to the local machine.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917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Loopback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 smtClean="0"/>
              <a:t>IPv4 </a:t>
            </a:r>
            <a:r>
              <a:rPr lang="en-US" b="1" dirty="0"/>
              <a:t>Loopback </a:t>
            </a:r>
            <a:r>
              <a:rPr lang="en-US" b="1" dirty="0" smtClean="0"/>
              <a:t>Range</a:t>
            </a:r>
          </a:p>
          <a:p>
            <a:r>
              <a:rPr lang="en-US" dirty="0"/>
              <a:t>The entire range of IPv4 loopback addresses go from 127.0.0.0 to </a:t>
            </a:r>
            <a:r>
              <a:rPr lang="en-US" dirty="0" smtClean="0"/>
              <a:t>127.255.255.255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127.0.0.1 </a:t>
            </a:r>
            <a:r>
              <a:rPr lang="en-US" dirty="0"/>
              <a:t>is the most commonly </a:t>
            </a:r>
            <a:r>
              <a:rPr lang="en-US" dirty="0" smtClean="0"/>
              <a:t>referenced.</a:t>
            </a:r>
            <a:endParaRPr lang="en-US" dirty="0"/>
          </a:p>
        </p:txBody>
      </p:sp>
      <p:pic>
        <p:nvPicPr>
          <p:cNvPr id="6" name="Picture 2" descr="https://hw-images.hostwinds.com/cdn-cgi/image/height=250%2cfit=contain%2cf=auto%2cwidth=1280%2cq=85/strapi-images/loopback_ip_address_blog_header_01_8c9b88e6f5.web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793" y="2036191"/>
            <a:ext cx="5339342" cy="282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664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Explaining QUIC: the protocol that is both very similar to and very different from TCP By Peter Door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3"/>
              </a:rPr>
              <a:t>What is a reverse proxy</a:t>
            </a:r>
            <a:r>
              <a:rPr lang="en-US" dirty="0" smtClean="0">
                <a:hlinkClick r:id="rId3"/>
              </a:rPr>
              <a:t>?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hlinkClick r:id="rId4"/>
              </a:rPr>
              <a:t>Loopback </a:t>
            </a:r>
            <a:r>
              <a:rPr lang="en-US" dirty="0">
                <a:hlinkClick r:id="rId4"/>
              </a:rPr>
              <a:t>Address - What is it &amp; How Does it Work?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019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1376</Words>
  <Application>Microsoft Office PowerPoint</Application>
  <PresentationFormat>Widescreen</PresentationFormat>
  <Paragraphs>333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ＭＳ Ｐゴシック</vt:lpstr>
      <vt:lpstr>Arial</vt:lpstr>
      <vt:lpstr>Calibri</vt:lpstr>
      <vt:lpstr>Calibri Light</vt:lpstr>
      <vt:lpstr>Courier</vt:lpstr>
      <vt:lpstr>Gill Sans MT</vt:lpstr>
      <vt:lpstr>Tahoma</vt:lpstr>
      <vt:lpstr>Times New Roman</vt:lpstr>
      <vt:lpstr>Wingdings</vt:lpstr>
      <vt:lpstr>Office Theme</vt:lpstr>
      <vt:lpstr>PowerPoint Presentation</vt:lpstr>
      <vt:lpstr>Chapter 3: roadmap</vt:lpstr>
      <vt:lpstr>UDP: User Datagram Protocol</vt:lpstr>
      <vt:lpstr>UDP: User Datagram Protocol</vt:lpstr>
      <vt:lpstr>UDP: User Datagram Protocol [RFC 768]</vt:lpstr>
      <vt:lpstr>UDP: Transport Layer Actions</vt:lpstr>
      <vt:lpstr>UDP: Transport Layer Actions</vt:lpstr>
      <vt:lpstr>UDP: Transport Layer Actions</vt:lpstr>
      <vt:lpstr>UDP segment header</vt:lpstr>
      <vt:lpstr>UDP checksum</vt:lpstr>
      <vt:lpstr>Internet checksum</vt:lpstr>
      <vt:lpstr>Internet checksum: an example</vt:lpstr>
      <vt:lpstr>Internet checksum: weak protection!</vt:lpstr>
      <vt:lpstr>Summary: UDP</vt:lpstr>
      <vt:lpstr>Transport layer: roadmap</vt:lpstr>
      <vt:lpstr>Evolving transport-layer functionality</vt:lpstr>
      <vt:lpstr>QUIC: Quick UDP Internet Connections</vt:lpstr>
      <vt:lpstr>QUIC: Quick UDP Internet Connections</vt:lpstr>
      <vt:lpstr>QUIC: streams: parallelism, no HOL blocking</vt:lpstr>
      <vt:lpstr>Multiple Web Apps in a Single Server</vt:lpstr>
      <vt:lpstr>Loopback Address</vt:lpstr>
      <vt:lpstr>Loopback Address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21</cp:revision>
  <dcterms:created xsi:type="dcterms:W3CDTF">2025-10-25T18:10:14Z</dcterms:created>
  <dcterms:modified xsi:type="dcterms:W3CDTF">2025-10-25T18:41:03Z</dcterms:modified>
</cp:coreProperties>
</file>