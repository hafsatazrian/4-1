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5dd7de6ba_0_2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5dd7de6ba_0_21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g385dd7de6ba_0_21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explicitly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75" name="Google Shape;75;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explicitly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127" name="Google Shape;127;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explicitly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190" name="Google Shape;190;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46" name="Google Shape;246;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0" name="Google Shape;280;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85dd7de6ba_0_3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03" name="Google Shape;303;g385dd7de6ba_0_3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g385dd7de6ba_0_3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85dd7de6ba_0_35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13" name="Google Shape;313;g385dd7de6ba_0_3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g385dd7de6ba_0_3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85dd7de6ba_0_36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23" name="Google Shape;323;g385dd7de6ba_0_3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g385dd7de6ba_0_3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85dd7de6ba_0_38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40" name="Google Shape;340;g385dd7de6ba_0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g385dd7de6ba_0_3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85dd7de6ba_0_15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56" name="Google Shape;356;g385dd7de6ba_0_15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85dd7de6ba_0_15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85dd7de6ba_0_15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g385dd7de6ba_0_15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85dd7de6ba_0_9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75" name="Google Shape;375;g385dd7de6ba_0_9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g385dd7de6ba_0_9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85dd7de6ba_0_69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83" name="Google Shape;383;g385dd7de6ba_0_6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g385dd7de6ba_0_6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85dd7de6ba_0_70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93" name="Google Shape;393;g385dd7de6ba_0_7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g385dd7de6ba_0_7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85dd7de6ba_0_7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03" name="Google Shape;403;g385dd7de6ba_0_7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g385dd7de6ba_0_7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85dd7de6ba_0_13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24" name="Google Shape;424;g385dd7de6ba_0_13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g385dd7de6ba_0_13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85dd7de6ba_0_13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36" name="Google Shape;436;g385dd7de6ba_0_13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g385dd7de6ba_0_13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85dd7de6ba_0_14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53" name="Google Shape;453;g385dd7de6ba_0_14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g385dd7de6ba_0_14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85dd7de6ba_0_7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70" name="Google Shape;470;g385dd7de6ba_0_7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g385dd7de6ba_0_7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85dd7de6ba_0_75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86" name="Google Shape;486;g385dd7de6ba_0_7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g385dd7de6ba_0_7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85dd7de6ba_0_76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97" name="Google Shape;497;g385dd7de6ba_0_7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8" name="Google Shape;498;g385dd7de6ba_0_7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85dd7de6ba_0_19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g385dd7de6ba_0_19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85dd7de6ba_0_16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If you’ve already sent data that hasn’t been acknowledged yet, </a:t>
            </a:r>
            <a:r>
              <a:rPr b="1" lang="en-US" sz="1100">
                <a:latin typeface="Arial"/>
                <a:ea typeface="Arial"/>
                <a:cs typeface="Arial"/>
                <a:sym typeface="Arial"/>
              </a:rPr>
              <a:t>don’t send more small packets</a:t>
            </a:r>
            <a:r>
              <a:rPr lang="en-US" sz="1100">
                <a:latin typeface="Arial"/>
                <a:ea typeface="Arial"/>
                <a:cs typeface="Arial"/>
                <a:sym typeface="Arial"/>
              </a:rPr>
              <a:t> — just </a:t>
            </a:r>
            <a:r>
              <a:rPr b="1" lang="en-US" sz="1100">
                <a:latin typeface="Arial"/>
                <a:ea typeface="Arial"/>
                <a:cs typeface="Arial"/>
                <a:sym typeface="Arial"/>
              </a:rPr>
              <a:t>wait</a:t>
            </a:r>
            <a:r>
              <a:rPr lang="en-US" sz="1100">
                <a:latin typeface="Arial"/>
                <a:ea typeface="Arial"/>
                <a:cs typeface="Arial"/>
                <a:sym typeface="Arial"/>
              </a:rPr>
              <a:t> and </a:t>
            </a:r>
            <a:r>
              <a:rPr b="1" lang="en-US" sz="1100">
                <a:latin typeface="Arial"/>
                <a:ea typeface="Arial"/>
                <a:cs typeface="Arial"/>
                <a:sym typeface="Arial"/>
              </a:rPr>
              <a:t>combine</a:t>
            </a:r>
            <a:r>
              <a:rPr lang="en-US" sz="1100">
                <a:latin typeface="Arial"/>
                <a:ea typeface="Arial"/>
                <a:cs typeface="Arial"/>
                <a:sym typeface="Arial"/>
              </a:rPr>
              <a:t> them into one big packet.</a:t>
            </a:r>
            <a:endParaRPr/>
          </a:p>
        </p:txBody>
      </p:sp>
      <p:sp>
        <p:nvSpPr>
          <p:cNvPr id="524" name="Google Shape;524;g385dd7de6ba_0_16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85dd7de6ba_0_16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g385dd7de6ba_0_16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85dd7de6ba_0_16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g385dd7de6ba_0_16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85dd7de6ba_0_18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548" name="Google Shape;548;g385dd7de6ba_0_18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g385dd7de6ba_0_18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5"/>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33" name="Shape 33"/>
        <p:cNvGrpSpPr/>
        <p:nvPr/>
      </p:nvGrpSpPr>
      <p:grpSpPr>
        <a:xfrm>
          <a:off x="0" y="0"/>
          <a:ext cx="0" cy="0"/>
          <a:chOff x="0" y="0"/>
          <a:chExt cx="0" cy="0"/>
        </a:xfrm>
      </p:grpSpPr>
      <p:sp>
        <p:nvSpPr>
          <p:cNvPr id="34" name="Google Shape;34;p7"/>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rmAutofit/>
          </a:bodyPr>
          <a:lstStyle>
            <a:lvl1pPr lvl="0" marR="0" algn="l">
              <a:spcBef>
                <a:spcPts val="0"/>
              </a:spcBef>
              <a:spcAft>
                <a:spcPts val="0"/>
              </a:spcAft>
              <a:buSzPts val="40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5" name="Google Shape;35;p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36" name="Google Shape;36;p7"/>
          <p:cNvSpPr txBox="1"/>
          <p:nvPr>
            <p:ph idx="11" type="ftr"/>
          </p:nvPr>
        </p:nvSpPr>
        <p:spPr>
          <a:xfrm>
            <a:off x="101600" y="6296025"/>
            <a:ext cx="38607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7"/>
          <p:cNvSpPr txBox="1"/>
          <p:nvPr>
            <p:ph idx="12" type="sldNum"/>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100">
              <a:solidFill>
                <a:srgbClr val="7F7F7F"/>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ver Text" type="objOverTx">
  <p:cSld name="OBJECT_OVER_TEXT">
    <p:spTree>
      <p:nvGrpSpPr>
        <p:cNvPr id="38" name="Shape 38"/>
        <p:cNvGrpSpPr/>
        <p:nvPr/>
      </p:nvGrpSpPr>
      <p:grpSpPr>
        <a:xfrm>
          <a:off x="0" y="0"/>
          <a:ext cx="0" cy="0"/>
          <a:chOff x="0" y="0"/>
          <a:chExt cx="0" cy="0"/>
        </a:xfrm>
      </p:grpSpPr>
      <p:sp>
        <p:nvSpPr>
          <p:cNvPr id="39" name="Google Shape;39;p8"/>
          <p:cNvSpPr txBox="1"/>
          <p:nvPr>
            <p:ph type="title"/>
          </p:nvPr>
        </p:nvSpPr>
        <p:spPr>
          <a:xfrm>
            <a:off x="1016000" y="381000"/>
            <a:ext cx="10363200" cy="762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40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 name="Google Shape;40;p8"/>
          <p:cNvSpPr txBox="1"/>
          <p:nvPr>
            <p:ph idx="1" type="body"/>
          </p:nvPr>
        </p:nvSpPr>
        <p:spPr>
          <a:xfrm>
            <a:off x="914400" y="1371600"/>
            <a:ext cx="10363200" cy="22860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1" name="Google Shape;41;p8"/>
          <p:cNvSpPr txBox="1"/>
          <p:nvPr>
            <p:ph idx="2" type="body"/>
          </p:nvPr>
        </p:nvSpPr>
        <p:spPr>
          <a:xfrm>
            <a:off x="914400" y="3810000"/>
            <a:ext cx="10363200" cy="22860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2" name="Google Shape;42;p8"/>
          <p:cNvSpPr txBox="1"/>
          <p:nvPr>
            <p:ph idx="10" type="dt"/>
          </p:nvPr>
        </p:nvSpPr>
        <p:spPr>
          <a:xfrm>
            <a:off x="914400" y="6248400"/>
            <a:ext cx="25401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
          <p:cNvSpPr txBox="1"/>
          <p:nvPr>
            <p:ph idx="12" type="sldNum"/>
          </p:nvPr>
        </p:nvSpPr>
        <p:spPr>
          <a:xfrm>
            <a:off x="8737600" y="6248400"/>
            <a:ext cx="25401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b="0" i="0" sz="1400" u="none" cap="none" strike="noStrike">
                <a:solidFill>
                  <a:schemeClr val="dk1"/>
                </a:solidFill>
                <a:latin typeface="Arial"/>
                <a:ea typeface="Arial"/>
                <a:cs typeface="Arial"/>
                <a:sym typeface="Arial"/>
              </a:defRPr>
            </a:lvl1pPr>
            <a:lvl2pPr indent="0" lvl="1" marL="0" algn="r">
              <a:spcBef>
                <a:spcPts val="0"/>
              </a:spcBef>
              <a:buNone/>
              <a:defRPr b="0" i="0" sz="1400" u="none" cap="none" strike="noStrike">
                <a:solidFill>
                  <a:schemeClr val="dk1"/>
                </a:solidFill>
                <a:latin typeface="Arial"/>
                <a:ea typeface="Arial"/>
                <a:cs typeface="Arial"/>
                <a:sym typeface="Arial"/>
              </a:defRPr>
            </a:lvl2pPr>
            <a:lvl3pPr indent="0" lvl="2" marL="0" algn="r">
              <a:spcBef>
                <a:spcPts val="0"/>
              </a:spcBef>
              <a:buNone/>
              <a:defRPr b="0" i="0" sz="1400" u="none" cap="none" strike="noStrike">
                <a:solidFill>
                  <a:schemeClr val="dk1"/>
                </a:solidFill>
                <a:latin typeface="Arial"/>
                <a:ea typeface="Arial"/>
                <a:cs typeface="Arial"/>
                <a:sym typeface="Arial"/>
              </a:defRPr>
            </a:lvl3pPr>
            <a:lvl4pPr indent="0" lvl="3" marL="0" algn="r">
              <a:spcBef>
                <a:spcPts val="0"/>
              </a:spcBef>
              <a:buNone/>
              <a:defRPr b="0" i="0" sz="1400" u="none" cap="none" strike="noStrike">
                <a:solidFill>
                  <a:schemeClr val="dk1"/>
                </a:solidFill>
                <a:latin typeface="Arial"/>
                <a:ea typeface="Arial"/>
                <a:cs typeface="Arial"/>
                <a:sym typeface="Arial"/>
              </a:defRPr>
            </a:lvl4pPr>
            <a:lvl5pPr indent="0" lvl="4" marL="0" algn="r">
              <a:spcBef>
                <a:spcPts val="0"/>
              </a:spcBef>
              <a:buNone/>
              <a:defRPr b="0" i="0" sz="1400" u="none" cap="none" strike="noStrike">
                <a:solidFill>
                  <a:schemeClr val="dk1"/>
                </a:solidFill>
                <a:latin typeface="Arial"/>
                <a:ea typeface="Arial"/>
                <a:cs typeface="Arial"/>
                <a:sym typeface="Arial"/>
              </a:defRPr>
            </a:lvl5pPr>
            <a:lvl6pPr indent="0" lvl="5" marL="0" algn="r">
              <a:spcBef>
                <a:spcPts val="0"/>
              </a:spcBef>
              <a:buNone/>
              <a:defRPr b="0" i="0" sz="1400" u="none" cap="none" strike="noStrike">
                <a:solidFill>
                  <a:schemeClr val="dk1"/>
                </a:solidFill>
                <a:latin typeface="Arial"/>
                <a:ea typeface="Arial"/>
                <a:cs typeface="Arial"/>
                <a:sym typeface="Arial"/>
              </a:defRPr>
            </a:lvl6pPr>
            <a:lvl7pPr indent="0" lvl="6" marL="0" algn="r">
              <a:spcBef>
                <a:spcPts val="0"/>
              </a:spcBef>
              <a:buNone/>
              <a:defRPr b="0" i="0" sz="1400" u="none" cap="none" strike="noStrike">
                <a:solidFill>
                  <a:schemeClr val="dk1"/>
                </a:solidFill>
                <a:latin typeface="Arial"/>
                <a:ea typeface="Arial"/>
                <a:cs typeface="Arial"/>
                <a:sym typeface="Arial"/>
              </a:defRPr>
            </a:lvl7pPr>
            <a:lvl8pPr indent="0" lvl="7" marL="0" algn="r">
              <a:spcBef>
                <a:spcPts val="0"/>
              </a:spcBef>
              <a:buNone/>
              <a:defRPr b="0" i="0" sz="1400" u="none" cap="none" strike="noStrike">
                <a:solidFill>
                  <a:schemeClr val="dk1"/>
                </a:solidFill>
                <a:latin typeface="Arial"/>
                <a:ea typeface="Arial"/>
                <a:cs typeface="Arial"/>
                <a:sym typeface="Arial"/>
              </a:defRPr>
            </a:lvl8pPr>
            <a:lvl9pPr indent="0" lvl="8" marL="0" algn="r">
              <a:spcBef>
                <a:spcPts val="0"/>
              </a:spcBef>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44" name="Shape 44"/>
        <p:cNvGrpSpPr/>
        <p:nvPr/>
      </p:nvGrpSpPr>
      <p:grpSpPr>
        <a:xfrm>
          <a:off x="0" y="0"/>
          <a:ext cx="0" cy="0"/>
          <a:chOff x="0" y="0"/>
          <a:chExt cx="0" cy="0"/>
        </a:xfrm>
      </p:grpSpPr>
      <p:sp>
        <p:nvSpPr>
          <p:cNvPr id="45" name="Google Shape;45;p9"/>
          <p:cNvSpPr txBox="1"/>
          <p:nvPr>
            <p:ph type="title"/>
          </p:nvPr>
        </p:nvSpPr>
        <p:spPr>
          <a:xfrm>
            <a:off x="1016000" y="381000"/>
            <a:ext cx="10363200" cy="762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40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9"/>
          <p:cNvSpPr txBox="1"/>
          <p:nvPr>
            <p:ph idx="1" type="body"/>
          </p:nvPr>
        </p:nvSpPr>
        <p:spPr>
          <a:xfrm>
            <a:off x="914400" y="1371600"/>
            <a:ext cx="5079900" cy="47244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7" name="Google Shape;47;p9"/>
          <p:cNvSpPr txBox="1"/>
          <p:nvPr>
            <p:ph idx="2" type="body"/>
          </p:nvPr>
        </p:nvSpPr>
        <p:spPr>
          <a:xfrm>
            <a:off x="6197600" y="1371600"/>
            <a:ext cx="5079900" cy="47244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8" name="Google Shape;48;p9"/>
          <p:cNvSpPr txBox="1"/>
          <p:nvPr>
            <p:ph idx="10" type="dt"/>
          </p:nvPr>
        </p:nvSpPr>
        <p:spPr>
          <a:xfrm>
            <a:off x="914400" y="6248400"/>
            <a:ext cx="25401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9"/>
          <p:cNvSpPr txBox="1"/>
          <p:nvPr>
            <p:ph idx="12" type="sldNum"/>
          </p:nvPr>
        </p:nvSpPr>
        <p:spPr>
          <a:xfrm>
            <a:off x="8737600" y="6248400"/>
            <a:ext cx="25401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b="0" i="0" sz="1400" u="none" cap="none" strike="noStrike">
                <a:solidFill>
                  <a:schemeClr val="dk1"/>
                </a:solidFill>
                <a:latin typeface="Arial"/>
                <a:ea typeface="Arial"/>
                <a:cs typeface="Arial"/>
                <a:sym typeface="Arial"/>
              </a:defRPr>
            </a:lvl1pPr>
            <a:lvl2pPr indent="0" lvl="1" marL="0" algn="r">
              <a:spcBef>
                <a:spcPts val="0"/>
              </a:spcBef>
              <a:buNone/>
              <a:defRPr b="0" i="0" sz="1400" u="none" cap="none" strike="noStrike">
                <a:solidFill>
                  <a:schemeClr val="dk1"/>
                </a:solidFill>
                <a:latin typeface="Arial"/>
                <a:ea typeface="Arial"/>
                <a:cs typeface="Arial"/>
                <a:sym typeface="Arial"/>
              </a:defRPr>
            </a:lvl2pPr>
            <a:lvl3pPr indent="0" lvl="2" marL="0" algn="r">
              <a:spcBef>
                <a:spcPts val="0"/>
              </a:spcBef>
              <a:buNone/>
              <a:defRPr b="0" i="0" sz="1400" u="none" cap="none" strike="noStrike">
                <a:solidFill>
                  <a:schemeClr val="dk1"/>
                </a:solidFill>
                <a:latin typeface="Arial"/>
                <a:ea typeface="Arial"/>
                <a:cs typeface="Arial"/>
                <a:sym typeface="Arial"/>
              </a:defRPr>
            </a:lvl3pPr>
            <a:lvl4pPr indent="0" lvl="3" marL="0" algn="r">
              <a:spcBef>
                <a:spcPts val="0"/>
              </a:spcBef>
              <a:buNone/>
              <a:defRPr b="0" i="0" sz="1400" u="none" cap="none" strike="noStrike">
                <a:solidFill>
                  <a:schemeClr val="dk1"/>
                </a:solidFill>
                <a:latin typeface="Arial"/>
                <a:ea typeface="Arial"/>
                <a:cs typeface="Arial"/>
                <a:sym typeface="Arial"/>
              </a:defRPr>
            </a:lvl4pPr>
            <a:lvl5pPr indent="0" lvl="4" marL="0" algn="r">
              <a:spcBef>
                <a:spcPts val="0"/>
              </a:spcBef>
              <a:buNone/>
              <a:defRPr b="0" i="0" sz="1400" u="none" cap="none" strike="noStrike">
                <a:solidFill>
                  <a:schemeClr val="dk1"/>
                </a:solidFill>
                <a:latin typeface="Arial"/>
                <a:ea typeface="Arial"/>
                <a:cs typeface="Arial"/>
                <a:sym typeface="Arial"/>
              </a:defRPr>
            </a:lvl5pPr>
            <a:lvl6pPr indent="0" lvl="5" marL="0" algn="r">
              <a:spcBef>
                <a:spcPts val="0"/>
              </a:spcBef>
              <a:buNone/>
              <a:defRPr b="0" i="0" sz="1400" u="none" cap="none" strike="noStrike">
                <a:solidFill>
                  <a:schemeClr val="dk1"/>
                </a:solidFill>
                <a:latin typeface="Arial"/>
                <a:ea typeface="Arial"/>
                <a:cs typeface="Arial"/>
                <a:sym typeface="Arial"/>
              </a:defRPr>
            </a:lvl6pPr>
            <a:lvl7pPr indent="0" lvl="6" marL="0" algn="r">
              <a:spcBef>
                <a:spcPts val="0"/>
              </a:spcBef>
              <a:buNone/>
              <a:defRPr b="0" i="0" sz="1400" u="none" cap="none" strike="noStrike">
                <a:solidFill>
                  <a:schemeClr val="dk1"/>
                </a:solidFill>
                <a:latin typeface="Arial"/>
                <a:ea typeface="Arial"/>
                <a:cs typeface="Arial"/>
                <a:sym typeface="Arial"/>
              </a:defRPr>
            </a:lvl7pPr>
            <a:lvl8pPr indent="0" lvl="7" marL="0" algn="r">
              <a:spcBef>
                <a:spcPts val="0"/>
              </a:spcBef>
              <a:buNone/>
              <a:defRPr b="0" i="0" sz="1400" u="none" cap="none" strike="noStrike">
                <a:solidFill>
                  <a:schemeClr val="dk1"/>
                </a:solidFill>
                <a:latin typeface="Arial"/>
                <a:ea typeface="Arial"/>
                <a:cs typeface="Arial"/>
                <a:sym typeface="Arial"/>
              </a:defRPr>
            </a:lvl8pPr>
            <a:lvl9pPr indent="0" lvl="8" marL="0" algn="r">
              <a:spcBef>
                <a:spcPts val="0"/>
              </a:spcBef>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0" name="Shape 50"/>
        <p:cNvGrpSpPr/>
        <p:nvPr/>
      </p:nvGrpSpPr>
      <p:grpSpPr>
        <a:xfrm>
          <a:off x="0" y="0"/>
          <a:ext cx="0" cy="0"/>
          <a:chOff x="0" y="0"/>
          <a:chExt cx="0" cy="0"/>
        </a:xfrm>
      </p:grpSpPr>
      <p:sp>
        <p:nvSpPr>
          <p:cNvPr id="51" name="Google Shape;51;p10"/>
          <p:cNvSpPr txBox="1"/>
          <p:nvPr>
            <p:ph type="title"/>
          </p:nvPr>
        </p:nvSpPr>
        <p:spPr>
          <a:xfrm>
            <a:off x="406400" y="152400"/>
            <a:ext cx="11480700" cy="838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40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10"/>
          <p:cNvSpPr txBox="1"/>
          <p:nvPr>
            <p:ph idx="10" type="dt"/>
          </p:nvPr>
        </p:nvSpPr>
        <p:spPr>
          <a:xfrm>
            <a:off x="406400" y="6553200"/>
            <a:ext cx="3048000" cy="228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
          <p:cNvSpPr txBox="1"/>
          <p:nvPr>
            <p:ph idx="12" type="sldNum"/>
          </p:nvPr>
        </p:nvSpPr>
        <p:spPr>
          <a:xfrm>
            <a:off x="8737600" y="6477000"/>
            <a:ext cx="3251100" cy="2286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4" name="Google Shape;54;p10"/>
          <p:cNvSpPr txBox="1"/>
          <p:nvPr>
            <p:ph idx="1" type="body"/>
          </p:nvPr>
        </p:nvSpPr>
        <p:spPr>
          <a:xfrm>
            <a:off x="508000" y="1143000"/>
            <a:ext cx="11379300" cy="23622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5" name="Google Shape;55;p10"/>
          <p:cNvSpPr txBox="1"/>
          <p:nvPr>
            <p:ph idx="2" type="body"/>
          </p:nvPr>
        </p:nvSpPr>
        <p:spPr>
          <a:xfrm>
            <a:off x="508000" y="3657600"/>
            <a:ext cx="11379300" cy="25146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21.png"/><Relationship Id="rId6" Type="http://schemas.openxmlformats.org/officeDocument/2006/relationships/image" Target="../media/image3.png"/><Relationship Id="rId7" Type="http://schemas.openxmlformats.org/officeDocument/2006/relationships/image" Target="../media/image20.png"/><Relationship Id="rId8"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1"/>
          <p:cNvSpPr txBox="1"/>
          <p:nvPr>
            <p:ph idx="12" type="sldNum"/>
          </p:nvPr>
        </p:nvSpPr>
        <p:spPr>
          <a:xfrm>
            <a:off x="9219616" y="644308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62" name="Google Shape;62;p11"/>
          <p:cNvSpPr txBox="1"/>
          <p:nvPr/>
        </p:nvSpPr>
        <p:spPr>
          <a:xfrm>
            <a:off x="433350" y="1542600"/>
            <a:ext cx="11325300" cy="3362400"/>
          </a:xfrm>
          <a:prstGeom prst="rect">
            <a:avLst/>
          </a:prstGeom>
          <a:noFill/>
          <a:ln>
            <a:noFill/>
          </a:ln>
        </p:spPr>
        <p:txBody>
          <a:bodyPr anchorCtr="0" anchor="ctr" bIns="91425" lIns="91425" spcFirstLastPara="1" rIns="91425" wrap="square" tIns="91425">
            <a:noAutofit/>
          </a:bodyPr>
          <a:lstStyle/>
          <a:p>
            <a:pPr indent="0" lvl="0" marL="0" rtl="0" algn="ctr">
              <a:lnSpc>
                <a:spcPct val="85000"/>
              </a:lnSpc>
              <a:spcBef>
                <a:spcPts val="0"/>
              </a:spcBef>
              <a:spcAft>
                <a:spcPts val="0"/>
              </a:spcAft>
              <a:buNone/>
            </a:pPr>
            <a:r>
              <a:rPr b="1" lang="en-US" sz="5400">
                <a:solidFill>
                  <a:srgbClr val="000099"/>
                </a:solidFill>
                <a:latin typeface="Calibri"/>
                <a:ea typeface="Calibri"/>
                <a:cs typeface="Calibri"/>
                <a:sym typeface="Calibri"/>
              </a:rPr>
              <a:t>Chapter 3</a:t>
            </a:r>
            <a:br>
              <a:rPr b="1" lang="en-US" sz="6000">
                <a:solidFill>
                  <a:srgbClr val="000099"/>
                </a:solidFill>
                <a:latin typeface="Calibri"/>
                <a:ea typeface="Calibri"/>
                <a:cs typeface="Calibri"/>
                <a:sym typeface="Calibri"/>
              </a:rPr>
            </a:br>
            <a:r>
              <a:rPr b="1" lang="en-US" sz="5400">
                <a:solidFill>
                  <a:srgbClr val="000099"/>
                </a:solidFill>
                <a:latin typeface="Calibri"/>
                <a:ea typeface="Calibri"/>
                <a:cs typeface="Calibri"/>
                <a:sym typeface="Calibri"/>
              </a:rPr>
              <a:t>Transport Layer</a:t>
            </a:r>
            <a:endParaRPr b="1" sz="5400">
              <a:solidFill>
                <a:srgbClr val="000099"/>
              </a:solidFill>
              <a:latin typeface="Calibri"/>
              <a:ea typeface="Calibri"/>
              <a:cs typeface="Calibri"/>
              <a:sym typeface="Calibri"/>
            </a:endParaRPr>
          </a:p>
          <a:p>
            <a:pPr indent="0" lvl="0" marL="0" rtl="0" algn="ctr">
              <a:lnSpc>
                <a:spcPct val="85000"/>
              </a:lnSpc>
              <a:spcBef>
                <a:spcPts val="0"/>
              </a:spcBef>
              <a:spcAft>
                <a:spcPts val="0"/>
              </a:spcAft>
              <a:buNone/>
            </a:pPr>
            <a:r>
              <a:rPr b="1" lang="en-US" sz="5400">
                <a:solidFill>
                  <a:srgbClr val="DD7E6B"/>
                </a:solidFill>
                <a:latin typeface="Calibri"/>
                <a:ea typeface="Calibri"/>
                <a:cs typeface="Calibri"/>
                <a:sym typeface="Calibri"/>
              </a:rPr>
              <a:t>TCP - Flow Control</a:t>
            </a:r>
            <a:endParaRPr b="1" sz="5400">
              <a:solidFill>
                <a:srgbClr val="000099"/>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69" name="Google Shape;69;p12"/>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311150" lvl="0" marL="352425" rtl="0" algn="l">
              <a:spcBef>
                <a:spcPts val="0"/>
              </a:spcBef>
              <a:spcAft>
                <a:spcPts val="0"/>
              </a:spcAft>
              <a:buClr>
                <a:srgbClr val="BFBFBF"/>
              </a:buClr>
              <a:buSzPts val="3200"/>
              <a:buChar char="▪"/>
            </a:pPr>
            <a:r>
              <a:rPr lang="en-US" sz="3200">
                <a:solidFill>
                  <a:srgbClr val="BFBFBF"/>
                </a:solidFill>
              </a:rPr>
              <a:t>Transport-layer services</a:t>
            </a:r>
            <a:endParaRPr/>
          </a:p>
          <a:p>
            <a:pPr indent="-311150" lvl="0" marL="352425" rtl="0" algn="l">
              <a:spcBef>
                <a:spcPts val="800"/>
              </a:spcBef>
              <a:spcAft>
                <a:spcPts val="0"/>
              </a:spcAft>
              <a:buClr>
                <a:srgbClr val="BFBFBF"/>
              </a:buClr>
              <a:buSzPts val="3200"/>
              <a:buChar char="▪"/>
            </a:pPr>
            <a:r>
              <a:rPr lang="en-US" sz="3200">
                <a:solidFill>
                  <a:srgbClr val="BFBFBF"/>
                </a:solidFill>
              </a:rPr>
              <a:t>Principles of reliable data transfer </a:t>
            </a:r>
            <a:endParaRPr sz="3200"/>
          </a:p>
          <a:p>
            <a:pPr indent="-311150" lvl="0" marL="352425" rtl="0" algn="l">
              <a:lnSpc>
                <a:spcPct val="90000"/>
              </a:lnSpc>
              <a:spcBef>
                <a:spcPts val="0"/>
              </a:spcBef>
              <a:spcAft>
                <a:spcPts val="0"/>
              </a:spcAft>
              <a:buSzPts val="3200"/>
              <a:buChar char="▪"/>
            </a:pPr>
            <a:r>
              <a:rPr lang="en-US" sz="3200"/>
              <a:t>Connection-oriented transport: TCP</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segment structure</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a:p>
          <a:p>
            <a:pPr indent="-311150" lvl="0" marL="352425" rtl="0" algn="l">
              <a:spcBef>
                <a:spcPts val="800"/>
              </a:spcBef>
              <a:spcAft>
                <a:spcPts val="0"/>
              </a:spcAft>
              <a:buClr>
                <a:srgbClr val="BFBFBF"/>
              </a:buClr>
              <a:buSzPts val="3200"/>
              <a:buChar char="▪"/>
            </a:pPr>
            <a:r>
              <a:rPr lang="en-US" sz="3200">
                <a:solidFill>
                  <a:srgbClr val="BFBFBF"/>
                </a:solidFill>
              </a:rPr>
              <a:t>Principles of congestion control</a:t>
            </a:r>
            <a:endParaRPr/>
          </a:p>
          <a:p>
            <a:pPr indent="-311150" lvl="0" marL="352425" rtl="0" algn="l">
              <a:spcBef>
                <a:spcPts val="800"/>
              </a:spcBef>
              <a:spcAft>
                <a:spcPts val="0"/>
              </a:spcAft>
              <a:buClr>
                <a:srgbClr val="BFBFBF"/>
              </a:buClr>
              <a:buSzPts val="3200"/>
              <a:buChar char="▪"/>
            </a:pPr>
            <a:r>
              <a:rPr lang="en-US" sz="3200">
                <a:solidFill>
                  <a:srgbClr val="BFBFBF"/>
                </a:solidFill>
              </a:rPr>
              <a:t>TCP congestion control</a:t>
            </a:r>
            <a:endParaRPr sz="2400"/>
          </a:p>
        </p:txBody>
      </p:sp>
      <p:sp>
        <p:nvSpPr>
          <p:cNvPr id="70" name="Google Shape;70;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71" name="Google Shape;71;p12"/>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78" name="Google Shape;78;p13"/>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 name="Google Shape;79;p13"/>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 name="Google Shape;80;p13"/>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 name="Google Shape;81;p13"/>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82" name="Google Shape;82;p13"/>
          <p:cNvGrpSpPr/>
          <p:nvPr/>
        </p:nvGrpSpPr>
        <p:grpSpPr>
          <a:xfrm>
            <a:off x="8070672" y="2312058"/>
            <a:ext cx="1795463" cy="688975"/>
            <a:chOff x="1173" y="2345"/>
            <a:chExt cx="1131" cy="434"/>
          </a:xfrm>
        </p:grpSpPr>
        <p:sp>
          <p:nvSpPr>
            <p:cNvPr id="83" name="Google Shape;83;p13"/>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 name="Google Shape;84;p13"/>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85" name="Google Shape;85;p13"/>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86" name="Google Shape;86;p13"/>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87" name="Google Shape;87;p13"/>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88" name="Google Shape;88;p13"/>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89" name="Google Shape;89;p13"/>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90" name="Google Shape;90;p13"/>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91" name="Google Shape;91;p13"/>
          <p:cNvGrpSpPr/>
          <p:nvPr/>
        </p:nvGrpSpPr>
        <p:grpSpPr>
          <a:xfrm>
            <a:off x="8745360" y="2104096"/>
            <a:ext cx="533400" cy="206375"/>
            <a:chOff x="2003" y="1816"/>
            <a:chExt cx="336" cy="130"/>
          </a:xfrm>
        </p:grpSpPr>
        <p:sp>
          <p:nvSpPr>
            <p:cNvPr id="92" name="Google Shape;92;p13"/>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 name="Google Shape;93;p13"/>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 name="Google Shape;94;p13"/>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 name="Google Shape;95;p13"/>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6" name="Google Shape;96;p13"/>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97" name="Google Shape;97;p13"/>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98" name="Google Shape;98;p13"/>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99" name="Google Shape;99;p13"/>
          <p:cNvGrpSpPr/>
          <p:nvPr/>
        </p:nvGrpSpPr>
        <p:grpSpPr>
          <a:xfrm flipH="1">
            <a:off x="10523360" y="4590121"/>
            <a:ext cx="869950" cy="906462"/>
            <a:chOff x="-44" y="1473"/>
            <a:chExt cx="981" cy="1105"/>
          </a:xfrm>
        </p:grpSpPr>
        <p:pic>
          <p:nvPicPr>
            <p:cNvPr descr="desktop_computer_stylized_medium" id="100" name="Google Shape;100;p1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01" name="Google Shape;101;p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02" name="Google Shape;102;p13"/>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103" name="Google Shape;103;p13"/>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104" name="Google Shape;104;p13"/>
          <p:cNvGrpSpPr/>
          <p:nvPr/>
        </p:nvGrpSpPr>
        <p:grpSpPr>
          <a:xfrm>
            <a:off x="5189688" y="2806352"/>
            <a:ext cx="4533734" cy="2971623"/>
            <a:chOff x="5189688" y="2806352"/>
            <a:chExt cx="4533734" cy="2971623"/>
          </a:xfrm>
        </p:grpSpPr>
        <p:grpSp>
          <p:nvGrpSpPr>
            <p:cNvPr id="105" name="Google Shape;105;p13"/>
            <p:cNvGrpSpPr/>
            <p:nvPr/>
          </p:nvGrpSpPr>
          <p:grpSpPr>
            <a:xfrm>
              <a:off x="5189688" y="3080408"/>
              <a:ext cx="3750934" cy="2697567"/>
              <a:chOff x="4633274" y="3577949"/>
              <a:chExt cx="3750934" cy="2697567"/>
            </a:xfrm>
          </p:grpSpPr>
          <p:sp>
            <p:nvSpPr>
              <p:cNvPr id="106" name="Google Shape;106;p13"/>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07" name="Google Shape;107;p13"/>
              <p:cNvGrpSpPr/>
              <p:nvPr/>
            </p:nvGrpSpPr>
            <p:grpSpPr>
              <a:xfrm>
                <a:off x="7344839" y="5551212"/>
                <a:ext cx="1039369" cy="214398"/>
                <a:chOff x="7344839" y="5551212"/>
                <a:chExt cx="1039369" cy="214398"/>
              </a:xfrm>
            </p:grpSpPr>
            <p:sp>
              <p:nvSpPr>
                <p:cNvPr id="108" name="Google Shape;108;p13"/>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9" name="Google Shape;109;p13"/>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10" name="Google Shape;110;p13"/>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111" name="Google Shape;111;p13"/>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112" name="Google Shape;112;p13"/>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3" name="Google Shape;113;p13"/>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114" name="Google Shape;114;p13"/>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115" name="Google Shape;115;p13"/>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116" name="Google Shape;116;p13"/>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7" name="Google Shape;117;p13"/>
          <p:cNvGrpSpPr/>
          <p:nvPr/>
        </p:nvGrpSpPr>
        <p:grpSpPr>
          <a:xfrm>
            <a:off x="4989152" y="1607125"/>
            <a:ext cx="4984933" cy="885919"/>
            <a:chOff x="4989152" y="1607125"/>
            <a:chExt cx="4984933" cy="885919"/>
          </a:xfrm>
        </p:grpSpPr>
        <p:grpSp>
          <p:nvGrpSpPr>
            <p:cNvPr id="118" name="Google Shape;118;p13"/>
            <p:cNvGrpSpPr/>
            <p:nvPr/>
          </p:nvGrpSpPr>
          <p:grpSpPr>
            <a:xfrm>
              <a:off x="4989152" y="1652814"/>
              <a:ext cx="4984933" cy="840230"/>
              <a:chOff x="4432738" y="2150355"/>
              <a:chExt cx="4984933" cy="840230"/>
            </a:xfrm>
          </p:grpSpPr>
          <p:cxnSp>
            <p:nvCxnSpPr>
              <p:cNvPr id="119" name="Google Shape;119;p13"/>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120" name="Google Shape;120;p13"/>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121" name="Google Shape;121;p13"/>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2" name="Google Shape;122;p13"/>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3" name="Google Shape;123;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130" name="Google Shape;130;p14"/>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1" name="Google Shape;131;p14"/>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2" name="Google Shape;132;p14"/>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3" name="Google Shape;133;p14"/>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134" name="Google Shape;134;p14"/>
          <p:cNvGrpSpPr/>
          <p:nvPr/>
        </p:nvGrpSpPr>
        <p:grpSpPr>
          <a:xfrm>
            <a:off x="8070672" y="2312058"/>
            <a:ext cx="1795463" cy="688975"/>
            <a:chOff x="1173" y="2345"/>
            <a:chExt cx="1131" cy="434"/>
          </a:xfrm>
        </p:grpSpPr>
        <p:sp>
          <p:nvSpPr>
            <p:cNvPr id="135" name="Google Shape;135;p14"/>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 name="Google Shape;136;p14"/>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137" name="Google Shape;137;p14"/>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138" name="Google Shape;138;p14"/>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139" name="Google Shape;139;p14"/>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140" name="Google Shape;140;p14"/>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141" name="Google Shape;141;p14"/>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142" name="Google Shape;142;p14"/>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143" name="Google Shape;143;p14"/>
          <p:cNvGrpSpPr/>
          <p:nvPr/>
        </p:nvGrpSpPr>
        <p:grpSpPr>
          <a:xfrm>
            <a:off x="8745360" y="2104096"/>
            <a:ext cx="533400" cy="206375"/>
            <a:chOff x="2003" y="1816"/>
            <a:chExt cx="336" cy="130"/>
          </a:xfrm>
        </p:grpSpPr>
        <p:sp>
          <p:nvSpPr>
            <p:cNvPr id="144" name="Google Shape;144;p14"/>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 name="Google Shape;145;p14"/>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6" name="Google Shape;146;p14"/>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7" name="Google Shape;147;p14"/>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48" name="Google Shape;148;p14"/>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149" name="Google Shape;149;p14"/>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150" name="Google Shape;150;p14"/>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151" name="Google Shape;151;p14"/>
          <p:cNvGrpSpPr/>
          <p:nvPr/>
        </p:nvGrpSpPr>
        <p:grpSpPr>
          <a:xfrm flipH="1">
            <a:off x="10523360" y="4590121"/>
            <a:ext cx="869950" cy="906462"/>
            <a:chOff x="-44" y="1473"/>
            <a:chExt cx="981" cy="1105"/>
          </a:xfrm>
        </p:grpSpPr>
        <p:pic>
          <p:nvPicPr>
            <p:cNvPr descr="desktop_computer_stylized_medium" id="152" name="Google Shape;152;p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3" name="Google Shape;153;p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54" name="Google Shape;154;p14"/>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155" name="Google Shape;155;p14"/>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sp>
        <p:nvSpPr>
          <p:cNvPr id="156" name="Google Shape;156;p14"/>
          <p:cNvSpPr/>
          <p:nvPr/>
        </p:nvSpPr>
        <p:spPr>
          <a:xfrm>
            <a:off x="8211960" y="41218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57" name="Google Shape;157;p14"/>
          <p:cNvGrpSpPr/>
          <p:nvPr/>
        </p:nvGrpSpPr>
        <p:grpSpPr>
          <a:xfrm>
            <a:off x="7901253" y="5053671"/>
            <a:ext cx="1039369" cy="214398"/>
            <a:chOff x="7344839" y="5551212"/>
            <a:chExt cx="1039369" cy="214398"/>
          </a:xfrm>
        </p:grpSpPr>
        <p:sp>
          <p:nvSpPr>
            <p:cNvPr id="158" name="Google Shape;158;p14"/>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9" name="Google Shape;159;p14"/>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60" name="Google Shape;160;p14"/>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161" name="Google Shape;161;p14"/>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162" name="Google Shape;162;p14"/>
          <p:cNvSpPr/>
          <p:nvPr/>
        </p:nvSpPr>
        <p:spPr>
          <a:xfrm>
            <a:off x="8204022" y="30804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3" name="Google Shape;163;p14"/>
          <p:cNvSpPr txBox="1"/>
          <p:nvPr/>
        </p:nvSpPr>
        <p:spPr>
          <a:xfrm>
            <a:off x="7630935" y="5473175"/>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sp>
        <p:nvSpPr>
          <p:cNvPr id="164" name="Google Shape;164;p14"/>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65" name="Google Shape;165;p14"/>
          <p:cNvGrpSpPr/>
          <p:nvPr/>
        </p:nvGrpSpPr>
        <p:grpSpPr>
          <a:xfrm>
            <a:off x="4989152" y="1607125"/>
            <a:ext cx="4984933" cy="885919"/>
            <a:chOff x="4989152" y="1607125"/>
            <a:chExt cx="4984933" cy="885919"/>
          </a:xfrm>
        </p:grpSpPr>
        <p:grpSp>
          <p:nvGrpSpPr>
            <p:cNvPr id="166" name="Google Shape;166;p14"/>
            <p:cNvGrpSpPr/>
            <p:nvPr/>
          </p:nvGrpSpPr>
          <p:grpSpPr>
            <a:xfrm>
              <a:off x="4989152" y="1652814"/>
              <a:ext cx="4984933" cy="840230"/>
              <a:chOff x="4432738" y="2150355"/>
              <a:chExt cx="4984933" cy="840230"/>
            </a:xfrm>
          </p:grpSpPr>
          <p:cxnSp>
            <p:nvCxnSpPr>
              <p:cNvPr id="167" name="Google Shape;167;p14"/>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168" name="Google Shape;168;p14"/>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169" name="Google Shape;169;p14"/>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70" name="Google Shape;170;p14"/>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71" name="Google Shape;171;p14"/>
          <p:cNvGrpSpPr/>
          <p:nvPr/>
        </p:nvGrpSpPr>
        <p:grpSpPr>
          <a:xfrm>
            <a:off x="1111171" y="3426107"/>
            <a:ext cx="5034986" cy="2800562"/>
            <a:chOff x="4343173" y="1560062"/>
            <a:chExt cx="9034622" cy="4921250"/>
          </a:xfrm>
        </p:grpSpPr>
        <p:sp>
          <p:nvSpPr>
            <p:cNvPr id="172" name="Google Shape;172;p14"/>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173" name="Google Shape;173;p14"/>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174" name="Google Shape;174;p14"/>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175" name="Google Shape;175;p14"/>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76" name="Google Shape;176;p14"/>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77" name="Google Shape;177;p14"/>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178" name="Google Shape;178;p14"/>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79" name="Google Shape;179;p14"/>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180" name="Google Shape;180;p14"/>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grpSp>
          <p:nvGrpSpPr>
            <p:cNvPr id="181" name="Google Shape;181;p14"/>
            <p:cNvGrpSpPr/>
            <p:nvPr/>
          </p:nvGrpSpPr>
          <p:grpSpPr>
            <a:xfrm>
              <a:off x="6113100" y="2788385"/>
              <a:ext cx="7264695" cy="1048460"/>
              <a:chOff x="6113100" y="2788385"/>
              <a:chExt cx="7264695" cy="1048460"/>
            </a:xfrm>
          </p:grpSpPr>
          <p:sp>
            <p:nvSpPr>
              <p:cNvPr id="182" name="Google Shape;182;p14"/>
              <p:cNvSpPr txBox="1"/>
              <p:nvPr/>
            </p:nvSpPr>
            <p:spPr>
              <a:xfrm>
                <a:off x="6113100" y="2788385"/>
                <a:ext cx="2293763" cy="52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receive window</a:t>
                </a:r>
                <a:endParaRPr/>
              </a:p>
            </p:txBody>
          </p:sp>
          <p:sp>
            <p:nvSpPr>
              <p:cNvPr id="183" name="Google Shape;183;p14"/>
              <p:cNvSpPr txBox="1"/>
              <p:nvPr/>
            </p:nvSpPr>
            <p:spPr>
              <a:xfrm>
                <a:off x="8724899" y="2847114"/>
                <a:ext cx="4652896" cy="989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cxnSp>
            <p:nvCxnSpPr>
              <p:cNvPr id="184" name="Google Shape;184;p14"/>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cxnSp>
          <p:nvCxnSpPr>
            <p:cNvPr id="185" name="Google Shape;185;p14"/>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grpSp>
      <p:sp>
        <p:nvSpPr>
          <p:cNvPr id="186" name="Google Shape;186;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193" name="Google Shape;193;p15"/>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 name="Google Shape;194;p15"/>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 name="Google Shape;195;p15"/>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6" name="Google Shape;196;p15"/>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197" name="Google Shape;197;p15"/>
          <p:cNvGrpSpPr/>
          <p:nvPr/>
        </p:nvGrpSpPr>
        <p:grpSpPr>
          <a:xfrm>
            <a:off x="8070672" y="2312058"/>
            <a:ext cx="1795463" cy="688975"/>
            <a:chOff x="1173" y="2345"/>
            <a:chExt cx="1131" cy="434"/>
          </a:xfrm>
        </p:grpSpPr>
        <p:sp>
          <p:nvSpPr>
            <p:cNvPr id="198" name="Google Shape;198;p15"/>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9" name="Google Shape;199;p15"/>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200" name="Google Shape;200;p15"/>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201" name="Google Shape;201;p15"/>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202" name="Google Shape;202;p15"/>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203" name="Google Shape;203;p15"/>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204" name="Google Shape;204;p15"/>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205" name="Google Shape;205;p15"/>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206" name="Google Shape;206;p15"/>
          <p:cNvGrpSpPr/>
          <p:nvPr/>
        </p:nvGrpSpPr>
        <p:grpSpPr>
          <a:xfrm>
            <a:off x="8745360" y="2104096"/>
            <a:ext cx="533400" cy="206375"/>
            <a:chOff x="2003" y="1816"/>
            <a:chExt cx="336" cy="130"/>
          </a:xfrm>
        </p:grpSpPr>
        <p:sp>
          <p:nvSpPr>
            <p:cNvPr id="207" name="Google Shape;207;p15"/>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8" name="Google Shape;208;p15"/>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9" name="Google Shape;209;p15"/>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 name="Google Shape;210;p15"/>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1" name="Google Shape;211;p15"/>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212" name="Google Shape;212;p15"/>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213" name="Google Shape;213;p15"/>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214" name="Google Shape;214;p15"/>
          <p:cNvGrpSpPr/>
          <p:nvPr/>
        </p:nvGrpSpPr>
        <p:grpSpPr>
          <a:xfrm flipH="1">
            <a:off x="10523360" y="4590121"/>
            <a:ext cx="869950" cy="906462"/>
            <a:chOff x="-44" y="1473"/>
            <a:chExt cx="981" cy="1105"/>
          </a:xfrm>
        </p:grpSpPr>
        <p:pic>
          <p:nvPicPr>
            <p:cNvPr descr="desktop_computer_stylized_medium" id="215" name="Google Shape;215;p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16" name="Google Shape;216;p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7" name="Google Shape;217;p15"/>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grpSp>
        <p:nvGrpSpPr>
          <p:cNvPr id="218" name="Google Shape;218;p15"/>
          <p:cNvGrpSpPr/>
          <p:nvPr/>
        </p:nvGrpSpPr>
        <p:grpSpPr>
          <a:xfrm>
            <a:off x="756989" y="3535828"/>
            <a:ext cx="4164772" cy="1950572"/>
            <a:chOff x="363537" y="4127499"/>
            <a:chExt cx="4164772" cy="1950572"/>
          </a:xfrm>
        </p:grpSpPr>
        <p:sp>
          <p:nvSpPr>
            <p:cNvPr id="219" name="Google Shape;219;p15"/>
            <p:cNvSpPr/>
            <p:nvPr/>
          </p:nvSpPr>
          <p:spPr>
            <a:xfrm>
              <a:off x="363537" y="4397375"/>
              <a:ext cx="4134671" cy="1680696"/>
            </a:xfrm>
            <a:prstGeom prst="rect">
              <a:avLst/>
            </a:prstGeom>
            <a:solidFill>
              <a:srgbClr val="FFFFFF"/>
            </a:solidFill>
            <a:ln cap="flat" cmpd="sng" w="2857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0" name="Google Shape;220;p15"/>
            <p:cNvSpPr txBox="1"/>
            <p:nvPr/>
          </p:nvSpPr>
          <p:spPr>
            <a:xfrm>
              <a:off x="455613" y="4549775"/>
              <a:ext cx="4072696" cy="14219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controls sender, so sender won’t overflow receiver’s buffer by transmitting too much, too fast</a:t>
              </a:r>
              <a:endParaRPr b="0" i="0" sz="1050" u="none" cap="none" strike="noStrike">
                <a:solidFill>
                  <a:srgbClr val="000000"/>
                </a:solidFill>
                <a:latin typeface="Calibri"/>
                <a:ea typeface="Calibri"/>
                <a:cs typeface="Calibri"/>
                <a:sym typeface="Calibri"/>
              </a:endParaRPr>
            </a:p>
          </p:txBody>
        </p:sp>
        <p:grpSp>
          <p:nvGrpSpPr>
            <p:cNvPr id="221" name="Google Shape;221;p15"/>
            <p:cNvGrpSpPr/>
            <p:nvPr/>
          </p:nvGrpSpPr>
          <p:grpSpPr>
            <a:xfrm>
              <a:off x="551438" y="4127499"/>
              <a:ext cx="2003542" cy="523875"/>
              <a:chOff x="3327" y="230"/>
              <a:chExt cx="1176" cy="330"/>
            </a:xfrm>
          </p:grpSpPr>
          <p:sp>
            <p:nvSpPr>
              <p:cNvPr id="222" name="Google Shape;222;p15"/>
              <p:cNvSpPr/>
              <p:nvPr/>
            </p:nvSpPr>
            <p:spPr>
              <a:xfrm>
                <a:off x="3369" y="323"/>
                <a:ext cx="1134" cy="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3" name="Google Shape;223;p15"/>
              <p:cNvSpPr txBox="1"/>
              <p:nvPr/>
            </p:nvSpPr>
            <p:spPr>
              <a:xfrm>
                <a:off x="3327" y="230"/>
                <a:ext cx="1136"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flow control</a:t>
                </a:r>
                <a:endParaRPr/>
              </a:p>
            </p:txBody>
          </p:sp>
        </p:grpSp>
      </p:grpSp>
      <p:cxnSp>
        <p:nvCxnSpPr>
          <p:cNvPr id="224" name="Google Shape;224;p15"/>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225" name="Google Shape;225;p15"/>
          <p:cNvGrpSpPr/>
          <p:nvPr/>
        </p:nvGrpSpPr>
        <p:grpSpPr>
          <a:xfrm>
            <a:off x="7630935" y="2806352"/>
            <a:ext cx="2092487" cy="2971623"/>
            <a:chOff x="7630935" y="2806352"/>
            <a:chExt cx="2092487" cy="2971623"/>
          </a:xfrm>
        </p:grpSpPr>
        <p:grpSp>
          <p:nvGrpSpPr>
            <p:cNvPr id="226" name="Google Shape;226;p15"/>
            <p:cNvGrpSpPr/>
            <p:nvPr/>
          </p:nvGrpSpPr>
          <p:grpSpPr>
            <a:xfrm>
              <a:off x="7630935" y="3080408"/>
              <a:ext cx="1309687" cy="2697567"/>
              <a:chOff x="7074521" y="3577949"/>
              <a:chExt cx="1309687" cy="2697567"/>
            </a:xfrm>
          </p:grpSpPr>
          <p:sp>
            <p:nvSpPr>
              <p:cNvPr id="227" name="Google Shape;227;p15"/>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8" name="Google Shape;228;p15"/>
              <p:cNvGrpSpPr/>
              <p:nvPr/>
            </p:nvGrpSpPr>
            <p:grpSpPr>
              <a:xfrm>
                <a:off x="7344839" y="5551212"/>
                <a:ext cx="1039369" cy="214398"/>
                <a:chOff x="7344839" y="5551212"/>
                <a:chExt cx="1039369" cy="214398"/>
              </a:xfrm>
            </p:grpSpPr>
            <p:sp>
              <p:nvSpPr>
                <p:cNvPr id="229" name="Google Shape;229;p15"/>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0" name="Google Shape;230;p15"/>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31" name="Google Shape;231;p15"/>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232" name="Google Shape;232;p15"/>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233" name="Google Shape;233;p15"/>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 name="Google Shape;234;p15"/>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235" name="Google Shape;235;p15"/>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36" name="Google Shape;236;p15"/>
          <p:cNvGrpSpPr/>
          <p:nvPr/>
        </p:nvGrpSpPr>
        <p:grpSpPr>
          <a:xfrm>
            <a:off x="4989152" y="1607125"/>
            <a:ext cx="4984933" cy="885919"/>
            <a:chOff x="4989152" y="1607125"/>
            <a:chExt cx="4984933" cy="885919"/>
          </a:xfrm>
        </p:grpSpPr>
        <p:grpSp>
          <p:nvGrpSpPr>
            <p:cNvPr id="237" name="Google Shape;237;p15"/>
            <p:cNvGrpSpPr/>
            <p:nvPr/>
          </p:nvGrpSpPr>
          <p:grpSpPr>
            <a:xfrm>
              <a:off x="4989152" y="1652814"/>
              <a:ext cx="4984933" cy="840230"/>
              <a:chOff x="4432738" y="2150355"/>
              <a:chExt cx="4984933" cy="840230"/>
            </a:xfrm>
          </p:grpSpPr>
          <p:cxnSp>
            <p:nvCxnSpPr>
              <p:cNvPr id="238" name="Google Shape;238;p15"/>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239" name="Google Shape;239;p15"/>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240" name="Google Shape;240;p15"/>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41" name="Google Shape;241;p15"/>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42" name="Google Shape;242;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249" name="Google Shape;249;p16"/>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250" name="Google Shape;250;p16"/>
          <p:cNvGrpSpPr/>
          <p:nvPr/>
        </p:nvGrpSpPr>
        <p:grpSpPr>
          <a:xfrm>
            <a:off x="8147517" y="2351087"/>
            <a:ext cx="2578100" cy="2155825"/>
            <a:chOff x="512" y="1294"/>
            <a:chExt cx="1888" cy="1358"/>
          </a:xfrm>
        </p:grpSpPr>
        <p:grpSp>
          <p:nvGrpSpPr>
            <p:cNvPr id="251" name="Google Shape;251;p16"/>
            <p:cNvGrpSpPr/>
            <p:nvPr/>
          </p:nvGrpSpPr>
          <p:grpSpPr>
            <a:xfrm>
              <a:off x="1232" y="1410"/>
              <a:ext cx="336" cy="130"/>
              <a:chOff x="2003" y="1816"/>
              <a:chExt cx="336" cy="130"/>
            </a:xfrm>
          </p:grpSpPr>
          <p:sp>
            <p:nvSpPr>
              <p:cNvPr id="252" name="Google Shape;252;p16"/>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3" name="Google Shape;253;p16"/>
              <p:cNvSpPr/>
              <p:nvPr/>
            </p:nvSpPr>
            <p:spPr>
              <a:xfrm>
                <a:off x="2105" y="1833"/>
                <a:ext cx="108"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4" name="Google Shape;254;p16"/>
              <p:cNvSpPr/>
              <p:nvPr/>
            </p:nvSpPr>
            <p:spPr>
              <a:xfrm>
                <a:off x="2228" y="1891"/>
                <a:ext cx="28"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5" name="Google Shape;255;p16"/>
              <p:cNvSpPr/>
              <p:nvPr/>
            </p:nvSpPr>
            <p:spPr>
              <a:xfrm>
                <a:off x="2056"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56" name="Google Shape;256;p16"/>
            <p:cNvSpPr/>
            <p:nvPr/>
          </p:nvSpPr>
          <p:spPr>
            <a:xfrm>
              <a:off x="526" y="1522"/>
              <a:ext cx="1871" cy="896"/>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57" name="Google Shape;257;p16"/>
            <p:cNvCxnSpPr/>
            <p:nvPr/>
          </p:nvCxnSpPr>
          <p:spPr>
            <a:xfrm>
              <a:off x="512" y="1863"/>
              <a:ext cx="1885" cy="0"/>
            </a:xfrm>
            <a:prstGeom prst="straightConnector1">
              <a:avLst/>
            </a:prstGeom>
            <a:noFill/>
            <a:ln cap="flat" cmpd="sng" w="9525">
              <a:solidFill>
                <a:srgbClr val="000000"/>
              </a:solidFill>
              <a:prstDash val="solid"/>
              <a:round/>
              <a:headEnd len="med" w="med" type="none"/>
              <a:tailEnd len="med" w="med" type="none"/>
            </a:ln>
          </p:spPr>
        </p:cxnSp>
        <p:sp>
          <p:nvSpPr>
            <p:cNvPr id="258" name="Google Shape;258;p16"/>
            <p:cNvSpPr/>
            <p:nvPr/>
          </p:nvSpPr>
          <p:spPr>
            <a:xfrm>
              <a:off x="1310" y="129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descr="Dark upward diagonal" id="259" name="Google Shape;259;p16"/>
            <p:cNvSpPr/>
            <p:nvPr/>
          </p:nvSpPr>
          <p:spPr>
            <a:xfrm>
              <a:off x="534" y="1856"/>
              <a:ext cx="1848" cy="55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 name="Google Shape;260;p16"/>
            <p:cNvSpPr/>
            <p:nvPr/>
          </p:nvSpPr>
          <p:spPr>
            <a:xfrm>
              <a:off x="1312" y="236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1" name="Google Shape;261;p16"/>
            <p:cNvSpPr txBox="1"/>
            <p:nvPr/>
          </p:nvSpPr>
          <p:spPr>
            <a:xfrm>
              <a:off x="814" y="1568"/>
              <a:ext cx="1243"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000"/>
                <a:buFont typeface="Tahoma"/>
                <a:buNone/>
              </a:pPr>
              <a:r>
                <a:rPr b="0" i="0" lang="en-US" sz="2000" u="none" cap="none" strike="noStrike">
                  <a:solidFill>
                    <a:srgbClr val="FFFFFF"/>
                  </a:solidFill>
                  <a:latin typeface="Tahoma"/>
                  <a:ea typeface="Tahoma"/>
                  <a:cs typeface="Tahoma"/>
                  <a:sym typeface="Tahoma"/>
                </a:rPr>
                <a:t>buffered data</a:t>
              </a:r>
              <a:endParaRPr/>
            </a:p>
          </p:txBody>
        </p:sp>
        <p:cxnSp>
          <p:nvCxnSpPr>
            <p:cNvPr id="262" name="Google Shape;262;p16"/>
            <p:cNvCxnSpPr/>
            <p:nvPr/>
          </p:nvCxnSpPr>
          <p:spPr>
            <a:xfrm>
              <a:off x="522" y="1857"/>
              <a:ext cx="1878" cy="7"/>
            </a:xfrm>
            <a:prstGeom prst="straightConnector1">
              <a:avLst/>
            </a:prstGeom>
            <a:noFill/>
            <a:ln cap="flat" cmpd="sng" w="28575">
              <a:solidFill>
                <a:srgbClr val="000000"/>
              </a:solidFill>
              <a:prstDash val="solid"/>
              <a:round/>
              <a:headEnd len="med" w="med" type="none"/>
              <a:tailEnd len="med" w="med" type="none"/>
            </a:ln>
          </p:spPr>
        </p:cxnSp>
        <p:sp>
          <p:nvSpPr>
            <p:cNvPr id="263" name="Google Shape;263;p16"/>
            <p:cNvSpPr txBox="1"/>
            <p:nvPr/>
          </p:nvSpPr>
          <p:spPr>
            <a:xfrm>
              <a:off x="653" y="2020"/>
              <a:ext cx="152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free buffer space</a:t>
              </a:r>
              <a:endParaRPr/>
            </a:p>
          </p:txBody>
        </p:sp>
      </p:grpSp>
      <p:sp>
        <p:nvSpPr>
          <p:cNvPr id="264" name="Google Shape;264;p16"/>
          <p:cNvSpPr txBox="1"/>
          <p:nvPr/>
        </p:nvSpPr>
        <p:spPr>
          <a:xfrm>
            <a:off x="7260104" y="3495674"/>
            <a:ext cx="673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rwnd</a:t>
            </a:r>
            <a:endParaRPr/>
          </a:p>
        </p:txBody>
      </p:sp>
      <p:cxnSp>
        <p:nvCxnSpPr>
          <p:cNvPr id="265" name="Google Shape;265;p16"/>
          <p:cNvCxnSpPr/>
          <p:nvPr/>
        </p:nvCxnSpPr>
        <p:spPr>
          <a:xfrm>
            <a:off x="7771279" y="3228974"/>
            <a:ext cx="0" cy="322263"/>
          </a:xfrm>
          <a:prstGeom prst="straightConnector1">
            <a:avLst/>
          </a:prstGeom>
          <a:noFill/>
          <a:ln cap="flat" cmpd="sng" w="9525">
            <a:solidFill>
              <a:srgbClr val="000000"/>
            </a:solidFill>
            <a:prstDash val="solid"/>
            <a:round/>
            <a:headEnd len="med" w="med" type="triangle"/>
            <a:tailEnd len="med" w="med" type="none"/>
          </a:ln>
        </p:spPr>
      </p:cxnSp>
      <p:cxnSp>
        <p:nvCxnSpPr>
          <p:cNvPr id="266" name="Google Shape;266;p16"/>
          <p:cNvCxnSpPr/>
          <p:nvPr/>
        </p:nvCxnSpPr>
        <p:spPr>
          <a:xfrm rot="10800000">
            <a:off x="7771279" y="3754437"/>
            <a:ext cx="0" cy="322262"/>
          </a:xfrm>
          <a:prstGeom prst="straightConnector1">
            <a:avLst/>
          </a:prstGeom>
          <a:noFill/>
          <a:ln cap="flat" cmpd="sng" w="9525">
            <a:solidFill>
              <a:srgbClr val="000000"/>
            </a:solidFill>
            <a:prstDash val="solid"/>
            <a:round/>
            <a:headEnd len="med" w="med" type="triangle"/>
            <a:tailEnd len="med" w="med" type="none"/>
          </a:ln>
        </p:spPr>
      </p:cxnSp>
      <p:cxnSp>
        <p:nvCxnSpPr>
          <p:cNvPr id="267" name="Google Shape;267;p16"/>
          <p:cNvCxnSpPr/>
          <p:nvPr/>
        </p:nvCxnSpPr>
        <p:spPr>
          <a:xfrm>
            <a:off x="7617292" y="4086224"/>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268" name="Google Shape;268;p16"/>
          <p:cNvCxnSpPr/>
          <p:nvPr/>
        </p:nvCxnSpPr>
        <p:spPr>
          <a:xfrm>
            <a:off x="7666504" y="3217862"/>
            <a:ext cx="196850" cy="0"/>
          </a:xfrm>
          <a:prstGeom prst="straightConnector1">
            <a:avLst/>
          </a:prstGeom>
          <a:noFill/>
          <a:ln cap="flat" cmpd="sng" w="19050">
            <a:solidFill>
              <a:srgbClr val="000000"/>
            </a:solidFill>
            <a:prstDash val="solid"/>
            <a:round/>
            <a:headEnd len="med" w="med" type="none"/>
            <a:tailEnd len="med" w="med" type="none"/>
          </a:ln>
        </p:spPr>
      </p:cxnSp>
      <p:cxnSp>
        <p:nvCxnSpPr>
          <p:cNvPr id="269" name="Google Shape;269;p16"/>
          <p:cNvCxnSpPr/>
          <p:nvPr/>
        </p:nvCxnSpPr>
        <p:spPr>
          <a:xfrm>
            <a:off x="7639517" y="2692399"/>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270" name="Google Shape;270;p16"/>
          <p:cNvCxnSpPr/>
          <p:nvPr/>
        </p:nvCxnSpPr>
        <p:spPr>
          <a:xfrm>
            <a:off x="8028454" y="2697162"/>
            <a:ext cx="0" cy="177800"/>
          </a:xfrm>
          <a:prstGeom prst="straightConnector1">
            <a:avLst/>
          </a:prstGeom>
          <a:noFill/>
          <a:ln cap="flat" cmpd="sng" w="9525">
            <a:solidFill>
              <a:srgbClr val="000000"/>
            </a:solidFill>
            <a:prstDash val="solid"/>
            <a:round/>
            <a:headEnd len="med" w="med" type="triangle"/>
            <a:tailEnd len="med" w="med" type="none"/>
          </a:ln>
        </p:spPr>
      </p:cxnSp>
      <p:cxnSp>
        <p:nvCxnSpPr>
          <p:cNvPr id="271" name="Google Shape;271;p16"/>
          <p:cNvCxnSpPr/>
          <p:nvPr/>
        </p:nvCxnSpPr>
        <p:spPr>
          <a:xfrm>
            <a:off x="8026867" y="3121024"/>
            <a:ext cx="0" cy="954088"/>
          </a:xfrm>
          <a:prstGeom prst="straightConnector1">
            <a:avLst/>
          </a:prstGeom>
          <a:noFill/>
          <a:ln cap="flat" cmpd="sng" w="9525">
            <a:solidFill>
              <a:srgbClr val="000000"/>
            </a:solidFill>
            <a:prstDash val="solid"/>
            <a:round/>
            <a:headEnd len="med" w="med" type="none"/>
            <a:tailEnd len="med" w="med" type="triangle"/>
          </a:ln>
        </p:spPr>
      </p:cxnSp>
      <p:sp>
        <p:nvSpPr>
          <p:cNvPr id="272" name="Google Shape;272;p16"/>
          <p:cNvSpPr txBox="1"/>
          <p:nvPr/>
        </p:nvSpPr>
        <p:spPr>
          <a:xfrm>
            <a:off x="6766375" y="2857500"/>
            <a:ext cx="13923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RcvBuffer</a:t>
            </a:r>
            <a:endParaRPr/>
          </a:p>
        </p:txBody>
      </p:sp>
      <p:sp>
        <p:nvSpPr>
          <p:cNvPr id="273" name="Google Shape;273;p16"/>
          <p:cNvSpPr txBox="1"/>
          <p:nvPr/>
        </p:nvSpPr>
        <p:spPr>
          <a:xfrm>
            <a:off x="8152610" y="4486274"/>
            <a:ext cx="252505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 segment payloads</a:t>
            </a:r>
            <a:endParaRPr/>
          </a:p>
        </p:txBody>
      </p:sp>
      <p:sp>
        <p:nvSpPr>
          <p:cNvPr id="274" name="Google Shape;274;p16"/>
          <p:cNvSpPr txBox="1"/>
          <p:nvPr/>
        </p:nvSpPr>
        <p:spPr>
          <a:xfrm>
            <a:off x="8203635" y="1985962"/>
            <a:ext cx="247856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to application process</a:t>
            </a:r>
            <a:endParaRPr/>
          </a:p>
        </p:txBody>
      </p:sp>
      <p:sp>
        <p:nvSpPr>
          <p:cNvPr id="275" name="Google Shape;275;p16"/>
          <p:cNvSpPr txBox="1"/>
          <p:nvPr/>
        </p:nvSpPr>
        <p:spPr>
          <a:xfrm>
            <a:off x="7554658" y="5138737"/>
            <a:ext cx="356379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receiver-side buffering</a:t>
            </a:r>
            <a:endParaRPr/>
          </a:p>
        </p:txBody>
      </p:sp>
      <p:sp>
        <p:nvSpPr>
          <p:cNvPr id="276" name="Google Shape;276;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283" name="Google Shape;283;p17"/>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284" name="Google Shape;284;p17"/>
          <p:cNvGrpSpPr/>
          <p:nvPr/>
        </p:nvGrpSpPr>
        <p:grpSpPr>
          <a:xfrm>
            <a:off x="7363745" y="1068614"/>
            <a:ext cx="4349284" cy="5165818"/>
            <a:chOff x="7334716" y="821871"/>
            <a:chExt cx="4349284" cy="5165818"/>
          </a:xfrm>
        </p:grpSpPr>
        <p:sp>
          <p:nvSpPr>
            <p:cNvPr id="285" name="Google Shape;285;p17"/>
            <p:cNvSpPr txBox="1"/>
            <p:nvPr/>
          </p:nvSpPr>
          <p:spPr>
            <a:xfrm>
              <a:off x="7334716" y="821871"/>
              <a:ext cx="4349284"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grpSp>
          <p:nvGrpSpPr>
            <p:cNvPr id="286" name="Google Shape;286;p17"/>
            <p:cNvGrpSpPr/>
            <p:nvPr/>
          </p:nvGrpSpPr>
          <p:grpSpPr>
            <a:xfrm>
              <a:off x="7490842" y="1445945"/>
              <a:ext cx="3173211" cy="4078555"/>
              <a:chOff x="7157014" y="1873079"/>
              <a:chExt cx="2251592" cy="2800562"/>
            </a:xfrm>
          </p:grpSpPr>
          <p:sp>
            <p:nvSpPr>
              <p:cNvPr id="287" name="Google Shape;287;p17"/>
              <p:cNvSpPr/>
              <p:nvPr/>
            </p:nvSpPr>
            <p:spPr>
              <a:xfrm>
                <a:off x="7206558" y="1873079"/>
                <a:ext cx="2202048" cy="274545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288" name="Google Shape;288;p17"/>
              <p:cNvSpPr/>
              <p:nvPr/>
            </p:nvSpPr>
            <p:spPr>
              <a:xfrm>
                <a:off x="7158783" y="1939027"/>
                <a:ext cx="2202048" cy="2734614"/>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289" name="Google Shape;289;p17"/>
              <p:cNvCxnSpPr/>
              <p:nvPr/>
            </p:nvCxnSpPr>
            <p:spPr>
              <a:xfrm>
                <a:off x="7160553" y="2152232"/>
                <a:ext cx="2199395" cy="2711"/>
              </a:xfrm>
              <a:prstGeom prst="straightConnector1">
                <a:avLst/>
              </a:prstGeom>
              <a:noFill/>
              <a:ln cap="flat" cmpd="sng" w="19050">
                <a:solidFill>
                  <a:srgbClr val="000000"/>
                </a:solidFill>
                <a:prstDash val="solid"/>
                <a:round/>
                <a:headEnd len="med" w="med" type="none"/>
                <a:tailEnd len="med" w="med" type="none"/>
              </a:ln>
            </p:spPr>
          </p:cxnSp>
          <p:cxnSp>
            <p:nvCxnSpPr>
              <p:cNvPr id="290" name="Google Shape;290;p17"/>
              <p:cNvCxnSpPr/>
              <p:nvPr/>
            </p:nvCxnSpPr>
            <p:spPr>
              <a:xfrm>
                <a:off x="7157014" y="236814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291" name="Google Shape;291;p17"/>
              <p:cNvCxnSpPr/>
              <p:nvPr/>
            </p:nvCxnSpPr>
            <p:spPr>
              <a:xfrm>
                <a:off x="7162322" y="2584964"/>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292" name="Google Shape;292;p17"/>
              <p:cNvCxnSpPr/>
              <p:nvPr/>
            </p:nvCxnSpPr>
            <p:spPr>
              <a:xfrm>
                <a:off x="7159668" y="2809912"/>
                <a:ext cx="2202049" cy="0"/>
              </a:xfrm>
              <a:prstGeom prst="straightConnector1">
                <a:avLst/>
              </a:prstGeom>
              <a:noFill/>
              <a:ln cap="flat" cmpd="sng" w="19050">
                <a:solidFill>
                  <a:srgbClr val="000000"/>
                </a:solidFill>
                <a:prstDash val="solid"/>
                <a:round/>
                <a:headEnd len="med" w="med" type="none"/>
                <a:tailEnd len="med" w="med" type="none"/>
              </a:ln>
            </p:spPr>
          </p:cxnSp>
          <p:cxnSp>
            <p:nvCxnSpPr>
              <p:cNvPr id="293" name="Google Shape;293;p17"/>
              <p:cNvCxnSpPr/>
              <p:nvPr/>
            </p:nvCxnSpPr>
            <p:spPr>
              <a:xfrm>
                <a:off x="7157014" y="3032150"/>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294" name="Google Shape;294;p17"/>
              <p:cNvCxnSpPr/>
              <p:nvPr/>
            </p:nvCxnSpPr>
            <p:spPr>
              <a:xfrm>
                <a:off x="7157014" y="335195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295" name="Google Shape;295;p17"/>
              <p:cNvCxnSpPr/>
              <p:nvPr/>
            </p:nvCxnSpPr>
            <p:spPr>
              <a:xfrm rot="10800000">
                <a:off x="8249633" y="2586771"/>
                <a:ext cx="2654" cy="442669"/>
              </a:xfrm>
              <a:prstGeom prst="straightConnector1">
                <a:avLst/>
              </a:prstGeom>
              <a:noFill/>
              <a:ln cap="flat" cmpd="sng" w="19050">
                <a:solidFill>
                  <a:srgbClr val="000000"/>
                </a:solidFill>
                <a:prstDash val="solid"/>
                <a:round/>
                <a:headEnd len="med" w="med" type="none"/>
                <a:tailEnd len="med" w="med" type="none"/>
              </a:ln>
            </p:spPr>
          </p:cxnSp>
          <p:sp>
            <p:nvSpPr>
              <p:cNvPr id="296" name="Google Shape;296;p17"/>
              <p:cNvSpPr txBox="1"/>
              <p:nvPr/>
            </p:nvSpPr>
            <p:spPr>
              <a:xfrm>
                <a:off x="8220544" y="2572087"/>
                <a:ext cx="1124010" cy="2324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 window</a:t>
                </a:r>
                <a:endParaRPr/>
              </a:p>
            </p:txBody>
          </p:sp>
          <p:cxnSp>
            <p:nvCxnSpPr>
              <p:cNvPr id="297" name="Google Shape;297;p17"/>
              <p:cNvCxnSpPr/>
              <p:nvPr/>
            </p:nvCxnSpPr>
            <p:spPr>
              <a:xfrm rot="10800000">
                <a:off x="8241671" y="1940977"/>
                <a:ext cx="981" cy="207817"/>
              </a:xfrm>
              <a:prstGeom prst="straightConnector1">
                <a:avLst/>
              </a:prstGeom>
              <a:noFill/>
              <a:ln cap="flat" cmpd="sng" w="19050">
                <a:solidFill>
                  <a:srgbClr val="000000"/>
                </a:solidFill>
                <a:prstDash val="solid"/>
                <a:round/>
                <a:headEnd len="med" w="med" type="none"/>
                <a:tailEnd len="med" w="med" type="none"/>
              </a:ln>
            </p:spPr>
          </p:cxnSp>
        </p:grpSp>
        <p:cxnSp>
          <p:nvCxnSpPr>
            <p:cNvPr id="298" name="Google Shape;298;p17"/>
            <p:cNvCxnSpPr/>
            <p:nvPr/>
          </p:nvCxnSpPr>
          <p:spPr>
            <a:xfrm rot="10800000">
              <a:off x="7968285" y="1150408"/>
              <a:ext cx="1233771" cy="1404106"/>
            </a:xfrm>
            <a:prstGeom prst="straightConnector1">
              <a:avLst/>
            </a:prstGeom>
            <a:noFill/>
            <a:ln cap="flat" cmpd="sng" w="19050">
              <a:solidFill>
                <a:srgbClr val="C00000"/>
              </a:solidFill>
              <a:prstDash val="solid"/>
              <a:round/>
              <a:headEnd len="med" w="med" type="none"/>
              <a:tailEnd len="med" w="med" type="none"/>
            </a:ln>
          </p:spPr>
        </p:cxnSp>
        <p:sp>
          <p:nvSpPr>
            <p:cNvPr id="299" name="Google Shape;299;p17"/>
            <p:cNvSpPr txBox="1"/>
            <p:nvPr/>
          </p:nvSpPr>
          <p:spPr>
            <a:xfrm>
              <a:off x="8125744" y="5646057"/>
              <a:ext cx="2310027"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 segment format</a:t>
              </a:r>
              <a:endParaRPr/>
            </a:p>
          </p:txBody>
        </p:sp>
      </p:grpSp>
      <p:sp>
        <p:nvSpPr>
          <p:cNvPr id="300" name="Google Shape;300;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8"/>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07" name="Google Shape;307;p18"/>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08" name="Google Shape;308;p18"/>
          <p:cNvSpPr txBox="1"/>
          <p:nvPr/>
        </p:nvSpPr>
        <p:spPr>
          <a:xfrm>
            <a:off x="304800" y="355600"/>
            <a:ext cx="11624700" cy="646500"/>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a:t>
            </a:r>
            <a:r>
              <a:rPr b="1" i="0" lang="en-US" sz="3600" u="none">
                <a:solidFill>
                  <a:schemeClr val="lt1"/>
                </a:solidFill>
                <a:latin typeface="Times"/>
                <a:ea typeface="Times"/>
                <a:cs typeface="Times"/>
                <a:sym typeface="Times"/>
              </a:rPr>
              <a:t>-6  </a:t>
            </a:r>
            <a:r>
              <a:rPr b="1" i="0" lang="en-US" sz="3600" u="none">
                <a:solidFill>
                  <a:schemeClr val="lt1"/>
                </a:solidFill>
                <a:latin typeface="Times"/>
                <a:ea typeface="Times"/>
                <a:cs typeface="Times"/>
                <a:sym typeface="Times"/>
              </a:rPr>
              <a:t>WINDOWS  IN TCP</a:t>
            </a:r>
            <a:endParaRPr/>
          </a:p>
        </p:txBody>
      </p:sp>
      <p:sp>
        <p:nvSpPr>
          <p:cNvPr id="309" name="Google Shape;309;p18"/>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10" name="Google Shape;310;p18"/>
          <p:cNvSpPr txBox="1"/>
          <p:nvPr/>
        </p:nvSpPr>
        <p:spPr>
          <a:xfrm>
            <a:off x="228600" y="1371600"/>
            <a:ext cx="11696700" cy="354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lang="en-US" sz="2800">
                <a:solidFill>
                  <a:schemeClr val="dk1"/>
                </a:solidFill>
                <a:latin typeface="Calibri"/>
                <a:ea typeface="Calibri"/>
                <a:cs typeface="Calibri"/>
                <a:sym typeface="Calibri"/>
              </a:rPr>
              <a:t>T</a:t>
            </a:r>
            <a:r>
              <a:rPr b="1" i="0" lang="en-US" sz="2800" u="none">
                <a:solidFill>
                  <a:schemeClr val="dk1"/>
                </a:solidFill>
                <a:latin typeface="Calibri"/>
                <a:ea typeface="Calibri"/>
                <a:cs typeface="Calibri"/>
                <a:sym typeface="Calibri"/>
              </a:rPr>
              <a:t>CP uses two windows (send window and receive window) for each direction of data transfer, which means four windows for a bidirectional communication. </a:t>
            </a:r>
            <a:endParaRPr b="1" i="0" sz="2800" u="non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800"/>
              <a:buFont typeface="Arimo"/>
              <a:buNone/>
            </a:pPr>
            <a:r>
              <a:t/>
            </a:r>
            <a:endParaRPr b="1" sz="2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800"/>
              <a:buFont typeface="Arimo"/>
              <a:buNone/>
            </a:pPr>
            <a:r>
              <a:t/>
            </a:r>
            <a:endParaRPr b="1" sz="2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Calibri"/>
                <a:ea typeface="Calibri"/>
                <a:cs typeface="Calibri"/>
                <a:sym typeface="Calibri"/>
              </a:rPr>
              <a:t>To make the discussion simple, we make an assumption that communication is only unidirectional; the bidirectional communication can be inferred using two unidirectional communications with piggybacking.</a:t>
            </a:r>
            <a:endParaRPr b="1">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315" name="Shape 315"/>
        <p:cNvGrpSpPr/>
        <p:nvPr/>
      </p:nvGrpSpPr>
      <p:grpSpPr>
        <a:xfrm>
          <a:off x="0" y="0"/>
          <a:ext cx="0" cy="0"/>
          <a:chOff x="0" y="0"/>
          <a:chExt cx="0" cy="0"/>
        </a:xfrm>
      </p:grpSpPr>
      <p:sp>
        <p:nvSpPr>
          <p:cNvPr id="316" name="Google Shape;316;p19"/>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17" name="Google Shape;317;p19"/>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18" name="Google Shape;318;p19"/>
          <p:cNvSpPr txBox="1"/>
          <p:nvPr/>
        </p:nvSpPr>
        <p:spPr>
          <a:xfrm>
            <a:off x="304800" y="152400"/>
            <a:ext cx="7292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319" name="Google Shape;319;p19"/>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20" name="Google Shape;320;p19"/>
          <p:cNvSpPr txBox="1"/>
          <p:nvPr/>
        </p:nvSpPr>
        <p:spPr>
          <a:xfrm>
            <a:off x="406400" y="989012"/>
            <a:ext cx="11175900" cy="11727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Send Window</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Receive Window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0"/>
                                        <p:tgtEl>
                                          <p:spTgt spid="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0"/>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27" name="Google Shape;327;p20"/>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28" name="Google Shape;328;p20"/>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15.22</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Send window in TCP</a:t>
            </a:r>
            <a:endParaRPr/>
          </a:p>
        </p:txBody>
      </p:sp>
      <p:sp>
        <p:nvSpPr>
          <p:cNvPr id="329" name="Google Shape;329;p20"/>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0" name="Google Shape;330;p20"/>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1" name="Google Shape;331;p20"/>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2" name="Google Shape;332;p20"/>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3" name="Google Shape;333;p20"/>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4" name="Google Shape;334;p20"/>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5" name="Google Shape;335;p20"/>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336" name="Google Shape;336;p20"/>
          <p:cNvPicPr preferRelativeResize="0"/>
          <p:nvPr/>
        </p:nvPicPr>
        <p:blipFill rotWithShape="1">
          <a:blip r:embed="rId3">
            <a:alphaModFix/>
          </a:blip>
          <a:srcRect b="0" l="0" r="0" t="0"/>
          <a:stretch/>
        </p:blipFill>
        <p:spPr>
          <a:xfrm>
            <a:off x="1094325" y="590550"/>
            <a:ext cx="10243203" cy="3226250"/>
          </a:xfrm>
          <a:prstGeom prst="rect">
            <a:avLst/>
          </a:prstGeom>
          <a:noFill/>
          <a:ln>
            <a:noFill/>
          </a:ln>
        </p:spPr>
      </p:pic>
      <p:pic>
        <p:nvPicPr>
          <p:cNvPr id="337" name="Google Shape;337;p20"/>
          <p:cNvPicPr preferRelativeResize="0"/>
          <p:nvPr/>
        </p:nvPicPr>
        <p:blipFill rotWithShape="1">
          <a:blip r:embed="rId4">
            <a:alphaModFix/>
          </a:blip>
          <a:srcRect b="0" l="0" r="0" t="0"/>
          <a:stretch/>
        </p:blipFill>
        <p:spPr>
          <a:xfrm>
            <a:off x="1565017" y="4190586"/>
            <a:ext cx="9890181" cy="22030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6"/>
                                        </p:tgtEl>
                                        <p:attrNameLst>
                                          <p:attrName>style.visibility</p:attrName>
                                        </p:attrNameLst>
                                      </p:cBhvr>
                                      <p:to>
                                        <p:strVal val="visible"/>
                                      </p:to>
                                    </p:set>
                                    <p:anim calcmode="lin" valueType="num">
                                      <p:cBhvr additive="base">
                                        <p:cTn dur="500"/>
                                        <p:tgtEl>
                                          <p:spTgt spid="336"/>
                                        </p:tgtEl>
                                        <p:attrNameLst>
                                          <p:attrName>ppt_w</p:attrName>
                                        </p:attrNameLst>
                                      </p:cBhvr>
                                      <p:tavLst>
                                        <p:tav fmla="" tm="0">
                                          <p:val>
                                            <p:strVal val="0"/>
                                          </p:val>
                                        </p:tav>
                                        <p:tav fmla="" tm="100000">
                                          <p:val>
                                            <p:strVal val="#ppt_w"/>
                                          </p:val>
                                        </p:tav>
                                      </p:tavLst>
                                    </p:anim>
                                    <p:anim calcmode="lin" valueType="num">
                                      <p:cBhvr additive="base">
                                        <p:cTn dur="500"/>
                                        <p:tgtEl>
                                          <p:spTgt spid="33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7"/>
                                        </p:tgtEl>
                                        <p:attrNameLst>
                                          <p:attrName>style.visibility</p:attrName>
                                        </p:attrNameLst>
                                      </p:cBhvr>
                                      <p:to>
                                        <p:strVal val="visible"/>
                                      </p:to>
                                    </p:set>
                                    <p:anim calcmode="lin" valueType="num">
                                      <p:cBhvr additive="base">
                                        <p:cTn dur="500"/>
                                        <p:tgtEl>
                                          <p:spTgt spid="337"/>
                                        </p:tgtEl>
                                        <p:attrNameLst>
                                          <p:attrName>ppt_w</p:attrName>
                                        </p:attrNameLst>
                                      </p:cBhvr>
                                      <p:tavLst>
                                        <p:tav fmla="" tm="0">
                                          <p:val>
                                            <p:strVal val="0"/>
                                          </p:val>
                                        </p:tav>
                                        <p:tav fmla="" tm="100000">
                                          <p:val>
                                            <p:strVal val="#ppt_w"/>
                                          </p:val>
                                        </p:tav>
                                      </p:tavLst>
                                    </p:anim>
                                    <p:anim calcmode="lin" valueType="num">
                                      <p:cBhvr additive="base">
                                        <p:cTn dur="500"/>
                                        <p:tgtEl>
                                          <p:spTgt spid="33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1"/>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44" name="Google Shape;344;p21"/>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45" name="Google Shape;345;p21"/>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15.23</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Receive window in TCP</a:t>
            </a:r>
            <a:endParaRPr/>
          </a:p>
        </p:txBody>
      </p:sp>
      <p:sp>
        <p:nvSpPr>
          <p:cNvPr id="346" name="Google Shape;346;p21"/>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7" name="Google Shape;347;p21"/>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8" name="Google Shape;348;p21"/>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9" name="Google Shape;349;p21"/>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50" name="Google Shape;350;p21"/>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51" name="Google Shape;351;p21"/>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52" name="Google Shape;352;p21"/>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353" name="Google Shape;353;p21"/>
          <p:cNvPicPr preferRelativeResize="0"/>
          <p:nvPr/>
        </p:nvPicPr>
        <p:blipFill rotWithShape="1">
          <a:blip r:embed="rId3">
            <a:alphaModFix/>
          </a:blip>
          <a:srcRect b="0" l="0" r="0" t="0"/>
          <a:stretch/>
        </p:blipFill>
        <p:spPr>
          <a:xfrm>
            <a:off x="1784350" y="533400"/>
            <a:ext cx="8918776" cy="59947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22"/>
          <p:cNvPicPr preferRelativeResize="0"/>
          <p:nvPr>
            <p:ph idx="2" type="body"/>
          </p:nvPr>
        </p:nvPicPr>
        <p:blipFill rotWithShape="1">
          <a:blip r:embed="rId3">
            <a:alphaModFix/>
          </a:blip>
          <a:srcRect b="38732" l="0" r="0" t="0"/>
          <a:stretch/>
        </p:blipFill>
        <p:spPr>
          <a:xfrm>
            <a:off x="1911128" y="1473599"/>
            <a:ext cx="8551500" cy="2641200"/>
          </a:xfrm>
          <a:prstGeom prst="rect">
            <a:avLst/>
          </a:prstGeom>
          <a:noFill/>
          <a:ln>
            <a:noFill/>
          </a:ln>
        </p:spPr>
      </p:pic>
      <p:sp>
        <p:nvSpPr>
          <p:cNvPr id="360" name="Google Shape;360;p22"/>
          <p:cNvSpPr txBox="1"/>
          <p:nvPr>
            <p:ph type="title"/>
          </p:nvPr>
        </p:nvSpPr>
        <p:spPr>
          <a:xfrm>
            <a:off x="406400" y="152400"/>
            <a:ext cx="114807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Flow control</a:t>
            </a:r>
            <a:endParaRPr/>
          </a:p>
        </p:txBody>
      </p:sp>
      <p:sp>
        <p:nvSpPr>
          <p:cNvPr id="361" name="Google Shape;361;p22"/>
          <p:cNvSpPr txBox="1"/>
          <p:nvPr>
            <p:ph idx="12" type="sldNum"/>
          </p:nvPr>
        </p:nvSpPr>
        <p:spPr>
          <a:xfrm>
            <a:off x="8737600" y="6477000"/>
            <a:ext cx="3251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
        <p:nvSpPr>
          <p:cNvPr id="362" name="Google Shape;362;p22"/>
          <p:cNvSpPr txBox="1"/>
          <p:nvPr>
            <p:ph idx="1" type="body"/>
          </p:nvPr>
        </p:nvSpPr>
        <p:spPr>
          <a:xfrm>
            <a:off x="536471" y="990600"/>
            <a:ext cx="5420400" cy="635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Char char="▪"/>
            </a:pPr>
            <a:r>
              <a:rPr lang="en-US" sz="2400"/>
              <a:t>Receiver window</a:t>
            </a:r>
            <a:endParaRPr/>
          </a:p>
        </p:txBody>
      </p:sp>
      <p:sp>
        <p:nvSpPr>
          <p:cNvPr id="363" name="Google Shape;363;p22"/>
          <p:cNvSpPr txBox="1"/>
          <p:nvPr/>
        </p:nvSpPr>
        <p:spPr>
          <a:xfrm>
            <a:off x="762000" y="4345546"/>
            <a:ext cx="3597600" cy="23622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070C0"/>
              </a:buClr>
              <a:buSzPts val="1920"/>
              <a:buFont typeface="Noto Sans Symbols"/>
              <a:buChar char="❑"/>
            </a:pPr>
            <a:r>
              <a:rPr b="0" i="0" lang="en-US" sz="2400" u="none" cap="none" strike="noStrike">
                <a:solidFill>
                  <a:srgbClr val="000000"/>
                </a:solidFill>
                <a:latin typeface="Arial"/>
                <a:ea typeface="Arial"/>
                <a:cs typeface="Arial"/>
                <a:sym typeface="Arial"/>
              </a:rPr>
              <a:t>Window can -</a:t>
            </a:r>
            <a:endParaRPr/>
          </a:p>
          <a:p>
            <a:pPr indent="-285750" lvl="1" marL="742950" marR="0" rtl="0" algn="l">
              <a:spcBef>
                <a:spcPts val="400"/>
              </a:spcBef>
              <a:spcAft>
                <a:spcPts val="0"/>
              </a:spcAft>
              <a:buClr>
                <a:srgbClr val="FF0000"/>
              </a:buClr>
              <a:buSzPts val="2000"/>
              <a:buFont typeface="Noto Sans Symbols"/>
              <a:buChar char="▪"/>
            </a:pPr>
            <a:r>
              <a:rPr b="0" i="0" lang="en-US" sz="2000" u="none" cap="none" strike="noStrike">
                <a:solidFill>
                  <a:srgbClr val="000000"/>
                </a:solidFill>
                <a:latin typeface="Arial"/>
                <a:ea typeface="Arial"/>
                <a:cs typeface="Arial"/>
                <a:sym typeface="Arial"/>
              </a:rPr>
              <a:t>Open</a:t>
            </a:r>
            <a:endParaRPr/>
          </a:p>
          <a:p>
            <a:pPr indent="-285750" lvl="1" marL="742950" marR="0" rtl="0" algn="l">
              <a:spcBef>
                <a:spcPts val="400"/>
              </a:spcBef>
              <a:spcAft>
                <a:spcPts val="0"/>
              </a:spcAft>
              <a:buClr>
                <a:srgbClr val="FF0000"/>
              </a:buClr>
              <a:buSzPts val="2000"/>
              <a:buFont typeface="Noto Sans Symbols"/>
              <a:buChar char="▪"/>
            </a:pPr>
            <a:r>
              <a:rPr b="0" i="0" lang="en-US" sz="2000" u="none" cap="none" strike="noStrike">
                <a:solidFill>
                  <a:srgbClr val="000000"/>
                </a:solidFill>
                <a:latin typeface="Arial"/>
                <a:ea typeface="Arial"/>
                <a:cs typeface="Arial"/>
                <a:sym typeface="Arial"/>
              </a:rPr>
              <a:t>Close</a:t>
            </a:r>
            <a:endParaRPr/>
          </a:p>
          <a:p>
            <a:pPr indent="-285750" lvl="1" marL="742950" marR="0" rtl="0" algn="l">
              <a:spcBef>
                <a:spcPts val="400"/>
              </a:spcBef>
              <a:spcAft>
                <a:spcPts val="0"/>
              </a:spcAft>
              <a:buClr>
                <a:srgbClr val="FF0000"/>
              </a:buClr>
              <a:buSzPts val="2000"/>
              <a:buFont typeface="Noto Sans Symbols"/>
              <a:buChar char="▪"/>
            </a:pPr>
            <a:r>
              <a:rPr b="0" i="0" lang="en-US" sz="2000" u="none" cap="none" strike="noStrike">
                <a:solidFill>
                  <a:srgbClr val="000000"/>
                </a:solidFill>
                <a:latin typeface="Arial"/>
                <a:ea typeface="Arial"/>
                <a:cs typeface="Arial"/>
                <a:sym typeface="Arial"/>
              </a:rPr>
              <a:t>Shrink</a:t>
            </a:r>
            <a:endParaRPr/>
          </a:p>
          <a:p>
            <a:pPr indent="-285750" lvl="1" marL="742950" marR="0" rtl="0" algn="l">
              <a:spcBef>
                <a:spcPts val="400"/>
              </a:spcBef>
              <a:spcAft>
                <a:spcPts val="0"/>
              </a:spcAft>
              <a:buClr>
                <a:srgbClr val="FF0000"/>
              </a:buClr>
              <a:buSzPts val="2000"/>
              <a:buFont typeface="Noto Sans Symbols"/>
              <a:buChar char="▪"/>
            </a:pPr>
            <a:r>
              <a:rPr b="0" i="0" lang="en-US" sz="2000" u="none" cap="none" strike="noStrike">
                <a:solidFill>
                  <a:srgbClr val="000000"/>
                </a:solidFill>
                <a:latin typeface="Arial"/>
                <a:ea typeface="Arial"/>
                <a:cs typeface="Arial"/>
                <a:sym typeface="Arial"/>
              </a:rPr>
              <a:t>Shutdown</a:t>
            </a:r>
            <a:endParaRPr/>
          </a:p>
          <a:p>
            <a:pPr indent="-158750" lvl="1" marL="742950" marR="0" rtl="0" algn="l">
              <a:spcBef>
                <a:spcPts val="400"/>
              </a:spcBef>
              <a:spcAft>
                <a:spcPts val="0"/>
              </a:spcAft>
              <a:buClr>
                <a:srgbClr val="FF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364" name="Google Shape;364;p22"/>
          <p:cNvSpPr txBox="1"/>
          <p:nvPr/>
        </p:nvSpPr>
        <p:spPr>
          <a:xfrm>
            <a:off x="4766925" y="4526400"/>
            <a:ext cx="6686400" cy="1645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070C0"/>
              </a:buClr>
              <a:buSzPts val="1920"/>
              <a:buFont typeface="Noto Sans Symbols"/>
              <a:buChar char="❑"/>
            </a:pPr>
            <a:r>
              <a:rPr b="0" i="0" lang="en-US" sz="2400" u="none" cap="none" strike="noStrike">
                <a:solidFill>
                  <a:schemeClr val="dk1"/>
                </a:solidFill>
                <a:latin typeface="Arial"/>
                <a:ea typeface="Arial"/>
                <a:cs typeface="Arial"/>
                <a:sym typeface="Arial"/>
              </a:rPr>
              <a:t>spare room in buffer</a:t>
            </a:r>
            <a:endParaRPr b="0" i="0" sz="2400" u="none" cap="none" strike="noStrike">
              <a:solidFill>
                <a:schemeClr val="dk1"/>
              </a:solidFill>
              <a:latin typeface="Courier New"/>
              <a:ea typeface="Courier New"/>
              <a:cs typeface="Courier New"/>
              <a:sym typeface="Courier New"/>
            </a:endParaRPr>
          </a:p>
          <a:p>
            <a:pPr indent="-342900" lvl="0" marL="342900" marR="0" rtl="0" algn="l">
              <a:spcBef>
                <a:spcPts val="400"/>
              </a:spcBef>
              <a:spcAft>
                <a:spcPts val="0"/>
              </a:spcAft>
              <a:buClr>
                <a:srgbClr val="0070C0"/>
              </a:buClr>
              <a:buSzPts val="1600"/>
              <a:buFont typeface="Arial"/>
              <a:buNone/>
            </a:pPr>
            <a:r>
              <a:rPr b="1" i="0" lang="en-US" sz="2000" u="none" cap="none" strike="noStrike">
                <a:solidFill>
                  <a:schemeClr val="dk1"/>
                </a:solidFill>
                <a:latin typeface="Courier New"/>
                <a:ea typeface="Courier New"/>
                <a:cs typeface="Courier New"/>
                <a:sym typeface="Courier New"/>
              </a:rPr>
              <a:t>= advertizedRcvWindow</a:t>
            </a:r>
            <a:endParaRPr b="0" i="0" sz="2000" u="none" cap="none" strike="noStrike">
              <a:solidFill>
                <a:schemeClr val="dk1"/>
              </a:solidFill>
              <a:latin typeface="Arial"/>
              <a:ea typeface="Arial"/>
              <a:cs typeface="Arial"/>
              <a:sym typeface="Arial"/>
            </a:endParaRPr>
          </a:p>
          <a:p>
            <a:pPr indent="-342900" lvl="0" marL="342900" marR="0" rtl="0" algn="l">
              <a:spcBef>
                <a:spcPts val="400"/>
              </a:spcBef>
              <a:spcAft>
                <a:spcPts val="0"/>
              </a:spcAft>
              <a:buClr>
                <a:srgbClr val="0070C0"/>
              </a:buClr>
              <a:buSzPts val="1600"/>
              <a:buFont typeface="Arial"/>
              <a:buNone/>
            </a:pPr>
            <a:r>
              <a:rPr b="1" i="0" lang="en-US" sz="2000" u="none" cap="none" strike="noStrike">
                <a:solidFill>
                  <a:schemeClr val="dk1"/>
                </a:solidFill>
                <a:latin typeface="Courier New"/>
                <a:ea typeface="Courier New"/>
                <a:cs typeface="Courier New"/>
                <a:sym typeface="Courier New"/>
              </a:rPr>
              <a:t>= RcvBuffer-[LastByteRcvd - LastByteRead]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3"/>
          <p:cNvSpPr txBox="1"/>
          <p:nvPr>
            <p:ph type="title"/>
          </p:nvPr>
        </p:nvSpPr>
        <p:spPr>
          <a:xfrm>
            <a:off x="564975" y="283500"/>
            <a:ext cx="9111000" cy="935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TCP Flow control: how it works</a:t>
            </a:r>
            <a:endParaRPr/>
          </a:p>
        </p:txBody>
      </p:sp>
      <p:sp>
        <p:nvSpPr>
          <p:cNvPr id="370" name="Google Shape;370;p23"/>
          <p:cNvSpPr txBox="1"/>
          <p:nvPr>
            <p:ph idx="2" type="body"/>
          </p:nvPr>
        </p:nvSpPr>
        <p:spPr>
          <a:xfrm>
            <a:off x="701964" y="1447800"/>
            <a:ext cx="11185200" cy="4648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Char char="▪"/>
            </a:pPr>
            <a:r>
              <a:rPr lang="en-US" sz="2400"/>
              <a:t>Sender maintain a variable </a:t>
            </a:r>
            <a:r>
              <a:rPr b="1" lang="en-US" sz="2400">
                <a:latin typeface="Courier New"/>
                <a:ea typeface="Courier New"/>
                <a:cs typeface="Courier New"/>
                <a:sym typeface="Courier New"/>
              </a:rPr>
              <a:t>RcvWindow</a:t>
            </a:r>
            <a:r>
              <a:rPr lang="en-US" sz="2400"/>
              <a:t> </a:t>
            </a:r>
            <a:endParaRPr/>
          </a:p>
          <a:p>
            <a:pPr indent="-342900" lvl="0" marL="342900" rtl="0" algn="l">
              <a:spcBef>
                <a:spcPts val="480"/>
              </a:spcBef>
              <a:spcAft>
                <a:spcPts val="0"/>
              </a:spcAft>
              <a:buSzPts val="1920"/>
              <a:buChar char="▪"/>
            </a:pPr>
            <a:r>
              <a:rPr lang="en-US" sz="2400"/>
              <a:t>Rcvr advertises spare room by including value of </a:t>
            </a:r>
            <a:r>
              <a:rPr b="1" lang="en-US" sz="2400">
                <a:latin typeface="Courier New"/>
                <a:ea typeface="Courier New"/>
                <a:cs typeface="Courier New"/>
                <a:sym typeface="Courier New"/>
              </a:rPr>
              <a:t>RcvWindow</a:t>
            </a:r>
            <a:r>
              <a:rPr lang="en-US" sz="2400"/>
              <a:t> in segments during ack</a:t>
            </a:r>
            <a:endParaRPr/>
          </a:p>
          <a:p>
            <a:pPr indent="-342900" lvl="0" marL="342900" rtl="0" algn="l">
              <a:spcBef>
                <a:spcPts val="480"/>
              </a:spcBef>
              <a:spcAft>
                <a:spcPts val="0"/>
              </a:spcAft>
              <a:buSzPts val="1920"/>
              <a:buChar char="▪"/>
            </a:pPr>
            <a:r>
              <a:rPr lang="en-US" sz="2400"/>
              <a:t>Sender limits unACKed data to </a:t>
            </a:r>
            <a:r>
              <a:rPr b="1" lang="en-US" sz="2400">
                <a:latin typeface="Courier New"/>
                <a:ea typeface="Courier New"/>
                <a:cs typeface="Courier New"/>
                <a:sym typeface="Courier New"/>
              </a:rPr>
              <a:t>RcvWindow</a:t>
            </a:r>
            <a:endParaRPr sz="2400">
              <a:latin typeface="Courier New"/>
              <a:ea typeface="Courier New"/>
              <a:cs typeface="Courier New"/>
              <a:sym typeface="Courier New"/>
            </a:endParaRPr>
          </a:p>
          <a:p>
            <a:pPr indent="-285750" lvl="1" marL="742950" rtl="0" algn="l">
              <a:spcBef>
                <a:spcPts val="400"/>
              </a:spcBef>
              <a:spcAft>
                <a:spcPts val="0"/>
              </a:spcAft>
              <a:buSzPts val="2000"/>
              <a:buChar char="•"/>
            </a:pPr>
            <a:r>
              <a:rPr lang="en-US" sz="2000"/>
              <a:t>guarantees receive buffer doesn’t overflow</a:t>
            </a:r>
            <a:endParaRPr/>
          </a:p>
        </p:txBody>
      </p:sp>
      <p:sp>
        <p:nvSpPr>
          <p:cNvPr id="371" name="Google Shape;371;p23"/>
          <p:cNvSpPr txBox="1"/>
          <p:nvPr/>
        </p:nvSpPr>
        <p:spPr>
          <a:xfrm>
            <a:off x="2894667" y="3302800"/>
            <a:ext cx="7545900" cy="861900"/>
          </a:xfrm>
          <a:prstGeom prst="rect">
            <a:avLst/>
          </a:prstGeom>
          <a:noFill/>
          <a:ln>
            <a:noFill/>
          </a:ln>
        </p:spPr>
        <p:txBody>
          <a:bodyPr anchorCtr="0" anchor="t" bIns="45700" lIns="91425" spcFirstLastPara="1" rIns="91425" wrap="square" tIns="45700">
            <a:spAutoFit/>
          </a:bodyPr>
          <a:lstStyle/>
          <a:p>
            <a:pPr indent="0" lvl="1" marL="0" marR="0" rtl="0" algn="l">
              <a:spcBef>
                <a:spcPts val="0"/>
              </a:spcBef>
              <a:spcAft>
                <a:spcPts val="0"/>
              </a:spcAft>
              <a:buNone/>
            </a:pPr>
            <a:r>
              <a:rPr b="1" i="0" lang="en-US" sz="2500" u="none" cap="none" strike="noStrike">
                <a:solidFill>
                  <a:schemeClr val="dk1"/>
                </a:solidFill>
                <a:latin typeface="Courier New"/>
                <a:ea typeface="Courier New"/>
                <a:cs typeface="Courier New"/>
                <a:sym typeface="Courier New"/>
              </a:rPr>
              <a:t>(LastByteSent – LastByteAckd)   </a:t>
            </a:r>
            <a:endParaRPr sz="2100"/>
          </a:p>
          <a:p>
            <a:pPr indent="0" lvl="1" marL="0" marR="0" rtl="0" algn="l">
              <a:spcBef>
                <a:spcPts val="0"/>
              </a:spcBef>
              <a:spcAft>
                <a:spcPts val="0"/>
              </a:spcAft>
              <a:buNone/>
            </a:pPr>
            <a:r>
              <a:rPr b="1" i="0" lang="en-US" sz="2500" u="none" cap="none" strike="noStrike">
                <a:solidFill>
                  <a:schemeClr val="dk1"/>
                </a:solidFill>
                <a:latin typeface="Courier New"/>
                <a:ea typeface="Courier New"/>
                <a:cs typeface="Courier New"/>
                <a:sym typeface="Courier New"/>
              </a:rPr>
              <a:t>  ≤ RecvWindow</a:t>
            </a:r>
            <a:endParaRPr b="1" i="0" sz="2500" u="none" cap="none" strike="noStrike">
              <a:solidFill>
                <a:schemeClr val="dk1"/>
              </a:solidFill>
              <a:latin typeface="Courier New"/>
              <a:ea typeface="Courier New"/>
              <a:cs typeface="Courier New"/>
              <a:sym typeface="Courier New"/>
            </a:endParaRPr>
          </a:p>
        </p:txBody>
      </p:sp>
      <p:sp>
        <p:nvSpPr>
          <p:cNvPr id="372" name="Google Shape;372;p23"/>
          <p:cNvSpPr txBox="1"/>
          <p:nvPr/>
        </p:nvSpPr>
        <p:spPr>
          <a:xfrm>
            <a:off x="2894667" y="4462716"/>
            <a:ext cx="7545900" cy="861900"/>
          </a:xfrm>
          <a:prstGeom prst="rect">
            <a:avLst/>
          </a:prstGeom>
          <a:noFill/>
          <a:ln>
            <a:noFill/>
          </a:ln>
        </p:spPr>
        <p:txBody>
          <a:bodyPr anchorCtr="0" anchor="t" bIns="45700" lIns="91425" spcFirstLastPara="1" rIns="91425" wrap="square" tIns="45700">
            <a:spAutoFit/>
          </a:bodyPr>
          <a:lstStyle/>
          <a:p>
            <a:pPr indent="0" lvl="1" marL="0" marR="0" rtl="0" algn="l">
              <a:spcBef>
                <a:spcPts val="0"/>
              </a:spcBef>
              <a:spcAft>
                <a:spcPts val="0"/>
              </a:spcAft>
              <a:buNone/>
            </a:pPr>
            <a:r>
              <a:rPr b="1" i="0" lang="en-US" sz="2500" u="none" cap="none" strike="noStrike">
                <a:solidFill>
                  <a:schemeClr val="dk1"/>
                </a:solidFill>
                <a:latin typeface="Courier New"/>
                <a:ea typeface="Courier New"/>
                <a:cs typeface="Courier New"/>
                <a:sym typeface="Courier New"/>
              </a:rPr>
              <a:t>(Sn - 1) – (Sf </a:t>
            </a:r>
            <a:r>
              <a:rPr b="1" lang="en-US" sz="2500">
                <a:solidFill>
                  <a:schemeClr val="dk1"/>
                </a:solidFill>
                <a:latin typeface="Courier New"/>
                <a:ea typeface="Courier New"/>
                <a:cs typeface="Courier New"/>
                <a:sym typeface="Courier New"/>
              </a:rPr>
              <a:t>- </a:t>
            </a:r>
            <a:r>
              <a:rPr b="1" i="0" lang="en-US" sz="2500" u="none" cap="none" strike="noStrike">
                <a:solidFill>
                  <a:schemeClr val="dk1"/>
                </a:solidFill>
                <a:latin typeface="Courier New"/>
                <a:ea typeface="Courier New"/>
                <a:cs typeface="Courier New"/>
                <a:sym typeface="Courier New"/>
              </a:rPr>
              <a:t>1)   </a:t>
            </a:r>
            <a:endParaRPr sz="2500"/>
          </a:p>
          <a:p>
            <a:pPr indent="0" lvl="1" marL="0" marR="0" rtl="0" algn="l">
              <a:spcBef>
                <a:spcPts val="0"/>
              </a:spcBef>
              <a:spcAft>
                <a:spcPts val="0"/>
              </a:spcAft>
              <a:buNone/>
            </a:pPr>
            <a:r>
              <a:rPr b="1" i="0" lang="en-US" sz="2500" u="none" cap="none" strike="noStrike">
                <a:solidFill>
                  <a:schemeClr val="dk1"/>
                </a:solidFill>
                <a:latin typeface="Courier New"/>
                <a:ea typeface="Courier New"/>
                <a:cs typeface="Courier New"/>
                <a:sym typeface="Courier New"/>
              </a:rPr>
              <a:t>  ≤ RecvWindow</a:t>
            </a:r>
            <a:endParaRPr b="1" i="0" sz="25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4"/>
          <p:cNvSpPr txBox="1"/>
          <p:nvPr>
            <p:ph type="title"/>
          </p:nvPr>
        </p:nvSpPr>
        <p:spPr>
          <a:xfrm>
            <a:off x="762000" y="199442"/>
            <a:ext cx="10515600" cy="104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4800">
                <a:solidFill>
                  <a:srgbClr val="0000A3"/>
                </a:solidFill>
                <a:latin typeface="Calibri"/>
                <a:ea typeface="Calibri"/>
                <a:cs typeface="Calibri"/>
                <a:sym typeface="Calibri"/>
              </a:rPr>
              <a:t>Flow control</a:t>
            </a:r>
            <a:endParaRPr b="1" sz="4800">
              <a:solidFill>
                <a:srgbClr val="0000A3"/>
              </a:solidFill>
              <a:latin typeface="Calibri"/>
              <a:ea typeface="Calibri"/>
              <a:cs typeface="Calibri"/>
              <a:sym typeface="Calibri"/>
            </a:endParaRPr>
          </a:p>
        </p:txBody>
      </p:sp>
      <p:sp>
        <p:nvSpPr>
          <p:cNvPr id="379" name="Google Shape;379;p24"/>
          <p:cNvSpPr txBox="1"/>
          <p:nvPr>
            <p:ph idx="1" type="body"/>
          </p:nvPr>
        </p:nvSpPr>
        <p:spPr>
          <a:xfrm>
            <a:off x="838200" y="1520825"/>
            <a:ext cx="10515600" cy="4351200"/>
          </a:xfrm>
          <a:prstGeom prst="rect">
            <a:avLst/>
          </a:prstGeom>
          <a:noFill/>
          <a:ln>
            <a:noFill/>
          </a:ln>
        </p:spPr>
        <p:txBody>
          <a:bodyPr anchorCtr="0" anchor="t" bIns="45700" lIns="91425" spcFirstLastPara="1" rIns="91425" wrap="square" tIns="45700">
            <a:normAutofit/>
          </a:bodyPr>
          <a:lstStyle/>
          <a:p>
            <a:pPr indent="-373380" lvl="0" marL="342900" rtl="0" algn="l">
              <a:lnSpc>
                <a:spcPct val="150000"/>
              </a:lnSpc>
              <a:spcBef>
                <a:spcPts val="640"/>
              </a:spcBef>
              <a:spcAft>
                <a:spcPts val="0"/>
              </a:spcAft>
              <a:buSzPts val="2400"/>
              <a:buChar char="■"/>
            </a:pPr>
            <a:r>
              <a:rPr lang="en-US" sz="2400"/>
              <a:t>The amount of data a source can send before receiving an ACK from the destination</a:t>
            </a:r>
            <a:endParaRPr sz="2400"/>
          </a:p>
          <a:p>
            <a:pPr indent="-373380" lvl="0" marL="342900" rtl="0" algn="l">
              <a:lnSpc>
                <a:spcPct val="150000"/>
              </a:lnSpc>
              <a:spcBef>
                <a:spcPts val="640"/>
              </a:spcBef>
              <a:spcAft>
                <a:spcPts val="0"/>
              </a:spcAft>
              <a:buSzPts val="2400"/>
              <a:buChar char="■"/>
            </a:pPr>
            <a:r>
              <a:rPr lang="en-US" sz="2400"/>
              <a:t>Whether to send 1 byte of data and wait for ACK or send all bytes and wait for the ACK for the complete message?  </a:t>
            </a:r>
            <a:endParaRPr sz="2400"/>
          </a:p>
          <a:p>
            <a:pPr indent="-373380" lvl="0" marL="342900" rtl="0" algn="l">
              <a:lnSpc>
                <a:spcPct val="150000"/>
              </a:lnSpc>
              <a:spcBef>
                <a:spcPts val="640"/>
              </a:spcBef>
              <a:spcAft>
                <a:spcPts val="0"/>
              </a:spcAft>
              <a:buSzPts val="2400"/>
              <a:buChar char="■"/>
            </a:pPr>
            <a:r>
              <a:rPr lang="en-US" sz="2400"/>
              <a:t>TCP gives a solution in between</a:t>
            </a:r>
            <a:endParaRPr sz="2400"/>
          </a:p>
          <a:p>
            <a:pPr indent="-340360" lvl="1" marL="742950" rtl="0" algn="l">
              <a:lnSpc>
                <a:spcPct val="150000"/>
              </a:lnSpc>
              <a:spcBef>
                <a:spcPts val="560"/>
              </a:spcBef>
              <a:spcAft>
                <a:spcPts val="0"/>
              </a:spcAft>
              <a:buSzPts val="2400"/>
              <a:buChar char="■"/>
            </a:pPr>
            <a:r>
              <a:rPr lang="en-US" sz="2400"/>
              <a:t>Sliding window protocol</a:t>
            </a:r>
            <a:endParaRPr sz="2400"/>
          </a:p>
          <a:p>
            <a:pPr indent="-311150" lvl="3" marL="1600200" rtl="0" algn="l">
              <a:lnSpc>
                <a:spcPct val="150000"/>
              </a:lnSpc>
              <a:spcBef>
                <a:spcPts val="400"/>
              </a:spcBef>
              <a:spcAft>
                <a:spcPts val="0"/>
              </a:spcAft>
              <a:buSzPts val="2400"/>
              <a:buChar char="■"/>
            </a:pPr>
            <a:r>
              <a:rPr lang="en-US" sz="2400"/>
              <a:t>byte oriented</a:t>
            </a:r>
            <a:endParaRPr sz="2400"/>
          </a:p>
        </p:txBody>
      </p:sp>
      <p:sp>
        <p:nvSpPr>
          <p:cNvPr id="380" name="Google Shape;380;p24"/>
          <p:cNvSpPr txBox="1"/>
          <p:nvPr>
            <p:ph idx="12" type="sldNum"/>
          </p:nvPr>
        </p:nvSpPr>
        <p:spPr>
          <a:xfrm>
            <a:off x="9389533" y="6243637"/>
            <a:ext cx="25401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5"/>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87" name="Google Shape;387;p25"/>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88" name="Google Shape;388;p25"/>
          <p:cNvSpPr txBox="1"/>
          <p:nvPr/>
        </p:nvSpPr>
        <p:spPr>
          <a:xfrm>
            <a:off x="304800" y="355600"/>
            <a:ext cx="11624700" cy="646500"/>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15-7  FLOW CONTROL</a:t>
            </a:r>
            <a:endParaRPr/>
          </a:p>
        </p:txBody>
      </p:sp>
      <p:sp>
        <p:nvSpPr>
          <p:cNvPr id="389" name="Google Shape;389;p25"/>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90" name="Google Shape;390;p25"/>
          <p:cNvSpPr txBox="1"/>
          <p:nvPr/>
        </p:nvSpPr>
        <p:spPr>
          <a:xfrm>
            <a:off x="482600" y="1504950"/>
            <a:ext cx="11455200" cy="2678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lang="en-US" sz="2800">
                <a:solidFill>
                  <a:schemeClr val="dk1"/>
                </a:solidFill>
                <a:latin typeface="Arimo"/>
                <a:ea typeface="Arimo"/>
                <a:cs typeface="Arimo"/>
                <a:sym typeface="Arimo"/>
              </a:rPr>
              <a:t>F</a:t>
            </a:r>
            <a:r>
              <a:rPr b="1" i="0" lang="en-US" sz="2800" u="none">
                <a:solidFill>
                  <a:schemeClr val="dk1"/>
                </a:solidFill>
                <a:latin typeface="Arimo"/>
                <a:ea typeface="Arimo"/>
                <a:cs typeface="Arimo"/>
                <a:sym typeface="Arimo"/>
              </a:rPr>
              <a:t>low control balances the rate a producer creates data with the rate a consumer can use the data. </a:t>
            </a:r>
            <a:endParaRPr b="1" sz="2800">
              <a:solidFill>
                <a:schemeClr val="dk1"/>
              </a:solidFill>
              <a:latin typeface="Arimo"/>
              <a:ea typeface="Arimo"/>
              <a:cs typeface="Arimo"/>
              <a:sym typeface="Arimo"/>
            </a:endParaRPr>
          </a:p>
          <a:p>
            <a:pPr indent="0" lvl="0" marL="0" marR="0" rtl="0" algn="l">
              <a:lnSpc>
                <a:spcPct val="100000"/>
              </a:lnSpc>
              <a:spcBef>
                <a:spcPts val="0"/>
              </a:spcBef>
              <a:spcAft>
                <a:spcPts val="0"/>
              </a:spcAft>
              <a:buClr>
                <a:schemeClr val="dk1"/>
              </a:buClr>
              <a:buSzPts val="2800"/>
              <a:buFont typeface="Arimo"/>
              <a:buNone/>
            </a:pPr>
            <a:r>
              <a:t/>
            </a:r>
            <a:endParaRPr b="1" sz="2800">
              <a:solidFill>
                <a:schemeClr val="dk1"/>
              </a:solidFill>
              <a:latin typeface="Arimo"/>
              <a:ea typeface="Arimo"/>
              <a:cs typeface="Arimo"/>
              <a:sym typeface="Arimo"/>
            </a:endParaRPr>
          </a:p>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Figure 15.24 shows unidirectional data transfer between a sender and a receiver; bidirectional data transfer can be deduced from unidirectional one as discussed in Chapter 13.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395" name="Shape 395"/>
        <p:cNvGrpSpPr/>
        <p:nvPr/>
      </p:nvGrpSpPr>
      <p:grpSpPr>
        <a:xfrm>
          <a:off x="0" y="0"/>
          <a:ext cx="0" cy="0"/>
          <a:chOff x="0" y="0"/>
          <a:chExt cx="0" cy="0"/>
        </a:xfrm>
      </p:grpSpPr>
      <p:sp>
        <p:nvSpPr>
          <p:cNvPr id="396" name="Google Shape;396;p26"/>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97" name="Google Shape;397;p26"/>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98" name="Google Shape;398;p26"/>
          <p:cNvSpPr txBox="1"/>
          <p:nvPr/>
        </p:nvSpPr>
        <p:spPr>
          <a:xfrm>
            <a:off x="304800" y="152400"/>
            <a:ext cx="7292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399" name="Google Shape;399;p26"/>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00" name="Google Shape;400;p26"/>
          <p:cNvSpPr txBox="1"/>
          <p:nvPr/>
        </p:nvSpPr>
        <p:spPr>
          <a:xfrm>
            <a:off x="406400" y="989012"/>
            <a:ext cx="11175900" cy="17487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Opening and Closing Windows</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Shrinking of Windows</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Silly Window Syndrome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5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7"/>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07" name="Google Shape;407;p27"/>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408" name="Google Shape;408;p27"/>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15.24</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TCP/IP protocol suite</a:t>
            </a:r>
            <a:endParaRPr/>
          </a:p>
        </p:txBody>
      </p:sp>
      <p:sp>
        <p:nvSpPr>
          <p:cNvPr id="409" name="Google Shape;409;p27"/>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0" name="Google Shape;410;p27"/>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1" name="Google Shape;411;p27"/>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2" name="Google Shape;412;p27"/>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3" name="Google Shape;413;p27"/>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4" name="Google Shape;414;p27"/>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5" name="Google Shape;415;p27"/>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416" name="Google Shape;416;p27"/>
          <p:cNvPicPr preferRelativeResize="0"/>
          <p:nvPr/>
        </p:nvPicPr>
        <p:blipFill rotWithShape="1">
          <a:blip r:embed="rId3">
            <a:alphaModFix/>
          </a:blip>
          <a:srcRect b="0" l="0" r="0" t="0"/>
          <a:stretch/>
        </p:blipFill>
        <p:spPr>
          <a:xfrm>
            <a:off x="831850" y="1706550"/>
            <a:ext cx="10527016" cy="2706656"/>
          </a:xfrm>
          <a:prstGeom prst="rect">
            <a:avLst/>
          </a:prstGeom>
          <a:noFill/>
          <a:ln>
            <a:noFill/>
          </a:ln>
        </p:spPr>
      </p:pic>
      <p:pic>
        <p:nvPicPr>
          <p:cNvPr id="417" name="Google Shape;417;p27"/>
          <p:cNvPicPr preferRelativeResize="0"/>
          <p:nvPr/>
        </p:nvPicPr>
        <p:blipFill rotWithShape="1">
          <a:blip r:embed="rId4">
            <a:alphaModFix/>
          </a:blip>
          <a:srcRect b="0" l="0" r="0" t="0"/>
          <a:stretch/>
        </p:blipFill>
        <p:spPr>
          <a:xfrm>
            <a:off x="1673207" y="2487161"/>
            <a:ext cx="1220851" cy="998687"/>
          </a:xfrm>
          <a:prstGeom prst="rect">
            <a:avLst/>
          </a:prstGeom>
          <a:noFill/>
          <a:ln>
            <a:noFill/>
          </a:ln>
        </p:spPr>
      </p:pic>
      <p:pic>
        <p:nvPicPr>
          <p:cNvPr id="418" name="Google Shape;418;p27"/>
          <p:cNvPicPr preferRelativeResize="0"/>
          <p:nvPr/>
        </p:nvPicPr>
        <p:blipFill rotWithShape="1">
          <a:blip r:embed="rId5">
            <a:alphaModFix/>
          </a:blip>
          <a:srcRect b="0" l="0" r="0" t="0"/>
          <a:stretch/>
        </p:blipFill>
        <p:spPr>
          <a:xfrm>
            <a:off x="3257541" y="3767118"/>
            <a:ext cx="5645660" cy="548260"/>
          </a:xfrm>
          <a:prstGeom prst="rect">
            <a:avLst/>
          </a:prstGeom>
          <a:noFill/>
          <a:ln>
            <a:noFill/>
          </a:ln>
        </p:spPr>
      </p:pic>
      <p:pic>
        <p:nvPicPr>
          <p:cNvPr id="419" name="Google Shape;419;p27"/>
          <p:cNvPicPr preferRelativeResize="0"/>
          <p:nvPr/>
        </p:nvPicPr>
        <p:blipFill rotWithShape="1">
          <a:blip r:embed="rId6">
            <a:alphaModFix/>
          </a:blip>
          <a:srcRect b="0" l="0" r="0" t="0"/>
          <a:stretch/>
        </p:blipFill>
        <p:spPr>
          <a:xfrm>
            <a:off x="9190512" y="2555369"/>
            <a:ext cx="1127093" cy="984424"/>
          </a:xfrm>
          <a:prstGeom prst="rect">
            <a:avLst/>
          </a:prstGeom>
          <a:noFill/>
          <a:ln>
            <a:noFill/>
          </a:ln>
        </p:spPr>
      </p:pic>
      <p:pic>
        <p:nvPicPr>
          <p:cNvPr id="420" name="Google Shape;420;p27"/>
          <p:cNvPicPr preferRelativeResize="0"/>
          <p:nvPr/>
        </p:nvPicPr>
        <p:blipFill rotWithShape="1">
          <a:blip r:embed="rId7">
            <a:alphaModFix/>
          </a:blip>
          <a:srcRect b="0" l="0" r="0" t="0"/>
          <a:stretch/>
        </p:blipFill>
        <p:spPr>
          <a:xfrm>
            <a:off x="2599348" y="4239968"/>
            <a:ext cx="6866507" cy="858057"/>
          </a:xfrm>
          <a:prstGeom prst="rect">
            <a:avLst/>
          </a:prstGeom>
          <a:noFill/>
          <a:ln>
            <a:noFill/>
          </a:ln>
        </p:spPr>
      </p:pic>
      <p:pic>
        <p:nvPicPr>
          <p:cNvPr id="421" name="Google Shape;421;p27"/>
          <p:cNvPicPr preferRelativeResize="0"/>
          <p:nvPr/>
        </p:nvPicPr>
        <p:blipFill rotWithShape="1">
          <a:blip r:embed="rId8">
            <a:alphaModFix/>
          </a:blip>
          <a:srcRect b="0" l="0" r="0" t="0"/>
          <a:stretch/>
        </p:blipFill>
        <p:spPr>
          <a:xfrm>
            <a:off x="3243954" y="2232392"/>
            <a:ext cx="1877131" cy="14878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20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2000"/>
                                        <p:tgtEl>
                                          <p:spTgt spid="4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2000"/>
                                        <p:tgtEl>
                                          <p:spTgt spid="4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2000"/>
                                        <p:tgtEl>
                                          <p:spTgt spid="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2000"/>
                                        <p:tgtEl>
                                          <p:spTgt spid="4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8"/>
          <p:cNvSpPr txBox="1"/>
          <p:nvPr>
            <p:ph idx="12" type="sldNum"/>
          </p:nvPr>
        </p:nvSpPr>
        <p:spPr>
          <a:xfrm>
            <a:off x="8737600"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
        <p:nvSpPr>
          <p:cNvPr id="428" name="Google Shape;428;p28"/>
          <p:cNvSpPr txBox="1"/>
          <p:nvPr>
            <p:ph type="title"/>
          </p:nvPr>
        </p:nvSpPr>
        <p:spPr>
          <a:xfrm>
            <a:off x="1016000" y="381000"/>
            <a:ext cx="10363200" cy="76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Flow control</a:t>
            </a:r>
            <a:endParaRPr/>
          </a:p>
        </p:txBody>
      </p:sp>
      <p:sp>
        <p:nvSpPr>
          <p:cNvPr id="429" name="Google Shape;429;p28"/>
          <p:cNvSpPr txBox="1"/>
          <p:nvPr>
            <p:ph idx="2" type="body"/>
          </p:nvPr>
        </p:nvSpPr>
        <p:spPr>
          <a:xfrm>
            <a:off x="914400" y="3810000"/>
            <a:ext cx="10363200" cy="2286000"/>
          </a:xfrm>
          <a:prstGeom prst="rect">
            <a:avLst/>
          </a:prstGeom>
          <a:noFill/>
          <a:ln>
            <a:noFill/>
          </a:ln>
        </p:spPr>
        <p:txBody>
          <a:bodyPr anchorCtr="0" anchor="t" bIns="45700" lIns="91425" spcFirstLastPara="1" rIns="91425" wrap="square" tIns="45700">
            <a:normAutofit/>
          </a:bodyPr>
          <a:lstStyle/>
          <a:p>
            <a:pPr indent="-381000" lvl="0" marL="457200" rtl="0" algn="l">
              <a:spcBef>
                <a:spcPts val="0"/>
              </a:spcBef>
              <a:spcAft>
                <a:spcPts val="0"/>
              </a:spcAft>
              <a:buSzPts val="2400"/>
              <a:buChar char="▪"/>
            </a:pPr>
            <a:r>
              <a:rPr lang="en-US" sz="2400"/>
              <a:t>If no window, a sender can send all bytes without regarding the condition of the receiver</a:t>
            </a:r>
            <a:endParaRPr sz="3200"/>
          </a:p>
          <a:p>
            <a:pPr indent="-368300" lvl="1" marL="914400" rtl="0" algn="l">
              <a:spcBef>
                <a:spcPts val="0"/>
              </a:spcBef>
              <a:spcAft>
                <a:spcPts val="0"/>
              </a:spcAft>
              <a:buSzPts val="2200"/>
              <a:buChar char="•"/>
            </a:pPr>
            <a:r>
              <a:rPr lang="en-US" sz="2200"/>
              <a:t>if data are consumed too slowly then receiver buffer becomes full     -&gt; drop the packet (retransmit)</a:t>
            </a:r>
            <a:endParaRPr sz="2800"/>
          </a:p>
          <a:p>
            <a:pPr indent="-368300" lvl="1" marL="914400" rtl="0" algn="l">
              <a:spcBef>
                <a:spcPts val="0"/>
              </a:spcBef>
              <a:spcAft>
                <a:spcPts val="0"/>
              </a:spcAft>
              <a:buSzPts val="2200"/>
              <a:buChar char="•"/>
            </a:pPr>
            <a:r>
              <a:rPr lang="en-US" sz="2200"/>
              <a:t>Hence, the sender must adjust itself to the number of the free locations in the receiver buffer </a:t>
            </a:r>
            <a:endParaRPr sz="2800"/>
          </a:p>
        </p:txBody>
      </p:sp>
      <p:pic>
        <p:nvPicPr>
          <p:cNvPr id="430" name="Google Shape;430;p28"/>
          <p:cNvPicPr preferRelativeResize="0"/>
          <p:nvPr>
            <p:ph idx="1" type="body"/>
          </p:nvPr>
        </p:nvPicPr>
        <p:blipFill rotWithShape="1">
          <a:blip r:embed="rId3">
            <a:alphaModFix/>
          </a:blip>
          <a:srcRect b="0" l="0" r="0" t="0"/>
          <a:stretch/>
        </p:blipFill>
        <p:spPr>
          <a:xfrm>
            <a:off x="1117600" y="1600200"/>
            <a:ext cx="10363200" cy="2003400"/>
          </a:xfrm>
          <a:prstGeom prst="rect">
            <a:avLst/>
          </a:prstGeom>
          <a:noFill/>
          <a:ln>
            <a:noFill/>
          </a:ln>
        </p:spPr>
      </p:pic>
      <p:sp>
        <p:nvSpPr>
          <p:cNvPr id="431" name="Google Shape;431;p28"/>
          <p:cNvSpPr txBox="1"/>
          <p:nvPr/>
        </p:nvSpPr>
        <p:spPr>
          <a:xfrm>
            <a:off x="8534400" y="1219200"/>
            <a:ext cx="2743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sender buffer</a:t>
            </a:r>
            <a:endParaRPr/>
          </a:p>
        </p:txBody>
      </p:sp>
      <p:cxnSp>
        <p:nvCxnSpPr>
          <p:cNvPr id="432" name="Google Shape;432;p28"/>
          <p:cNvCxnSpPr/>
          <p:nvPr/>
        </p:nvCxnSpPr>
        <p:spPr>
          <a:xfrm rot="10800000">
            <a:off x="2743200" y="3200400"/>
            <a:ext cx="2438400" cy="0"/>
          </a:xfrm>
          <a:prstGeom prst="straightConnector1">
            <a:avLst/>
          </a:prstGeom>
          <a:noFill/>
          <a:ln cap="flat" cmpd="sng" w="9525">
            <a:solidFill>
              <a:schemeClr val="dk1"/>
            </a:solidFill>
            <a:prstDash val="solid"/>
            <a:round/>
            <a:headEnd len="med" w="med" type="stealth"/>
            <a:tailEnd len="sm" w="sm" type="none"/>
          </a:ln>
        </p:spPr>
      </p:cxnSp>
      <p:sp>
        <p:nvSpPr>
          <p:cNvPr id="433" name="Google Shape;433;p28"/>
          <p:cNvSpPr txBox="1"/>
          <p:nvPr/>
        </p:nvSpPr>
        <p:spPr>
          <a:xfrm>
            <a:off x="2641600" y="3200400"/>
            <a:ext cx="26415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Direction of transmission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9"/>
          <p:cNvSpPr txBox="1"/>
          <p:nvPr>
            <p:ph idx="12" type="sldNum"/>
          </p:nvPr>
        </p:nvSpPr>
        <p:spPr>
          <a:xfrm>
            <a:off x="12519378" y="6243637"/>
            <a:ext cx="33867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Tahoma"/>
              <a:buNone/>
            </a:pPr>
            <a:fld id="{00000000-1234-1234-1234-123412341234}" type="slidenum">
              <a:rPr lang="en-US"/>
              <a:t>‹#›</a:t>
            </a:fld>
            <a:endParaRPr sz="1100">
              <a:solidFill>
                <a:srgbClr val="7F7F7F"/>
              </a:solidFill>
              <a:latin typeface="Calibri"/>
              <a:ea typeface="Calibri"/>
              <a:cs typeface="Calibri"/>
              <a:sym typeface="Calibri"/>
            </a:endParaRPr>
          </a:p>
        </p:txBody>
      </p:sp>
      <p:sp>
        <p:nvSpPr>
          <p:cNvPr id="440" name="Google Shape;440;p29"/>
          <p:cNvSpPr txBox="1"/>
          <p:nvPr>
            <p:ph type="title"/>
          </p:nvPr>
        </p:nvSpPr>
        <p:spPr>
          <a:xfrm>
            <a:off x="943500" y="303525"/>
            <a:ext cx="10305000" cy="918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solidFill>
                  <a:srgbClr val="0000A3"/>
                </a:solidFill>
                <a:latin typeface="Calibri"/>
                <a:ea typeface="Calibri"/>
                <a:cs typeface="Calibri"/>
                <a:sym typeface="Calibri"/>
              </a:rPr>
              <a:t>Flow control</a:t>
            </a:r>
            <a:endParaRPr b="1" sz="4000">
              <a:solidFill>
                <a:srgbClr val="0000A3"/>
              </a:solidFill>
              <a:latin typeface="Calibri"/>
              <a:ea typeface="Calibri"/>
              <a:cs typeface="Calibri"/>
              <a:sym typeface="Calibri"/>
            </a:endParaRPr>
          </a:p>
        </p:txBody>
      </p:sp>
      <p:sp>
        <p:nvSpPr>
          <p:cNvPr id="441" name="Google Shape;441;p29"/>
          <p:cNvSpPr txBox="1"/>
          <p:nvPr>
            <p:ph idx="1" type="body"/>
          </p:nvPr>
        </p:nvSpPr>
        <p:spPr>
          <a:xfrm>
            <a:off x="667375" y="1339081"/>
            <a:ext cx="10363200" cy="533400"/>
          </a:xfrm>
          <a:prstGeom prst="rect">
            <a:avLst/>
          </a:prstGeom>
          <a:noFill/>
          <a:ln>
            <a:noFill/>
          </a:ln>
        </p:spPr>
        <p:txBody>
          <a:bodyPr anchorCtr="0" anchor="t" bIns="45700" lIns="91425" spcFirstLastPara="1" rIns="91425" wrap="square" tIns="45700">
            <a:normAutofit/>
          </a:bodyPr>
          <a:lstStyle/>
          <a:p>
            <a:pPr indent="-412750" lvl="0" marL="457200" rtl="0" algn="l">
              <a:spcBef>
                <a:spcPts val="0"/>
              </a:spcBef>
              <a:spcAft>
                <a:spcPts val="0"/>
              </a:spcAft>
              <a:buClr>
                <a:srgbClr val="000000"/>
              </a:buClr>
              <a:buSzPts val="2900"/>
              <a:buChar char="■"/>
            </a:pPr>
            <a:r>
              <a:rPr lang="en-US" sz="2900"/>
              <a:t>Receiver</a:t>
            </a:r>
            <a:r>
              <a:rPr lang="en-US" sz="2900"/>
              <a:t> window</a:t>
            </a:r>
            <a:endParaRPr sz="2900"/>
          </a:p>
        </p:txBody>
      </p:sp>
      <p:grpSp>
        <p:nvGrpSpPr>
          <p:cNvPr id="442" name="Google Shape;442;p29"/>
          <p:cNvGrpSpPr/>
          <p:nvPr/>
        </p:nvGrpSpPr>
        <p:grpSpPr>
          <a:xfrm>
            <a:off x="729850" y="4297575"/>
            <a:ext cx="9618713" cy="1893950"/>
            <a:chOff x="64" y="2640"/>
            <a:chExt cx="4800" cy="1260"/>
          </a:xfrm>
        </p:grpSpPr>
        <p:pic>
          <p:nvPicPr>
            <p:cNvPr id="443" name="Google Shape;443;p29"/>
            <p:cNvPicPr preferRelativeResize="0"/>
            <p:nvPr/>
          </p:nvPicPr>
          <p:blipFill rotWithShape="1">
            <a:blip r:embed="rId3">
              <a:alphaModFix/>
            </a:blip>
            <a:srcRect b="0" l="0" r="0" t="0"/>
            <a:stretch/>
          </p:blipFill>
          <p:spPr>
            <a:xfrm>
              <a:off x="480" y="2832"/>
              <a:ext cx="4384" cy="1068"/>
            </a:xfrm>
            <a:prstGeom prst="rect">
              <a:avLst/>
            </a:prstGeom>
            <a:noFill/>
            <a:ln>
              <a:noFill/>
            </a:ln>
          </p:spPr>
        </p:pic>
        <p:sp>
          <p:nvSpPr>
            <p:cNvPr id="444" name="Google Shape;444;p29"/>
            <p:cNvSpPr/>
            <p:nvPr/>
          </p:nvSpPr>
          <p:spPr>
            <a:xfrm>
              <a:off x="64" y="2640"/>
              <a:ext cx="4800" cy="300"/>
            </a:xfrm>
            <a:prstGeom prst="rect">
              <a:avLst/>
            </a:prstGeom>
            <a:noFill/>
            <a:ln>
              <a:noFill/>
            </a:ln>
          </p:spPr>
          <p:txBody>
            <a:bodyPr anchorCtr="0" anchor="t" bIns="43275" lIns="86550" spcFirstLastPara="1" rIns="86550" wrap="square" tIns="43275">
              <a:noAutofit/>
            </a:bodyPr>
            <a:lstStyle/>
            <a:p>
              <a:pPr indent="-412750" lvl="0" marL="457200" rtl="0" algn="l">
                <a:lnSpc>
                  <a:spcPct val="90000"/>
                </a:lnSpc>
                <a:spcBef>
                  <a:spcPts val="0"/>
                </a:spcBef>
                <a:spcAft>
                  <a:spcPts val="0"/>
                </a:spcAft>
                <a:buClr>
                  <a:schemeClr val="dk1"/>
                </a:buClr>
                <a:buSzPts val="2900"/>
                <a:buFont typeface="Tahoma"/>
                <a:buChar char="■"/>
              </a:pPr>
              <a:r>
                <a:rPr lang="en-US" sz="2900">
                  <a:solidFill>
                    <a:schemeClr val="dk1"/>
                  </a:solidFill>
                  <a:latin typeface="Tahoma"/>
                  <a:ea typeface="Tahoma"/>
                  <a:cs typeface="Tahoma"/>
                  <a:sym typeface="Tahoma"/>
                </a:rPr>
                <a:t>Sender</a:t>
              </a:r>
              <a:r>
                <a:rPr lang="en-US" sz="2900">
                  <a:solidFill>
                    <a:schemeClr val="dk1"/>
                  </a:solidFill>
                  <a:latin typeface="Tahoma"/>
                  <a:ea typeface="Tahoma"/>
                  <a:cs typeface="Tahoma"/>
                  <a:sym typeface="Tahoma"/>
                </a:rPr>
                <a:t> window</a:t>
              </a:r>
              <a:endParaRPr sz="1325"/>
            </a:p>
          </p:txBody>
        </p:sp>
      </p:grpSp>
      <p:pic>
        <p:nvPicPr>
          <p:cNvPr id="445" name="Google Shape;445;p29"/>
          <p:cNvPicPr preferRelativeResize="0"/>
          <p:nvPr/>
        </p:nvPicPr>
        <p:blipFill rotWithShape="1">
          <a:blip r:embed="rId4">
            <a:alphaModFix/>
          </a:blip>
          <a:srcRect b="0" l="0" r="0" t="0"/>
          <a:stretch/>
        </p:blipFill>
        <p:spPr>
          <a:xfrm>
            <a:off x="1524000" y="2057400"/>
            <a:ext cx="7829078" cy="917974"/>
          </a:xfrm>
          <a:prstGeom prst="rect">
            <a:avLst/>
          </a:prstGeom>
          <a:noFill/>
          <a:ln>
            <a:noFill/>
          </a:ln>
        </p:spPr>
      </p:pic>
      <p:sp>
        <p:nvSpPr>
          <p:cNvPr id="446" name="Google Shape;446;p29"/>
          <p:cNvSpPr/>
          <p:nvPr/>
        </p:nvSpPr>
        <p:spPr>
          <a:xfrm rot="-5400000">
            <a:off x="4842750" y="-40764"/>
            <a:ext cx="385200" cy="7022700"/>
          </a:xfrm>
          <a:prstGeom prst="leftBrace">
            <a:avLst>
              <a:gd fmla="val 113889" name="adj1"/>
              <a:gd fmla="val 50000" name="adj2"/>
            </a:avLst>
          </a:prstGeom>
          <a:noFill/>
          <a:ln cap="flat" cmpd="sng" w="16075">
            <a:solidFill>
              <a:schemeClr val="dk1"/>
            </a:solidFill>
            <a:prstDash val="solid"/>
            <a:round/>
            <a:headEnd len="sm" w="sm" type="none"/>
            <a:tailEnd len="sm" w="sm" type="none"/>
          </a:ln>
        </p:spPr>
        <p:txBody>
          <a:bodyPr anchorCtr="0" anchor="ctr" bIns="38500" lIns="77075" spcFirstLastPara="1" rIns="77075" wrap="square" tIns="38500">
            <a:noAutofit/>
          </a:bodyPr>
          <a:lstStyle/>
          <a:p>
            <a:pPr indent="0" lvl="0" marL="0" marR="0" rtl="0" algn="l">
              <a:spcBef>
                <a:spcPts val="0"/>
              </a:spcBef>
              <a:spcAft>
                <a:spcPts val="0"/>
              </a:spcAft>
              <a:buNone/>
            </a:pPr>
            <a:r>
              <a:t/>
            </a:r>
            <a:endParaRPr b="0" i="0" sz="2023" u="none" cap="none" strike="noStrike">
              <a:solidFill>
                <a:schemeClr val="dk1"/>
              </a:solidFill>
              <a:latin typeface="Times New Roman"/>
              <a:ea typeface="Times New Roman"/>
              <a:cs typeface="Times New Roman"/>
              <a:sym typeface="Times New Roman"/>
            </a:endParaRPr>
          </a:p>
        </p:txBody>
      </p:sp>
      <p:sp>
        <p:nvSpPr>
          <p:cNvPr id="447" name="Google Shape;447;p29"/>
          <p:cNvSpPr txBox="1"/>
          <p:nvPr/>
        </p:nvSpPr>
        <p:spPr>
          <a:xfrm>
            <a:off x="4778385" y="3598955"/>
            <a:ext cx="428100" cy="389100"/>
          </a:xfrm>
          <a:prstGeom prst="rect">
            <a:avLst/>
          </a:prstGeom>
          <a:noFill/>
          <a:ln>
            <a:noFill/>
          </a:ln>
        </p:spPr>
        <p:txBody>
          <a:bodyPr anchorCtr="0" anchor="t" bIns="38500" lIns="77075" spcFirstLastPara="1" rIns="77075" wrap="square" tIns="38500">
            <a:spAutoFit/>
          </a:bodyPr>
          <a:lstStyle/>
          <a:p>
            <a:pPr indent="0" lvl="0" marL="0" marR="0" rtl="0" algn="l">
              <a:spcBef>
                <a:spcPts val="0"/>
              </a:spcBef>
              <a:spcAft>
                <a:spcPts val="0"/>
              </a:spcAft>
              <a:buNone/>
            </a:pPr>
            <a:r>
              <a:rPr b="0" i="1" lang="en-US" sz="2023" u="none" cap="none" strike="noStrike">
                <a:solidFill>
                  <a:schemeClr val="accent2"/>
                </a:solidFill>
                <a:latin typeface="Arial"/>
                <a:ea typeface="Arial"/>
                <a:cs typeface="Arial"/>
                <a:sym typeface="Arial"/>
              </a:rPr>
              <a:t>N</a:t>
            </a:r>
            <a:endParaRPr sz="1180"/>
          </a:p>
        </p:txBody>
      </p:sp>
      <p:sp>
        <p:nvSpPr>
          <p:cNvPr id="448" name="Google Shape;448;p29"/>
          <p:cNvSpPr/>
          <p:nvPr/>
        </p:nvSpPr>
        <p:spPr>
          <a:xfrm rot="-5400000">
            <a:off x="5720434" y="1500566"/>
            <a:ext cx="257100" cy="3168900"/>
          </a:xfrm>
          <a:prstGeom prst="leftBrace">
            <a:avLst>
              <a:gd fmla="val 77083" name="adj1"/>
              <a:gd fmla="val 50000" name="adj2"/>
            </a:avLst>
          </a:prstGeom>
          <a:noFill/>
          <a:ln cap="flat" cmpd="sng" w="16075">
            <a:solidFill>
              <a:schemeClr val="dk1"/>
            </a:solidFill>
            <a:prstDash val="solid"/>
            <a:round/>
            <a:headEnd len="sm" w="sm" type="none"/>
            <a:tailEnd len="sm" w="sm" type="none"/>
          </a:ln>
        </p:spPr>
        <p:txBody>
          <a:bodyPr anchorCtr="0" anchor="ctr" bIns="38500" lIns="77075" spcFirstLastPara="1" rIns="77075" wrap="square" tIns="38500">
            <a:noAutofit/>
          </a:bodyPr>
          <a:lstStyle/>
          <a:p>
            <a:pPr indent="0" lvl="0" marL="0" marR="0" rtl="0" algn="l">
              <a:spcBef>
                <a:spcPts val="0"/>
              </a:spcBef>
              <a:spcAft>
                <a:spcPts val="0"/>
              </a:spcAft>
              <a:buNone/>
            </a:pPr>
            <a:r>
              <a:t/>
            </a:r>
            <a:endParaRPr b="0" i="0" sz="2023" u="none" cap="none" strike="noStrike">
              <a:solidFill>
                <a:schemeClr val="dk1"/>
              </a:solidFill>
              <a:latin typeface="Times New Roman"/>
              <a:ea typeface="Times New Roman"/>
              <a:cs typeface="Times New Roman"/>
              <a:sym typeface="Times New Roman"/>
            </a:endParaRPr>
          </a:p>
        </p:txBody>
      </p:sp>
      <p:sp>
        <p:nvSpPr>
          <p:cNvPr id="449" name="Google Shape;449;p29"/>
          <p:cNvSpPr txBox="1"/>
          <p:nvPr/>
        </p:nvSpPr>
        <p:spPr>
          <a:xfrm>
            <a:off x="5806085" y="3085103"/>
            <a:ext cx="428100" cy="389100"/>
          </a:xfrm>
          <a:prstGeom prst="rect">
            <a:avLst/>
          </a:prstGeom>
          <a:noFill/>
          <a:ln>
            <a:noFill/>
          </a:ln>
        </p:spPr>
        <p:txBody>
          <a:bodyPr anchorCtr="0" anchor="t" bIns="38500" lIns="77075" spcFirstLastPara="1" rIns="77075" wrap="square" tIns="38500">
            <a:spAutoFit/>
          </a:bodyPr>
          <a:lstStyle/>
          <a:p>
            <a:pPr indent="0" lvl="0" marL="0" marR="0" rtl="0" algn="l">
              <a:spcBef>
                <a:spcPts val="0"/>
              </a:spcBef>
              <a:spcAft>
                <a:spcPts val="0"/>
              </a:spcAft>
              <a:buNone/>
            </a:pPr>
            <a:r>
              <a:rPr b="0" i="1" lang="en-US" sz="2023" u="none" cap="none" strike="noStrike">
                <a:solidFill>
                  <a:schemeClr val="accent2"/>
                </a:solidFill>
                <a:latin typeface="Arial"/>
                <a:ea typeface="Arial"/>
                <a:cs typeface="Arial"/>
                <a:sym typeface="Arial"/>
              </a:rPr>
              <a:t>M</a:t>
            </a:r>
            <a:endParaRPr sz="1180"/>
          </a:p>
        </p:txBody>
      </p:sp>
      <p:sp>
        <p:nvSpPr>
          <p:cNvPr id="450" name="Google Shape;450;p29"/>
          <p:cNvSpPr txBox="1"/>
          <p:nvPr/>
        </p:nvSpPr>
        <p:spPr>
          <a:xfrm>
            <a:off x="6491219" y="3663186"/>
            <a:ext cx="3511200" cy="337200"/>
          </a:xfrm>
          <a:prstGeom prst="rect">
            <a:avLst/>
          </a:prstGeom>
          <a:noFill/>
          <a:ln>
            <a:noFill/>
          </a:ln>
        </p:spPr>
        <p:txBody>
          <a:bodyPr anchorCtr="0" anchor="t" bIns="38500" lIns="77075" spcFirstLastPara="1" rIns="77075" wrap="square" tIns="38500">
            <a:spAutoFit/>
          </a:bodyPr>
          <a:lstStyle/>
          <a:p>
            <a:pPr indent="0" lvl="0" marL="0" marR="0" rtl="0" algn="l">
              <a:spcBef>
                <a:spcPts val="0"/>
              </a:spcBef>
              <a:spcAft>
                <a:spcPts val="0"/>
              </a:spcAft>
              <a:buNone/>
            </a:pPr>
            <a:r>
              <a:rPr b="0" i="1" lang="en-US" sz="1685" u="none" cap="none" strike="noStrike">
                <a:solidFill>
                  <a:schemeClr val="accent2"/>
                </a:solidFill>
                <a:latin typeface="Arial"/>
                <a:ea typeface="Arial"/>
                <a:cs typeface="Arial"/>
                <a:sym typeface="Arial"/>
              </a:rPr>
              <a:t>N-M</a:t>
            </a:r>
            <a:r>
              <a:rPr b="0" i="0" lang="en-US" sz="1685" u="none" cap="none" strike="noStrike">
                <a:solidFill>
                  <a:schemeClr val="accent2"/>
                </a:solidFill>
                <a:latin typeface="Arial"/>
                <a:ea typeface="Arial"/>
                <a:cs typeface="Arial"/>
                <a:sym typeface="Arial"/>
              </a:rPr>
              <a:t> = receiver window</a:t>
            </a:r>
            <a:endParaRPr b="0" i="1" sz="1685" u="none" cap="none" strike="noStrike">
              <a:solidFill>
                <a:schemeClr val="accen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0"/>
          <p:cNvSpPr txBox="1"/>
          <p:nvPr>
            <p:ph idx="12" type="sldNum"/>
          </p:nvPr>
        </p:nvSpPr>
        <p:spPr>
          <a:xfrm>
            <a:off x="8737600"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
        <p:nvSpPr>
          <p:cNvPr id="457" name="Google Shape;457;p30"/>
          <p:cNvSpPr txBox="1"/>
          <p:nvPr>
            <p:ph type="title"/>
          </p:nvPr>
        </p:nvSpPr>
        <p:spPr>
          <a:xfrm>
            <a:off x="1016000" y="381000"/>
            <a:ext cx="10363200" cy="76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Flow control</a:t>
            </a:r>
            <a:endParaRPr/>
          </a:p>
        </p:txBody>
      </p:sp>
      <p:sp>
        <p:nvSpPr>
          <p:cNvPr id="458" name="Google Shape;458;p30"/>
          <p:cNvSpPr txBox="1"/>
          <p:nvPr>
            <p:ph idx="1" type="body"/>
          </p:nvPr>
        </p:nvSpPr>
        <p:spPr>
          <a:xfrm>
            <a:off x="914400" y="1371600"/>
            <a:ext cx="3048000" cy="2362200"/>
          </a:xfrm>
          <a:prstGeom prst="rect">
            <a:avLst/>
          </a:prstGeom>
          <a:noFill/>
          <a:ln>
            <a:noFill/>
          </a:ln>
        </p:spPr>
        <p:txBody>
          <a:bodyPr anchorCtr="0" anchor="t" bIns="45700" lIns="91425" spcFirstLastPara="1" rIns="91425" wrap="square" tIns="45700">
            <a:normAutofit/>
          </a:bodyPr>
          <a:lstStyle/>
          <a:p>
            <a:pPr indent="-355600" lvl="0" marL="342900" rtl="0" algn="l">
              <a:spcBef>
                <a:spcPts val="0"/>
              </a:spcBef>
              <a:spcAft>
                <a:spcPts val="0"/>
              </a:spcAft>
              <a:buSzPts val="1800"/>
              <a:buChar char="▪"/>
            </a:pPr>
            <a:r>
              <a:rPr lang="en-US" sz="2200"/>
              <a:t>sliding widow</a:t>
            </a:r>
            <a:endParaRPr sz="3000"/>
          </a:p>
          <a:p>
            <a:pPr indent="-355600" lvl="0" marL="342900" rtl="0" algn="l">
              <a:spcBef>
                <a:spcPts val="400"/>
              </a:spcBef>
              <a:spcAft>
                <a:spcPts val="0"/>
              </a:spcAft>
              <a:buSzPts val="1800"/>
              <a:buChar char="▪"/>
            </a:pPr>
            <a:r>
              <a:rPr lang="en-US" sz="2200"/>
              <a:t>ACK is received for bytes 200-202</a:t>
            </a:r>
            <a:endParaRPr sz="3000"/>
          </a:p>
          <a:p>
            <a:pPr indent="-355600" lvl="0" marL="342900" rtl="0" algn="l">
              <a:spcBef>
                <a:spcPts val="400"/>
              </a:spcBef>
              <a:spcAft>
                <a:spcPts val="0"/>
              </a:spcAft>
              <a:buSzPts val="1800"/>
              <a:buChar char="▪"/>
            </a:pPr>
            <a:r>
              <a:rPr lang="en-US" sz="2200"/>
              <a:t>the sender can send bytes 205-209</a:t>
            </a:r>
            <a:endParaRPr sz="3000"/>
          </a:p>
        </p:txBody>
      </p:sp>
      <p:pic>
        <p:nvPicPr>
          <p:cNvPr id="459" name="Google Shape;459;p30"/>
          <p:cNvPicPr preferRelativeResize="0"/>
          <p:nvPr/>
        </p:nvPicPr>
        <p:blipFill rotWithShape="1">
          <a:blip r:embed="rId3">
            <a:alphaModFix/>
          </a:blip>
          <a:srcRect b="0" l="0" r="0" t="0"/>
          <a:stretch/>
        </p:blipFill>
        <p:spPr>
          <a:xfrm>
            <a:off x="4064000" y="1371600"/>
            <a:ext cx="7732183" cy="2185988"/>
          </a:xfrm>
          <a:prstGeom prst="rect">
            <a:avLst/>
          </a:prstGeom>
          <a:noFill/>
          <a:ln>
            <a:noFill/>
          </a:ln>
        </p:spPr>
      </p:pic>
      <p:pic>
        <p:nvPicPr>
          <p:cNvPr id="460" name="Google Shape;460;p30"/>
          <p:cNvPicPr preferRelativeResize="0"/>
          <p:nvPr/>
        </p:nvPicPr>
        <p:blipFill rotWithShape="1">
          <a:blip r:embed="rId4">
            <a:alphaModFix/>
          </a:blip>
          <a:srcRect b="0" l="0" r="0" t="0"/>
          <a:stretch/>
        </p:blipFill>
        <p:spPr>
          <a:xfrm>
            <a:off x="3759200" y="4114800"/>
            <a:ext cx="7001934" cy="879475"/>
          </a:xfrm>
          <a:prstGeom prst="rect">
            <a:avLst/>
          </a:prstGeom>
          <a:noFill/>
          <a:ln>
            <a:noFill/>
          </a:ln>
        </p:spPr>
      </p:pic>
      <p:sp>
        <p:nvSpPr>
          <p:cNvPr id="461" name="Google Shape;461;p30"/>
          <p:cNvSpPr/>
          <p:nvPr/>
        </p:nvSpPr>
        <p:spPr>
          <a:xfrm>
            <a:off x="711200" y="4114800"/>
            <a:ext cx="3048000" cy="685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F0000"/>
              </a:buClr>
              <a:buSzPts val="2000"/>
              <a:buFont typeface="Arial"/>
              <a:buChar char="•"/>
            </a:pPr>
            <a:r>
              <a:rPr b="0" i="0" lang="en-US" sz="2000" u="none" cap="none" strike="noStrike">
                <a:solidFill>
                  <a:schemeClr val="dk1"/>
                </a:solidFill>
                <a:latin typeface="Arial"/>
                <a:ea typeface="Arial"/>
                <a:cs typeface="Arial"/>
                <a:sym typeface="Arial"/>
              </a:rPr>
              <a:t>expanding the sender widow</a:t>
            </a:r>
            <a:endParaRPr/>
          </a:p>
        </p:txBody>
      </p:sp>
      <p:sp>
        <p:nvSpPr>
          <p:cNvPr id="462" name="Google Shape;462;p30"/>
          <p:cNvSpPr/>
          <p:nvPr/>
        </p:nvSpPr>
        <p:spPr>
          <a:xfrm>
            <a:off x="8737600" y="5410200"/>
            <a:ext cx="3048000" cy="685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F0000"/>
              </a:buClr>
              <a:buSzPts val="2000"/>
              <a:buFont typeface="Arial"/>
              <a:buChar char="•"/>
            </a:pPr>
            <a:r>
              <a:rPr b="0" i="0" lang="en-US" sz="2000" u="none" cap="none" strike="noStrike">
                <a:solidFill>
                  <a:schemeClr val="dk1"/>
                </a:solidFill>
                <a:latin typeface="Arial"/>
                <a:ea typeface="Arial"/>
                <a:cs typeface="Arial"/>
                <a:sym typeface="Arial"/>
              </a:rPr>
              <a:t>shrinking the sender widow</a:t>
            </a:r>
            <a:endParaRPr/>
          </a:p>
        </p:txBody>
      </p:sp>
      <p:pic>
        <p:nvPicPr>
          <p:cNvPr id="463" name="Google Shape;463;p30"/>
          <p:cNvPicPr preferRelativeResize="0"/>
          <p:nvPr/>
        </p:nvPicPr>
        <p:blipFill rotWithShape="1">
          <a:blip r:embed="rId5">
            <a:alphaModFix/>
          </a:blip>
          <a:srcRect b="0" l="0" r="0" t="0"/>
          <a:stretch/>
        </p:blipFill>
        <p:spPr>
          <a:xfrm>
            <a:off x="2743200" y="5181600"/>
            <a:ext cx="5719232" cy="922338"/>
          </a:xfrm>
          <a:prstGeom prst="rect">
            <a:avLst/>
          </a:prstGeom>
          <a:noFill/>
          <a:ln>
            <a:noFill/>
          </a:ln>
        </p:spPr>
      </p:pic>
      <p:cxnSp>
        <p:nvCxnSpPr>
          <p:cNvPr id="464" name="Google Shape;464;p30"/>
          <p:cNvCxnSpPr/>
          <p:nvPr/>
        </p:nvCxnSpPr>
        <p:spPr>
          <a:xfrm rot="10800000">
            <a:off x="5283200" y="2209800"/>
            <a:ext cx="2438400" cy="0"/>
          </a:xfrm>
          <a:prstGeom prst="straightConnector1">
            <a:avLst/>
          </a:prstGeom>
          <a:noFill/>
          <a:ln cap="flat" cmpd="sng" w="9525">
            <a:solidFill>
              <a:schemeClr val="dk1"/>
            </a:solidFill>
            <a:prstDash val="solid"/>
            <a:round/>
            <a:headEnd len="med" w="med" type="stealth"/>
            <a:tailEnd len="sm" w="sm" type="none"/>
          </a:ln>
        </p:spPr>
      </p:cxnSp>
      <p:sp>
        <p:nvSpPr>
          <p:cNvPr id="465" name="Google Shape;465;p30"/>
          <p:cNvSpPr txBox="1"/>
          <p:nvPr/>
        </p:nvSpPr>
        <p:spPr>
          <a:xfrm>
            <a:off x="5181600" y="2209800"/>
            <a:ext cx="26415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Direction of transmission</a:t>
            </a:r>
            <a:endParaRPr/>
          </a:p>
        </p:txBody>
      </p:sp>
      <p:cxnSp>
        <p:nvCxnSpPr>
          <p:cNvPr id="466" name="Google Shape;466;p30"/>
          <p:cNvCxnSpPr/>
          <p:nvPr/>
        </p:nvCxnSpPr>
        <p:spPr>
          <a:xfrm rot="10800000">
            <a:off x="9042400" y="1066800"/>
            <a:ext cx="2438400" cy="0"/>
          </a:xfrm>
          <a:prstGeom prst="straightConnector1">
            <a:avLst/>
          </a:prstGeom>
          <a:noFill/>
          <a:ln cap="flat" cmpd="sng" w="9525">
            <a:solidFill>
              <a:schemeClr val="dk1"/>
            </a:solidFill>
            <a:prstDash val="solid"/>
            <a:round/>
            <a:headEnd len="sm" w="sm" type="none"/>
            <a:tailEnd len="med" w="med" type="triangle"/>
          </a:ln>
        </p:spPr>
      </p:cxnSp>
      <p:sp>
        <p:nvSpPr>
          <p:cNvPr id="467" name="Google Shape;467;p30"/>
          <p:cNvSpPr txBox="1"/>
          <p:nvPr/>
        </p:nvSpPr>
        <p:spPr>
          <a:xfrm>
            <a:off x="9042400" y="1066800"/>
            <a:ext cx="26415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Direction of window shift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1"/>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74" name="Google Shape;474;p31"/>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475" name="Google Shape;475;p31"/>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15.25</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An example of flow control</a:t>
            </a:r>
            <a:endParaRPr/>
          </a:p>
        </p:txBody>
      </p:sp>
      <p:sp>
        <p:nvSpPr>
          <p:cNvPr id="476" name="Google Shape;476;p31"/>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77" name="Google Shape;477;p31"/>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78" name="Google Shape;478;p31"/>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79" name="Google Shape;479;p31"/>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0" name="Google Shape;480;p31"/>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1" name="Google Shape;481;p31"/>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2" name="Google Shape;482;p31"/>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483" name="Google Shape;483;p31"/>
          <p:cNvPicPr preferRelativeResize="0"/>
          <p:nvPr/>
        </p:nvPicPr>
        <p:blipFill rotWithShape="1">
          <a:blip r:embed="rId3">
            <a:alphaModFix/>
          </a:blip>
          <a:srcRect b="0" l="0" r="0" t="0"/>
          <a:stretch/>
        </p:blipFill>
        <p:spPr>
          <a:xfrm>
            <a:off x="2895500" y="443800"/>
            <a:ext cx="6559250" cy="62168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2"/>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90" name="Google Shape;490;p32"/>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491" name="Google Shape;491;p32"/>
          <p:cNvSpPr txBox="1"/>
          <p:nvPr/>
        </p:nvSpPr>
        <p:spPr>
          <a:xfrm>
            <a:off x="88900" y="658812"/>
            <a:ext cx="11900100" cy="4525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Figure 15.26 shows the reason for the mandate in window shrinking. Part a of the figure shows values of last acknowledgment and </a:t>
            </a:r>
            <a:r>
              <a:rPr b="1" i="1" lang="en-US" sz="2400" u="none">
                <a:solidFill>
                  <a:schemeClr val="dk1"/>
                </a:solidFill>
                <a:latin typeface="Arimo"/>
                <a:ea typeface="Arimo"/>
                <a:cs typeface="Arimo"/>
                <a:sym typeface="Arimo"/>
              </a:rPr>
              <a:t>rwnd</a:t>
            </a:r>
            <a:r>
              <a:rPr b="1" i="0" lang="en-US" sz="2400" u="none">
                <a:solidFill>
                  <a:schemeClr val="dk1"/>
                </a:solidFill>
                <a:latin typeface="Arimo"/>
                <a:ea typeface="Arimo"/>
                <a:cs typeface="Arimo"/>
                <a:sym typeface="Arimo"/>
              </a:rPr>
              <a:t>. Part b shows the situation in which the sender has sent bytes 206 to 214. Bytes 206 to 209 are acknowledged and purged. The new advertisement, however, defines the new value of </a:t>
            </a:r>
            <a:r>
              <a:rPr b="1" i="1" lang="en-US" sz="2400" u="none">
                <a:solidFill>
                  <a:schemeClr val="dk1"/>
                </a:solidFill>
                <a:latin typeface="Arimo"/>
                <a:ea typeface="Arimo"/>
                <a:cs typeface="Arimo"/>
                <a:sym typeface="Arimo"/>
              </a:rPr>
              <a:t>rwnd</a:t>
            </a:r>
            <a:r>
              <a:rPr b="1" i="0" lang="en-US" sz="2400" u="none">
                <a:solidFill>
                  <a:schemeClr val="dk1"/>
                </a:solidFill>
                <a:latin typeface="Arimo"/>
                <a:ea typeface="Arimo"/>
                <a:cs typeface="Arimo"/>
                <a:sym typeface="Arimo"/>
              </a:rPr>
              <a:t> as 4, in which 210 + 4 &lt; 206 + 12. When the send window shrinks, it creates a problem: byte 214 which has been already sent is outside the window. The relation discussed before forces the receiver to maintain the right-hand wall of the window to be as shown in part a because the receiver does not know which of the bytes 210 to 217 has already been sent. One way to prevent this situation is to let the receiver postpone its feedback until enough buffer locations are available in its window. In other words, the receiver should wait until more bytes are consumed by its process.</a:t>
            </a:r>
            <a:endParaRPr/>
          </a:p>
        </p:txBody>
      </p:sp>
      <p:grpSp>
        <p:nvGrpSpPr>
          <p:cNvPr id="492" name="Google Shape;492;p32"/>
          <p:cNvGrpSpPr/>
          <p:nvPr/>
        </p:nvGrpSpPr>
        <p:grpSpPr>
          <a:xfrm>
            <a:off x="0" y="0"/>
            <a:ext cx="12065000" cy="476250"/>
            <a:chOff x="0" y="2448"/>
            <a:chExt cx="5700" cy="300"/>
          </a:xfrm>
        </p:grpSpPr>
        <p:sp>
          <p:nvSpPr>
            <p:cNvPr id="493" name="Google Shape;493;p32"/>
            <p:cNvSpPr txBox="1"/>
            <p:nvPr/>
          </p:nvSpPr>
          <p:spPr>
            <a:xfrm>
              <a:off x="0" y="2448"/>
              <a:ext cx="5700" cy="300"/>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94" name="Google Shape;494;p32"/>
            <p:cNvSpPr txBox="1"/>
            <p:nvPr/>
          </p:nvSpPr>
          <p:spPr>
            <a:xfrm>
              <a:off x="0" y="2448"/>
              <a:ext cx="1500" cy="300"/>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15.2</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3"/>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01" name="Google Shape;501;p33"/>
          <p:cNvSpPr txBox="1"/>
          <p:nvPr/>
        </p:nvSpPr>
        <p:spPr>
          <a:xfrm>
            <a:off x="94657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502" name="Google Shape;502;p33"/>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15.26</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15.2</a:t>
            </a:r>
            <a:endParaRPr/>
          </a:p>
        </p:txBody>
      </p:sp>
      <p:sp>
        <p:nvSpPr>
          <p:cNvPr id="503" name="Google Shape;503;p33"/>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4" name="Google Shape;504;p33"/>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5" name="Google Shape;505;p33"/>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6" name="Google Shape;506;p33"/>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7" name="Google Shape;507;p33"/>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8" name="Google Shape;508;p33"/>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9" name="Google Shape;509;p33"/>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510" name="Google Shape;510;p33"/>
          <p:cNvPicPr preferRelativeResize="0"/>
          <p:nvPr/>
        </p:nvPicPr>
        <p:blipFill rotWithShape="1">
          <a:blip r:embed="rId3">
            <a:alphaModFix/>
          </a:blip>
          <a:srcRect b="0" l="0" r="0" t="0"/>
          <a:stretch/>
        </p:blipFill>
        <p:spPr>
          <a:xfrm>
            <a:off x="2180167" y="1412875"/>
            <a:ext cx="7897814" cy="2092325"/>
          </a:xfrm>
          <a:prstGeom prst="rect">
            <a:avLst/>
          </a:prstGeom>
          <a:noFill/>
          <a:ln>
            <a:noFill/>
          </a:ln>
        </p:spPr>
      </p:pic>
      <p:pic>
        <p:nvPicPr>
          <p:cNvPr id="511" name="Google Shape;511;p33"/>
          <p:cNvPicPr preferRelativeResize="0"/>
          <p:nvPr/>
        </p:nvPicPr>
        <p:blipFill rotWithShape="1">
          <a:blip r:embed="rId4">
            <a:alphaModFix/>
          </a:blip>
          <a:srcRect b="0" l="0" r="0" t="0"/>
          <a:stretch/>
        </p:blipFill>
        <p:spPr>
          <a:xfrm>
            <a:off x="2182283" y="3981450"/>
            <a:ext cx="7897814" cy="2252662"/>
          </a:xfrm>
          <a:prstGeom prst="rect">
            <a:avLst/>
          </a:prstGeom>
          <a:noFill/>
          <a:ln>
            <a:noFill/>
          </a:ln>
        </p:spPr>
      </p:pic>
      <p:sp>
        <p:nvSpPr>
          <p:cNvPr id="512" name="Google Shape;512;p33"/>
          <p:cNvSpPr txBox="1"/>
          <p:nvPr/>
        </p:nvSpPr>
        <p:spPr>
          <a:xfrm>
            <a:off x="5655659" y="5700121"/>
            <a:ext cx="455100" cy="215400"/>
          </a:xfrm>
          <a:prstGeom prst="rect">
            <a:avLst/>
          </a:prstGeom>
          <a:solidFill>
            <a:schemeClr val="lt1"/>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0000"/>
              </a:buClr>
              <a:buSzPts val="1400"/>
              <a:buFont typeface="Tahoma"/>
              <a:buNone/>
            </a:pPr>
            <a:r>
              <a:rPr b="1" i="0" lang="en-US" sz="1400" u="none">
                <a:solidFill>
                  <a:srgbClr val="FF0000"/>
                </a:solidFill>
                <a:latin typeface="Tahoma"/>
                <a:ea typeface="Tahoma"/>
                <a:cs typeface="Tahoma"/>
                <a:sym typeface="Tahoma"/>
              </a:rPr>
              <a:t>210</a:t>
            </a:r>
            <a:endParaRPr/>
          </a:p>
        </p:txBody>
      </p:sp>
      <p:sp>
        <p:nvSpPr>
          <p:cNvPr id="513" name="Google Shape;513;p33"/>
          <p:cNvSpPr txBox="1"/>
          <p:nvPr/>
        </p:nvSpPr>
        <p:spPr>
          <a:xfrm>
            <a:off x="2305049" y="668337"/>
            <a:ext cx="81153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1600"/>
              <a:buFont typeface="Tahoma"/>
              <a:buNone/>
            </a:pPr>
            <a:r>
              <a:rPr b="1" i="0" lang="en-US" sz="1600" u="none">
                <a:solidFill>
                  <a:srgbClr val="0000FF"/>
                </a:solidFill>
                <a:latin typeface="Tahoma"/>
                <a:ea typeface="Tahoma"/>
                <a:cs typeface="Tahoma"/>
                <a:sym typeface="Tahoma"/>
              </a:rPr>
              <a:t>Prevent the shrinking of the send window: </a:t>
            </a:r>
            <a:endParaRPr/>
          </a:p>
          <a:p>
            <a:pPr indent="0" lvl="0" marL="0" marR="0" rtl="0" algn="ctr">
              <a:lnSpc>
                <a:spcPct val="100000"/>
              </a:lnSpc>
              <a:spcBef>
                <a:spcPts val="0"/>
              </a:spcBef>
              <a:spcAft>
                <a:spcPts val="0"/>
              </a:spcAft>
              <a:buClr>
                <a:srgbClr val="FF0000"/>
              </a:buClr>
              <a:buSzPts val="1600"/>
              <a:buFont typeface="Tahoma"/>
              <a:buNone/>
            </a:pPr>
            <a:r>
              <a:rPr b="1" i="0" lang="en-US" sz="1600" u="none">
                <a:solidFill>
                  <a:srgbClr val="FF0000"/>
                </a:solidFill>
                <a:latin typeface="Tahoma"/>
                <a:ea typeface="Tahoma"/>
                <a:cs typeface="Tahoma"/>
                <a:sym typeface="Tahoma"/>
              </a:rPr>
              <a:t>new ackNo + new rwnd &gt;= last ackNo + last rwnd</a:t>
            </a:r>
            <a:endParaRPr/>
          </a:p>
        </p:txBody>
      </p:sp>
      <p:sp>
        <p:nvSpPr>
          <p:cNvPr id="514" name="Google Shape;514;p33"/>
          <p:cNvSpPr txBox="1"/>
          <p:nvPr/>
        </p:nvSpPr>
        <p:spPr>
          <a:xfrm>
            <a:off x="7052733" y="4421187"/>
            <a:ext cx="4212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Tahoma"/>
              <a:buNone/>
            </a:pPr>
            <a:r>
              <a:rPr b="1" i="0" lang="en-US" sz="2000" u="none">
                <a:solidFill>
                  <a:srgbClr val="0000FF"/>
                </a:solidFill>
                <a:latin typeface="Tahoma"/>
                <a:ea typeface="Tahoma"/>
                <a:cs typeface="Tahoma"/>
                <a:sym typeface="Tahoma"/>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10"/>
                                        </p:tgtEl>
                                        <p:attrNameLst>
                                          <p:attrName>style.visibility</p:attrName>
                                        </p:attrNameLst>
                                      </p:cBhvr>
                                      <p:to>
                                        <p:strVal val="visible"/>
                                      </p:to>
                                    </p:set>
                                    <p:anim calcmode="lin" valueType="num">
                                      <p:cBhvr additive="base">
                                        <p:cTn dur="500"/>
                                        <p:tgtEl>
                                          <p:spTgt spid="510"/>
                                        </p:tgtEl>
                                        <p:attrNameLst>
                                          <p:attrName>ppt_w</p:attrName>
                                        </p:attrNameLst>
                                      </p:cBhvr>
                                      <p:tavLst>
                                        <p:tav fmla="" tm="0">
                                          <p:val>
                                            <p:strVal val="0"/>
                                          </p:val>
                                        </p:tav>
                                        <p:tav fmla="" tm="100000">
                                          <p:val>
                                            <p:strVal val="#ppt_w"/>
                                          </p:val>
                                        </p:tav>
                                      </p:tavLst>
                                    </p:anim>
                                    <p:anim calcmode="lin" valueType="num">
                                      <p:cBhvr additive="base">
                                        <p:cTn dur="500"/>
                                        <p:tgtEl>
                                          <p:spTgt spid="51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11"/>
                                        </p:tgtEl>
                                        <p:attrNameLst>
                                          <p:attrName>style.visibility</p:attrName>
                                        </p:attrNameLst>
                                      </p:cBhvr>
                                      <p:to>
                                        <p:strVal val="visible"/>
                                      </p:to>
                                    </p:set>
                                    <p:anim calcmode="lin" valueType="num">
                                      <p:cBhvr additive="base">
                                        <p:cTn dur="500"/>
                                        <p:tgtEl>
                                          <p:spTgt spid="511"/>
                                        </p:tgtEl>
                                        <p:attrNameLst>
                                          <p:attrName>ppt_w</p:attrName>
                                        </p:attrNameLst>
                                      </p:cBhvr>
                                      <p:tavLst>
                                        <p:tav fmla="" tm="0">
                                          <p:val>
                                            <p:strVal val="0"/>
                                          </p:val>
                                        </p:tav>
                                        <p:tav fmla="" tm="100000">
                                          <p:val>
                                            <p:strVal val="#ppt_w"/>
                                          </p:val>
                                        </p:tav>
                                      </p:tavLst>
                                    </p:anim>
                                    <p:anim calcmode="lin" valueType="num">
                                      <p:cBhvr additive="base">
                                        <p:cTn dur="500"/>
                                        <p:tgtEl>
                                          <p:spTgt spid="51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4"/>
          <p:cNvSpPr txBox="1"/>
          <p:nvPr>
            <p:ph type="title"/>
          </p:nvPr>
        </p:nvSpPr>
        <p:spPr>
          <a:xfrm>
            <a:off x="678650" y="580425"/>
            <a:ext cx="10983600" cy="672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solidFill>
                  <a:srgbClr val="0000CC"/>
                </a:solidFill>
                <a:latin typeface="Calibri"/>
                <a:ea typeface="Calibri"/>
                <a:cs typeface="Calibri"/>
                <a:sym typeface="Calibri"/>
              </a:rPr>
              <a:t>TCP Flow Control</a:t>
            </a:r>
            <a:endParaRPr/>
          </a:p>
        </p:txBody>
      </p:sp>
      <p:sp>
        <p:nvSpPr>
          <p:cNvPr id="520" name="Google Shape;520;p34"/>
          <p:cNvSpPr txBox="1"/>
          <p:nvPr>
            <p:ph idx="1" type="body"/>
          </p:nvPr>
        </p:nvSpPr>
        <p:spPr>
          <a:xfrm>
            <a:off x="839400" y="1580550"/>
            <a:ext cx="10153200" cy="4375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080"/>
              <a:buChar char="■"/>
            </a:pPr>
            <a:r>
              <a:rPr lang="en-US"/>
              <a:t>Problem</a:t>
            </a:r>
            <a:endParaRPr/>
          </a:p>
          <a:p>
            <a:pPr indent="-285750" lvl="1" marL="742950" rtl="0" algn="l">
              <a:spcBef>
                <a:spcPts val="440"/>
              </a:spcBef>
              <a:spcAft>
                <a:spcPts val="0"/>
              </a:spcAft>
              <a:buSzPts val="2200"/>
              <a:buChar char="■"/>
            </a:pPr>
            <a:r>
              <a:rPr lang="en-US"/>
              <a:t>Receiver advertise </a:t>
            </a:r>
            <a:r>
              <a:rPr b="1" lang="en-US">
                <a:latin typeface="Courier New"/>
                <a:ea typeface="Courier New"/>
                <a:cs typeface="Courier New"/>
                <a:sym typeface="Courier New"/>
              </a:rPr>
              <a:t>RecvWindow </a:t>
            </a:r>
            <a:r>
              <a:rPr lang="en-US">
                <a:latin typeface="Courier New"/>
                <a:ea typeface="Courier New"/>
                <a:cs typeface="Courier New"/>
                <a:sym typeface="Courier New"/>
              </a:rPr>
              <a:t>= 0</a:t>
            </a:r>
            <a:endParaRPr/>
          </a:p>
          <a:p>
            <a:pPr indent="-285750" lvl="1" marL="742950" rtl="0" algn="l">
              <a:spcBef>
                <a:spcPts val="440"/>
              </a:spcBef>
              <a:spcAft>
                <a:spcPts val="0"/>
              </a:spcAft>
              <a:buSzPts val="2200"/>
              <a:buChar char="■"/>
            </a:pPr>
            <a:r>
              <a:rPr lang="en-US">
                <a:latin typeface="Arial"/>
                <a:ea typeface="Arial"/>
                <a:cs typeface="Arial"/>
                <a:sym typeface="Arial"/>
              </a:rPr>
              <a:t>Window shutdown</a:t>
            </a:r>
            <a:endParaRPr/>
          </a:p>
        </p:txBody>
      </p:sp>
      <p:sp>
        <p:nvSpPr>
          <p:cNvPr id="521" name="Google Shape;521;p34"/>
          <p:cNvSpPr txBox="1"/>
          <p:nvPr>
            <p:ph idx="11" type="ftr"/>
          </p:nvPr>
        </p:nvSpPr>
        <p:spPr>
          <a:xfrm>
            <a:off x="8737600" y="6477000"/>
            <a:ext cx="3251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400" u="none" cap="none" strike="noStrike">
                <a:solidFill>
                  <a:schemeClr val="dk1"/>
                </a:solidFill>
                <a:latin typeface="Comic Sans MS"/>
                <a:ea typeface="Comic Sans MS"/>
                <a:cs typeface="Comic Sans MS"/>
                <a:sym typeface="Comic Sans MS"/>
              </a:rPr>
              <a:t>Transport Layer</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5"/>
          <p:cNvSpPr txBox="1"/>
          <p:nvPr/>
        </p:nvSpPr>
        <p:spPr>
          <a:xfrm>
            <a:off x="914408" y="6248400"/>
            <a:ext cx="38607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527" name="Google Shape;527;p35"/>
          <p:cNvSpPr txBox="1"/>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528" name="Google Shape;528;p35"/>
          <p:cNvSpPr txBox="1"/>
          <p:nvPr>
            <p:ph type="title"/>
          </p:nvPr>
        </p:nvSpPr>
        <p:spPr>
          <a:xfrm>
            <a:off x="914400" y="228600"/>
            <a:ext cx="9160800" cy="836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CC"/>
              </a:buClr>
              <a:buSzPts val="4000"/>
              <a:buFont typeface="Comic Sans MS"/>
              <a:buNone/>
            </a:pPr>
            <a:r>
              <a:rPr b="1" i="0" lang="en-US" sz="4000" u="none">
                <a:solidFill>
                  <a:srgbClr val="0000CC"/>
                </a:solidFill>
                <a:latin typeface="Calibri"/>
                <a:ea typeface="Calibri"/>
                <a:cs typeface="Calibri"/>
                <a:sym typeface="Calibri"/>
              </a:rPr>
              <a:t>Silly Window Syndrome (1)</a:t>
            </a:r>
            <a:endParaRPr>
              <a:latin typeface="Calibri"/>
              <a:ea typeface="Calibri"/>
              <a:cs typeface="Calibri"/>
              <a:sym typeface="Calibri"/>
            </a:endParaRPr>
          </a:p>
        </p:txBody>
      </p:sp>
      <p:sp>
        <p:nvSpPr>
          <p:cNvPr id="529" name="Google Shape;529;p35"/>
          <p:cNvSpPr txBox="1"/>
          <p:nvPr>
            <p:ph idx="1" type="body"/>
          </p:nvPr>
        </p:nvSpPr>
        <p:spPr>
          <a:xfrm>
            <a:off x="914400" y="1219200"/>
            <a:ext cx="10261500" cy="4969200"/>
          </a:xfrm>
          <a:prstGeom prst="rect">
            <a:avLst/>
          </a:prstGeom>
          <a:noFill/>
          <a:ln>
            <a:noFill/>
          </a:ln>
        </p:spPr>
        <p:txBody>
          <a:bodyPr anchorCtr="0" anchor="t" bIns="45700" lIns="91425" spcFirstLastPara="1" rIns="91425" wrap="square" tIns="45700">
            <a:noAutofit/>
          </a:bodyPr>
          <a:lstStyle/>
          <a:p>
            <a:pPr indent="-365125" lvl="0" marL="365125" rtl="0" algn="l">
              <a:lnSpc>
                <a:spcPct val="100000"/>
              </a:lnSpc>
              <a:spcBef>
                <a:spcPts val="0"/>
              </a:spcBef>
              <a:spcAft>
                <a:spcPts val="0"/>
              </a:spcAft>
              <a:buClr>
                <a:schemeClr val="dk1"/>
              </a:buClr>
              <a:buSzPts val="2800"/>
              <a:buFont typeface="Calibri"/>
              <a:buChar char="⮚"/>
            </a:pPr>
            <a:r>
              <a:rPr b="1" i="0" lang="en-US" sz="2800" u="none">
                <a:solidFill>
                  <a:schemeClr val="dk2"/>
                </a:solidFill>
                <a:latin typeface="Calibri"/>
                <a:ea typeface="Calibri"/>
                <a:cs typeface="Calibri"/>
                <a:sym typeface="Calibri"/>
              </a:rPr>
              <a:t>Sending data in very small segments</a:t>
            </a:r>
            <a:endParaRPr b="1" sz="2800">
              <a:solidFill>
                <a:schemeClr val="dk2"/>
              </a:solidFill>
              <a:latin typeface="Calibri"/>
              <a:ea typeface="Calibri"/>
              <a:cs typeface="Calibri"/>
              <a:sym typeface="Calibri"/>
            </a:endParaRPr>
          </a:p>
          <a:p>
            <a:pPr indent="-365125" lvl="0" marL="365125" rtl="0" algn="l">
              <a:lnSpc>
                <a:spcPct val="100000"/>
              </a:lnSpc>
              <a:spcBef>
                <a:spcPts val="1000"/>
              </a:spcBef>
              <a:spcAft>
                <a:spcPts val="0"/>
              </a:spcAft>
              <a:buClr>
                <a:schemeClr val="dk1"/>
              </a:buClr>
              <a:buSzPts val="2800"/>
              <a:buFont typeface="Calibri"/>
              <a:buAutoNum type="arabicPeriod"/>
            </a:pPr>
            <a:r>
              <a:rPr i="0" lang="en-US" sz="2800" u="none">
                <a:latin typeface="Calibri"/>
                <a:ea typeface="Calibri"/>
                <a:cs typeface="Calibri"/>
                <a:sym typeface="Calibri"/>
              </a:rPr>
              <a:t>Syndrome created by the Sender</a:t>
            </a:r>
            <a:endParaRPr>
              <a:latin typeface="Calibri"/>
              <a:ea typeface="Calibri"/>
              <a:cs typeface="Calibri"/>
              <a:sym typeface="Calibri"/>
            </a:endParaRPr>
          </a:p>
          <a:p>
            <a:pPr indent="-263525" lvl="1" marL="808037" rtl="0" algn="l">
              <a:lnSpc>
                <a:spcPct val="100000"/>
              </a:lnSpc>
              <a:spcBef>
                <a:spcPts val="100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Sending application program creates data slowly (e.g. 1 byte at a time)</a:t>
            </a:r>
            <a:endParaRPr>
              <a:latin typeface="Calibri"/>
              <a:ea typeface="Calibri"/>
              <a:cs typeface="Calibri"/>
              <a:sym typeface="Calibri"/>
            </a:endParaRPr>
          </a:p>
          <a:p>
            <a:pPr indent="-263525" lvl="1" marL="808037" rtl="0" algn="l">
              <a:lnSpc>
                <a:spcPct val="100000"/>
              </a:lnSpc>
              <a:spcBef>
                <a:spcPts val="100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Wait and collect data to send in a larger block</a:t>
            </a:r>
            <a:endParaRPr>
              <a:latin typeface="Calibri"/>
              <a:ea typeface="Calibri"/>
              <a:cs typeface="Calibri"/>
              <a:sym typeface="Calibri"/>
            </a:endParaRPr>
          </a:p>
          <a:p>
            <a:pPr indent="-263525" lvl="1" marL="808037" rtl="0" algn="l">
              <a:lnSpc>
                <a:spcPct val="100000"/>
              </a:lnSpc>
              <a:spcBef>
                <a:spcPts val="100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How long should the sending TCP wait?</a:t>
            </a:r>
            <a:endParaRPr>
              <a:latin typeface="Calibri"/>
              <a:ea typeface="Calibri"/>
              <a:cs typeface="Calibri"/>
              <a:sym typeface="Calibri"/>
            </a:endParaRPr>
          </a:p>
          <a:p>
            <a:pPr indent="0" lvl="0" marL="0" rtl="0" algn="l">
              <a:lnSpc>
                <a:spcPct val="100000"/>
              </a:lnSpc>
              <a:spcBef>
                <a:spcPts val="1000"/>
              </a:spcBef>
              <a:spcAft>
                <a:spcPts val="0"/>
              </a:spcAft>
              <a:buNone/>
            </a:pPr>
            <a:r>
              <a:rPr b="1" i="0" lang="en-US" sz="2400" u="none">
                <a:solidFill>
                  <a:schemeClr val="dk1"/>
                </a:solidFill>
                <a:latin typeface="Calibri"/>
                <a:ea typeface="Calibri"/>
                <a:cs typeface="Calibri"/>
                <a:sym typeface="Calibri"/>
              </a:rPr>
              <a:t>Solution: </a:t>
            </a:r>
            <a:r>
              <a:rPr b="1" i="0" lang="en-US" sz="2400" u="none">
                <a:solidFill>
                  <a:srgbClr val="E06666"/>
                </a:solidFill>
                <a:latin typeface="Calibri"/>
                <a:ea typeface="Calibri"/>
                <a:cs typeface="Calibri"/>
                <a:sym typeface="Calibri"/>
              </a:rPr>
              <a:t>Nagle’s algorithm</a:t>
            </a:r>
            <a:endParaRPr b="1">
              <a:solidFill>
                <a:srgbClr val="E06666"/>
              </a:solidFill>
              <a:latin typeface="Calibri"/>
              <a:ea typeface="Calibri"/>
              <a:cs typeface="Calibri"/>
              <a:sym typeface="Calibri"/>
            </a:endParaRPr>
          </a:p>
          <a:p>
            <a:pPr indent="-263525" lvl="1" marL="808037" rtl="0" algn="l">
              <a:lnSpc>
                <a:spcPct val="100000"/>
              </a:lnSpc>
              <a:spcBef>
                <a:spcPts val="1000"/>
              </a:spcBef>
              <a:spcAft>
                <a:spcPts val="0"/>
              </a:spcAft>
              <a:buClr>
                <a:schemeClr val="dk1"/>
              </a:buClr>
              <a:buSzPts val="2400"/>
              <a:buFont typeface="Comic Sans MS"/>
              <a:buChar char="–"/>
            </a:pPr>
            <a:r>
              <a:rPr i="0" lang="en-US" sz="2400" u="none">
                <a:solidFill>
                  <a:schemeClr val="dk1"/>
                </a:solidFill>
                <a:latin typeface="Calibri"/>
                <a:ea typeface="Calibri"/>
                <a:cs typeface="Calibri"/>
                <a:sym typeface="Calibri"/>
              </a:rPr>
              <a:t>Nagle’s algorithm takes into account (1) </a:t>
            </a:r>
            <a:r>
              <a:rPr i="0" lang="en-US" sz="2400" u="none">
                <a:solidFill>
                  <a:srgbClr val="0000CC"/>
                </a:solidFill>
                <a:latin typeface="Calibri"/>
                <a:ea typeface="Calibri"/>
                <a:cs typeface="Calibri"/>
                <a:sym typeface="Calibri"/>
              </a:rPr>
              <a:t>the speed of the application program</a:t>
            </a:r>
            <a:r>
              <a:rPr i="0" lang="en-US" sz="2400" u="none">
                <a:solidFill>
                  <a:schemeClr val="dk1"/>
                </a:solidFill>
                <a:latin typeface="Calibri"/>
                <a:ea typeface="Calibri"/>
                <a:cs typeface="Calibri"/>
                <a:sym typeface="Calibri"/>
              </a:rPr>
              <a:t> that creates the data, and (2) </a:t>
            </a:r>
            <a:r>
              <a:rPr i="0" lang="en-US" sz="2400" u="none">
                <a:solidFill>
                  <a:srgbClr val="0000CC"/>
                </a:solidFill>
                <a:latin typeface="Calibri"/>
                <a:ea typeface="Calibri"/>
                <a:cs typeface="Calibri"/>
                <a:sym typeface="Calibri"/>
              </a:rPr>
              <a:t>the speed of the network</a:t>
            </a:r>
            <a:r>
              <a:rPr i="0" lang="en-US" sz="2400" u="none">
                <a:solidFill>
                  <a:schemeClr val="dk1"/>
                </a:solidFill>
                <a:latin typeface="Calibri"/>
                <a:ea typeface="Calibri"/>
                <a:cs typeface="Calibri"/>
                <a:sym typeface="Calibri"/>
              </a:rPr>
              <a:t> that transports the data</a:t>
            </a:r>
            <a:endParaRPr>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6"/>
          <p:cNvSpPr txBox="1"/>
          <p:nvPr/>
        </p:nvSpPr>
        <p:spPr>
          <a:xfrm>
            <a:off x="914408" y="6248400"/>
            <a:ext cx="38607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535" name="Google Shape;535;p36"/>
          <p:cNvSpPr txBox="1"/>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536" name="Google Shape;536;p36"/>
          <p:cNvSpPr txBox="1"/>
          <p:nvPr>
            <p:ph type="title"/>
          </p:nvPr>
        </p:nvSpPr>
        <p:spPr>
          <a:xfrm>
            <a:off x="914400" y="228600"/>
            <a:ext cx="9160800" cy="836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CC"/>
              </a:buClr>
              <a:buSzPts val="4000"/>
              <a:buFont typeface="Comic Sans MS"/>
              <a:buNone/>
            </a:pPr>
            <a:r>
              <a:rPr b="1" i="0" lang="en-US" sz="4000" u="none">
                <a:solidFill>
                  <a:srgbClr val="0000CC"/>
                </a:solidFill>
                <a:latin typeface="Calibri"/>
                <a:ea typeface="Calibri"/>
                <a:cs typeface="Calibri"/>
                <a:sym typeface="Calibri"/>
              </a:rPr>
              <a:t>Silly Window Syndrome (2)</a:t>
            </a:r>
            <a:endParaRPr>
              <a:latin typeface="Calibri"/>
              <a:ea typeface="Calibri"/>
              <a:cs typeface="Calibri"/>
              <a:sym typeface="Calibri"/>
            </a:endParaRPr>
          </a:p>
        </p:txBody>
      </p:sp>
      <p:sp>
        <p:nvSpPr>
          <p:cNvPr id="537" name="Google Shape;537;p36"/>
          <p:cNvSpPr txBox="1"/>
          <p:nvPr>
            <p:ph idx="1" type="body"/>
          </p:nvPr>
        </p:nvSpPr>
        <p:spPr>
          <a:xfrm>
            <a:off x="914400" y="1219200"/>
            <a:ext cx="10261500" cy="4960200"/>
          </a:xfrm>
          <a:prstGeom prst="rect">
            <a:avLst/>
          </a:prstGeom>
          <a:noFill/>
          <a:ln>
            <a:noFill/>
          </a:ln>
        </p:spPr>
        <p:txBody>
          <a:bodyPr anchorCtr="0" anchor="t" bIns="45700" lIns="91425" spcFirstLastPara="1" rIns="91425" wrap="square" tIns="45700">
            <a:noAutofit/>
          </a:bodyPr>
          <a:lstStyle/>
          <a:p>
            <a:pPr indent="-365125" lvl="0" marL="365125" rtl="0" algn="l">
              <a:lnSpc>
                <a:spcPct val="115000"/>
              </a:lnSpc>
              <a:spcBef>
                <a:spcPts val="1000"/>
              </a:spcBef>
              <a:spcAft>
                <a:spcPts val="0"/>
              </a:spcAft>
              <a:buClr>
                <a:schemeClr val="dk1"/>
              </a:buClr>
              <a:buSzPts val="2800"/>
              <a:buFont typeface="Calibri"/>
              <a:buAutoNum type="arabicPeriod" startAt="2"/>
            </a:pPr>
            <a:r>
              <a:rPr i="0" lang="en-US" sz="2800" u="none">
                <a:latin typeface="Calibri"/>
                <a:ea typeface="Calibri"/>
                <a:cs typeface="Calibri"/>
                <a:sym typeface="Calibri"/>
              </a:rPr>
              <a:t>Syndrome created by the Receiver</a:t>
            </a:r>
            <a:endParaRPr>
              <a:latin typeface="Calibri"/>
              <a:ea typeface="Calibri"/>
              <a:cs typeface="Calibri"/>
              <a:sym typeface="Calibri"/>
            </a:endParaRPr>
          </a:p>
          <a:p>
            <a:pPr indent="-263525" lvl="1" marL="808037" rtl="0" algn="l">
              <a:lnSpc>
                <a:spcPct val="115000"/>
              </a:lnSpc>
              <a:spcBef>
                <a:spcPts val="100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Receiving application program consumes data slowly (e.g. 1 byte at a time)</a:t>
            </a:r>
            <a:endParaRPr>
              <a:latin typeface="Calibri"/>
              <a:ea typeface="Calibri"/>
              <a:cs typeface="Calibri"/>
              <a:sym typeface="Calibri"/>
            </a:endParaRPr>
          </a:p>
          <a:p>
            <a:pPr indent="-263525" lvl="1" marL="808037" rtl="0" algn="l">
              <a:lnSpc>
                <a:spcPct val="115000"/>
              </a:lnSpc>
              <a:spcBef>
                <a:spcPts val="1000"/>
              </a:spcBef>
              <a:spcAft>
                <a:spcPts val="0"/>
              </a:spcAft>
              <a:buClr>
                <a:schemeClr val="dk1"/>
              </a:buClr>
              <a:buSzPts val="2400"/>
              <a:buFont typeface="Comic Sans MS"/>
              <a:buChar char="–"/>
            </a:pPr>
            <a:r>
              <a:rPr i="0" lang="en-US" sz="2400" u="none">
                <a:solidFill>
                  <a:schemeClr val="dk1"/>
                </a:solidFill>
                <a:latin typeface="Calibri"/>
                <a:ea typeface="Calibri"/>
                <a:cs typeface="Calibri"/>
                <a:sym typeface="Calibri"/>
              </a:rPr>
              <a:t>The receiving TCP announces a window size of 1 byte. The sending TCP sends only 1 byte…</a:t>
            </a:r>
            <a:endParaRPr>
              <a:latin typeface="Calibri"/>
              <a:ea typeface="Calibri"/>
              <a:cs typeface="Calibri"/>
              <a:sym typeface="Calibri"/>
            </a:endParaRPr>
          </a:p>
          <a:p>
            <a:pPr indent="0" lvl="0" marL="0" rtl="0" algn="l">
              <a:lnSpc>
                <a:spcPct val="115000"/>
              </a:lnSpc>
              <a:spcBef>
                <a:spcPts val="1000"/>
              </a:spcBef>
              <a:spcAft>
                <a:spcPts val="0"/>
              </a:spcAft>
              <a:buNone/>
            </a:pPr>
            <a:r>
              <a:rPr b="1" i="0" lang="en-US" sz="2400" u="none">
                <a:solidFill>
                  <a:schemeClr val="dk1"/>
                </a:solidFill>
                <a:latin typeface="Calibri"/>
                <a:ea typeface="Calibri"/>
                <a:cs typeface="Calibri"/>
                <a:sym typeface="Calibri"/>
              </a:rPr>
              <a:t>Solution 1: </a:t>
            </a:r>
            <a:r>
              <a:rPr b="1" i="0" lang="en-US" sz="2400" u="none">
                <a:solidFill>
                  <a:srgbClr val="E06666"/>
                </a:solidFill>
                <a:latin typeface="Calibri"/>
                <a:ea typeface="Calibri"/>
                <a:cs typeface="Calibri"/>
                <a:sym typeface="Calibri"/>
              </a:rPr>
              <a:t>Clark’s solution</a:t>
            </a:r>
            <a:endParaRPr b="1">
              <a:solidFill>
                <a:srgbClr val="E06666"/>
              </a:solidFill>
              <a:latin typeface="Calibri"/>
              <a:ea typeface="Calibri"/>
              <a:cs typeface="Calibri"/>
              <a:sym typeface="Calibri"/>
            </a:endParaRPr>
          </a:p>
          <a:p>
            <a:pPr indent="-263525" lvl="1" marL="808037" rtl="0" algn="l">
              <a:lnSpc>
                <a:spcPct val="115000"/>
              </a:lnSpc>
              <a:spcBef>
                <a:spcPts val="100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Sending an ACK but announcing a window size of zero until there is enough space to accommodate a segment of max. size or until half of the buffer is empty</a:t>
            </a:r>
            <a:endParaRPr>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37"/>
          <p:cNvSpPr txBox="1"/>
          <p:nvPr/>
        </p:nvSpPr>
        <p:spPr>
          <a:xfrm>
            <a:off x="914408" y="6248400"/>
            <a:ext cx="38607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543" name="Google Shape;543;p37"/>
          <p:cNvSpPr txBox="1"/>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544" name="Google Shape;544;p37"/>
          <p:cNvSpPr txBox="1"/>
          <p:nvPr>
            <p:ph type="title"/>
          </p:nvPr>
        </p:nvSpPr>
        <p:spPr>
          <a:xfrm>
            <a:off x="914400" y="228600"/>
            <a:ext cx="9160800" cy="836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CC"/>
              </a:buClr>
              <a:buSzPts val="4000"/>
              <a:buFont typeface="Comic Sans MS"/>
              <a:buNone/>
            </a:pPr>
            <a:r>
              <a:rPr b="1" i="0" lang="en-US" sz="4000" u="none">
                <a:solidFill>
                  <a:srgbClr val="0000CC"/>
                </a:solidFill>
                <a:latin typeface="Calibri"/>
                <a:ea typeface="Calibri"/>
                <a:cs typeface="Calibri"/>
                <a:sym typeface="Calibri"/>
              </a:rPr>
              <a:t>Silly Window Syndrome (3)</a:t>
            </a:r>
            <a:endParaRPr>
              <a:latin typeface="Calibri"/>
              <a:ea typeface="Calibri"/>
              <a:cs typeface="Calibri"/>
              <a:sym typeface="Calibri"/>
            </a:endParaRPr>
          </a:p>
        </p:txBody>
      </p:sp>
      <p:sp>
        <p:nvSpPr>
          <p:cNvPr id="545" name="Google Shape;545;p37"/>
          <p:cNvSpPr txBox="1"/>
          <p:nvPr>
            <p:ph idx="1" type="body"/>
          </p:nvPr>
        </p:nvSpPr>
        <p:spPr>
          <a:xfrm>
            <a:off x="914400" y="1219200"/>
            <a:ext cx="10261500" cy="4572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b="1" i="0" lang="en-US" sz="2400" u="none">
                <a:solidFill>
                  <a:schemeClr val="dk1"/>
                </a:solidFill>
                <a:latin typeface="Calibri"/>
                <a:ea typeface="Calibri"/>
                <a:cs typeface="Calibri"/>
                <a:sym typeface="Calibri"/>
              </a:rPr>
              <a:t>Solution 2: </a:t>
            </a:r>
            <a:r>
              <a:rPr b="1" i="0" lang="en-US" sz="2400" u="none">
                <a:solidFill>
                  <a:srgbClr val="E06666"/>
                </a:solidFill>
                <a:latin typeface="Calibri"/>
                <a:ea typeface="Calibri"/>
                <a:cs typeface="Calibri"/>
                <a:sym typeface="Calibri"/>
              </a:rPr>
              <a:t>Delayed Acknowledgement</a:t>
            </a:r>
            <a:endParaRPr b="1">
              <a:solidFill>
                <a:srgbClr val="E06666"/>
              </a:solidFill>
              <a:latin typeface="Calibri"/>
              <a:ea typeface="Calibri"/>
              <a:cs typeface="Calibri"/>
              <a:sym typeface="Calibri"/>
            </a:endParaRPr>
          </a:p>
          <a:p>
            <a:pPr indent="-263525" lvl="1" marL="808037" rtl="0" algn="l">
              <a:lnSpc>
                <a:spcPct val="150000"/>
              </a:lnSpc>
              <a:spcBef>
                <a:spcPts val="48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The receiver waits until there is decent amount of space in its incoming buffer before acknowledging the arrived segments</a:t>
            </a:r>
            <a:endParaRPr>
              <a:latin typeface="Calibri"/>
              <a:ea typeface="Calibri"/>
              <a:cs typeface="Calibri"/>
              <a:sym typeface="Calibri"/>
            </a:endParaRPr>
          </a:p>
          <a:p>
            <a:pPr indent="-263525" lvl="1" marL="808037" rtl="0" algn="l">
              <a:lnSpc>
                <a:spcPct val="150000"/>
              </a:lnSpc>
              <a:spcBef>
                <a:spcPts val="48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The delayed acknowledgement prevents the sending TCP from sliding its window. It also reduces traffic.</a:t>
            </a:r>
            <a:endParaRPr>
              <a:latin typeface="Calibri"/>
              <a:ea typeface="Calibri"/>
              <a:cs typeface="Calibri"/>
              <a:sym typeface="Calibri"/>
            </a:endParaRPr>
          </a:p>
          <a:p>
            <a:pPr indent="-263525" lvl="1" marL="808037" rtl="0" algn="l">
              <a:lnSpc>
                <a:spcPct val="150000"/>
              </a:lnSpc>
              <a:spcBef>
                <a:spcPts val="48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Disadvantage: it may force the sender to retransmit the unacknowledged segments</a:t>
            </a:r>
            <a:endParaRPr>
              <a:latin typeface="Calibri"/>
              <a:ea typeface="Calibri"/>
              <a:cs typeface="Calibri"/>
              <a:sym typeface="Calibri"/>
            </a:endParaRPr>
          </a:p>
          <a:p>
            <a:pPr indent="-263525" lvl="1" marL="808037" rtl="0" algn="l">
              <a:lnSpc>
                <a:spcPct val="150000"/>
              </a:lnSpc>
              <a:spcBef>
                <a:spcPts val="480"/>
              </a:spcBef>
              <a:spcAft>
                <a:spcPts val="0"/>
              </a:spcAft>
              <a:buClr>
                <a:schemeClr val="dk1"/>
              </a:buClr>
              <a:buSzPts val="2400"/>
              <a:buFont typeface="Calibri"/>
              <a:buChar char="–"/>
            </a:pPr>
            <a:r>
              <a:rPr i="0" lang="en-US" sz="2400" u="none">
                <a:solidFill>
                  <a:schemeClr val="dk1"/>
                </a:solidFill>
                <a:latin typeface="Calibri"/>
                <a:ea typeface="Calibri"/>
                <a:cs typeface="Calibri"/>
                <a:sym typeface="Calibri"/>
              </a:rPr>
              <a:t>To balance: should not be delayed by more than 500ms</a:t>
            </a:r>
            <a:endParaRPr>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38"/>
          <p:cNvSpPr txBox="1"/>
          <p:nvPr>
            <p:ph idx="12" type="sldNum"/>
          </p:nvPr>
        </p:nvSpPr>
        <p:spPr>
          <a:xfrm>
            <a:off x="12519378" y="6243637"/>
            <a:ext cx="33867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Tahoma"/>
              <a:buNone/>
            </a:pPr>
            <a:fld id="{00000000-1234-1234-1234-123412341234}" type="slidenum">
              <a:rPr lang="en-US"/>
              <a:t>‹#›</a:t>
            </a:fld>
            <a:endParaRPr sz="1100">
              <a:solidFill>
                <a:srgbClr val="7F7F7F"/>
              </a:solidFill>
              <a:latin typeface="Calibri"/>
              <a:ea typeface="Calibri"/>
              <a:cs typeface="Calibri"/>
              <a:sym typeface="Calibri"/>
            </a:endParaRPr>
          </a:p>
        </p:txBody>
      </p:sp>
      <p:sp>
        <p:nvSpPr>
          <p:cNvPr id="552" name="Google Shape;552;p38"/>
          <p:cNvSpPr txBox="1"/>
          <p:nvPr>
            <p:ph type="title"/>
          </p:nvPr>
        </p:nvSpPr>
        <p:spPr>
          <a:xfrm>
            <a:off x="926900" y="271475"/>
            <a:ext cx="10574700" cy="994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solidFill>
                  <a:srgbClr val="0000CC"/>
                </a:solidFill>
                <a:latin typeface="Calibri"/>
                <a:ea typeface="Calibri"/>
                <a:cs typeface="Calibri"/>
                <a:sym typeface="Calibri"/>
              </a:rPr>
              <a:t>TCP</a:t>
            </a:r>
            <a:endParaRPr/>
          </a:p>
        </p:txBody>
      </p:sp>
      <p:sp>
        <p:nvSpPr>
          <p:cNvPr id="553" name="Google Shape;553;p38"/>
          <p:cNvSpPr txBox="1"/>
          <p:nvPr>
            <p:ph idx="1" type="body"/>
          </p:nvPr>
        </p:nvSpPr>
        <p:spPr>
          <a:xfrm>
            <a:off x="914400" y="1371600"/>
            <a:ext cx="10769700" cy="4724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080"/>
              <a:buFont typeface="Calibri"/>
              <a:buChar char="■"/>
            </a:pPr>
            <a:r>
              <a:rPr lang="en-US">
                <a:latin typeface="Calibri"/>
                <a:ea typeface="Calibri"/>
                <a:cs typeface="Calibri"/>
                <a:sym typeface="Calibri"/>
              </a:rPr>
              <a:t>Question:</a:t>
            </a:r>
            <a:endParaRPr>
              <a:latin typeface="Calibri"/>
              <a:ea typeface="Calibri"/>
              <a:cs typeface="Calibri"/>
              <a:sym typeface="Calibri"/>
            </a:endParaRPr>
          </a:p>
          <a:p>
            <a:pPr indent="-285750" lvl="1" marL="742950" rtl="0" algn="l">
              <a:spcBef>
                <a:spcPts val="440"/>
              </a:spcBef>
              <a:spcAft>
                <a:spcPts val="0"/>
              </a:spcAft>
              <a:buSzPts val="2200"/>
              <a:buFont typeface="Calibri"/>
              <a:buChar char="■"/>
            </a:pPr>
            <a:r>
              <a:rPr lang="en-US">
                <a:latin typeface="Calibri"/>
                <a:ea typeface="Calibri"/>
                <a:cs typeface="Calibri"/>
                <a:sym typeface="Calibri"/>
              </a:rPr>
              <a:t>Is TCP using Selective Repeat or Go-back-</a:t>
            </a:r>
            <a:r>
              <a:rPr i="1" lang="en-US">
                <a:latin typeface="Calibri"/>
                <a:ea typeface="Calibri"/>
                <a:cs typeface="Calibri"/>
                <a:sym typeface="Calibri"/>
              </a:rPr>
              <a:t>N </a:t>
            </a:r>
            <a:r>
              <a:rPr lang="en-US">
                <a:latin typeface="Calibri"/>
                <a:ea typeface="Calibri"/>
                <a:cs typeface="Calibri"/>
                <a:sym typeface="Calibri"/>
              </a:rPr>
              <a:t>flow mechanism?</a:t>
            </a:r>
            <a:endParaRPr>
              <a:latin typeface="Calibri"/>
              <a:ea typeface="Calibri"/>
              <a:cs typeface="Calibri"/>
              <a:sym typeface="Calibri"/>
            </a:endParaRPr>
          </a:p>
          <a:p>
            <a:pPr indent="-342900" lvl="0" marL="342900" rtl="0" algn="l">
              <a:spcBef>
                <a:spcPts val="520"/>
              </a:spcBef>
              <a:spcAft>
                <a:spcPts val="0"/>
              </a:spcAft>
              <a:buClr>
                <a:srgbClr val="4EA5D8"/>
              </a:buClr>
              <a:buSzPts val="2080"/>
              <a:buFont typeface="Calibri"/>
              <a:buChar char="■"/>
            </a:pPr>
            <a:r>
              <a:rPr lang="en-US">
                <a:latin typeface="Calibri"/>
                <a:ea typeface="Calibri"/>
                <a:cs typeface="Calibri"/>
                <a:sym typeface="Calibri"/>
              </a:rPr>
              <a:t>Answer:</a:t>
            </a:r>
            <a:endParaRPr>
              <a:latin typeface="Calibri"/>
              <a:ea typeface="Calibri"/>
              <a:cs typeface="Calibri"/>
              <a:sym typeface="Calibri"/>
            </a:endParaRPr>
          </a:p>
          <a:p>
            <a:pPr indent="-369570" lvl="0" marL="457200" rtl="0" algn="l">
              <a:spcBef>
                <a:spcPts val="1000"/>
              </a:spcBef>
              <a:spcAft>
                <a:spcPts val="0"/>
              </a:spcAft>
              <a:buClr>
                <a:schemeClr val="dk1"/>
              </a:buClr>
              <a:buSzPts val="2220"/>
              <a:buFont typeface="Calibri"/>
              <a:buAutoNum type="arabicPeriod"/>
            </a:pPr>
            <a:r>
              <a:rPr lang="en-US" sz="2800">
                <a:latin typeface="Calibri"/>
                <a:ea typeface="Calibri"/>
                <a:cs typeface="Calibri"/>
                <a:sym typeface="Calibri"/>
              </a:rPr>
              <a:t>TCP is mostly Selective Repeat because it buffers out-of-order data and retransmits only missing segments.</a:t>
            </a:r>
            <a:endParaRPr sz="2800">
              <a:latin typeface="Calibri"/>
              <a:ea typeface="Calibri"/>
              <a:cs typeface="Calibri"/>
              <a:sym typeface="Calibri"/>
            </a:endParaRPr>
          </a:p>
          <a:p>
            <a:pPr indent="-369570" lvl="0" marL="457200" rtl="0" algn="l">
              <a:spcBef>
                <a:spcPts val="1000"/>
              </a:spcBef>
              <a:spcAft>
                <a:spcPts val="0"/>
              </a:spcAft>
              <a:buClr>
                <a:schemeClr val="dk1"/>
              </a:buClr>
              <a:buSzPts val="2220"/>
              <a:buFont typeface="Calibri"/>
              <a:buAutoNum type="arabicPeriod"/>
            </a:pPr>
            <a:r>
              <a:rPr lang="en-US" sz="2800">
                <a:latin typeface="Calibri"/>
                <a:ea typeface="Calibri"/>
                <a:cs typeface="Calibri"/>
                <a:sym typeface="Calibri"/>
              </a:rPr>
              <a:t>However, it has a GBN-like cumulative acknowledgment scheme, not per-packet ACKs as in Selective Repeat.</a:t>
            </a:r>
            <a:endParaRPr sz="28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