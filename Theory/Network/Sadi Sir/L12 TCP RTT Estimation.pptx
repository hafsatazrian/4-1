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Arimo"/>
      <p:regular r:id="rId33"/>
      <p:bold r:id="rId34"/>
      <p:italic r:id="rId35"/>
      <p:boldItalic r:id="rId36"/>
    </p:embeddedFont>
    <p:embeddedFont>
      <p:font typeface="Tahoma"/>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rimo-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Arimo-italic.fntdata"/><Relationship Id="rId12" Type="http://schemas.openxmlformats.org/officeDocument/2006/relationships/slide" Target="slides/slide8.xml"/><Relationship Id="rId34" Type="http://schemas.openxmlformats.org/officeDocument/2006/relationships/font" Target="fonts/Arimo-bold.fntdata"/><Relationship Id="rId15" Type="http://schemas.openxmlformats.org/officeDocument/2006/relationships/slide" Target="slides/slide11.xml"/><Relationship Id="rId37" Type="http://schemas.openxmlformats.org/officeDocument/2006/relationships/font" Target="fonts/Tahoma-regular.fntdata"/><Relationship Id="rId14" Type="http://schemas.openxmlformats.org/officeDocument/2006/relationships/slide" Target="slides/slide10.xml"/><Relationship Id="rId36" Type="http://schemas.openxmlformats.org/officeDocument/2006/relationships/font" Target="fonts/Arimo-boldItalic.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Tahoma-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8c38211b2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 name="Google Shape;41;g38c38211b2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g38c38211b2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exponentially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implementations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between a host in the Massachusetts and a host in France, as well as the estimated, “smoothed”  RTT</a:t>
            </a:r>
            <a:endParaRPr/>
          </a:p>
        </p:txBody>
      </p:sp>
      <p:sp>
        <p:nvSpPr>
          <p:cNvPr id="58" name="Google Shape;58;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safety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82" name="Google Shape;82;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c316a83f5_0_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 name="Google Shape;103;g38c316a83f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g38c316a83f5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c316a83f5_0_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3" name="Google Shape;113;g38c316a83f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8c316a83f5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c316a83f5_0_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3" name="Google Shape;123;g38c316a83f5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8c316a83f5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c316a83f5_0_5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8c316a83f5_0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c316a83f5_0_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6" name="Google Shape;146;g38c316a83f5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38c316a83f5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c316a83f5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8c316a83f5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c316a83f5_0_3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8c316a83f5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c316a83f5_0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8c316a83f5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c316a83f5_0_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1" name="Google Shape;191;g38c316a83f5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8c316a83f5_0_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c316a83f5_0_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5" name="Google Shape;205;g38c316a83f5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8c316a83f5_0_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c316a83f5_0_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7" name="Google Shape;217;g38c316a83f5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8c316a83f5_0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c316a83f5_0_3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3" name="Google Shape;233;g38c316a83f5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g38c316a83f5_0_3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c316a83f5_0_3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50" name="Google Shape;250;g38c316a83f5_0_3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g38c316a83f5_0_3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c316a83f5_0_10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68" name="Google Shape;268;g38c316a83f5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g38c316a83f5_0_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c316a83f5_0_6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8c316a83f5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c316a83f5_0_6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c316a83f5_0_6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8c316a83f5_0_6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c316a83f5_0_6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c316a83f5_0_6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g38c316a83f5_0_6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8c316a83f5_0_6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8c316a83f5_0_6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8c316a83f5_0_6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c316a83f5_0_7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c316a83f5_0_7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8c316a83f5_0_7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c316a83f5_0_1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5" name="Google Shape;325;g38c316a83f5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38c316a83f5_0_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8c316a83f5_0_1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6" name="Google Shape;336;g38c316a83f5_0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g38c316a83f5_0_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c316a83f5_0_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52" name="Google Shape;352;g38c316a83f5_0_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8c316a83f5_0_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c316a83f5_0_3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60" name="Google Shape;360;g38c316a83f5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8c316a83f5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c316a83f5_0_4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68" name="Google Shape;368;g38c316a83f5_0_4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8c316a83f5_0_4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33" name="Shape 33"/>
        <p:cNvGrpSpPr/>
        <p:nvPr/>
      </p:nvGrpSpPr>
      <p:grpSpPr>
        <a:xfrm>
          <a:off x="0" y="0"/>
          <a:ext cx="0" cy="0"/>
          <a:chOff x="0" y="0"/>
          <a:chExt cx="0" cy="0"/>
        </a:xfrm>
      </p:grpSpPr>
      <p:sp>
        <p:nvSpPr>
          <p:cNvPr id="34" name="Google Shape;34;p7"/>
          <p:cNvSpPr txBox="1"/>
          <p:nvPr>
            <p:ph type="title"/>
          </p:nvPr>
        </p:nvSpPr>
        <p:spPr>
          <a:xfrm>
            <a:off x="914400" y="152400"/>
            <a:ext cx="9160800"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7"/>
          <p:cNvSpPr txBox="1"/>
          <p:nvPr>
            <p:ph idx="1" type="body"/>
          </p:nvPr>
        </p:nvSpPr>
        <p:spPr>
          <a:xfrm>
            <a:off x="914400" y="1828800"/>
            <a:ext cx="10261500" cy="3657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7"/>
          <p:cNvSpPr txBox="1"/>
          <p:nvPr>
            <p:ph idx="10" type="dt"/>
          </p:nvPr>
        </p:nvSpPr>
        <p:spPr>
          <a:xfrm>
            <a:off x="1828800" y="6248400"/>
            <a:ext cx="25401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p:nvPr>
            <p:ph idx="11" type="ftr"/>
          </p:nvPr>
        </p:nvSpPr>
        <p:spPr>
          <a:xfrm>
            <a:off x="4741333" y="6248400"/>
            <a:ext cx="38607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2" type="sldNum"/>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sz="1100">
              <a:solidFill>
                <a:srgbClr val="7F7F7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8"/>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5" name="Google Shape;45;p8"/>
          <p:cNvSpPr txBox="1"/>
          <p:nvPr/>
        </p:nvSpPr>
        <p:spPr>
          <a:xfrm>
            <a:off x="433350" y="1542600"/>
            <a:ext cx="11325300" cy="3362400"/>
          </a:xfrm>
          <a:prstGeom prst="rect">
            <a:avLst/>
          </a:prstGeom>
          <a:no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Chapter 3</a:t>
            </a:r>
            <a:br>
              <a:rPr b="1" lang="en-US" sz="6000">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Transport Layer</a:t>
            </a:r>
            <a:endParaRPr b="1" sz="5400">
              <a:solidFill>
                <a:srgbClr val="000099"/>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TCP - RTT Estimation</a:t>
            </a:r>
            <a:endParaRPr b="1" sz="5400">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2" name="Google Shape;52;p9"/>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3" name="Google Shape;53;p9"/>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a:p>
        </p:txBody>
      </p:sp>
      <p:sp>
        <p:nvSpPr>
          <p:cNvPr id="54" name="Google Shape;5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 name="Google Shape;61;p1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62" name="Google Shape;62;p10"/>
          <p:cNvSpPr txBox="1"/>
          <p:nvPr/>
        </p:nvSpPr>
        <p:spPr>
          <a:xfrm>
            <a:off x="876300" y="1246817"/>
            <a:ext cx="9052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a:p>
        </p:txBody>
      </p:sp>
      <p:sp>
        <p:nvSpPr>
          <p:cNvPr id="63" name="Google Shape;63;p10"/>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64" name="Google Shape;64;p10"/>
          <p:cNvGrpSpPr/>
          <p:nvPr/>
        </p:nvGrpSpPr>
        <p:grpSpPr>
          <a:xfrm>
            <a:off x="4673229" y="2443135"/>
            <a:ext cx="6448425" cy="4292600"/>
            <a:chOff x="1531938" y="2565400"/>
            <a:chExt cx="6448425" cy="4292600"/>
          </a:xfrm>
        </p:grpSpPr>
        <p:grpSp>
          <p:nvGrpSpPr>
            <p:cNvPr id="65" name="Google Shape;65;p10"/>
            <p:cNvGrpSpPr/>
            <p:nvPr/>
          </p:nvGrpSpPr>
          <p:grpSpPr>
            <a:xfrm>
              <a:off x="1708150" y="2565400"/>
              <a:ext cx="6272213" cy="4292600"/>
              <a:chOff x="782" y="1865"/>
              <a:chExt cx="3951" cy="2704"/>
            </a:xfrm>
          </p:grpSpPr>
          <p:pic>
            <p:nvPicPr>
              <p:cNvPr id="66" name="Google Shape;66;p10"/>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67" name="Google Shape;67;p10"/>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 name="Google Shape;68;p10"/>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69" name="Google Shape;69;p10"/>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70" name="Google Shape;70;p10"/>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71" name="Google Shape;71;p10"/>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72" name="Google Shape;72;p10"/>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 name="Google Shape;73;p10"/>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 name="Google Shape;74;p10"/>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 name="Google Shape;75;p10"/>
            <p:cNvGrpSpPr/>
            <p:nvPr/>
          </p:nvGrpSpPr>
          <p:grpSpPr>
            <a:xfrm>
              <a:off x="4041775" y="6386513"/>
              <a:ext cx="1512888" cy="336550"/>
              <a:chOff x="2343" y="3645"/>
              <a:chExt cx="953" cy="212"/>
            </a:xfrm>
          </p:grpSpPr>
          <p:sp>
            <p:nvSpPr>
              <p:cNvPr id="76" name="Google Shape;76;p10"/>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 name="Google Shape;77;p10"/>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78" name="Google Shape;78;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85" name="Google Shape;85;p11"/>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86" name="Google Shape;86;p11"/>
          <p:cNvGrpSpPr/>
          <p:nvPr/>
        </p:nvGrpSpPr>
        <p:grpSpPr>
          <a:xfrm>
            <a:off x="1061454" y="2679700"/>
            <a:ext cx="9532485" cy="1193800"/>
            <a:chOff x="858254" y="2667000"/>
            <a:chExt cx="9532485" cy="1193800"/>
          </a:xfrm>
        </p:grpSpPr>
        <p:sp>
          <p:nvSpPr>
            <p:cNvPr id="87" name="Google Shape;87;p11"/>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 name="Google Shape;88;p11"/>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a:p>
          </p:txBody>
        </p:sp>
        <p:sp>
          <p:nvSpPr>
            <p:cNvPr id="89" name="Google Shape;89;p11"/>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90" name="Google Shape;90;p11"/>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91" name="Google Shape;91;p11"/>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92" name="Google Shape;92;p11"/>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93" name="Google Shape;93;p11"/>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94" name="Google Shape;94;p11"/>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95" name="Google Shape;95;p11"/>
          <p:cNvGrpSpPr/>
          <p:nvPr/>
        </p:nvGrpSpPr>
        <p:grpSpPr>
          <a:xfrm>
            <a:off x="1304476" y="4827568"/>
            <a:ext cx="10018507" cy="1276812"/>
            <a:chOff x="1837872" y="3151290"/>
            <a:chExt cx="10018507" cy="1643894"/>
          </a:xfrm>
        </p:grpSpPr>
        <p:sp>
          <p:nvSpPr>
            <p:cNvPr id="96" name="Google Shape;96;p11"/>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 name="Google Shape;97;p11"/>
            <p:cNvSpPr txBox="1"/>
            <p:nvPr/>
          </p:nvSpPr>
          <p:spPr>
            <a:xfrm>
              <a:off x="1837879" y="3151831"/>
              <a:ext cx="10018500" cy="59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98" name="Google Shape;98;p11"/>
            <p:cNvSpPr txBox="1"/>
            <p:nvPr/>
          </p:nvSpPr>
          <p:spPr>
            <a:xfrm>
              <a:off x="1837872" y="4180784"/>
              <a:ext cx="3386100" cy="6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500" u="none" cap="none" strike="noStrike">
                  <a:solidFill>
                    <a:srgbClr val="000000"/>
                  </a:solidFill>
                  <a:latin typeface="Calibri"/>
                  <a:ea typeface="Calibri"/>
                  <a:cs typeface="Calibri"/>
                  <a:sym typeface="Calibri"/>
                </a:rPr>
                <a:t>(typically, </a:t>
              </a:r>
              <a:r>
                <a:rPr b="0" i="0" lang="en-US" sz="2500" u="none" cap="none" strike="noStrike">
                  <a:solidFill>
                    <a:srgbClr val="000000"/>
                  </a:solidFill>
                  <a:latin typeface="Courier New"/>
                  <a:ea typeface="Courier New"/>
                  <a:cs typeface="Courier New"/>
                  <a:sym typeface="Courier New"/>
                </a:rPr>
                <a:t>β</a:t>
              </a:r>
              <a:r>
                <a:rPr b="1" i="0" lang="en-US" sz="2500" u="none" cap="none" strike="noStrike">
                  <a:solidFill>
                    <a:srgbClr val="000000"/>
                  </a:solidFill>
                  <a:latin typeface="Courier New"/>
                  <a:ea typeface="Courier New"/>
                  <a:cs typeface="Courier New"/>
                  <a:sym typeface="Courier New"/>
                </a:rPr>
                <a:t> </a:t>
              </a:r>
              <a:r>
                <a:rPr b="0" i="0" lang="en-US" sz="2500" u="none" cap="none" strike="noStrike">
                  <a:solidFill>
                    <a:srgbClr val="000000"/>
                  </a:solidFill>
                  <a:latin typeface="Calibri"/>
                  <a:ea typeface="Calibri"/>
                  <a:cs typeface="Calibri"/>
                  <a:sym typeface="Calibri"/>
                </a:rPr>
                <a:t>= 0.25)</a:t>
              </a:r>
              <a:endParaRPr sz="1900"/>
            </a:p>
          </p:txBody>
        </p:sp>
      </p:grpSp>
      <p:sp>
        <p:nvSpPr>
          <p:cNvPr id="99" name="Google Shape;99;p11"/>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100" name="Google Shape;100;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7" name="Google Shape;107;p1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8" name="Google Shape;108;p12"/>
          <p:cNvSpPr txBox="1"/>
          <p:nvPr/>
        </p:nvSpPr>
        <p:spPr>
          <a:xfrm>
            <a:off x="304800" y="355600"/>
            <a:ext cx="113679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15-10  TCP TIMERS</a:t>
            </a:r>
            <a:endParaRPr/>
          </a:p>
        </p:txBody>
      </p:sp>
      <p:sp>
        <p:nvSpPr>
          <p:cNvPr id="109" name="Google Shape;109;p12"/>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 name="Google Shape;110;p12"/>
          <p:cNvSpPr txBox="1"/>
          <p:nvPr/>
        </p:nvSpPr>
        <p:spPr>
          <a:xfrm>
            <a:off x="203200" y="1524000"/>
            <a:ext cx="11785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To perform its operation smoothly, most TCP implementations use at least four timers as shown in Figure 15.38 (slide 83).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15" name="Shape 115"/>
        <p:cNvGrpSpPr/>
        <p:nvPr/>
      </p:nvGrpSpPr>
      <p:grpSpPr>
        <a:xfrm>
          <a:off x="0" y="0"/>
          <a:ext cx="0" cy="0"/>
          <a:chOff x="0" y="0"/>
          <a:chExt cx="0" cy="0"/>
        </a:xfrm>
      </p:grpSpPr>
      <p:sp>
        <p:nvSpPr>
          <p:cNvPr id="116" name="Google Shape;116;p1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7" name="Google Shape;117;p1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8" name="Google Shape;118;p13"/>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19" name="Google Shape;119;p13"/>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 name="Google Shape;120;p13"/>
          <p:cNvSpPr txBox="1"/>
          <p:nvPr/>
        </p:nvSpPr>
        <p:spPr>
          <a:xfrm>
            <a:off x="406400" y="989012"/>
            <a:ext cx="11175900" cy="2324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Retransmission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Persistence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Keepalive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TIME-WAIT Timer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7" name="Google Shape;127;p1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8" name="Google Shape;128;p14"/>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timers</a:t>
            </a:r>
            <a:endParaRPr/>
          </a:p>
        </p:txBody>
      </p:sp>
      <p:sp>
        <p:nvSpPr>
          <p:cNvPr id="129" name="Google Shape;129;p14"/>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 name="Google Shape;130;p14"/>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 name="Google Shape;131;p14"/>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 name="Google Shape;132;p14"/>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 name="Google Shape;133;p14"/>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 name="Google Shape;134;p14"/>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5" name="Google Shape;135;p14"/>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6" name="Google Shape;136;p14"/>
          <p:cNvPicPr preferRelativeResize="0"/>
          <p:nvPr/>
        </p:nvPicPr>
        <p:blipFill rotWithShape="1">
          <a:blip r:embed="rId3">
            <a:alphaModFix/>
          </a:blip>
          <a:srcRect b="0" l="0" r="0" t="0"/>
          <a:stretch/>
        </p:blipFill>
        <p:spPr>
          <a:xfrm>
            <a:off x="609600" y="2568575"/>
            <a:ext cx="11234753" cy="1661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142" name="Google Shape;142;p15"/>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Retransmission timer</a:t>
            </a:r>
            <a:endParaRPr/>
          </a:p>
        </p:txBody>
      </p:sp>
      <p:sp>
        <p:nvSpPr>
          <p:cNvPr id="143" name="Google Shape;143;p15"/>
          <p:cNvSpPr txBox="1"/>
          <p:nvPr>
            <p:ph idx="1" type="body"/>
          </p:nvPr>
        </p:nvSpPr>
        <p:spPr>
          <a:xfrm>
            <a:off x="934200" y="1828800"/>
            <a:ext cx="10586700" cy="4750200"/>
          </a:xfrm>
          <a:prstGeom prst="rect">
            <a:avLst/>
          </a:prstGeom>
          <a:noFill/>
          <a:ln>
            <a:noFill/>
          </a:ln>
        </p:spPr>
        <p:txBody>
          <a:bodyPr anchorCtr="0" anchor="t" bIns="45700" lIns="91425" spcFirstLastPara="1" rIns="91425" wrap="square" tIns="45700">
            <a:noAutofit/>
          </a:bodyPr>
          <a:lstStyle/>
          <a:p>
            <a:pPr indent="-533400" lvl="0" marL="533400" rtl="0" algn="l">
              <a:spcBef>
                <a:spcPts val="0"/>
              </a:spcBef>
              <a:spcAft>
                <a:spcPts val="0"/>
              </a:spcAft>
              <a:buSzPts val="2080"/>
              <a:buFont typeface="Arial"/>
              <a:buAutoNum type="arabicPeriod"/>
            </a:pPr>
            <a:r>
              <a:rPr lang="en-US"/>
              <a:t>if an ACK is received before the timer goes off – destroy or reset the timer</a:t>
            </a:r>
            <a:endParaRPr/>
          </a:p>
          <a:p>
            <a:pPr indent="-533400" lvl="0" marL="533400" rtl="0" algn="l">
              <a:spcBef>
                <a:spcPts val="520"/>
              </a:spcBef>
              <a:spcAft>
                <a:spcPts val="0"/>
              </a:spcAft>
              <a:buSzPts val="2080"/>
              <a:buFont typeface="Arial"/>
              <a:buAutoNum type="arabicPeriod"/>
            </a:pPr>
            <a:r>
              <a:rPr lang="en-US"/>
              <a:t>if the timer goes off before ACK arrives – retransmit the segment &amp; reset the timer</a:t>
            </a:r>
            <a:endParaRPr/>
          </a:p>
          <a:p>
            <a:pPr indent="-533400" lvl="0" marL="533400" rtl="0" algn="l">
              <a:spcBef>
                <a:spcPts val="520"/>
              </a:spcBef>
              <a:spcAft>
                <a:spcPts val="0"/>
              </a:spcAft>
              <a:buSzPts val="2080"/>
              <a:buChar char="▪"/>
            </a:pPr>
            <a:r>
              <a:rPr lang="en-US"/>
              <a:t>How to set Retransmission time</a:t>
            </a:r>
            <a:endParaRPr/>
          </a:p>
          <a:p>
            <a:pPr indent="-457200" lvl="1" marL="914400" rtl="0" algn="l">
              <a:spcBef>
                <a:spcPts val="440"/>
              </a:spcBef>
              <a:spcAft>
                <a:spcPts val="0"/>
              </a:spcAft>
              <a:buSzPts val="2200"/>
              <a:buChar char="•"/>
            </a:pPr>
            <a:r>
              <a:rPr lang="en-US"/>
              <a:t>longer than RTT</a:t>
            </a:r>
            <a:endParaRPr/>
          </a:p>
          <a:p>
            <a:pPr indent="-381000" lvl="2" marL="1295400" rtl="0" algn="l">
              <a:spcBef>
                <a:spcPts val="400"/>
              </a:spcBef>
              <a:spcAft>
                <a:spcPts val="0"/>
              </a:spcAft>
              <a:buSzPts val="2000"/>
              <a:buChar char="•"/>
            </a:pPr>
            <a:r>
              <a:rPr lang="en-US"/>
              <a:t>but RTT varies since paths that IP packets take may differ</a:t>
            </a:r>
            <a:endParaRPr/>
          </a:p>
          <a:p>
            <a:pPr indent="-457200" lvl="1" marL="914400" rtl="0" algn="l">
              <a:spcBef>
                <a:spcPts val="440"/>
              </a:spcBef>
              <a:spcAft>
                <a:spcPts val="0"/>
              </a:spcAft>
              <a:buSzPts val="2200"/>
              <a:buChar char="•"/>
            </a:pPr>
            <a:r>
              <a:rPr lang="en-US"/>
              <a:t>if too short </a:t>
            </a:r>
            <a:endParaRPr/>
          </a:p>
          <a:p>
            <a:pPr indent="-381000" lvl="2" marL="1295400" rtl="0" algn="l">
              <a:spcBef>
                <a:spcPts val="400"/>
              </a:spcBef>
              <a:spcAft>
                <a:spcPts val="0"/>
              </a:spcAft>
              <a:buSzPts val="2000"/>
              <a:buChar char="•"/>
            </a:pPr>
            <a:r>
              <a:rPr lang="en-US"/>
              <a:t>Premature timeout –&gt; retransmissions -&gt; waste of bandwidth </a:t>
            </a:r>
            <a:endParaRPr/>
          </a:p>
          <a:p>
            <a:pPr indent="-457200" lvl="1" marL="914400" rtl="0" algn="l">
              <a:spcBef>
                <a:spcPts val="440"/>
              </a:spcBef>
              <a:spcAft>
                <a:spcPts val="0"/>
              </a:spcAft>
              <a:buSzPts val="2200"/>
              <a:buChar char="•"/>
            </a:pPr>
            <a:r>
              <a:rPr lang="en-US"/>
              <a:t>if too large</a:t>
            </a:r>
            <a:endParaRPr/>
          </a:p>
          <a:p>
            <a:pPr indent="-381000" lvl="2" marL="1295400" rtl="0" algn="l">
              <a:spcBef>
                <a:spcPts val="400"/>
              </a:spcBef>
              <a:spcAft>
                <a:spcPts val="0"/>
              </a:spcAft>
              <a:buSzPts val="2000"/>
              <a:buChar char="•"/>
            </a:pPr>
            <a:r>
              <a:rPr lang="en-US"/>
              <a:t>slow reaction to segment loss</a:t>
            </a:r>
            <a:endParaRPr/>
          </a:p>
          <a:p>
            <a:pPr indent="-381000" lvl="2" marL="1295400" rtl="0" algn="l">
              <a:spcBef>
                <a:spcPts val="400"/>
              </a:spcBef>
              <a:spcAft>
                <a:spcPts val="0"/>
              </a:spcAft>
              <a:buSzPts val="2000"/>
              <a:buChar char="•"/>
            </a:pPr>
            <a:r>
              <a:rPr lang="en-US"/>
              <a:t>delay for the application program</a:t>
            </a:r>
            <a:endParaRPr/>
          </a:p>
          <a:p>
            <a:pPr indent="-533400" lvl="0" marL="533400" rtl="0" algn="l">
              <a:spcBef>
                <a:spcPts val="520"/>
              </a:spcBef>
              <a:spcAft>
                <a:spcPts val="0"/>
              </a:spcAft>
              <a:buSzPts val="208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0" name="Google Shape;150;p1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1" name="Google Shape;151;p1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2" name="Google Shape;152;p1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3" name="Google Shape;153;p1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4" name="Google Shape;154;p1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5" name="Google Shape;155;p1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6" name="Google Shape;156;p1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 name="Google Shape;157;p1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58" name="Google Shape;158;p16"/>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59" name="Google Shape;159;p16"/>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60" name="Google Shape;160;p16"/>
          <p:cNvSpPr txBox="1"/>
          <p:nvPr/>
        </p:nvSpPr>
        <p:spPr>
          <a:xfrm>
            <a:off x="863600" y="2716212"/>
            <a:ext cx="10769700" cy="10773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In TCP, there can be only one RTT measurement in progress at any time.</a:t>
            </a:r>
            <a:endParaRPr/>
          </a:p>
        </p:txBody>
      </p:sp>
      <p:grpSp>
        <p:nvGrpSpPr>
          <p:cNvPr id="161" name="Google Shape;161;p16"/>
          <p:cNvGrpSpPr/>
          <p:nvPr/>
        </p:nvGrpSpPr>
        <p:grpSpPr>
          <a:xfrm>
            <a:off x="812800" y="1981200"/>
            <a:ext cx="1523899" cy="566741"/>
            <a:chOff x="1200" y="1248"/>
            <a:chExt cx="720" cy="357"/>
          </a:xfrm>
        </p:grpSpPr>
        <p:pic>
          <p:nvPicPr>
            <p:cNvPr id="162" name="Google Shape;162;p1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63" name="Google Shape;163;p16"/>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
        <p:nvSpPr>
          <p:cNvPr id="164" name="Google Shape;164;p16"/>
          <p:cNvSpPr txBox="1"/>
          <p:nvPr/>
        </p:nvSpPr>
        <p:spPr>
          <a:xfrm>
            <a:off x="1117600" y="4343400"/>
            <a:ext cx="99567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Arial"/>
              <a:buNone/>
            </a:pPr>
            <a:r>
              <a:rPr b="1" i="0" lang="en-US" sz="2800" u="none">
                <a:solidFill>
                  <a:schemeClr val="hlink"/>
                </a:solidFill>
                <a:latin typeface="Arial"/>
                <a:ea typeface="Arial"/>
                <a:cs typeface="Arial"/>
                <a:sym typeface="Arial"/>
              </a:rPr>
              <a:t>Since the segments and their ACKs do not have a 1-1 relationship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nvSpPr>
        <p:spPr>
          <a:xfrm>
            <a:off x="593833"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70" name="Google Shape;170;p17"/>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71" name="Google Shape;171;p17"/>
          <p:cNvSpPr txBox="1"/>
          <p:nvPr>
            <p:ph type="title"/>
          </p:nvPr>
        </p:nvSpPr>
        <p:spPr>
          <a:xfrm>
            <a:off x="914400" y="228600"/>
            <a:ext cx="9550500" cy="836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i="0" lang="en-US" sz="3600" u="none">
                <a:solidFill>
                  <a:srgbClr val="0000CC"/>
                </a:solidFill>
              </a:rPr>
              <a:t>Calculation of RTO (1)</a:t>
            </a:r>
            <a:endParaRPr/>
          </a:p>
        </p:txBody>
      </p:sp>
      <p:sp>
        <p:nvSpPr>
          <p:cNvPr id="172" name="Google Shape;172;p17"/>
          <p:cNvSpPr txBox="1"/>
          <p:nvPr>
            <p:ph idx="1" type="body"/>
          </p:nvPr>
        </p:nvSpPr>
        <p:spPr>
          <a:xfrm>
            <a:off x="508000" y="1219200"/>
            <a:ext cx="11074500" cy="4953000"/>
          </a:xfrm>
          <a:prstGeom prst="rect">
            <a:avLst/>
          </a:prstGeom>
          <a:noFill/>
          <a:ln>
            <a:noFill/>
          </a:ln>
        </p:spPr>
        <p:txBody>
          <a:bodyPr anchorCtr="0" anchor="t" bIns="45700" lIns="91425" spcFirstLastPara="1" rIns="91425" wrap="square" tIns="45700">
            <a:noAutofit/>
          </a:bodyPr>
          <a:lstStyle/>
          <a:p>
            <a:pPr indent="-403225" lvl="0" marL="365125" rtl="0" algn="l">
              <a:lnSpc>
                <a:spcPct val="100000"/>
              </a:lnSpc>
              <a:spcBef>
                <a:spcPts val="0"/>
              </a:spcBef>
              <a:spcAft>
                <a:spcPts val="0"/>
              </a:spcAft>
              <a:buClr>
                <a:schemeClr val="dk2"/>
              </a:buClr>
              <a:buSzPts val="3400"/>
              <a:buFont typeface="Calibri"/>
              <a:buChar char="•"/>
            </a:pPr>
            <a:r>
              <a:rPr b="1" i="0" lang="en-US" sz="3400" u="none">
                <a:solidFill>
                  <a:schemeClr val="dk2"/>
                </a:solidFill>
              </a:rPr>
              <a:t>Smoothed RTT: RTT</a:t>
            </a:r>
            <a:r>
              <a:rPr b="1" baseline="-25000" i="0" lang="en-US" sz="3400" u="none">
                <a:solidFill>
                  <a:schemeClr val="dk2"/>
                </a:solidFill>
              </a:rPr>
              <a:t>S </a:t>
            </a:r>
            <a:r>
              <a:rPr b="1" i="0" lang="en-US" sz="3400" u="none">
                <a:solidFill>
                  <a:schemeClr val="dk2"/>
                </a:solidFill>
              </a:rPr>
              <a:t>(EstimatedRTT)</a:t>
            </a:r>
            <a:endParaRPr b="1" i="0" sz="3400" u="none">
              <a:solidFill>
                <a:schemeClr val="dk2"/>
              </a:solidFill>
            </a:endParaRPr>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Original 🡪 No value</a:t>
            </a:r>
            <a:endParaRPr sz="3000"/>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After 1</a:t>
            </a:r>
            <a:r>
              <a:rPr b="1" baseline="30000" i="0" lang="en-US" sz="3000" u="none">
                <a:solidFill>
                  <a:srgbClr val="0000CC"/>
                </a:solidFill>
              </a:rPr>
              <a:t>st</a:t>
            </a:r>
            <a:r>
              <a:rPr b="1" i="0" lang="en-US" sz="3000" u="none">
                <a:solidFill>
                  <a:srgbClr val="0000CC"/>
                </a:solidFill>
              </a:rPr>
              <a:t> measurement 🡪 </a:t>
            </a:r>
            <a:r>
              <a:rPr b="1" i="0" lang="en-US" sz="3000" u="none">
                <a:solidFill>
                  <a:schemeClr val="dk2"/>
                </a:solidFill>
              </a:rPr>
              <a:t>RTT</a:t>
            </a:r>
            <a:r>
              <a:rPr b="1" baseline="-25000" i="0" lang="en-US" sz="3000" u="none">
                <a:solidFill>
                  <a:schemeClr val="dk2"/>
                </a:solidFill>
              </a:rPr>
              <a:t>S</a:t>
            </a:r>
            <a:r>
              <a:rPr b="1" i="0" lang="en-US" sz="3000" u="none">
                <a:solidFill>
                  <a:schemeClr val="dk2"/>
                </a:solidFill>
              </a:rPr>
              <a:t> = RTT</a:t>
            </a:r>
            <a:r>
              <a:rPr b="1" baseline="-25000" i="0" lang="en-US" sz="3000" u="none">
                <a:solidFill>
                  <a:schemeClr val="dk2"/>
                </a:solidFill>
              </a:rPr>
              <a:t>M</a:t>
            </a:r>
            <a:endParaRPr b="1" i="0" sz="3000" u="none">
              <a:solidFill>
                <a:schemeClr val="dk2"/>
              </a:solidFill>
            </a:endParaRPr>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2</a:t>
            </a:r>
            <a:r>
              <a:rPr b="1" baseline="30000" i="0" lang="en-US" sz="3000" u="none">
                <a:solidFill>
                  <a:srgbClr val="0000CC"/>
                </a:solidFill>
              </a:rPr>
              <a:t>nd</a:t>
            </a:r>
            <a:r>
              <a:rPr b="1" i="0" lang="en-US" sz="3000" u="none">
                <a:solidFill>
                  <a:srgbClr val="0000CC"/>
                </a:solidFill>
              </a:rPr>
              <a:t> … 🡪 </a:t>
            </a:r>
            <a:r>
              <a:rPr b="1" i="0" lang="en-US" sz="3000" u="none">
                <a:solidFill>
                  <a:schemeClr val="dk2"/>
                </a:solidFill>
              </a:rPr>
              <a:t>RTT</a:t>
            </a:r>
            <a:r>
              <a:rPr b="1" baseline="-25000" i="0" lang="en-US" sz="3000" u="none">
                <a:solidFill>
                  <a:schemeClr val="dk2"/>
                </a:solidFill>
              </a:rPr>
              <a:t>S</a:t>
            </a:r>
            <a:r>
              <a:rPr b="1" i="0" lang="en-US" sz="3000" u="none">
                <a:solidFill>
                  <a:schemeClr val="dk2"/>
                </a:solidFill>
              </a:rPr>
              <a:t> = (1-α)*RTT</a:t>
            </a:r>
            <a:r>
              <a:rPr b="1" baseline="-25000" i="0" lang="en-US" sz="3000" u="none">
                <a:solidFill>
                  <a:schemeClr val="dk2"/>
                </a:solidFill>
              </a:rPr>
              <a:t>S</a:t>
            </a:r>
            <a:r>
              <a:rPr b="1" i="0" lang="en-US" sz="3000" u="none">
                <a:solidFill>
                  <a:schemeClr val="dk2"/>
                </a:solidFill>
              </a:rPr>
              <a:t> + α*RTT</a:t>
            </a:r>
            <a:r>
              <a:rPr b="1" baseline="-25000" i="0" lang="en-US" sz="3000" u="none">
                <a:solidFill>
                  <a:schemeClr val="dk2"/>
                </a:solidFill>
              </a:rPr>
              <a:t>M</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nvSpPr>
        <p:spPr>
          <a:xfrm>
            <a:off x="593833"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78" name="Google Shape;178;p18"/>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79" name="Google Shape;179;p18"/>
          <p:cNvSpPr txBox="1"/>
          <p:nvPr>
            <p:ph type="title"/>
          </p:nvPr>
        </p:nvSpPr>
        <p:spPr>
          <a:xfrm>
            <a:off x="914400" y="228600"/>
            <a:ext cx="9550500" cy="836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i="0" lang="en-US" sz="3600" u="none">
                <a:solidFill>
                  <a:srgbClr val="0000CC"/>
                </a:solidFill>
              </a:rPr>
              <a:t>Calculation of RTO (</a:t>
            </a:r>
            <a:r>
              <a:rPr lang="en-US" sz="3600">
                <a:solidFill>
                  <a:srgbClr val="0000CC"/>
                </a:solidFill>
              </a:rPr>
              <a:t>2</a:t>
            </a:r>
            <a:r>
              <a:rPr i="0" lang="en-US" sz="3600" u="none">
                <a:solidFill>
                  <a:srgbClr val="0000CC"/>
                </a:solidFill>
              </a:rPr>
              <a:t>)</a:t>
            </a:r>
            <a:endParaRPr/>
          </a:p>
        </p:txBody>
      </p:sp>
      <p:sp>
        <p:nvSpPr>
          <p:cNvPr id="180" name="Google Shape;180;p18"/>
          <p:cNvSpPr txBox="1"/>
          <p:nvPr>
            <p:ph idx="1" type="body"/>
          </p:nvPr>
        </p:nvSpPr>
        <p:spPr>
          <a:xfrm>
            <a:off x="508000" y="1219200"/>
            <a:ext cx="11074500" cy="4953000"/>
          </a:xfrm>
          <a:prstGeom prst="rect">
            <a:avLst/>
          </a:prstGeom>
          <a:noFill/>
          <a:ln>
            <a:noFill/>
          </a:ln>
        </p:spPr>
        <p:txBody>
          <a:bodyPr anchorCtr="0" anchor="t" bIns="45700" lIns="91425" spcFirstLastPara="1" rIns="91425" wrap="square" tIns="45700">
            <a:noAutofit/>
          </a:bodyPr>
          <a:lstStyle/>
          <a:p>
            <a:pPr indent="-403225" lvl="0" marL="365125" rtl="0" algn="l">
              <a:lnSpc>
                <a:spcPct val="100000"/>
              </a:lnSpc>
              <a:spcBef>
                <a:spcPts val="1120"/>
              </a:spcBef>
              <a:spcAft>
                <a:spcPts val="0"/>
              </a:spcAft>
              <a:buClr>
                <a:schemeClr val="dk2"/>
              </a:buClr>
              <a:buSzPts val="3400"/>
              <a:buFont typeface="Calibri"/>
              <a:buChar char="•"/>
            </a:pPr>
            <a:r>
              <a:rPr b="1" i="0" lang="en-US" sz="3400" u="none">
                <a:solidFill>
                  <a:schemeClr val="dk2"/>
                </a:solidFill>
              </a:rPr>
              <a:t>RTT Deviation : RTT</a:t>
            </a:r>
            <a:r>
              <a:rPr b="1" baseline="-25000" i="0" lang="en-US" sz="3400" u="none">
                <a:solidFill>
                  <a:schemeClr val="dk2"/>
                </a:solidFill>
              </a:rPr>
              <a:t>D</a:t>
            </a:r>
            <a:r>
              <a:rPr b="1" i="0" lang="en-US" sz="3400" u="none">
                <a:solidFill>
                  <a:schemeClr val="dk2"/>
                </a:solidFill>
              </a:rPr>
              <a:t> (DevRTT)</a:t>
            </a:r>
            <a:endParaRPr b="1" i="0" sz="3400" u="none">
              <a:solidFill>
                <a:schemeClr val="dk2"/>
              </a:solidFill>
            </a:endParaRPr>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Original 🡪 No value</a:t>
            </a:r>
            <a:endParaRPr sz="3000"/>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After 1</a:t>
            </a:r>
            <a:r>
              <a:rPr b="1" baseline="30000" i="0" lang="en-US" sz="3000" u="none">
                <a:solidFill>
                  <a:srgbClr val="0000CC"/>
                </a:solidFill>
              </a:rPr>
              <a:t>st</a:t>
            </a:r>
            <a:r>
              <a:rPr b="1" i="0" lang="en-US" sz="3000" u="none">
                <a:solidFill>
                  <a:srgbClr val="0000CC"/>
                </a:solidFill>
              </a:rPr>
              <a:t> measurement 🡪</a:t>
            </a:r>
            <a:r>
              <a:rPr b="1" i="0" lang="en-US" sz="3000" u="none">
                <a:solidFill>
                  <a:schemeClr val="dk2"/>
                </a:solidFill>
              </a:rPr>
              <a:t> RTT</a:t>
            </a:r>
            <a:r>
              <a:rPr b="1" baseline="-25000" i="0" lang="en-US" sz="3000" u="none">
                <a:solidFill>
                  <a:schemeClr val="dk2"/>
                </a:solidFill>
              </a:rPr>
              <a:t>D</a:t>
            </a:r>
            <a:r>
              <a:rPr b="1" i="0" lang="en-US" sz="3000" u="none">
                <a:solidFill>
                  <a:schemeClr val="dk2"/>
                </a:solidFill>
              </a:rPr>
              <a:t> = 0.5*RTT</a:t>
            </a:r>
            <a:r>
              <a:rPr b="1" baseline="-25000" i="0" lang="en-US" sz="3000" u="none">
                <a:solidFill>
                  <a:schemeClr val="dk2"/>
                </a:solidFill>
              </a:rPr>
              <a:t>M</a:t>
            </a:r>
            <a:endParaRPr b="1" i="0" sz="3000" u="none">
              <a:solidFill>
                <a:schemeClr val="dk2"/>
              </a:solidFill>
            </a:endParaRPr>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2</a:t>
            </a:r>
            <a:r>
              <a:rPr b="1" baseline="30000" i="0" lang="en-US" sz="3000" u="none">
                <a:solidFill>
                  <a:srgbClr val="0000CC"/>
                </a:solidFill>
              </a:rPr>
              <a:t>nd</a:t>
            </a:r>
            <a:r>
              <a:rPr b="1" i="0" lang="en-US" sz="3000" u="none">
                <a:solidFill>
                  <a:srgbClr val="0000CC"/>
                </a:solidFill>
              </a:rPr>
              <a:t> … 🡪 </a:t>
            </a:r>
            <a:r>
              <a:rPr b="1" i="0" lang="en-US" sz="3000" u="none">
                <a:solidFill>
                  <a:schemeClr val="dk2"/>
                </a:solidFill>
              </a:rPr>
              <a:t>RTT</a:t>
            </a:r>
            <a:r>
              <a:rPr b="1" baseline="-25000" i="0" lang="en-US" sz="3000" u="none">
                <a:solidFill>
                  <a:schemeClr val="dk2"/>
                </a:solidFill>
              </a:rPr>
              <a:t>D </a:t>
            </a:r>
            <a:r>
              <a:rPr b="1" i="0" lang="en-US" sz="3000" u="none">
                <a:solidFill>
                  <a:schemeClr val="dk2"/>
                </a:solidFill>
              </a:rPr>
              <a:t>= (1-β)*RTT</a:t>
            </a:r>
            <a:r>
              <a:rPr b="1" baseline="-25000" i="0" lang="en-US" sz="3000" u="none">
                <a:solidFill>
                  <a:schemeClr val="dk2"/>
                </a:solidFill>
              </a:rPr>
              <a:t>D</a:t>
            </a:r>
            <a:r>
              <a:rPr b="1" i="0" lang="en-US" sz="3000" u="none">
                <a:solidFill>
                  <a:schemeClr val="dk2"/>
                </a:solidFill>
              </a:rPr>
              <a:t> + β*|RTT</a:t>
            </a:r>
            <a:r>
              <a:rPr b="1" baseline="-25000" i="0" lang="en-US" sz="3000" u="none">
                <a:solidFill>
                  <a:schemeClr val="dk2"/>
                </a:solidFill>
              </a:rPr>
              <a:t>S</a:t>
            </a:r>
            <a:r>
              <a:rPr b="1" i="0" lang="en-US" sz="3000" u="none">
                <a:solidFill>
                  <a:schemeClr val="dk2"/>
                </a:solidFill>
              </a:rPr>
              <a:t> - RTT</a:t>
            </a:r>
            <a:r>
              <a:rPr b="1" baseline="-25000" i="0" lang="en-US" sz="3000" u="none">
                <a:solidFill>
                  <a:schemeClr val="dk2"/>
                </a:solidFill>
              </a:rPr>
              <a:t>M</a:t>
            </a:r>
            <a:r>
              <a:rPr b="1" i="0" lang="en-US" sz="3000" u="none">
                <a:solidFill>
                  <a:schemeClr val="dk2"/>
                </a:solidFill>
              </a:rPr>
              <a:t>|</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nvSpPr>
        <p:spPr>
          <a:xfrm>
            <a:off x="5080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86" name="Google Shape;186;p19"/>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87" name="Google Shape;187;p19"/>
          <p:cNvSpPr txBox="1"/>
          <p:nvPr>
            <p:ph type="title"/>
          </p:nvPr>
        </p:nvSpPr>
        <p:spPr>
          <a:xfrm>
            <a:off x="914400" y="228600"/>
            <a:ext cx="9550500" cy="836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i="0" lang="en-US" sz="3600" u="none">
                <a:solidFill>
                  <a:srgbClr val="0000CC"/>
                </a:solidFill>
              </a:rPr>
              <a:t>Calculation of RTO (</a:t>
            </a:r>
            <a:r>
              <a:rPr lang="en-US" sz="3600">
                <a:solidFill>
                  <a:srgbClr val="0000CC"/>
                </a:solidFill>
              </a:rPr>
              <a:t>3</a:t>
            </a:r>
            <a:r>
              <a:rPr i="0" lang="en-US" sz="3600" u="none">
                <a:solidFill>
                  <a:srgbClr val="0000CC"/>
                </a:solidFill>
              </a:rPr>
              <a:t>)</a:t>
            </a:r>
            <a:endParaRPr/>
          </a:p>
        </p:txBody>
      </p:sp>
      <p:sp>
        <p:nvSpPr>
          <p:cNvPr id="188" name="Google Shape;188;p19"/>
          <p:cNvSpPr txBox="1"/>
          <p:nvPr>
            <p:ph idx="1" type="body"/>
          </p:nvPr>
        </p:nvSpPr>
        <p:spPr>
          <a:xfrm>
            <a:off x="508000" y="1219200"/>
            <a:ext cx="11074500" cy="4953000"/>
          </a:xfrm>
          <a:prstGeom prst="rect">
            <a:avLst/>
          </a:prstGeom>
          <a:noFill/>
          <a:ln>
            <a:noFill/>
          </a:ln>
        </p:spPr>
        <p:txBody>
          <a:bodyPr anchorCtr="0" anchor="t" bIns="45700" lIns="91425" spcFirstLastPara="1" rIns="91425" wrap="square" tIns="45700">
            <a:noAutofit/>
          </a:bodyPr>
          <a:lstStyle/>
          <a:p>
            <a:pPr indent="-377825" lvl="0" marL="365125" rtl="0" algn="l">
              <a:lnSpc>
                <a:spcPct val="100000"/>
              </a:lnSpc>
              <a:spcBef>
                <a:spcPts val="0"/>
              </a:spcBef>
              <a:spcAft>
                <a:spcPts val="0"/>
              </a:spcAft>
              <a:buClr>
                <a:schemeClr val="dk2"/>
              </a:buClr>
              <a:buSzPts val="3000"/>
              <a:buFont typeface="Calibri"/>
              <a:buChar char="•"/>
            </a:pPr>
            <a:r>
              <a:rPr b="1" i="0" lang="en-US" sz="3000" u="none">
                <a:solidFill>
                  <a:schemeClr val="dk2"/>
                </a:solidFill>
              </a:rPr>
              <a:t>Retransmission Timeout (RTO)</a:t>
            </a:r>
            <a:endParaRPr sz="3000"/>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Original 🡪 Initial value</a:t>
            </a:r>
            <a:endParaRPr sz="3000"/>
          </a:p>
          <a:p>
            <a:pPr indent="-301625" lvl="1" marL="808037" rtl="0" algn="l">
              <a:lnSpc>
                <a:spcPct val="120000"/>
              </a:lnSpc>
              <a:spcBef>
                <a:spcPts val="960"/>
              </a:spcBef>
              <a:spcAft>
                <a:spcPts val="0"/>
              </a:spcAft>
              <a:buClr>
                <a:srgbClr val="0000CC"/>
              </a:buClr>
              <a:buSzPts val="3000"/>
              <a:buFont typeface="Calibri"/>
              <a:buChar char="–"/>
            </a:pPr>
            <a:r>
              <a:rPr b="1" i="0" lang="en-US" sz="3000" u="none">
                <a:solidFill>
                  <a:srgbClr val="0000CC"/>
                </a:solidFill>
              </a:rPr>
              <a:t>After any measurement</a:t>
            </a:r>
            <a:r>
              <a:rPr b="1" i="0" lang="en-US" sz="3000" u="none">
                <a:solidFill>
                  <a:schemeClr val="dk2"/>
                </a:solidFill>
              </a:rPr>
              <a:t> </a:t>
            </a:r>
            <a:br>
              <a:rPr b="1" i="0" lang="en-US" sz="3000" u="none">
                <a:solidFill>
                  <a:schemeClr val="dk2"/>
                </a:solidFill>
              </a:rPr>
            </a:br>
            <a:r>
              <a:rPr b="1" i="0" lang="en-US" sz="3000" u="none">
                <a:solidFill>
                  <a:schemeClr val="dk2"/>
                </a:solidFill>
              </a:rPr>
              <a:t>🡪 RTO = RTT</a:t>
            </a:r>
            <a:r>
              <a:rPr b="1" baseline="-25000" i="0" lang="en-US" sz="3000" u="none">
                <a:solidFill>
                  <a:schemeClr val="dk2"/>
                </a:solidFill>
              </a:rPr>
              <a:t>S</a:t>
            </a:r>
            <a:r>
              <a:rPr b="1" i="0" lang="en-US" sz="3000" u="none">
                <a:solidFill>
                  <a:schemeClr val="dk2"/>
                </a:solidFill>
              </a:rPr>
              <a:t> + 4RTT</a:t>
            </a:r>
            <a:r>
              <a:rPr b="1" baseline="-25000" i="0" lang="en-US" sz="3000" u="none">
                <a:solidFill>
                  <a:schemeClr val="dk2"/>
                </a:solidFill>
              </a:rPr>
              <a:t>D</a:t>
            </a:r>
            <a:endParaRPr sz="3000"/>
          </a:p>
          <a:p>
            <a:pPr indent="-377825" lvl="0" marL="365125" rtl="0" algn="l">
              <a:lnSpc>
                <a:spcPct val="100000"/>
              </a:lnSpc>
              <a:spcBef>
                <a:spcPts val="1120"/>
              </a:spcBef>
              <a:spcAft>
                <a:spcPts val="0"/>
              </a:spcAft>
              <a:buClr>
                <a:schemeClr val="dk2"/>
              </a:buClr>
              <a:buSzPts val="3000"/>
              <a:buFont typeface="Calibri"/>
              <a:buChar char="•"/>
            </a:pPr>
            <a:r>
              <a:rPr b="1" i="0" lang="en-US" sz="3000" u="none">
                <a:solidFill>
                  <a:schemeClr val="dk2"/>
                </a:solidFill>
              </a:rPr>
              <a:t>Example 10 (page 322)</a:t>
            </a:r>
            <a:endParaRPr sz="3000"/>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 α = </a:t>
            </a:r>
            <a:r>
              <a:rPr b="1" lang="en-US" sz="3000">
                <a:solidFill>
                  <a:srgbClr val="0000CC"/>
                </a:solidFill>
              </a:rPr>
              <a:t>⅛</a:t>
            </a:r>
            <a:r>
              <a:rPr b="1" i="0" lang="en-US" sz="3000" u="none">
                <a:solidFill>
                  <a:srgbClr val="0000CC"/>
                </a:solidFill>
              </a:rPr>
              <a:t> = 0.125</a:t>
            </a:r>
            <a:endParaRPr sz="3000"/>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 β = </a:t>
            </a:r>
            <a:r>
              <a:rPr b="1" lang="en-US" sz="3000">
                <a:solidFill>
                  <a:srgbClr val="0000CC"/>
                </a:solidFill>
              </a:rPr>
              <a:t>¼</a:t>
            </a:r>
            <a:r>
              <a:rPr b="1" i="0" lang="en-US" sz="3000" u="none">
                <a:solidFill>
                  <a:srgbClr val="0000CC"/>
                </a:solidFill>
              </a:rPr>
              <a:t> = 0.25</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5" name="Google Shape;195;p2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6" name="Google Shape;196;p20"/>
          <p:cNvSpPr txBox="1"/>
          <p:nvPr/>
        </p:nvSpPr>
        <p:spPr>
          <a:xfrm>
            <a:off x="101600" y="696912"/>
            <a:ext cx="11734800" cy="2493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Let us give a hypothetical example. Figure 15.39 shows part of a connection. The figure shows the connection establishment and part of the data transfer phases.</a:t>
            </a:r>
            <a:endParaRPr/>
          </a:p>
          <a:p>
            <a:pPr indent="0" lvl="0" marL="0" marR="0" rtl="0" algn="just">
              <a:lnSpc>
                <a:spcPct val="100000"/>
              </a:lnSpc>
              <a:spcBef>
                <a:spcPts val="0"/>
              </a:spcBef>
              <a:spcAft>
                <a:spcPts val="0"/>
              </a:spcAft>
              <a:buClr>
                <a:schemeClr val="dk1"/>
              </a:buClr>
              <a:buSzPts val="1200"/>
              <a:buFont typeface="Tahoma"/>
              <a:buNone/>
            </a:pPr>
            <a:r>
              <a:t/>
            </a:r>
            <a:endParaRPr b="1" i="0" sz="12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1.</a:t>
            </a:r>
            <a:r>
              <a:rPr b="1" i="0" lang="en-US" sz="2400" u="none">
                <a:solidFill>
                  <a:schemeClr val="dk1"/>
                </a:solidFill>
                <a:latin typeface="Arimo"/>
                <a:ea typeface="Arimo"/>
                <a:cs typeface="Arimo"/>
                <a:sym typeface="Arimo"/>
              </a:rPr>
              <a:t>	When the SYN segment is sent, there is no value for 	RTTM, RTTS, or RTTD. The value of RTO is set to 6.00 	seconds. The following shows the value of these 	variable at this moment:</a:t>
            </a:r>
            <a:endParaRPr/>
          </a:p>
        </p:txBody>
      </p:sp>
      <p:grpSp>
        <p:nvGrpSpPr>
          <p:cNvPr id="197" name="Google Shape;197;p20"/>
          <p:cNvGrpSpPr/>
          <p:nvPr/>
        </p:nvGrpSpPr>
        <p:grpSpPr>
          <a:xfrm>
            <a:off x="0" y="0"/>
            <a:ext cx="12065000" cy="476250"/>
            <a:chOff x="0" y="2448"/>
            <a:chExt cx="5700" cy="300"/>
          </a:xfrm>
        </p:grpSpPr>
        <p:sp>
          <p:nvSpPr>
            <p:cNvPr id="198" name="Google Shape;198;p20"/>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9" name="Google Shape;199;p20"/>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15.3</a:t>
              </a:r>
              <a:endParaRPr/>
            </a:p>
          </p:txBody>
        </p:sp>
      </p:grpSp>
      <p:pic>
        <p:nvPicPr>
          <p:cNvPr id="200" name="Google Shape;200;p20"/>
          <p:cNvPicPr preferRelativeResize="0"/>
          <p:nvPr/>
        </p:nvPicPr>
        <p:blipFill rotWithShape="1">
          <a:blip r:embed="rId3">
            <a:alphaModFix/>
          </a:blip>
          <a:srcRect b="0" l="0" r="0" t="0"/>
          <a:stretch/>
        </p:blipFill>
        <p:spPr>
          <a:xfrm>
            <a:off x="4766733" y="3438525"/>
            <a:ext cx="1454148" cy="582612"/>
          </a:xfrm>
          <a:prstGeom prst="rect">
            <a:avLst/>
          </a:prstGeom>
          <a:noFill/>
          <a:ln>
            <a:noFill/>
          </a:ln>
        </p:spPr>
      </p:pic>
      <p:sp>
        <p:nvSpPr>
          <p:cNvPr id="201" name="Google Shape;201;p20"/>
          <p:cNvSpPr txBox="1"/>
          <p:nvPr/>
        </p:nvSpPr>
        <p:spPr>
          <a:xfrm>
            <a:off x="0" y="4181475"/>
            <a:ext cx="11785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2.</a:t>
            </a:r>
            <a:r>
              <a:rPr b="1" i="0" lang="en-US" sz="2400" u="none">
                <a:solidFill>
                  <a:schemeClr val="dk1"/>
                </a:solidFill>
                <a:latin typeface="Arimo"/>
                <a:ea typeface="Arimo"/>
                <a:cs typeface="Arimo"/>
                <a:sym typeface="Arimo"/>
              </a:rPr>
              <a:t>	When the SYN+ACK segment arrives, RTTM is 	measured and is equal to 1.5 seconds.</a:t>
            </a:r>
            <a:endParaRPr/>
          </a:p>
        </p:txBody>
      </p:sp>
      <p:pic>
        <p:nvPicPr>
          <p:cNvPr id="202" name="Google Shape;202;p20"/>
          <p:cNvPicPr preferRelativeResize="0"/>
          <p:nvPr/>
        </p:nvPicPr>
        <p:blipFill rotWithShape="1">
          <a:blip r:embed="rId4">
            <a:alphaModFix/>
          </a:blip>
          <a:srcRect b="0" l="0" r="0" t="0"/>
          <a:stretch/>
        </p:blipFill>
        <p:spPr>
          <a:xfrm>
            <a:off x="569383" y="5000625"/>
            <a:ext cx="7907338" cy="1235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9" name="Google Shape;209;p2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0" name="Google Shape;210;p21"/>
          <p:cNvSpPr txBox="1"/>
          <p:nvPr/>
        </p:nvSpPr>
        <p:spPr>
          <a:xfrm>
            <a:off x="101600" y="696912"/>
            <a:ext cx="11785500" cy="23088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3.</a:t>
            </a:r>
            <a:r>
              <a:rPr b="1" i="0" lang="en-US" sz="2400" u="none">
                <a:solidFill>
                  <a:schemeClr val="dk1"/>
                </a:solidFill>
                <a:latin typeface="Arimo"/>
                <a:ea typeface="Arimo"/>
                <a:cs typeface="Arimo"/>
                <a:sym typeface="Arimo"/>
              </a:rPr>
              <a:t>	When the first data segment is sent, a new RTT measurement starts. No RTT measurement starts for the second data segment because a measurement is already in progress. The arrival of the last ACK segment is used to calculate the next value of RTTM. Although the last ACK segment acknowledges both data segments (cumulative), its arrival finalizes the value of RTTM for the first segment. The values of these variables are now as shown below.</a:t>
            </a:r>
            <a:endParaRPr/>
          </a:p>
        </p:txBody>
      </p:sp>
      <p:grpSp>
        <p:nvGrpSpPr>
          <p:cNvPr id="211" name="Google Shape;211;p21"/>
          <p:cNvGrpSpPr/>
          <p:nvPr/>
        </p:nvGrpSpPr>
        <p:grpSpPr>
          <a:xfrm>
            <a:off x="0" y="0"/>
            <a:ext cx="12065000" cy="476250"/>
            <a:chOff x="0" y="2448"/>
            <a:chExt cx="5700" cy="300"/>
          </a:xfrm>
        </p:grpSpPr>
        <p:sp>
          <p:nvSpPr>
            <p:cNvPr id="212" name="Google Shape;212;p21"/>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3" name="Google Shape;213;p21"/>
            <p:cNvSpPr txBox="1"/>
            <p:nvPr/>
          </p:nvSpPr>
          <p:spPr>
            <a:xfrm>
              <a:off x="0" y="2448"/>
              <a:ext cx="27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15.3 </a:t>
              </a:r>
              <a:r>
                <a:rPr b="1" i="1" lang="en-US" sz="3200" u="none">
                  <a:solidFill>
                    <a:schemeClr val="lt1"/>
                  </a:solidFill>
                  <a:latin typeface="Times New Roman"/>
                  <a:ea typeface="Times New Roman"/>
                  <a:cs typeface="Times New Roman"/>
                  <a:sym typeface="Times New Roman"/>
                </a:rPr>
                <a:t>Continued</a:t>
              </a:r>
              <a:endParaRPr/>
            </a:p>
          </p:txBody>
        </p:sp>
      </p:grpSp>
      <p:pic>
        <p:nvPicPr>
          <p:cNvPr id="214" name="Google Shape;214;p21"/>
          <p:cNvPicPr preferRelativeResize="0"/>
          <p:nvPr/>
        </p:nvPicPr>
        <p:blipFill rotWithShape="1">
          <a:blip r:embed="rId3">
            <a:alphaModFix/>
          </a:blip>
          <a:srcRect b="0" l="0" r="0" t="0"/>
          <a:stretch/>
        </p:blipFill>
        <p:spPr>
          <a:xfrm>
            <a:off x="584200" y="4286250"/>
            <a:ext cx="8583612" cy="1438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21" name="Google Shape;221;p2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22" name="Google Shape;222;p22"/>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223" name="Google Shape;223;p2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 name="Google Shape;224;p2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5" name="Google Shape;225;p2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 name="Google Shape;226;p2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 name="Google Shape;227;p2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8" name="Google Shape;228;p2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9" name="Google Shape;229;p2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30" name="Google Shape;230;p22"/>
          <p:cNvPicPr preferRelativeResize="0"/>
          <p:nvPr/>
        </p:nvPicPr>
        <p:blipFill rotWithShape="1">
          <a:blip r:embed="rId3">
            <a:alphaModFix/>
          </a:blip>
          <a:srcRect b="0" l="0" r="0" t="0"/>
          <a:stretch/>
        </p:blipFill>
        <p:spPr>
          <a:xfrm>
            <a:off x="1992478" y="931848"/>
            <a:ext cx="8790400" cy="5239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37" name="Google Shape;237;p2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38" name="Google Shape;238;p23"/>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239" name="Google Shape;239;p2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 name="Google Shape;240;p2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1" name="Google Shape;241;p2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2" name="Google Shape;242;p2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3" name="Google Shape;243;p2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4" name="Google Shape;244;p2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5" name="Google Shape;245;p2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6" name="Google Shape;246;p23"/>
          <p:cNvSpPr txBox="1"/>
          <p:nvPr>
            <p:ph idx="1" type="body"/>
          </p:nvPr>
        </p:nvSpPr>
        <p:spPr>
          <a:xfrm>
            <a:off x="838200" y="1004825"/>
            <a:ext cx="10515600" cy="507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600"/>
              <a:t>Steps:</a:t>
            </a:r>
            <a:endParaRPr sz="3600"/>
          </a:p>
          <a:p>
            <a:pPr indent="0" lvl="0" marL="0" rtl="0" algn="l">
              <a:spcBef>
                <a:spcPts val="1000"/>
              </a:spcBef>
              <a:spcAft>
                <a:spcPts val="0"/>
              </a:spcAft>
              <a:buNone/>
            </a:pPr>
            <a:r>
              <a:rPr lang="en-US" sz="3400"/>
              <a:t>First Measurement:</a:t>
            </a:r>
            <a:endParaRPr sz="3400"/>
          </a:p>
          <a:p>
            <a:pPr indent="-368300" lvl="0" marL="457200" rtl="0" algn="l">
              <a:lnSpc>
                <a:spcPct val="200000"/>
              </a:lnSpc>
              <a:spcBef>
                <a:spcPts val="1000"/>
              </a:spcBef>
              <a:spcAft>
                <a:spcPts val="0"/>
              </a:spcAft>
              <a:buClr>
                <a:srgbClr val="3333CC"/>
              </a:buClr>
              <a:buSzPts val="2200"/>
              <a:buAutoNum type="arabicPeriod"/>
            </a:pPr>
            <a:r>
              <a:rPr b="1" lang="en-US" sz="3000">
                <a:solidFill>
                  <a:schemeClr val="dk2"/>
                </a:solidFill>
              </a:rPr>
              <a:t>RTT</a:t>
            </a:r>
            <a:r>
              <a:rPr b="1" baseline="-25000" lang="en-US" sz="3000">
                <a:solidFill>
                  <a:schemeClr val="dk2"/>
                </a:solidFill>
              </a:rPr>
              <a:t>S</a:t>
            </a:r>
            <a:r>
              <a:rPr b="1" lang="en-US" sz="3000">
                <a:solidFill>
                  <a:schemeClr val="dk2"/>
                </a:solidFill>
              </a:rPr>
              <a:t> = RTT</a:t>
            </a:r>
            <a:r>
              <a:rPr b="1" baseline="-25000" lang="en-US" sz="3000">
                <a:solidFill>
                  <a:schemeClr val="dk2"/>
                </a:solidFill>
              </a:rPr>
              <a:t>M</a:t>
            </a:r>
            <a:endParaRPr b="1" baseline="-25000" sz="3000">
              <a:solidFill>
                <a:schemeClr val="dk2"/>
              </a:solidFill>
            </a:endParaRPr>
          </a:p>
          <a:p>
            <a:pPr indent="-368300" lvl="0" marL="457200" rtl="0" algn="l">
              <a:lnSpc>
                <a:spcPct val="200000"/>
              </a:lnSpc>
              <a:spcBef>
                <a:spcPts val="0"/>
              </a:spcBef>
              <a:spcAft>
                <a:spcPts val="0"/>
              </a:spcAft>
              <a:buClr>
                <a:srgbClr val="3333CC"/>
              </a:buClr>
              <a:buSzPts val="2200"/>
              <a:buAutoNum type="arabicPeriod"/>
            </a:pPr>
            <a:r>
              <a:rPr b="1" lang="en-US" sz="3000">
                <a:solidFill>
                  <a:schemeClr val="dk2"/>
                </a:solidFill>
              </a:rPr>
              <a:t>RTT</a:t>
            </a:r>
            <a:r>
              <a:rPr b="1" baseline="-25000" lang="en-US" sz="3000">
                <a:solidFill>
                  <a:schemeClr val="dk2"/>
                </a:solidFill>
              </a:rPr>
              <a:t>D </a:t>
            </a:r>
            <a:r>
              <a:rPr b="1" lang="en-US" sz="3000">
                <a:solidFill>
                  <a:schemeClr val="dk2"/>
                </a:solidFill>
              </a:rPr>
              <a:t>= 0.5 * RTT</a:t>
            </a:r>
            <a:r>
              <a:rPr b="1" baseline="-25000" lang="en-US" sz="3000">
                <a:solidFill>
                  <a:schemeClr val="dk2"/>
                </a:solidFill>
              </a:rPr>
              <a:t>M</a:t>
            </a:r>
            <a:endParaRPr/>
          </a:p>
        </p:txBody>
      </p:sp>
      <p:sp>
        <p:nvSpPr>
          <p:cNvPr id="247" name="Google Shape;247;p23"/>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Transport Layer: 3-</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54" name="Google Shape;254;p2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55" name="Google Shape;255;p24"/>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256" name="Google Shape;256;p24"/>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7" name="Google Shape;257;p24"/>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8" name="Google Shape;258;p24"/>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9" name="Google Shape;259;p24"/>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0" name="Google Shape;260;p24"/>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1" name="Google Shape;261;p24"/>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2" name="Google Shape;262;p24"/>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3" name="Google Shape;263;p24"/>
          <p:cNvSpPr txBox="1"/>
          <p:nvPr>
            <p:ph idx="1" type="body"/>
          </p:nvPr>
        </p:nvSpPr>
        <p:spPr>
          <a:xfrm>
            <a:off x="838200" y="1004825"/>
            <a:ext cx="10515600" cy="507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600"/>
              <a:t>Steps:</a:t>
            </a:r>
            <a:endParaRPr sz="3600"/>
          </a:p>
          <a:p>
            <a:pPr indent="0" lvl="0" marL="0" rtl="0" algn="l">
              <a:spcBef>
                <a:spcPts val="1000"/>
              </a:spcBef>
              <a:spcAft>
                <a:spcPts val="0"/>
              </a:spcAft>
              <a:buNone/>
            </a:pPr>
            <a:r>
              <a:rPr lang="en-US" sz="3400"/>
              <a:t>All Other Measurement:</a:t>
            </a:r>
            <a:endParaRPr sz="3400"/>
          </a:p>
          <a:p>
            <a:pPr indent="-342900" lvl="0" marL="457200" rtl="0" algn="l">
              <a:lnSpc>
                <a:spcPct val="200000"/>
              </a:lnSpc>
              <a:spcBef>
                <a:spcPts val="1000"/>
              </a:spcBef>
              <a:spcAft>
                <a:spcPts val="0"/>
              </a:spcAft>
              <a:buSzPts val="1800"/>
              <a:buAutoNum type="arabicPeriod"/>
            </a:pPr>
            <a:r>
              <a:rPr b="1" lang="en-US" sz="3000">
                <a:solidFill>
                  <a:schemeClr val="dk2"/>
                </a:solidFill>
              </a:rPr>
              <a:t>RTT</a:t>
            </a:r>
            <a:r>
              <a:rPr b="1" baseline="-25000" lang="en-US" sz="3000">
                <a:solidFill>
                  <a:schemeClr val="dk2"/>
                </a:solidFill>
              </a:rPr>
              <a:t>M</a:t>
            </a:r>
            <a:r>
              <a:rPr b="1" lang="en-US" sz="3000">
                <a:solidFill>
                  <a:schemeClr val="dk2"/>
                </a:solidFill>
              </a:rPr>
              <a:t> </a:t>
            </a:r>
            <a:r>
              <a:rPr lang="en-US"/>
              <a:t>= Latest measurement of </a:t>
            </a:r>
            <a:r>
              <a:rPr b="1" lang="en-US" sz="3000">
                <a:solidFill>
                  <a:schemeClr val="dk2"/>
                </a:solidFill>
              </a:rPr>
              <a:t>RTT</a:t>
            </a:r>
            <a:endParaRPr/>
          </a:p>
          <a:p>
            <a:pPr indent="-342900" lvl="0" marL="457200" rtl="0" algn="l">
              <a:lnSpc>
                <a:spcPct val="200000"/>
              </a:lnSpc>
              <a:spcBef>
                <a:spcPts val="0"/>
              </a:spcBef>
              <a:spcAft>
                <a:spcPts val="0"/>
              </a:spcAft>
              <a:buSzPts val="1800"/>
              <a:buAutoNum type="arabicPeriod"/>
            </a:pPr>
            <a:r>
              <a:rPr lang="en-US"/>
              <a:t>Calculate </a:t>
            </a:r>
            <a:r>
              <a:rPr b="1" lang="en-US" sz="3000">
                <a:solidFill>
                  <a:schemeClr val="dk2"/>
                </a:solidFill>
              </a:rPr>
              <a:t>RTT</a:t>
            </a:r>
            <a:r>
              <a:rPr b="1" baseline="-25000" lang="en-US" sz="3000">
                <a:solidFill>
                  <a:schemeClr val="dk2"/>
                </a:solidFill>
              </a:rPr>
              <a:t>S</a:t>
            </a:r>
            <a:r>
              <a:rPr b="1" lang="en-US" sz="3000">
                <a:solidFill>
                  <a:schemeClr val="dk2"/>
                </a:solidFill>
              </a:rPr>
              <a:t> = (1-α)*RTT</a:t>
            </a:r>
            <a:r>
              <a:rPr b="1" baseline="-25000" lang="en-US" sz="3000">
                <a:solidFill>
                  <a:schemeClr val="dk2"/>
                </a:solidFill>
              </a:rPr>
              <a:t>S</a:t>
            </a:r>
            <a:r>
              <a:rPr b="1" lang="en-US" sz="3000">
                <a:solidFill>
                  <a:schemeClr val="dk2"/>
                </a:solidFill>
              </a:rPr>
              <a:t> + α*RTT</a:t>
            </a:r>
            <a:r>
              <a:rPr b="1" baseline="-25000" lang="en-US" sz="3000">
                <a:solidFill>
                  <a:schemeClr val="dk2"/>
                </a:solidFill>
              </a:rPr>
              <a:t>M</a:t>
            </a:r>
            <a:endParaRPr/>
          </a:p>
          <a:p>
            <a:pPr indent="-342900" lvl="0" marL="457200" rtl="0" algn="l">
              <a:lnSpc>
                <a:spcPct val="200000"/>
              </a:lnSpc>
              <a:spcBef>
                <a:spcPts val="0"/>
              </a:spcBef>
              <a:spcAft>
                <a:spcPts val="0"/>
              </a:spcAft>
              <a:buSzPts val="1800"/>
              <a:buAutoNum type="arabicPeriod"/>
            </a:pPr>
            <a:r>
              <a:rPr lang="en-US"/>
              <a:t>Calculate </a:t>
            </a:r>
            <a:r>
              <a:rPr b="1" lang="en-US" sz="3000">
                <a:solidFill>
                  <a:schemeClr val="dk2"/>
                </a:solidFill>
              </a:rPr>
              <a:t>RTT</a:t>
            </a:r>
            <a:r>
              <a:rPr b="1" baseline="-25000" lang="en-US" sz="3000">
                <a:solidFill>
                  <a:schemeClr val="dk2"/>
                </a:solidFill>
              </a:rPr>
              <a:t>D </a:t>
            </a:r>
            <a:r>
              <a:rPr b="1" lang="en-US" sz="3000">
                <a:solidFill>
                  <a:schemeClr val="dk2"/>
                </a:solidFill>
              </a:rPr>
              <a:t>= (1-β)*RTT</a:t>
            </a:r>
            <a:r>
              <a:rPr b="1" baseline="-25000" lang="en-US" sz="3000">
                <a:solidFill>
                  <a:schemeClr val="dk2"/>
                </a:solidFill>
              </a:rPr>
              <a:t>D</a:t>
            </a:r>
            <a:r>
              <a:rPr b="1" lang="en-US" sz="3000">
                <a:solidFill>
                  <a:schemeClr val="dk2"/>
                </a:solidFill>
              </a:rPr>
              <a:t> + β*|RTT</a:t>
            </a:r>
            <a:r>
              <a:rPr b="1" baseline="-25000" lang="en-US" sz="3000">
                <a:solidFill>
                  <a:schemeClr val="dk2"/>
                </a:solidFill>
              </a:rPr>
              <a:t>S</a:t>
            </a:r>
            <a:r>
              <a:rPr b="1" lang="en-US" sz="3000">
                <a:solidFill>
                  <a:schemeClr val="dk2"/>
                </a:solidFill>
              </a:rPr>
              <a:t> - RTT</a:t>
            </a:r>
            <a:r>
              <a:rPr b="1" baseline="-25000" lang="en-US" sz="3000">
                <a:solidFill>
                  <a:schemeClr val="dk2"/>
                </a:solidFill>
              </a:rPr>
              <a:t>M</a:t>
            </a:r>
            <a:r>
              <a:rPr b="1" lang="en-US" sz="3000">
                <a:solidFill>
                  <a:schemeClr val="dk2"/>
                </a:solidFill>
              </a:rPr>
              <a:t>|</a:t>
            </a:r>
            <a:endParaRPr baseline="-25000"/>
          </a:p>
          <a:p>
            <a:pPr indent="-342900" lvl="0" marL="457200" rtl="0" algn="l">
              <a:lnSpc>
                <a:spcPct val="200000"/>
              </a:lnSpc>
              <a:spcBef>
                <a:spcPts val="0"/>
              </a:spcBef>
              <a:spcAft>
                <a:spcPts val="0"/>
              </a:spcAft>
              <a:buSzPts val="1800"/>
              <a:buAutoNum type="arabicPeriod"/>
            </a:pPr>
            <a:r>
              <a:rPr lang="en-US"/>
              <a:t>Finally Calculate </a:t>
            </a:r>
            <a:r>
              <a:rPr b="1" lang="en-US" sz="3000">
                <a:solidFill>
                  <a:schemeClr val="dk2"/>
                </a:solidFill>
              </a:rPr>
              <a:t>RTO = RTT</a:t>
            </a:r>
            <a:r>
              <a:rPr b="1" baseline="-25000" lang="en-US" sz="3000">
                <a:solidFill>
                  <a:schemeClr val="dk2"/>
                </a:solidFill>
              </a:rPr>
              <a:t>S</a:t>
            </a:r>
            <a:r>
              <a:rPr b="1" lang="en-US" sz="3000">
                <a:solidFill>
                  <a:schemeClr val="dk2"/>
                </a:solidFill>
              </a:rPr>
              <a:t> + 4RTT</a:t>
            </a:r>
            <a:r>
              <a:rPr b="1" baseline="-25000" lang="en-US" sz="3000">
                <a:solidFill>
                  <a:schemeClr val="dk2"/>
                </a:solidFill>
              </a:rPr>
              <a:t>D</a:t>
            </a:r>
            <a:endParaRPr b="1" sz="3000">
              <a:solidFill>
                <a:schemeClr val="dk2"/>
              </a:solidFill>
            </a:endParaRPr>
          </a:p>
        </p:txBody>
      </p:sp>
      <p:sp>
        <p:nvSpPr>
          <p:cNvPr id="264" name="Google Shape;264;p24"/>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265" name="Google Shape;265;p24"/>
          <p:cNvSpPr txBox="1"/>
          <p:nvPr/>
        </p:nvSpPr>
        <p:spPr>
          <a:xfrm>
            <a:off x="8997300" y="2864975"/>
            <a:ext cx="2476800" cy="182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000"/>
              </a:spcBef>
              <a:spcAft>
                <a:spcPts val="0"/>
              </a:spcAft>
              <a:buNone/>
            </a:pPr>
            <a:r>
              <a:rPr b="1" lang="en-US" sz="3000">
                <a:solidFill>
                  <a:schemeClr val="dk2"/>
                </a:solidFill>
                <a:latin typeface="Calibri"/>
                <a:ea typeface="Calibri"/>
                <a:cs typeface="Calibri"/>
                <a:sym typeface="Calibri"/>
              </a:rPr>
              <a:t>Here,</a:t>
            </a:r>
            <a:endParaRPr b="1" sz="3000">
              <a:solidFill>
                <a:schemeClr val="dk2"/>
              </a:solidFill>
              <a:latin typeface="Calibri"/>
              <a:ea typeface="Calibri"/>
              <a:cs typeface="Calibri"/>
              <a:sym typeface="Calibri"/>
            </a:endParaRPr>
          </a:p>
          <a:p>
            <a:pPr indent="0" lvl="0" marL="0" rtl="0" algn="l">
              <a:lnSpc>
                <a:spcPct val="100000"/>
              </a:lnSpc>
              <a:spcBef>
                <a:spcPts val="1000"/>
              </a:spcBef>
              <a:spcAft>
                <a:spcPts val="0"/>
              </a:spcAft>
              <a:buNone/>
            </a:pPr>
            <a:r>
              <a:rPr b="1" lang="en-US" sz="3000">
                <a:solidFill>
                  <a:schemeClr val="dk2"/>
                </a:solidFill>
                <a:latin typeface="Calibri"/>
                <a:ea typeface="Calibri"/>
                <a:cs typeface="Calibri"/>
                <a:sym typeface="Calibri"/>
              </a:rPr>
              <a:t>α = 0.125</a:t>
            </a:r>
            <a:endParaRPr b="1" sz="3000">
              <a:solidFill>
                <a:schemeClr val="dk2"/>
              </a:solidFill>
              <a:latin typeface="Calibri"/>
              <a:ea typeface="Calibri"/>
              <a:cs typeface="Calibri"/>
              <a:sym typeface="Calibri"/>
            </a:endParaRPr>
          </a:p>
          <a:p>
            <a:pPr indent="0" lvl="0" marL="0" rtl="0" algn="l">
              <a:lnSpc>
                <a:spcPct val="100000"/>
              </a:lnSpc>
              <a:spcBef>
                <a:spcPts val="1000"/>
              </a:spcBef>
              <a:spcAft>
                <a:spcPts val="0"/>
              </a:spcAft>
              <a:buNone/>
            </a:pPr>
            <a:r>
              <a:rPr b="1" lang="en-US" sz="3000">
                <a:solidFill>
                  <a:schemeClr val="dk2"/>
                </a:solidFill>
                <a:latin typeface="Calibri"/>
                <a:ea typeface="Calibri"/>
                <a:cs typeface="Calibri"/>
                <a:sym typeface="Calibri"/>
              </a:rPr>
              <a:t>β = 0.25</a:t>
            </a:r>
            <a:endParaRPr sz="3000">
              <a:solidFill>
                <a:schemeClr val="dk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72" name="Google Shape;272;p2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73" name="Google Shape;273;p25"/>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4" name="Google Shape;274;p25"/>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5" name="Google Shape;275;p25"/>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6" name="Google Shape;276;p25"/>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7" name="Google Shape;277;p25"/>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8" name="Google Shape;278;p25"/>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9" name="Google Shape;279;p25"/>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280" name="Google Shape;280;p25"/>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281" name="Google Shape;281;p25"/>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282" name="Google Shape;282;p25"/>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TCP does not consider the RTT of a retransmitted segment in its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calculation of a new RTO.</a:t>
            </a:r>
            <a:endParaRPr/>
          </a:p>
        </p:txBody>
      </p:sp>
      <p:grpSp>
        <p:nvGrpSpPr>
          <p:cNvPr id="283" name="Google Shape;283;p25"/>
          <p:cNvGrpSpPr/>
          <p:nvPr/>
        </p:nvGrpSpPr>
        <p:grpSpPr>
          <a:xfrm>
            <a:off x="812800" y="1981200"/>
            <a:ext cx="1523899" cy="566741"/>
            <a:chOff x="1200" y="1248"/>
            <a:chExt cx="720" cy="357"/>
          </a:xfrm>
        </p:grpSpPr>
        <p:pic>
          <p:nvPicPr>
            <p:cNvPr id="284" name="Google Shape;284;p2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85" name="Google Shape;285;p25"/>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txBox="1"/>
          <p:nvPr>
            <p:ph idx="12" type="sldNum"/>
          </p:nvPr>
        </p:nvSpPr>
        <p:spPr>
          <a:xfrm>
            <a:off x="9219616" y="6443089"/>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sz="1100">
                <a:solidFill>
                  <a:srgbClr val="7F7F7F"/>
                </a:solidFill>
                <a:latin typeface="Calibri"/>
                <a:ea typeface="Calibri"/>
                <a:cs typeface="Calibri"/>
                <a:sym typeface="Calibri"/>
              </a:rPr>
              <a:t>Transport Layer: 3-</a:t>
            </a:r>
            <a:fld id="{00000000-1234-1234-1234-123412341234}" type="slidenum">
              <a:rPr lang="en-US" sz="1100">
                <a:solidFill>
                  <a:srgbClr val="7F7F7F"/>
                </a:solidFill>
                <a:latin typeface="Calibri"/>
                <a:ea typeface="Calibri"/>
                <a:cs typeface="Calibri"/>
                <a:sym typeface="Calibri"/>
              </a:rPr>
              <a:t>‹#›</a:t>
            </a:fld>
            <a:endParaRPr sz="1100">
              <a:solidFill>
                <a:srgbClr val="7F7F7F"/>
              </a:solidFill>
              <a:latin typeface="Calibri"/>
              <a:ea typeface="Calibri"/>
              <a:cs typeface="Calibri"/>
              <a:sym typeface="Calibri"/>
            </a:endParaRPr>
          </a:p>
        </p:txBody>
      </p:sp>
      <p:sp>
        <p:nvSpPr>
          <p:cNvPr id="291" name="Google Shape;291;p26"/>
          <p:cNvSpPr txBox="1"/>
          <p:nvPr>
            <p:ph type="title"/>
          </p:nvPr>
        </p:nvSpPr>
        <p:spPr>
          <a:xfrm>
            <a:off x="838200" y="451821"/>
            <a:ext cx="10515600" cy="894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sz="4800"/>
              <a:t>Flaw in RTO Calculation</a:t>
            </a:r>
            <a:endParaRPr sz="4800"/>
          </a:p>
        </p:txBody>
      </p:sp>
      <p:sp>
        <p:nvSpPr>
          <p:cNvPr id="292" name="Google Shape;292;p26"/>
          <p:cNvSpPr txBox="1"/>
          <p:nvPr>
            <p:ph idx="1" type="body"/>
          </p:nvPr>
        </p:nvSpPr>
        <p:spPr>
          <a:xfrm>
            <a:off x="838200" y="1724027"/>
            <a:ext cx="10515600" cy="4351200"/>
          </a:xfrm>
          <a:prstGeom prst="rect">
            <a:avLst/>
          </a:prstGeom>
          <a:noFill/>
          <a:ln>
            <a:noFill/>
          </a:ln>
        </p:spPr>
        <p:txBody>
          <a:bodyPr anchorCtr="0" anchor="t" bIns="45700" lIns="91425" spcFirstLastPara="1" rIns="91425" wrap="square" tIns="45700">
            <a:normAutofit/>
          </a:bodyPr>
          <a:lstStyle/>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342900" lvl="0" marL="342900" rtl="0" algn="l">
              <a:spcBef>
                <a:spcPts val="1300"/>
              </a:spcBef>
              <a:spcAft>
                <a:spcPts val="0"/>
              </a:spcAft>
              <a:buSzPts val="2080"/>
              <a:buChar char="▪"/>
            </a:pPr>
            <a:r>
              <a:rPr lang="en-US"/>
              <a:t>K</a:t>
            </a:r>
            <a:r>
              <a:rPr lang="en-US"/>
              <a:t>arn/Partridge Algorithm </a:t>
            </a:r>
            <a:br>
              <a:rPr lang="en-US"/>
            </a:br>
            <a:r>
              <a:rPr lang="en-US"/>
              <a:t>	Doesn’t include retransmitted packet</a:t>
            </a:r>
            <a:endParaRPr b="1">
              <a:latin typeface="Courier New"/>
              <a:ea typeface="Courier New"/>
              <a:cs typeface="Courier New"/>
              <a:sym typeface="Courier New"/>
            </a:endParaRPr>
          </a:p>
        </p:txBody>
      </p:sp>
      <p:pic>
        <p:nvPicPr>
          <p:cNvPr id="293" name="Google Shape;293;p26"/>
          <p:cNvPicPr preferRelativeResize="0"/>
          <p:nvPr/>
        </p:nvPicPr>
        <p:blipFill rotWithShape="1">
          <a:blip r:embed="rId3">
            <a:alphaModFix/>
          </a:blip>
          <a:srcRect b="0" l="0" r="0" t="0"/>
          <a:stretch/>
        </p:blipFill>
        <p:spPr>
          <a:xfrm>
            <a:off x="2120900" y="1499748"/>
            <a:ext cx="7871024" cy="3265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7"/>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800"/>
              <a:t>Flaw in RTO Calculation</a:t>
            </a:r>
            <a:endParaRPr/>
          </a:p>
        </p:txBody>
      </p:sp>
      <p:pic>
        <p:nvPicPr>
          <p:cNvPr id="300" name="Google Shape;300;p27"/>
          <p:cNvPicPr preferRelativeResize="0"/>
          <p:nvPr/>
        </p:nvPicPr>
        <p:blipFill>
          <a:blip r:embed="rId3">
            <a:alphaModFix/>
          </a:blip>
          <a:stretch>
            <a:fillRect/>
          </a:stretch>
        </p:blipFill>
        <p:spPr>
          <a:xfrm>
            <a:off x="1143000" y="1346425"/>
            <a:ext cx="9934951" cy="5040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800"/>
              <a:t>Flaw in RTO Calculation</a:t>
            </a:r>
            <a:endParaRPr/>
          </a:p>
        </p:txBody>
      </p:sp>
      <p:pic>
        <p:nvPicPr>
          <p:cNvPr id="307" name="Google Shape;307;p28"/>
          <p:cNvPicPr preferRelativeResize="0"/>
          <p:nvPr/>
        </p:nvPicPr>
        <p:blipFill>
          <a:blip r:embed="rId3">
            <a:alphaModFix/>
          </a:blip>
          <a:stretch>
            <a:fillRect/>
          </a:stretch>
        </p:blipFill>
        <p:spPr>
          <a:xfrm>
            <a:off x="838200" y="1498826"/>
            <a:ext cx="10515600" cy="44456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9"/>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Karn’s Algorithm Solution</a:t>
            </a:r>
            <a:endParaRPr/>
          </a:p>
        </p:txBody>
      </p:sp>
      <p:pic>
        <p:nvPicPr>
          <p:cNvPr id="314" name="Google Shape;314;p29"/>
          <p:cNvPicPr preferRelativeResize="0"/>
          <p:nvPr/>
        </p:nvPicPr>
        <p:blipFill>
          <a:blip r:embed="rId3">
            <a:alphaModFix/>
          </a:blip>
          <a:stretch>
            <a:fillRect/>
          </a:stretch>
        </p:blipFill>
        <p:spPr>
          <a:xfrm>
            <a:off x="762000" y="1498826"/>
            <a:ext cx="10392576" cy="4205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0"/>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Karn’s Algorithm Solution</a:t>
            </a:r>
            <a:endParaRPr/>
          </a:p>
        </p:txBody>
      </p:sp>
      <p:sp>
        <p:nvSpPr>
          <p:cNvPr id="321" name="Google Shape;321;p30"/>
          <p:cNvSpPr txBox="1"/>
          <p:nvPr>
            <p:ph idx="1" type="body"/>
          </p:nvPr>
        </p:nvSpPr>
        <p:spPr>
          <a:xfrm>
            <a:off x="838200" y="1724027"/>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 practice, </a:t>
            </a:r>
            <a:r>
              <a:rPr b="1" lang="en-US"/>
              <a:t>TCP caps the RTO — usually around 60 seconds</a:t>
            </a:r>
            <a:r>
              <a:rPr lang="en-US"/>
              <a:t> (depending on implementation), so it doesn’t grow indefinitely.</a:t>
            </a:r>
            <a:endParaRPr/>
          </a:p>
        </p:txBody>
      </p:sp>
      <p:sp>
        <p:nvSpPr>
          <p:cNvPr id="322" name="Google Shape;322;p30"/>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Transport Layer: 3-</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29" name="Google Shape;329;p3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30" name="Google Shape;330;p31"/>
          <p:cNvSpPr txBox="1"/>
          <p:nvPr/>
        </p:nvSpPr>
        <p:spPr>
          <a:xfrm>
            <a:off x="101600" y="696912"/>
            <a:ext cx="11874300" cy="3047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15.40 is a continuation of the previous example. There is retransmission and </a:t>
            </a:r>
            <a:r>
              <a:rPr b="1" i="0" lang="en-US" sz="2400" u="none">
                <a:solidFill>
                  <a:schemeClr val="dk2"/>
                </a:solidFill>
                <a:latin typeface="Arimo"/>
                <a:ea typeface="Arimo"/>
                <a:cs typeface="Arimo"/>
                <a:sym typeface="Arimo"/>
              </a:rPr>
              <a:t>Karn</a:t>
            </a:r>
            <a:r>
              <a:rPr b="1" i="0" lang="en-US" sz="2400" u="none">
                <a:solidFill>
                  <a:schemeClr val="dk2"/>
                </a:solidFill>
                <a:latin typeface="Arial"/>
                <a:ea typeface="Arial"/>
                <a:cs typeface="Arial"/>
                <a:sym typeface="Arial"/>
              </a:rPr>
              <a:t>’</a:t>
            </a:r>
            <a:r>
              <a:rPr b="1" i="0" lang="en-US" sz="2400" u="none">
                <a:solidFill>
                  <a:schemeClr val="dk2"/>
                </a:solidFill>
                <a:latin typeface="Arimo"/>
                <a:ea typeface="Arimo"/>
                <a:cs typeface="Arimo"/>
                <a:sym typeface="Arimo"/>
              </a:rPr>
              <a:t>s algorithm</a:t>
            </a:r>
            <a:r>
              <a:rPr b="1" i="0" lang="en-US" sz="2400" u="none">
                <a:solidFill>
                  <a:schemeClr val="dk1"/>
                </a:solidFill>
                <a:latin typeface="Arimo"/>
                <a:ea typeface="Arimo"/>
                <a:cs typeface="Arimo"/>
                <a:sym typeface="Arimo"/>
              </a:rPr>
              <a:t> is applied.</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first segment in the figure is sent, but lost. The RTO timer expires after 4.74 seconds. The segment is retransmitted and the timer is set to 9.48, twice the previous value of RTO. This time an ACK is received before the time-out. We wait until we send a new segment and receive the ACK for it before recalculating the RTO (Karn</a:t>
            </a:r>
            <a:r>
              <a:rPr b="1" i="0" lang="en-US" sz="2400" u="none">
                <a:solidFill>
                  <a:schemeClr val="dk1"/>
                </a:solidFill>
                <a:latin typeface="Arial"/>
                <a:ea typeface="Arial"/>
                <a:cs typeface="Arial"/>
                <a:sym typeface="Arial"/>
              </a:rPr>
              <a:t>’</a:t>
            </a:r>
            <a:r>
              <a:rPr b="1" i="0" lang="en-US" sz="2400" u="none">
                <a:solidFill>
                  <a:schemeClr val="dk1"/>
                </a:solidFill>
                <a:latin typeface="Arimo"/>
                <a:ea typeface="Arimo"/>
                <a:cs typeface="Arimo"/>
                <a:sym typeface="Arimo"/>
              </a:rPr>
              <a:t>s algorithm).</a:t>
            </a:r>
            <a:endParaRPr/>
          </a:p>
        </p:txBody>
      </p:sp>
      <p:grpSp>
        <p:nvGrpSpPr>
          <p:cNvPr id="331" name="Google Shape;331;p31"/>
          <p:cNvGrpSpPr/>
          <p:nvPr/>
        </p:nvGrpSpPr>
        <p:grpSpPr>
          <a:xfrm>
            <a:off x="0" y="0"/>
            <a:ext cx="12065000" cy="476250"/>
            <a:chOff x="0" y="2448"/>
            <a:chExt cx="5700" cy="300"/>
          </a:xfrm>
        </p:grpSpPr>
        <p:sp>
          <p:nvSpPr>
            <p:cNvPr id="332" name="Google Shape;332;p31"/>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3" name="Google Shape;333;p31"/>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15.4</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40" name="Google Shape;340;p3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41" name="Google Shape;341;p32"/>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15.4</a:t>
            </a:r>
            <a:endParaRPr/>
          </a:p>
        </p:txBody>
      </p:sp>
      <p:sp>
        <p:nvSpPr>
          <p:cNvPr id="342" name="Google Shape;342;p3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3" name="Google Shape;343;p3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4" name="Google Shape;344;p3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5" name="Google Shape;345;p3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6" name="Google Shape;346;p3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7" name="Google Shape;347;p3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8" name="Google Shape;348;p3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49" name="Google Shape;349;p32"/>
          <p:cNvPicPr preferRelativeResize="0"/>
          <p:nvPr/>
        </p:nvPicPr>
        <p:blipFill rotWithShape="1">
          <a:blip r:embed="rId3">
            <a:alphaModFix/>
          </a:blip>
          <a:srcRect b="0" l="0" r="0" t="0"/>
          <a:stretch/>
        </p:blipFill>
        <p:spPr>
          <a:xfrm>
            <a:off x="1983326" y="803275"/>
            <a:ext cx="8759706" cy="5364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356" name="Google Shape;356;p33"/>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Persistence timer</a:t>
            </a:r>
            <a:endParaRPr/>
          </a:p>
        </p:txBody>
      </p:sp>
      <p:sp>
        <p:nvSpPr>
          <p:cNvPr id="357" name="Google Shape;357;p33"/>
          <p:cNvSpPr txBox="1"/>
          <p:nvPr>
            <p:ph idx="1" type="body"/>
          </p:nvPr>
        </p:nvSpPr>
        <p:spPr>
          <a:xfrm>
            <a:off x="1271375" y="1676400"/>
            <a:ext cx="9972300" cy="3657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80"/>
              <a:buChar char="▪"/>
            </a:pPr>
            <a:r>
              <a:rPr lang="en-US"/>
              <a:t>To deal with the zero-size windows</a:t>
            </a:r>
            <a:endParaRPr/>
          </a:p>
          <a:p>
            <a:pPr indent="-342900" lvl="0" marL="342900" rtl="0" algn="l">
              <a:spcBef>
                <a:spcPts val="520"/>
              </a:spcBef>
              <a:spcAft>
                <a:spcPts val="0"/>
              </a:spcAft>
              <a:buSzPts val="2080"/>
              <a:buChar char="▪"/>
            </a:pPr>
            <a:r>
              <a:rPr lang="en-US"/>
              <a:t>What if the receiver advertises that the window size is ≠ 0 (by sending ACK) and this ACK is lost?</a:t>
            </a:r>
            <a:endParaRPr/>
          </a:p>
          <a:p>
            <a:pPr indent="-285750" lvl="1" marL="742950" rtl="0" algn="l">
              <a:spcBef>
                <a:spcPts val="440"/>
              </a:spcBef>
              <a:spcAft>
                <a:spcPts val="0"/>
              </a:spcAft>
              <a:buSzPts val="2200"/>
              <a:buChar char="•"/>
            </a:pPr>
            <a:r>
              <a:rPr lang="en-US"/>
              <a:t>ACK are not acknowledged in TCP</a:t>
            </a:r>
            <a:endParaRPr/>
          </a:p>
          <a:p>
            <a:pPr indent="-342900" lvl="0" marL="342900" rtl="0" algn="l">
              <a:spcBef>
                <a:spcPts val="520"/>
              </a:spcBef>
              <a:spcAft>
                <a:spcPts val="0"/>
              </a:spcAft>
              <a:buSzPts val="2080"/>
              <a:buChar char="▪"/>
            </a:pPr>
            <a:r>
              <a:rPr lang="en-US"/>
              <a:t>Start persistence timer</a:t>
            </a:r>
            <a:endParaRPr/>
          </a:p>
          <a:p>
            <a:pPr indent="-285750" lvl="1" marL="742950" rtl="0" algn="l">
              <a:spcBef>
                <a:spcPts val="440"/>
              </a:spcBef>
              <a:spcAft>
                <a:spcPts val="0"/>
              </a:spcAft>
              <a:buSzPts val="2200"/>
              <a:buChar char="•"/>
            </a:pPr>
            <a:r>
              <a:rPr lang="en-US"/>
              <a:t>when this goes off send </a:t>
            </a:r>
            <a:r>
              <a:rPr lang="en-US" u="sng"/>
              <a:t>a probe</a:t>
            </a:r>
            <a:r>
              <a:rPr lang="en-US"/>
              <a:t> (1 byte of data)</a:t>
            </a:r>
            <a:endParaRPr/>
          </a:p>
          <a:p>
            <a:pPr indent="-285750" lvl="1" marL="742950" rtl="0" algn="l">
              <a:spcBef>
                <a:spcPts val="440"/>
              </a:spcBef>
              <a:spcAft>
                <a:spcPts val="0"/>
              </a:spcAft>
              <a:buSzPts val="2200"/>
              <a:buChar char="•"/>
            </a:pPr>
            <a:r>
              <a:rPr lang="en-US"/>
              <a:t>it is set to the retransmission time &amp; doubled every time a response is not received (until 60s, then sent every 60s)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4"/>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364" name="Google Shape;364;p34"/>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Keep alive timer</a:t>
            </a:r>
            <a:endParaRPr/>
          </a:p>
        </p:txBody>
      </p:sp>
      <p:sp>
        <p:nvSpPr>
          <p:cNvPr id="365" name="Google Shape;365;p34"/>
          <p:cNvSpPr txBox="1"/>
          <p:nvPr>
            <p:ph idx="1" type="body"/>
          </p:nvPr>
        </p:nvSpPr>
        <p:spPr>
          <a:xfrm>
            <a:off x="1219200" y="1828800"/>
            <a:ext cx="13682100" cy="3657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80"/>
              <a:buChar char="▪"/>
            </a:pPr>
            <a:r>
              <a:rPr lang="en-US"/>
              <a:t>to prevent a long idle connection between a client and a server</a:t>
            </a:r>
            <a:endParaRPr/>
          </a:p>
          <a:p>
            <a:pPr indent="-285750" lvl="1" marL="742950" rtl="0" algn="l">
              <a:spcBef>
                <a:spcPts val="440"/>
              </a:spcBef>
              <a:spcAft>
                <a:spcPts val="0"/>
              </a:spcAft>
              <a:buSzPts val="2200"/>
              <a:buChar char="•"/>
            </a:pPr>
            <a:r>
              <a:rPr lang="en-US"/>
              <a:t>either client or server crash</a:t>
            </a:r>
            <a:endParaRPr/>
          </a:p>
          <a:p>
            <a:pPr indent="-342900" lvl="0" marL="342900" rtl="0" algn="l">
              <a:spcBef>
                <a:spcPts val="520"/>
              </a:spcBef>
              <a:spcAft>
                <a:spcPts val="0"/>
              </a:spcAft>
              <a:buSzPts val="2080"/>
              <a:buChar char="▪"/>
            </a:pPr>
            <a:r>
              <a:rPr lang="en-US"/>
              <a:t>usually set to 2h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5"/>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372" name="Google Shape;372;p35"/>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Time-Waited Timer</a:t>
            </a:r>
            <a:endParaRPr/>
          </a:p>
        </p:txBody>
      </p:sp>
      <p:sp>
        <p:nvSpPr>
          <p:cNvPr id="373" name="Google Shape;373;p35"/>
          <p:cNvSpPr txBox="1"/>
          <p:nvPr>
            <p:ph idx="1" type="body"/>
          </p:nvPr>
        </p:nvSpPr>
        <p:spPr>
          <a:xfrm>
            <a:off x="964751" y="1828800"/>
            <a:ext cx="10474200" cy="3657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80"/>
              <a:buChar char="▪"/>
            </a:pPr>
            <a:r>
              <a:rPr lang="en-US"/>
              <a:t>used during connection termination to allow duplicate FIN segments to be discarded at the destination</a:t>
            </a:r>
            <a:endParaRPr/>
          </a:p>
          <a:p>
            <a:pPr indent="-342900" lvl="0" marL="342900" rtl="0" algn="l">
              <a:spcBef>
                <a:spcPts val="520"/>
              </a:spcBef>
              <a:spcAft>
                <a:spcPts val="0"/>
              </a:spcAft>
              <a:buSzPts val="2080"/>
              <a:buChar char="▪"/>
            </a:pPr>
            <a:r>
              <a:rPr lang="en-US"/>
              <a:t>usually 2 times the expected lifetime of a segment (MSL – maximum segment lifetime) typically 120 sec</a:t>
            </a:r>
            <a:endParaRPr/>
          </a:p>
          <a:p>
            <a:pPr indent="-210820" lvl="0" marL="342900" rtl="0" algn="l">
              <a:spcBef>
                <a:spcPts val="520"/>
              </a:spcBef>
              <a:spcAft>
                <a:spcPts val="0"/>
              </a:spcAft>
              <a:buSzPts val="208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